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8" r:id="rId2"/>
    <p:sldId id="274" r:id="rId3"/>
    <p:sldId id="260" r:id="rId4"/>
    <p:sldId id="300" r:id="rId5"/>
    <p:sldId id="262" r:id="rId6"/>
    <p:sldId id="263" r:id="rId7"/>
    <p:sldId id="286" r:id="rId8"/>
    <p:sldId id="309" r:id="rId9"/>
    <p:sldId id="310" r:id="rId10"/>
    <p:sldId id="264" r:id="rId11"/>
    <p:sldId id="306" r:id="rId12"/>
    <p:sldId id="298" r:id="rId13"/>
    <p:sldId id="278" r:id="rId14"/>
    <p:sldId id="288" r:id="rId15"/>
    <p:sldId id="285" r:id="rId16"/>
    <p:sldId id="294" r:id="rId17"/>
    <p:sldId id="287" r:id="rId18"/>
    <p:sldId id="292" r:id="rId19"/>
    <p:sldId id="295" r:id="rId20"/>
    <p:sldId id="297" r:id="rId21"/>
    <p:sldId id="663" r:id="rId22"/>
    <p:sldId id="664" r:id="rId23"/>
    <p:sldId id="669" r:id="rId24"/>
    <p:sldId id="671" r:id="rId25"/>
    <p:sldId id="673" r:id="rId26"/>
    <p:sldId id="674" r:id="rId27"/>
    <p:sldId id="267" r:id="rId28"/>
    <p:sldId id="268" r:id="rId29"/>
    <p:sldId id="270" r:id="rId30"/>
    <p:sldId id="269" r:id="rId31"/>
    <p:sldId id="29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53" autoAdjust="0"/>
    <p:restoredTop sz="94168" autoAdjust="0"/>
  </p:normalViewPr>
  <p:slideViewPr>
    <p:cSldViewPr>
      <p:cViewPr varScale="1">
        <p:scale>
          <a:sx n="73" d="100"/>
          <a:sy n="73" d="100"/>
        </p:scale>
        <p:origin x="2080" y="184"/>
      </p:cViewPr>
      <p:guideLst>
        <p:guide orient="horz" pos="2160"/>
        <p:guide pos="2880"/>
      </p:guideLst>
    </p:cSldViewPr>
  </p:slideViewPr>
  <p:outlineViewPr>
    <p:cViewPr>
      <p:scale>
        <a:sx n="33" d="100"/>
        <a:sy n="33" d="100"/>
      </p:scale>
      <p:origin x="0" y="60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0A4D06-AEB0-457E-B40D-96D63261EB62}" type="datetimeFigureOut">
              <a:rPr lang="en-ZA" smtClean="0"/>
              <a:t>2024/02/18</a:t>
            </a:fld>
            <a:endParaRPr lang="en-Z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8355BF-0C23-45BE-AED9-5F37443497BF}" type="slidenum">
              <a:rPr lang="en-ZA" smtClean="0"/>
              <a:t>‹#›</a:t>
            </a:fld>
            <a:endParaRPr lang="en-ZA"/>
          </a:p>
        </p:txBody>
      </p:sp>
    </p:spTree>
    <p:extLst>
      <p:ext uri="{BB962C8B-B14F-4D97-AF65-F5344CB8AC3E}">
        <p14:creationId xmlns:p14="http://schemas.microsoft.com/office/powerpoint/2010/main" val="950646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err="1"/>
              <a:t>Voorbeeld</a:t>
            </a:r>
            <a:r>
              <a:rPr lang="en-ZA" dirty="0"/>
              <a:t> van </a:t>
            </a:r>
            <a:r>
              <a:rPr lang="en-ZA" dirty="0" err="1"/>
              <a:t>afgebakende</a:t>
            </a:r>
            <a:r>
              <a:rPr lang="en-ZA" baseline="0" dirty="0"/>
              <a:t> areas met </a:t>
            </a:r>
            <a:r>
              <a:rPr lang="en-ZA" baseline="0" dirty="0" err="1"/>
              <a:t>geen</a:t>
            </a:r>
            <a:r>
              <a:rPr lang="en-ZA" baseline="0" dirty="0"/>
              <a:t> </a:t>
            </a:r>
            <a:r>
              <a:rPr lang="en-ZA" baseline="0" dirty="0" err="1"/>
              <a:t>verband</a:t>
            </a:r>
            <a:r>
              <a:rPr lang="en-ZA" baseline="0" dirty="0"/>
              <a:t> met </a:t>
            </a:r>
            <a:r>
              <a:rPr lang="en-ZA" baseline="0" dirty="0" err="1"/>
              <a:t>mekaar</a:t>
            </a:r>
            <a:r>
              <a:rPr lang="en-ZA" baseline="0" dirty="0"/>
              <a:t> </a:t>
            </a:r>
            <a:r>
              <a:rPr lang="en-ZA" baseline="0" dirty="0" err="1"/>
              <a:t>nie</a:t>
            </a:r>
            <a:r>
              <a:rPr lang="en-ZA" baseline="0" dirty="0"/>
              <a:t>.</a:t>
            </a:r>
          </a:p>
          <a:p>
            <a:r>
              <a:rPr lang="en-ZA" baseline="0" dirty="0" err="1"/>
              <a:t>Voorbeeld</a:t>
            </a:r>
            <a:r>
              <a:rPr lang="en-ZA" baseline="0" dirty="0"/>
              <a:t> van </a:t>
            </a:r>
            <a:r>
              <a:rPr lang="en-ZA" baseline="0" dirty="0" err="1"/>
              <a:t>dubbel</a:t>
            </a:r>
            <a:r>
              <a:rPr lang="en-ZA" baseline="0" dirty="0"/>
              <a:t> en </a:t>
            </a:r>
            <a:r>
              <a:rPr lang="en-ZA" baseline="0" dirty="0" err="1"/>
              <a:t>trippel</a:t>
            </a:r>
            <a:r>
              <a:rPr lang="en-ZA" baseline="0" dirty="0"/>
              <a:t> </a:t>
            </a:r>
            <a:r>
              <a:rPr lang="en-ZA" baseline="0" dirty="0" err="1"/>
              <a:t>integrale</a:t>
            </a:r>
            <a:r>
              <a:rPr lang="en-ZA" baseline="0" dirty="0"/>
              <a:t>.</a:t>
            </a:r>
          </a:p>
          <a:p>
            <a:r>
              <a:rPr lang="en-ZA" baseline="0" dirty="0" err="1"/>
              <a:t>Voorbeeld</a:t>
            </a:r>
            <a:r>
              <a:rPr lang="en-ZA" baseline="0" dirty="0"/>
              <a:t> van DV’s.</a:t>
            </a:r>
          </a:p>
          <a:p>
            <a:r>
              <a:rPr lang="en-ZA" baseline="0" dirty="0" err="1"/>
              <a:t>Dotprodukte</a:t>
            </a:r>
            <a:r>
              <a:rPr lang="en-ZA" baseline="0" dirty="0"/>
              <a:t> en </a:t>
            </a:r>
            <a:r>
              <a:rPr lang="en-ZA" baseline="0" dirty="0" err="1"/>
              <a:t>Skalaarprodukte</a:t>
            </a:r>
            <a:r>
              <a:rPr lang="en-ZA" baseline="0" dirty="0"/>
              <a:t>.</a:t>
            </a:r>
          </a:p>
          <a:p>
            <a:endParaRPr lang="en-ZA" baseline="0" dirty="0"/>
          </a:p>
          <a:p>
            <a:r>
              <a:rPr lang="en-ZA" baseline="0" dirty="0" err="1"/>
              <a:t>Waar</a:t>
            </a:r>
            <a:r>
              <a:rPr lang="en-ZA" baseline="0" dirty="0"/>
              <a:t> </a:t>
            </a:r>
            <a:r>
              <a:rPr lang="en-ZA" baseline="0" dirty="0" err="1"/>
              <a:t>gaan</a:t>
            </a:r>
            <a:r>
              <a:rPr lang="en-ZA" baseline="0" dirty="0"/>
              <a:t> </a:t>
            </a:r>
            <a:r>
              <a:rPr lang="en-ZA" baseline="0" dirty="0" err="1"/>
              <a:t>jy</a:t>
            </a:r>
            <a:r>
              <a:rPr lang="en-ZA" baseline="0" dirty="0"/>
              <a:t> EBN </a:t>
            </a:r>
            <a:r>
              <a:rPr lang="en-ZA" baseline="0" dirty="0" err="1"/>
              <a:t>gebruik</a:t>
            </a:r>
            <a:r>
              <a:rPr lang="en-ZA" baseline="0" dirty="0"/>
              <a:t>?  </a:t>
            </a:r>
            <a:r>
              <a:rPr lang="en-ZA" baseline="0" dirty="0" err="1"/>
              <a:t>Ek</a:t>
            </a:r>
            <a:r>
              <a:rPr lang="en-ZA" baseline="0" dirty="0"/>
              <a:t> </a:t>
            </a:r>
            <a:r>
              <a:rPr lang="en-ZA" baseline="0" dirty="0" err="1"/>
              <a:t>weet</a:t>
            </a:r>
            <a:r>
              <a:rPr lang="en-ZA" baseline="0" dirty="0"/>
              <a:t> </a:t>
            </a:r>
            <a:r>
              <a:rPr lang="en-ZA" baseline="0" dirty="0" err="1"/>
              <a:t>nie</a:t>
            </a:r>
            <a:r>
              <a:rPr lang="en-ZA" baseline="0" dirty="0"/>
              <a:t>.  </a:t>
            </a:r>
            <a:r>
              <a:rPr lang="en-ZA" baseline="0" dirty="0" err="1"/>
              <a:t>Baie</a:t>
            </a:r>
            <a:r>
              <a:rPr lang="en-ZA" baseline="0" dirty="0"/>
              <a:t> slimmer </a:t>
            </a:r>
            <a:r>
              <a:rPr lang="en-ZA" baseline="0" dirty="0" err="1"/>
              <a:t>mense</a:t>
            </a:r>
            <a:r>
              <a:rPr lang="en-ZA" baseline="0" dirty="0"/>
              <a:t> as </a:t>
            </a:r>
            <a:r>
              <a:rPr lang="en-ZA" baseline="0" dirty="0" err="1"/>
              <a:t>ek</a:t>
            </a:r>
            <a:r>
              <a:rPr lang="en-ZA" baseline="0" dirty="0"/>
              <a:t> het </a:t>
            </a:r>
            <a:r>
              <a:rPr lang="en-ZA" baseline="0" dirty="0" err="1"/>
              <a:t>besluit</a:t>
            </a:r>
            <a:r>
              <a:rPr lang="en-ZA" baseline="0" dirty="0"/>
              <a:t> </a:t>
            </a:r>
            <a:r>
              <a:rPr lang="en-ZA" baseline="0" dirty="0" err="1"/>
              <a:t>jy</a:t>
            </a:r>
            <a:r>
              <a:rPr lang="en-ZA" baseline="0" dirty="0"/>
              <a:t> </a:t>
            </a:r>
            <a:r>
              <a:rPr lang="en-ZA" baseline="0" dirty="0" err="1"/>
              <a:t>moet</a:t>
            </a:r>
            <a:r>
              <a:rPr lang="en-ZA" baseline="0" dirty="0"/>
              <a:t> </a:t>
            </a:r>
            <a:r>
              <a:rPr lang="en-ZA" baseline="0" dirty="0" err="1"/>
              <a:t>dit</a:t>
            </a:r>
            <a:r>
              <a:rPr lang="en-ZA" baseline="0" dirty="0"/>
              <a:t> </a:t>
            </a:r>
            <a:r>
              <a:rPr lang="en-ZA" baseline="0" dirty="0" err="1"/>
              <a:t>doen</a:t>
            </a:r>
            <a:r>
              <a:rPr lang="en-ZA" baseline="0" dirty="0"/>
              <a:t> </a:t>
            </a:r>
            <a:r>
              <a:rPr lang="en-ZA" baseline="0" dirty="0" err="1"/>
              <a:t>sodat</a:t>
            </a:r>
            <a:r>
              <a:rPr lang="en-ZA" baseline="0" dirty="0"/>
              <a:t> </a:t>
            </a:r>
            <a:r>
              <a:rPr lang="en-ZA" baseline="0" dirty="0" err="1"/>
              <a:t>jy</a:t>
            </a:r>
            <a:r>
              <a:rPr lang="en-ZA" baseline="0" dirty="0"/>
              <a:t> ‘n </a:t>
            </a:r>
            <a:r>
              <a:rPr lang="en-ZA" baseline="0" dirty="0" err="1"/>
              <a:t>graad</a:t>
            </a:r>
            <a:r>
              <a:rPr lang="en-ZA" baseline="0" dirty="0"/>
              <a:t> </a:t>
            </a:r>
            <a:r>
              <a:rPr lang="en-ZA" baseline="0" dirty="0" err="1"/>
              <a:t>kan</a:t>
            </a:r>
            <a:r>
              <a:rPr lang="en-ZA" baseline="0" dirty="0"/>
              <a:t> </a:t>
            </a:r>
            <a:r>
              <a:rPr lang="en-ZA" baseline="0" dirty="0" err="1"/>
              <a:t>kry</a:t>
            </a:r>
            <a:r>
              <a:rPr lang="en-ZA" baseline="0" dirty="0"/>
              <a:t> </a:t>
            </a:r>
            <a:r>
              <a:rPr lang="en-ZA" baseline="0" dirty="0" err="1"/>
              <a:t>wat</a:t>
            </a:r>
            <a:r>
              <a:rPr lang="en-ZA" baseline="0" dirty="0"/>
              <a:t> </a:t>
            </a:r>
            <a:r>
              <a:rPr lang="en-ZA" baseline="0" dirty="0" err="1"/>
              <a:t>internasionaal</a:t>
            </a:r>
            <a:r>
              <a:rPr lang="en-ZA" baseline="0" dirty="0"/>
              <a:t> </a:t>
            </a:r>
            <a:r>
              <a:rPr lang="en-ZA" baseline="0" dirty="0" err="1"/>
              <a:t>erken</a:t>
            </a:r>
            <a:r>
              <a:rPr lang="en-ZA" baseline="0" dirty="0"/>
              <a:t> </a:t>
            </a:r>
            <a:r>
              <a:rPr lang="en-ZA" baseline="0" dirty="0" err="1"/>
              <a:t>kan</a:t>
            </a:r>
            <a:r>
              <a:rPr lang="en-ZA" baseline="0" dirty="0"/>
              <a:t> word.</a:t>
            </a:r>
          </a:p>
        </p:txBody>
      </p:sp>
      <p:sp>
        <p:nvSpPr>
          <p:cNvPr id="4" name="Slide Number Placeholder 3"/>
          <p:cNvSpPr>
            <a:spLocks noGrp="1"/>
          </p:cNvSpPr>
          <p:nvPr>
            <p:ph type="sldNum" sz="quarter" idx="10"/>
          </p:nvPr>
        </p:nvSpPr>
        <p:spPr/>
        <p:txBody>
          <a:bodyPr/>
          <a:lstStyle/>
          <a:p>
            <a:fld id="{D28355BF-0C23-45BE-AED9-5F37443497BF}" type="slidenum">
              <a:rPr lang="en-ZA" smtClean="0"/>
              <a:t>2</a:t>
            </a:fld>
            <a:endParaRPr lang="en-ZA"/>
          </a:p>
        </p:txBody>
      </p:sp>
    </p:spTree>
    <p:extLst>
      <p:ext uri="{BB962C8B-B14F-4D97-AF65-F5344CB8AC3E}">
        <p14:creationId xmlns:p14="http://schemas.microsoft.com/office/powerpoint/2010/main" val="91828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and not how.</a:t>
            </a:r>
            <a:endParaRPr lang="en-GB" dirty="0"/>
          </a:p>
        </p:txBody>
      </p:sp>
      <p:sp>
        <p:nvSpPr>
          <p:cNvPr id="4" name="Slide Number Placeholder 3"/>
          <p:cNvSpPr>
            <a:spLocks noGrp="1"/>
          </p:cNvSpPr>
          <p:nvPr>
            <p:ph type="sldNum" sz="quarter" idx="5"/>
          </p:nvPr>
        </p:nvSpPr>
        <p:spPr/>
        <p:txBody>
          <a:bodyPr/>
          <a:lstStyle/>
          <a:p>
            <a:fld id="{D28355BF-0C23-45BE-AED9-5F37443497BF}" type="slidenum">
              <a:rPr lang="en-ZA" smtClean="0"/>
              <a:t>4</a:t>
            </a:fld>
            <a:endParaRPr lang="en-ZA"/>
          </a:p>
        </p:txBody>
      </p:sp>
    </p:spTree>
    <p:extLst>
      <p:ext uri="{BB962C8B-B14F-4D97-AF65-F5344CB8AC3E}">
        <p14:creationId xmlns:p14="http://schemas.microsoft.com/office/powerpoint/2010/main" val="2518514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to READ the textbook!</a:t>
            </a:r>
            <a:endParaRPr lang="en-GB" dirty="0"/>
          </a:p>
        </p:txBody>
      </p:sp>
      <p:sp>
        <p:nvSpPr>
          <p:cNvPr id="4" name="Slide Number Placeholder 3"/>
          <p:cNvSpPr>
            <a:spLocks noGrp="1"/>
          </p:cNvSpPr>
          <p:nvPr>
            <p:ph type="sldNum" sz="quarter" idx="5"/>
          </p:nvPr>
        </p:nvSpPr>
        <p:spPr/>
        <p:txBody>
          <a:bodyPr/>
          <a:lstStyle/>
          <a:p>
            <a:fld id="{D28355BF-0C23-45BE-AED9-5F37443497BF}" type="slidenum">
              <a:rPr lang="en-ZA" smtClean="0"/>
              <a:t>16</a:t>
            </a:fld>
            <a:endParaRPr lang="en-ZA"/>
          </a:p>
        </p:txBody>
      </p:sp>
    </p:spTree>
    <p:extLst>
      <p:ext uri="{BB962C8B-B14F-4D97-AF65-F5344CB8AC3E}">
        <p14:creationId xmlns:p14="http://schemas.microsoft.com/office/powerpoint/2010/main" val="3159695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you know what to do and when to do it!</a:t>
            </a:r>
            <a:endParaRPr lang="en-GB" dirty="0"/>
          </a:p>
        </p:txBody>
      </p:sp>
      <p:sp>
        <p:nvSpPr>
          <p:cNvPr id="4" name="Slide Number Placeholder 3"/>
          <p:cNvSpPr>
            <a:spLocks noGrp="1"/>
          </p:cNvSpPr>
          <p:nvPr>
            <p:ph type="sldNum" sz="quarter" idx="5"/>
          </p:nvPr>
        </p:nvSpPr>
        <p:spPr/>
        <p:txBody>
          <a:bodyPr/>
          <a:lstStyle/>
          <a:p>
            <a:fld id="{D28355BF-0C23-45BE-AED9-5F37443497BF}" type="slidenum">
              <a:rPr lang="en-ZA" smtClean="0"/>
              <a:t>17</a:t>
            </a:fld>
            <a:endParaRPr lang="en-ZA"/>
          </a:p>
        </p:txBody>
      </p:sp>
    </p:spTree>
    <p:extLst>
      <p:ext uri="{BB962C8B-B14F-4D97-AF65-F5344CB8AC3E}">
        <p14:creationId xmlns:p14="http://schemas.microsoft.com/office/powerpoint/2010/main" val="1112515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a:defRPr/>
            </a:pPr>
            <a:fld id="{2BD05F72-9A54-4500-A144-7BE4C11EB3AC}" type="slidenum">
              <a:rPr lang="en-ZA" smtClean="0"/>
              <a:pPr>
                <a:defRPr/>
              </a:pPr>
              <a:t>21</a:t>
            </a:fld>
            <a:endParaRPr lang="en-ZA"/>
          </a:p>
        </p:txBody>
      </p:sp>
    </p:spTree>
    <p:extLst>
      <p:ext uri="{BB962C8B-B14F-4D97-AF65-F5344CB8AC3E}">
        <p14:creationId xmlns:p14="http://schemas.microsoft.com/office/powerpoint/2010/main" val="425052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effectLst>
                  <a:outerShdw blurRad="38100" dist="38100" dir="2700000" algn="tl">
                    <a:srgbClr val="000000">
                      <a:alpha val="43137"/>
                    </a:srgbClr>
                  </a:outerShdw>
                </a:effectLst>
              </a:defRPr>
            </a:lvl1pPr>
          </a:lstStyle>
          <a:p>
            <a:r>
              <a:rPr lang="en-ZA"/>
              <a:t>Click to edit Master title style</a:t>
            </a:r>
          </a:p>
        </p:txBody>
      </p:sp>
      <p:sp>
        <p:nvSpPr>
          <p:cNvPr id="3" name="Subtitle 2"/>
          <p:cNvSpPr>
            <a:spLocks noGrp="1"/>
          </p:cNvSpPr>
          <p:nvPr>
            <p:ph type="subTitle" idx="1"/>
          </p:nvPr>
        </p:nvSpPr>
        <p:spPr>
          <a:xfrm>
            <a:off x="1371600" y="3886200"/>
            <a:ext cx="6400800" cy="1143000"/>
          </a:xfrm>
        </p:spPr>
        <p:txBody>
          <a:bodyPr/>
          <a:lstStyle>
            <a:lvl1pPr marL="0" indent="0" algn="ctr">
              <a:buNone/>
              <a:defRPr>
                <a:solidFill>
                  <a:srgbClr val="FFFFC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ZA"/>
              <a:t>Click to edit Master subtitle style</a:t>
            </a:r>
          </a:p>
        </p:txBody>
      </p:sp>
      <p:sp>
        <p:nvSpPr>
          <p:cNvPr id="4" name="Date Placeholder 3"/>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11"/>
          </p:nvPr>
        </p:nvSpPr>
        <p:spPr/>
        <p:txBody>
          <a:bodyPr/>
          <a:lstStyle/>
          <a:p>
            <a:endParaRPr lang="en-ZA">
              <a:solidFill>
                <a:srgbClr val="9BBB59">
                  <a:lumMod val="75000"/>
                </a:srgbClr>
              </a:solidFill>
            </a:endParaRPr>
          </a:p>
        </p:txBody>
      </p:sp>
      <p:sp>
        <p:nvSpPr>
          <p:cNvPr id="6" name="Slide Number Placeholder 5"/>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297367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a:lvl1pPr>
          </a:lstStyle>
          <a:p>
            <a:r>
              <a:rPr lang="en-ZA"/>
              <a:t>Click to edit Master title style</a:t>
            </a:r>
          </a:p>
        </p:txBody>
      </p:sp>
      <p:sp>
        <p:nvSpPr>
          <p:cNvPr id="3" name="Content Placeholder 2"/>
          <p:cNvSpPr>
            <a:spLocks noGrp="1"/>
          </p:cNvSpPr>
          <p:nvPr>
            <p:ph idx="1"/>
          </p:nvPr>
        </p:nvSpPr>
        <p:spPr/>
        <p:txBody>
          <a:body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Date Placeholder 3"/>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11"/>
          </p:nvPr>
        </p:nvSpPr>
        <p:spPr/>
        <p:txBody>
          <a:bodyPr/>
          <a:lstStyle/>
          <a:p>
            <a:endParaRPr lang="en-ZA">
              <a:solidFill>
                <a:srgbClr val="9BBB59">
                  <a:lumMod val="75000"/>
                </a:srgbClr>
              </a:solidFill>
            </a:endParaRPr>
          </a:p>
        </p:txBody>
      </p:sp>
      <p:sp>
        <p:nvSpPr>
          <p:cNvPr id="6" name="Slide Number Placeholder 5"/>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2726107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ffectLst>
                  <a:outerShdw blurRad="38100" dist="38100" dir="2700000" algn="tl">
                    <a:srgbClr val="000000">
                      <a:alpha val="43137"/>
                    </a:srgbClr>
                  </a:outerShdw>
                </a:effectLst>
              </a:defRPr>
            </a:lvl1pPr>
          </a:lstStyle>
          <a:p>
            <a:r>
              <a:rPr lang="en-ZA"/>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FFFFCC"/>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ZA"/>
              <a:t>Click to edit Master text styles</a:t>
            </a:r>
          </a:p>
        </p:txBody>
      </p:sp>
      <p:sp>
        <p:nvSpPr>
          <p:cNvPr id="4" name="Date Placeholder 3"/>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11"/>
          </p:nvPr>
        </p:nvSpPr>
        <p:spPr/>
        <p:txBody>
          <a:bodyPr/>
          <a:lstStyle/>
          <a:p>
            <a:endParaRPr lang="en-ZA">
              <a:solidFill>
                <a:srgbClr val="9BBB59">
                  <a:lumMod val="75000"/>
                </a:srgbClr>
              </a:solidFill>
            </a:endParaRPr>
          </a:p>
        </p:txBody>
      </p:sp>
      <p:sp>
        <p:nvSpPr>
          <p:cNvPr id="6" name="Slide Number Placeholder 5"/>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2358871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5" name="Date Placeholder 4"/>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6" name="Footer Placeholder 5"/>
          <p:cNvSpPr>
            <a:spLocks noGrp="1"/>
          </p:cNvSpPr>
          <p:nvPr>
            <p:ph type="ftr" sz="quarter" idx="11"/>
          </p:nvPr>
        </p:nvSpPr>
        <p:spPr/>
        <p:txBody>
          <a:bodyPr/>
          <a:lstStyle/>
          <a:p>
            <a:endParaRPr lang="en-ZA">
              <a:solidFill>
                <a:srgbClr val="9BBB59">
                  <a:lumMod val="75000"/>
                </a:srgbClr>
              </a:solidFill>
            </a:endParaRPr>
          </a:p>
        </p:txBody>
      </p:sp>
      <p:sp>
        <p:nvSpPr>
          <p:cNvPr id="7" name="Slide Number Placeholder 6"/>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1662609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ZA"/>
              <a:t>Click to edit Master title style</a:t>
            </a:r>
          </a:p>
        </p:txBody>
      </p:sp>
      <p:sp>
        <p:nvSpPr>
          <p:cNvPr id="3" name="Text Placeholder 2"/>
          <p:cNvSpPr>
            <a:spLocks noGrp="1"/>
          </p:cNvSpPr>
          <p:nvPr>
            <p:ph type="body" idx="1"/>
          </p:nvPr>
        </p:nvSpPr>
        <p:spPr>
          <a:xfrm>
            <a:off x="457200" y="15811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ZA"/>
              <a:t>Click to edit Master text styles</a:t>
            </a:r>
          </a:p>
        </p:txBody>
      </p:sp>
      <p:sp>
        <p:nvSpPr>
          <p:cNvPr id="4" name="Content Placeholder 3"/>
          <p:cNvSpPr>
            <a:spLocks noGrp="1"/>
          </p:cNvSpPr>
          <p:nvPr>
            <p:ph sz="half" idx="2"/>
          </p:nvPr>
        </p:nvSpPr>
        <p:spPr>
          <a:xfrm>
            <a:off x="457200" y="22209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5" name="Text Placeholder 4"/>
          <p:cNvSpPr>
            <a:spLocks noGrp="1"/>
          </p:cNvSpPr>
          <p:nvPr>
            <p:ph type="body" sz="quarter" idx="3"/>
          </p:nvPr>
        </p:nvSpPr>
        <p:spPr>
          <a:xfrm>
            <a:off x="4645025" y="15811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ZA"/>
              <a:t>Click to edit Master text styles</a:t>
            </a:r>
          </a:p>
        </p:txBody>
      </p:sp>
      <p:sp>
        <p:nvSpPr>
          <p:cNvPr id="6" name="Content Placeholder 5"/>
          <p:cNvSpPr>
            <a:spLocks noGrp="1"/>
          </p:cNvSpPr>
          <p:nvPr>
            <p:ph sz="quarter" idx="4"/>
          </p:nvPr>
        </p:nvSpPr>
        <p:spPr>
          <a:xfrm>
            <a:off x="4645025" y="22209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7" name="Date Placeholder 6"/>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8" name="Footer Placeholder 7"/>
          <p:cNvSpPr>
            <a:spLocks noGrp="1"/>
          </p:cNvSpPr>
          <p:nvPr>
            <p:ph type="ftr" sz="quarter" idx="11"/>
          </p:nvPr>
        </p:nvSpPr>
        <p:spPr/>
        <p:txBody>
          <a:bodyPr/>
          <a:lstStyle/>
          <a:p>
            <a:endParaRPr lang="en-ZA">
              <a:solidFill>
                <a:srgbClr val="9BBB59">
                  <a:lumMod val="75000"/>
                </a:srgbClr>
              </a:solidFill>
            </a:endParaRPr>
          </a:p>
        </p:txBody>
      </p:sp>
      <p:sp>
        <p:nvSpPr>
          <p:cNvPr id="9" name="Slide Number Placeholder 8"/>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3576072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Click to edit Master title style</a:t>
            </a:r>
          </a:p>
        </p:txBody>
      </p:sp>
      <p:sp>
        <p:nvSpPr>
          <p:cNvPr id="3" name="Date Placeholder 2"/>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4" name="Footer Placeholder 3"/>
          <p:cNvSpPr>
            <a:spLocks noGrp="1"/>
          </p:cNvSpPr>
          <p:nvPr>
            <p:ph type="ftr" sz="quarter" idx="11"/>
          </p:nvPr>
        </p:nvSpPr>
        <p:spPr/>
        <p:txBody>
          <a:bodyPr/>
          <a:lstStyle/>
          <a:p>
            <a:endParaRPr lang="en-ZA">
              <a:solidFill>
                <a:srgbClr val="9BBB59">
                  <a:lumMod val="75000"/>
                </a:srgbClr>
              </a:solidFill>
            </a:endParaRPr>
          </a:p>
        </p:txBody>
      </p:sp>
      <p:sp>
        <p:nvSpPr>
          <p:cNvPr id="5" name="Slide Number Placeholder 4"/>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3358759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3" name="Footer Placeholder 2"/>
          <p:cNvSpPr>
            <a:spLocks noGrp="1"/>
          </p:cNvSpPr>
          <p:nvPr>
            <p:ph type="ftr" sz="quarter" idx="11"/>
          </p:nvPr>
        </p:nvSpPr>
        <p:spPr/>
        <p:txBody>
          <a:bodyPr/>
          <a:lstStyle/>
          <a:p>
            <a:endParaRPr lang="en-ZA">
              <a:solidFill>
                <a:srgbClr val="9BBB59">
                  <a:lumMod val="75000"/>
                </a:srgbClr>
              </a:solidFill>
            </a:endParaRPr>
          </a:p>
        </p:txBody>
      </p:sp>
      <p:sp>
        <p:nvSpPr>
          <p:cNvPr id="4" name="Slide Number Placeholder 3"/>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391136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3008313" cy="1054100"/>
          </a:xfrm>
        </p:spPr>
        <p:txBody>
          <a:bodyPr anchor="b"/>
          <a:lstStyle>
            <a:lvl1pPr algn="l">
              <a:defRPr sz="2000" b="1"/>
            </a:lvl1pPr>
          </a:lstStyle>
          <a:p>
            <a:r>
              <a:rPr lang="en-ZA"/>
              <a:t>Click to edit Master title style</a:t>
            </a:r>
          </a:p>
        </p:txBody>
      </p:sp>
      <p:sp>
        <p:nvSpPr>
          <p:cNvPr id="3" name="Content Placeholder 2"/>
          <p:cNvSpPr>
            <a:spLocks noGrp="1"/>
          </p:cNvSpPr>
          <p:nvPr>
            <p:ph idx="1"/>
          </p:nvPr>
        </p:nvSpPr>
        <p:spPr>
          <a:xfrm>
            <a:off x="3575050" y="381000"/>
            <a:ext cx="5111750" cy="5745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ZA"/>
              <a:t>Click to edit Master text styles</a:t>
            </a:r>
          </a:p>
        </p:txBody>
      </p:sp>
      <p:sp>
        <p:nvSpPr>
          <p:cNvPr id="5" name="Date Placeholder 4"/>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6" name="Footer Placeholder 5"/>
          <p:cNvSpPr>
            <a:spLocks noGrp="1"/>
          </p:cNvSpPr>
          <p:nvPr>
            <p:ph type="ftr" sz="quarter" idx="11"/>
          </p:nvPr>
        </p:nvSpPr>
        <p:spPr/>
        <p:txBody>
          <a:bodyPr/>
          <a:lstStyle/>
          <a:p>
            <a:endParaRPr lang="en-ZA">
              <a:solidFill>
                <a:srgbClr val="9BBB59">
                  <a:lumMod val="75000"/>
                </a:srgbClr>
              </a:solidFill>
            </a:endParaRPr>
          </a:p>
        </p:txBody>
      </p:sp>
      <p:sp>
        <p:nvSpPr>
          <p:cNvPr id="7" name="Slide Number Placeholder 6"/>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2698666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ZA"/>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ZA"/>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ZA"/>
              <a:t>Click to edit Master text styles</a:t>
            </a:r>
          </a:p>
        </p:txBody>
      </p:sp>
      <p:sp>
        <p:nvSpPr>
          <p:cNvPr id="5" name="Date Placeholder 4"/>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6" name="Footer Placeholder 5"/>
          <p:cNvSpPr>
            <a:spLocks noGrp="1"/>
          </p:cNvSpPr>
          <p:nvPr>
            <p:ph type="ftr" sz="quarter" idx="11"/>
          </p:nvPr>
        </p:nvSpPr>
        <p:spPr/>
        <p:txBody>
          <a:bodyPr/>
          <a:lstStyle/>
          <a:p>
            <a:endParaRPr lang="en-ZA">
              <a:solidFill>
                <a:srgbClr val="9BBB59">
                  <a:lumMod val="75000"/>
                </a:srgbClr>
              </a:solidFill>
            </a:endParaRPr>
          </a:p>
        </p:txBody>
      </p:sp>
      <p:sp>
        <p:nvSpPr>
          <p:cNvPr id="7" name="Slide Number Placeholder 6"/>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317533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Click to edit Master title style</a:t>
            </a:r>
          </a:p>
        </p:txBody>
      </p:sp>
      <p:sp>
        <p:nvSpPr>
          <p:cNvPr id="3" name="Vertical Text Placeholder 2"/>
          <p:cNvSpPr>
            <a:spLocks noGrp="1"/>
          </p:cNvSpPr>
          <p:nvPr>
            <p:ph type="body" orient="vert" idx="1"/>
          </p:nvPr>
        </p:nvSpPr>
        <p:spPr/>
        <p:txBody>
          <a:bodyPr vert="eaVert"/>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Date Placeholder 3"/>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11"/>
          </p:nvPr>
        </p:nvSpPr>
        <p:spPr/>
        <p:txBody>
          <a:bodyPr/>
          <a:lstStyle/>
          <a:p>
            <a:endParaRPr lang="en-ZA">
              <a:solidFill>
                <a:srgbClr val="9BBB59">
                  <a:lumMod val="75000"/>
                </a:srgbClr>
              </a:solidFill>
            </a:endParaRPr>
          </a:p>
        </p:txBody>
      </p:sp>
      <p:sp>
        <p:nvSpPr>
          <p:cNvPr id="6" name="Slide Number Placeholder 5"/>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180819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45163"/>
          </a:xfrm>
        </p:spPr>
        <p:txBody>
          <a:bodyPr vert="eaVert"/>
          <a:lstStyle/>
          <a:p>
            <a:r>
              <a:rPr lang="en-ZA"/>
              <a:t>Click to edit Master title style</a:t>
            </a:r>
          </a:p>
        </p:txBody>
      </p:sp>
      <p:sp>
        <p:nvSpPr>
          <p:cNvPr id="3" name="Vertical Text Placeholder 2"/>
          <p:cNvSpPr>
            <a:spLocks noGrp="1"/>
          </p:cNvSpPr>
          <p:nvPr>
            <p:ph type="body" orient="vert" idx="1"/>
          </p:nvPr>
        </p:nvSpPr>
        <p:spPr>
          <a:xfrm>
            <a:off x="457200" y="381000"/>
            <a:ext cx="6019800" cy="5745163"/>
          </a:xfrm>
        </p:spPr>
        <p:txBody>
          <a:bodyPr vert="eaVert"/>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Date Placeholder 3"/>
          <p:cNvSpPr>
            <a:spLocks noGrp="1"/>
          </p:cNvSpPr>
          <p:nvPr>
            <p:ph type="dt" sz="half" idx="10"/>
          </p:nvPr>
        </p:nvSpPr>
        <p:spPr/>
        <p:txBody>
          <a:body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11"/>
          </p:nvPr>
        </p:nvSpPr>
        <p:spPr/>
        <p:txBody>
          <a:bodyPr/>
          <a:lstStyle/>
          <a:p>
            <a:endParaRPr lang="en-ZA">
              <a:solidFill>
                <a:srgbClr val="9BBB59">
                  <a:lumMod val="75000"/>
                </a:srgbClr>
              </a:solidFill>
            </a:endParaRPr>
          </a:p>
        </p:txBody>
      </p:sp>
      <p:sp>
        <p:nvSpPr>
          <p:cNvPr id="6" name="Slide Number Placeholder 5"/>
          <p:cNvSpPr>
            <a:spLocks noGrp="1"/>
          </p:cNvSpPr>
          <p:nvPr>
            <p:ph type="sldNum" sz="quarter" idx="12"/>
          </p:nvPr>
        </p:nvSpPr>
        <p:spPr/>
        <p:txBody>
          <a:body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2308099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44000" cy="6858000"/>
            <a:chOff x="0" y="0"/>
            <a:chExt cx="7415283" cy="4179445"/>
          </a:xfrm>
        </p:grpSpPr>
        <p:pic>
          <p:nvPicPr>
            <p:cNvPr id="8" name="Picture 2" descr="C:\Documents and Settings\walterl\Local Settings\Temporary Internet Files\Content.IE5\V9LZ2EJQ\MP900448522[1].jpg"/>
            <p:cNvPicPr>
              <a:picLocks noChangeAspect="1" noChangeArrowheads="1"/>
            </p:cNvPicPr>
            <p:nvPr/>
          </p:nvPicPr>
          <p:blipFill>
            <a:blip r:embed="rId13"/>
            <a:srcRect l="9041" t="11825" r="9863" b="15109"/>
            <a:stretch>
              <a:fillRect/>
            </a:stretch>
          </p:blipFill>
          <p:spPr bwMode="auto">
            <a:xfrm>
              <a:off x="0" y="0"/>
              <a:ext cx="7415283" cy="4179445"/>
            </a:xfrm>
            <a:prstGeom prst="rect">
              <a:avLst/>
            </a:prstGeom>
            <a:noFill/>
          </p:spPr>
        </p:pic>
        <p:pic>
          <p:nvPicPr>
            <p:cNvPr id="9" name="Picture 2" descr="C:\Documents and Settings\walterl\Local Settings\Temporary Internet Files\Content.IE5\V9LZ2EJQ\MP900448522[1].jpg"/>
            <p:cNvPicPr>
              <a:picLocks noChangeAspect="1" noChangeArrowheads="1"/>
            </p:cNvPicPr>
            <p:nvPr/>
          </p:nvPicPr>
          <p:blipFill>
            <a:blip r:embed="rId13"/>
            <a:srcRect l="11507" t="15766" r="72329" b="22336"/>
            <a:stretch>
              <a:fillRect/>
            </a:stretch>
          </p:blipFill>
          <p:spPr bwMode="auto">
            <a:xfrm rot="5400000">
              <a:off x="2311261" y="-787262"/>
              <a:ext cx="2438400" cy="5841723"/>
            </a:xfrm>
            <a:prstGeom prst="rect">
              <a:avLst/>
            </a:prstGeom>
            <a:noFill/>
          </p:spPr>
        </p:pic>
      </p:grpSp>
      <p:sp>
        <p:nvSpPr>
          <p:cNvPr id="2" name="Title Placeholder 1"/>
          <p:cNvSpPr>
            <a:spLocks noGrp="1"/>
          </p:cNvSpPr>
          <p:nvPr>
            <p:ph type="title"/>
          </p:nvPr>
        </p:nvSpPr>
        <p:spPr>
          <a:xfrm>
            <a:off x="457200" y="381000"/>
            <a:ext cx="8229600" cy="1143000"/>
          </a:xfrm>
          <a:prstGeom prst="rect">
            <a:avLst/>
          </a:prstGeom>
        </p:spPr>
        <p:txBody>
          <a:bodyPr vert="horz" lIns="91440" tIns="45720" rIns="91440" bIns="45720" rtlCol="0" anchor="ctr">
            <a:normAutofit/>
          </a:bodyPr>
          <a:lstStyle/>
          <a:p>
            <a:r>
              <a:rPr lang="en-ZA"/>
              <a:t>Click to edit Master title style</a:t>
            </a:r>
            <a:endParaRPr lang="en-ZA"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ZA"/>
              <a:t>Click to edit Master text styles</a:t>
            </a:r>
          </a:p>
          <a:p>
            <a:pPr lvl="1"/>
            <a:r>
              <a:rPr lang="en-ZA"/>
              <a:t>Second level</a:t>
            </a:r>
          </a:p>
          <a:p>
            <a:pPr lvl="2"/>
            <a:r>
              <a:rPr lang="en-ZA"/>
              <a:t>Third level</a:t>
            </a:r>
          </a:p>
          <a:p>
            <a:pPr lvl="3"/>
            <a:r>
              <a:rPr lang="en-ZA"/>
              <a:t>Fourth level</a:t>
            </a:r>
          </a:p>
          <a:p>
            <a:pPr lvl="4"/>
            <a:r>
              <a:rPr lang="en-ZA"/>
              <a:t>Fifth level</a:t>
            </a:r>
          </a:p>
        </p:txBody>
      </p:sp>
      <p:sp>
        <p:nvSpPr>
          <p:cNvPr id="4" name="Date Placeholder 3"/>
          <p:cNvSpPr>
            <a:spLocks noGrp="1"/>
          </p:cNvSpPr>
          <p:nvPr>
            <p:ph type="dt" sz="half" idx="2"/>
          </p:nvPr>
        </p:nvSpPr>
        <p:spPr>
          <a:xfrm>
            <a:off x="76200" y="6553200"/>
            <a:ext cx="2133600" cy="365125"/>
          </a:xfrm>
          <a:prstGeom prst="rect">
            <a:avLst/>
          </a:prstGeom>
        </p:spPr>
        <p:txBody>
          <a:bodyPr vert="horz" lIns="91440" tIns="45720" rIns="91440" bIns="45720" rtlCol="0" anchor="b"/>
          <a:lstStyle>
            <a:lvl1pPr algn="l">
              <a:defRPr sz="1200">
                <a:solidFill>
                  <a:schemeClr val="accent3">
                    <a:lumMod val="75000"/>
                  </a:schemeClr>
                </a:solidFill>
              </a:defRPr>
            </a:lvl1pPr>
          </a:lstStyle>
          <a:p>
            <a:fld id="{694ACBB2-75D1-4ECE-8FA1-1C59256080EF}" type="datetimeFigureOut">
              <a:rPr lang="en-ZA" smtClean="0">
                <a:solidFill>
                  <a:srgbClr val="9BBB59">
                    <a:lumMod val="75000"/>
                  </a:srgbClr>
                </a:solidFill>
              </a:rPr>
              <a:pPr/>
              <a:t>2024/02/18</a:t>
            </a:fld>
            <a:endParaRPr lang="en-ZA">
              <a:solidFill>
                <a:srgbClr val="9BBB59">
                  <a:lumMod val="75000"/>
                </a:srgbClr>
              </a:solidFill>
            </a:endParaRPr>
          </a:p>
        </p:txBody>
      </p:sp>
      <p:sp>
        <p:nvSpPr>
          <p:cNvPr id="5" name="Footer Placeholder 4"/>
          <p:cNvSpPr>
            <a:spLocks noGrp="1"/>
          </p:cNvSpPr>
          <p:nvPr>
            <p:ph type="ftr" sz="quarter" idx="3"/>
          </p:nvPr>
        </p:nvSpPr>
        <p:spPr>
          <a:xfrm>
            <a:off x="3086100" y="6553200"/>
            <a:ext cx="2895600" cy="365125"/>
          </a:xfrm>
          <a:prstGeom prst="rect">
            <a:avLst/>
          </a:prstGeom>
        </p:spPr>
        <p:txBody>
          <a:bodyPr vert="horz" lIns="91440" tIns="45720" rIns="91440" bIns="45720" rtlCol="0" anchor="b"/>
          <a:lstStyle>
            <a:lvl1pPr algn="ctr">
              <a:defRPr sz="1200">
                <a:solidFill>
                  <a:schemeClr val="accent3">
                    <a:lumMod val="75000"/>
                  </a:schemeClr>
                </a:solidFill>
              </a:defRPr>
            </a:lvl1pPr>
          </a:lstStyle>
          <a:p>
            <a:endParaRPr lang="en-ZA">
              <a:solidFill>
                <a:srgbClr val="9BBB59">
                  <a:lumMod val="75000"/>
                </a:srgbClr>
              </a:solidFill>
            </a:endParaRPr>
          </a:p>
        </p:txBody>
      </p:sp>
      <p:sp>
        <p:nvSpPr>
          <p:cNvPr id="6" name="Slide Number Placeholder 5"/>
          <p:cNvSpPr>
            <a:spLocks noGrp="1"/>
          </p:cNvSpPr>
          <p:nvPr>
            <p:ph type="sldNum" sz="quarter" idx="4"/>
          </p:nvPr>
        </p:nvSpPr>
        <p:spPr>
          <a:xfrm>
            <a:off x="6858000" y="6553200"/>
            <a:ext cx="2133600" cy="365125"/>
          </a:xfrm>
          <a:prstGeom prst="rect">
            <a:avLst/>
          </a:prstGeom>
        </p:spPr>
        <p:txBody>
          <a:bodyPr vert="horz" lIns="91440" tIns="45720" rIns="91440" bIns="45720" rtlCol="0" anchor="b"/>
          <a:lstStyle>
            <a:lvl1pPr algn="r">
              <a:defRPr sz="1200">
                <a:solidFill>
                  <a:schemeClr val="accent3">
                    <a:lumMod val="75000"/>
                  </a:schemeClr>
                </a:solidFill>
              </a:defRPr>
            </a:lvl1pPr>
          </a:lstStyle>
          <a:p>
            <a:fld id="{26BE7B7E-B272-4E2A-A248-50AC8862FF3D}" type="slidenum">
              <a:rPr lang="en-ZA" smtClean="0">
                <a:solidFill>
                  <a:srgbClr val="9BBB59">
                    <a:lumMod val="75000"/>
                  </a:srgbClr>
                </a:solidFill>
              </a:rPr>
              <a:pPr/>
              <a:t>‹#›</a:t>
            </a:fld>
            <a:endParaRPr lang="en-ZA">
              <a:solidFill>
                <a:srgbClr val="9BBB59">
                  <a:lumMod val="75000"/>
                </a:srgbClr>
              </a:solidFill>
            </a:endParaRPr>
          </a:p>
        </p:txBody>
      </p:sp>
    </p:spTree>
    <p:extLst>
      <p:ext uri="{BB962C8B-B14F-4D97-AF65-F5344CB8AC3E}">
        <p14:creationId xmlns:p14="http://schemas.microsoft.com/office/powerpoint/2010/main" val="34310885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u="sng"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freepngimg.com/png/72547-thinking-photography-question-mark-man-stock"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youthvoices.live/tag/geneticengineering/" TargetMode="Externa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ms.up.ac.za/" TargetMode="External"/><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hyperlink" Target="http://apostagmatakardias.blogspot.com/2011/08/blog-post_08.html" TargetMode="External"/><Relationship Id="rId4" Type="http://schemas.openxmlformats.org/officeDocument/2006/relationships/image" Target="../media/image22.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elblogdebuyo.blogspot.com/" TargetMode="External"/><Relationship Id="rId2" Type="http://schemas.openxmlformats.org/officeDocument/2006/relationships/image" Target="../media/image2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EBN111</a:t>
            </a:r>
          </a:p>
        </p:txBody>
      </p:sp>
      <p:sp>
        <p:nvSpPr>
          <p:cNvPr id="3" name="Subtitle 2"/>
          <p:cNvSpPr>
            <a:spLocks noGrp="1"/>
          </p:cNvSpPr>
          <p:nvPr>
            <p:ph type="subTitle" idx="1"/>
          </p:nvPr>
        </p:nvSpPr>
        <p:spPr/>
        <p:txBody>
          <a:bodyPr>
            <a:noAutofit/>
          </a:bodyPr>
          <a:lstStyle/>
          <a:p>
            <a:r>
              <a:rPr lang="en-US" dirty="0"/>
              <a:t>Electricity and Electronics</a:t>
            </a:r>
          </a:p>
          <a:p>
            <a:endParaRPr lang="en-US" i="1" dirty="0"/>
          </a:p>
        </p:txBody>
      </p:sp>
    </p:spTree>
    <p:extLst>
      <p:ext uri="{BB962C8B-B14F-4D97-AF65-F5344CB8AC3E}">
        <p14:creationId xmlns:p14="http://schemas.microsoft.com/office/powerpoint/2010/main" val="955611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EBN111</a:t>
            </a:r>
          </a:p>
        </p:txBody>
      </p:sp>
      <p:sp>
        <p:nvSpPr>
          <p:cNvPr id="3" name="Content Placeholder 2"/>
          <p:cNvSpPr>
            <a:spLocks noGrp="1"/>
          </p:cNvSpPr>
          <p:nvPr>
            <p:ph idx="1"/>
          </p:nvPr>
        </p:nvSpPr>
        <p:spPr/>
        <p:txBody>
          <a:bodyPr>
            <a:normAutofit/>
          </a:bodyPr>
          <a:lstStyle/>
          <a:p>
            <a:r>
              <a:rPr lang="en-ZA" dirty="0"/>
              <a:t>Why electronics and electricity?</a:t>
            </a:r>
          </a:p>
          <a:p>
            <a:pPr lvl="1"/>
            <a:r>
              <a:rPr lang="en-ZA" dirty="0"/>
              <a:t>Understand new concepts and theories</a:t>
            </a:r>
          </a:p>
          <a:p>
            <a:pPr lvl="1"/>
            <a:r>
              <a:rPr lang="en-ZA" dirty="0"/>
              <a:t>Understand implications of theory</a:t>
            </a:r>
          </a:p>
          <a:p>
            <a:pPr lvl="1"/>
            <a:r>
              <a:rPr lang="en-ZA" dirty="0"/>
              <a:t>Think critical about the problem</a:t>
            </a:r>
          </a:p>
          <a:p>
            <a:pPr lvl="1"/>
            <a:r>
              <a:rPr lang="en-ZA" dirty="0"/>
              <a:t>Apply theory to a new problem</a:t>
            </a:r>
          </a:p>
          <a:p>
            <a:pPr lvl="1"/>
            <a:r>
              <a:rPr lang="en-ZA" dirty="0"/>
              <a:t>Solve the problem!</a:t>
            </a:r>
          </a:p>
          <a:p>
            <a:pPr lvl="1"/>
            <a:r>
              <a:rPr lang="en-ZA" dirty="0"/>
              <a:t>Enjoy the challenge to </a:t>
            </a:r>
            <a:br>
              <a:rPr lang="en-ZA" dirty="0"/>
            </a:br>
            <a:r>
              <a:rPr lang="en-ZA" dirty="0"/>
              <a:t>solve new problems.</a:t>
            </a:r>
          </a:p>
        </p:txBody>
      </p:sp>
      <p:pic>
        <p:nvPicPr>
          <p:cNvPr id="1028" name="Picture 4" descr="Pre-paid electricity costs explained - Springs Advertiser">
            <a:extLst>
              <a:ext uri="{FF2B5EF4-FFF2-40B4-BE49-F238E27FC236}">
                <a16:creationId xmlns:a16="http://schemas.microsoft.com/office/drawing/2014/main" id="{3D4BE106-0325-4F96-8C51-956B211515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4122076"/>
            <a:ext cx="3845228" cy="2403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94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Effect transition="in" filter="fade">
                                      <p:cBhvr>
                                        <p:cTn id="10" dur="500"/>
                                        <p:tgtEl>
                                          <p:spTgt spid="10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Aim of course</a:t>
            </a:r>
          </a:p>
        </p:txBody>
      </p:sp>
      <p:sp>
        <p:nvSpPr>
          <p:cNvPr id="3" name="Content Placeholder 2"/>
          <p:cNvSpPr>
            <a:spLocks noGrp="1"/>
          </p:cNvSpPr>
          <p:nvPr>
            <p:ph idx="1"/>
          </p:nvPr>
        </p:nvSpPr>
        <p:spPr/>
        <p:txBody>
          <a:bodyPr>
            <a:normAutofit/>
          </a:bodyPr>
          <a:lstStyle/>
          <a:p>
            <a:r>
              <a:rPr lang="en-ZA" dirty="0"/>
              <a:t>Develop skills to solve electronic circuits</a:t>
            </a:r>
          </a:p>
          <a:p>
            <a:r>
              <a:rPr lang="en-ZA" dirty="0"/>
              <a:t>Solve new problems,</a:t>
            </a:r>
          </a:p>
          <a:p>
            <a:pPr lvl="1"/>
            <a:r>
              <a:rPr lang="en-ZA" dirty="0"/>
              <a:t>in a creative manner,</a:t>
            </a:r>
          </a:p>
          <a:p>
            <a:pPr lvl="1"/>
            <a:r>
              <a:rPr lang="en-ZA" dirty="0"/>
              <a:t>based on theory.</a:t>
            </a:r>
          </a:p>
          <a:p>
            <a:r>
              <a:rPr lang="en-ZA" dirty="0"/>
              <a:t>There are no recipes!</a:t>
            </a:r>
          </a:p>
          <a:p>
            <a:r>
              <a:rPr lang="en-ZA" dirty="0"/>
              <a:t>The emphasis is on </a:t>
            </a:r>
            <a:r>
              <a:rPr lang="en-ZA" b="1" dirty="0"/>
              <a:t>understanding</a:t>
            </a:r>
            <a:r>
              <a:rPr lang="en-ZA" dirty="0"/>
              <a:t> and</a:t>
            </a:r>
            <a:br>
              <a:rPr lang="en-ZA" dirty="0"/>
            </a:br>
            <a:r>
              <a:rPr lang="en-ZA" dirty="0"/>
              <a:t>not on </a:t>
            </a:r>
            <a:r>
              <a:rPr lang="en-ZA" b="1" strike="sngStrike" dirty="0"/>
              <a:t>memorising</a:t>
            </a:r>
            <a:r>
              <a:rPr lang="en-ZA" dirty="0"/>
              <a:t>.</a:t>
            </a:r>
            <a:endParaRPr lang="en-ZA" b="1" strike="sngStrike" dirty="0"/>
          </a:p>
        </p:txBody>
      </p:sp>
      <p:pic>
        <p:nvPicPr>
          <p:cNvPr id="2050" name="Picture 2" descr="Why You Need to Check for Understanding - Executive Leadership Consulting">
            <a:extLst>
              <a:ext uri="{FF2B5EF4-FFF2-40B4-BE49-F238E27FC236}">
                <a16:creationId xmlns:a16="http://schemas.microsoft.com/office/drawing/2014/main" id="{2F235010-ACE6-4BF6-867B-AB2F1B12D5FF}"/>
              </a:ext>
            </a:extLst>
          </p:cNvPr>
          <p:cNvPicPr>
            <a:picLocks noChangeAspect="1" noChangeArrowheads="1"/>
          </p:cNvPicPr>
          <p:nvPr/>
        </p:nvPicPr>
        <p:blipFill>
          <a:blip r:embed="rId2" cstate="print">
            <a:clrChange>
              <a:clrFrom>
                <a:srgbClr val="FFF4A4"/>
              </a:clrFrom>
              <a:clrTo>
                <a:srgbClr val="FFF4A4">
                  <a:alpha val="0"/>
                </a:srgbClr>
              </a:clrTo>
            </a:clrChange>
            <a:extLst>
              <a:ext uri="{28A0092B-C50C-407E-A947-70E740481C1C}">
                <a14:useLocalDpi xmlns:a14="http://schemas.microsoft.com/office/drawing/2010/main" val="0"/>
              </a:ext>
            </a:extLst>
          </a:blip>
          <a:srcRect/>
          <a:stretch>
            <a:fillRect/>
          </a:stretch>
        </p:blipFill>
        <p:spPr bwMode="auto">
          <a:xfrm>
            <a:off x="4427984" y="2242163"/>
            <a:ext cx="4067944" cy="237367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itHub - fmilitao/dead-parrot: Experimental language prototype (PLPV'14).">
            <a:extLst>
              <a:ext uri="{FF2B5EF4-FFF2-40B4-BE49-F238E27FC236}">
                <a16:creationId xmlns:a16="http://schemas.microsoft.com/office/drawing/2014/main" id="{05ED2164-B248-4E82-8281-056301C48CD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28518" y="4967985"/>
            <a:ext cx="1666875" cy="148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48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54"/>
                                        </p:tgtEl>
                                        <p:attrNameLst>
                                          <p:attrName>style.visibility</p:attrName>
                                        </p:attrNameLst>
                                      </p:cBhvr>
                                      <p:to>
                                        <p:strVal val="visible"/>
                                      </p:to>
                                    </p:set>
                                    <p:animEffect transition="in" filter="fade">
                                      <p:cBhvr>
                                        <p:cTn id="32"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Approach</a:t>
            </a:r>
          </a:p>
        </p:txBody>
      </p:sp>
      <p:sp>
        <p:nvSpPr>
          <p:cNvPr id="3" name="Content Placeholder 2"/>
          <p:cNvSpPr>
            <a:spLocks noGrp="1"/>
          </p:cNvSpPr>
          <p:nvPr>
            <p:ph idx="1"/>
          </p:nvPr>
        </p:nvSpPr>
        <p:spPr/>
        <p:txBody>
          <a:bodyPr/>
          <a:lstStyle/>
          <a:p>
            <a:pPr marL="0" indent="0" algn="ctr">
              <a:buNone/>
            </a:pPr>
            <a:endParaRPr lang="en-ZA" dirty="0"/>
          </a:p>
          <a:p>
            <a:pPr marL="0" indent="0" algn="ctr">
              <a:buNone/>
            </a:pPr>
            <a:r>
              <a:rPr lang="en-ZA" dirty="0"/>
              <a:t>“For the sole true end of education is simply this: to teach men and women how to learn for themselves; and whatever instruction fails to do this is effort spent in vain.” </a:t>
            </a:r>
          </a:p>
          <a:p>
            <a:pPr marL="0" indent="0" algn="ctr">
              <a:buNone/>
            </a:pPr>
            <a:r>
              <a:rPr lang="en-ZA" dirty="0"/>
              <a:t>– Dorothy Sayers</a:t>
            </a:r>
          </a:p>
          <a:p>
            <a:pPr algn="ctr"/>
            <a:endParaRPr lang="en-ZA" dirty="0"/>
          </a:p>
        </p:txBody>
      </p:sp>
    </p:spTree>
    <p:extLst>
      <p:ext uri="{BB962C8B-B14F-4D97-AF65-F5344CB8AC3E}">
        <p14:creationId xmlns:p14="http://schemas.microsoft.com/office/powerpoint/2010/main" val="308164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Textbook</a:t>
            </a:r>
          </a:p>
        </p:txBody>
      </p:sp>
      <p:sp>
        <p:nvSpPr>
          <p:cNvPr id="3" name="Content Placeholder 2"/>
          <p:cNvSpPr>
            <a:spLocks noGrp="1"/>
          </p:cNvSpPr>
          <p:nvPr>
            <p:ph idx="1"/>
          </p:nvPr>
        </p:nvSpPr>
        <p:spPr>
          <a:xfrm>
            <a:off x="251520" y="1600200"/>
            <a:ext cx="8435280" cy="4525963"/>
          </a:xfrm>
        </p:spPr>
        <p:txBody>
          <a:bodyPr>
            <a:noAutofit/>
          </a:bodyPr>
          <a:lstStyle/>
          <a:p>
            <a:r>
              <a:rPr lang="en-ZA" dirty="0"/>
              <a:t>Fundamentals of Electric Circuits</a:t>
            </a:r>
          </a:p>
          <a:p>
            <a:pPr lvl="1"/>
            <a:r>
              <a:rPr lang="en-ZA" sz="2400" dirty="0"/>
              <a:t>Seventh Edition</a:t>
            </a:r>
          </a:p>
          <a:p>
            <a:pPr lvl="1"/>
            <a:r>
              <a:rPr lang="en-ZA" sz="2400" dirty="0"/>
              <a:t>Charles K. Alexander and </a:t>
            </a:r>
            <a:br>
              <a:rPr lang="en-ZA" sz="2400" dirty="0"/>
            </a:br>
            <a:r>
              <a:rPr lang="en-ZA" sz="2400" dirty="0"/>
              <a:t>Matthew N. O. </a:t>
            </a:r>
            <a:r>
              <a:rPr lang="en-ZA" sz="2400" dirty="0" err="1"/>
              <a:t>Sadiku</a:t>
            </a:r>
            <a:endParaRPr lang="en-ZA" sz="2400" dirty="0"/>
          </a:p>
          <a:p>
            <a:pPr lvl="1"/>
            <a:r>
              <a:rPr lang="en-ZA" sz="2400" dirty="0"/>
              <a:t>McGraw Hill International Edition</a:t>
            </a:r>
          </a:p>
          <a:p>
            <a:pPr lvl="1"/>
            <a:r>
              <a:rPr lang="en-ZA" sz="2400" dirty="0"/>
              <a:t>Copyright: 2021</a:t>
            </a:r>
          </a:p>
          <a:p>
            <a:endParaRPr lang="en-ZA" dirty="0"/>
          </a:p>
          <a:p>
            <a:r>
              <a:rPr lang="en-ZA" dirty="0"/>
              <a:t>Famous quote:</a:t>
            </a:r>
          </a:p>
          <a:p>
            <a:pPr lvl="1"/>
            <a:r>
              <a:rPr lang="en-ZA" i="1" dirty="0"/>
              <a:t>“Read the damn textbook!” - Anon</a:t>
            </a:r>
          </a:p>
        </p:txBody>
      </p:sp>
      <p:pic>
        <p:nvPicPr>
          <p:cNvPr id="5" name="Picture 4">
            <a:extLst>
              <a:ext uri="{FF2B5EF4-FFF2-40B4-BE49-F238E27FC236}">
                <a16:creationId xmlns:a16="http://schemas.microsoft.com/office/drawing/2014/main" id="{425754AC-3930-43D9-A83A-41C47716580C}"/>
              </a:ext>
            </a:extLst>
          </p:cNvPr>
          <p:cNvPicPr>
            <a:picLocks noChangeAspect="1"/>
          </p:cNvPicPr>
          <p:nvPr/>
        </p:nvPicPr>
        <p:blipFill>
          <a:blip r:embed="rId2"/>
          <a:stretch>
            <a:fillRect/>
          </a:stretch>
        </p:blipFill>
        <p:spPr>
          <a:xfrm>
            <a:off x="6192918" y="779757"/>
            <a:ext cx="2667000" cy="3409950"/>
          </a:xfrm>
          <a:prstGeom prst="rect">
            <a:avLst/>
          </a:prstGeom>
        </p:spPr>
      </p:pic>
      <p:pic>
        <p:nvPicPr>
          <p:cNvPr id="11266" name="Picture 2" descr="Transparent People Reading Png - Reading A Book Drawing, Png Download -  kindpng">
            <a:extLst>
              <a:ext uri="{FF2B5EF4-FFF2-40B4-BE49-F238E27FC236}">
                <a16:creationId xmlns:a16="http://schemas.microsoft.com/office/drawing/2014/main" id="{8673F32D-9240-4C14-BED0-FCACFF953079}"/>
              </a:ext>
            </a:extLst>
          </p:cNvPr>
          <p:cNvPicPr>
            <a:picLocks noChangeAspect="1" noChangeArrowheads="1"/>
          </p:cNvPicPr>
          <p:nvPr/>
        </p:nvPicPr>
        <p:blipFill>
          <a:blip r:embed="rId3" cstate="print">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5868144" y="4365104"/>
            <a:ext cx="2448272" cy="2399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37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childTnLst>
                                </p:cTn>
                              </p:par>
                              <p:par>
                                <p:cTn id="28" presetID="10" presetClass="entr" presetSubtype="0" fill="hold" nodeType="withEffect">
                                  <p:stCondLst>
                                    <p:cond delay="0"/>
                                  </p:stCondLst>
                                  <p:childTnLst>
                                    <p:set>
                                      <p:cBhvr>
                                        <p:cTn id="29" dur="1" fill="hold">
                                          <p:stCondLst>
                                            <p:cond delay="0"/>
                                          </p:stCondLst>
                                        </p:cTn>
                                        <p:tgtEl>
                                          <p:spTgt spid="11266"/>
                                        </p:tgtEl>
                                        <p:attrNameLst>
                                          <p:attrName>style.visibility</p:attrName>
                                        </p:attrNameLst>
                                      </p:cBhvr>
                                      <p:to>
                                        <p:strVal val="visible"/>
                                      </p:to>
                                    </p:set>
                                    <p:animEffect transition="in" filter="fade">
                                      <p:cBhvr>
                                        <p:cTn id="30"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Learning Activities</a:t>
            </a:r>
          </a:p>
        </p:txBody>
      </p:sp>
      <p:sp>
        <p:nvSpPr>
          <p:cNvPr id="3" name="Content Placeholder 2"/>
          <p:cNvSpPr>
            <a:spLocks noGrp="1"/>
          </p:cNvSpPr>
          <p:nvPr>
            <p:ph idx="1"/>
          </p:nvPr>
        </p:nvSpPr>
        <p:spPr>
          <a:xfrm>
            <a:off x="457200" y="1340768"/>
            <a:ext cx="8435280" cy="5040560"/>
          </a:xfrm>
        </p:spPr>
        <p:txBody>
          <a:bodyPr>
            <a:noAutofit/>
          </a:bodyPr>
          <a:lstStyle/>
          <a:p>
            <a:r>
              <a:rPr lang="en-ZA" dirty="0"/>
              <a:t>3 Lectures per week</a:t>
            </a:r>
          </a:p>
          <a:p>
            <a:pPr lvl="1"/>
            <a:r>
              <a:rPr lang="en-ZA" dirty="0"/>
              <a:t>Read work before (~5min) &amp; after (~15min) lecture</a:t>
            </a:r>
          </a:p>
          <a:p>
            <a:pPr lvl="1"/>
            <a:r>
              <a:rPr lang="en-ZA" dirty="0"/>
              <a:t>Schedule time to study what you don’t understand.</a:t>
            </a:r>
          </a:p>
          <a:p>
            <a:pPr lvl="1"/>
            <a:r>
              <a:rPr lang="en-ZA" dirty="0"/>
              <a:t>Go for consultations if you can’t resolve problems.</a:t>
            </a:r>
          </a:p>
          <a:p>
            <a:r>
              <a:rPr lang="en-ZA" dirty="0"/>
              <a:t>1 Tutorial class per week</a:t>
            </a:r>
          </a:p>
          <a:p>
            <a:r>
              <a:rPr lang="en-ZA" dirty="0"/>
              <a:t>Assignments for each chapter</a:t>
            </a:r>
          </a:p>
          <a:p>
            <a:r>
              <a:rPr lang="en-ZA" dirty="0"/>
              <a:t>± 5 hours study time per </a:t>
            </a:r>
            <a:br>
              <a:rPr lang="en-ZA" dirty="0"/>
            </a:br>
            <a:r>
              <a:rPr lang="en-ZA" dirty="0"/>
              <a:t>week excluding lectures!</a:t>
            </a:r>
          </a:p>
        </p:txBody>
      </p:sp>
      <p:pic>
        <p:nvPicPr>
          <p:cNvPr id="3074" name="Picture 2" descr="You're not bad at learning. You're just out of shape. | by Amanda Silver |  The Startup | Medium">
            <a:extLst>
              <a:ext uri="{FF2B5EF4-FFF2-40B4-BE49-F238E27FC236}">
                <a16:creationId xmlns:a16="http://schemas.microsoft.com/office/drawing/2014/main" id="{7531FFA3-6BCF-4BFD-BC69-0B2EFEA339A0}"/>
              </a:ext>
            </a:extLst>
          </p:cNvPr>
          <p:cNvPicPr>
            <a:picLocks noChangeAspect="1" noChangeArrowheads="1"/>
          </p:cNvPicPr>
          <p:nvPr/>
        </p:nvPicPr>
        <p:blipFill>
          <a:blip r:embed="rId2">
            <a:clrChange>
              <a:clrFrom>
                <a:srgbClr val="39122F"/>
              </a:clrFrom>
              <a:clrTo>
                <a:srgbClr val="39122F">
                  <a:alpha val="0"/>
                </a:srgbClr>
              </a:clrTo>
            </a:clrChange>
            <a:extLst>
              <a:ext uri="{28A0092B-C50C-407E-A947-70E740481C1C}">
                <a14:useLocalDpi xmlns:a14="http://schemas.microsoft.com/office/drawing/2010/main" val="0"/>
              </a:ext>
            </a:extLst>
          </a:blip>
          <a:srcRect/>
          <a:stretch>
            <a:fillRect/>
          </a:stretch>
        </p:blipFill>
        <p:spPr bwMode="auto">
          <a:xfrm>
            <a:off x="5189497" y="3570196"/>
            <a:ext cx="3960440" cy="3320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89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chor="ctr">
            <a:normAutofit/>
          </a:bodyPr>
          <a:lstStyle/>
          <a:p>
            <a:r>
              <a:rPr lang="en-ZA" dirty="0"/>
              <a:t>Lecturing team and support</a:t>
            </a:r>
          </a:p>
        </p:txBody>
      </p:sp>
      <p:pic>
        <p:nvPicPr>
          <p:cNvPr id="7" name="Picture 6" descr="A white sheet with text and a qr code&#10;&#10;Description automatically generated">
            <a:extLst>
              <a:ext uri="{FF2B5EF4-FFF2-40B4-BE49-F238E27FC236}">
                <a16:creationId xmlns:a16="http://schemas.microsoft.com/office/drawing/2014/main" id="{BA112587-AE11-BD0F-8F92-153753C84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995" y="1500409"/>
            <a:ext cx="8468010" cy="4622050"/>
          </a:xfrm>
          <a:prstGeom prst="rect">
            <a:avLst/>
          </a:prstGeom>
        </p:spPr>
      </p:pic>
    </p:spTree>
    <p:extLst>
      <p:ext uri="{BB962C8B-B14F-4D97-AF65-F5344CB8AC3E}">
        <p14:creationId xmlns:p14="http://schemas.microsoft.com/office/powerpoint/2010/main" val="1912402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Consultations</a:t>
            </a:r>
          </a:p>
        </p:txBody>
      </p:sp>
      <p:sp>
        <p:nvSpPr>
          <p:cNvPr id="3" name="Content Placeholder 2"/>
          <p:cNvSpPr>
            <a:spLocks noGrp="1"/>
          </p:cNvSpPr>
          <p:nvPr>
            <p:ph idx="1"/>
          </p:nvPr>
        </p:nvSpPr>
        <p:spPr/>
        <p:txBody>
          <a:bodyPr>
            <a:normAutofit/>
          </a:bodyPr>
          <a:lstStyle/>
          <a:p>
            <a:r>
              <a:rPr lang="en-US" dirty="0"/>
              <a:t>Consultation arrangements on </a:t>
            </a:r>
            <a:r>
              <a:rPr lang="en-US" dirty="0" err="1"/>
              <a:t>ClickUP</a:t>
            </a:r>
            <a:r>
              <a:rPr lang="en-US" dirty="0"/>
              <a:t>.</a:t>
            </a:r>
          </a:p>
          <a:p>
            <a:pPr lvl="1"/>
            <a:r>
              <a:rPr lang="en-US" dirty="0"/>
              <a:t>There are specific timeslots each day.</a:t>
            </a:r>
          </a:p>
          <a:p>
            <a:pPr lvl="1"/>
            <a:r>
              <a:rPr lang="en-US" dirty="0"/>
              <a:t>See </a:t>
            </a:r>
            <a:r>
              <a:rPr lang="en-US" dirty="0" err="1"/>
              <a:t>ClickUP</a:t>
            </a:r>
            <a:r>
              <a:rPr lang="en-US" dirty="0"/>
              <a:t> for venues for in-person consultations</a:t>
            </a:r>
          </a:p>
          <a:p>
            <a:pPr lvl="1"/>
            <a:endParaRPr lang="en-US" dirty="0"/>
          </a:p>
          <a:p>
            <a:endParaRPr lang="en-US" dirty="0"/>
          </a:p>
        </p:txBody>
      </p:sp>
      <p:pic>
        <p:nvPicPr>
          <p:cNvPr id="5122" name="Picture 2" descr="Consultation Icons - Download Free Vector Icons | Noun Project">
            <a:extLst>
              <a:ext uri="{FF2B5EF4-FFF2-40B4-BE49-F238E27FC236}">
                <a16:creationId xmlns:a16="http://schemas.microsoft.com/office/drawing/2014/main" id="{E591AB06-2E82-4D9F-A8D1-2C59F81A7B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852936"/>
            <a:ext cx="4320480"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9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err="1"/>
              <a:t>Practicals</a:t>
            </a:r>
            <a:endParaRPr lang="en-ZA" dirty="0"/>
          </a:p>
        </p:txBody>
      </p:sp>
      <p:sp>
        <p:nvSpPr>
          <p:cNvPr id="3" name="Content Placeholder 2"/>
          <p:cNvSpPr>
            <a:spLocks noGrp="1"/>
          </p:cNvSpPr>
          <p:nvPr>
            <p:ph idx="1"/>
          </p:nvPr>
        </p:nvSpPr>
        <p:spPr>
          <a:xfrm>
            <a:off x="457200" y="1600200"/>
            <a:ext cx="8291264" cy="4525963"/>
          </a:xfrm>
        </p:spPr>
        <p:txBody>
          <a:bodyPr>
            <a:normAutofit/>
          </a:bodyPr>
          <a:lstStyle/>
          <a:p>
            <a:r>
              <a:rPr lang="en-ZA" dirty="0"/>
              <a:t>Three </a:t>
            </a:r>
            <a:r>
              <a:rPr lang="en-ZA" dirty="0" err="1"/>
              <a:t>practicals</a:t>
            </a:r>
            <a:r>
              <a:rPr lang="en-ZA" dirty="0"/>
              <a:t> in the semester</a:t>
            </a:r>
          </a:p>
          <a:p>
            <a:pPr lvl="1"/>
            <a:r>
              <a:rPr lang="en-ZA" dirty="0"/>
              <a:t>Pre-</a:t>
            </a:r>
            <a:r>
              <a:rPr lang="en-ZA" dirty="0" err="1"/>
              <a:t>prac</a:t>
            </a:r>
            <a:r>
              <a:rPr lang="en-ZA" dirty="0"/>
              <a:t> lecture before every practical</a:t>
            </a:r>
          </a:p>
          <a:p>
            <a:pPr lvl="1"/>
            <a:r>
              <a:rPr lang="en-ZA" dirty="0"/>
              <a:t>Each practical session is 3 hours</a:t>
            </a:r>
          </a:p>
          <a:p>
            <a:pPr lvl="1"/>
            <a:r>
              <a:rPr lang="en-ZA" dirty="0"/>
              <a:t>You will only have 3 practical sessions in semester</a:t>
            </a:r>
          </a:p>
          <a:p>
            <a:r>
              <a:rPr lang="en-ZA" dirty="0"/>
              <a:t>Laboratory</a:t>
            </a:r>
          </a:p>
          <a:p>
            <a:pPr lvl="1"/>
            <a:r>
              <a:rPr lang="en-ZA" dirty="0"/>
              <a:t>CAEC lab: </a:t>
            </a:r>
            <a:r>
              <a:rPr lang="en-ZA" dirty="0" err="1"/>
              <a:t>Eng</a:t>
            </a:r>
            <a:r>
              <a:rPr lang="en-ZA" dirty="0"/>
              <a:t> 2:4-39 </a:t>
            </a:r>
          </a:p>
        </p:txBody>
      </p:sp>
      <p:pic>
        <p:nvPicPr>
          <p:cNvPr id="7170" name="Picture 2" descr="Ron J's Steady Temperature Thermostat - Breadboard Layout">
            <a:extLst>
              <a:ext uri="{FF2B5EF4-FFF2-40B4-BE49-F238E27FC236}">
                <a16:creationId xmlns:a16="http://schemas.microsoft.com/office/drawing/2014/main" id="{5E739782-2CB4-465C-B7CF-44C42E2AB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863181"/>
            <a:ext cx="3744416" cy="2406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16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Assessment</a:t>
            </a:r>
          </a:p>
        </p:txBody>
      </p:sp>
      <p:sp>
        <p:nvSpPr>
          <p:cNvPr id="3" name="Content Placeholder 2"/>
          <p:cNvSpPr>
            <a:spLocks noGrp="1"/>
          </p:cNvSpPr>
          <p:nvPr>
            <p:ph idx="1"/>
          </p:nvPr>
        </p:nvSpPr>
        <p:spPr/>
        <p:txBody>
          <a:bodyPr>
            <a:noAutofit/>
          </a:bodyPr>
          <a:lstStyle/>
          <a:p>
            <a:r>
              <a:rPr lang="en-ZA" sz="2800" dirty="0"/>
              <a:t>Semester mark:</a:t>
            </a:r>
          </a:p>
          <a:p>
            <a:pPr lvl="1"/>
            <a:r>
              <a:rPr lang="en-ZA" sz="2400" dirty="0"/>
              <a:t>Semester tests (x2): 70% </a:t>
            </a:r>
          </a:p>
          <a:p>
            <a:pPr lvl="1"/>
            <a:r>
              <a:rPr lang="en-ZA" sz="2400" dirty="0"/>
              <a:t>Class tests (x2): 12%</a:t>
            </a:r>
          </a:p>
          <a:p>
            <a:pPr lvl="1"/>
            <a:r>
              <a:rPr lang="en-ZA" sz="2400" dirty="0" err="1"/>
              <a:t>Practicals</a:t>
            </a:r>
            <a:r>
              <a:rPr lang="en-ZA" sz="2400" dirty="0"/>
              <a:t> (x3): 12%</a:t>
            </a:r>
          </a:p>
          <a:p>
            <a:pPr lvl="1"/>
            <a:r>
              <a:rPr lang="en-ZA" sz="2400" dirty="0"/>
              <a:t>AMS assignments (x9): 6%</a:t>
            </a:r>
          </a:p>
          <a:p>
            <a:r>
              <a:rPr lang="en-ZA" sz="2800" dirty="0"/>
              <a:t>Voluntary third semester test</a:t>
            </a:r>
          </a:p>
          <a:p>
            <a:pPr lvl="1"/>
            <a:r>
              <a:rPr lang="en-ZA" sz="2400" dirty="0"/>
              <a:t>Best two semester tests is used to calculate semester mark.</a:t>
            </a:r>
          </a:p>
          <a:p>
            <a:pPr lvl="1"/>
            <a:r>
              <a:rPr lang="en-ZA" sz="2400" dirty="0"/>
              <a:t>No aegrotat test for third semester test!</a:t>
            </a:r>
          </a:p>
          <a:p>
            <a:r>
              <a:rPr lang="en-ZA" sz="2800" dirty="0"/>
              <a:t>Exam entrance: Semester mark &gt; 40%.</a:t>
            </a:r>
          </a:p>
        </p:txBody>
      </p:sp>
      <p:pic>
        <p:nvPicPr>
          <p:cNvPr id="6" name="Picture 5">
            <a:extLst>
              <a:ext uri="{FF2B5EF4-FFF2-40B4-BE49-F238E27FC236}">
                <a16:creationId xmlns:a16="http://schemas.microsoft.com/office/drawing/2014/main" id="{CCCE59B7-3022-45F5-A648-CCAECBD3B54C}"/>
              </a:ext>
            </a:extLst>
          </p:cNvPr>
          <p:cNvPicPr>
            <a:picLocks noChangeAspect="1"/>
          </p:cNvPicPr>
          <p:nvPr/>
        </p:nvPicPr>
        <p:blipFill>
          <a:blip r:embed="rId2">
            <a:clrChange>
              <a:clrFrom>
                <a:srgbClr val="ED1C24"/>
              </a:clrFrom>
              <a:clrTo>
                <a:srgbClr val="ED1C24">
                  <a:alpha val="0"/>
                </a:srgbClr>
              </a:clrTo>
            </a:clrChange>
          </a:blip>
          <a:stretch>
            <a:fillRect/>
          </a:stretch>
        </p:blipFill>
        <p:spPr>
          <a:xfrm>
            <a:off x="5705281" y="952500"/>
            <a:ext cx="2981519" cy="3544888"/>
          </a:xfrm>
          <a:prstGeom prst="rect">
            <a:avLst/>
          </a:prstGeom>
        </p:spPr>
      </p:pic>
    </p:spTree>
    <p:extLst>
      <p:ext uri="{BB962C8B-B14F-4D97-AF65-F5344CB8AC3E}">
        <p14:creationId xmlns:p14="http://schemas.microsoft.com/office/powerpoint/2010/main" val="358933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Assessment</a:t>
            </a:r>
          </a:p>
        </p:txBody>
      </p:sp>
      <p:sp>
        <p:nvSpPr>
          <p:cNvPr id="3" name="Content Placeholder 2"/>
          <p:cNvSpPr>
            <a:spLocks noGrp="1"/>
          </p:cNvSpPr>
          <p:nvPr>
            <p:ph idx="1"/>
          </p:nvPr>
        </p:nvSpPr>
        <p:spPr>
          <a:xfrm>
            <a:off x="457200" y="1600200"/>
            <a:ext cx="8229600" cy="4876800"/>
          </a:xfrm>
        </p:spPr>
        <p:txBody>
          <a:bodyPr>
            <a:normAutofit/>
          </a:bodyPr>
          <a:lstStyle/>
          <a:p>
            <a:r>
              <a:rPr lang="en-ZA" sz="2800" dirty="0"/>
              <a:t>Final mark: </a:t>
            </a:r>
          </a:p>
          <a:p>
            <a:pPr marL="457200" lvl="1" indent="0">
              <a:buNone/>
            </a:pPr>
            <a:r>
              <a:rPr lang="en-ZA" sz="2400" dirty="0"/>
              <a:t>Final mark (100%) = Exam mark (50%)</a:t>
            </a:r>
          </a:p>
          <a:p>
            <a:pPr marL="457200" lvl="1" indent="0">
              <a:buNone/>
            </a:pPr>
            <a:r>
              <a:rPr lang="en-ZA" sz="2400" dirty="0"/>
              <a:t>		 + Semester mark (50%)</a:t>
            </a:r>
          </a:p>
          <a:p>
            <a:r>
              <a:rPr lang="en-ZA" sz="2800" dirty="0"/>
              <a:t>Entrance to exam:</a:t>
            </a:r>
          </a:p>
          <a:p>
            <a:pPr lvl="1"/>
            <a:r>
              <a:rPr lang="en-ZA" sz="2400" dirty="0"/>
              <a:t>Semester mark greater than 40%.</a:t>
            </a:r>
          </a:p>
          <a:p>
            <a:pPr lvl="1"/>
            <a:r>
              <a:rPr lang="en-ZA" sz="2400" dirty="0"/>
              <a:t>All </a:t>
            </a:r>
            <a:r>
              <a:rPr lang="en-ZA" sz="2400" dirty="0" err="1"/>
              <a:t>practicals</a:t>
            </a:r>
            <a:r>
              <a:rPr lang="en-ZA" sz="2400" dirty="0"/>
              <a:t> must be complete.</a:t>
            </a:r>
          </a:p>
          <a:p>
            <a:pPr lvl="1"/>
            <a:r>
              <a:rPr lang="en-ZA" sz="2400" dirty="0"/>
              <a:t>Average of at least 50% overall for </a:t>
            </a:r>
            <a:r>
              <a:rPr lang="en-ZA" sz="2400" dirty="0" err="1"/>
              <a:t>practicals</a:t>
            </a:r>
            <a:r>
              <a:rPr lang="en-ZA" sz="2400" dirty="0"/>
              <a:t>.</a:t>
            </a:r>
          </a:p>
          <a:p>
            <a:r>
              <a:rPr lang="en-ZA" sz="2800" dirty="0"/>
              <a:t>To pass:</a:t>
            </a:r>
          </a:p>
          <a:p>
            <a:pPr lvl="1"/>
            <a:r>
              <a:rPr lang="en-ZA" sz="2400" dirty="0"/>
              <a:t>Final mark greater or equal to 50%.</a:t>
            </a:r>
          </a:p>
          <a:p>
            <a:pPr marL="457200" lvl="1" indent="0" algn="ctr">
              <a:buNone/>
            </a:pPr>
            <a:r>
              <a:rPr lang="en-ZA" sz="3600" dirty="0"/>
              <a:t>Refer to the Study Guide!</a:t>
            </a:r>
          </a:p>
        </p:txBody>
      </p:sp>
      <p:pic>
        <p:nvPicPr>
          <p:cNvPr id="9" name="Picture 2" descr="APEST Personal Vocational Assessment | 5Q Central">
            <a:extLst>
              <a:ext uri="{FF2B5EF4-FFF2-40B4-BE49-F238E27FC236}">
                <a16:creationId xmlns:a16="http://schemas.microsoft.com/office/drawing/2014/main" id="{6B1B19E8-45D0-46EB-B29D-047D5B4F3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3236" y="744691"/>
            <a:ext cx="3433564" cy="3433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88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Study guide</a:t>
            </a:r>
          </a:p>
        </p:txBody>
      </p:sp>
      <p:sp>
        <p:nvSpPr>
          <p:cNvPr id="3" name="Content Placeholder 2"/>
          <p:cNvSpPr>
            <a:spLocks noGrp="1"/>
          </p:cNvSpPr>
          <p:nvPr>
            <p:ph idx="1"/>
          </p:nvPr>
        </p:nvSpPr>
        <p:spPr>
          <a:xfrm>
            <a:off x="2771800" y="1600200"/>
            <a:ext cx="6048672" cy="4525963"/>
          </a:xfrm>
        </p:spPr>
        <p:txBody>
          <a:bodyPr/>
          <a:lstStyle/>
          <a:p>
            <a:r>
              <a:rPr lang="en-ZA" dirty="0"/>
              <a:t>8 study themes, i.e. 8 chapters</a:t>
            </a:r>
          </a:p>
          <a:p>
            <a:pPr lvl="1"/>
            <a:r>
              <a:rPr lang="en-ZA" dirty="0"/>
              <a:t>Study guide describes:</a:t>
            </a:r>
          </a:p>
          <a:p>
            <a:pPr lvl="2"/>
            <a:r>
              <a:rPr lang="en-ZA" dirty="0"/>
              <a:t>What you must do in each study theme</a:t>
            </a:r>
          </a:p>
          <a:p>
            <a:pPr lvl="2"/>
            <a:r>
              <a:rPr lang="en-ZA" dirty="0"/>
              <a:t>Which sections in the chapter you must do</a:t>
            </a:r>
          </a:p>
          <a:p>
            <a:pPr lvl="1"/>
            <a:r>
              <a:rPr lang="en-ZA" dirty="0"/>
              <a:t>Use study guide as guide on what to study!</a:t>
            </a:r>
          </a:p>
          <a:p>
            <a:endParaRPr lang="en-ZA" dirty="0"/>
          </a:p>
          <a:p>
            <a:endParaRPr lang="en-ZA" dirty="0"/>
          </a:p>
        </p:txBody>
      </p:sp>
      <p:pic>
        <p:nvPicPr>
          <p:cNvPr id="10248" name="Picture 8" descr="Maybe robots won't kill us if they read 'good' books - Futurity |  Artificial intelligence book, Machine learning tools, Mit library">
            <a:extLst>
              <a:ext uri="{FF2B5EF4-FFF2-40B4-BE49-F238E27FC236}">
                <a16:creationId xmlns:a16="http://schemas.microsoft.com/office/drawing/2014/main" id="{A0249062-F5EA-477B-846B-34186C49D3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119511"/>
            <a:ext cx="2848323" cy="261897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85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fade">
                                      <p:cBhvr>
                                        <p:cTn id="7" dur="500"/>
                                        <p:tgtEl>
                                          <p:spTgt spid="102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“Class” rules</a:t>
            </a:r>
          </a:p>
        </p:txBody>
      </p:sp>
      <p:sp>
        <p:nvSpPr>
          <p:cNvPr id="3" name="Content Placeholder 2"/>
          <p:cNvSpPr>
            <a:spLocks noGrp="1"/>
          </p:cNvSpPr>
          <p:nvPr>
            <p:ph idx="1"/>
          </p:nvPr>
        </p:nvSpPr>
        <p:spPr/>
        <p:txBody>
          <a:bodyPr>
            <a:normAutofit/>
          </a:bodyPr>
          <a:lstStyle/>
          <a:p>
            <a:r>
              <a:rPr lang="en-ZA" dirty="0"/>
              <a:t>Lectures</a:t>
            </a:r>
          </a:p>
          <a:p>
            <a:pPr lvl="1"/>
            <a:r>
              <a:rPr lang="en-ZA" dirty="0"/>
              <a:t>New work is covered </a:t>
            </a:r>
            <a:br>
              <a:rPr lang="en-ZA" dirty="0"/>
            </a:br>
            <a:r>
              <a:rPr lang="en-ZA" dirty="0"/>
              <a:t>every day.</a:t>
            </a:r>
          </a:p>
          <a:p>
            <a:pPr lvl="1"/>
            <a:r>
              <a:rPr lang="en-ZA" dirty="0"/>
              <a:t>Pirate code…</a:t>
            </a:r>
          </a:p>
          <a:p>
            <a:r>
              <a:rPr lang="en-ZA" dirty="0"/>
              <a:t>We expect professional</a:t>
            </a:r>
            <a:br>
              <a:rPr lang="en-ZA" dirty="0"/>
            </a:br>
            <a:r>
              <a:rPr lang="en-ZA" dirty="0"/>
              <a:t>behaviour and emails.</a:t>
            </a:r>
          </a:p>
        </p:txBody>
      </p:sp>
      <p:pic>
        <p:nvPicPr>
          <p:cNvPr id="12290" name="Picture 2" descr="We use pirates code...if you fall behind you're left behind.">
            <a:extLst>
              <a:ext uri="{FF2B5EF4-FFF2-40B4-BE49-F238E27FC236}">
                <a16:creationId xmlns:a16="http://schemas.microsoft.com/office/drawing/2014/main" id="{A0879159-C3C9-45F3-A268-F94A40F28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492896"/>
            <a:ext cx="3868688" cy="3868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87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290"/>
                                        </p:tgtEl>
                                        <p:attrNameLst>
                                          <p:attrName>style.visibility</p:attrName>
                                        </p:attrNameLst>
                                      </p:cBhvr>
                                      <p:to>
                                        <p:strVal val="visible"/>
                                      </p:to>
                                    </p:set>
                                    <p:animEffect transition="in" filter="fade">
                                      <p:cBhvr>
                                        <p:cTn id="20" dur="500"/>
                                        <p:tgtEl>
                                          <p:spTgt spid="1229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1B788D-7F9D-40D7-B8B0-DB5B524F6780}"/>
              </a:ext>
            </a:extLst>
          </p:cNvPr>
          <p:cNvSpPr>
            <a:spLocks noGrp="1"/>
          </p:cNvSpPr>
          <p:nvPr>
            <p:ph type="title"/>
          </p:nvPr>
        </p:nvSpPr>
        <p:spPr/>
        <p:txBody>
          <a:bodyPr/>
          <a:lstStyle/>
          <a:p>
            <a:r>
              <a:rPr lang="en-US" dirty="0"/>
              <a:t>Week 1: What now?</a:t>
            </a:r>
            <a:endParaRPr lang="en-GB" dirty="0"/>
          </a:p>
        </p:txBody>
      </p:sp>
      <p:sp>
        <p:nvSpPr>
          <p:cNvPr id="5" name="Text Placeholder 4">
            <a:extLst>
              <a:ext uri="{FF2B5EF4-FFF2-40B4-BE49-F238E27FC236}">
                <a16:creationId xmlns:a16="http://schemas.microsoft.com/office/drawing/2014/main" id="{8EAA185B-DD2F-4B05-941A-6DC25CF1BE6E}"/>
              </a:ext>
            </a:extLst>
          </p:cNvPr>
          <p:cNvSpPr>
            <a:spLocks noGrp="1"/>
          </p:cNvSpPr>
          <p:nvPr>
            <p:ph type="body" idx="1"/>
          </p:nvPr>
        </p:nvSpPr>
        <p:spPr/>
        <p:txBody>
          <a:bodyPr/>
          <a:lstStyle/>
          <a:p>
            <a:endParaRPr lang="en-GB"/>
          </a:p>
        </p:txBody>
      </p:sp>
      <p:pic>
        <p:nvPicPr>
          <p:cNvPr id="3" name="Picture 2">
            <a:extLst>
              <a:ext uri="{FF2B5EF4-FFF2-40B4-BE49-F238E27FC236}">
                <a16:creationId xmlns:a16="http://schemas.microsoft.com/office/drawing/2014/main" id="{BDEC288B-5AC7-405F-9BAA-78D5FD0933FA}"/>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348880"/>
            <a:ext cx="4365104" cy="4365104"/>
          </a:xfrm>
          <a:prstGeom prst="rect">
            <a:avLst/>
          </a:prstGeom>
        </p:spPr>
      </p:pic>
    </p:spTree>
    <p:extLst>
      <p:ext uri="{BB962C8B-B14F-4D97-AF65-F5344CB8AC3E}">
        <p14:creationId xmlns:p14="http://schemas.microsoft.com/office/powerpoint/2010/main" val="2744409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title"/>
          </p:nvPr>
        </p:nvSpPr>
        <p:spPr>
          <a:xfrm>
            <a:off x="457200" y="381000"/>
            <a:ext cx="8229600" cy="1143000"/>
          </a:xfrm>
        </p:spPr>
        <p:txBody>
          <a:bodyPr anchor="ctr">
            <a:normAutofit/>
          </a:bodyPr>
          <a:lstStyle/>
          <a:p>
            <a:pPr marL="0" indent="0">
              <a:lnSpc>
                <a:spcPct val="90000"/>
              </a:lnSpc>
              <a:buNone/>
            </a:pPr>
            <a:r>
              <a:rPr lang="en-ZA" sz="3600" dirty="0"/>
              <a:t>Step 1: Access the EBN111 </a:t>
            </a:r>
            <a:r>
              <a:rPr lang="en-ZA" sz="3600" dirty="0" err="1"/>
              <a:t>ClickUP</a:t>
            </a:r>
            <a:r>
              <a:rPr lang="en-ZA" sz="3600" dirty="0"/>
              <a:t> module. </a:t>
            </a:r>
          </a:p>
        </p:txBody>
      </p:sp>
      <p:pic>
        <p:nvPicPr>
          <p:cNvPr id="6" name="Picture 5" descr="A close-up of a white background&#10;&#10;Description automatically generated">
            <a:extLst>
              <a:ext uri="{FF2B5EF4-FFF2-40B4-BE49-F238E27FC236}">
                <a16:creationId xmlns:a16="http://schemas.microsoft.com/office/drawing/2014/main" id="{0349F0F9-3D61-DC53-7F05-15D5F640B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12776"/>
            <a:ext cx="8229600" cy="1481326"/>
          </a:xfrm>
          <a:prstGeom prst="rect">
            <a:avLst/>
          </a:prstGeom>
          <a:noFill/>
        </p:spPr>
      </p:pic>
      <p:pic>
        <p:nvPicPr>
          <p:cNvPr id="9" name="Picture 8" descr="A screenshot of a computer&#10;&#10;Description automatically generated">
            <a:extLst>
              <a:ext uri="{FF2B5EF4-FFF2-40B4-BE49-F238E27FC236}">
                <a16:creationId xmlns:a16="http://schemas.microsoft.com/office/drawing/2014/main" id="{2FB01B5E-0FF8-D029-1765-AF784101F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361764"/>
            <a:ext cx="8215320" cy="1939443"/>
          </a:xfrm>
          <a:prstGeom prst="rect">
            <a:avLst/>
          </a:prstGeom>
        </p:spPr>
      </p:pic>
    </p:spTree>
    <p:extLst>
      <p:ext uri="{BB962C8B-B14F-4D97-AF65-F5344CB8AC3E}">
        <p14:creationId xmlns:p14="http://schemas.microsoft.com/office/powerpoint/2010/main" val="65458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549213F9-F128-A8F9-848A-D049EBD19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124744"/>
            <a:ext cx="6731000" cy="5511800"/>
          </a:xfrm>
          <a:prstGeom prst="rect">
            <a:avLst/>
          </a:prstGeom>
        </p:spPr>
      </p:pic>
      <p:sp>
        <p:nvSpPr>
          <p:cNvPr id="3" name="Content Placeholder 2"/>
          <p:cNvSpPr>
            <a:spLocks noGrp="1"/>
          </p:cNvSpPr>
          <p:nvPr>
            <p:ph idx="1"/>
          </p:nvPr>
        </p:nvSpPr>
        <p:spPr>
          <a:xfrm>
            <a:off x="457200" y="404665"/>
            <a:ext cx="8229600" cy="1008112"/>
          </a:xfrm>
        </p:spPr>
        <p:txBody>
          <a:bodyPr/>
          <a:lstStyle/>
          <a:p>
            <a:pPr marL="0" indent="0">
              <a:buNone/>
            </a:pPr>
            <a:r>
              <a:rPr lang="en-ZA" dirty="0"/>
              <a:t>Step 2: </a:t>
            </a:r>
            <a:r>
              <a:rPr lang="en-ZA" sz="2800" dirty="0"/>
              <a:t>Make sure you obtain a copy of the textbook.</a:t>
            </a:r>
            <a:endParaRPr lang="en-ZA" dirty="0"/>
          </a:p>
        </p:txBody>
      </p:sp>
      <p:sp>
        <p:nvSpPr>
          <p:cNvPr id="7" name="Rectangle 6">
            <a:extLst>
              <a:ext uri="{FF2B5EF4-FFF2-40B4-BE49-F238E27FC236}">
                <a16:creationId xmlns:a16="http://schemas.microsoft.com/office/drawing/2014/main" id="{72D69CD1-9DE2-448E-A575-40A6DAB576EF}"/>
              </a:ext>
            </a:extLst>
          </p:cNvPr>
          <p:cNvSpPr/>
          <p:nvPr/>
        </p:nvSpPr>
        <p:spPr>
          <a:xfrm>
            <a:off x="1115616" y="2048220"/>
            <a:ext cx="4819276" cy="13176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B67E2425-3655-4BFA-BC1C-24EFCEB383C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515100" y="1715145"/>
            <a:ext cx="1905000" cy="190500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506528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title"/>
          </p:nvPr>
        </p:nvSpPr>
        <p:spPr>
          <a:xfrm>
            <a:off x="457200" y="381000"/>
            <a:ext cx="8229600" cy="1143000"/>
          </a:xfrm>
        </p:spPr>
        <p:txBody>
          <a:bodyPr anchor="ctr">
            <a:normAutofit/>
          </a:bodyPr>
          <a:lstStyle/>
          <a:p>
            <a:pPr marL="0" indent="0">
              <a:buNone/>
            </a:pPr>
            <a:r>
              <a:rPr lang="en-ZA" dirty="0"/>
              <a:t>Step 3: </a:t>
            </a:r>
            <a:r>
              <a:rPr lang="en-ZA"/>
              <a:t>Lecture Schedule</a:t>
            </a:r>
            <a:endParaRPr lang="en-ZA" dirty="0"/>
          </a:p>
        </p:txBody>
      </p:sp>
      <p:pic>
        <p:nvPicPr>
          <p:cNvPr id="4" name="Picture 3" descr="A screen shot of a lecture schedule&#10;&#10;Description automatically generated">
            <a:extLst>
              <a:ext uri="{FF2B5EF4-FFF2-40B4-BE49-F238E27FC236}">
                <a16:creationId xmlns:a16="http://schemas.microsoft.com/office/drawing/2014/main" id="{AF7C6364-A347-8FC3-440B-527882494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680211"/>
            <a:ext cx="8858862" cy="3765013"/>
          </a:xfrm>
          <a:prstGeom prst="rect">
            <a:avLst/>
          </a:prstGeom>
          <a:noFill/>
        </p:spPr>
      </p:pic>
    </p:spTree>
    <p:extLst>
      <p:ext uri="{BB962C8B-B14F-4D97-AF65-F5344CB8AC3E}">
        <p14:creationId xmlns:p14="http://schemas.microsoft.com/office/powerpoint/2010/main" val="1936995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lecture schedule&#10;&#10;Description automatically generated">
            <a:extLst>
              <a:ext uri="{FF2B5EF4-FFF2-40B4-BE49-F238E27FC236}">
                <a16:creationId xmlns:a16="http://schemas.microsoft.com/office/drawing/2014/main" id="{5CE6C5A9-917C-DDFE-17A3-EA51EEF35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409" y="2924944"/>
            <a:ext cx="8858862" cy="3765013"/>
          </a:xfrm>
          <a:prstGeom prst="rect">
            <a:avLst/>
          </a:prstGeom>
          <a:noFill/>
        </p:spPr>
      </p:pic>
      <p:sp>
        <p:nvSpPr>
          <p:cNvPr id="3" name="Content Placeholder 2"/>
          <p:cNvSpPr>
            <a:spLocks noGrp="1"/>
          </p:cNvSpPr>
          <p:nvPr>
            <p:ph idx="1"/>
          </p:nvPr>
        </p:nvSpPr>
        <p:spPr>
          <a:xfrm>
            <a:off x="457200" y="404664"/>
            <a:ext cx="8435280" cy="4525963"/>
          </a:xfrm>
        </p:spPr>
        <p:txBody>
          <a:bodyPr/>
          <a:lstStyle/>
          <a:p>
            <a:pPr marL="0" indent="0">
              <a:buNone/>
            </a:pPr>
            <a:r>
              <a:rPr lang="en-ZA" dirty="0"/>
              <a:t>Step 4: Tutorials</a:t>
            </a:r>
          </a:p>
          <a:p>
            <a:pPr marL="0" indent="0">
              <a:spcBef>
                <a:spcPts val="0"/>
              </a:spcBef>
              <a:buNone/>
            </a:pPr>
            <a:r>
              <a:rPr lang="en-ZA" sz="2400" dirty="0"/>
              <a:t>	</a:t>
            </a:r>
            <a:r>
              <a:rPr lang="en-ZA" sz="2400" u="sng" dirty="0"/>
              <a:t>Tutorial days</a:t>
            </a:r>
            <a:endParaRPr lang="en-ZA" sz="2000" u="sng" dirty="0"/>
          </a:p>
          <a:p>
            <a:pPr marL="1771650" lvl="3" indent="-514350">
              <a:buFont typeface="Arial" pitchFamily="34" charset="0"/>
              <a:buAutoNum type="arabicPeriod"/>
            </a:pPr>
            <a:r>
              <a:rPr lang="en-US" sz="1800" dirty="0"/>
              <a:t>Do questions at the end of the chapter. </a:t>
            </a:r>
          </a:p>
          <a:p>
            <a:pPr marL="1771650" lvl="3" indent="-514350">
              <a:buFont typeface="Arial" pitchFamily="34" charset="0"/>
              <a:buAutoNum type="arabicPeriod"/>
            </a:pPr>
            <a:r>
              <a:rPr lang="en-US" sz="1800" dirty="0"/>
              <a:t>If you can’t do a question, post your query on the Discussions Forum.</a:t>
            </a:r>
          </a:p>
          <a:p>
            <a:pPr marL="1771650" lvl="3" indent="-514350">
              <a:buFont typeface="Arial" pitchFamily="34" charset="0"/>
              <a:buAutoNum type="arabicPeriod"/>
            </a:pPr>
            <a:r>
              <a:rPr lang="en-US" sz="1800" dirty="0"/>
              <a:t>The memo is released on day of tutorial.</a:t>
            </a:r>
          </a:p>
          <a:p>
            <a:pPr marL="1771650" lvl="3" indent="-514350">
              <a:buFont typeface="Arial" pitchFamily="34" charset="0"/>
              <a:buAutoNum type="arabicPeriod"/>
            </a:pPr>
            <a:r>
              <a:rPr lang="en-US" sz="1800" dirty="0"/>
              <a:t>View the memo and watch videos for questions you did not understand.</a:t>
            </a:r>
          </a:p>
        </p:txBody>
      </p:sp>
      <p:cxnSp>
        <p:nvCxnSpPr>
          <p:cNvPr id="9" name="Straight Arrow Connector 8">
            <a:extLst>
              <a:ext uri="{FF2B5EF4-FFF2-40B4-BE49-F238E27FC236}">
                <a16:creationId xmlns:a16="http://schemas.microsoft.com/office/drawing/2014/main" id="{00654C83-D8A5-456E-87CA-97BD5770DD43}"/>
              </a:ext>
            </a:extLst>
          </p:cNvPr>
          <p:cNvCxnSpPr>
            <a:cxnSpLocks/>
          </p:cNvCxnSpPr>
          <p:nvPr/>
        </p:nvCxnSpPr>
        <p:spPr>
          <a:xfrm>
            <a:off x="1658678" y="1340768"/>
            <a:ext cx="1257138" cy="4968552"/>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93042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4525963"/>
          </a:xfrm>
        </p:spPr>
        <p:txBody>
          <a:bodyPr/>
          <a:lstStyle/>
          <a:p>
            <a:pPr marL="0" indent="0">
              <a:buNone/>
            </a:pPr>
            <a:r>
              <a:rPr lang="en-ZA" dirty="0"/>
              <a:t>Step 5: Tutorials</a:t>
            </a:r>
          </a:p>
          <a:p>
            <a:pPr marL="0" indent="0">
              <a:buNone/>
            </a:pPr>
            <a:r>
              <a:rPr lang="en-ZA" sz="2400" dirty="0"/>
              <a:t>	Where to find the tutorial problems memos?</a:t>
            </a:r>
          </a:p>
        </p:txBody>
      </p:sp>
      <p:pic>
        <p:nvPicPr>
          <p:cNvPr id="4" name="Picture 3" descr="A screenshot of a web page&#10;&#10;Description automatically generated">
            <a:extLst>
              <a:ext uri="{FF2B5EF4-FFF2-40B4-BE49-F238E27FC236}">
                <a16:creationId xmlns:a16="http://schemas.microsoft.com/office/drawing/2014/main" id="{02C0BE57-473B-9F92-F3D6-58E84133A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3850" y="1412776"/>
            <a:ext cx="5956300" cy="4597400"/>
          </a:xfrm>
          <a:prstGeom prst="rect">
            <a:avLst/>
          </a:prstGeom>
        </p:spPr>
      </p:pic>
    </p:spTree>
    <p:extLst>
      <p:ext uri="{BB962C8B-B14F-4D97-AF65-F5344CB8AC3E}">
        <p14:creationId xmlns:p14="http://schemas.microsoft.com/office/powerpoint/2010/main" val="2877128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lecture schedule&#10;&#10;Description automatically generated">
            <a:extLst>
              <a:ext uri="{FF2B5EF4-FFF2-40B4-BE49-F238E27FC236}">
                <a16:creationId xmlns:a16="http://schemas.microsoft.com/office/drawing/2014/main" id="{4541C14D-7718-7AD1-19E7-DFEB1BC41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69" y="2420888"/>
            <a:ext cx="8858862" cy="3765013"/>
          </a:xfrm>
          <a:prstGeom prst="rect">
            <a:avLst/>
          </a:prstGeom>
          <a:noFill/>
        </p:spPr>
      </p:pic>
      <p:sp>
        <p:nvSpPr>
          <p:cNvPr id="3" name="Content Placeholder 2"/>
          <p:cNvSpPr>
            <a:spLocks noGrp="1"/>
          </p:cNvSpPr>
          <p:nvPr>
            <p:ph idx="1"/>
          </p:nvPr>
        </p:nvSpPr>
        <p:spPr>
          <a:xfrm>
            <a:off x="457200" y="404664"/>
            <a:ext cx="8229600" cy="4525963"/>
          </a:xfrm>
        </p:spPr>
        <p:txBody>
          <a:bodyPr/>
          <a:lstStyle/>
          <a:p>
            <a:pPr marL="0" indent="0">
              <a:buNone/>
            </a:pPr>
            <a:r>
              <a:rPr lang="en-ZA" dirty="0"/>
              <a:t>Step 6: Assignments</a:t>
            </a:r>
          </a:p>
          <a:p>
            <a:pPr marL="1771650" lvl="3" indent="-514350">
              <a:buFont typeface="Arial" pitchFamily="34" charset="0"/>
              <a:buAutoNum type="arabicPeriod"/>
            </a:pPr>
            <a:endParaRPr lang="en-US" sz="1800" dirty="0"/>
          </a:p>
          <a:p>
            <a:pPr marL="1771650" lvl="3" indent="-514350">
              <a:buFont typeface="Arial" pitchFamily="34" charset="0"/>
              <a:buAutoNum type="arabicPeriod"/>
            </a:pPr>
            <a:r>
              <a:rPr lang="en-US" sz="1800" dirty="0"/>
              <a:t>Assignments are done via </a:t>
            </a:r>
            <a:r>
              <a:rPr lang="en-GB" sz="1600" b="1" i="0" u="sng" dirty="0">
                <a:solidFill>
                  <a:srgbClr val="1874A4"/>
                </a:solidFill>
                <a:effectLst/>
                <a:latin typeface="inherit"/>
                <a:hlinkClick r:id="rId3"/>
              </a:rPr>
              <a:t>https://ams.up.ac.za/</a:t>
            </a:r>
            <a:endParaRPr lang="en-GB" sz="1600" b="1" i="0" u="sng" dirty="0">
              <a:solidFill>
                <a:srgbClr val="1874A4"/>
              </a:solidFill>
              <a:effectLst/>
              <a:latin typeface="inherit"/>
            </a:endParaRPr>
          </a:p>
          <a:p>
            <a:pPr marL="1771650" lvl="3" indent="-514350">
              <a:buFont typeface="Arial" pitchFamily="34" charset="0"/>
              <a:buAutoNum type="arabicPeriod"/>
            </a:pPr>
            <a:r>
              <a:rPr lang="en-US" sz="1800" dirty="0"/>
              <a:t>Assignments will be released on AMS on Wednesday 20 Feb.</a:t>
            </a:r>
          </a:p>
        </p:txBody>
      </p:sp>
      <p:pic>
        <p:nvPicPr>
          <p:cNvPr id="6" name="Picture 5">
            <a:extLst>
              <a:ext uri="{FF2B5EF4-FFF2-40B4-BE49-F238E27FC236}">
                <a16:creationId xmlns:a16="http://schemas.microsoft.com/office/drawing/2014/main" id="{D3A82C1F-9D2F-41C3-B724-940645C2DE21}"/>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89209" y="1085884"/>
            <a:ext cx="1258494" cy="1805911"/>
          </a:xfrm>
          <a:prstGeom prst="rect">
            <a:avLst/>
          </a:prstGeom>
        </p:spPr>
      </p:pic>
      <p:cxnSp>
        <p:nvCxnSpPr>
          <p:cNvPr id="9" name="Straight Arrow Connector 8">
            <a:extLst>
              <a:ext uri="{FF2B5EF4-FFF2-40B4-BE49-F238E27FC236}">
                <a16:creationId xmlns:a16="http://schemas.microsoft.com/office/drawing/2014/main" id="{00654C83-D8A5-456E-87CA-97BD5770DD43}"/>
              </a:ext>
            </a:extLst>
          </p:cNvPr>
          <p:cNvCxnSpPr>
            <a:cxnSpLocks/>
          </p:cNvCxnSpPr>
          <p:nvPr/>
        </p:nvCxnSpPr>
        <p:spPr>
          <a:xfrm>
            <a:off x="1979712" y="1988840"/>
            <a:ext cx="1296144" cy="2941787"/>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28543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p:cNvSpPr>
            <a:spLocks noGrp="1"/>
          </p:cNvSpPr>
          <p:nvPr>
            <p:ph sz="quarter" idx="1"/>
          </p:nvPr>
        </p:nvSpPr>
        <p:spPr>
          <a:xfrm>
            <a:off x="609600" y="2514600"/>
            <a:ext cx="7391400" cy="1143000"/>
          </a:xfrm>
        </p:spPr>
        <p:txBody>
          <a:bodyPr/>
          <a:lstStyle/>
          <a:p>
            <a:pPr marL="0" indent="0" eaLnBrk="1" hangingPunct="1">
              <a:lnSpc>
                <a:spcPct val="150000"/>
              </a:lnSpc>
              <a:buNone/>
            </a:pPr>
            <a:r>
              <a:rPr lang="en-US" dirty="0"/>
              <a:t>Some tips for communication</a:t>
            </a:r>
          </a:p>
        </p:txBody>
      </p:sp>
      <p:sp>
        <p:nvSpPr>
          <p:cNvPr id="9220" name="Slide Number Placeholder 3"/>
          <p:cNvSpPr>
            <a:spLocks noGrp="1"/>
          </p:cNvSpPr>
          <p:nvPr>
            <p:ph type="sldNum" sz="quarter" idx="1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Century Schoolbook" pitchFamily="18" charset="0"/>
              </a:defRPr>
            </a:lvl1pPr>
            <a:lvl2pPr marL="742950" indent="-285750">
              <a:defRPr>
                <a:solidFill>
                  <a:schemeClr val="tx1"/>
                </a:solidFill>
                <a:latin typeface="Century Schoolbook" pitchFamily="18" charset="0"/>
              </a:defRPr>
            </a:lvl2pPr>
            <a:lvl3pPr marL="1143000" indent="-228600">
              <a:defRPr>
                <a:solidFill>
                  <a:schemeClr val="tx1"/>
                </a:solidFill>
                <a:latin typeface="Century Schoolbook" pitchFamily="18" charset="0"/>
              </a:defRPr>
            </a:lvl3pPr>
            <a:lvl4pPr marL="1600200" indent="-228600">
              <a:defRPr>
                <a:solidFill>
                  <a:schemeClr val="tx1"/>
                </a:solidFill>
                <a:latin typeface="Century Schoolbook" pitchFamily="18" charset="0"/>
              </a:defRPr>
            </a:lvl4pPr>
            <a:lvl5pPr marL="2057400" indent="-228600">
              <a:defRPr>
                <a:solidFill>
                  <a:schemeClr val="tx1"/>
                </a:solidFill>
                <a:latin typeface="Century Schoolbook" pitchFamily="18" charset="0"/>
              </a:defRPr>
            </a:lvl5pPr>
            <a:lvl6pPr marL="2514600" indent="-228600" fontAlgn="base">
              <a:spcBef>
                <a:spcPct val="0"/>
              </a:spcBef>
              <a:spcAft>
                <a:spcPct val="0"/>
              </a:spcAft>
              <a:defRPr>
                <a:solidFill>
                  <a:schemeClr val="tx1"/>
                </a:solidFill>
                <a:latin typeface="Century Schoolbook" pitchFamily="18" charset="0"/>
              </a:defRPr>
            </a:lvl6pPr>
            <a:lvl7pPr marL="2971800" indent="-228600" fontAlgn="base">
              <a:spcBef>
                <a:spcPct val="0"/>
              </a:spcBef>
              <a:spcAft>
                <a:spcPct val="0"/>
              </a:spcAft>
              <a:defRPr>
                <a:solidFill>
                  <a:schemeClr val="tx1"/>
                </a:solidFill>
                <a:latin typeface="Century Schoolbook" pitchFamily="18" charset="0"/>
              </a:defRPr>
            </a:lvl7pPr>
            <a:lvl8pPr marL="3429000" indent="-228600" fontAlgn="base">
              <a:spcBef>
                <a:spcPct val="0"/>
              </a:spcBef>
              <a:spcAft>
                <a:spcPct val="0"/>
              </a:spcAft>
              <a:defRPr>
                <a:solidFill>
                  <a:schemeClr val="tx1"/>
                </a:solidFill>
                <a:latin typeface="Century Schoolbook" pitchFamily="18" charset="0"/>
              </a:defRPr>
            </a:lvl8pPr>
            <a:lvl9pPr marL="3886200" indent="-228600" fontAlgn="base">
              <a:spcBef>
                <a:spcPct val="0"/>
              </a:spcBef>
              <a:spcAft>
                <a:spcPct val="0"/>
              </a:spcAft>
              <a:defRPr>
                <a:solidFill>
                  <a:schemeClr val="tx1"/>
                </a:solidFill>
                <a:latin typeface="Century Schoolbook" pitchFamily="18" charset="0"/>
              </a:defRPr>
            </a:lvl9pPr>
          </a:lstStyle>
          <a:p>
            <a:pPr fontAlgn="base">
              <a:spcBef>
                <a:spcPct val="0"/>
              </a:spcBef>
              <a:spcAft>
                <a:spcPct val="0"/>
              </a:spcAft>
              <a:defRPr/>
            </a:pPr>
            <a:fld id="{71DB4D6A-B107-4587-BB48-8666AE59FAB6}" type="slidenum">
              <a:rPr lang="en-US" smtClean="0">
                <a:solidFill>
                  <a:srgbClr val="FFFFFF"/>
                </a:solidFill>
              </a:rPr>
              <a:pPr fontAlgn="base">
                <a:spcBef>
                  <a:spcPct val="0"/>
                </a:spcBef>
                <a:spcAft>
                  <a:spcPct val="0"/>
                </a:spcAft>
                <a:defRPr/>
              </a:pPr>
              <a:t>21</a:t>
            </a:fld>
            <a:endParaRPr lang="en-US">
              <a:solidFill>
                <a:srgbClr val="FFFFFF"/>
              </a:solidFill>
            </a:endParaRPr>
          </a:p>
        </p:txBody>
      </p:sp>
    </p:spTree>
    <p:extLst>
      <p:ext uri="{BB962C8B-B14F-4D97-AF65-F5344CB8AC3E}">
        <p14:creationId xmlns:p14="http://schemas.microsoft.com/office/powerpoint/2010/main" val="274563238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solidFill>
                  <a:schemeClr val="tx1"/>
                </a:solidFill>
              </a:rPr>
              <a:t>Struggling with a topic</a:t>
            </a:r>
          </a:p>
        </p:txBody>
      </p:sp>
      <p:sp>
        <p:nvSpPr>
          <p:cNvPr id="3" name="Content Placeholder 2"/>
          <p:cNvSpPr>
            <a:spLocks noGrp="1"/>
          </p:cNvSpPr>
          <p:nvPr>
            <p:ph idx="1"/>
          </p:nvPr>
        </p:nvSpPr>
        <p:spPr>
          <a:xfrm>
            <a:off x="457200" y="1600200"/>
            <a:ext cx="7467600" cy="3048000"/>
          </a:xfrm>
        </p:spPr>
        <p:txBody>
          <a:bodyPr/>
          <a:lstStyle/>
          <a:p>
            <a:r>
              <a:rPr lang="en-ZA" dirty="0"/>
              <a:t>“I don’t understand Chapter 1”</a:t>
            </a:r>
          </a:p>
          <a:p>
            <a:pPr lvl="1"/>
            <a:r>
              <a:rPr lang="en-ZA" dirty="0"/>
              <a:t>Too Vague</a:t>
            </a:r>
          </a:p>
          <a:p>
            <a:r>
              <a:rPr lang="en-ZA" dirty="0"/>
              <a:t>“I am struggling with Ohm’s Law”</a:t>
            </a:r>
          </a:p>
          <a:p>
            <a:pPr lvl="1"/>
            <a:r>
              <a:rPr lang="en-ZA" dirty="0"/>
              <a:t>Still too vague</a:t>
            </a:r>
          </a:p>
        </p:txBody>
      </p:sp>
      <p:sp>
        <p:nvSpPr>
          <p:cNvPr id="4" name="Slide Number Placeholder 3"/>
          <p:cNvSpPr>
            <a:spLocks noGrp="1"/>
          </p:cNvSpPr>
          <p:nvPr>
            <p:ph type="sldNum" sz="quarter" idx="12"/>
          </p:nvPr>
        </p:nvSpPr>
        <p:spPr/>
        <p:txBody>
          <a:bodyPr/>
          <a:lstStyle/>
          <a:p>
            <a:pPr>
              <a:defRPr/>
            </a:pPr>
            <a:fld id="{61FBF705-55ED-4BAA-8157-39CF59BD89E4}" type="slidenum">
              <a:rPr lang="en-US" smtClean="0"/>
              <a:pPr>
                <a:defRPr/>
              </a:pPr>
              <a:t>22</a:t>
            </a:fld>
            <a:endParaRPr lang="en-US"/>
          </a:p>
        </p:txBody>
      </p:sp>
    </p:spTree>
    <p:extLst>
      <p:ext uri="{BB962C8B-B14F-4D97-AF65-F5344CB8AC3E}">
        <p14:creationId xmlns:p14="http://schemas.microsoft.com/office/powerpoint/2010/main" val="682953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solidFill>
                  <a:schemeClr val="tx1"/>
                </a:solidFill>
              </a:rPr>
              <a:t>Email Etiquette </a:t>
            </a:r>
          </a:p>
        </p:txBody>
      </p:sp>
      <p:sp>
        <p:nvSpPr>
          <p:cNvPr id="3" name="Content Placeholder 2"/>
          <p:cNvSpPr>
            <a:spLocks noGrp="1"/>
          </p:cNvSpPr>
          <p:nvPr>
            <p:ph idx="1"/>
          </p:nvPr>
        </p:nvSpPr>
        <p:spPr/>
        <p:txBody>
          <a:bodyPr/>
          <a:lstStyle/>
          <a:p>
            <a:r>
              <a:rPr lang="en-ZA" dirty="0"/>
              <a:t>Greet:</a:t>
            </a:r>
          </a:p>
          <a:p>
            <a:pPr lvl="1"/>
            <a:r>
              <a:rPr lang="en-ZA" dirty="0"/>
              <a:t>Dear Sir/Madam</a:t>
            </a:r>
          </a:p>
          <a:p>
            <a:pPr lvl="1"/>
            <a:r>
              <a:rPr lang="en-ZA" dirty="0"/>
              <a:t>Dear Mr/Mrs/Dr/Prof</a:t>
            </a:r>
          </a:p>
          <a:p>
            <a:r>
              <a:rPr lang="en-ZA" dirty="0"/>
              <a:t>State your problem </a:t>
            </a:r>
            <a:r>
              <a:rPr lang="en-ZA" dirty="0">
                <a:solidFill>
                  <a:srgbClr val="FF0000"/>
                </a:solidFill>
              </a:rPr>
              <a:t>POLITELY!!!!!</a:t>
            </a:r>
          </a:p>
          <a:p>
            <a:r>
              <a:rPr lang="en-ZA" dirty="0"/>
              <a:t>Let us know who you are</a:t>
            </a:r>
          </a:p>
          <a:p>
            <a:pPr marL="366713" lvl="1" indent="0">
              <a:buNone/>
            </a:pPr>
            <a:r>
              <a:rPr lang="en-ZA" dirty="0"/>
              <a:t>Kind regards,</a:t>
            </a:r>
          </a:p>
          <a:p>
            <a:pPr marL="366713" lvl="1" indent="0">
              <a:buNone/>
            </a:pPr>
            <a:r>
              <a:rPr lang="en-ZA" dirty="0"/>
              <a:t>Name: Name Surname</a:t>
            </a:r>
          </a:p>
          <a:p>
            <a:pPr marL="366713" lvl="1" indent="0">
              <a:buNone/>
            </a:pPr>
            <a:r>
              <a:rPr lang="en-ZA" dirty="0"/>
              <a:t>Student No: 12345678</a:t>
            </a:r>
          </a:p>
          <a:p>
            <a:endParaRPr lang="en-ZA" dirty="0">
              <a:solidFill>
                <a:srgbClr val="FF0000"/>
              </a:solidFill>
            </a:endParaRPr>
          </a:p>
        </p:txBody>
      </p:sp>
      <p:sp>
        <p:nvSpPr>
          <p:cNvPr id="4" name="Slide Number Placeholder 3"/>
          <p:cNvSpPr>
            <a:spLocks noGrp="1"/>
          </p:cNvSpPr>
          <p:nvPr>
            <p:ph type="sldNum" sz="quarter" idx="12"/>
          </p:nvPr>
        </p:nvSpPr>
        <p:spPr/>
        <p:txBody>
          <a:bodyPr/>
          <a:lstStyle/>
          <a:p>
            <a:pPr>
              <a:defRPr/>
            </a:pPr>
            <a:fld id="{61FBF705-55ED-4BAA-8157-39CF59BD89E4}" type="slidenum">
              <a:rPr lang="en-US" smtClean="0"/>
              <a:pPr>
                <a:defRPr/>
              </a:pPr>
              <a:t>23</a:t>
            </a:fld>
            <a:endParaRPr lang="en-US"/>
          </a:p>
        </p:txBody>
      </p:sp>
    </p:spTree>
    <p:extLst>
      <p:ext uri="{BB962C8B-B14F-4D97-AF65-F5344CB8AC3E}">
        <p14:creationId xmlns:p14="http://schemas.microsoft.com/office/powerpoint/2010/main" val="4219430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solidFill>
                  <a:schemeClr val="tx1"/>
                </a:solidFill>
              </a:rPr>
              <a:t>Email Etiquette </a:t>
            </a:r>
          </a:p>
        </p:txBody>
      </p:sp>
      <p:sp>
        <p:nvSpPr>
          <p:cNvPr id="3" name="Content Placeholder 2"/>
          <p:cNvSpPr>
            <a:spLocks noGrp="1"/>
          </p:cNvSpPr>
          <p:nvPr>
            <p:ph idx="1"/>
          </p:nvPr>
        </p:nvSpPr>
        <p:spPr>
          <a:xfrm>
            <a:off x="457200" y="1600200"/>
            <a:ext cx="7467600" cy="3581400"/>
          </a:xfrm>
        </p:spPr>
        <p:txBody>
          <a:bodyPr>
            <a:normAutofit lnSpcReduction="10000"/>
          </a:bodyPr>
          <a:lstStyle/>
          <a:p>
            <a:r>
              <a:rPr lang="en-ZA" dirty="0"/>
              <a:t>Student who submitted a tutorial but their marks didn’t appear on the list.</a:t>
            </a:r>
          </a:p>
          <a:p>
            <a:r>
              <a:rPr lang="en-ZA" dirty="0"/>
              <a:t>Email:</a:t>
            </a:r>
          </a:p>
          <a:p>
            <a:pPr lvl="1"/>
            <a:r>
              <a:rPr lang="en-ZA" dirty="0"/>
              <a:t>I submitted my tutorial but my marks don’t appear on the list!!!!!! Find my tutorial and rectify this mistake or I will take this to a higher authority!!!!! My name is XYZ, please get back to me ASAP!!!!!!!!</a:t>
            </a:r>
          </a:p>
        </p:txBody>
      </p:sp>
      <p:sp>
        <p:nvSpPr>
          <p:cNvPr id="4" name="Slide Number Placeholder 3"/>
          <p:cNvSpPr>
            <a:spLocks noGrp="1"/>
          </p:cNvSpPr>
          <p:nvPr>
            <p:ph type="sldNum" sz="quarter" idx="12"/>
          </p:nvPr>
        </p:nvSpPr>
        <p:spPr/>
        <p:txBody>
          <a:bodyPr/>
          <a:lstStyle/>
          <a:p>
            <a:pPr>
              <a:defRPr/>
            </a:pPr>
            <a:fld id="{61FBF705-55ED-4BAA-8157-39CF59BD89E4}" type="slidenum">
              <a:rPr lang="en-US" smtClean="0"/>
              <a:pPr>
                <a:defRPr/>
              </a:pPr>
              <a:t>24</a:t>
            </a:fld>
            <a:endParaRPr lang="en-US"/>
          </a:p>
        </p:txBody>
      </p:sp>
    </p:spTree>
    <p:extLst>
      <p:ext uri="{BB962C8B-B14F-4D97-AF65-F5344CB8AC3E}">
        <p14:creationId xmlns:p14="http://schemas.microsoft.com/office/powerpoint/2010/main" val="2922563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solidFill>
                  <a:schemeClr val="tx1"/>
                </a:solidFill>
              </a:rPr>
              <a:t>Email Etiquette </a:t>
            </a:r>
          </a:p>
        </p:txBody>
      </p:sp>
      <p:sp>
        <p:nvSpPr>
          <p:cNvPr id="3" name="Content Placeholder 2"/>
          <p:cNvSpPr>
            <a:spLocks noGrp="1"/>
          </p:cNvSpPr>
          <p:nvPr>
            <p:ph idx="1"/>
          </p:nvPr>
        </p:nvSpPr>
        <p:spPr/>
        <p:txBody>
          <a:bodyPr/>
          <a:lstStyle/>
          <a:p>
            <a:r>
              <a:rPr lang="en-ZA" dirty="0"/>
              <a:t>Example:</a:t>
            </a:r>
          </a:p>
          <a:p>
            <a:pPr lvl="1"/>
            <a:r>
              <a:rPr lang="en-ZA" dirty="0"/>
              <a:t>Dear </a:t>
            </a:r>
            <a:r>
              <a:rPr lang="en-ZA" dirty="0" err="1"/>
              <a:t>Dr.</a:t>
            </a:r>
            <a:r>
              <a:rPr lang="en-ZA" dirty="0"/>
              <a:t> Ye</a:t>
            </a:r>
          </a:p>
          <a:p>
            <a:pPr lvl="1"/>
            <a:r>
              <a:rPr lang="en-ZA" dirty="0"/>
              <a:t>The marks for tutorial 3 have been published and my marks are not on the list. I did hand in the tutorial so I am not sure why my marks have been omitted. I would appreciate your help with this problem.</a:t>
            </a:r>
          </a:p>
          <a:p>
            <a:pPr lvl="1"/>
            <a:r>
              <a:rPr lang="en-ZA" dirty="0"/>
              <a:t>Kind Regards,</a:t>
            </a:r>
          </a:p>
        </p:txBody>
      </p:sp>
      <p:sp>
        <p:nvSpPr>
          <p:cNvPr id="4" name="Slide Number Placeholder 3"/>
          <p:cNvSpPr>
            <a:spLocks noGrp="1"/>
          </p:cNvSpPr>
          <p:nvPr>
            <p:ph type="sldNum" sz="quarter" idx="12"/>
          </p:nvPr>
        </p:nvSpPr>
        <p:spPr/>
        <p:txBody>
          <a:bodyPr/>
          <a:lstStyle/>
          <a:p>
            <a:pPr>
              <a:defRPr/>
            </a:pPr>
            <a:fld id="{61FBF705-55ED-4BAA-8157-39CF59BD89E4}" type="slidenum">
              <a:rPr lang="en-US" smtClean="0"/>
              <a:pPr>
                <a:defRPr/>
              </a:pPr>
              <a:t>25</a:t>
            </a:fld>
            <a:endParaRPr lang="en-US"/>
          </a:p>
        </p:txBody>
      </p:sp>
    </p:spTree>
    <p:extLst>
      <p:ext uri="{BB962C8B-B14F-4D97-AF65-F5344CB8AC3E}">
        <p14:creationId xmlns:p14="http://schemas.microsoft.com/office/powerpoint/2010/main" val="1435779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solidFill>
                  <a:schemeClr val="tx1"/>
                </a:solidFill>
              </a:rPr>
              <a:t>Calculator</a:t>
            </a:r>
          </a:p>
        </p:txBody>
      </p:sp>
      <p:sp>
        <p:nvSpPr>
          <p:cNvPr id="3" name="Content Placeholder 2"/>
          <p:cNvSpPr>
            <a:spLocks noGrp="1"/>
          </p:cNvSpPr>
          <p:nvPr>
            <p:ph idx="1"/>
          </p:nvPr>
        </p:nvSpPr>
        <p:spPr/>
        <p:txBody>
          <a:bodyPr/>
          <a:lstStyle/>
          <a:p>
            <a:r>
              <a:rPr lang="en-ZA" dirty="0"/>
              <a:t>Solve simultaneous equations</a:t>
            </a:r>
          </a:p>
          <a:p>
            <a:r>
              <a:rPr lang="en-ZA" dirty="0"/>
              <a:t>Complex number</a:t>
            </a:r>
          </a:p>
          <a:p>
            <a:r>
              <a:rPr lang="en-ZA" dirty="0"/>
              <a:t>Casio fx-991ES PLUS</a:t>
            </a:r>
          </a:p>
          <a:p>
            <a:r>
              <a:rPr lang="en-ZA" dirty="0"/>
              <a:t>No graphing calculators!!!!</a:t>
            </a:r>
          </a:p>
        </p:txBody>
      </p:sp>
      <p:sp>
        <p:nvSpPr>
          <p:cNvPr id="4" name="Slide Number Placeholder 3"/>
          <p:cNvSpPr>
            <a:spLocks noGrp="1"/>
          </p:cNvSpPr>
          <p:nvPr>
            <p:ph type="sldNum" sz="quarter" idx="12"/>
          </p:nvPr>
        </p:nvSpPr>
        <p:spPr/>
        <p:txBody>
          <a:bodyPr/>
          <a:lstStyle/>
          <a:p>
            <a:pPr>
              <a:defRPr/>
            </a:pPr>
            <a:fld id="{61FBF705-55ED-4BAA-8157-39CF59BD89E4}" type="slidenum">
              <a:rPr lang="en-US" smtClean="0"/>
              <a:pPr>
                <a:defRPr/>
              </a:pPr>
              <a:t>26</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8104" y="2492896"/>
            <a:ext cx="3352800" cy="3352800"/>
          </a:xfrm>
          <a:prstGeom prst="rect">
            <a:avLst/>
          </a:prstGeom>
        </p:spPr>
      </p:pic>
    </p:spTree>
    <p:extLst>
      <p:ext uri="{BB962C8B-B14F-4D97-AF65-F5344CB8AC3E}">
        <p14:creationId xmlns:p14="http://schemas.microsoft.com/office/powerpoint/2010/main" val="1457124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err="1"/>
              <a:t>ECSA</a:t>
            </a:r>
            <a:endParaRPr lang="en-ZA" dirty="0"/>
          </a:p>
        </p:txBody>
      </p:sp>
      <p:sp>
        <p:nvSpPr>
          <p:cNvPr id="3" name="Content Placeholder 2"/>
          <p:cNvSpPr>
            <a:spLocks noGrp="1"/>
          </p:cNvSpPr>
          <p:nvPr>
            <p:ph idx="1"/>
          </p:nvPr>
        </p:nvSpPr>
        <p:spPr/>
        <p:txBody>
          <a:bodyPr>
            <a:noAutofit/>
          </a:bodyPr>
          <a:lstStyle/>
          <a:p>
            <a:r>
              <a:rPr lang="en-ZA" sz="2400" dirty="0"/>
              <a:t>What is </a:t>
            </a:r>
            <a:r>
              <a:rPr lang="en-ZA" sz="2400" dirty="0" err="1"/>
              <a:t>ECSA</a:t>
            </a:r>
            <a:r>
              <a:rPr lang="en-ZA" sz="2400" dirty="0"/>
              <a:t>? </a:t>
            </a:r>
          </a:p>
          <a:p>
            <a:pPr lvl="1"/>
            <a:r>
              <a:rPr lang="en-ZA" sz="2000" dirty="0"/>
              <a:t>Engineering Council of South Africa</a:t>
            </a:r>
          </a:p>
          <a:p>
            <a:pPr lvl="2"/>
            <a:r>
              <a:rPr lang="en-ZA" sz="1600" dirty="0" err="1"/>
              <a:t>ECSA</a:t>
            </a:r>
            <a:r>
              <a:rPr lang="en-ZA" sz="1600" dirty="0"/>
              <a:t> is in partnership with the State and the engineering profession to </a:t>
            </a:r>
            <a:r>
              <a:rPr lang="en-ZA" sz="1600" b="1" dirty="0"/>
              <a:t>promote a high level of education and training of practitioners</a:t>
            </a:r>
            <a:r>
              <a:rPr lang="en-ZA" sz="1600" dirty="0"/>
              <a:t> in the engineering profession so as </a:t>
            </a:r>
            <a:r>
              <a:rPr lang="en-ZA" sz="1600" b="1" dirty="0"/>
              <a:t>to facilitate full recognition of professionalism </a:t>
            </a:r>
            <a:r>
              <a:rPr lang="en-ZA" sz="1600" dirty="0"/>
              <a:t>in the engineering profession, both </a:t>
            </a:r>
            <a:r>
              <a:rPr lang="en-ZA" sz="1600" b="1" dirty="0"/>
              <a:t>locally and abroad</a:t>
            </a:r>
            <a:r>
              <a:rPr lang="en-ZA" sz="1600" dirty="0"/>
              <a:t>. </a:t>
            </a:r>
          </a:p>
          <a:p>
            <a:r>
              <a:rPr lang="en-ZA" sz="2400" dirty="0"/>
              <a:t>What is the purpose of accreditation? </a:t>
            </a:r>
          </a:p>
          <a:p>
            <a:pPr lvl="2"/>
            <a:r>
              <a:rPr lang="en-ZA" sz="1600" dirty="0"/>
              <a:t>Engineering programmes accredited by </a:t>
            </a:r>
            <a:r>
              <a:rPr lang="en-ZA" sz="1600" dirty="0" err="1"/>
              <a:t>ECSA</a:t>
            </a:r>
            <a:r>
              <a:rPr lang="en-ZA" sz="1600" dirty="0"/>
              <a:t> are </a:t>
            </a:r>
            <a:r>
              <a:rPr lang="en-ZA" sz="1600" b="1" dirty="0"/>
              <a:t>recognised</a:t>
            </a:r>
            <a:r>
              <a:rPr lang="en-ZA" sz="1600" dirty="0"/>
              <a:t> as meeting the initial </a:t>
            </a:r>
            <a:r>
              <a:rPr lang="en-ZA" sz="1600" b="1" dirty="0"/>
              <a:t>academic requirements </a:t>
            </a:r>
            <a:r>
              <a:rPr lang="en-ZA" sz="1600" dirty="0"/>
              <a:t>for registration as a </a:t>
            </a:r>
            <a:r>
              <a:rPr lang="en-ZA" sz="1600" b="1" dirty="0"/>
              <a:t>Professional Engineer </a:t>
            </a:r>
            <a:r>
              <a:rPr lang="en-ZA" sz="1600" dirty="0"/>
              <a:t>in South Africa.  </a:t>
            </a:r>
          </a:p>
          <a:p>
            <a:pPr lvl="2"/>
            <a:r>
              <a:rPr lang="en-ZA" sz="1600" b="1" dirty="0"/>
              <a:t>International recognition </a:t>
            </a:r>
            <a:r>
              <a:rPr lang="en-ZA" sz="1600" dirty="0"/>
              <a:t>of these programmes is provided through the Washington Accord. </a:t>
            </a:r>
          </a:p>
          <a:p>
            <a:pPr lvl="2"/>
            <a:r>
              <a:rPr lang="en-ZA" sz="1600" dirty="0"/>
              <a:t>Signatories to the Washington Accord have undertaken to make every reasonable effort to ensure that bodies responsible for Professional Engineers practicing in its country, mutually recognise the substantial academic equivalence of engineering academic programmes accredited by other Accord signatories.</a:t>
            </a:r>
          </a:p>
        </p:txBody>
      </p:sp>
      <p:pic>
        <p:nvPicPr>
          <p:cNvPr id="13316" name="Picture 4" descr="ECSA (@ECSAOfficial) | Twitter">
            <a:extLst>
              <a:ext uri="{FF2B5EF4-FFF2-40B4-BE49-F238E27FC236}">
                <a16:creationId xmlns:a16="http://schemas.microsoft.com/office/drawing/2014/main" id="{0E68EDCB-08BF-48C8-86F6-1829F8426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381000"/>
            <a:ext cx="2016224"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58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ECSA Graduate Attributes</a:t>
            </a:r>
          </a:p>
        </p:txBody>
      </p:sp>
      <p:sp>
        <p:nvSpPr>
          <p:cNvPr id="3" name="Content Placeholder 2"/>
          <p:cNvSpPr>
            <a:spLocks noGrp="1"/>
          </p:cNvSpPr>
          <p:nvPr>
            <p:ph idx="1"/>
          </p:nvPr>
        </p:nvSpPr>
        <p:spPr/>
        <p:txBody>
          <a:bodyPr>
            <a:normAutofit/>
          </a:bodyPr>
          <a:lstStyle/>
          <a:p>
            <a:r>
              <a:rPr lang="en-ZA" dirty="0"/>
              <a:t>What are Graduate Attributes(GA’s)?</a:t>
            </a:r>
          </a:p>
          <a:p>
            <a:pPr lvl="1"/>
            <a:r>
              <a:rPr lang="en-ZA" dirty="0"/>
              <a:t>Each engineering student is assessed according to 10 ECSA GA’s at end of study period</a:t>
            </a:r>
          </a:p>
          <a:p>
            <a:pPr lvl="2"/>
            <a:r>
              <a:rPr lang="en-ZA" dirty="0"/>
              <a:t>GA 1: Problem Solving</a:t>
            </a:r>
          </a:p>
          <a:p>
            <a:pPr lvl="2"/>
            <a:r>
              <a:rPr lang="en-ZA" dirty="0"/>
              <a:t>GA 2: Application of scientific and engineering knowledge</a:t>
            </a:r>
          </a:p>
          <a:p>
            <a:pPr lvl="2"/>
            <a:r>
              <a:rPr lang="en-ZA" dirty="0"/>
              <a:t>GA 3: Engineering Design</a:t>
            </a:r>
          </a:p>
          <a:p>
            <a:pPr lvl="2"/>
            <a:r>
              <a:rPr lang="en-ZA" dirty="0"/>
              <a:t>GA 4: Investigations, experiments and data analysis</a:t>
            </a:r>
          </a:p>
          <a:p>
            <a:pPr lvl="2"/>
            <a:r>
              <a:rPr lang="en-ZA" dirty="0"/>
              <a:t>GA 5: Engineering methods, skills and tools, including Information Technology</a:t>
            </a:r>
          </a:p>
          <a:p>
            <a:pPr lvl="2"/>
            <a:endParaRPr lang="en-ZA" dirty="0"/>
          </a:p>
          <a:p>
            <a:pPr lvl="2"/>
            <a:endParaRPr lang="en-ZA" dirty="0"/>
          </a:p>
          <a:p>
            <a:pPr lvl="2"/>
            <a:endParaRPr lang="en-ZA" dirty="0"/>
          </a:p>
          <a:p>
            <a:endParaRPr lang="en-ZA" dirty="0"/>
          </a:p>
        </p:txBody>
      </p:sp>
    </p:spTree>
    <p:extLst>
      <p:ext uri="{BB962C8B-B14F-4D97-AF65-F5344CB8AC3E}">
        <p14:creationId xmlns:p14="http://schemas.microsoft.com/office/powerpoint/2010/main" val="385202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ECSA Graduate Attributes</a:t>
            </a:r>
          </a:p>
        </p:txBody>
      </p:sp>
      <p:sp>
        <p:nvSpPr>
          <p:cNvPr id="3" name="Content Placeholder 2"/>
          <p:cNvSpPr>
            <a:spLocks noGrp="1"/>
          </p:cNvSpPr>
          <p:nvPr>
            <p:ph idx="1"/>
          </p:nvPr>
        </p:nvSpPr>
        <p:spPr/>
        <p:txBody>
          <a:bodyPr>
            <a:normAutofit/>
          </a:bodyPr>
          <a:lstStyle/>
          <a:p>
            <a:r>
              <a:rPr lang="en-ZA" dirty="0"/>
              <a:t>What are Graduate Attributes(GA’s)?</a:t>
            </a:r>
          </a:p>
          <a:p>
            <a:pPr lvl="1"/>
            <a:r>
              <a:rPr lang="en-ZA" dirty="0"/>
              <a:t>Each engineering student is assessed according to 10 ECSA GA’s at end of study period</a:t>
            </a:r>
          </a:p>
          <a:p>
            <a:pPr lvl="2"/>
            <a:r>
              <a:rPr lang="en-ZA" dirty="0"/>
              <a:t>GA 6: Professional and technical communication</a:t>
            </a:r>
          </a:p>
          <a:p>
            <a:pPr lvl="2"/>
            <a:r>
              <a:rPr lang="en-ZA" dirty="0"/>
              <a:t>GA 7: Impact of Engineering activity</a:t>
            </a:r>
          </a:p>
          <a:p>
            <a:pPr lvl="2"/>
            <a:r>
              <a:rPr lang="en-ZA" dirty="0"/>
              <a:t>GA 8: Individual, team and multidisciplinary working</a:t>
            </a:r>
          </a:p>
          <a:p>
            <a:pPr lvl="2"/>
            <a:r>
              <a:rPr lang="en-ZA" dirty="0"/>
              <a:t>GA 9: Independent learning ability</a:t>
            </a:r>
          </a:p>
          <a:p>
            <a:pPr lvl="2"/>
            <a:r>
              <a:rPr lang="en-ZA" dirty="0"/>
              <a:t>GA 10: Engineering Professionalism</a:t>
            </a:r>
          </a:p>
          <a:p>
            <a:pPr lvl="2"/>
            <a:endParaRPr lang="en-ZA" dirty="0"/>
          </a:p>
          <a:p>
            <a:pPr lvl="2"/>
            <a:endParaRPr lang="en-ZA" dirty="0"/>
          </a:p>
          <a:p>
            <a:pPr lvl="2"/>
            <a:endParaRPr lang="en-ZA" dirty="0"/>
          </a:p>
          <a:p>
            <a:endParaRPr lang="en-ZA" dirty="0"/>
          </a:p>
        </p:txBody>
      </p:sp>
    </p:spTree>
    <p:extLst>
      <p:ext uri="{BB962C8B-B14F-4D97-AF65-F5344CB8AC3E}">
        <p14:creationId xmlns:p14="http://schemas.microsoft.com/office/powerpoint/2010/main" val="129943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ECSA Graduate Attributes</a:t>
            </a:r>
          </a:p>
        </p:txBody>
      </p:sp>
      <p:sp>
        <p:nvSpPr>
          <p:cNvPr id="3" name="Content Placeholder 2"/>
          <p:cNvSpPr>
            <a:spLocks noGrp="1"/>
          </p:cNvSpPr>
          <p:nvPr>
            <p:ph idx="1"/>
          </p:nvPr>
        </p:nvSpPr>
        <p:spPr/>
        <p:txBody>
          <a:bodyPr>
            <a:normAutofit/>
          </a:bodyPr>
          <a:lstStyle/>
          <a:p>
            <a:r>
              <a:rPr lang="en-ZA" dirty="0"/>
              <a:t>Graduate Attributes assessed in EBN111/122:</a:t>
            </a:r>
          </a:p>
          <a:p>
            <a:pPr lvl="2"/>
            <a:r>
              <a:rPr lang="en-ZA" dirty="0"/>
              <a:t>GA 1: Problem Solving</a:t>
            </a:r>
          </a:p>
          <a:p>
            <a:pPr lvl="3"/>
            <a:r>
              <a:rPr lang="en-ZA" dirty="0"/>
              <a:t>Demonstrate competence to identify, assess, formulate and solve convergent and divergent engineering problems creatively and innovatively.</a:t>
            </a:r>
          </a:p>
          <a:p>
            <a:pPr lvl="2"/>
            <a:r>
              <a:rPr lang="en-ZA" dirty="0"/>
              <a:t>GA 2: Application of scientific and engineering knowledge</a:t>
            </a:r>
          </a:p>
          <a:p>
            <a:pPr lvl="3"/>
            <a:r>
              <a:rPr lang="en-ZA" dirty="0"/>
              <a:t>Demonstrate competence to apply knowledge of mathematics, basic science and engineering sciences from first principles to solve engineering problems.</a:t>
            </a:r>
          </a:p>
        </p:txBody>
      </p:sp>
    </p:spTree>
    <p:extLst>
      <p:ext uri="{BB962C8B-B14F-4D97-AF65-F5344CB8AC3E}">
        <p14:creationId xmlns:p14="http://schemas.microsoft.com/office/powerpoint/2010/main" val="317005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1B788D-7F9D-40D7-B8B0-DB5B524F6780}"/>
              </a:ext>
            </a:extLst>
          </p:cNvPr>
          <p:cNvSpPr>
            <a:spLocks noGrp="1"/>
          </p:cNvSpPr>
          <p:nvPr>
            <p:ph type="title"/>
          </p:nvPr>
        </p:nvSpPr>
        <p:spPr/>
        <p:txBody>
          <a:bodyPr/>
          <a:lstStyle/>
          <a:p>
            <a:pPr algn="r"/>
            <a:r>
              <a:rPr lang="en-US" dirty="0"/>
              <a:t>Questions?</a:t>
            </a:r>
            <a:endParaRPr lang="en-GB" dirty="0"/>
          </a:p>
        </p:txBody>
      </p:sp>
      <p:sp>
        <p:nvSpPr>
          <p:cNvPr id="5" name="Text Placeholder 4">
            <a:extLst>
              <a:ext uri="{FF2B5EF4-FFF2-40B4-BE49-F238E27FC236}">
                <a16:creationId xmlns:a16="http://schemas.microsoft.com/office/drawing/2014/main" id="{8EAA185B-DD2F-4B05-941A-6DC25CF1BE6E}"/>
              </a:ext>
            </a:extLst>
          </p:cNvPr>
          <p:cNvSpPr>
            <a:spLocks noGrp="1"/>
          </p:cNvSpPr>
          <p:nvPr>
            <p:ph type="body" idx="1"/>
          </p:nvPr>
        </p:nvSpPr>
        <p:spPr/>
        <p:txBody>
          <a:bodyPr/>
          <a:lstStyle/>
          <a:p>
            <a:endParaRPr lang="en-GB"/>
          </a:p>
        </p:txBody>
      </p:sp>
      <p:pic>
        <p:nvPicPr>
          <p:cNvPr id="26" name="Picture 25">
            <a:extLst>
              <a:ext uri="{FF2B5EF4-FFF2-40B4-BE49-F238E27FC236}">
                <a16:creationId xmlns:a16="http://schemas.microsoft.com/office/drawing/2014/main" id="{06F74725-599E-47D7-833F-52FD4BEDBD0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31640" y="1988840"/>
            <a:ext cx="4392488" cy="4392488"/>
          </a:xfrm>
          <a:prstGeom prst="rect">
            <a:avLst/>
          </a:prstGeom>
        </p:spPr>
      </p:pic>
    </p:spTree>
    <p:extLst>
      <p:ext uri="{BB962C8B-B14F-4D97-AF65-F5344CB8AC3E}">
        <p14:creationId xmlns:p14="http://schemas.microsoft.com/office/powerpoint/2010/main" val="1471551839"/>
      </p:ext>
    </p:extLst>
  </p:cSld>
  <p:clrMapOvr>
    <a:masterClrMapping/>
  </p:clrMapOvr>
</p:sld>
</file>

<file path=ppt/theme/theme1.xml><?xml version="1.0" encoding="utf-8"?>
<a:theme xmlns:a="http://schemas.openxmlformats.org/drawingml/2006/main" name="TS10189359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1966</TotalTime>
  <Words>1210</Words>
  <Application>Microsoft Macintosh PowerPoint</Application>
  <PresentationFormat>On-screen Show (4:3)</PresentationFormat>
  <Paragraphs>182</Paragraphs>
  <Slides>31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inherit</vt:lpstr>
      <vt:lpstr>Arial</vt:lpstr>
      <vt:lpstr>Calibri</vt:lpstr>
      <vt:lpstr>TS101893593</vt:lpstr>
      <vt:lpstr>EBN111</vt:lpstr>
      <vt:lpstr>EBN111</vt:lpstr>
      <vt:lpstr>Aim of course</vt:lpstr>
      <vt:lpstr>Approach</vt:lpstr>
      <vt:lpstr>Textbook</vt:lpstr>
      <vt:lpstr>Learning Activities</vt:lpstr>
      <vt:lpstr>Lecturing team and support</vt:lpstr>
      <vt:lpstr>Consultations</vt:lpstr>
      <vt:lpstr>Practicals</vt:lpstr>
      <vt:lpstr>Assessment</vt:lpstr>
      <vt:lpstr>Assessment</vt:lpstr>
      <vt:lpstr>Study guide</vt:lpstr>
      <vt:lpstr>“Class” rules</vt:lpstr>
      <vt:lpstr>Week 1: What now?</vt:lpstr>
      <vt:lpstr>Step 1: Access the EBN111 ClickUP module. </vt:lpstr>
      <vt:lpstr>PowerPoint Presentation</vt:lpstr>
      <vt:lpstr>Step 3: Lecture Schedule</vt:lpstr>
      <vt:lpstr>PowerPoint Presentation</vt:lpstr>
      <vt:lpstr>PowerPoint Presentation</vt:lpstr>
      <vt:lpstr>PowerPoint Presentation</vt:lpstr>
      <vt:lpstr>PowerPoint Presentation</vt:lpstr>
      <vt:lpstr>Struggling with a topic</vt:lpstr>
      <vt:lpstr>Email Etiquette </vt:lpstr>
      <vt:lpstr>Email Etiquette </vt:lpstr>
      <vt:lpstr>Email Etiquette </vt:lpstr>
      <vt:lpstr>Calculator</vt:lpstr>
      <vt:lpstr>ECSA</vt:lpstr>
      <vt:lpstr>ECSA Graduate Attributes</vt:lpstr>
      <vt:lpstr>ECSA Graduate Attributes</vt:lpstr>
      <vt:lpstr>ECSA Graduate Attributes</vt:lpstr>
      <vt:lpstr>Questions?</vt:lpstr>
    </vt:vector>
  </TitlesOfParts>
  <Company>University of Pretoria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EBN 122 Electricity and Electronics</dc:title>
  <dc:creator>User</dc:creator>
  <cp:lastModifiedBy>Prof. X Ye</cp:lastModifiedBy>
  <cp:revision>111</cp:revision>
  <dcterms:created xsi:type="dcterms:W3CDTF">2012-07-20T08:02:39Z</dcterms:created>
  <dcterms:modified xsi:type="dcterms:W3CDTF">2024-02-18T15:09:53Z</dcterms:modified>
</cp:coreProperties>
</file>