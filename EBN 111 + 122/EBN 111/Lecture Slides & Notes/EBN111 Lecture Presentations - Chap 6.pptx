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25"/>
  </p:notesMasterIdLst>
  <p:handoutMasterIdLst>
    <p:handoutMasterId r:id="rId26"/>
  </p:handoutMasterIdLst>
  <p:sldIdLst>
    <p:sldId id="256" r:id="rId2"/>
    <p:sldId id="257" r:id="rId3"/>
    <p:sldId id="322" r:id="rId4"/>
    <p:sldId id="323" r:id="rId5"/>
    <p:sldId id="325" r:id="rId6"/>
    <p:sldId id="341" r:id="rId7"/>
    <p:sldId id="342" r:id="rId8"/>
    <p:sldId id="343" r:id="rId9"/>
    <p:sldId id="344" r:id="rId10"/>
    <p:sldId id="328" r:id="rId11"/>
    <p:sldId id="345" r:id="rId12"/>
    <p:sldId id="332" r:id="rId13"/>
    <p:sldId id="333" r:id="rId14"/>
    <p:sldId id="346" r:id="rId15"/>
    <p:sldId id="347" r:id="rId16"/>
    <p:sldId id="337" r:id="rId17"/>
    <p:sldId id="340" r:id="rId18"/>
    <p:sldId id="348" r:id="rId19"/>
    <p:sldId id="349" r:id="rId20"/>
    <p:sldId id="352" r:id="rId21"/>
    <p:sldId id="353" r:id="rId22"/>
    <p:sldId id="350" r:id="rId23"/>
    <p:sldId id="351" r:id="rId24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CC"/>
    <a:srgbClr val="FF0000"/>
    <a:srgbClr val="000000"/>
    <a:srgbClr val="FF3300"/>
    <a:srgbClr val="FF6600"/>
    <a:srgbClr val="00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235" autoAdjust="0"/>
    <p:restoredTop sz="94660"/>
  </p:normalViewPr>
  <p:slideViewPr>
    <p:cSldViewPr snapToGrid="0">
      <p:cViewPr varScale="1">
        <p:scale>
          <a:sx n="47" d="100"/>
          <a:sy n="47" d="100"/>
        </p:scale>
        <p:origin x="-1248" y="-102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200" d="100"/>
        <a:sy n="200" d="100"/>
      </p:scale>
      <p:origin x="0" y="120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35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42.wmf"/><Relationship Id="rId1" Type="http://schemas.openxmlformats.org/officeDocument/2006/relationships/image" Target="../media/image41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4ABC8F0-40DF-4025-8028-F1E72EF9A56B}" type="datetimeFigureOut">
              <a:rPr lang="en-ZA" smtClean="0"/>
              <a:t>2012/04/16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AE7840-38B1-4FD9-ABCB-7B351CA391E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639312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246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294" y="0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768350"/>
            <a:ext cx="5114925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246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930" y="4861441"/>
            <a:ext cx="5679440" cy="46055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6247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106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30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6247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294" y="9721106"/>
            <a:ext cx="3076363" cy="5117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300">
                <a:latin typeface="Arial" charset="0"/>
              </a:defRPr>
            </a:lvl1pPr>
          </a:lstStyle>
          <a:p>
            <a:fld id="{495980BA-6601-45D6-9881-B70DB389AB3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08856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914" name="Group 2"/>
          <p:cNvGrpSpPr>
            <a:grpSpLocks/>
          </p:cNvGrpSpPr>
          <p:nvPr/>
        </p:nvGrpSpPr>
        <p:grpSpPr bwMode="auto">
          <a:xfrm>
            <a:off x="0" y="0"/>
            <a:ext cx="8805863" cy="6858000"/>
            <a:chOff x="0" y="0"/>
            <a:chExt cx="5547" cy="4320"/>
          </a:xfrm>
        </p:grpSpPr>
        <p:grpSp>
          <p:nvGrpSpPr>
            <p:cNvPr id="38915" name="Group 3"/>
            <p:cNvGrpSpPr>
              <a:grpSpLocks/>
            </p:cNvGrpSpPr>
            <p:nvPr userDrawn="1"/>
          </p:nvGrpSpPr>
          <p:grpSpPr bwMode="auto">
            <a:xfrm rot="-215207">
              <a:off x="3690" y="234"/>
              <a:ext cx="1857" cy="3625"/>
              <a:chOff x="3010" y="778"/>
              <a:chExt cx="1857" cy="3625"/>
            </a:xfrm>
          </p:grpSpPr>
          <p:sp>
            <p:nvSpPr>
              <p:cNvPr id="38916" name="Freeform 4"/>
              <p:cNvSpPr>
                <a:spLocks/>
              </p:cNvSpPr>
              <p:nvPr userDrawn="1"/>
            </p:nvSpPr>
            <p:spPr bwMode="ltGray">
              <a:xfrm rot="12185230" flipV="1">
                <a:off x="3534" y="778"/>
                <a:ext cx="1333" cy="1485"/>
              </a:xfrm>
              <a:custGeom>
                <a:avLst/>
                <a:gdLst>
                  <a:gd name="T0" fmla="*/ 16 w 596"/>
                  <a:gd name="T1" fmla="*/ 370 h 666"/>
                  <a:gd name="T2" fmla="*/ 6 w 596"/>
                  <a:gd name="T3" fmla="*/ 341 h 666"/>
                  <a:gd name="T4" fmla="*/ 0 w 596"/>
                  <a:gd name="T5" fmla="*/ 289 h 666"/>
                  <a:gd name="T6" fmla="*/ 4 w 596"/>
                  <a:gd name="T7" fmla="*/ 222 h 666"/>
                  <a:gd name="T8" fmla="*/ 25 w 596"/>
                  <a:gd name="T9" fmla="*/ 151 h 666"/>
                  <a:gd name="T10" fmla="*/ 69 w 596"/>
                  <a:gd name="T11" fmla="*/ 84 h 666"/>
                  <a:gd name="T12" fmla="*/ 142 w 596"/>
                  <a:gd name="T13" fmla="*/ 31 h 666"/>
                  <a:gd name="T14" fmla="*/ 247 w 596"/>
                  <a:gd name="T15" fmla="*/ 2 h 666"/>
                  <a:gd name="T16" fmla="*/ 380 w 596"/>
                  <a:gd name="T17" fmla="*/ 9 h 666"/>
                  <a:gd name="T18" fmla="*/ 484 w 596"/>
                  <a:gd name="T19" fmla="*/ 68 h 666"/>
                  <a:gd name="T20" fmla="*/ 554 w 596"/>
                  <a:gd name="T21" fmla="*/ 165 h 666"/>
                  <a:gd name="T22" fmla="*/ 591 w 596"/>
                  <a:gd name="T23" fmla="*/ 284 h 666"/>
                  <a:gd name="T24" fmla="*/ 595 w 596"/>
                  <a:gd name="T25" fmla="*/ 409 h 666"/>
                  <a:gd name="T26" fmla="*/ 566 w 596"/>
                  <a:gd name="T27" fmla="*/ 525 h 666"/>
                  <a:gd name="T28" fmla="*/ 507 w 596"/>
                  <a:gd name="T29" fmla="*/ 615 h 666"/>
                  <a:gd name="T30" fmla="*/ 417 w 596"/>
                  <a:gd name="T31" fmla="*/ 663 h 666"/>
                  <a:gd name="T32" fmla="*/ 389 w 596"/>
                  <a:gd name="T33" fmla="*/ 659 h 666"/>
                  <a:gd name="T34" fmla="*/ 441 w 596"/>
                  <a:gd name="T35" fmla="*/ 617 h 666"/>
                  <a:gd name="T36" fmla="*/ 482 w 596"/>
                  <a:gd name="T37" fmla="*/ 544 h 666"/>
                  <a:gd name="T38" fmla="*/ 509 w 596"/>
                  <a:gd name="T39" fmla="*/ 454 h 666"/>
                  <a:gd name="T40" fmla="*/ 520 w 596"/>
                  <a:gd name="T41" fmla="*/ 355 h 666"/>
                  <a:gd name="T42" fmla="*/ 514 w 596"/>
                  <a:gd name="T43" fmla="*/ 258 h 666"/>
                  <a:gd name="T44" fmla="*/ 485 w 596"/>
                  <a:gd name="T45" fmla="*/ 174 h 666"/>
                  <a:gd name="T46" fmla="*/ 433 w 596"/>
                  <a:gd name="T47" fmla="*/ 112 h 666"/>
                  <a:gd name="T48" fmla="*/ 341 w 596"/>
                  <a:gd name="T49" fmla="*/ 75 h 666"/>
                  <a:gd name="T50" fmla="*/ 246 w 596"/>
                  <a:gd name="T51" fmla="*/ 61 h 666"/>
                  <a:gd name="T52" fmla="*/ 174 w 596"/>
                  <a:gd name="T53" fmla="*/ 71 h 666"/>
                  <a:gd name="T54" fmla="*/ 121 w 596"/>
                  <a:gd name="T55" fmla="*/ 101 h 666"/>
                  <a:gd name="T56" fmla="*/ 84 w 596"/>
                  <a:gd name="T57" fmla="*/ 149 h 666"/>
                  <a:gd name="T58" fmla="*/ 57 w 596"/>
                  <a:gd name="T59" fmla="*/ 206 h 666"/>
                  <a:gd name="T60" fmla="*/ 40 w 596"/>
                  <a:gd name="T61" fmla="*/ 272 h 666"/>
                  <a:gd name="T62" fmla="*/ 28 w 596"/>
                  <a:gd name="T63" fmla="*/ 339 h 6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596" h="666">
                    <a:moveTo>
                      <a:pt x="22" y="372"/>
                    </a:moveTo>
                    <a:lnTo>
                      <a:pt x="16" y="370"/>
                    </a:lnTo>
                    <a:lnTo>
                      <a:pt x="10" y="360"/>
                    </a:lnTo>
                    <a:lnTo>
                      <a:pt x="6" y="341"/>
                    </a:lnTo>
                    <a:lnTo>
                      <a:pt x="1" y="318"/>
                    </a:lnTo>
                    <a:lnTo>
                      <a:pt x="0" y="289"/>
                    </a:lnTo>
                    <a:lnTo>
                      <a:pt x="0" y="257"/>
                    </a:lnTo>
                    <a:lnTo>
                      <a:pt x="4" y="222"/>
                    </a:lnTo>
                    <a:lnTo>
                      <a:pt x="13" y="187"/>
                    </a:lnTo>
                    <a:lnTo>
                      <a:pt x="25" y="151"/>
                    </a:lnTo>
                    <a:lnTo>
                      <a:pt x="45" y="116"/>
                    </a:lnTo>
                    <a:lnTo>
                      <a:pt x="69" y="84"/>
                    </a:lnTo>
                    <a:lnTo>
                      <a:pt x="101" y="55"/>
                    </a:lnTo>
                    <a:lnTo>
                      <a:pt x="142" y="31"/>
                    </a:lnTo>
                    <a:lnTo>
                      <a:pt x="190" y="13"/>
                    </a:lnTo>
                    <a:lnTo>
                      <a:pt x="247" y="2"/>
                    </a:lnTo>
                    <a:lnTo>
                      <a:pt x="314" y="0"/>
                    </a:lnTo>
                    <a:lnTo>
                      <a:pt x="380" y="9"/>
                    </a:lnTo>
                    <a:lnTo>
                      <a:pt x="436" y="33"/>
                    </a:lnTo>
                    <a:lnTo>
                      <a:pt x="484" y="68"/>
                    </a:lnTo>
                    <a:lnTo>
                      <a:pt x="524" y="113"/>
                    </a:lnTo>
                    <a:lnTo>
                      <a:pt x="554" y="165"/>
                    </a:lnTo>
                    <a:lnTo>
                      <a:pt x="577" y="222"/>
                    </a:lnTo>
                    <a:lnTo>
                      <a:pt x="591" y="284"/>
                    </a:lnTo>
                    <a:lnTo>
                      <a:pt x="596" y="347"/>
                    </a:lnTo>
                    <a:lnTo>
                      <a:pt x="595" y="409"/>
                    </a:lnTo>
                    <a:lnTo>
                      <a:pt x="585" y="469"/>
                    </a:lnTo>
                    <a:lnTo>
                      <a:pt x="566" y="525"/>
                    </a:lnTo>
                    <a:lnTo>
                      <a:pt x="540" y="574"/>
                    </a:lnTo>
                    <a:lnTo>
                      <a:pt x="507" y="615"/>
                    </a:lnTo>
                    <a:lnTo>
                      <a:pt x="465" y="645"/>
                    </a:lnTo>
                    <a:lnTo>
                      <a:pt x="417" y="663"/>
                    </a:lnTo>
                    <a:lnTo>
                      <a:pt x="360" y="666"/>
                    </a:lnTo>
                    <a:lnTo>
                      <a:pt x="389" y="659"/>
                    </a:lnTo>
                    <a:lnTo>
                      <a:pt x="417" y="642"/>
                    </a:lnTo>
                    <a:lnTo>
                      <a:pt x="441" y="617"/>
                    </a:lnTo>
                    <a:lnTo>
                      <a:pt x="463" y="583"/>
                    </a:lnTo>
                    <a:lnTo>
                      <a:pt x="482" y="544"/>
                    </a:lnTo>
                    <a:lnTo>
                      <a:pt x="497" y="501"/>
                    </a:lnTo>
                    <a:lnTo>
                      <a:pt x="509" y="454"/>
                    </a:lnTo>
                    <a:lnTo>
                      <a:pt x="517" y="404"/>
                    </a:lnTo>
                    <a:lnTo>
                      <a:pt x="520" y="355"/>
                    </a:lnTo>
                    <a:lnTo>
                      <a:pt x="519" y="305"/>
                    </a:lnTo>
                    <a:lnTo>
                      <a:pt x="514" y="258"/>
                    </a:lnTo>
                    <a:lnTo>
                      <a:pt x="502" y="213"/>
                    </a:lnTo>
                    <a:lnTo>
                      <a:pt x="485" y="174"/>
                    </a:lnTo>
                    <a:lnTo>
                      <a:pt x="462" y="139"/>
                    </a:lnTo>
                    <a:lnTo>
                      <a:pt x="433" y="112"/>
                    </a:lnTo>
                    <a:lnTo>
                      <a:pt x="397" y="93"/>
                    </a:lnTo>
                    <a:lnTo>
                      <a:pt x="341" y="75"/>
                    </a:lnTo>
                    <a:lnTo>
                      <a:pt x="290" y="65"/>
                    </a:lnTo>
                    <a:lnTo>
                      <a:pt x="246" y="61"/>
                    </a:lnTo>
                    <a:lnTo>
                      <a:pt x="207" y="63"/>
                    </a:lnTo>
                    <a:lnTo>
                      <a:pt x="174" y="71"/>
                    </a:lnTo>
                    <a:lnTo>
                      <a:pt x="146" y="84"/>
                    </a:lnTo>
                    <a:lnTo>
                      <a:pt x="121" y="101"/>
                    </a:lnTo>
                    <a:lnTo>
                      <a:pt x="101" y="123"/>
                    </a:lnTo>
                    <a:lnTo>
                      <a:pt x="84" y="149"/>
                    </a:lnTo>
                    <a:lnTo>
                      <a:pt x="69" y="176"/>
                    </a:lnTo>
                    <a:lnTo>
                      <a:pt x="57" y="206"/>
                    </a:lnTo>
                    <a:lnTo>
                      <a:pt x="48" y="239"/>
                    </a:lnTo>
                    <a:lnTo>
                      <a:pt x="40" y="272"/>
                    </a:lnTo>
                    <a:lnTo>
                      <a:pt x="33" y="305"/>
                    </a:lnTo>
                    <a:lnTo>
                      <a:pt x="28" y="339"/>
                    </a:lnTo>
                    <a:lnTo>
                      <a:pt x="22" y="372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7" name="Freeform 5"/>
              <p:cNvSpPr>
                <a:spLocks/>
              </p:cNvSpPr>
              <p:nvPr userDrawn="1"/>
            </p:nvSpPr>
            <p:spPr bwMode="ltGray">
              <a:xfrm rot="12185230" flipV="1">
                <a:off x="4029" y="1802"/>
                <a:ext cx="571" cy="531"/>
              </a:xfrm>
              <a:custGeom>
                <a:avLst/>
                <a:gdLst>
                  <a:gd name="T0" fmla="*/ 0 w 257"/>
                  <a:gd name="T1" fmla="*/ 0 h 237"/>
                  <a:gd name="T2" fmla="*/ 0 w 257"/>
                  <a:gd name="T3" fmla="*/ 25 h 237"/>
                  <a:gd name="T4" fmla="*/ 3 w 257"/>
                  <a:gd name="T5" fmla="*/ 50 h 237"/>
                  <a:gd name="T6" fmla="*/ 6 w 257"/>
                  <a:gd name="T7" fmla="*/ 75 h 237"/>
                  <a:gd name="T8" fmla="*/ 11 w 257"/>
                  <a:gd name="T9" fmla="*/ 98 h 237"/>
                  <a:gd name="T10" fmla="*/ 18 w 257"/>
                  <a:gd name="T11" fmla="*/ 119 h 237"/>
                  <a:gd name="T12" fmla="*/ 27 w 257"/>
                  <a:gd name="T13" fmla="*/ 141 h 237"/>
                  <a:gd name="T14" fmla="*/ 38 w 257"/>
                  <a:gd name="T15" fmla="*/ 161 h 237"/>
                  <a:gd name="T16" fmla="*/ 51 w 257"/>
                  <a:gd name="T17" fmla="*/ 178 h 237"/>
                  <a:gd name="T18" fmla="*/ 67 w 257"/>
                  <a:gd name="T19" fmla="*/ 194 h 237"/>
                  <a:gd name="T20" fmla="*/ 86 w 257"/>
                  <a:gd name="T21" fmla="*/ 208 h 237"/>
                  <a:gd name="T22" fmla="*/ 106 w 257"/>
                  <a:gd name="T23" fmla="*/ 219 h 237"/>
                  <a:gd name="T24" fmla="*/ 131 w 257"/>
                  <a:gd name="T25" fmla="*/ 228 h 237"/>
                  <a:gd name="T26" fmla="*/ 158 w 257"/>
                  <a:gd name="T27" fmla="*/ 234 h 237"/>
                  <a:gd name="T28" fmla="*/ 188 w 257"/>
                  <a:gd name="T29" fmla="*/ 237 h 237"/>
                  <a:gd name="T30" fmla="*/ 220 w 257"/>
                  <a:gd name="T31" fmla="*/ 236 h 237"/>
                  <a:gd name="T32" fmla="*/ 257 w 257"/>
                  <a:gd name="T33" fmla="*/ 232 h 237"/>
                  <a:gd name="T34" fmla="*/ 224 w 257"/>
                  <a:gd name="T35" fmla="*/ 227 h 237"/>
                  <a:gd name="T36" fmla="*/ 195 w 257"/>
                  <a:gd name="T37" fmla="*/ 220 h 237"/>
                  <a:gd name="T38" fmla="*/ 170 w 257"/>
                  <a:gd name="T39" fmla="*/ 212 h 237"/>
                  <a:gd name="T40" fmla="*/ 148 w 257"/>
                  <a:gd name="T41" fmla="*/ 204 h 237"/>
                  <a:gd name="T42" fmla="*/ 128 w 257"/>
                  <a:gd name="T43" fmla="*/ 193 h 237"/>
                  <a:gd name="T44" fmla="*/ 112 w 257"/>
                  <a:gd name="T45" fmla="*/ 182 h 237"/>
                  <a:gd name="T46" fmla="*/ 97 w 257"/>
                  <a:gd name="T47" fmla="*/ 169 h 237"/>
                  <a:gd name="T48" fmla="*/ 84 w 257"/>
                  <a:gd name="T49" fmla="*/ 155 h 237"/>
                  <a:gd name="T50" fmla="*/ 72 w 257"/>
                  <a:gd name="T51" fmla="*/ 141 h 237"/>
                  <a:gd name="T52" fmla="*/ 61 w 257"/>
                  <a:gd name="T53" fmla="*/ 125 h 237"/>
                  <a:gd name="T54" fmla="*/ 52 w 257"/>
                  <a:gd name="T55" fmla="*/ 107 h 237"/>
                  <a:gd name="T56" fmla="*/ 43 w 257"/>
                  <a:gd name="T57" fmla="*/ 88 h 237"/>
                  <a:gd name="T58" fmla="*/ 33 w 257"/>
                  <a:gd name="T59" fmla="*/ 69 h 237"/>
                  <a:gd name="T60" fmla="*/ 23 w 257"/>
                  <a:gd name="T61" fmla="*/ 47 h 237"/>
                  <a:gd name="T62" fmla="*/ 12 w 257"/>
                  <a:gd name="T63" fmla="*/ 24 h 237"/>
                  <a:gd name="T64" fmla="*/ 0 w 257"/>
                  <a:gd name="T65" fmla="*/ 0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257" h="237">
                    <a:moveTo>
                      <a:pt x="0" y="0"/>
                    </a:moveTo>
                    <a:lnTo>
                      <a:pt x="0" y="25"/>
                    </a:lnTo>
                    <a:lnTo>
                      <a:pt x="3" y="50"/>
                    </a:lnTo>
                    <a:lnTo>
                      <a:pt x="6" y="75"/>
                    </a:lnTo>
                    <a:lnTo>
                      <a:pt x="11" y="98"/>
                    </a:lnTo>
                    <a:lnTo>
                      <a:pt x="18" y="119"/>
                    </a:lnTo>
                    <a:lnTo>
                      <a:pt x="27" y="141"/>
                    </a:lnTo>
                    <a:lnTo>
                      <a:pt x="38" y="161"/>
                    </a:lnTo>
                    <a:lnTo>
                      <a:pt x="51" y="178"/>
                    </a:lnTo>
                    <a:lnTo>
                      <a:pt x="67" y="194"/>
                    </a:lnTo>
                    <a:lnTo>
                      <a:pt x="86" y="208"/>
                    </a:lnTo>
                    <a:lnTo>
                      <a:pt x="106" y="219"/>
                    </a:lnTo>
                    <a:lnTo>
                      <a:pt x="131" y="228"/>
                    </a:lnTo>
                    <a:lnTo>
                      <a:pt x="158" y="234"/>
                    </a:lnTo>
                    <a:lnTo>
                      <a:pt x="188" y="237"/>
                    </a:lnTo>
                    <a:lnTo>
                      <a:pt x="220" y="236"/>
                    </a:lnTo>
                    <a:lnTo>
                      <a:pt x="257" y="232"/>
                    </a:lnTo>
                    <a:lnTo>
                      <a:pt x="224" y="227"/>
                    </a:lnTo>
                    <a:lnTo>
                      <a:pt x="195" y="220"/>
                    </a:lnTo>
                    <a:lnTo>
                      <a:pt x="170" y="212"/>
                    </a:lnTo>
                    <a:lnTo>
                      <a:pt x="148" y="204"/>
                    </a:lnTo>
                    <a:lnTo>
                      <a:pt x="128" y="193"/>
                    </a:lnTo>
                    <a:lnTo>
                      <a:pt x="112" y="182"/>
                    </a:lnTo>
                    <a:lnTo>
                      <a:pt x="97" y="169"/>
                    </a:lnTo>
                    <a:lnTo>
                      <a:pt x="84" y="155"/>
                    </a:lnTo>
                    <a:lnTo>
                      <a:pt x="72" y="141"/>
                    </a:lnTo>
                    <a:lnTo>
                      <a:pt x="61" y="125"/>
                    </a:lnTo>
                    <a:lnTo>
                      <a:pt x="52" y="107"/>
                    </a:lnTo>
                    <a:lnTo>
                      <a:pt x="43" y="88"/>
                    </a:lnTo>
                    <a:lnTo>
                      <a:pt x="33" y="69"/>
                    </a:lnTo>
                    <a:lnTo>
                      <a:pt x="23" y="47"/>
                    </a:lnTo>
                    <a:lnTo>
                      <a:pt x="12" y="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8" name="Freeform 6"/>
              <p:cNvSpPr>
                <a:spLocks/>
              </p:cNvSpPr>
              <p:nvPr userDrawn="1"/>
            </p:nvSpPr>
            <p:spPr bwMode="ltGray">
              <a:xfrm rot="12185230" flipV="1">
                <a:off x="3639" y="2167"/>
                <a:ext cx="277" cy="249"/>
              </a:xfrm>
              <a:custGeom>
                <a:avLst/>
                <a:gdLst>
                  <a:gd name="T0" fmla="*/ 77 w 124"/>
                  <a:gd name="T1" fmla="*/ 0 h 110"/>
                  <a:gd name="T2" fmla="*/ 124 w 124"/>
                  <a:gd name="T3" fmla="*/ 108 h 110"/>
                  <a:gd name="T4" fmla="*/ 120 w 124"/>
                  <a:gd name="T5" fmla="*/ 107 h 110"/>
                  <a:gd name="T6" fmla="*/ 107 w 124"/>
                  <a:gd name="T7" fmla="*/ 105 h 110"/>
                  <a:gd name="T8" fmla="*/ 89 w 124"/>
                  <a:gd name="T9" fmla="*/ 101 h 110"/>
                  <a:gd name="T10" fmla="*/ 68 w 124"/>
                  <a:gd name="T11" fmla="*/ 99 h 110"/>
                  <a:gd name="T12" fmla="*/ 45 w 124"/>
                  <a:gd name="T13" fmla="*/ 97 h 110"/>
                  <a:gd name="T14" fmla="*/ 25 w 124"/>
                  <a:gd name="T15" fmla="*/ 98 h 110"/>
                  <a:gd name="T16" fmla="*/ 9 w 124"/>
                  <a:gd name="T17" fmla="*/ 102 h 110"/>
                  <a:gd name="T18" fmla="*/ 0 w 124"/>
                  <a:gd name="T19" fmla="*/ 110 h 110"/>
                  <a:gd name="T20" fmla="*/ 4 w 124"/>
                  <a:gd name="T21" fmla="*/ 98 h 110"/>
                  <a:gd name="T22" fmla="*/ 8 w 124"/>
                  <a:gd name="T23" fmla="*/ 89 h 110"/>
                  <a:gd name="T24" fmla="*/ 16 w 124"/>
                  <a:gd name="T25" fmla="*/ 82 h 110"/>
                  <a:gd name="T26" fmla="*/ 25 w 124"/>
                  <a:gd name="T27" fmla="*/ 76 h 110"/>
                  <a:gd name="T28" fmla="*/ 36 w 124"/>
                  <a:gd name="T29" fmla="*/ 72 h 110"/>
                  <a:gd name="T30" fmla="*/ 47 w 124"/>
                  <a:gd name="T31" fmla="*/ 71 h 110"/>
                  <a:gd name="T32" fmla="*/ 59 w 124"/>
                  <a:gd name="T33" fmla="*/ 71 h 110"/>
                  <a:gd name="T34" fmla="*/ 72 w 124"/>
                  <a:gd name="T35" fmla="*/ 74 h 110"/>
                  <a:gd name="T36" fmla="*/ 73 w 124"/>
                  <a:gd name="T37" fmla="*/ 71 h 110"/>
                  <a:gd name="T38" fmla="*/ 70 w 124"/>
                  <a:gd name="T39" fmla="*/ 56 h 110"/>
                  <a:gd name="T40" fmla="*/ 67 w 124"/>
                  <a:gd name="T41" fmla="*/ 38 h 110"/>
                  <a:gd name="T42" fmla="*/ 65 w 124"/>
                  <a:gd name="T43" fmla="*/ 30 h 110"/>
                  <a:gd name="T44" fmla="*/ 63 w 124"/>
                  <a:gd name="T45" fmla="*/ 30 h 110"/>
                  <a:gd name="T46" fmla="*/ 61 w 124"/>
                  <a:gd name="T47" fmla="*/ 29 h 110"/>
                  <a:gd name="T48" fmla="*/ 59 w 124"/>
                  <a:gd name="T49" fmla="*/ 26 h 110"/>
                  <a:gd name="T50" fmla="*/ 57 w 124"/>
                  <a:gd name="T51" fmla="*/ 23 h 110"/>
                  <a:gd name="T52" fmla="*/ 57 w 124"/>
                  <a:gd name="T53" fmla="*/ 19 h 110"/>
                  <a:gd name="T54" fmla="*/ 59 w 124"/>
                  <a:gd name="T55" fmla="*/ 14 h 110"/>
                  <a:gd name="T56" fmla="*/ 66 w 124"/>
                  <a:gd name="T57" fmla="*/ 8 h 110"/>
                  <a:gd name="T58" fmla="*/ 77 w 124"/>
                  <a:gd name="T59" fmla="*/ 0 h 1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124" h="110">
                    <a:moveTo>
                      <a:pt x="77" y="0"/>
                    </a:moveTo>
                    <a:lnTo>
                      <a:pt x="124" y="108"/>
                    </a:lnTo>
                    <a:lnTo>
                      <a:pt x="120" y="107"/>
                    </a:lnTo>
                    <a:lnTo>
                      <a:pt x="107" y="105"/>
                    </a:lnTo>
                    <a:lnTo>
                      <a:pt x="89" y="101"/>
                    </a:lnTo>
                    <a:lnTo>
                      <a:pt x="68" y="99"/>
                    </a:lnTo>
                    <a:lnTo>
                      <a:pt x="45" y="97"/>
                    </a:lnTo>
                    <a:lnTo>
                      <a:pt x="25" y="98"/>
                    </a:lnTo>
                    <a:lnTo>
                      <a:pt x="9" y="102"/>
                    </a:lnTo>
                    <a:lnTo>
                      <a:pt x="0" y="110"/>
                    </a:lnTo>
                    <a:lnTo>
                      <a:pt x="4" y="98"/>
                    </a:lnTo>
                    <a:lnTo>
                      <a:pt x="8" y="89"/>
                    </a:lnTo>
                    <a:lnTo>
                      <a:pt x="16" y="82"/>
                    </a:lnTo>
                    <a:lnTo>
                      <a:pt x="25" y="76"/>
                    </a:lnTo>
                    <a:lnTo>
                      <a:pt x="36" y="72"/>
                    </a:lnTo>
                    <a:lnTo>
                      <a:pt x="47" y="71"/>
                    </a:lnTo>
                    <a:lnTo>
                      <a:pt x="59" y="71"/>
                    </a:lnTo>
                    <a:lnTo>
                      <a:pt x="72" y="74"/>
                    </a:lnTo>
                    <a:lnTo>
                      <a:pt x="73" y="71"/>
                    </a:lnTo>
                    <a:lnTo>
                      <a:pt x="70" y="56"/>
                    </a:lnTo>
                    <a:lnTo>
                      <a:pt x="67" y="38"/>
                    </a:lnTo>
                    <a:lnTo>
                      <a:pt x="65" y="30"/>
                    </a:lnTo>
                    <a:lnTo>
                      <a:pt x="63" y="30"/>
                    </a:lnTo>
                    <a:lnTo>
                      <a:pt x="61" y="29"/>
                    </a:lnTo>
                    <a:lnTo>
                      <a:pt x="59" y="26"/>
                    </a:lnTo>
                    <a:lnTo>
                      <a:pt x="57" y="23"/>
                    </a:lnTo>
                    <a:lnTo>
                      <a:pt x="57" y="19"/>
                    </a:lnTo>
                    <a:lnTo>
                      <a:pt x="59" y="14"/>
                    </a:lnTo>
                    <a:lnTo>
                      <a:pt x="66" y="8"/>
                    </a:lnTo>
                    <a:lnTo>
                      <a:pt x="77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19" name="Freeform 7"/>
              <p:cNvSpPr>
                <a:spLocks/>
              </p:cNvSpPr>
              <p:nvPr userDrawn="1"/>
            </p:nvSpPr>
            <p:spPr bwMode="ltGray">
              <a:xfrm rot="12185230" flipV="1">
                <a:off x="3979" y="977"/>
                <a:ext cx="245" cy="347"/>
              </a:xfrm>
              <a:custGeom>
                <a:avLst/>
                <a:gdLst>
                  <a:gd name="T0" fmla="*/ 0 w 109"/>
                  <a:gd name="T1" fmla="*/ 0 h 156"/>
                  <a:gd name="T2" fmla="*/ 5 w 109"/>
                  <a:gd name="T3" fmla="*/ 1 h 156"/>
                  <a:gd name="T4" fmla="*/ 18 w 109"/>
                  <a:gd name="T5" fmla="*/ 5 h 156"/>
                  <a:gd name="T6" fmla="*/ 37 w 109"/>
                  <a:gd name="T7" fmla="*/ 12 h 156"/>
                  <a:gd name="T8" fmla="*/ 58 w 109"/>
                  <a:gd name="T9" fmla="*/ 24 h 156"/>
                  <a:gd name="T10" fmla="*/ 78 w 109"/>
                  <a:gd name="T11" fmla="*/ 44 h 156"/>
                  <a:gd name="T12" fmla="*/ 96 w 109"/>
                  <a:gd name="T13" fmla="*/ 71 h 156"/>
                  <a:gd name="T14" fmla="*/ 107 w 109"/>
                  <a:gd name="T15" fmla="*/ 108 h 156"/>
                  <a:gd name="T16" fmla="*/ 109 w 109"/>
                  <a:gd name="T17" fmla="*/ 156 h 156"/>
                  <a:gd name="T18" fmla="*/ 105 w 109"/>
                  <a:gd name="T19" fmla="*/ 156 h 156"/>
                  <a:gd name="T20" fmla="*/ 99 w 109"/>
                  <a:gd name="T21" fmla="*/ 156 h 156"/>
                  <a:gd name="T22" fmla="*/ 93 w 109"/>
                  <a:gd name="T23" fmla="*/ 156 h 156"/>
                  <a:gd name="T24" fmla="*/ 87 w 109"/>
                  <a:gd name="T25" fmla="*/ 154 h 156"/>
                  <a:gd name="T26" fmla="*/ 81 w 109"/>
                  <a:gd name="T27" fmla="*/ 153 h 156"/>
                  <a:gd name="T28" fmla="*/ 74 w 109"/>
                  <a:gd name="T29" fmla="*/ 150 h 156"/>
                  <a:gd name="T30" fmla="*/ 66 w 109"/>
                  <a:gd name="T31" fmla="*/ 145 h 156"/>
                  <a:gd name="T32" fmla="*/ 58 w 109"/>
                  <a:gd name="T33" fmla="*/ 139 h 156"/>
                  <a:gd name="T34" fmla="*/ 53 w 109"/>
                  <a:gd name="T35" fmla="*/ 126 h 156"/>
                  <a:gd name="T36" fmla="*/ 53 w 109"/>
                  <a:gd name="T37" fmla="*/ 111 h 156"/>
                  <a:gd name="T38" fmla="*/ 56 w 109"/>
                  <a:gd name="T39" fmla="*/ 96 h 156"/>
                  <a:gd name="T40" fmla="*/ 59 w 109"/>
                  <a:gd name="T41" fmla="*/ 80 h 156"/>
                  <a:gd name="T42" fmla="*/ 56 w 109"/>
                  <a:gd name="T43" fmla="*/ 62 h 156"/>
                  <a:gd name="T44" fmla="*/ 48 w 109"/>
                  <a:gd name="T45" fmla="*/ 43 h 156"/>
                  <a:gd name="T46" fmla="*/ 31 w 109"/>
                  <a:gd name="T47" fmla="*/ 23 h 156"/>
                  <a:gd name="T48" fmla="*/ 0 w 109"/>
                  <a:gd name="T49" fmla="*/ 0 h 1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09" h="156">
                    <a:moveTo>
                      <a:pt x="0" y="0"/>
                    </a:moveTo>
                    <a:lnTo>
                      <a:pt x="5" y="1"/>
                    </a:lnTo>
                    <a:lnTo>
                      <a:pt x="18" y="5"/>
                    </a:lnTo>
                    <a:lnTo>
                      <a:pt x="37" y="12"/>
                    </a:lnTo>
                    <a:lnTo>
                      <a:pt x="58" y="24"/>
                    </a:lnTo>
                    <a:lnTo>
                      <a:pt x="78" y="44"/>
                    </a:lnTo>
                    <a:lnTo>
                      <a:pt x="96" y="71"/>
                    </a:lnTo>
                    <a:lnTo>
                      <a:pt x="107" y="108"/>
                    </a:lnTo>
                    <a:lnTo>
                      <a:pt x="109" y="156"/>
                    </a:lnTo>
                    <a:lnTo>
                      <a:pt x="105" y="156"/>
                    </a:lnTo>
                    <a:lnTo>
                      <a:pt x="99" y="156"/>
                    </a:lnTo>
                    <a:lnTo>
                      <a:pt x="93" y="156"/>
                    </a:lnTo>
                    <a:lnTo>
                      <a:pt x="87" y="154"/>
                    </a:lnTo>
                    <a:lnTo>
                      <a:pt x="81" y="153"/>
                    </a:lnTo>
                    <a:lnTo>
                      <a:pt x="74" y="150"/>
                    </a:lnTo>
                    <a:lnTo>
                      <a:pt x="66" y="145"/>
                    </a:lnTo>
                    <a:lnTo>
                      <a:pt x="58" y="139"/>
                    </a:lnTo>
                    <a:lnTo>
                      <a:pt x="53" y="126"/>
                    </a:lnTo>
                    <a:lnTo>
                      <a:pt x="53" y="111"/>
                    </a:lnTo>
                    <a:lnTo>
                      <a:pt x="56" y="96"/>
                    </a:lnTo>
                    <a:lnTo>
                      <a:pt x="59" y="80"/>
                    </a:lnTo>
                    <a:lnTo>
                      <a:pt x="56" y="62"/>
                    </a:lnTo>
                    <a:lnTo>
                      <a:pt x="48" y="43"/>
                    </a:lnTo>
                    <a:lnTo>
                      <a:pt x="31" y="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0" name="Freeform 8"/>
              <p:cNvSpPr>
                <a:spLocks/>
              </p:cNvSpPr>
              <p:nvPr userDrawn="1"/>
            </p:nvSpPr>
            <p:spPr bwMode="ltGray">
              <a:xfrm rot="12185230" flipV="1">
                <a:off x="3845" y="2207"/>
                <a:ext cx="103" cy="209"/>
              </a:xfrm>
              <a:custGeom>
                <a:avLst/>
                <a:gdLst>
                  <a:gd name="T0" fmla="*/ 31 w 46"/>
                  <a:gd name="T1" fmla="*/ 0 h 94"/>
                  <a:gd name="T2" fmla="*/ 20 w 46"/>
                  <a:gd name="T3" fmla="*/ 38 h 94"/>
                  <a:gd name="T4" fmla="*/ 15 w 46"/>
                  <a:gd name="T5" fmla="*/ 62 h 94"/>
                  <a:gd name="T6" fmla="*/ 11 w 46"/>
                  <a:gd name="T7" fmla="*/ 79 h 94"/>
                  <a:gd name="T8" fmla="*/ 0 w 46"/>
                  <a:gd name="T9" fmla="*/ 94 h 94"/>
                  <a:gd name="T10" fmla="*/ 12 w 46"/>
                  <a:gd name="T11" fmla="*/ 88 h 94"/>
                  <a:gd name="T12" fmla="*/ 23 w 46"/>
                  <a:gd name="T13" fmla="*/ 80 h 94"/>
                  <a:gd name="T14" fmla="*/ 32 w 46"/>
                  <a:gd name="T15" fmla="*/ 69 h 94"/>
                  <a:gd name="T16" fmla="*/ 40 w 46"/>
                  <a:gd name="T17" fmla="*/ 57 h 94"/>
                  <a:gd name="T18" fmla="*/ 45 w 46"/>
                  <a:gd name="T19" fmla="*/ 44 h 94"/>
                  <a:gd name="T20" fmla="*/ 46 w 46"/>
                  <a:gd name="T21" fmla="*/ 30 h 94"/>
                  <a:gd name="T22" fmla="*/ 42 w 46"/>
                  <a:gd name="T23" fmla="*/ 15 h 94"/>
                  <a:gd name="T24" fmla="*/ 31 w 46"/>
                  <a:gd name="T25" fmla="*/ 0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46" h="94">
                    <a:moveTo>
                      <a:pt x="31" y="0"/>
                    </a:moveTo>
                    <a:lnTo>
                      <a:pt x="20" y="38"/>
                    </a:lnTo>
                    <a:lnTo>
                      <a:pt x="15" y="62"/>
                    </a:lnTo>
                    <a:lnTo>
                      <a:pt x="11" y="79"/>
                    </a:lnTo>
                    <a:lnTo>
                      <a:pt x="0" y="94"/>
                    </a:lnTo>
                    <a:lnTo>
                      <a:pt x="12" y="88"/>
                    </a:lnTo>
                    <a:lnTo>
                      <a:pt x="23" y="80"/>
                    </a:lnTo>
                    <a:lnTo>
                      <a:pt x="32" y="69"/>
                    </a:lnTo>
                    <a:lnTo>
                      <a:pt x="40" y="57"/>
                    </a:lnTo>
                    <a:lnTo>
                      <a:pt x="45" y="44"/>
                    </a:lnTo>
                    <a:lnTo>
                      <a:pt x="46" y="30"/>
                    </a:lnTo>
                    <a:lnTo>
                      <a:pt x="42" y="15"/>
                    </a:lnTo>
                    <a:lnTo>
                      <a:pt x="31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1" name="Freeform 9"/>
              <p:cNvSpPr>
                <a:spLocks/>
              </p:cNvSpPr>
              <p:nvPr userDrawn="1"/>
            </p:nvSpPr>
            <p:spPr bwMode="ltGray">
              <a:xfrm rot="12185230" flipV="1">
                <a:off x="3895" y="1325"/>
                <a:ext cx="120" cy="90"/>
              </a:xfrm>
              <a:custGeom>
                <a:avLst/>
                <a:gdLst>
                  <a:gd name="T0" fmla="*/ 0 w 54"/>
                  <a:gd name="T1" fmla="*/ 0 h 40"/>
                  <a:gd name="T2" fmla="*/ 1 w 54"/>
                  <a:gd name="T3" fmla="*/ 1 h 40"/>
                  <a:gd name="T4" fmla="*/ 6 w 54"/>
                  <a:gd name="T5" fmla="*/ 3 h 40"/>
                  <a:gd name="T6" fmla="*/ 13 w 54"/>
                  <a:gd name="T7" fmla="*/ 8 h 40"/>
                  <a:gd name="T8" fmla="*/ 21 w 54"/>
                  <a:gd name="T9" fmla="*/ 12 h 40"/>
                  <a:gd name="T10" fmla="*/ 29 w 54"/>
                  <a:gd name="T11" fmla="*/ 15 h 40"/>
                  <a:gd name="T12" fmla="*/ 38 w 54"/>
                  <a:gd name="T13" fmla="*/ 17 h 40"/>
                  <a:gd name="T14" fmla="*/ 46 w 54"/>
                  <a:gd name="T15" fmla="*/ 18 h 40"/>
                  <a:gd name="T16" fmla="*/ 54 w 54"/>
                  <a:gd name="T17" fmla="*/ 16 h 40"/>
                  <a:gd name="T18" fmla="*/ 53 w 54"/>
                  <a:gd name="T19" fmla="*/ 25 h 40"/>
                  <a:gd name="T20" fmla="*/ 50 w 54"/>
                  <a:gd name="T21" fmla="*/ 33 h 40"/>
                  <a:gd name="T22" fmla="*/ 44 w 54"/>
                  <a:gd name="T23" fmla="*/ 38 h 40"/>
                  <a:gd name="T24" fmla="*/ 37 w 54"/>
                  <a:gd name="T25" fmla="*/ 40 h 40"/>
                  <a:gd name="T26" fmla="*/ 28 w 54"/>
                  <a:gd name="T27" fmla="*/ 39 h 40"/>
                  <a:gd name="T28" fmla="*/ 19 w 54"/>
                  <a:gd name="T29" fmla="*/ 32 h 40"/>
                  <a:gd name="T30" fmla="*/ 10 w 54"/>
                  <a:gd name="T31" fmla="*/ 20 h 40"/>
                  <a:gd name="T32" fmla="*/ 0 w 54"/>
                  <a:gd name="T33" fmla="*/ 0 h 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54" h="40">
                    <a:moveTo>
                      <a:pt x="0" y="0"/>
                    </a:moveTo>
                    <a:lnTo>
                      <a:pt x="1" y="1"/>
                    </a:lnTo>
                    <a:lnTo>
                      <a:pt x="6" y="3"/>
                    </a:lnTo>
                    <a:lnTo>
                      <a:pt x="13" y="8"/>
                    </a:lnTo>
                    <a:lnTo>
                      <a:pt x="21" y="12"/>
                    </a:lnTo>
                    <a:lnTo>
                      <a:pt x="29" y="15"/>
                    </a:lnTo>
                    <a:lnTo>
                      <a:pt x="38" y="17"/>
                    </a:lnTo>
                    <a:lnTo>
                      <a:pt x="46" y="18"/>
                    </a:lnTo>
                    <a:lnTo>
                      <a:pt x="54" y="16"/>
                    </a:lnTo>
                    <a:lnTo>
                      <a:pt x="53" y="25"/>
                    </a:lnTo>
                    <a:lnTo>
                      <a:pt x="50" y="33"/>
                    </a:lnTo>
                    <a:lnTo>
                      <a:pt x="44" y="38"/>
                    </a:lnTo>
                    <a:lnTo>
                      <a:pt x="37" y="40"/>
                    </a:lnTo>
                    <a:lnTo>
                      <a:pt x="28" y="39"/>
                    </a:lnTo>
                    <a:lnTo>
                      <a:pt x="19" y="32"/>
                    </a:lnTo>
                    <a:lnTo>
                      <a:pt x="10" y="2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22" name="Freeform 10"/>
              <p:cNvSpPr>
                <a:spLocks/>
              </p:cNvSpPr>
              <p:nvPr userDrawn="1"/>
            </p:nvSpPr>
            <p:spPr bwMode="ltGray">
              <a:xfrm rot="12185230" flipV="1">
                <a:off x="3010" y="2344"/>
                <a:ext cx="330" cy="2059"/>
              </a:xfrm>
              <a:custGeom>
                <a:avLst/>
                <a:gdLst>
                  <a:gd name="T0" fmla="*/ 0 w 149"/>
                  <a:gd name="T1" fmla="*/ 0 h 704"/>
                  <a:gd name="T2" fmla="*/ 6 w 149"/>
                  <a:gd name="T3" fmla="*/ 6 h 704"/>
                  <a:gd name="T4" fmla="*/ 16 w 149"/>
                  <a:gd name="T5" fmla="*/ 14 h 704"/>
                  <a:gd name="T6" fmla="*/ 28 w 149"/>
                  <a:gd name="T7" fmla="*/ 24 h 704"/>
                  <a:gd name="T8" fmla="*/ 41 w 149"/>
                  <a:gd name="T9" fmla="*/ 37 h 704"/>
                  <a:gd name="T10" fmla="*/ 58 w 149"/>
                  <a:gd name="T11" fmla="*/ 53 h 704"/>
                  <a:gd name="T12" fmla="*/ 73 w 149"/>
                  <a:gd name="T13" fmla="*/ 70 h 704"/>
                  <a:gd name="T14" fmla="*/ 88 w 149"/>
                  <a:gd name="T15" fmla="*/ 90 h 704"/>
                  <a:gd name="T16" fmla="*/ 100 w 149"/>
                  <a:gd name="T17" fmla="*/ 113 h 704"/>
                  <a:gd name="T18" fmla="*/ 112 w 149"/>
                  <a:gd name="T19" fmla="*/ 137 h 704"/>
                  <a:gd name="T20" fmla="*/ 120 w 149"/>
                  <a:gd name="T21" fmla="*/ 165 h 704"/>
                  <a:gd name="T22" fmla="*/ 124 w 149"/>
                  <a:gd name="T23" fmla="*/ 196 h 704"/>
                  <a:gd name="T24" fmla="*/ 126 w 149"/>
                  <a:gd name="T25" fmla="*/ 228 h 704"/>
                  <a:gd name="T26" fmla="*/ 120 w 149"/>
                  <a:gd name="T27" fmla="*/ 264 h 704"/>
                  <a:gd name="T28" fmla="*/ 109 w 149"/>
                  <a:gd name="T29" fmla="*/ 302 h 704"/>
                  <a:gd name="T30" fmla="*/ 92 w 149"/>
                  <a:gd name="T31" fmla="*/ 342 h 704"/>
                  <a:gd name="T32" fmla="*/ 67 w 149"/>
                  <a:gd name="T33" fmla="*/ 386 h 704"/>
                  <a:gd name="T34" fmla="*/ 39 w 149"/>
                  <a:gd name="T35" fmla="*/ 436 h 704"/>
                  <a:gd name="T36" fmla="*/ 21 w 149"/>
                  <a:gd name="T37" fmla="*/ 482 h 704"/>
                  <a:gd name="T38" fmla="*/ 10 w 149"/>
                  <a:gd name="T39" fmla="*/ 525 h 704"/>
                  <a:gd name="T40" fmla="*/ 6 w 149"/>
                  <a:gd name="T41" fmla="*/ 566 h 704"/>
                  <a:gd name="T42" fmla="*/ 6 w 149"/>
                  <a:gd name="T43" fmla="*/ 605 h 704"/>
                  <a:gd name="T44" fmla="*/ 8 w 149"/>
                  <a:gd name="T45" fmla="*/ 641 h 704"/>
                  <a:gd name="T46" fmla="*/ 12 w 149"/>
                  <a:gd name="T47" fmla="*/ 673 h 704"/>
                  <a:gd name="T48" fmla="*/ 14 w 149"/>
                  <a:gd name="T49" fmla="*/ 704 h 704"/>
                  <a:gd name="T50" fmla="*/ 41 w 149"/>
                  <a:gd name="T51" fmla="*/ 688 h 704"/>
                  <a:gd name="T52" fmla="*/ 39 w 149"/>
                  <a:gd name="T53" fmla="*/ 680 h 704"/>
                  <a:gd name="T54" fmla="*/ 36 w 149"/>
                  <a:gd name="T55" fmla="*/ 657 h 704"/>
                  <a:gd name="T56" fmla="*/ 33 w 149"/>
                  <a:gd name="T57" fmla="*/ 622 h 704"/>
                  <a:gd name="T58" fmla="*/ 35 w 149"/>
                  <a:gd name="T59" fmla="*/ 575 h 704"/>
                  <a:gd name="T60" fmla="*/ 41 w 149"/>
                  <a:gd name="T61" fmla="*/ 519 h 704"/>
                  <a:gd name="T62" fmla="*/ 58 w 149"/>
                  <a:gd name="T63" fmla="*/ 455 h 704"/>
                  <a:gd name="T64" fmla="*/ 86 w 149"/>
                  <a:gd name="T65" fmla="*/ 386 h 704"/>
                  <a:gd name="T66" fmla="*/ 129 w 149"/>
                  <a:gd name="T67" fmla="*/ 313 h 704"/>
                  <a:gd name="T68" fmla="*/ 143 w 149"/>
                  <a:gd name="T69" fmla="*/ 279 h 704"/>
                  <a:gd name="T70" fmla="*/ 149 w 149"/>
                  <a:gd name="T71" fmla="*/ 235 h 704"/>
                  <a:gd name="T72" fmla="*/ 144 w 149"/>
                  <a:gd name="T73" fmla="*/ 184 h 704"/>
                  <a:gd name="T74" fmla="*/ 131 w 149"/>
                  <a:gd name="T75" fmla="*/ 134 h 704"/>
                  <a:gd name="T76" fmla="*/ 109 w 149"/>
                  <a:gd name="T77" fmla="*/ 85 h 704"/>
                  <a:gd name="T78" fmla="*/ 81 w 149"/>
                  <a:gd name="T79" fmla="*/ 44 h 704"/>
                  <a:gd name="T80" fmla="*/ 44 w 149"/>
                  <a:gd name="T81" fmla="*/ 14 h 704"/>
                  <a:gd name="T82" fmla="*/ 0 w 149"/>
                  <a:gd name="T83" fmla="*/ 0 h 7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</a:cxnLst>
                <a:rect l="0" t="0" r="r" b="b"/>
                <a:pathLst>
                  <a:path w="149" h="704">
                    <a:moveTo>
                      <a:pt x="0" y="0"/>
                    </a:moveTo>
                    <a:lnTo>
                      <a:pt x="6" y="6"/>
                    </a:lnTo>
                    <a:lnTo>
                      <a:pt x="16" y="14"/>
                    </a:lnTo>
                    <a:lnTo>
                      <a:pt x="28" y="24"/>
                    </a:lnTo>
                    <a:lnTo>
                      <a:pt x="41" y="37"/>
                    </a:lnTo>
                    <a:lnTo>
                      <a:pt x="58" y="53"/>
                    </a:lnTo>
                    <a:lnTo>
                      <a:pt x="73" y="70"/>
                    </a:lnTo>
                    <a:lnTo>
                      <a:pt x="88" y="90"/>
                    </a:lnTo>
                    <a:lnTo>
                      <a:pt x="100" y="113"/>
                    </a:lnTo>
                    <a:lnTo>
                      <a:pt x="112" y="137"/>
                    </a:lnTo>
                    <a:lnTo>
                      <a:pt x="120" y="165"/>
                    </a:lnTo>
                    <a:lnTo>
                      <a:pt x="124" y="196"/>
                    </a:lnTo>
                    <a:lnTo>
                      <a:pt x="126" y="228"/>
                    </a:lnTo>
                    <a:lnTo>
                      <a:pt x="120" y="264"/>
                    </a:lnTo>
                    <a:lnTo>
                      <a:pt x="109" y="302"/>
                    </a:lnTo>
                    <a:lnTo>
                      <a:pt x="92" y="342"/>
                    </a:lnTo>
                    <a:lnTo>
                      <a:pt x="67" y="386"/>
                    </a:lnTo>
                    <a:lnTo>
                      <a:pt x="39" y="436"/>
                    </a:lnTo>
                    <a:lnTo>
                      <a:pt x="21" y="482"/>
                    </a:lnTo>
                    <a:lnTo>
                      <a:pt x="10" y="525"/>
                    </a:lnTo>
                    <a:lnTo>
                      <a:pt x="6" y="566"/>
                    </a:lnTo>
                    <a:lnTo>
                      <a:pt x="6" y="605"/>
                    </a:lnTo>
                    <a:lnTo>
                      <a:pt x="8" y="641"/>
                    </a:lnTo>
                    <a:lnTo>
                      <a:pt x="12" y="673"/>
                    </a:lnTo>
                    <a:lnTo>
                      <a:pt x="14" y="704"/>
                    </a:lnTo>
                    <a:lnTo>
                      <a:pt x="41" y="688"/>
                    </a:lnTo>
                    <a:lnTo>
                      <a:pt x="39" y="680"/>
                    </a:lnTo>
                    <a:lnTo>
                      <a:pt x="36" y="657"/>
                    </a:lnTo>
                    <a:lnTo>
                      <a:pt x="33" y="622"/>
                    </a:lnTo>
                    <a:lnTo>
                      <a:pt x="35" y="575"/>
                    </a:lnTo>
                    <a:lnTo>
                      <a:pt x="41" y="519"/>
                    </a:lnTo>
                    <a:lnTo>
                      <a:pt x="58" y="455"/>
                    </a:lnTo>
                    <a:lnTo>
                      <a:pt x="86" y="386"/>
                    </a:lnTo>
                    <a:lnTo>
                      <a:pt x="129" y="313"/>
                    </a:lnTo>
                    <a:lnTo>
                      <a:pt x="143" y="279"/>
                    </a:lnTo>
                    <a:lnTo>
                      <a:pt x="149" y="235"/>
                    </a:lnTo>
                    <a:lnTo>
                      <a:pt x="144" y="184"/>
                    </a:lnTo>
                    <a:lnTo>
                      <a:pt x="131" y="134"/>
                    </a:lnTo>
                    <a:lnTo>
                      <a:pt x="109" y="85"/>
                    </a:lnTo>
                    <a:lnTo>
                      <a:pt x="81" y="44"/>
                    </a:lnTo>
                    <a:lnTo>
                      <a:pt x="44" y="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8923" name="Freeform 11"/>
            <p:cNvSpPr>
              <a:spLocks/>
            </p:cNvSpPr>
            <p:nvPr userDrawn="1"/>
          </p:nvSpPr>
          <p:spPr bwMode="ltGray">
            <a:xfrm rot="373331" flipH="1">
              <a:off x="22" y="1957"/>
              <a:ext cx="323" cy="649"/>
            </a:xfrm>
            <a:custGeom>
              <a:avLst/>
              <a:gdLst>
                <a:gd name="T0" fmla="*/ 94 w 128"/>
                <a:gd name="T1" fmla="*/ 0 h 217"/>
                <a:gd name="T2" fmla="*/ 105 w 128"/>
                <a:gd name="T3" fmla="*/ 9 h 217"/>
                <a:gd name="T4" fmla="*/ 115 w 128"/>
                <a:gd name="T5" fmla="*/ 27 h 217"/>
                <a:gd name="T6" fmla="*/ 123 w 128"/>
                <a:gd name="T7" fmla="*/ 50 h 217"/>
                <a:gd name="T8" fmla="*/ 128 w 128"/>
                <a:gd name="T9" fmla="*/ 78 h 217"/>
                <a:gd name="T10" fmla="*/ 127 w 128"/>
                <a:gd name="T11" fmla="*/ 111 h 217"/>
                <a:gd name="T12" fmla="*/ 116 w 128"/>
                <a:gd name="T13" fmla="*/ 145 h 217"/>
                <a:gd name="T14" fmla="*/ 94 w 128"/>
                <a:gd name="T15" fmla="*/ 181 h 217"/>
                <a:gd name="T16" fmla="*/ 60 w 128"/>
                <a:gd name="T17" fmla="*/ 217 h 217"/>
                <a:gd name="T18" fmla="*/ 49 w 128"/>
                <a:gd name="T19" fmla="*/ 213 h 217"/>
                <a:gd name="T20" fmla="*/ 38 w 128"/>
                <a:gd name="T21" fmla="*/ 210 h 217"/>
                <a:gd name="T22" fmla="*/ 26 w 128"/>
                <a:gd name="T23" fmla="*/ 205 h 217"/>
                <a:gd name="T24" fmla="*/ 16 w 128"/>
                <a:gd name="T25" fmla="*/ 201 h 217"/>
                <a:gd name="T26" fmla="*/ 8 w 128"/>
                <a:gd name="T27" fmla="*/ 196 h 217"/>
                <a:gd name="T28" fmla="*/ 2 w 128"/>
                <a:gd name="T29" fmla="*/ 190 h 217"/>
                <a:gd name="T30" fmla="*/ 0 w 128"/>
                <a:gd name="T31" fmla="*/ 183 h 217"/>
                <a:gd name="T32" fmla="*/ 1 w 128"/>
                <a:gd name="T33" fmla="*/ 178 h 217"/>
                <a:gd name="T34" fmla="*/ 13 w 128"/>
                <a:gd name="T35" fmla="*/ 171 h 217"/>
                <a:gd name="T36" fmla="*/ 29 w 128"/>
                <a:gd name="T37" fmla="*/ 161 h 217"/>
                <a:gd name="T38" fmla="*/ 46 w 128"/>
                <a:gd name="T39" fmla="*/ 150 h 217"/>
                <a:gd name="T40" fmla="*/ 63 w 128"/>
                <a:gd name="T41" fmla="*/ 134 h 217"/>
                <a:gd name="T42" fmla="*/ 79 w 128"/>
                <a:gd name="T43" fmla="*/ 112 h 217"/>
                <a:gd name="T44" fmla="*/ 91 w 128"/>
                <a:gd name="T45" fmla="*/ 83 h 217"/>
                <a:gd name="T46" fmla="*/ 97 w 128"/>
                <a:gd name="T47" fmla="*/ 46 h 217"/>
                <a:gd name="T48" fmla="*/ 94 w 128"/>
                <a:gd name="T49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28" h="217">
                  <a:moveTo>
                    <a:pt x="94" y="0"/>
                  </a:moveTo>
                  <a:lnTo>
                    <a:pt x="105" y="9"/>
                  </a:lnTo>
                  <a:lnTo>
                    <a:pt x="115" y="27"/>
                  </a:lnTo>
                  <a:lnTo>
                    <a:pt x="123" y="50"/>
                  </a:lnTo>
                  <a:lnTo>
                    <a:pt x="128" y="78"/>
                  </a:lnTo>
                  <a:lnTo>
                    <a:pt x="127" y="111"/>
                  </a:lnTo>
                  <a:lnTo>
                    <a:pt x="116" y="145"/>
                  </a:lnTo>
                  <a:lnTo>
                    <a:pt x="94" y="181"/>
                  </a:lnTo>
                  <a:lnTo>
                    <a:pt x="60" y="217"/>
                  </a:lnTo>
                  <a:lnTo>
                    <a:pt x="49" y="213"/>
                  </a:lnTo>
                  <a:lnTo>
                    <a:pt x="38" y="210"/>
                  </a:lnTo>
                  <a:lnTo>
                    <a:pt x="26" y="205"/>
                  </a:lnTo>
                  <a:lnTo>
                    <a:pt x="16" y="201"/>
                  </a:lnTo>
                  <a:lnTo>
                    <a:pt x="8" y="196"/>
                  </a:lnTo>
                  <a:lnTo>
                    <a:pt x="2" y="190"/>
                  </a:lnTo>
                  <a:lnTo>
                    <a:pt x="0" y="183"/>
                  </a:lnTo>
                  <a:lnTo>
                    <a:pt x="1" y="178"/>
                  </a:lnTo>
                  <a:lnTo>
                    <a:pt x="13" y="171"/>
                  </a:lnTo>
                  <a:lnTo>
                    <a:pt x="29" y="161"/>
                  </a:lnTo>
                  <a:lnTo>
                    <a:pt x="46" y="150"/>
                  </a:lnTo>
                  <a:lnTo>
                    <a:pt x="63" y="134"/>
                  </a:lnTo>
                  <a:lnTo>
                    <a:pt x="79" y="112"/>
                  </a:lnTo>
                  <a:lnTo>
                    <a:pt x="91" y="83"/>
                  </a:lnTo>
                  <a:lnTo>
                    <a:pt x="97" y="46"/>
                  </a:lnTo>
                  <a:lnTo>
                    <a:pt x="94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4" name="Freeform 12"/>
            <p:cNvSpPr>
              <a:spLocks/>
            </p:cNvSpPr>
            <p:nvPr userDrawn="1"/>
          </p:nvSpPr>
          <p:spPr bwMode="ltGray">
            <a:xfrm>
              <a:off x="168" y="1260"/>
              <a:ext cx="1259" cy="1532"/>
            </a:xfrm>
            <a:custGeom>
              <a:avLst/>
              <a:gdLst>
                <a:gd name="T0" fmla="*/ 891 w 1259"/>
                <a:gd name="T1" fmla="*/ 1532 h 1532"/>
                <a:gd name="T2" fmla="*/ 954 w 1259"/>
                <a:gd name="T3" fmla="*/ 1452 h 1532"/>
                <a:gd name="T4" fmla="*/ 1032 w 1259"/>
                <a:gd name="T5" fmla="*/ 1338 h 1532"/>
                <a:gd name="T6" fmla="*/ 1115 w 1259"/>
                <a:gd name="T7" fmla="*/ 1188 h 1532"/>
                <a:gd name="T8" fmla="*/ 1194 w 1259"/>
                <a:gd name="T9" fmla="*/ 1023 h 1532"/>
                <a:gd name="T10" fmla="*/ 1244 w 1259"/>
                <a:gd name="T11" fmla="*/ 841 h 1532"/>
                <a:gd name="T12" fmla="*/ 1259 w 1259"/>
                <a:gd name="T13" fmla="*/ 647 h 1532"/>
                <a:gd name="T14" fmla="*/ 1230 w 1259"/>
                <a:gd name="T15" fmla="*/ 463 h 1532"/>
                <a:gd name="T16" fmla="*/ 1140 w 1259"/>
                <a:gd name="T17" fmla="*/ 294 h 1532"/>
                <a:gd name="T18" fmla="*/ 1043 w 1259"/>
                <a:gd name="T19" fmla="*/ 190 h 1532"/>
                <a:gd name="T20" fmla="*/ 961 w 1259"/>
                <a:gd name="T21" fmla="*/ 109 h 1532"/>
                <a:gd name="T22" fmla="*/ 894 w 1259"/>
                <a:gd name="T23" fmla="*/ 65 h 1532"/>
                <a:gd name="T24" fmla="*/ 786 w 1259"/>
                <a:gd name="T25" fmla="*/ 18 h 1532"/>
                <a:gd name="T26" fmla="*/ 642 w 1259"/>
                <a:gd name="T27" fmla="*/ 0 h 1532"/>
                <a:gd name="T28" fmla="*/ 440 w 1259"/>
                <a:gd name="T29" fmla="*/ 23 h 1532"/>
                <a:gd name="T30" fmla="*/ 366 w 1259"/>
                <a:gd name="T31" fmla="*/ 44 h 1532"/>
                <a:gd name="T32" fmla="*/ 292 w 1259"/>
                <a:gd name="T33" fmla="*/ 58 h 1532"/>
                <a:gd name="T34" fmla="*/ 229 w 1259"/>
                <a:gd name="T35" fmla="*/ 79 h 1532"/>
                <a:gd name="T36" fmla="*/ 178 w 1259"/>
                <a:gd name="T37" fmla="*/ 103 h 1532"/>
                <a:gd name="T38" fmla="*/ 127 w 1259"/>
                <a:gd name="T39" fmla="*/ 127 h 1532"/>
                <a:gd name="T40" fmla="*/ 82 w 1259"/>
                <a:gd name="T41" fmla="*/ 158 h 1532"/>
                <a:gd name="T42" fmla="*/ 41 w 1259"/>
                <a:gd name="T43" fmla="*/ 197 h 1532"/>
                <a:gd name="T44" fmla="*/ 0 w 1259"/>
                <a:gd name="T45" fmla="*/ 243 h 1532"/>
                <a:gd name="T46" fmla="*/ 76 w 1259"/>
                <a:gd name="T47" fmla="*/ 215 h 1532"/>
                <a:gd name="T48" fmla="*/ 144 w 1259"/>
                <a:gd name="T49" fmla="*/ 194 h 1532"/>
                <a:gd name="T50" fmla="*/ 212 w 1259"/>
                <a:gd name="T51" fmla="*/ 179 h 1532"/>
                <a:gd name="T52" fmla="*/ 280 w 1259"/>
                <a:gd name="T53" fmla="*/ 164 h 1532"/>
                <a:gd name="T54" fmla="*/ 336 w 1259"/>
                <a:gd name="T55" fmla="*/ 149 h 1532"/>
                <a:gd name="T56" fmla="*/ 397 w 1259"/>
                <a:gd name="T57" fmla="*/ 149 h 1532"/>
                <a:gd name="T58" fmla="*/ 458 w 1259"/>
                <a:gd name="T59" fmla="*/ 141 h 1532"/>
                <a:gd name="T60" fmla="*/ 511 w 1259"/>
                <a:gd name="T61" fmla="*/ 146 h 1532"/>
                <a:gd name="T62" fmla="*/ 565 w 1259"/>
                <a:gd name="T63" fmla="*/ 152 h 1532"/>
                <a:gd name="T64" fmla="*/ 618 w 1259"/>
                <a:gd name="T65" fmla="*/ 166 h 1532"/>
                <a:gd name="T66" fmla="*/ 669 w 1259"/>
                <a:gd name="T67" fmla="*/ 186 h 1532"/>
                <a:gd name="T68" fmla="*/ 715 w 1259"/>
                <a:gd name="T69" fmla="*/ 205 h 1532"/>
                <a:gd name="T70" fmla="*/ 760 w 1259"/>
                <a:gd name="T71" fmla="*/ 239 h 1532"/>
                <a:gd name="T72" fmla="*/ 811 w 1259"/>
                <a:gd name="T73" fmla="*/ 267 h 1532"/>
                <a:gd name="T74" fmla="*/ 855 w 1259"/>
                <a:gd name="T75" fmla="*/ 307 h 1532"/>
                <a:gd name="T76" fmla="*/ 899 w 1259"/>
                <a:gd name="T77" fmla="*/ 348 h 1532"/>
                <a:gd name="T78" fmla="*/ 971 w 1259"/>
                <a:gd name="T79" fmla="*/ 464 h 1532"/>
                <a:gd name="T80" fmla="*/ 1016 w 1259"/>
                <a:gd name="T81" fmla="*/ 606 h 1532"/>
                <a:gd name="T82" fmla="*/ 1027 w 1259"/>
                <a:gd name="T83" fmla="*/ 774 h 1532"/>
                <a:gd name="T84" fmla="*/ 1022 w 1259"/>
                <a:gd name="T85" fmla="*/ 939 h 1532"/>
                <a:gd name="T86" fmla="*/ 1002 w 1259"/>
                <a:gd name="T87" fmla="*/ 1117 h 1532"/>
                <a:gd name="T88" fmla="*/ 966 w 1259"/>
                <a:gd name="T89" fmla="*/ 1279 h 1532"/>
                <a:gd name="T90" fmla="*/ 933 w 1259"/>
                <a:gd name="T91" fmla="*/ 1421 h 1532"/>
                <a:gd name="T92" fmla="*/ 891 w 1259"/>
                <a:gd name="T93" fmla="*/ 1532 h 15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259" h="1532">
                  <a:moveTo>
                    <a:pt x="891" y="1532"/>
                  </a:moveTo>
                  <a:lnTo>
                    <a:pt x="954" y="1452"/>
                  </a:lnTo>
                  <a:lnTo>
                    <a:pt x="1032" y="1338"/>
                  </a:lnTo>
                  <a:lnTo>
                    <a:pt x="1115" y="1188"/>
                  </a:lnTo>
                  <a:lnTo>
                    <a:pt x="1194" y="1023"/>
                  </a:lnTo>
                  <a:lnTo>
                    <a:pt x="1244" y="841"/>
                  </a:lnTo>
                  <a:lnTo>
                    <a:pt x="1259" y="647"/>
                  </a:lnTo>
                  <a:lnTo>
                    <a:pt x="1230" y="463"/>
                  </a:lnTo>
                  <a:lnTo>
                    <a:pt x="1140" y="294"/>
                  </a:lnTo>
                  <a:lnTo>
                    <a:pt x="1043" y="190"/>
                  </a:lnTo>
                  <a:lnTo>
                    <a:pt x="961" y="109"/>
                  </a:lnTo>
                  <a:lnTo>
                    <a:pt x="894" y="65"/>
                  </a:lnTo>
                  <a:lnTo>
                    <a:pt x="786" y="18"/>
                  </a:lnTo>
                  <a:lnTo>
                    <a:pt x="642" y="0"/>
                  </a:lnTo>
                  <a:lnTo>
                    <a:pt x="440" y="23"/>
                  </a:lnTo>
                  <a:lnTo>
                    <a:pt x="366" y="44"/>
                  </a:lnTo>
                  <a:lnTo>
                    <a:pt x="292" y="58"/>
                  </a:lnTo>
                  <a:lnTo>
                    <a:pt x="229" y="79"/>
                  </a:lnTo>
                  <a:lnTo>
                    <a:pt x="178" y="103"/>
                  </a:lnTo>
                  <a:lnTo>
                    <a:pt x="127" y="127"/>
                  </a:lnTo>
                  <a:lnTo>
                    <a:pt x="82" y="158"/>
                  </a:lnTo>
                  <a:lnTo>
                    <a:pt x="41" y="197"/>
                  </a:lnTo>
                  <a:lnTo>
                    <a:pt x="0" y="243"/>
                  </a:lnTo>
                  <a:lnTo>
                    <a:pt x="76" y="215"/>
                  </a:lnTo>
                  <a:lnTo>
                    <a:pt x="144" y="194"/>
                  </a:lnTo>
                  <a:lnTo>
                    <a:pt x="212" y="179"/>
                  </a:lnTo>
                  <a:lnTo>
                    <a:pt x="280" y="164"/>
                  </a:lnTo>
                  <a:lnTo>
                    <a:pt x="336" y="149"/>
                  </a:lnTo>
                  <a:lnTo>
                    <a:pt x="397" y="149"/>
                  </a:lnTo>
                  <a:lnTo>
                    <a:pt x="458" y="141"/>
                  </a:lnTo>
                  <a:lnTo>
                    <a:pt x="511" y="146"/>
                  </a:lnTo>
                  <a:lnTo>
                    <a:pt x="565" y="152"/>
                  </a:lnTo>
                  <a:lnTo>
                    <a:pt x="618" y="166"/>
                  </a:lnTo>
                  <a:lnTo>
                    <a:pt x="669" y="186"/>
                  </a:lnTo>
                  <a:lnTo>
                    <a:pt x="715" y="205"/>
                  </a:lnTo>
                  <a:lnTo>
                    <a:pt x="760" y="239"/>
                  </a:lnTo>
                  <a:lnTo>
                    <a:pt x="811" y="267"/>
                  </a:lnTo>
                  <a:lnTo>
                    <a:pt x="855" y="307"/>
                  </a:lnTo>
                  <a:lnTo>
                    <a:pt x="899" y="348"/>
                  </a:lnTo>
                  <a:lnTo>
                    <a:pt x="971" y="464"/>
                  </a:lnTo>
                  <a:lnTo>
                    <a:pt x="1016" y="606"/>
                  </a:lnTo>
                  <a:lnTo>
                    <a:pt x="1027" y="774"/>
                  </a:lnTo>
                  <a:lnTo>
                    <a:pt x="1022" y="939"/>
                  </a:lnTo>
                  <a:lnTo>
                    <a:pt x="1002" y="1117"/>
                  </a:lnTo>
                  <a:lnTo>
                    <a:pt x="966" y="1279"/>
                  </a:lnTo>
                  <a:lnTo>
                    <a:pt x="933" y="1421"/>
                  </a:lnTo>
                  <a:lnTo>
                    <a:pt x="891" y="1532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5" name="Freeform 13"/>
            <p:cNvSpPr>
              <a:spLocks/>
            </p:cNvSpPr>
            <p:nvPr userDrawn="1"/>
          </p:nvSpPr>
          <p:spPr bwMode="ltGray">
            <a:xfrm>
              <a:off x="0" y="2610"/>
              <a:ext cx="801" cy="459"/>
            </a:xfrm>
            <a:custGeom>
              <a:avLst/>
              <a:gdLst>
                <a:gd name="T0" fmla="*/ 0 w 801"/>
                <a:gd name="T1" fmla="*/ 0 h 459"/>
                <a:gd name="T2" fmla="*/ 37 w 801"/>
                <a:gd name="T3" fmla="*/ 69 h 459"/>
                <a:gd name="T4" fmla="*/ 68 w 801"/>
                <a:gd name="T5" fmla="*/ 132 h 459"/>
                <a:gd name="T6" fmla="*/ 110 w 801"/>
                <a:gd name="T7" fmla="*/ 188 h 459"/>
                <a:gd name="T8" fmla="*/ 149 w 801"/>
                <a:gd name="T9" fmla="*/ 229 h 459"/>
                <a:gd name="T10" fmla="*/ 192 w 801"/>
                <a:gd name="T11" fmla="*/ 278 h 459"/>
                <a:gd name="T12" fmla="*/ 250 w 801"/>
                <a:gd name="T13" fmla="*/ 314 h 459"/>
                <a:gd name="T14" fmla="*/ 308 w 801"/>
                <a:gd name="T15" fmla="*/ 336 h 459"/>
                <a:gd name="T16" fmla="*/ 365 w 801"/>
                <a:gd name="T17" fmla="*/ 365 h 459"/>
                <a:gd name="T18" fmla="*/ 430 w 801"/>
                <a:gd name="T19" fmla="*/ 381 h 459"/>
                <a:gd name="T20" fmla="*/ 501 w 801"/>
                <a:gd name="T21" fmla="*/ 390 h 459"/>
                <a:gd name="T22" fmla="*/ 573 w 801"/>
                <a:gd name="T23" fmla="*/ 392 h 459"/>
                <a:gd name="T24" fmla="*/ 646 w 801"/>
                <a:gd name="T25" fmla="*/ 381 h 459"/>
                <a:gd name="T26" fmla="*/ 726 w 801"/>
                <a:gd name="T27" fmla="*/ 362 h 459"/>
                <a:gd name="T28" fmla="*/ 801 w 801"/>
                <a:gd name="T29" fmla="*/ 335 h 459"/>
                <a:gd name="T30" fmla="*/ 731 w 801"/>
                <a:gd name="T31" fmla="*/ 377 h 459"/>
                <a:gd name="T32" fmla="*/ 662 w 801"/>
                <a:gd name="T33" fmla="*/ 404 h 459"/>
                <a:gd name="T34" fmla="*/ 594 w 801"/>
                <a:gd name="T35" fmla="*/ 432 h 459"/>
                <a:gd name="T36" fmla="*/ 532 w 801"/>
                <a:gd name="T37" fmla="*/ 445 h 459"/>
                <a:gd name="T38" fmla="*/ 471 w 801"/>
                <a:gd name="T39" fmla="*/ 459 h 459"/>
                <a:gd name="T40" fmla="*/ 411 w 801"/>
                <a:gd name="T41" fmla="*/ 458 h 459"/>
                <a:gd name="T42" fmla="*/ 350 w 801"/>
                <a:gd name="T43" fmla="*/ 458 h 459"/>
                <a:gd name="T44" fmla="*/ 291 w 801"/>
                <a:gd name="T45" fmla="*/ 450 h 459"/>
                <a:gd name="T46" fmla="*/ 244 w 801"/>
                <a:gd name="T47" fmla="*/ 436 h 459"/>
                <a:gd name="T48" fmla="*/ 192 w 801"/>
                <a:gd name="T49" fmla="*/ 415 h 459"/>
                <a:gd name="T50" fmla="*/ 145 w 801"/>
                <a:gd name="T51" fmla="*/ 394 h 459"/>
                <a:gd name="T52" fmla="*/ 100 w 801"/>
                <a:gd name="T53" fmla="*/ 373 h 459"/>
                <a:gd name="T54" fmla="*/ 60 w 801"/>
                <a:gd name="T55" fmla="*/ 347 h 459"/>
                <a:gd name="T56" fmla="*/ 0 w 801"/>
                <a:gd name="T57" fmla="*/ 294 h 459"/>
                <a:gd name="T58" fmla="*/ 0 w 801"/>
                <a:gd name="T59" fmla="*/ 0 h 4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801" h="459">
                  <a:moveTo>
                    <a:pt x="0" y="0"/>
                  </a:moveTo>
                  <a:lnTo>
                    <a:pt x="37" y="69"/>
                  </a:lnTo>
                  <a:lnTo>
                    <a:pt x="68" y="132"/>
                  </a:lnTo>
                  <a:lnTo>
                    <a:pt x="110" y="188"/>
                  </a:lnTo>
                  <a:lnTo>
                    <a:pt x="149" y="229"/>
                  </a:lnTo>
                  <a:lnTo>
                    <a:pt x="192" y="278"/>
                  </a:lnTo>
                  <a:lnTo>
                    <a:pt x="250" y="314"/>
                  </a:lnTo>
                  <a:lnTo>
                    <a:pt x="308" y="336"/>
                  </a:lnTo>
                  <a:lnTo>
                    <a:pt x="365" y="365"/>
                  </a:lnTo>
                  <a:lnTo>
                    <a:pt x="430" y="381"/>
                  </a:lnTo>
                  <a:lnTo>
                    <a:pt x="501" y="390"/>
                  </a:lnTo>
                  <a:lnTo>
                    <a:pt x="573" y="392"/>
                  </a:lnTo>
                  <a:lnTo>
                    <a:pt x="646" y="381"/>
                  </a:lnTo>
                  <a:lnTo>
                    <a:pt x="726" y="362"/>
                  </a:lnTo>
                  <a:lnTo>
                    <a:pt x="801" y="335"/>
                  </a:lnTo>
                  <a:lnTo>
                    <a:pt x="731" y="377"/>
                  </a:lnTo>
                  <a:lnTo>
                    <a:pt x="662" y="404"/>
                  </a:lnTo>
                  <a:lnTo>
                    <a:pt x="594" y="432"/>
                  </a:lnTo>
                  <a:lnTo>
                    <a:pt x="532" y="445"/>
                  </a:lnTo>
                  <a:lnTo>
                    <a:pt x="471" y="459"/>
                  </a:lnTo>
                  <a:lnTo>
                    <a:pt x="411" y="458"/>
                  </a:lnTo>
                  <a:lnTo>
                    <a:pt x="350" y="458"/>
                  </a:lnTo>
                  <a:lnTo>
                    <a:pt x="291" y="450"/>
                  </a:lnTo>
                  <a:lnTo>
                    <a:pt x="244" y="436"/>
                  </a:lnTo>
                  <a:lnTo>
                    <a:pt x="192" y="415"/>
                  </a:lnTo>
                  <a:lnTo>
                    <a:pt x="145" y="394"/>
                  </a:lnTo>
                  <a:lnTo>
                    <a:pt x="100" y="373"/>
                  </a:lnTo>
                  <a:lnTo>
                    <a:pt x="60" y="347"/>
                  </a:lnTo>
                  <a:lnTo>
                    <a:pt x="0" y="2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6" name="Freeform 14"/>
            <p:cNvSpPr>
              <a:spLocks/>
            </p:cNvSpPr>
            <p:nvPr userDrawn="1"/>
          </p:nvSpPr>
          <p:spPr bwMode="ltGray">
            <a:xfrm rot="373331" flipH="1">
              <a:off x="898" y="2855"/>
              <a:ext cx="354" cy="464"/>
            </a:xfrm>
            <a:custGeom>
              <a:avLst/>
              <a:gdLst>
                <a:gd name="T0" fmla="*/ 75 w 117"/>
                <a:gd name="T1" fmla="*/ 0 h 132"/>
                <a:gd name="T2" fmla="*/ 0 w 117"/>
                <a:gd name="T3" fmla="*/ 25 h 132"/>
                <a:gd name="T4" fmla="*/ 3 w 117"/>
                <a:gd name="T5" fmla="*/ 26 h 132"/>
                <a:gd name="T6" fmla="*/ 14 w 117"/>
                <a:gd name="T7" fmla="*/ 29 h 132"/>
                <a:gd name="T8" fmla="*/ 29 w 117"/>
                <a:gd name="T9" fmla="*/ 36 h 132"/>
                <a:gd name="T10" fmla="*/ 46 w 117"/>
                <a:gd name="T11" fmla="*/ 47 h 132"/>
                <a:gd name="T12" fmla="*/ 66 w 117"/>
                <a:gd name="T13" fmla="*/ 62 h 132"/>
                <a:gd name="T14" fmla="*/ 84 w 117"/>
                <a:gd name="T15" fmla="*/ 80 h 132"/>
                <a:gd name="T16" fmla="*/ 102 w 117"/>
                <a:gd name="T17" fmla="*/ 103 h 132"/>
                <a:gd name="T18" fmla="*/ 116 w 117"/>
                <a:gd name="T19" fmla="*/ 132 h 132"/>
                <a:gd name="T20" fmla="*/ 117 w 117"/>
                <a:gd name="T21" fmla="*/ 120 h 132"/>
                <a:gd name="T22" fmla="*/ 115 w 117"/>
                <a:gd name="T23" fmla="*/ 107 h 132"/>
                <a:gd name="T24" fmla="*/ 108 w 117"/>
                <a:gd name="T25" fmla="*/ 90 h 132"/>
                <a:gd name="T26" fmla="*/ 99 w 117"/>
                <a:gd name="T27" fmla="*/ 74 h 132"/>
                <a:gd name="T28" fmla="*/ 89 w 117"/>
                <a:gd name="T29" fmla="*/ 58 h 132"/>
                <a:gd name="T30" fmla="*/ 78 w 117"/>
                <a:gd name="T31" fmla="*/ 45 h 132"/>
                <a:gd name="T32" fmla="*/ 67 w 117"/>
                <a:gd name="T33" fmla="*/ 36 h 132"/>
                <a:gd name="T34" fmla="*/ 58 w 117"/>
                <a:gd name="T35" fmla="*/ 32 h 132"/>
                <a:gd name="T36" fmla="*/ 69 w 117"/>
                <a:gd name="T37" fmla="*/ 29 h 132"/>
                <a:gd name="T38" fmla="*/ 79 w 117"/>
                <a:gd name="T39" fmla="*/ 28 h 132"/>
                <a:gd name="T40" fmla="*/ 89 w 117"/>
                <a:gd name="T41" fmla="*/ 26 h 132"/>
                <a:gd name="T42" fmla="*/ 98 w 117"/>
                <a:gd name="T43" fmla="*/ 25 h 132"/>
                <a:gd name="T44" fmla="*/ 105 w 117"/>
                <a:gd name="T45" fmla="*/ 24 h 132"/>
                <a:gd name="T46" fmla="*/ 109 w 117"/>
                <a:gd name="T47" fmla="*/ 22 h 132"/>
                <a:gd name="T48" fmla="*/ 113 w 117"/>
                <a:gd name="T49" fmla="*/ 21 h 132"/>
                <a:gd name="T50" fmla="*/ 114 w 117"/>
                <a:gd name="T51" fmla="*/ 21 h 132"/>
                <a:gd name="T52" fmla="*/ 75 w 117"/>
                <a:gd name="T53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17" h="132">
                  <a:moveTo>
                    <a:pt x="75" y="0"/>
                  </a:moveTo>
                  <a:lnTo>
                    <a:pt x="0" y="25"/>
                  </a:lnTo>
                  <a:lnTo>
                    <a:pt x="3" y="26"/>
                  </a:lnTo>
                  <a:lnTo>
                    <a:pt x="14" y="29"/>
                  </a:lnTo>
                  <a:lnTo>
                    <a:pt x="29" y="36"/>
                  </a:lnTo>
                  <a:lnTo>
                    <a:pt x="46" y="47"/>
                  </a:lnTo>
                  <a:lnTo>
                    <a:pt x="66" y="62"/>
                  </a:lnTo>
                  <a:lnTo>
                    <a:pt x="84" y="80"/>
                  </a:lnTo>
                  <a:lnTo>
                    <a:pt x="102" y="103"/>
                  </a:lnTo>
                  <a:lnTo>
                    <a:pt x="116" y="132"/>
                  </a:lnTo>
                  <a:lnTo>
                    <a:pt x="117" y="120"/>
                  </a:lnTo>
                  <a:lnTo>
                    <a:pt x="115" y="107"/>
                  </a:lnTo>
                  <a:lnTo>
                    <a:pt x="108" y="90"/>
                  </a:lnTo>
                  <a:lnTo>
                    <a:pt x="99" y="74"/>
                  </a:lnTo>
                  <a:lnTo>
                    <a:pt x="89" y="58"/>
                  </a:lnTo>
                  <a:lnTo>
                    <a:pt x="78" y="45"/>
                  </a:lnTo>
                  <a:lnTo>
                    <a:pt x="67" y="36"/>
                  </a:lnTo>
                  <a:lnTo>
                    <a:pt x="58" y="32"/>
                  </a:lnTo>
                  <a:lnTo>
                    <a:pt x="69" y="29"/>
                  </a:lnTo>
                  <a:lnTo>
                    <a:pt x="79" y="28"/>
                  </a:lnTo>
                  <a:lnTo>
                    <a:pt x="89" y="26"/>
                  </a:lnTo>
                  <a:lnTo>
                    <a:pt x="98" y="25"/>
                  </a:lnTo>
                  <a:lnTo>
                    <a:pt x="105" y="24"/>
                  </a:lnTo>
                  <a:lnTo>
                    <a:pt x="109" y="22"/>
                  </a:lnTo>
                  <a:lnTo>
                    <a:pt x="113" y="21"/>
                  </a:lnTo>
                  <a:lnTo>
                    <a:pt x="114" y="21"/>
                  </a:lnTo>
                  <a:lnTo>
                    <a:pt x="75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7" name="Freeform 15"/>
            <p:cNvSpPr>
              <a:spLocks/>
            </p:cNvSpPr>
            <p:nvPr userDrawn="1"/>
          </p:nvSpPr>
          <p:spPr bwMode="ltGray">
            <a:xfrm rot="373331" flipH="1">
              <a:off x="799" y="2979"/>
              <a:ext cx="87" cy="274"/>
            </a:xfrm>
            <a:custGeom>
              <a:avLst/>
              <a:gdLst>
                <a:gd name="T0" fmla="*/ 29 w 29"/>
                <a:gd name="T1" fmla="*/ 0 h 77"/>
                <a:gd name="T2" fmla="*/ 23 w 29"/>
                <a:gd name="T3" fmla="*/ 0 h 77"/>
                <a:gd name="T4" fmla="*/ 16 w 29"/>
                <a:gd name="T5" fmla="*/ 4 h 77"/>
                <a:gd name="T6" fmla="*/ 9 w 29"/>
                <a:gd name="T7" fmla="*/ 9 h 77"/>
                <a:gd name="T8" fmla="*/ 4 w 29"/>
                <a:gd name="T9" fmla="*/ 19 h 77"/>
                <a:gd name="T10" fmla="*/ 1 w 29"/>
                <a:gd name="T11" fmla="*/ 30 h 77"/>
                <a:gd name="T12" fmla="*/ 0 w 29"/>
                <a:gd name="T13" fmla="*/ 44 h 77"/>
                <a:gd name="T14" fmla="*/ 3 w 29"/>
                <a:gd name="T15" fmla="*/ 60 h 77"/>
                <a:gd name="T16" fmla="*/ 11 w 29"/>
                <a:gd name="T17" fmla="*/ 77 h 77"/>
                <a:gd name="T18" fmla="*/ 15 w 29"/>
                <a:gd name="T19" fmla="*/ 53 h 77"/>
                <a:gd name="T20" fmla="*/ 19 w 29"/>
                <a:gd name="T21" fmla="*/ 37 h 77"/>
                <a:gd name="T22" fmla="*/ 23 w 29"/>
                <a:gd name="T23" fmla="*/ 22 h 77"/>
                <a:gd name="T24" fmla="*/ 29 w 29"/>
                <a:gd name="T25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9" h="77">
                  <a:moveTo>
                    <a:pt x="29" y="0"/>
                  </a:moveTo>
                  <a:lnTo>
                    <a:pt x="23" y="0"/>
                  </a:lnTo>
                  <a:lnTo>
                    <a:pt x="16" y="4"/>
                  </a:lnTo>
                  <a:lnTo>
                    <a:pt x="9" y="9"/>
                  </a:lnTo>
                  <a:lnTo>
                    <a:pt x="4" y="19"/>
                  </a:lnTo>
                  <a:lnTo>
                    <a:pt x="1" y="30"/>
                  </a:lnTo>
                  <a:lnTo>
                    <a:pt x="0" y="44"/>
                  </a:lnTo>
                  <a:lnTo>
                    <a:pt x="3" y="60"/>
                  </a:lnTo>
                  <a:lnTo>
                    <a:pt x="11" y="77"/>
                  </a:lnTo>
                  <a:lnTo>
                    <a:pt x="15" y="53"/>
                  </a:lnTo>
                  <a:lnTo>
                    <a:pt x="19" y="37"/>
                  </a:lnTo>
                  <a:lnTo>
                    <a:pt x="23" y="22"/>
                  </a:lnTo>
                  <a:lnTo>
                    <a:pt x="29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28" name="Freeform 16"/>
            <p:cNvSpPr>
              <a:spLocks/>
            </p:cNvSpPr>
            <p:nvPr userDrawn="1"/>
          </p:nvSpPr>
          <p:spPr bwMode="ltGray">
            <a:xfrm>
              <a:off x="1190" y="3273"/>
              <a:ext cx="1108" cy="1047"/>
            </a:xfrm>
            <a:custGeom>
              <a:avLst/>
              <a:gdLst>
                <a:gd name="T0" fmla="*/ 784 w 1108"/>
                <a:gd name="T1" fmla="*/ 1047 h 1047"/>
                <a:gd name="T2" fmla="*/ 692 w 1108"/>
                <a:gd name="T3" fmla="*/ 1011 h 1047"/>
                <a:gd name="T4" fmla="*/ 607 w 1108"/>
                <a:gd name="T5" fmla="*/ 945 h 1047"/>
                <a:gd name="T6" fmla="*/ 517 w 1108"/>
                <a:gd name="T7" fmla="*/ 861 h 1047"/>
                <a:gd name="T8" fmla="*/ 432 w 1108"/>
                <a:gd name="T9" fmla="*/ 776 h 1047"/>
                <a:gd name="T10" fmla="*/ 350 w 1108"/>
                <a:gd name="T11" fmla="*/ 677 h 1047"/>
                <a:gd name="T12" fmla="*/ 266 w 1108"/>
                <a:gd name="T13" fmla="*/ 563 h 1047"/>
                <a:gd name="T14" fmla="*/ 188 w 1108"/>
                <a:gd name="T15" fmla="*/ 447 h 1047"/>
                <a:gd name="T16" fmla="*/ 122 w 1108"/>
                <a:gd name="T17" fmla="*/ 325 h 1047"/>
                <a:gd name="T18" fmla="*/ 65 w 1108"/>
                <a:gd name="T19" fmla="*/ 211 h 1047"/>
                <a:gd name="T20" fmla="*/ 21 w 1108"/>
                <a:gd name="T21" fmla="*/ 101 h 1047"/>
                <a:gd name="T22" fmla="*/ 0 w 1108"/>
                <a:gd name="T23" fmla="*/ 0 h 1047"/>
                <a:gd name="T24" fmla="*/ 109 w 1108"/>
                <a:gd name="T25" fmla="*/ 217 h 1047"/>
                <a:gd name="T26" fmla="*/ 209 w 1108"/>
                <a:gd name="T27" fmla="*/ 378 h 1047"/>
                <a:gd name="T28" fmla="*/ 294 w 1108"/>
                <a:gd name="T29" fmla="*/ 500 h 1047"/>
                <a:gd name="T30" fmla="*/ 373 w 1108"/>
                <a:gd name="T31" fmla="*/ 590 h 1047"/>
                <a:gd name="T32" fmla="*/ 441 w 1108"/>
                <a:gd name="T33" fmla="*/ 661 h 1047"/>
                <a:gd name="T34" fmla="*/ 506 w 1108"/>
                <a:gd name="T35" fmla="*/ 713 h 1047"/>
                <a:gd name="T36" fmla="*/ 564 w 1108"/>
                <a:gd name="T37" fmla="*/ 754 h 1047"/>
                <a:gd name="T38" fmla="*/ 620 w 1108"/>
                <a:gd name="T39" fmla="*/ 801 h 1047"/>
                <a:gd name="T40" fmla="*/ 754 w 1108"/>
                <a:gd name="T41" fmla="*/ 899 h 1047"/>
                <a:gd name="T42" fmla="*/ 925 w 1108"/>
                <a:gd name="T43" fmla="*/ 977 h 1047"/>
                <a:gd name="T44" fmla="*/ 1108 w 1108"/>
                <a:gd name="T45" fmla="*/ 1047 h 1047"/>
                <a:gd name="T46" fmla="*/ 784 w 1108"/>
                <a:gd name="T47" fmla="*/ 1047 h 10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1108" h="1047">
                  <a:moveTo>
                    <a:pt x="784" y="1047"/>
                  </a:moveTo>
                  <a:lnTo>
                    <a:pt x="692" y="1011"/>
                  </a:lnTo>
                  <a:lnTo>
                    <a:pt x="607" y="945"/>
                  </a:lnTo>
                  <a:lnTo>
                    <a:pt x="517" y="861"/>
                  </a:lnTo>
                  <a:lnTo>
                    <a:pt x="432" y="776"/>
                  </a:lnTo>
                  <a:lnTo>
                    <a:pt x="350" y="677"/>
                  </a:lnTo>
                  <a:lnTo>
                    <a:pt x="266" y="563"/>
                  </a:lnTo>
                  <a:lnTo>
                    <a:pt x="188" y="447"/>
                  </a:lnTo>
                  <a:lnTo>
                    <a:pt x="122" y="325"/>
                  </a:lnTo>
                  <a:lnTo>
                    <a:pt x="65" y="211"/>
                  </a:lnTo>
                  <a:lnTo>
                    <a:pt x="21" y="101"/>
                  </a:lnTo>
                  <a:lnTo>
                    <a:pt x="0" y="0"/>
                  </a:lnTo>
                  <a:lnTo>
                    <a:pt x="109" y="217"/>
                  </a:lnTo>
                  <a:lnTo>
                    <a:pt x="209" y="378"/>
                  </a:lnTo>
                  <a:lnTo>
                    <a:pt x="294" y="500"/>
                  </a:lnTo>
                  <a:lnTo>
                    <a:pt x="373" y="590"/>
                  </a:lnTo>
                  <a:lnTo>
                    <a:pt x="441" y="661"/>
                  </a:lnTo>
                  <a:lnTo>
                    <a:pt x="506" y="713"/>
                  </a:lnTo>
                  <a:lnTo>
                    <a:pt x="564" y="754"/>
                  </a:lnTo>
                  <a:lnTo>
                    <a:pt x="620" y="801"/>
                  </a:lnTo>
                  <a:lnTo>
                    <a:pt x="754" y="899"/>
                  </a:lnTo>
                  <a:lnTo>
                    <a:pt x="925" y="977"/>
                  </a:lnTo>
                  <a:lnTo>
                    <a:pt x="1108" y="1047"/>
                  </a:lnTo>
                  <a:lnTo>
                    <a:pt x="784" y="1047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8929" name="Group 17"/>
            <p:cNvGrpSpPr>
              <a:grpSpLocks/>
            </p:cNvGrpSpPr>
            <p:nvPr userDrawn="1"/>
          </p:nvGrpSpPr>
          <p:grpSpPr bwMode="auto">
            <a:xfrm rot="3220060">
              <a:off x="2631" y="754"/>
              <a:ext cx="569" cy="637"/>
              <a:chOff x="1727" y="866"/>
              <a:chExt cx="129" cy="157"/>
            </a:xfrm>
          </p:grpSpPr>
          <p:sp>
            <p:nvSpPr>
              <p:cNvPr id="38930" name="Freeform 1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1" name="Freeform 1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2" name="Freeform 2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33" name="Group 21"/>
            <p:cNvGrpSpPr>
              <a:grpSpLocks/>
            </p:cNvGrpSpPr>
            <p:nvPr userDrawn="1"/>
          </p:nvGrpSpPr>
          <p:grpSpPr bwMode="auto">
            <a:xfrm rot="-6691250">
              <a:off x="3637" y="132"/>
              <a:ext cx="356" cy="607"/>
              <a:chOff x="1727" y="866"/>
              <a:chExt cx="129" cy="157"/>
            </a:xfrm>
          </p:grpSpPr>
          <p:sp>
            <p:nvSpPr>
              <p:cNvPr id="38934" name="Freeform 22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5" name="Freeform 23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6" name="Freeform 24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37" name="Group 25"/>
            <p:cNvGrpSpPr>
              <a:grpSpLocks/>
            </p:cNvGrpSpPr>
            <p:nvPr userDrawn="1"/>
          </p:nvGrpSpPr>
          <p:grpSpPr bwMode="auto">
            <a:xfrm rot="-13075160">
              <a:off x="668" y="3321"/>
              <a:ext cx="501" cy="502"/>
              <a:chOff x="1727" y="866"/>
              <a:chExt cx="129" cy="157"/>
            </a:xfrm>
          </p:grpSpPr>
          <p:sp>
            <p:nvSpPr>
              <p:cNvPr id="38938" name="Freeform 26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39" name="Freeform 27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0" name="Freeform 28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41" name="Group 29"/>
            <p:cNvGrpSpPr>
              <a:grpSpLocks/>
            </p:cNvGrpSpPr>
            <p:nvPr userDrawn="1"/>
          </p:nvGrpSpPr>
          <p:grpSpPr bwMode="auto">
            <a:xfrm rot="4106450" flipH="1">
              <a:off x="393" y="262"/>
              <a:ext cx="709" cy="892"/>
              <a:chOff x="1727" y="866"/>
              <a:chExt cx="129" cy="157"/>
            </a:xfrm>
          </p:grpSpPr>
          <p:sp>
            <p:nvSpPr>
              <p:cNvPr id="38942" name="Freeform 3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3" name="Freeform 3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4" name="Freeform 3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8945" name="Group 33"/>
            <p:cNvGrpSpPr>
              <a:grpSpLocks/>
            </p:cNvGrpSpPr>
            <p:nvPr userDrawn="1"/>
          </p:nvGrpSpPr>
          <p:grpSpPr bwMode="auto">
            <a:xfrm rot="10015322" flipH="1">
              <a:off x="4625" y="2382"/>
              <a:ext cx="709" cy="892"/>
              <a:chOff x="1727" y="866"/>
              <a:chExt cx="129" cy="157"/>
            </a:xfrm>
          </p:grpSpPr>
          <p:sp>
            <p:nvSpPr>
              <p:cNvPr id="38946" name="Freeform 3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7" name="Freeform 3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8948" name="Freeform 3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8949" name="Freeform 37"/>
            <p:cNvSpPr>
              <a:spLocks/>
            </p:cNvSpPr>
            <p:nvPr userDrawn="1"/>
          </p:nvSpPr>
          <p:spPr bwMode="ltGray">
            <a:xfrm>
              <a:off x="1217" y="2"/>
              <a:ext cx="862" cy="886"/>
            </a:xfrm>
            <a:custGeom>
              <a:avLst/>
              <a:gdLst>
                <a:gd name="T0" fmla="*/ 0 w 862"/>
                <a:gd name="T1" fmla="*/ 0 h 886"/>
                <a:gd name="T2" fmla="*/ 6 w 862"/>
                <a:gd name="T3" fmla="*/ 107 h 886"/>
                <a:gd name="T4" fmla="*/ 37 w 862"/>
                <a:gd name="T5" fmla="*/ 262 h 886"/>
                <a:gd name="T6" fmla="*/ 83 w 862"/>
                <a:gd name="T7" fmla="*/ 410 h 886"/>
                <a:gd name="T8" fmla="*/ 149 w 862"/>
                <a:gd name="T9" fmla="*/ 546 h 886"/>
                <a:gd name="T10" fmla="*/ 237 w 862"/>
                <a:gd name="T11" fmla="*/ 666 h 886"/>
                <a:gd name="T12" fmla="*/ 338 w 862"/>
                <a:gd name="T13" fmla="*/ 764 h 886"/>
                <a:gd name="T14" fmla="*/ 450 w 862"/>
                <a:gd name="T15" fmla="*/ 838 h 886"/>
                <a:gd name="T16" fmla="*/ 579 w 862"/>
                <a:gd name="T17" fmla="*/ 879 h 886"/>
                <a:gd name="T18" fmla="*/ 714 w 862"/>
                <a:gd name="T19" fmla="*/ 886 h 886"/>
                <a:gd name="T20" fmla="*/ 862 w 862"/>
                <a:gd name="T21" fmla="*/ 851 h 886"/>
                <a:gd name="T22" fmla="*/ 784 w 862"/>
                <a:gd name="T23" fmla="*/ 856 h 886"/>
                <a:gd name="T24" fmla="*/ 700 w 862"/>
                <a:gd name="T25" fmla="*/ 835 h 886"/>
                <a:gd name="T26" fmla="*/ 621 w 862"/>
                <a:gd name="T27" fmla="*/ 794 h 886"/>
                <a:gd name="T28" fmla="*/ 542 w 862"/>
                <a:gd name="T29" fmla="*/ 728 h 886"/>
                <a:gd name="T30" fmla="*/ 466 w 862"/>
                <a:gd name="T31" fmla="*/ 649 h 886"/>
                <a:gd name="T32" fmla="*/ 397 w 862"/>
                <a:gd name="T33" fmla="*/ 557 h 886"/>
                <a:gd name="T34" fmla="*/ 334 w 862"/>
                <a:gd name="T35" fmla="*/ 454 h 886"/>
                <a:gd name="T36" fmla="*/ 279 w 862"/>
                <a:gd name="T37" fmla="*/ 339 h 886"/>
                <a:gd name="T38" fmla="*/ 238 w 862"/>
                <a:gd name="T39" fmla="*/ 225 h 886"/>
                <a:gd name="T40" fmla="*/ 205 w 862"/>
                <a:gd name="T41" fmla="*/ 105 h 886"/>
                <a:gd name="T42" fmla="*/ 184 w 862"/>
                <a:gd name="T43" fmla="*/ 3 h 8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862" h="886">
                  <a:moveTo>
                    <a:pt x="0" y="0"/>
                  </a:moveTo>
                  <a:lnTo>
                    <a:pt x="6" y="107"/>
                  </a:lnTo>
                  <a:lnTo>
                    <a:pt x="37" y="262"/>
                  </a:lnTo>
                  <a:lnTo>
                    <a:pt x="83" y="410"/>
                  </a:lnTo>
                  <a:lnTo>
                    <a:pt x="149" y="546"/>
                  </a:lnTo>
                  <a:lnTo>
                    <a:pt x="237" y="666"/>
                  </a:lnTo>
                  <a:lnTo>
                    <a:pt x="338" y="764"/>
                  </a:lnTo>
                  <a:lnTo>
                    <a:pt x="450" y="838"/>
                  </a:lnTo>
                  <a:lnTo>
                    <a:pt x="579" y="879"/>
                  </a:lnTo>
                  <a:lnTo>
                    <a:pt x="714" y="886"/>
                  </a:lnTo>
                  <a:lnTo>
                    <a:pt x="862" y="851"/>
                  </a:lnTo>
                  <a:lnTo>
                    <a:pt x="784" y="856"/>
                  </a:lnTo>
                  <a:lnTo>
                    <a:pt x="700" y="835"/>
                  </a:lnTo>
                  <a:lnTo>
                    <a:pt x="621" y="794"/>
                  </a:lnTo>
                  <a:lnTo>
                    <a:pt x="542" y="728"/>
                  </a:lnTo>
                  <a:lnTo>
                    <a:pt x="466" y="649"/>
                  </a:lnTo>
                  <a:lnTo>
                    <a:pt x="397" y="557"/>
                  </a:lnTo>
                  <a:lnTo>
                    <a:pt x="334" y="454"/>
                  </a:lnTo>
                  <a:lnTo>
                    <a:pt x="279" y="339"/>
                  </a:lnTo>
                  <a:lnTo>
                    <a:pt x="238" y="225"/>
                  </a:lnTo>
                  <a:lnTo>
                    <a:pt x="205" y="105"/>
                  </a:lnTo>
                  <a:lnTo>
                    <a:pt x="184" y="3"/>
                  </a:lnTo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0" name="Freeform 38"/>
            <p:cNvSpPr>
              <a:spLocks/>
            </p:cNvSpPr>
            <p:nvPr userDrawn="1"/>
          </p:nvSpPr>
          <p:spPr bwMode="ltGray">
            <a:xfrm rot="9832527" flipV="1">
              <a:off x="2158" y="102"/>
              <a:ext cx="681" cy="593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1" name="Freeform 39"/>
            <p:cNvSpPr>
              <a:spLocks/>
            </p:cNvSpPr>
            <p:nvPr userDrawn="1"/>
          </p:nvSpPr>
          <p:spPr bwMode="ltGray">
            <a:xfrm rot="9832527" flipV="1">
              <a:off x="1997" y="858"/>
              <a:ext cx="330" cy="278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2" name="Freeform 40"/>
            <p:cNvSpPr>
              <a:spLocks/>
            </p:cNvSpPr>
            <p:nvPr userDrawn="1"/>
          </p:nvSpPr>
          <p:spPr bwMode="ltGray">
            <a:xfrm rot="9832527" flipV="1">
              <a:off x="2224" y="808"/>
              <a:ext cx="123" cy="233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3" name="Freeform 41"/>
            <p:cNvSpPr>
              <a:spLocks/>
            </p:cNvSpPr>
            <p:nvPr userDrawn="1"/>
          </p:nvSpPr>
          <p:spPr bwMode="ltGray">
            <a:xfrm>
              <a:off x="1603" y="0"/>
              <a:ext cx="124" cy="121"/>
            </a:xfrm>
            <a:custGeom>
              <a:avLst/>
              <a:gdLst>
                <a:gd name="T0" fmla="*/ 124 w 124"/>
                <a:gd name="T1" fmla="*/ 0 h 121"/>
                <a:gd name="T2" fmla="*/ 113 w 124"/>
                <a:gd name="T3" fmla="*/ 9 h 121"/>
                <a:gd name="T4" fmla="*/ 99 w 124"/>
                <a:gd name="T5" fmla="*/ 25 h 121"/>
                <a:gd name="T6" fmla="*/ 81 w 124"/>
                <a:gd name="T7" fmla="*/ 41 h 121"/>
                <a:gd name="T8" fmla="*/ 63 w 124"/>
                <a:gd name="T9" fmla="*/ 54 h 121"/>
                <a:gd name="T10" fmla="*/ 41 w 124"/>
                <a:gd name="T11" fmla="*/ 66 h 121"/>
                <a:gd name="T12" fmla="*/ 22 w 124"/>
                <a:gd name="T13" fmla="*/ 74 h 121"/>
                <a:gd name="T14" fmla="*/ 0 w 124"/>
                <a:gd name="T15" fmla="*/ 75 h 121"/>
                <a:gd name="T16" fmla="*/ 10 w 124"/>
                <a:gd name="T17" fmla="*/ 96 h 121"/>
                <a:gd name="T18" fmla="*/ 23 w 124"/>
                <a:gd name="T19" fmla="*/ 113 h 121"/>
                <a:gd name="T20" fmla="*/ 41 w 124"/>
                <a:gd name="T21" fmla="*/ 121 h 121"/>
                <a:gd name="T22" fmla="*/ 60 w 124"/>
                <a:gd name="T23" fmla="*/ 121 h 121"/>
                <a:gd name="T24" fmla="*/ 83 w 124"/>
                <a:gd name="T25" fmla="*/ 111 h 121"/>
                <a:gd name="T26" fmla="*/ 101 w 124"/>
                <a:gd name="T27" fmla="*/ 88 h 121"/>
                <a:gd name="T28" fmla="*/ 116 w 124"/>
                <a:gd name="T29" fmla="*/ 53 h 121"/>
                <a:gd name="T30" fmla="*/ 124 w 124"/>
                <a:gd name="T31" fmla="*/ 0 h 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24" h="121">
                  <a:moveTo>
                    <a:pt x="124" y="0"/>
                  </a:moveTo>
                  <a:lnTo>
                    <a:pt x="113" y="9"/>
                  </a:lnTo>
                  <a:lnTo>
                    <a:pt x="99" y="25"/>
                  </a:lnTo>
                  <a:lnTo>
                    <a:pt x="81" y="41"/>
                  </a:lnTo>
                  <a:lnTo>
                    <a:pt x="63" y="54"/>
                  </a:lnTo>
                  <a:lnTo>
                    <a:pt x="41" y="66"/>
                  </a:lnTo>
                  <a:lnTo>
                    <a:pt x="22" y="74"/>
                  </a:lnTo>
                  <a:lnTo>
                    <a:pt x="0" y="75"/>
                  </a:lnTo>
                  <a:lnTo>
                    <a:pt x="10" y="96"/>
                  </a:lnTo>
                  <a:lnTo>
                    <a:pt x="23" y="113"/>
                  </a:lnTo>
                  <a:lnTo>
                    <a:pt x="41" y="121"/>
                  </a:lnTo>
                  <a:lnTo>
                    <a:pt x="60" y="121"/>
                  </a:lnTo>
                  <a:lnTo>
                    <a:pt x="83" y="111"/>
                  </a:lnTo>
                  <a:lnTo>
                    <a:pt x="101" y="88"/>
                  </a:lnTo>
                  <a:lnTo>
                    <a:pt x="116" y="5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4" name="Freeform 42"/>
            <p:cNvSpPr>
              <a:spLocks/>
            </p:cNvSpPr>
            <p:nvPr userDrawn="1"/>
          </p:nvSpPr>
          <p:spPr bwMode="ltGray">
            <a:xfrm rot="9832527" flipV="1">
              <a:off x="2173" y="1238"/>
              <a:ext cx="393" cy="2300"/>
            </a:xfrm>
            <a:custGeom>
              <a:avLst/>
              <a:gdLst>
                <a:gd name="T0" fmla="*/ 0 w 149"/>
                <a:gd name="T1" fmla="*/ 0 h 704"/>
                <a:gd name="T2" fmla="*/ 6 w 149"/>
                <a:gd name="T3" fmla="*/ 6 h 704"/>
                <a:gd name="T4" fmla="*/ 16 w 149"/>
                <a:gd name="T5" fmla="*/ 14 h 704"/>
                <a:gd name="T6" fmla="*/ 28 w 149"/>
                <a:gd name="T7" fmla="*/ 24 h 704"/>
                <a:gd name="T8" fmla="*/ 41 w 149"/>
                <a:gd name="T9" fmla="*/ 37 h 704"/>
                <a:gd name="T10" fmla="*/ 58 w 149"/>
                <a:gd name="T11" fmla="*/ 53 h 704"/>
                <a:gd name="T12" fmla="*/ 73 w 149"/>
                <a:gd name="T13" fmla="*/ 70 h 704"/>
                <a:gd name="T14" fmla="*/ 88 w 149"/>
                <a:gd name="T15" fmla="*/ 90 h 704"/>
                <a:gd name="T16" fmla="*/ 100 w 149"/>
                <a:gd name="T17" fmla="*/ 113 h 704"/>
                <a:gd name="T18" fmla="*/ 112 w 149"/>
                <a:gd name="T19" fmla="*/ 137 h 704"/>
                <a:gd name="T20" fmla="*/ 120 w 149"/>
                <a:gd name="T21" fmla="*/ 165 h 704"/>
                <a:gd name="T22" fmla="*/ 124 w 149"/>
                <a:gd name="T23" fmla="*/ 196 h 704"/>
                <a:gd name="T24" fmla="*/ 126 w 149"/>
                <a:gd name="T25" fmla="*/ 228 h 704"/>
                <a:gd name="T26" fmla="*/ 120 w 149"/>
                <a:gd name="T27" fmla="*/ 264 h 704"/>
                <a:gd name="T28" fmla="*/ 109 w 149"/>
                <a:gd name="T29" fmla="*/ 302 h 704"/>
                <a:gd name="T30" fmla="*/ 92 w 149"/>
                <a:gd name="T31" fmla="*/ 342 h 704"/>
                <a:gd name="T32" fmla="*/ 67 w 149"/>
                <a:gd name="T33" fmla="*/ 386 h 704"/>
                <a:gd name="T34" fmla="*/ 39 w 149"/>
                <a:gd name="T35" fmla="*/ 436 h 704"/>
                <a:gd name="T36" fmla="*/ 21 w 149"/>
                <a:gd name="T37" fmla="*/ 482 h 704"/>
                <a:gd name="T38" fmla="*/ 10 w 149"/>
                <a:gd name="T39" fmla="*/ 525 h 704"/>
                <a:gd name="T40" fmla="*/ 6 w 149"/>
                <a:gd name="T41" fmla="*/ 566 h 704"/>
                <a:gd name="T42" fmla="*/ 6 w 149"/>
                <a:gd name="T43" fmla="*/ 605 h 704"/>
                <a:gd name="T44" fmla="*/ 8 w 149"/>
                <a:gd name="T45" fmla="*/ 641 h 704"/>
                <a:gd name="T46" fmla="*/ 12 w 149"/>
                <a:gd name="T47" fmla="*/ 673 h 704"/>
                <a:gd name="T48" fmla="*/ 14 w 149"/>
                <a:gd name="T49" fmla="*/ 704 h 704"/>
                <a:gd name="T50" fmla="*/ 41 w 149"/>
                <a:gd name="T51" fmla="*/ 688 h 704"/>
                <a:gd name="T52" fmla="*/ 39 w 149"/>
                <a:gd name="T53" fmla="*/ 680 h 704"/>
                <a:gd name="T54" fmla="*/ 36 w 149"/>
                <a:gd name="T55" fmla="*/ 657 h 704"/>
                <a:gd name="T56" fmla="*/ 33 w 149"/>
                <a:gd name="T57" fmla="*/ 622 h 704"/>
                <a:gd name="T58" fmla="*/ 35 w 149"/>
                <a:gd name="T59" fmla="*/ 575 h 704"/>
                <a:gd name="T60" fmla="*/ 41 w 149"/>
                <a:gd name="T61" fmla="*/ 519 h 704"/>
                <a:gd name="T62" fmla="*/ 58 w 149"/>
                <a:gd name="T63" fmla="*/ 455 h 704"/>
                <a:gd name="T64" fmla="*/ 86 w 149"/>
                <a:gd name="T65" fmla="*/ 386 h 704"/>
                <a:gd name="T66" fmla="*/ 129 w 149"/>
                <a:gd name="T67" fmla="*/ 313 h 704"/>
                <a:gd name="T68" fmla="*/ 143 w 149"/>
                <a:gd name="T69" fmla="*/ 279 h 704"/>
                <a:gd name="T70" fmla="*/ 149 w 149"/>
                <a:gd name="T71" fmla="*/ 235 h 704"/>
                <a:gd name="T72" fmla="*/ 144 w 149"/>
                <a:gd name="T73" fmla="*/ 184 h 704"/>
                <a:gd name="T74" fmla="*/ 131 w 149"/>
                <a:gd name="T75" fmla="*/ 134 h 704"/>
                <a:gd name="T76" fmla="*/ 109 w 149"/>
                <a:gd name="T77" fmla="*/ 85 h 704"/>
                <a:gd name="T78" fmla="*/ 81 w 149"/>
                <a:gd name="T79" fmla="*/ 44 h 704"/>
                <a:gd name="T80" fmla="*/ 44 w 149"/>
                <a:gd name="T81" fmla="*/ 14 h 704"/>
                <a:gd name="T82" fmla="*/ 0 w 149"/>
                <a:gd name="T83" fmla="*/ 0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149" h="704">
                  <a:moveTo>
                    <a:pt x="0" y="0"/>
                  </a:moveTo>
                  <a:lnTo>
                    <a:pt x="6" y="6"/>
                  </a:lnTo>
                  <a:lnTo>
                    <a:pt x="16" y="14"/>
                  </a:lnTo>
                  <a:lnTo>
                    <a:pt x="28" y="24"/>
                  </a:lnTo>
                  <a:lnTo>
                    <a:pt x="41" y="37"/>
                  </a:lnTo>
                  <a:lnTo>
                    <a:pt x="58" y="53"/>
                  </a:lnTo>
                  <a:lnTo>
                    <a:pt x="73" y="70"/>
                  </a:lnTo>
                  <a:lnTo>
                    <a:pt x="88" y="90"/>
                  </a:lnTo>
                  <a:lnTo>
                    <a:pt x="100" y="113"/>
                  </a:lnTo>
                  <a:lnTo>
                    <a:pt x="112" y="137"/>
                  </a:lnTo>
                  <a:lnTo>
                    <a:pt x="120" y="165"/>
                  </a:lnTo>
                  <a:lnTo>
                    <a:pt x="124" y="196"/>
                  </a:lnTo>
                  <a:lnTo>
                    <a:pt x="126" y="228"/>
                  </a:lnTo>
                  <a:lnTo>
                    <a:pt x="120" y="264"/>
                  </a:lnTo>
                  <a:lnTo>
                    <a:pt x="109" y="302"/>
                  </a:lnTo>
                  <a:lnTo>
                    <a:pt x="92" y="342"/>
                  </a:lnTo>
                  <a:lnTo>
                    <a:pt x="67" y="386"/>
                  </a:lnTo>
                  <a:lnTo>
                    <a:pt x="39" y="436"/>
                  </a:lnTo>
                  <a:lnTo>
                    <a:pt x="21" y="482"/>
                  </a:lnTo>
                  <a:lnTo>
                    <a:pt x="10" y="525"/>
                  </a:lnTo>
                  <a:lnTo>
                    <a:pt x="6" y="566"/>
                  </a:lnTo>
                  <a:lnTo>
                    <a:pt x="6" y="605"/>
                  </a:lnTo>
                  <a:lnTo>
                    <a:pt x="8" y="641"/>
                  </a:lnTo>
                  <a:lnTo>
                    <a:pt x="12" y="673"/>
                  </a:lnTo>
                  <a:lnTo>
                    <a:pt x="14" y="704"/>
                  </a:lnTo>
                  <a:lnTo>
                    <a:pt x="41" y="688"/>
                  </a:lnTo>
                  <a:lnTo>
                    <a:pt x="39" y="680"/>
                  </a:lnTo>
                  <a:lnTo>
                    <a:pt x="36" y="657"/>
                  </a:lnTo>
                  <a:lnTo>
                    <a:pt x="33" y="622"/>
                  </a:lnTo>
                  <a:lnTo>
                    <a:pt x="35" y="575"/>
                  </a:lnTo>
                  <a:lnTo>
                    <a:pt x="41" y="519"/>
                  </a:lnTo>
                  <a:lnTo>
                    <a:pt x="58" y="455"/>
                  </a:lnTo>
                  <a:lnTo>
                    <a:pt x="86" y="386"/>
                  </a:lnTo>
                  <a:lnTo>
                    <a:pt x="129" y="313"/>
                  </a:lnTo>
                  <a:lnTo>
                    <a:pt x="143" y="279"/>
                  </a:lnTo>
                  <a:lnTo>
                    <a:pt x="149" y="235"/>
                  </a:lnTo>
                  <a:lnTo>
                    <a:pt x="144" y="184"/>
                  </a:lnTo>
                  <a:lnTo>
                    <a:pt x="131" y="134"/>
                  </a:lnTo>
                  <a:lnTo>
                    <a:pt x="109" y="85"/>
                  </a:lnTo>
                  <a:lnTo>
                    <a:pt x="81" y="44"/>
                  </a:lnTo>
                  <a:lnTo>
                    <a:pt x="44" y="1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8955" name="Freeform 43"/>
            <p:cNvSpPr>
              <a:spLocks/>
            </p:cNvSpPr>
            <p:nvPr userDrawn="1"/>
          </p:nvSpPr>
          <p:spPr bwMode="ltGray">
            <a:xfrm>
              <a:off x="0" y="1848"/>
              <a:ext cx="36" cy="132"/>
            </a:xfrm>
            <a:custGeom>
              <a:avLst/>
              <a:gdLst>
                <a:gd name="T0" fmla="*/ 0 w 36"/>
                <a:gd name="T1" fmla="*/ 0 h 132"/>
                <a:gd name="T2" fmla="*/ 36 w 36"/>
                <a:gd name="T3" fmla="*/ 12 h 132"/>
                <a:gd name="T4" fmla="*/ 0 w 36"/>
                <a:gd name="T5" fmla="*/ 132 h 132"/>
                <a:gd name="T6" fmla="*/ 0 w 36"/>
                <a:gd name="T7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6" h="132">
                  <a:moveTo>
                    <a:pt x="0" y="0"/>
                  </a:moveTo>
                  <a:lnTo>
                    <a:pt x="36" y="12"/>
                  </a:lnTo>
                  <a:lnTo>
                    <a:pt x="0" y="1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8956" name="Rectangle 44"/>
          <p:cNvSpPr>
            <a:spLocks noGrp="1" noChangeArrowheads="1"/>
          </p:cNvSpPr>
          <p:nvPr>
            <p:ph type="dt" sz="half" idx="2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8957" name="Rectangle 45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8958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67964EE2-E29A-4CA2-B572-62ACB6953847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38959" name="Rectangle 47"/>
          <p:cNvSpPr>
            <a:spLocks noGrp="1" noChangeArrowheads="1"/>
          </p:cNvSpPr>
          <p:nvPr>
            <p:ph type="ctrTitle"/>
          </p:nvPr>
        </p:nvSpPr>
        <p:spPr>
          <a:xfrm>
            <a:off x="2455863" y="596900"/>
            <a:ext cx="6192837" cy="3581400"/>
          </a:xfrm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/>
          <a:lstStyle>
            <a:lvl1pPr>
              <a:defRPr sz="5200" b="1"/>
            </a:lvl1pPr>
          </a:lstStyle>
          <a:p>
            <a:pPr lvl="0"/>
            <a:r>
              <a:rPr lang="en-US" noProof="0" smtClean="0"/>
              <a:t>Click to edit Master title style</a:t>
            </a:r>
          </a:p>
        </p:txBody>
      </p:sp>
      <p:sp>
        <p:nvSpPr>
          <p:cNvPr id="38960" name="Rectangle 48"/>
          <p:cNvSpPr>
            <a:spLocks noGrp="1" noChangeArrowheads="1"/>
          </p:cNvSpPr>
          <p:nvPr>
            <p:ph type="subTitle" idx="1"/>
          </p:nvPr>
        </p:nvSpPr>
        <p:spPr>
          <a:xfrm>
            <a:off x="2489200" y="4279900"/>
            <a:ext cx="6146800" cy="1485900"/>
          </a:xfrm>
        </p:spPr>
        <p:txBody>
          <a:bodyPr/>
          <a:lstStyle>
            <a:lvl1pPr marL="0" indent="0" algn="ctr">
              <a:buFontTx/>
              <a:buNone/>
              <a:defRPr b="1">
                <a:effectLst>
                  <a:outerShdw blurRad="38100" dist="38100" dir="2700000" algn="tl">
                    <a:srgbClr val="C0C0C0"/>
                  </a:outerShdw>
                </a:effectLst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5F108D-1911-4851-977A-F139229549E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5617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E906A36-9F0A-41B5-9D2C-753590AAB2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57537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A6DB9CA-53FD-44F6-B855-6CE07ABE1FF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1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B3A696A-B6DA-465F-A0CE-7DAD4EF9BD6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41873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A93B3D-54F9-43B5-B918-C17A8C73431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50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F7817B9-0BC8-4BD8-9062-61261E588D46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588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27F216-58D6-4EFE-B1E8-03B7A3C5C20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380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8231E1-F22F-47EF-9C2D-076D5F77C0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70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E5EC9A2-77CD-48FE-98E4-C9C91618480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48514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6225" y="103188"/>
            <a:ext cx="2060575" cy="59531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2913" y="103188"/>
            <a:ext cx="6030912" cy="59531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722FF1C-85CB-4371-A1E6-68A491877E9E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4088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510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03663"/>
            <a:ext cx="4038600" cy="215265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A4E67B75-80EB-4865-AAD1-D69724CE20A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84699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ZA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ZA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A77F9D03-B225-4F6C-A623-B9910EF397B0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3506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890" name="Group 2"/>
          <p:cNvGrpSpPr>
            <a:grpSpLocks/>
          </p:cNvGrpSpPr>
          <p:nvPr/>
        </p:nvGrpSpPr>
        <p:grpSpPr bwMode="auto">
          <a:xfrm>
            <a:off x="-7938" y="0"/>
            <a:ext cx="2833688" cy="6856413"/>
            <a:chOff x="-5" y="0"/>
            <a:chExt cx="1785" cy="4319"/>
          </a:xfrm>
        </p:grpSpPr>
        <p:sp>
          <p:nvSpPr>
            <p:cNvPr id="37891" name="Freeform 3"/>
            <p:cNvSpPr>
              <a:spLocks/>
            </p:cNvSpPr>
            <p:nvPr/>
          </p:nvSpPr>
          <p:spPr bwMode="ltGray">
            <a:xfrm>
              <a:off x="-5" y="3262"/>
              <a:ext cx="472" cy="802"/>
            </a:xfrm>
            <a:custGeom>
              <a:avLst/>
              <a:gdLst>
                <a:gd name="T0" fmla="*/ 5 w 472"/>
                <a:gd name="T1" fmla="*/ 32 h 802"/>
                <a:gd name="T2" fmla="*/ 189 w 472"/>
                <a:gd name="T3" fmla="*/ 26 h 802"/>
                <a:gd name="T4" fmla="*/ 309 w 472"/>
                <a:gd name="T5" fmla="*/ 66 h 802"/>
                <a:gd name="T6" fmla="*/ 357 w 472"/>
                <a:gd name="T7" fmla="*/ 98 h 802"/>
                <a:gd name="T8" fmla="*/ 413 w 472"/>
                <a:gd name="T9" fmla="*/ 162 h 802"/>
                <a:gd name="T10" fmla="*/ 437 w 472"/>
                <a:gd name="T11" fmla="*/ 250 h 802"/>
                <a:gd name="T12" fmla="*/ 397 w 472"/>
                <a:gd name="T13" fmla="*/ 530 h 802"/>
                <a:gd name="T14" fmla="*/ 341 w 472"/>
                <a:gd name="T15" fmla="*/ 634 h 802"/>
                <a:gd name="T16" fmla="*/ 173 w 472"/>
                <a:gd name="T17" fmla="*/ 714 h 802"/>
                <a:gd name="T18" fmla="*/ 77 w 472"/>
                <a:gd name="T19" fmla="*/ 730 h 802"/>
                <a:gd name="T20" fmla="*/ 69 w 472"/>
                <a:gd name="T21" fmla="*/ 802 h 802"/>
                <a:gd name="T22" fmla="*/ 7 w 472"/>
                <a:gd name="T23" fmla="*/ 788 h 802"/>
                <a:gd name="T24" fmla="*/ 5 w 472"/>
                <a:gd name="T25" fmla="*/ 751 h 802"/>
                <a:gd name="T26" fmla="*/ 37 w 472"/>
                <a:gd name="T27" fmla="*/ 722 h 802"/>
                <a:gd name="T28" fmla="*/ 5 w 472"/>
                <a:gd name="T29" fmla="*/ 670 h 802"/>
                <a:gd name="T30" fmla="*/ 5 w 472"/>
                <a:gd name="T31" fmla="*/ 32 h 8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472" h="802">
                  <a:moveTo>
                    <a:pt x="5" y="32"/>
                  </a:moveTo>
                  <a:cubicBezTo>
                    <a:pt x="101" y="0"/>
                    <a:pt x="20" y="17"/>
                    <a:pt x="189" y="26"/>
                  </a:cubicBezTo>
                  <a:cubicBezTo>
                    <a:pt x="221" y="37"/>
                    <a:pt x="280" y="47"/>
                    <a:pt x="309" y="66"/>
                  </a:cubicBezTo>
                  <a:cubicBezTo>
                    <a:pt x="325" y="77"/>
                    <a:pt x="357" y="98"/>
                    <a:pt x="357" y="98"/>
                  </a:cubicBezTo>
                  <a:cubicBezTo>
                    <a:pt x="394" y="154"/>
                    <a:pt x="373" y="135"/>
                    <a:pt x="413" y="162"/>
                  </a:cubicBezTo>
                  <a:cubicBezTo>
                    <a:pt x="433" y="223"/>
                    <a:pt x="426" y="193"/>
                    <a:pt x="437" y="250"/>
                  </a:cubicBezTo>
                  <a:cubicBezTo>
                    <a:pt x="433" y="370"/>
                    <a:pt x="472" y="455"/>
                    <a:pt x="397" y="530"/>
                  </a:cubicBezTo>
                  <a:cubicBezTo>
                    <a:pt x="385" y="567"/>
                    <a:pt x="368" y="607"/>
                    <a:pt x="341" y="634"/>
                  </a:cubicBezTo>
                  <a:cubicBezTo>
                    <a:pt x="319" y="701"/>
                    <a:pt x="233" y="707"/>
                    <a:pt x="173" y="714"/>
                  </a:cubicBezTo>
                  <a:cubicBezTo>
                    <a:pt x="142" y="724"/>
                    <a:pt x="100" y="707"/>
                    <a:pt x="77" y="730"/>
                  </a:cubicBezTo>
                  <a:cubicBezTo>
                    <a:pt x="60" y="747"/>
                    <a:pt x="72" y="778"/>
                    <a:pt x="69" y="802"/>
                  </a:cubicBezTo>
                  <a:cubicBezTo>
                    <a:pt x="53" y="799"/>
                    <a:pt x="23" y="792"/>
                    <a:pt x="7" y="788"/>
                  </a:cubicBezTo>
                  <a:cubicBezTo>
                    <a:pt x="5" y="788"/>
                    <a:pt x="0" y="762"/>
                    <a:pt x="5" y="751"/>
                  </a:cubicBezTo>
                  <a:cubicBezTo>
                    <a:pt x="10" y="740"/>
                    <a:pt x="37" y="735"/>
                    <a:pt x="37" y="722"/>
                  </a:cubicBezTo>
                  <a:cubicBezTo>
                    <a:pt x="26" y="682"/>
                    <a:pt x="22" y="685"/>
                    <a:pt x="5" y="670"/>
                  </a:cubicBezTo>
                  <a:cubicBezTo>
                    <a:pt x="5" y="541"/>
                    <a:pt x="5" y="233"/>
                    <a:pt x="5" y="32"/>
                  </a:cubicBezTo>
                  <a:close/>
                </a:path>
              </a:pathLst>
            </a:custGeom>
            <a:solidFill>
              <a:schemeClr val="folHlink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7892" name="Group 4"/>
            <p:cNvGrpSpPr>
              <a:grpSpLocks/>
            </p:cNvGrpSpPr>
            <p:nvPr/>
          </p:nvGrpSpPr>
          <p:grpSpPr bwMode="auto">
            <a:xfrm rot="14964908" flipH="1">
              <a:off x="104" y="2441"/>
              <a:ext cx="452" cy="444"/>
              <a:chOff x="1727" y="866"/>
              <a:chExt cx="129" cy="157"/>
            </a:xfrm>
          </p:grpSpPr>
          <p:sp>
            <p:nvSpPr>
              <p:cNvPr id="37893" name="Freeform 5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4" name="Freeform 6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5" name="Freeform 7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7896" name="Freeform 8"/>
            <p:cNvSpPr>
              <a:spLocks/>
            </p:cNvSpPr>
            <p:nvPr/>
          </p:nvSpPr>
          <p:spPr bwMode="ltGray">
            <a:xfrm>
              <a:off x="90" y="1736"/>
              <a:ext cx="710" cy="768"/>
            </a:xfrm>
            <a:custGeom>
              <a:avLst/>
              <a:gdLst>
                <a:gd name="T0" fmla="*/ 14 w 710"/>
                <a:gd name="T1" fmla="*/ 416 h 768"/>
                <a:gd name="T2" fmla="*/ 14 w 710"/>
                <a:gd name="T3" fmla="*/ 272 h 768"/>
                <a:gd name="T4" fmla="*/ 102 w 710"/>
                <a:gd name="T5" fmla="*/ 144 h 768"/>
                <a:gd name="T6" fmla="*/ 150 w 710"/>
                <a:gd name="T7" fmla="*/ 96 h 768"/>
                <a:gd name="T8" fmla="*/ 198 w 710"/>
                <a:gd name="T9" fmla="*/ 64 h 768"/>
                <a:gd name="T10" fmla="*/ 350 w 710"/>
                <a:gd name="T11" fmla="*/ 0 h 768"/>
                <a:gd name="T12" fmla="*/ 534 w 710"/>
                <a:gd name="T13" fmla="*/ 8 h 768"/>
                <a:gd name="T14" fmla="*/ 662 w 710"/>
                <a:gd name="T15" fmla="*/ 96 h 768"/>
                <a:gd name="T16" fmla="*/ 710 w 710"/>
                <a:gd name="T17" fmla="*/ 200 h 768"/>
                <a:gd name="T18" fmla="*/ 702 w 710"/>
                <a:gd name="T19" fmla="*/ 400 h 768"/>
                <a:gd name="T20" fmla="*/ 678 w 710"/>
                <a:gd name="T21" fmla="*/ 448 h 768"/>
                <a:gd name="T22" fmla="*/ 550 w 710"/>
                <a:gd name="T23" fmla="*/ 632 h 768"/>
                <a:gd name="T24" fmla="*/ 518 w 710"/>
                <a:gd name="T25" fmla="*/ 656 h 768"/>
                <a:gd name="T26" fmla="*/ 470 w 710"/>
                <a:gd name="T27" fmla="*/ 664 h 768"/>
                <a:gd name="T28" fmla="*/ 518 w 710"/>
                <a:gd name="T29" fmla="*/ 680 h 768"/>
                <a:gd name="T30" fmla="*/ 566 w 710"/>
                <a:gd name="T31" fmla="*/ 696 h 768"/>
                <a:gd name="T32" fmla="*/ 574 w 710"/>
                <a:gd name="T33" fmla="*/ 720 h 768"/>
                <a:gd name="T34" fmla="*/ 526 w 710"/>
                <a:gd name="T35" fmla="*/ 736 h 768"/>
                <a:gd name="T36" fmla="*/ 502 w 710"/>
                <a:gd name="T37" fmla="*/ 752 h 768"/>
                <a:gd name="T38" fmla="*/ 454 w 710"/>
                <a:gd name="T39" fmla="*/ 768 h 768"/>
                <a:gd name="T40" fmla="*/ 438 w 710"/>
                <a:gd name="T41" fmla="*/ 712 h 768"/>
                <a:gd name="T42" fmla="*/ 246 w 710"/>
                <a:gd name="T43" fmla="*/ 688 h 768"/>
                <a:gd name="T44" fmla="*/ 134 w 710"/>
                <a:gd name="T45" fmla="*/ 648 h 768"/>
                <a:gd name="T46" fmla="*/ 110 w 710"/>
                <a:gd name="T47" fmla="*/ 624 h 768"/>
                <a:gd name="T48" fmla="*/ 78 w 710"/>
                <a:gd name="T49" fmla="*/ 576 h 768"/>
                <a:gd name="T50" fmla="*/ 54 w 710"/>
                <a:gd name="T51" fmla="*/ 464 h 768"/>
                <a:gd name="T52" fmla="*/ 30 w 710"/>
                <a:gd name="T53" fmla="*/ 408 h 768"/>
                <a:gd name="T54" fmla="*/ 22 w 710"/>
                <a:gd name="T55" fmla="*/ 384 h 768"/>
                <a:gd name="T56" fmla="*/ 14 w 710"/>
                <a:gd name="T57" fmla="*/ 416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710" h="768">
                  <a:moveTo>
                    <a:pt x="14" y="416"/>
                  </a:moveTo>
                  <a:cubicBezTo>
                    <a:pt x="6" y="353"/>
                    <a:pt x="0" y="339"/>
                    <a:pt x="14" y="272"/>
                  </a:cubicBezTo>
                  <a:cubicBezTo>
                    <a:pt x="24" y="227"/>
                    <a:pt x="72" y="178"/>
                    <a:pt x="102" y="144"/>
                  </a:cubicBezTo>
                  <a:cubicBezTo>
                    <a:pt x="117" y="127"/>
                    <a:pt x="134" y="112"/>
                    <a:pt x="150" y="96"/>
                  </a:cubicBezTo>
                  <a:cubicBezTo>
                    <a:pt x="164" y="82"/>
                    <a:pt x="198" y="64"/>
                    <a:pt x="198" y="64"/>
                  </a:cubicBezTo>
                  <a:cubicBezTo>
                    <a:pt x="231" y="14"/>
                    <a:pt x="294" y="7"/>
                    <a:pt x="350" y="0"/>
                  </a:cubicBezTo>
                  <a:cubicBezTo>
                    <a:pt x="411" y="3"/>
                    <a:pt x="473" y="1"/>
                    <a:pt x="534" y="8"/>
                  </a:cubicBezTo>
                  <a:cubicBezTo>
                    <a:pt x="582" y="13"/>
                    <a:pt x="624" y="71"/>
                    <a:pt x="662" y="96"/>
                  </a:cubicBezTo>
                  <a:cubicBezTo>
                    <a:pt x="691" y="140"/>
                    <a:pt x="698" y="151"/>
                    <a:pt x="710" y="200"/>
                  </a:cubicBezTo>
                  <a:cubicBezTo>
                    <a:pt x="707" y="267"/>
                    <a:pt x="707" y="333"/>
                    <a:pt x="702" y="400"/>
                  </a:cubicBezTo>
                  <a:cubicBezTo>
                    <a:pt x="700" y="423"/>
                    <a:pt x="688" y="428"/>
                    <a:pt x="678" y="448"/>
                  </a:cubicBezTo>
                  <a:cubicBezTo>
                    <a:pt x="646" y="512"/>
                    <a:pt x="626" y="607"/>
                    <a:pt x="550" y="632"/>
                  </a:cubicBezTo>
                  <a:cubicBezTo>
                    <a:pt x="539" y="640"/>
                    <a:pt x="530" y="651"/>
                    <a:pt x="518" y="656"/>
                  </a:cubicBezTo>
                  <a:cubicBezTo>
                    <a:pt x="503" y="662"/>
                    <a:pt x="470" y="648"/>
                    <a:pt x="470" y="664"/>
                  </a:cubicBezTo>
                  <a:cubicBezTo>
                    <a:pt x="470" y="681"/>
                    <a:pt x="502" y="675"/>
                    <a:pt x="518" y="680"/>
                  </a:cubicBezTo>
                  <a:cubicBezTo>
                    <a:pt x="534" y="685"/>
                    <a:pt x="566" y="696"/>
                    <a:pt x="566" y="696"/>
                  </a:cubicBezTo>
                  <a:cubicBezTo>
                    <a:pt x="569" y="704"/>
                    <a:pt x="580" y="714"/>
                    <a:pt x="574" y="720"/>
                  </a:cubicBezTo>
                  <a:cubicBezTo>
                    <a:pt x="562" y="732"/>
                    <a:pt x="542" y="731"/>
                    <a:pt x="526" y="736"/>
                  </a:cubicBezTo>
                  <a:cubicBezTo>
                    <a:pt x="517" y="739"/>
                    <a:pt x="511" y="748"/>
                    <a:pt x="502" y="752"/>
                  </a:cubicBezTo>
                  <a:cubicBezTo>
                    <a:pt x="487" y="759"/>
                    <a:pt x="454" y="768"/>
                    <a:pt x="454" y="768"/>
                  </a:cubicBezTo>
                  <a:cubicBezTo>
                    <a:pt x="448" y="750"/>
                    <a:pt x="453" y="725"/>
                    <a:pt x="438" y="712"/>
                  </a:cubicBezTo>
                  <a:cubicBezTo>
                    <a:pt x="407" y="685"/>
                    <a:pt x="256" y="689"/>
                    <a:pt x="246" y="688"/>
                  </a:cubicBezTo>
                  <a:cubicBezTo>
                    <a:pt x="207" y="680"/>
                    <a:pt x="166" y="674"/>
                    <a:pt x="134" y="648"/>
                  </a:cubicBezTo>
                  <a:cubicBezTo>
                    <a:pt x="125" y="641"/>
                    <a:pt x="117" y="633"/>
                    <a:pt x="110" y="624"/>
                  </a:cubicBezTo>
                  <a:cubicBezTo>
                    <a:pt x="98" y="609"/>
                    <a:pt x="78" y="576"/>
                    <a:pt x="78" y="576"/>
                  </a:cubicBezTo>
                  <a:cubicBezTo>
                    <a:pt x="66" y="506"/>
                    <a:pt x="74" y="544"/>
                    <a:pt x="54" y="464"/>
                  </a:cubicBezTo>
                  <a:cubicBezTo>
                    <a:pt x="37" y="397"/>
                    <a:pt x="58" y="463"/>
                    <a:pt x="30" y="408"/>
                  </a:cubicBezTo>
                  <a:cubicBezTo>
                    <a:pt x="26" y="400"/>
                    <a:pt x="30" y="380"/>
                    <a:pt x="22" y="384"/>
                  </a:cubicBezTo>
                  <a:cubicBezTo>
                    <a:pt x="12" y="389"/>
                    <a:pt x="17" y="405"/>
                    <a:pt x="14" y="416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grpSp>
          <p:nvGrpSpPr>
            <p:cNvPr id="37897" name="Group 9"/>
            <p:cNvGrpSpPr>
              <a:grpSpLocks/>
            </p:cNvGrpSpPr>
            <p:nvPr/>
          </p:nvGrpSpPr>
          <p:grpSpPr bwMode="auto">
            <a:xfrm rot="416244">
              <a:off x="9" y="1746"/>
              <a:ext cx="1771" cy="1741"/>
              <a:chOff x="41" y="2787"/>
              <a:chExt cx="902" cy="833"/>
            </a:xfrm>
          </p:grpSpPr>
          <p:sp>
            <p:nvSpPr>
              <p:cNvPr id="37898" name="Freeform 10"/>
              <p:cNvSpPr>
                <a:spLocks/>
              </p:cNvSpPr>
              <p:nvPr userDrawn="1"/>
            </p:nvSpPr>
            <p:spPr bwMode="ltGray">
              <a:xfrm rot="373331" flipH="1">
                <a:off x="125" y="2787"/>
                <a:ext cx="313" cy="303"/>
              </a:xfrm>
              <a:custGeom>
                <a:avLst/>
                <a:gdLst>
                  <a:gd name="T0" fmla="*/ 46 w 217"/>
                  <a:gd name="T1" fmla="*/ 210 h 210"/>
                  <a:gd name="T2" fmla="*/ 37 w 217"/>
                  <a:gd name="T3" fmla="*/ 198 h 210"/>
                  <a:gd name="T4" fmla="*/ 26 w 217"/>
                  <a:gd name="T5" fmla="*/ 181 h 210"/>
                  <a:gd name="T6" fmla="*/ 15 w 217"/>
                  <a:gd name="T7" fmla="*/ 159 h 210"/>
                  <a:gd name="T8" fmla="*/ 5 w 217"/>
                  <a:gd name="T9" fmla="*/ 135 h 210"/>
                  <a:gd name="T10" fmla="*/ 0 w 217"/>
                  <a:gd name="T11" fmla="*/ 109 h 210"/>
                  <a:gd name="T12" fmla="*/ 1 w 217"/>
                  <a:gd name="T13" fmla="*/ 82 h 210"/>
                  <a:gd name="T14" fmla="*/ 9 w 217"/>
                  <a:gd name="T15" fmla="*/ 57 h 210"/>
                  <a:gd name="T16" fmla="*/ 27 w 217"/>
                  <a:gd name="T17" fmla="*/ 35 h 210"/>
                  <a:gd name="T18" fmla="*/ 45 w 217"/>
                  <a:gd name="T19" fmla="*/ 22 h 210"/>
                  <a:gd name="T20" fmla="*/ 60 w 217"/>
                  <a:gd name="T21" fmla="*/ 12 h 210"/>
                  <a:gd name="T22" fmla="*/ 72 w 217"/>
                  <a:gd name="T23" fmla="*/ 7 h 210"/>
                  <a:gd name="T24" fmla="*/ 81 w 217"/>
                  <a:gd name="T25" fmla="*/ 5 h 210"/>
                  <a:gd name="T26" fmla="*/ 88 w 217"/>
                  <a:gd name="T27" fmla="*/ 5 h 210"/>
                  <a:gd name="T28" fmla="*/ 104 w 217"/>
                  <a:gd name="T29" fmla="*/ 0 h 210"/>
                  <a:gd name="T30" fmla="*/ 148 w 217"/>
                  <a:gd name="T31" fmla="*/ 8 h 210"/>
                  <a:gd name="T32" fmla="*/ 160 w 217"/>
                  <a:gd name="T33" fmla="*/ 12 h 210"/>
                  <a:gd name="T34" fmla="*/ 172 w 217"/>
                  <a:gd name="T35" fmla="*/ 15 h 210"/>
                  <a:gd name="T36" fmla="*/ 182 w 217"/>
                  <a:gd name="T37" fmla="*/ 19 h 210"/>
                  <a:gd name="T38" fmla="*/ 190 w 217"/>
                  <a:gd name="T39" fmla="*/ 23 h 210"/>
                  <a:gd name="T40" fmla="*/ 198 w 217"/>
                  <a:gd name="T41" fmla="*/ 27 h 210"/>
                  <a:gd name="T42" fmla="*/ 205 w 217"/>
                  <a:gd name="T43" fmla="*/ 32 h 210"/>
                  <a:gd name="T44" fmla="*/ 211 w 217"/>
                  <a:gd name="T45" fmla="*/ 38 h 210"/>
                  <a:gd name="T46" fmla="*/ 217 w 217"/>
                  <a:gd name="T47" fmla="*/ 45 h 210"/>
                  <a:gd name="T48" fmla="*/ 205 w 217"/>
                  <a:gd name="T49" fmla="*/ 40 h 210"/>
                  <a:gd name="T50" fmla="*/ 194 w 217"/>
                  <a:gd name="T51" fmla="*/ 36 h 210"/>
                  <a:gd name="T52" fmla="*/ 183 w 217"/>
                  <a:gd name="T53" fmla="*/ 33 h 210"/>
                  <a:gd name="T54" fmla="*/ 172 w 217"/>
                  <a:gd name="T55" fmla="*/ 30 h 210"/>
                  <a:gd name="T56" fmla="*/ 163 w 217"/>
                  <a:gd name="T57" fmla="*/ 27 h 210"/>
                  <a:gd name="T58" fmla="*/ 153 w 217"/>
                  <a:gd name="T59" fmla="*/ 26 h 210"/>
                  <a:gd name="T60" fmla="*/ 143 w 217"/>
                  <a:gd name="T61" fmla="*/ 24 h 210"/>
                  <a:gd name="T62" fmla="*/ 134 w 217"/>
                  <a:gd name="T63" fmla="*/ 24 h 210"/>
                  <a:gd name="T64" fmla="*/ 125 w 217"/>
                  <a:gd name="T65" fmla="*/ 24 h 210"/>
                  <a:gd name="T66" fmla="*/ 116 w 217"/>
                  <a:gd name="T67" fmla="*/ 25 h 210"/>
                  <a:gd name="T68" fmla="*/ 107 w 217"/>
                  <a:gd name="T69" fmla="*/ 27 h 210"/>
                  <a:gd name="T70" fmla="*/ 99 w 217"/>
                  <a:gd name="T71" fmla="*/ 29 h 210"/>
                  <a:gd name="T72" fmla="*/ 91 w 217"/>
                  <a:gd name="T73" fmla="*/ 33 h 210"/>
                  <a:gd name="T74" fmla="*/ 82 w 217"/>
                  <a:gd name="T75" fmla="*/ 36 h 210"/>
                  <a:gd name="T76" fmla="*/ 74 w 217"/>
                  <a:gd name="T77" fmla="*/ 41 h 210"/>
                  <a:gd name="T78" fmla="*/ 66 w 217"/>
                  <a:gd name="T79" fmla="*/ 46 h 210"/>
                  <a:gd name="T80" fmla="*/ 52 w 217"/>
                  <a:gd name="T81" fmla="*/ 61 h 210"/>
                  <a:gd name="T82" fmla="*/ 42 w 217"/>
                  <a:gd name="T83" fmla="*/ 80 h 210"/>
                  <a:gd name="T84" fmla="*/ 37 w 217"/>
                  <a:gd name="T85" fmla="*/ 103 h 210"/>
                  <a:gd name="T86" fmla="*/ 35 w 217"/>
                  <a:gd name="T87" fmla="*/ 126 h 210"/>
                  <a:gd name="T88" fmla="*/ 35 w 217"/>
                  <a:gd name="T89" fmla="*/ 151 h 210"/>
                  <a:gd name="T90" fmla="*/ 38 w 217"/>
                  <a:gd name="T91" fmla="*/ 174 h 210"/>
                  <a:gd name="T92" fmla="*/ 41 w 217"/>
                  <a:gd name="T93" fmla="*/ 194 h 210"/>
                  <a:gd name="T94" fmla="*/ 46 w 217"/>
                  <a:gd name="T95" fmla="*/ 210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</a:cxnLst>
                <a:rect l="0" t="0" r="r" b="b"/>
                <a:pathLst>
                  <a:path w="217" h="210">
                    <a:moveTo>
                      <a:pt x="46" y="210"/>
                    </a:moveTo>
                    <a:lnTo>
                      <a:pt x="37" y="198"/>
                    </a:lnTo>
                    <a:lnTo>
                      <a:pt x="26" y="181"/>
                    </a:lnTo>
                    <a:lnTo>
                      <a:pt x="15" y="159"/>
                    </a:lnTo>
                    <a:lnTo>
                      <a:pt x="5" y="135"/>
                    </a:lnTo>
                    <a:lnTo>
                      <a:pt x="0" y="109"/>
                    </a:lnTo>
                    <a:lnTo>
                      <a:pt x="1" y="82"/>
                    </a:lnTo>
                    <a:lnTo>
                      <a:pt x="9" y="57"/>
                    </a:lnTo>
                    <a:lnTo>
                      <a:pt x="27" y="35"/>
                    </a:lnTo>
                    <a:lnTo>
                      <a:pt x="45" y="22"/>
                    </a:lnTo>
                    <a:lnTo>
                      <a:pt x="60" y="12"/>
                    </a:lnTo>
                    <a:lnTo>
                      <a:pt x="72" y="7"/>
                    </a:lnTo>
                    <a:lnTo>
                      <a:pt x="81" y="5"/>
                    </a:lnTo>
                    <a:lnTo>
                      <a:pt x="88" y="5"/>
                    </a:lnTo>
                    <a:lnTo>
                      <a:pt x="104" y="0"/>
                    </a:lnTo>
                    <a:lnTo>
                      <a:pt x="148" y="8"/>
                    </a:lnTo>
                    <a:lnTo>
                      <a:pt x="160" y="12"/>
                    </a:lnTo>
                    <a:lnTo>
                      <a:pt x="172" y="15"/>
                    </a:lnTo>
                    <a:lnTo>
                      <a:pt x="182" y="19"/>
                    </a:lnTo>
                    <a:lnTo>
                      <a:pt x="190" y="23"/>
                    </a:lnTo>
                    <a:lnTo>
                      <a:pt x="198" y="27"/>
                    </a:lnTo>
                    <a:lnTo>
                      <a:pt x="205" y="32"/>
                    </a:lnTo>
                    <a:lnTo>
                      <a:pt x="211" y="38"/>
                    </a:lnTo>
                    <a:lnTo>
                      <a:pt x="217" y="45"/>
                    </a:lnTo>
                    <a:lnTo>
                      <a:pt x="205" y="40"/>
                    </a:lnTo>
                    <a:lnTo>
                      <a:pt x="194" y="36"/>
                    </a:lnTo>
                    <a:lnTo>
                      <a:pt x="183" y="33"/>
                    </a:lnTo>
                    <a:lnTo>
                      <a:pt x="172" y="30"/>
                    </a:lnTo>
                    <a:lnTo>
                      <a:pt x="163" y="27"/>
                    </a:lnTo>
                    <a:lnTo>
                      <a:pt x="153" y="26"/>
                    </a:lnTo>
                    <a:lnTo>
                      <a:pt x="143" y="24"/>
                    </a:lnTo>
                    <a:lnTo>
                      <a:pt x="134" y="24"/>
                    </a:lnTo>
                    <a:lnTo>
                      <a:pt x="125" y="24"/>
                    </a:lnTo>
                    <a:lnTo>
                      <a:pt x="116" y="25"/>
                    </a:lnTo>
                    <a:lnTo>
                      <a:pt x="107" y="27"/>
                    </a:lnTo>
                    <a:lnTo>
                      <a:pt x="99" y="29"/>
                    </a:lnTo>
                    <a:lnTo>
                      <a:pt x="91" y="33"/>
                    </a:lnTo>
                    <a:lnTo>
                      <a:pt x="82" y="36"/>
                    </a:lnTo>
                    <a:lnTo>
                      <a:pt x="74" y="41"/>
                    </a:lnTo>
                    <a:lnTo>
                      <a:pt x="66" y="46"/>
                    </a:lnTo>
                    <a:lnTo>
                      <a:pt x="52" y="61"/>
                    </a:lnTo>
                    <a:lnTo>
                      <a:pt x="42" y="80"/>
                    </a:lnTo>
                    <a:lnTo>
                      <a:pt x="37" y="103"/>
                    </a:lnTo>
                    <a:lnTo>
                      <a:pt x="35" y="126"/>
                    </a:lnTo>
                    <a:lnTo>
                      <a:pt x="35" y="151"/>
                    </a:lnTo>
                    <a:lnTo>
                      <a:pt x="38" y="174"/>
                    </a:lnTo>
                    <a:lnTo>
                      <a:pt x="41" y="194"/>
                    </a:lnTo>
                    <a:lnTo>
                      <a:pt x="46" y="21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899" name="Freeform 11"/>
              <p:cNvSpPr>
                <a:spLocks/>
              </p:cNvSpPr>
              <p:nvPr userDrawn="1"/>
            </p:nvSpPr>
            <p:spPr bwMode="ltGray">
              <a:xfrm rot="373331" flipH="1">
                <a:off x="41" y="2843"/>
                <a:ext cx="262" cy="308"/>
              </a:xfrm>
              <a:custGeom>
                <a:avLst/>
                <a:gdLst>
                  <a:gd name="T0" fmla="*/ 109 w 182"/>
                  <a:gd name="T1" fmla="*/ 0 h 213"/>
                  <a:gd name="T2" fmla="*/ 112 w 182"/>
                  <a:gd name="T3" fmla="*/ 2 h 213"/>
                  <a:gd name="T4" fmla="*/ 118 w 182"/>
                  <a:gd name="T5" fmla="*/ 8 h 213"/>
                  <a:gd name="T6" fmla="*/ 127 w 182"/>
                  <a:gd name="T7" fmla="*/ 18 h 213"/>
                  <a:gd name="T8" fmla="*/ 137 w 182"/>
                  <a:gd name="T9" fmla="*/ 33 h 213"/>
                  <a:gd name="T10" fmla="*/ 145 w 182"/>
                  <a:gd name="T11" fmla="*/ 52 h 213"/>
                  <a:gd name="T12" fmla="*/ 150 w 182"/>
                  <a:gd name="T13" fmla="*/ 76 h 213"/>
                  <a:gd name="T14" fmla="*/ 150 w 182"/>
                  <a:gd name="T15" fmla="*/ 105 h 213"/>
                  <a:gd name="T16" fmla="*/ 144 w 182"/>
                  <a:gd name="T17" fmla="*/ 139 h 213"/>
                  <a:gd name="T18" fmla="*/ 140 w 182"/>
                  <a:gd name="T19" fmla="*/ 149 h 213"/>
                  <a:gd name="T20" fmla="*/ 136 w 182"/>
                  <a:gd name="T21" fmla="*/ 157 h 213"/>
                  <a:gd name="T22" fmla="*/ 131 w 182"/>
                  <a:gd name="T23" fmla="*/ 165 h 213"/>
                  <a:gd name="T24" fmla="*/ 125 w 182"/>
                  <a:gd name="T25" fmla="*/ 173 h 213"/>
                  <a:gd name="T26" fmla="*/ 117 w 182"/>
                  <a:gd name="T27" fmla="*/ 180 h 213"/>
                  <a:gd name="T28" fmla="*/ 110 w 182"/>
                  <a:gd name="T29" fmla="*/ 185 h 213"/>
                  <a:gd name="T30" fmla="*/ 102 w 182"/>
                  <a:gd name="T31" fmla="*/ 191 h 213"/>
                  <a:gd name="T32" fmla="*/ 92 w 182"/>
                  <a:gd name="T33" fmla="*/ 195 h 213"/>
                  <a:gd name="T34" fmla="*/ 82 w 182"/>
                  <a:gd name="T35" fmla="*/ 197 h 213"/>
                  <a:gd name="T36" fmla="*/ 72 w 182"/>
                  <a:gd name="T37" fmla="*/ 200 h 213"/>
                  <a:gd name="T38" fmla="*/ 61 w 182"/>
                  <a:gd name="T39" fmla="*/ 201 h 213"/>
                  <a:gd name="T40" fmla="*/ 49 w 182"/>
                  <a:gd name="T41" fmla="*/ 201 h 213"/>
                  <a:gd name="T42" fmla="*/ 37 w 182"/>
                  <a:gd name="T43" fmla="*/ 200 h 213"/>
                  <a:gd name="T44" fmla="*/ 25 w 182"/>
                  <a:gd name="T45" fmla="*/ 197 h 213"/>
                  <a:gd name="T46" fmla="*/ 12 w 182"/>
                  <a:gd name="T47" fmla="*/ 193 h 213"/>
                  <a:gd name="T48" fmla="*/ 0 w 182"/>
                  <a:gd name="T49" fmla="*/ 188 h 213"/>
                  <a:gd name="T50" fmla="*/ 11 w 182"/>
                  <a:gd name="T51" fmla="*/ 195 h 213"/>
                  <a:gd name="T52" fmla="*/ 22 w 182"/>
                  <a:gd name="T53" fmla="*/ 200 h 213"/>
                  <a:gd name="T54" fmla="*/ 33 w 182"/>
                  <a:gd name="T55" fmla="*/ 205 h 213"/>
                  <a:gd name="T56" fmla="*/ 43 w 182"/>
                  <a:gd name="T57" fmla="*/ 208 h 213"/>
                  <a:gd name="T58" fmla="*/ 53 w 182"/>
                  <a:gd name="T59" fmla="*/ 211 h 213"/>
                  <a:gd name="T60" fmla="*/ 63 w 182"/>
                  <a:gd name="T61" fmla="*/ 212 h 213"/>
                  <a:gd name="T62" fmla="*/ 73 w 182"/>
                  <a:gd name="T63" fmla="*/ 213 h 213"/>
                  <a:gd name="T64" fmla="*/ 83 w 182"/>
                  <a:gd name="T65" fmla="*/ 213 h 213"/>
                  <a:gd name="T66" fmla="*/ 91 w 182"/>
                  <a:gd name="T67" fmla="*/ 212 h 213"/>
                  <a:gd name="T68" fmla="*/ 100 w 182"/>
                  <a:gd name="T69" fmla="*/ 210 h 213"/>
                  <a:gd name="T70" fmla="*/ 108 w 182"/>
                  <a:gd name="T71" fmla="*/ 208 h 213"/>
                  <a:gd name="T72" fmla="*/ 116 w 182"/>
                  <a:gd name="T73" fmla="*/ 206 h 213"/>
                  <a:gd name="T74" fmla="*/ 123 w 182"/>
                  <a:gd name="T75" fmla="*/ 203 h 213"/>
                  <a:gd name="T76" fmla="*/ 130 w 182"/>
                  <a:gd name="T77" fmla="*/ 199 h 213"/>
                  <a:gd name="T78" fmla="*/ 136 w 182"/>
                  <a:gd name="T79" fmla="*/ 195 h 213"/>
                  <a:gd name="T80" fmla="*/ 142 w 182"/>
                  <a:gd name="T81" fmla="*/ 191 h 213"/>
                  <a:gd name="T82" fmla="*/ 158 w 182"/>
                  <a:gd name="T83" fmla="*/ 176 h 213"/>
                  <a:gd name="T84" fmla="*/ 169 w 182"/>
                  <a:gd name="T85" fmla="*/ 161 h 213"/>
                  <a:gd name="T86" fmla="*/ 176 w 182"/>
                  <a:gd name="T87" fmla="*/ 144 h 213"/>
                  <a:gd name="T88" fmla="*/ 179 w 182"/>
                  <a:gd name="T89" fmla="*/ 128 h 213"/>
                  <a:gd name="T90" fmla="*/ 181 w 182"/>
                  <a:gd name="T91" fmla="*/ 111 h 213"/>
                  <a:gd name="T92" fmla="*/ 181 w 182"/>
                  <a:gd name="T93" fmla="*/ 95 h 213"/>
                  <a:gd name="T94" fmla="*/ 182 w 182"/>
                  <a:gd name="T95" fmla="*/ 79 h 213"/>
                  <a:gd name="T96" fmla="*/ 173 w 182"/>
                  <a:gd name="T97" fmla="*/ 46 h 213"/>
                  <a:gd name="T98" fmla="*/ 156 w 182"/>
                  <a:gd name="T99" fmla="*/ 21 h 213"/>
                  <a:gd name="T100" fmla="*/ 151 w 182"/>
                  <a:gd name="T101" fmla="*/ 18 h 213"/>
                  <a:gd name="T102" fmla="*/ 147 w 182"/>
                  <a:gd name="T103" fmla="*/ 15 h 213"/>
                  <a:gd name="T104" fmla="*/ 142 w 182"/>
                  <a:gd name="T105" fmla="*/ 13 h 213"/>
                  <a:gd name="T106" fmla="*/ 138 w 182"/>
                  <a:gd name="T107" fmla="*/ 11 h 213"/>
                  <a:gd name="T108" fmla="*/ 132 w 182"/>
                  <a:gd name="T109" fmla="*/ 9 h 213"/>
                  <a:gd name="T110" fmla="*/ 126 w 182"/>
                  <a:gd name="T111" fmla="*/ 6 h 213"/>
                  <a:gd name="T112" fmla="*/ 119 w 182"/>
                  <a:gd name="T113" fmla="*/ 3 h 213"/>
                  <a:gd name="T114" fmla="*/ 109 w 182"/>
                  <a:gd name="T115" fmla="*/ 0 h 2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</a:cxnLst>
                <a:rect l="0" t="0" r="r" b="b"/>
                <a:pathLst>
                  <a:path w="182" h="213">
                    <a:moveTo>
                      <a:pt x="109" y="0"/>
                    </a:moveTo>
                    <a:lnTo>
                      <a:pt x="112" y="2"/>
                    </a:lnTo>
                    <a:lnTo>
                      <a:pt x="118" y="8"/>
                    </a:lnTo>
                    <a:lnTo>
                      <a:pt x="127" y="18"/>
                    </a:lnTo>
                    <a:lnTo>
                      <a:pt x="137" y="33"/>
                    </a:lnTo>
                    <a:lnTo>
                      <a:pt x="145" y="52"/>
                    </a:lnTo>
                    <a:lnTo>
                      <a:pt x="150" y="76"/>
                    </a:lnTo>
                    <a:lnTo>
                      <a:pt x="150" y="105"/>
                    </a:lnTo>
                    <a:lnTo>
                      <a:pt x="144" y="139"/>
                    </a:lnTo>
                    <a:lnTo>
                      <a:pt x="140" y="149"/>
                    </a:lnTo>
                    <a:lnTo>
                      <a:pt x="136" y="157"/>
                    </a:lnTo>
                    <a:lnTo>
                      <a:pt x="131" y="165"/>
                    </a:lnTo>
                    <a:lnTo>
                      <a:pt x="125" y="173"/>
                    </a:lnTo>
                    <a:lnTo>
                      <a:pt x="117" y="180"/>
                    </a:lnTo>
                    <a:lnTo>
                      <a:pt x="110" y="185"/>
                    </a:lnTo>
                    <a:lnTo>
                      <a:pt x="102" y="191"/>
                    </a:lnTo>
                    <a:lnTo>
                      <a:pt x="92" y="195"/>
                    </a:lnTo>
                    <a:lnTo>
                      <a:pt x="82" y="197"/>
                    </a:lnTo>
                    <a:lnTo>
                      <a:pt x="72" y="200"/>
                    </a:lnTo>
                    <a:lnTo>
                      <a:pt x="61" y="201"/>
                    </a:lnTo>
                    <a:lnTo>
                      <a:pt x="49" y="201"/>
                    </a:lnTo>
                    <a:lnTo>
                      <a:pt x="37" y="200"/>
                    </a:lnTo>
                    <a:lnTo>
                      <a:pt x="25" y="197"/>
                    </a:lnTo>
                    <a:lnTo>
                      <a:pt x="12" y="193"/>
                    </a:lnTo>
                    <a:lnTo>
                      <a:pt x="0" y="188"/>
                    </a:lnTo>
                    <a:lnTo>
                      <a:pt x="11" y="195"/>
                    </a:lnTo>
                    <a:lnTo>
                      <a:pt x="22" y="200"/>
                    </a:lnTo>
                    <a:lnTo>
                      <a:pt x="33" y="205"/>
                    </a:lnTo>
                    <a:lnTo>
                      <a:pt x="43" y="208"/>
                    </a:lnTo>
                    <a:lnTo>
                      <a:pt x="53" y="211"/>
                    </a:lnTo>
                    <a:lnTo>
                      <a:pt x="63" y="212"/>
                    </a:lnTo>
                    <a:lnTo>
                      <a:pt x="73" y="213"/>
                    </a:lnTo>
                    <a:lnTo>
                      <a:pt x="83" y="213"/>
                    </a:lnTo>
                    <a:lnTo>
                      <a:pt x="91" y="212"/>
                    </a:lnTo>
                    <a:lnTo>
                      <a:pt x="100" y="210"/>
                    </a:lnTo>
                    <a:lnTo>
                      <a:pt x="108" y="208"/>
                    </a:lnTo>
                    <a:lnTo>
                      <a:pt x="116" y="206"/>
                    </a:lnTo>
                    <a:lnTo>
                      <a:pt x="123" y="203"/>
                    </a:lnTo>
                    <a:lnTo>
                      <a:pt x="130" y="199"/>
                    </a:lnTo>
                    <a:lnTo>
                      <a:pt x="136" y="195"/>
                    </a:lnTo>
                    <a:lnTo>
                      <a:pt x="142" y="191"/>
                    </a:lnTo>
                    <a:lnTo>
                      <a:pt x="158" y="176"/>
                    </a:lnTo>
                    <a:lnTo>
                      <a:pt x="169" y="161"/>
                    </a:lnTo>
                    <a:lnTo>
                      <a:pt x="176" y="144"/>
                    </a:lnTo>
                    <a:lnTo>
                      <a:pt x="179" y="128"/>
                    </a:lnTo>
                    <a:lnTo>
                      <a:pt x="181" y="111"/>
                    </a:lnTo>
                    <a:lnTo>
                      <a:pt x="181" y="95"/>
                    </a:lnTo>
                    <a:lnTo>
                      <a:pt x="182" y="79"/>
                    </a:lnTo>
                    <a:lnTo>
                      <a:pt x="173" y="46"/>
                    </a:lnTo>
                    <a:lnTo>
                      <a:pt x="156" y="21"/>
                    </a:lnTo>
                    <a:lnTo>
                      <a:pt x="151" y="18"/>
                    </a:lnTo>
                    <a:lnTo>
                      <a:pt x="147" y="15"/>
                    </a:lnTo>
                    <a:lnTo>
                      <a:pt x="142" y="13"/>
                    </a:lnTo>
                    <a:lnTo>
                      <a:pt x="138" y="11"/>
                    </a:lnTo>
                    <a:lnTo>
                      <a:pt x="132" y="9"/>
                    </a:lnTo>
                    <a:lnTo>
                      <a:pt x="126" y="6"/>
                    </a:lnTo>
                    <a:lnTo>
                      <a:pt x="119" y="3"/>
                    </a:lnTo>
                    <a:lnTo>
                      <a:pt x="10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0" name="Freeform 12"/>
              <p:cNvSpPr>
                <a:spLocks/>
              </p:cNvSpPr>
              <p:nvPr userDrawn="1"/>
            </p:nvSpPr>
            <p:spPr bwMode="ltGray">
              <a:xfrm rot="373331" flipH="1">
                <a:off x="121" y="2907"/>
                <a:ext cx="93" cy="156"/>
              </a:xfrm>
              <a:custGeom>
                <a:avLst/>
                <a:gdLst>
                  <a:gd name="T0" fmla="*/ 94 w 128"/>
                  <a:gd name="T1" fmla="*/ 0 h 217"/>
                  <a:gd name="T2" fmla="*/ 105 w 128"/>
                  <a:gd name="T3" fmla="*/ 9 h 217"/>
                  <a:gd name="T4" fmla="*/ 115 w 128"/>
                  <a:gd name="T5" fmla="*/ 27 h 217"/>
                  <a:gd name="T6" fmla="*/ 123 w 128"/>
                  <a:gd name="T7" fmla="*/ 50 h 217"/>
                  <a:gd name="T8" fmla="*/ 128 w 128"/>
                  <a:gd name="T9" fmla="*/ 78 h 217"/>
                  <a:gd name="T10" fmla="*/ 127 w 128"/>
                  <a:gd name="T11" fmla="*/ 111 h 217"/>
                  <a:gd name="T12" fmla="*/ 116 w 128"/>
                  <a:gd name="T13" fmla="*/ 145 h 217"/>
                  <a:gd name="T14" fmla="*/ 94 w 128"/>
                  <a:gd name="T15" fmla="*/ 181 h 217"/>
                  <a:gd name="T16" fmla="*/ 60 w 128"/>
                  <a:gd name="T17" fmla="*/ 217 h 217"/>
                  <a:gd name="T18" fmla="*/ 49 w 128"/>
                  <a:gd name="T19" fmla="*/ 213 h 217"/>
                  <a:gd name="T20" fmla="*/ 38 w 128"/>
                  <a:gd name="T21" fmla="*/ 210 h 217"/>
                  <a:gd name="T22" fmla="*/ 26 w 128"/>
                  <a:gd name="T23" fmla="*/ 205 h 217"/>
                  <a:gd name="T24" fmla="*/ 16 w 128"/>
                  <a:gd name="T25" fmla="*/ 201 h 217"/>
                  <a:gd name="T26" fmla="*/ 8 w 128"/>
                  <a:gd name="T27" fmla="*/ 196 h 217"/>
                  <a:gd name="T28" fmla="*/ 2 w 128"/>
                  <a:gd name="T29" fmla="*/ 190 h 217"/>
                  <a:gd name="T30" fmla="*/ 0 w 128"/>
                  <a:gd name="T31" fmla="*/ 183 h 217"/>
                  <a:gd name="T32" fmla="*/ 1 w 128"/>
                  <a:gd name="T33" fmla="*/ 178 h 217"/>
                  <a:gd name="T34" fmla="*/ 13 w 128"/>
                  <a:gd name="T35" fmla="*/ 171 h 217"/>
                  <a:gd name="T36" fmla="*/ 29 w 128"/>
                  <a:gd name="T37" fmla="*/ 161 h 217"/>
                  <a:gd name="T38" fmla="*/ 46 w 128"/>
                  <a:gd name="T39" fmla="*/ 150 h 217"/>
                  <a:gd name="T40" fmla="*/ 63 w 128"/>
                  <a:gd name="T41" fmla="*/ 134 h 217"/>
                  <a:gd name="T42" fmla="*/ 79 w 128"/>
                  <a:gd name="T43" fmla="*/ 112 h 217"/>
                  <a:gd name="T44" fmla="*/ 91 w 128"/>
                  <a:gd name="T45" fmla="*/ 83 h 217"/>
                  <a:gd name="T46" fmla="*/ 97 w 128"/>
                  <a:gd name="T47" fmla="*/ 46 h 217"/>
                  <a:gd name="T48" fmla="*/ 94 w 128"/>
                  <a:gd name="T49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</a:cxnLst>
                <a:rect l="0" t="0" r="r" b="b"/>
                <a:pathLst>
                  <a:path w="128" h="217">
                    <a:moveTo>
                      <a:pt x="94" y="0"/>
                    </a:moveTo>
                    <a:lnTo>
                      <a:pt x="105" y="9"/>
                    </a:lnTo>
                    <a:lnTo>
                      <a:pt x="115" y="27"/>
                    </a:lnTo>
                    <a:lnTo>
                      <a:pt x="123" y="50"/>
                    </a:lnTo>
                    <a:lnTo>
                      <a:pt x="128" y="78"/>
                    </a:lnTo>
                    <a:lnTo>
                      <a:pt x="127" y="111"/>
                    </a:lnTo>
                    <a:lnTo>
                      <a:pt x="116" y="145"/>
                    </a:lnTo>
                    <a:lnTo>
                      <a:pt x="94" y="181"/>
                    </a:lnTo>
                    <a:lnTo>
                      <a:pt x="60" y="217"/>
                    </a:lnTo>
                    <a:lnTo>
                      <a:pt x="49" y="213"/>
                    </a:lnTo>
                    <a:lnTo>
                      <a:pt x="38" y="210"/>
                    </a:lnTo>
                    <a:lnTo>
                      <a:pt x="26" y="205"/>
                    </a:lnTo>
                    <a:lnTo>
                      <a:pt x="16" y="201"/>
                    </a:lnTo>
                    <a:lnTo>
                      <a:pt x="8" y="196"/>
                    </a:lnTo>
                    <a:lnTo>
                      <a:pt x="2" y="190"/>
                    </a:lnTo>
                    <a:lnTo>
                      <a:pt x="0" y="183"/>
                    </a:lnTo>
                    <a:lnTo>
                      <a:pt x="1" y="178"/>
                    </a:lnTo>
                    <a:lnTo>
                      <a:pt x="13" y="171"/>
                    </a:lnTo>
                    <a:lnTo>
                      <a:pt x="29" y="161"/>
                    </a:lnTo>
                    <a:lnTo>
                      <a:pt x="46" y="150"/>
                    </a:lnTo>
                    <a:lnTo>
                      <a:pt x="63" y="134"/>
                    </a:lnTo>
                    <a:lnTo>
                      <a:pt x="79" y="112"/>
                    </a:lnTo>
                    <a:lnTo>
                      <a:pt x="91" y="83"/>
                    </a:lnTo>
                    <a:lnTo>
                      <a:pt x="97" y="46"/>
                    </a:lnTo>
                    <a:lnTo>
                      <a:pt x="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1" name="Freeform 13"/>
              <p:cNvSpPr>
                <a:spLocks/>
              </p:cNvSpPr>
              <p:nvPr userDrawn="1"/>
            </p:nvSpPr>
            <p:spPr bwMode="ltGray">
              <a:xfrm rot="373331" flipH="1">
                <a:off x="313" y="3110"/>
                <a:ext cx="85" cy="93"/>
              </a:xfrm>
              <a:custGeom>
                <a:avLst/>
                <a:gdLst>
                  <a:gd name="T0" fmla="*/ 75 w 117"/>
                  <a:gd name="T1" fmla="*/ 0 h 132"/>
                  <a:gd name="T2" fmla="*/ 0 w 117"/>
                  <a:gd name="T3" fmla="*/ 25 h 132"/>
                  <a:gd name="T4" fmla="*/ 3 w 117"/>
                  <a:gd name="T5" fmla="*/ 26 h 132"/>
                  <a:gd name="T6" fmla="*/ 14 w 117"/>
                  <a:gd name="T7" fmla="*/ 29 h 132"/>
                  <a:gd name="T8" fmla="*/ 29 w 117"/>
                  <a:gd name="T9" fmla="*/ 36 h 132"/>
                  <a:gd name="T10" fmla="*/ 46 w 117"/>
                  <a:gd name="T11" fmla="*/ 47 h 132"/>
                  <a:gd name="T12" fmla="*/ 66 w 117"/>
                  <a:gd name="T13" fmla="*/ 62 h 132"/>
                  <a:gd name="T14" fmla="*/ 84 w 117"/>
                  <a:gd name="T15" fmla="*/ 80 h 132"/>
                  <a:gd name="T16" fmla="*/ 102 w 117"/>
                  <a:gd name="T17" fmla="*/ 103 h 132"/>
                  <a:gd name="T18" fmla="*/ 116 w 117"/>
                  <a:gd name="T19" fmla="*/ 132 h 132"/>
                  <a:gd name="T20" fmla="*/ 117 w 117"/>
                  <a:gd name="T21" fmla="*/ 120 h 132"/>
                  <a:gd name="T22" fmla="*/ 115 w 117"/>
                  <a:gd name="T23" fmla="*/ 107 h 132"/>
                  <a:gd name="T24" fmla="*/ 108 w 117"/>
                  <a:gd name="T25" fmla="*/ 90 h 132"/>
                  <a:gd name="T26" fmla="*/ 99 w 117"/>
                  <a:gd name="T27" fmla="*/ 74 h 132"/>
                  <a:gd name="T28" fmla="*/ 89 w 117"/>
                  <a:gd name="T29" fmla="*/ 58 h 132"/>
                  <a:gd name="T30" fmla="*/ 78 w 117"/>
                  <a:gd name="T31" fmla="*/ 45 h 132"/>
                  <a:gd name="T32" fmla="*/ 67 w 117"/>
                  <a:gd name="T33" fmla="*/ 36 h 132"/>
                  <a:gd name="T34" fmla="*/ 58 w 117"/>
                  <a:gd name="T35" fmla="*/ 32 h 132"/>
                  <a:gd name="T36" fmla="*/ 69 w 117"/>
                  <a:gd name="T37" fmla="*/ 29 h 132"/>
                  <a:gd name="T38" fmla="*/ 79 w 117"/>
                  <a:gd name="T39" fmla="*/ 28 h 132"/>
                  <a:gd name="T40" fmla="*/ 89 w 117"/>
                  <a:gd name="T41" fmla="*/ 26 h 132"/>
                  <a:gd name="T42" fmla="*/ 98 w 117"/>
                  <a:gd name="T43" fmla="*/ 25 h 132"/>
                  <a:gd name="T44" fmla="*/ 105 w 117"/>
                  <a:gd name="T45" fmla="*/ 24 h 132"/>
                  <a:gd name="T46" fmla="*/ 109 w 117"/>
                  <a:gd name="T47" fmla="*/ 22 h 132"/>
                  <a:gd name="T48" fmla="*/ 113 w 117"/>
                  <a:gd name="T49" fmla="*/ 21 h 132"/>
                  <a:gd name="T50" fmla="*/ 114 w 117"/>
                  <a:gd name="T51" fmla="*/ 21 h 132"/>
                  <a:gd name="T52" fmla="*/ 75 w 117"/>
                  <a:gd name="T53" fmla="*/ 0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</a:cxnLst>
                <a:rect l="0" t="0" r="r" b="b"/>
                <a:pathLst>
                  <a:path w="117" h="132">
                    <a:moveTo>
                      <a:pt x="75" y="0"/>
                    </a:moveTo>
                    <a:lnTo>
                      <a:pt x="0" y="25"/>
                    </a:lnTo>
                    <a:lnTo>
                      <a:pt x="3" y="26"/>
                    </a:lnTo>
                    <a:lnTo>
                      <a:pt x="14" y="29"/>
                    </a:lnTo>
                    <a:lnTo>
                      <a:pt x="29" y="36"/>
                    </a:lnTo>
                    <a:lnTo>
                      <a:pt x="46" y="47"/>
                    </a:lnTo>
                    <a:lnTo>
                      <a:pt x="66" y="62"/>
                    </a:lnTo>
                    <a:lnTo>
                      <a:pt x="84" y="80"/>
                    </a:lnTo>
                    <a:lnTo>
                      <a:pt x="102" y="103"/>
                    </a:lnTo>
                    <a:lnTo>
                      <a:pt x="116" y="132"/>
                    </a:lnTo>
                    <a:lnTo>
                      <a:pt x="117" y="120"/>
                    </a:lnTo>
                    <a:lnTo>
                      <a:pt x="115" y="107"/>
                    </a:lnTo>
                    <a:lnTo>
                      <a:pt x="108" y="90"/>
                    </a:lnTo>
                    <a:lnTo>
                      <a:pt x="99" y="74"/>
                    </a:lnTo>
                    <a:lnTo>
                      <a:pt x="89" y="58"/>
                    </a:lnTo>
                    <a:lnTo>
                      <a:pt x="78" y="45"/>
                    </a:lnTo>
                    <a:lnTo>
                      <a:pt x="67" y="36"/>
                    </a:lnTo>
                    <a:lnTo>
                      <a:pt x="58" y="32"/>
                    </a:lnTo>
                    <a:lnTo>
                      <a:pt x="69" y="29"/>
                    </a:lnTo>
                    <a:lnTo>
                      <a:pt x="79" y="28"/>
                    </a:lnTo>
                    <a:lnTo>
                      <a:pt x="89" y="26"/>
                    </a:lnTo>
                    <a:lnTo>
                      <a:pt x="98" y="25"/>
                    </a:lnTo>
                    <a:lnTo>
                      <a:pt x="105" y="24"/>
                    </a:lnTo>
                    <a:lnTo>
                      <a:pt x="109" y="22"/>
                    </a:lnTo>
                    <a:lnTo>
                      <a:pt x="113" y="21"/>
                    </a:lnTo>
                    <a:lnTo>
                      <a:pt x="114" y="21"/>
                    </a:lnTo>
                    <a:lnTo>
                      <a:pt x="75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2" name="Freeform 14"/>
              <p:cNvSpPr>
                <a:spLocks/>
              </p:cNvSpPr>
              <p:nvPr userDrawn="1"/>
            </p:nvSpPr>
            <p:spPr bwMode="ltGray">
              <a:xfrm rot="373331" flipH="1">
                <a:off x="289" y="3135"/>
                <a:ext cx="21" cy="55"/>
              </a:xfrm>
              <a:custGeom>
                <a:avLst/>
                <a:gdLst>
                  <a:gd name="T0" fmla="*/ 29 w 29"/>
                  <a:gd name="T1" fmla="*/ 0 h 77"/>
                  <a:gd name="T2" fmla="*/ 23 w 29"/>
                  <a:gd name="T3" fmla="*/ 0 h 77"/>
                  <a:gd name="T4" fmla="*/ 16 w 29"/>
                  <a:gd name="T5" fmla="*/ 4 h 77"/>
                  <a:gd name="T6" fmla="*/ 9 w 29"/>
                  <a:gd name="T7" fmla="*/ 9 h 77"/>
                  <a:gd name="T8" fmla="*/ 4 w 29"/>
                  <a:gd name="T9" fmla="*/ 19 h 77"/>
                  <a:gd name="T10" fmla="*/ 1 w 29"/>
                  <a:gd name="T11" fmla="*/ 30 h 77"/>
                  <a:gd name="T12" fmla="*/ 0 w 29"/>
                  <a:gd name="T13" fmla="*/ 44 h 77"/>
                  <a:gd name="T14" fmla="*/ 3 w 29"/>
                  <a:gd name="T15" fmla="*/ 60 h 77"/>
                  <a:gd name="T16" fmla="*/ 11 w 29"/>
                  <a:gd name="T17" fmla="*/ 77 h 77"/>
                  <a:gd name="T18" fmla="*/ 15 w 29"/>
                  <a:gd name="T19" fmla="*/ 53 h 77"/>
                  <a:gd name="T20" fmla="*/ 19 w 29"/>
                  <a:gd name="T21" fmla="*/ 37 h 77"/>
                  <a:gd name="T22" fmla="*/ 23 w 29"/>
                  <a:gd name="T23" fmla="*/ 22 h 77"/>
                  <a:gd name="T24" fmla="*/ 29 w 29"/>
                  <a:gd name="T25" fmla="*/ 0 h 7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9" h="77">
                    <a:moveTo>
                      <a:pt x="29" y="0"/>
                    </a:moveTo>
                    <a:lnTo>
                      <a:pt x="23" y="0"/>
                    </a:lnTo>
                    <a:lnTo>
                      <a:pt x="16" y="4"/>
                    </a:lnTo>
                    <a:lnTo>
                      <a:pt x="9" y="9"/>
                    </a:lnTo>
                    <a:lnTo>
                      <a:pt x="4" y="19"/>
                    </a:lnTo>
                    <a:lnTo>
                      <a:pt x="1" y="30"/>
                    </a:lnTo>
                    <a:lnTo>
                      <a:pt x="0" y="44"/>
                    </a:lnTo>
                    <a:lnTo>
                      <a:pt x="3" y="60"/>
                    </a:lnTo>
                    <a:lnTo>
                      <a:pt x="11" y="77"/>
                    </a:lnTo>
                    <a:lnTo>
                      <a:pt x="15" y="53"/>
                    </a:lnTo>
                    <a:lnTo>
                      <a:pt x="19" y="37"/>
                    </a:lnTo>
                    <a:lnTo>
                      <a:pt x="23" y="22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grpSp>
            <p:nvGrpSpPr>
              <p:cNvPr id="37903" name="Group 15"/>
              <p:cNvGrpSpPr>
                <a:grpSpLocks/>
              </p:cNvGrpSpPr>
              <p:nvPr userDrawn="1"/>
            </p:nvGrpSpPr>
            <p:grpSpPr bwMode="auto">
              <a:xfrm rot="10886446" flipH="1">
                <a:off x="335" y="3251"/>
                <a:ext cx="608" cy="369"/>
                <a:chOff x="-366" y="1704"/>
                <a:chExt cx="608" cy="369"/>
              </a:xfrm>
            </p:grpSpPr>
            <p:sp>
              <p:nvSpPr>
                <p:cNvPr id="37904" name="Freeform 16"/>
                <p:cNvSpPr>
                  <a:spLocks/>
                </p:cNvSpPr>
                <p:nvPr userDrawn="1"/>
              </p:nvSpPr>
              <p:spPr bwMode="ltGray">
                <a:xfrm rot="4200091">
                  <a:off x="-243" y="1807"/>
                  <a:ext cx="143" cy="390"/>
                </a:xfrm>
                <a:custGeom>
                  <a:avLst/>
                  <a:gdLst>
                    <a:gd name="T0" fmla="*/ 12 w 207"/>
                    <a:gd name="T1" fmla="*/ 44 h 564"/>
                    <a:gd name="T2" fmla="*/ 6 w 207"/>
                    <a:gd name="T3" fmla="*/ 72 h 564"/>
                    <a:gd name="T4" fmla="*/ 3 w 207"/>
                    <a:gd name="T5" fmla="*/ 99 h 564"/>
                    <a:gd name="T6" fmla="*/ 0 w 207"/>
                    <a:gd name="T7" fmla="*/ 125 h 564"/>
                    <a:gd name="T8" fmla="*/ 0 w 207"/>
                    <a:gd name="T9" fmla="*/ 151 h 564"/>
                    <a:gd name="T10" fmla="*/ 3 w 207"/>
                    <a:gd name="T11" fmla="*/ 180 h 564"/>
                    <a:gd name="T12" fmla="*/ 7 w 207"/>
                    <a:gd name="T13" fmla="*/ 211 h 564"/>
                    <a:gd name="T14" fmla="*/ 16 w 207"/>
                    <a:gd name="T15" fmla="*/ 247 h 564"/>
                    <a:gd name="T16" fmla="*/ 29 w 207"/>
                    <a:gd name="T17" fmla="*/ 287 h 564"/>
                    <a:gd name="T18" fmla="*/ 43 w 207"/>
                    <a:gd name="T19" fmla="*/ 325 h 564"/>
                    <a:gd name="T20" fmla="*/ 61 w 207"/>
                    <a:gd name="T21" fmla="*/ 364 h 564"/>
                    <a:gd name="T22" fmla="*/ 83 w 207"/>
                    <a:gd name="T23" fmla="*/ 406 h 564"/>
                    <a:gd name="T24" fmla="*/ 106 w 207"/>
                    <a:gd name="T25" fmla="*/ 446 h 564"/>
                    <a:gd name="T26" fmla="*/ 132 w 207"/>
                    <a:gd name="T27" fmla="*/ 483 h 564"/>
                    <a:gd name="T28" fmla="*/ 157 w 207"/>
                    <a:gd name="T29" fmla="*/ 516 h 564"/>
                    <a:gd name="T30" fmla="*/ 182 w 207"/>
                    <a:gd name="T31" fmla="*/ 544 h 564"/>
                    <a:gd name="T32" fmla="*/ 207 w 207"/>
                    <a:gd name="T33" fmla="*/ 564 h 564"/>
                    <a:gd name="T34" fmla="*/ 160 w 207"/>
                    <a:gd name="T35" fmla="*/ 501 h 564"/>
                    <a:gd name="T36" fmla="*/ 127 w 207"/>
                    <a:gd name="T37" fmla="*/ 448 h 564"/>
                    <a:gd name="T38" fmla="*/ 103 w 207"/>
                    <a:gd name="T39" fmla="*/ 405 h 564"/>
                    <a:gd name="T40" fmla="*/ 87 w 207"/>
                    <a:gd name="T41" fmla="*/ 368 h 564"/>
                    <a:gd name="T42" fmla="*/ 75 w 207"/>
                    <a:gd name="T43" fmla="*/ 337 h 564"/>
                    <a:gd name="T44" fmla="*/ 68 w 207"/>
                    <a:gd name="T45" fmla="*/ 309 h 564"/>
                    <a:gd name="T46" fmla="*/ 63 w 207"/>
                    <a:gd name="T47" fmla="*/ 285 h 564"/>
                    <a:gd name="T48" fmla="*/ 56 w 207"/>
                    <a:gd name="T49" fmla="*/ 261 h 564"/>
                    <a:gd name="T50" fmla="*/ 44 w 207"/>
                    <a:gd name="T51" fmla="*/ 205 h 564"/>
                    <a:gd name="T52" fmla="*/ 41 w 207"/>
                    <a:gd name="T53" fmla="*/ 140 h 564"/>
                    <a:gd name="T54" fmla="*/ 43 w 207"/>
                    <a:gd name="T55" fmla="*/ 68 h 564"/>
                    <a:gd name="T56" fmla="*/ 50 w 207"/>
                    <a:gd name="T57" fmla="*/ 0 h 564"/>
                    <a:gd name="T58" fmla="*/ 12 w 207"/>
                    <a:gd name="T59" fmla="*/ 44 h 56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07" h="564">
                      <a:moveTo>
                        <a:pt x="12" y="44"/>
                      </a:moveTo>
                      <a:lnTo>
                        <a:pt x="6" y="72"/>
                      </a:lnTo>
                      <a:lnTo>
                        <a:pt x="3" y="99"/>
                      </a:lnTo>
                      <a:lnTo>
                        <a:pt x="0" y="125"/>
                      </a:lnTo>
                      <a:lnTo>
                        <a:pt x="0" y="151"/>
                      </a:lnTo>
                      <a:lnTo>
                        <a:pt x="3" y="180"/>
                      </a:lnTo>
                      <a:lnTo>
                        <a:pt x="7" y="211"/>
                      </a:lnTo>
                      <a:lnTo>
                        <a:pt x="16" y="247"/>
                      </a:lnTo>
                      <a:lnTo>
                        <a:pt x="29" y="287"/>
                      </a:lnTo>
                      <a:lnTo>
                        <a:pt x="43" y="325"/>
                      </a:lnTo>
                      <a:lnTo>
                        <a:pt x="61" y="364"/>
                      </a:lnTo>
                      <a:lnTo>
                        <a:pt x="83" y="406"/>
                      </a:lnTo>
                      <a:lnTo>
                        <a:pt x="106" y="446"/>
                      </a:lnTo>
                      <a:lnTo>
                        <a:pt x="132" y="483"/>
                      </a:lnTo>
                      <a:lnTo>
                        <a:pt x="157" y="516"/>
                      </a:lnTo>
                      <a:lnTo>
                        <a:pt x="182" y="544"/>
                      </a:lnTo>
                      <a:lnTo>
                        <a:pt x="207" y="564"/>
                      </a:lnTo>
                      <a:lnTo>
                        <a:pt x="160" y="501"/>
                      </a:lnTo>
                      <a:lnTo>
                        <a:pt x="127" y="448"/>
                      </a:lnTo>
                      <a:lnTo>
                        <a:pt x="103" y="405"/>
                      </a:lnTo>
                      <a:lnTo>
                        <a:pt x="87" y="368"/>
                      </a:lnTo>
                      <a:lnTo>
                        <a:pt x="75" y="337"/>
                      </a:lnTo>
                      <a:lnTo>
                        <a:pt x="68" y="309"/>
                      </a:lnTo>
                      <a:lnTo>
                        <a:pt x="63" y="285"/>
                      </a:lnTo>
                      <a:lnTo>
                        <a:pt x="56" y="261"/>
                      </a:lnTo>
                      <a:lnTo>
                        <a:pt x="44" y="205"/>
                      </a:lnTo>
                      <a:lnTo>
                        <a:pt x="41" y="140"/>
                      </a:lnTo>
                      <a:lnTo>
                        <a:pt x="43" y="68"/>
                      </a:lnTo>
                      <a:lnTo>
                        <a:pt x="50" y="0"/>
                      </a:lnTo>
                      <a:lnTo>
                        <a:pt x="12" y="44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7905" name="Freeform 17"/>
                <p:cNvSpPr>
                  <a:spLocks/>
                </p:cNvSpPr>
                <p:nvPr userDrawn="1"/>
              </p:nvSpPr>
              <p:spPr bwMode="ltGray">
                <a:xfrm rot="4200091">
                  <a:off x="124" y="1761"/>
                  <a:ext cx="33" cy="160"/>
                </a:xfrm>
                <a:custGeom>
                  <a:avLst/>
                  <a:gdLst>
                    <a:gd name="T0" fmla="*/ 0 w 47"/>
                    <a:gd name="T1" fmla="*/ 19 h 232"/>
                    <a:gd name="T2" fmla="*/ 14 w 47"/>
                    <a:gd name="T3" fmla="*/ 55 h 232"/>
                    <a:gd name="T4" fmla="*/ 22 w 47"/>
                    <a:gd name="T5" fmla="*/ 101 h 232"/>
                    <a:gd name="T6" fmla="*/ 24 w 47"/>
                    <a:gd name="T7" fmla="*/ 159 h 232"/>
                    <a:gd name="T8" fmla="*/ 19 w 47"/>
                    <a:gd name="T9" fmla="*/ 232 h 232"/>
                    <a:gd name="T10" fmla="*/ 45 w 47"/>
                    <a:gd name="T11" fmla="*/ 217 h 232"/>
                    <a:gd name="T12" fmla="*/ 47 w 47"/>
                    <a:gd name="T13" fmla="*/ 178 h 232"/>
                    <a:gd name="T14" fmla="*/ 47 w 47"/>
                    <a:gd name="T15" fmla="*/ 140 h 232"/>
                    <a:gd name="T16" fmla="*/ 45 w 47"/>
                    <a:gd name="T17" fmla="*/ 103 h 232"/>
                    <a:gd name="T18" fmla="*/ 41 w 47"/>
                    <a:gd name="T19" fmla="*/ 71 h 232"/>
                    <a:gd name="T20" fmla="*/ 36 w 47"/>
                    <a:gd name="T21" fmla="*/ 52 h 232"/>
                    <a:gd name="T22" fmla="*/ 29 w 47"/>
                    <a:gd name="T23" fmla="*/ 34 h 232"/>
                    <a:gd name="T24" fmla="*/ 22 w 47"/>
                    <a:gd name="T25" fmla="*/ 17 h 232"/>
                    <a:gd name="T26" fmla="*/ 13 w 47"/>
                    <a:gd name="T27" fmla="*/ 0 h 232"/>
                    <a:gd name="T28" fmla="*/ 0 w 47"/>
                    <a:gd name="T29" fmla="*/ 19 h 23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</a:cxnLst>
                  <a:rect l="0" t="0" r="r" b="b"/>
                  <a:pathLst>
                    <a:path w="47" h="232">
                      <a:moveTo>
                        <a:pt x="0" y="19"/>
                      </a:moveTo>
                      <a:lnTo>
                        <a:pt x="14" y="55"/>
                      </a:lnTo>
                      <a:lnTo>
                        <a:pt x="22" y="101"/>
                      </a:lnTo>
                      <a:lnTo>
                        <a:pt x="24" y="159"/>
                      </a:lnTo>
                      <a:lnTo>
                        <a:pt x="19" y="232"/>
                      </a:lnTo>
                      <a:lnTo>
                        <a:pt x="45" y="217"/>
                      </a:lnTo>
                      <a:lnTo>
                        <a:pt x="47" y="178"/>
                      </a:lnTo>
                      <a:lnTo>
                        <a:pt x="47" y="140"/>
                      </a:lnTo>
                      <a:lnTo>
                        <a:pt x="45" y="103"/>
                      </a:lnTo>
                      <a:lnTo>
                        <a:pt x="41" y="71"/>
                      </a:lnTo>
                      <a:lnTo>
                        <a:pt x="36" y="52"/>
                      </a:lnTo>
                      <a:lnTo>
                        <a:pt x="29" y="34"/>
                      </a:lnTo>
                      <a:lnTo>
                        <a:pt x="22" y="17"/>
                      </a:lnTo>
                      <a:lnTo>
                        <a:pt x="13" y="0"/>
                      </a:lnTo>
                      <a:lnTo>
                        <a:pt x="0" y="19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  <p:sp>
              <p:nvSpPr>
                <p:cNvPr id="37906" name="Freeform 18"/>
                <p:cNvSpPr>
                  <a:spLocks/>
                </p:cNvSpPr>
                <p:nvPr userDrawn="1"/>
              </p:nvSpPr>
              <p:spPr bwMode="ltGray">
                <a:xfrm rot="4200091">
                  <a:off x="199" y="1720"/>
                  <a:ext cx="60" cy="27"/>
                </a:xfrm>
                <a:custGeom>
                  <a:avLst/>
                  <a:gdLst>
                    <a:gd name="T0" fmla="*/ 87 w 87"/>
                    <a:gd name="T1" fmla="*/ 22 h 40"/>
                    <a:gd name="T2" fmla="*/ 77 w 87"/>
                    <a:gd name="T3" fmla="*/ 17 h 40"/>
                    <a:gd name="T4" fmla="*/ 68 w 87"/>
                    <a:gd name="T5" fmla="*/ 12 h 40"/>
                    <a:gd name="T6" fmla="*/ 58 w 87"/>
                    <a:gd name="T7" fmla="*/ 7 h 40"/>
                    <a:gd name="T8" fmla="*/ 47 w 87"/>
                    <a:gd name="T9" fmla="*/ 5 h 40"/>
                    <a:gd name="T10" fmla="*/ 37 w 87"/>
                    <a:gd name="T11" fmla="*/ 3 h 40"/>
                    <a:gd name="T12" fmla="*/ 26 w 87"/>
                    <a:gd name="T13" fmla="*/ 2 h 40"/>
                    <a:gd name="T14" fmla="*/ 13 w 87"/>
                    <a:gd name="T15" fmla="*/ 0 h 40"/>
                    <a:gd name="T16" fmla="*/ 0 w 87"/>
                    <a:gd name="T17" fmla="*/ 2 h 40"/>
                    <a:gd name="T18" fmla="*/ 6 w 87"/>
                    <a:gd name="T19" fmla="*/ 6 h 40"/>
                    <a:gd name="T20" fmla="*/ 14 w 87"/>
                    <a:gd name="T21" fmla="*/ 10 h 40"/>
                    <a:gd name="T22" fmla="*/ 22 w 87"/>
                    <a:gd name="T23" fmla="*/ 14 h 40"/>
                    <a:gd name="T24" fmla="*/ 33 w 87"/>
                    <a:gd name="T25" fmla="*/ 18 h 40"/>
                    <a:gd name="T26" fmla="*/ 42 w 87"/>
                    <a:gd name="T27" fmla="*/ 22 h 40"/>
                    <a:gd name="T28" fmla="*/ 52 w 87"/>
                    <a:gd name="T29" fmla="*/ 27 h 40"/>
                    <a:gd name="T30" fmla="*/ 64 w 87"/>
                    <a:gd name="T31" fmla="*/ 33 h 40"/>
                    <a:gd name="T32" fmla="*/ 74 w 87"/>
                    <a:gd name="T33" fmla="*/ 40 h 40"/>
                    <a:gd name="T34" fmla="*/ 87 w 87"/>
                    <a:gd name="T35" fmla="*/ 22 h 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</a:cxnLst>
                  <a:rect l="0" t="0" r="r" b="b"/>
                  <a:pathLst>
                    <a:path w="87" h="40">
                      <a:moveTo>
                        <a:pt x="87" y="22"/>
                      </a:moveTo>
                      <a:lnTo>
                        <a:pt x="77" y="17"/>
                      </a:lnTo>
                      <a:lnTo>
                        <a:pt x="68" y="12"/>
                      </a:lnTo>
                      <a:lnTo>
                        <a:pt x="58" y="7"/>
                      </a:lnTo>
                      <a:lnTo>
                        <a:pt x="47" y="5"/>
                      </a:lnTo>
                      <a:lnTo>
                        <a:pt x="37" y="3"/>
                      </a:lnTo>
                      <a:lnTo>
                        <a:pt x="26" y="2"/>
                      </a:lnTo>
                      <a:lnTo>
                        <a:pt x="13" y="0"/>
                      </a:lnTo>
                      <a:lnTo>
                        <a:pt x="0" y="2"/>
                      </a:lnTo>
                      <a:lnTo>
                        <a:pt x="6" y="6"/>
                      </a:lnTo>
                      <a:lnTo>
                        <a:pt x="14" y="10"/>
                      </a:lnTo>
                      <a:lnTo>
                        <a:pt x="22" y="14"/>
                      </a:lnTo>
                      <a:lnTo>
                        <a:pt x="33" y="18"/>
                      </a:lnTo>
                      <a:lnTo>
                        <a:pt x="42" y="22"/>
                      </a:lnTo>
                      <a:lnTo>
                        <a:pt x="52" y="27"/>
                      </a:lnTo>
                      <a:lnTo>
                        <a:pt x="64" y="33"/>
                      </a:lnTo>
                      <a:lnTo>
                        <a:pt x="74" y="40"/>
                      </a:lnTo>
                      <a:lnTo>
                        <a:pt x="87" y="22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ZA"/>
                </a:p>
              </p:txBody>
            </p:sp>
          </p:grpSp>
        </p:grpSp>
        <p:grpSp>
          <p:nvGrpSpPr>
            <p:cNvPr id="37907" name="Group 19"/>
            <p:cNvGrpSpPr>
              <a:grpSpLocks/>
            </p:cNvGrpSpPr>
            <p:nvPr/>
          </p:nvGrpSpPr>
          <p:grpSpPr bwMode="auto">
            <a:xfrm rot="-15351438">
              <a:off x="343" y="3854"/>
              <a:ext cx="392" cy="424"/>
              <a:chOff x="1727" y="866"/>
              <a:chExt cx="129" cy="157"/>
            </a:xfrm>
          </p:grpSpPr>
          <p:sp>
            <p:nvSpPr>
              <p:cNvPr id="37908" name="Freeform 20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09" name="Freeform 21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0" name="Freeform 22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7911" name="Group 23"/>
            <p:cNvGrpSpPr>
              <a:grpSpLocks/>
            </p:cNvGrpSpPr>
            <p:nvPr/>
          </p:nvGrpSpPr>
          <p:grpSpPr bwMode="auto">
            <a:xfrm rot="5003157">
              <a:off x="249" y="1102"/>
              <a:ext cx="412" cy="500"/>
              <a:chOff x="1727" y="866"/>
              <a:chExt cx="129" cy="157"/>
            </a:xfrm>
          </p:grpSpPr>
          <p:sp>
            <p:nvSpPr>
              <p:cNvPr id="37912" name="Freeform 24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3" name="Freeform 25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4" name="Freeform 26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grpSp>
          <p:nvGrpSpPr>
            <p:cNvPr id="37915" name="Group 27"/>
            <p:cNvGrpSpPr>
              <a:grpSpLocks/>
            </p:cNvGrpSpPr>
            <p:nvPr/>
          </p:nvGrpSpPr>
          <p:grpSpPr bwMode="auto">
            <a:xfrm>
              <a:off x="815" y="0"/>
              <a:ext cx="345" cy="367"/>
              <a:chOff x="1727" y="866"/>
              <a:chExt cx="129" cy="157"/>
            </a:xfrm>
          </p:grpSpPr>
          <p:sp>
            <p:nvSpPr>
              <p:cNvPr id="37916" name="Freeform 28"/>
              <p:cNvSpPr>
                <a:spLocks/>
              </p:cNvSpPr>
              <p:nvPr userDrawn="1"/>
            </p:nvSpPr>
            <p:spPr bwMode="ltGray">
              <a:xfrm>
                <a:off x="1727" y="866"/>
                <a:ext cx="41" cy="59"/>
              </a:xfrm>
              <a:custGeom>
                <a:avLst/>
                <a:gdLst>
                  <a:gd name="T0" fmla="*/ 83 w 83"/>
                  <a:gd name="T1" fmla="*/ 28 h 117"/>
                  <a:gd name="T2" fmla="*/ 27 w 83"/>
                  <a:gd name="T3" fmla="*/ 0 h 117"/>
                  <a:gd name="T4" fmla="*/ 0 w 83"/>
                  <a:gd name="T5" fmla="*/ 117 h 117"/>
                  <a:gd name="T6" fmla="*/ 83 w 83"/>
                  <a:gd name="T7" fmla="*/ 28 h 1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3" h="117">
                    <a:moveTo>
                      <a:pt x="83" y="28"/>
                    </a:moveTo>
                    <a:lnTo>
                      <a:pt x="27" y="0"/>
                    </a:lnTo>
                    <a:lnTo>
                      <a:pt x="0" y="117"/>
                    </a:lnTo>
                    <a:lnTo>
                      <a:pt x="83" y="2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7" name="Freeform 29"/>
              <p:cNvSpPr>
                <a:spLocks/>
              </p:cNvSpPr>
              <p:nvPr userDrawn="1"/>
            </p:nvSpPr>
            <p:spPr bwMode="ltGray">
              <a:xfrm>
                <a:off x="1786" y="894"/>
                <a:ext cx="70" cy="49"/>
              </a:xfrm>
              <a:custGeom>
                <a:avLst/>
                <a:gdLst>
                  <a:gd name="T0" fmla="*/ 0 w 140"/>
                  <a:gd name="T1" fmla="*/ 98 h 98"/>
                  <a:gd name="T2" fmla="*/ 118 w 140"/>
                  <a:gd name="T3" fmla="*/ 0 h 98"/>
                  <a:gd name="T4" fmla="*/ 140 w 140"/>
                  <a:gd name="T5" fmla="*/ 49 h 98"/>
                  <a:gd name="T6" fmla="*/ 0 w 140"/>
                  <a:gd name="T7" fmla="*/ 98 h 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0" h="98">
                    <a:moveTo>
                      <a:pt x="0" y="98"/>
                    </a:moveTo>
                    <a:lnTo>
                      <a:pt x="118" y="0"/>
                    </a:lnTo>
                    <a:lnTo>
                      <a:pt x="140" y="49"/>
                    </a:lnTo>
                    <a:lnTo>
                      <a:pt x="0" y="98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  <p:sp>
            <p:nvSpPr>
              <p:cNvPr id="37918" name="Freeform 30"/>
              <p:cNvSpPr>
                <a:spLocks/>
              </p:cNvSpPr>
              <p:nvPr userDrawn="1"/>
            </p:nvSpPr>
            <p:spPr bwMode="ltGray">
              <a:xfrm>
                <a:off x="1772" y="998"/>
                <a:ext cx="73" cy="25"/>
              </a:xfrm>
              <a:custGeom>
                <a:avLst/>
                <a:gdLst>
                  <a:gd name="T0" fmla="*/ 0 w 145"/>
                  <a:gd name="T1" fmla="*/ 7 h 49"/>
                  <a:gd name="T2" fmla="*/ 145 w 145"/>
                  <a:gd name="T3" fmla="*/ 0 h 49"/>
                  <a:gd name="T4" fmla="*/ 131 w 145"/>
                  <a:gd name="T5" fmla="*/ 49 h 49"/>
                  <a:gd name="T6" fmla="*/ 0 w 145"/>
                  <a:gd name="T7" fmla="*/ 7 h 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49">
                    <a:moveTo>
                      <a:pt x="0" y="7"/>
                    </a:moveTo>
                    <a:lnTo>
                      <a:pt x="145" y="0"/>
                    </a:lnTo>
                    <a:lnTo>
                      <a:pt x="131" y="49"/>
                    </a:lnTo>
                    <a:lnTo>
                      <a:pt x="0" y="7"/>
                    </a:lnTo>
                    <a:close/>
                  </a:path>
                </a:pathLst>
              </a:cu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ZA"/>
              </a:p>
            </p:txBody>
          </p:sp>
        </p:grpSp>
        <p:sp>
          <p:nvSpPr>
            <p:cNvPr id="37919" name="Freeform 31"/>
            <p:cNvSpPr>
              <a:spLocks/>
            </p:cNvSpPr>
            <p:nvPr/>
          </p:nvSpPr>
          <p:spPr bwMode="ltGray">
            <a:xfrm>
              <a:off x="87" y="94"/>
              <a:ext cx="699" cy="756"/>
            </a:xfrm>
            <a:custGeom>
              <a:avLst/>
              <a:gdLst>
                <a:gd name="T0" fmla="*/ 1 w 699"/>
                <a:gd name="T1" fmla="*/ 392 h 756"/>
                <a:gd name="T2" fmla="*/ 3 w 699"/>
                <a:gd name="T3" fmla="*/ 252 h 756"/>
                <a:gd name="T4" fmla="*/ 21 w 699"/>
                <a:gd name="T5" fmla="*/ 210 h 756"/>
                <a:gd name="T6" fmla="*/ 29 w 699"/>
                <a:gd name="T7" fmla="*/ 182 h 756"/>
                <a:gd name="T8" fmla="*/ 39 w 699"/>
                <a:gd name="T9" fmla="*/ 154 h 756"/>
                <a:gd name="T10" fmla="*/ 51 w 699"/>
                <a:gd name="T11" fmla="*/ 138 h 756"/>
                <a:gd name="T12" fmla="*/ 111 w 699"/>
                <a:gd name="T13" fmla="*/ 74 h 756"/>
                <a:gd name="T14" fmla="*/ 169 w 699"/>
                <a:gd name="T15" fmla="*/ 30 h 756"/>
                <a:gd name="T16" fmla="*/ 225 w 699"/>
                <a:gd name="T17" fmla="*/ 10 h 756"/>
                <a:gd name="T18" fmla="*/ 249 w 699"/>
                <a:gd name="T19" fmla="*/ 4 h 756"/>
                <a:gd name="T20" fmla="*/ 265 w 699"/>
                <a:gd name="T21" fmla="*/ 0 h 756"/>
                <a:gd name="T22" fmla="*/ 357 w 699"/>
                <a:gd name="T23" fmla="*/ 2 h 756"/>
                <a:gd name="T24" fmla="*/ 385 w 699"/>
                <a:gd name="T25" fmla="*/ 6 h 756"/>
                <a:gd name="T26" fmla="*/ 489 w 699"/>
                <a:gd name="T27" fmla="*/ 40 h 756"/>
                <a:gd name="T28" fmla="*/ 619 w 699"/>
                <a:gd name="T29" fmla="*/ 128 h 756"/>
                <a:gd name="T30" fmla="*/ 653 w 699"/>
                <a:gd name="T31" fmla="*/ 178 h 756"/>
                <a:gd name="T32" fmla="*/ 693 w 699"/>
                <a:gd name="T33" fmla="*/ 322 h 756"/>
                <a:gd name="T34" fmla="*/ 687 w 699"/>
                <a:gd name="T35" fmla="*/ 434 h 756"/>
                <a:gd name="T36" fmla="*/ 665 w 699"/>
                <a:gd name="T37" fmla="*/ 538 h 756"/>
                <a:gd name="T38" fmla="*/ 639 w 699"/>
                <a:gd name="T39" fmla="*/ 564 h 756"/>
                <a:gd name="T40" fmla="*/ 631 w 699"/>
                <a:gd name="T41" fmla="*/ 580 h 756"/>
                <a:gd name="T42" fmla="*/ 607 w 699"/>
                <a:gd name="T43" fmla="*/ 588 h 756"/>
                <a:gd name="T44" fmla="*/ 473 w 699"/>
                <a:gd name="T45" fmla="*/ 664 h 756"/>
                <a:gd name="T46" fmla="*/ 449 w 699"/>
                <a:gd name="T47" fmla="*/ 678 h 756"/>
                <a:gd name="T48" fmla="*/ 405 w 699"/>
                <a:gd name="T49" fmla="*/ 684 h 756"/>
                <a:gd name="T50" fmla="*/ 375 w 699"/>
                <a:gd name="T51" fmla="*/ 690 h 756"/>
                <a:gd name="T52" fmla="*/ 267 w 699"/>
                <a:gd name="T53" fmla="*/ 684 h 756"/>
                <a:gd name="T54" fmla="*/ 259 w 699"/>
                <a:gd name="T55" fmla="*/ 722 h 756"/>
                <a:gd name="T56" fmla="*/ 241 w 699"/>
                <a:gd name="T57" fmla="*/ 756 h 756"/>
                <a:gd name="T58" fmla="*/ 185 w 699"/>
                <a:gd name="T59" fmla="*/ 728 h 756"/>
                <a:gd name="T60" fmla="*/ 163 w 699"/>
                <a:gd name="T61" fmla="*/ 720 h 756"/>
                <a:gd name="T62" fmla="*/ 151 w 699"/>
                <a:gd name="T63" fmla="*/ 716 h 756"/>
                <a:gd name="T64" fmla="*/ 195 w 699"/>
                <a:gd name="T65" fmla="*/ 674 h 756"/>
                <a:gd name="T66" fmla="*/ 211 w 699"/>
                <a:gd name="T67" fmla="*/ 644 h 756"/>
                <a:gd name="T68" fmla="*/ 209 w 699"/>
                <a:gd name="T69" fmla="*/ 626 h 756"/>
                <a:gd name="T70" fmla="*/ 195 w 699"/>
                <a:gd name="T71" fmla="*/ 620 h 756"/>
                <a:gd name="T72" fmla="*/ 165 w 699"/>
                <a:gd name="T73" fmla="*/ 596 h 756"/>
                <a:gd name="T74" fmla="*/ 99 w 699"/>
                <a:gd name="T75" fmla="*/ 534 h 756"/>
                <a:gd name="T76" fmla="*/ 61 w 699"/>
                <a:gd name="T77" fmla="*/ 506 h 756"/>
                <a:gd name="T78" fmla="*/ 23 w 699"/>
                <a:gd name="T79" fmla="*/ 470 h 756"/>
                <a:gd name="T80" fmla="*/ 7 w 699"/>
                <a:gd name="T81" fmla="*/ 434 h 756"/>
                <a:gd name="T82" fmla="*/ 5 w 699"/>
                <a:gd name="T83" fmla="*/ 396 h 756"/>
                <a:gd name="T84" fmla="*/ 1 w 699"/>
                <a:gd name="T85" fmla="*/ 392 h 7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99" h="756">
                  <a:moveTo>
                    <a:pt x="1" y="392"/>
                  </a:moveTo>
                  <a:cubicBezTo>
                    <a:pt x="2" y="345"/>
                    <a:pt x="2" y="299"/>
                    <a:pt x="3" y="252"/>
                  </a:cubicBezTo>
                  <a:cubicBezTo>
                    <a:pt x="3" y="238"/>
                    <a:pt x="16" y="224"/>
                    <a:pt x="21" y="210"/>
                  </a:cubicBezTo>
                  <a:cubicBezTo>
                    <a:pt x="24" y="202"/>
                    <a:pt x="29" y="182"/>
                    <a:pt x="29" y="182"/>
                  </a:cubicBezTo>
                  <a:cubicBezTo>
                    <a:pt x="32" y="173"/>
                    <a:pt x="34" y="163"/>
                    <a:pt x="39" y="154"/>
                  </a:cubicBezTo>
                  <a:cubicBezTo>
                    <a:pt x="42" y="148"/>
                    <a:pt x="51" y="138"/>
                    <a:pt x="51" y="138"/>
                  </a:cubicBezTo>
                  <a:cubicBezTo>
                    <a:pt x="58" y="116"/>
                    <a:pt x="88" y="82"/>
                    <a:pt x="111" y="74"/>
                  </a:cubicBezTo>
                  <a:cubicBezTo>
                    <a:pt x="128" y="61"/>
                    <a:pt x="149" y="37"/>
                    <a:pt x="169" y="30"/>
                  </a:cubicBezTo>
                  <a:cubicBezTo>
                    <a:pt x="182" y="17"/>
                    <a:pt x="207" y="15"/>
                    <a:pt x="225" y="10"/>
                  </a:cubicBezTo>
                  <a:cubicBezTo>
                    <a:pt x="233" y="8"/>
                    <a:pt x="241" y="6"/>
                    <a:pt x="249" y="4"/>
                  </a:cubicBezTo>
                  <a:cubicBezTo>
                    <a:pt x="254" y="3"/>
                    <a:pt x="265" y="0"/>
                    <a:pt x="265" y="0"/>
                  </a:cubicBezTo>
                  <a:cubicBezTo>
                    <a:pt x="296" y="1"/>
                    <a:pt x="326" y="0"/>
                    <a:pt x="357" y="2"/>
                  </a:cubicBezTo>
                  <a:cubicBezTo>
                    <a:pt x="366" y="2"/>
                    <a:pt x="385" y="6"/>
                    <a:pt x="385" y="6"/>
                  </a:cubicBezTo>
                  <a:cubicBezTo>
                    <a:pt x="417" y="17"/>
                    <a:pt x="463" y="14"/>
                    <a:pt x="489" y="40"/>
                  </a:cubicBezTo>
                  <a:cubicBezTo>
                    <a:pt x="528" y="60"/>
                    <a:pt x="592" y="105"/>
                    <a:pt x="619" y="128"/>
                  </a:cubicBezTo>
                  <a:cubicBezTo>
                    <a:pt x="635" y="134"/>
                    <a:pt x="643" y="164"/>
                    <a:pt x="653" y="178"/>
                  </a:cubicBezTo>
                  <a:cubicBezTo>
                    <a:pt x="667" y="234"/>
                    <a:pt x="687" y="265"/>
                    <a:pt x="693" y="322"/>
                  </a:cubicBezTo>
                  <a:cubicBezTo>
                    <a:pt x="699" y="365"/>
                    <a:pt x="692" y="398"/>
                    <a:pt x="687" y="434"/>
                  </a:cubicBezTo>
                  <a:cubicBezTo>
                    <a:pt x="686" y="469"/>
                    <a:pt x="691" y="510"/>
                    <a:pt x="665" y="538"/>
                  </a:cubicBezTo>
                  <a:cubicBezTo>
                    <a:pt x="657" y="547"/>
                    <a:pt x="644" y="553"/>
                    <a:pt x="639" y="564"/>
                  </a:cubicBezTo>
                  <a:cubicBezTo>
                    <a:pt x="636" y="569"/>
                    <a:pt x="636" y="576"/>
                    <a:pt x="631" y="580"/>
                  </a:cubicBezTo>
                  <a:cubicBezTo>
                    <a:pt x="624" y="585"/>
                    <a:pt x="607" y="588"/>
                    <a:pt x="607" y="588"/>
                  </a:cubicBezTo>
                  <a:cubicBezTo>
                    <a:pt x="581" y="602"/>
                    <a:pt x="499" y="649"/>
                    <a:pt x="473" y="664"/>
                  </a:cubicBezTo>
                  <a:cubicBezTo>
                    <a:pt x="465" y="666"/>
                    <a:pt x="449" y="678"/>
                    <a:pt x="449" y="678"/>
                  </a:cubicBezTo>
                  <a:cubicBezTo>
                    <a:pt x="438" y="685"/>
                    <a:pt x="417" y="679"/>
                    <a:pt x="405" y="684"/>
                  </a:cubicBezTo>
                  <a:cubicBezTo>
                    <a:pt x="396" y="687"/>
                    <a:pt x="385" y="688"/>
                    <a:pt x="375" y="690"/>
                  </a:cubicBezTo>
                  <a:cubicBezTo>
                    <a:pt x="328" y="689"/>
                    <a:pt x="307" y="687"/>
                    <a:pt x="267" y="684"/>
                  </a:cubicBezTo>
                  <a:cubicBezTo>
                    <a:pt x="249" y="690"/>
                    <a:pt x="264" y="683"/>
                    <a:pt x="259" y="722"/>
                  </a:cubicBezTo>
                  <a:cubicBezTo>
                    <a:pt x="258" y="733"/>
                    <a:pt x="250" y="750"/>
                    <a:pt x="241" y="756"/>
                  </a:cubicBezTo>
                  <a:cubicBezTo>
                    <a:pt x="218" y="752"/>
                    <a:pt x="207" y="735"/>
                    <a:pt x="185" y="728"/>
                  </a:cubicBezTo>
                  <a:cubicBezTo>
                    <a:pt x="176" y="725"/>
                    <a:pt x="171" y="724"/>
                    <a:pt x="163" y="720"/>
                  </a:cubicBezTo>
                  <a:cubicBezTo>
                    <a:pt x="159" y="718"/>
                    <a:pt x="151" y="716"/>
                    <a:pt x="151" y="716"/>
                  </a:cubicBezTo>
                  <a:cubicBezTo>
                    <a:pt x="157" y="695"/>
                    <a:pt x="180" y="689"/>
                    <a:pt x="195" y="674"/>
                  </a:cubicBezTo>
                  <a:cubicBezTo>
                    <a:pt x="198" y="665"/>
                    <a:pt x="205" y="652"/>
                    <a:pt x="211" y="644"/>
                  </a:cubicBezTo>
                  <a:cubicBezTo>
                    <a:pt x="210" y="638"/>
                    <a:pt x="212" y="631"/>
                    <a:pt x="209" y="626"/>
                  </a:cubicBezTo>
                  <a:cubicBezTo>
                    <a:pt x="207" y="621"/>
                    <a:pt x="199" y="623"/>
                    <a:pt x="195" y="620"/>
                  </a:cubicBezTo>
                  <a:cubicBezTo>
                    <a:pt x="185" y="612"/>
                    <a:pt x="173" y="606"/>
                    <a:pt x="165" y="596"/>
                  </a:cubicBezTo>
                  <a:cubicBezTo>
                    <a:pt x="146" y="573"/>
                    <a:pt x="123" y="552"/>
                    <a:pt x="99" y="534"/>
                  </a:cubicBezTo>
                  <a:cubicBezTo>
                    <a:pt x="87" y="525"/>
                    <a:pt x="72" y="517"/>
                    <a:pt x="61" y="506"/>
                  </a:cubicBezTo>
                  <a:cubicBezTo>
                    <a:pt x="49" y="494"/>
                    <a:pt x="37" y="480"/>
                    <a:pt x="23" y="470"/>
                  </a:cubicBezTo>
                  <a:cubicBezTo>
                    <a:pt x="13" y="456"/>
                    <a:pt x="10" y="451"/>
                    <a:pt x="7" y="434"/>
                  </a:cubicBezTo>
                  <a:cubicBezTo>
                    <a:pt x="6" y="421"/>
                    <a:pt x="7" y="408"/>
                    <a:pt x="5" y="396"/>
                  </a:cubicBezTo>
                  <a:cubicBezTo>
                    <a:pt x="5" y="394"/>
                    <a:pt x="0" y="391"/>
                    <a:pt x="1" y="392"/>
                  </a:cubicBezTo>
                  <a:close/>
                </a:path>
              </a:pathLst>
            </a:custGeom>
            <a:solidFill>
              <a:schemeClr val="accent1">
                <a:alpha val="50000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0" name="Freeform 32"/>
            <p:cNvSpPr>
              <a:spLocks/>
            </p:cNvSpPr>
            <p:nvPr/>
          </p:nvSpPr>
          <p:spPr bwMode="ltGray">
            <a:xfrm rot="828663">
              <a:off x="242" y="3404"/>
              <a:ext cx="132" cy="167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1" name="Freeform 33"/>
            <p:cNvSpPr>
              <a:spLocks/>
            </p:cNvSpPr>
            <p:nvPr/>
          </p:nvSpPr>
          <p:spPr bwMode="ltGray">
            <a:xfrm rot="828663">
              <a:off x="266" y="3592"/>
              <a:ext cx="66" cy="43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2" name="Freeform 34"/>
            <p:cNvSpPr>
              <a:spLocks/>
            </p:cNvSpPr>
            <p:nvPr/>
          </p:nvSpPr>
          <p:spPr bwMode="ltGray">
            <a:xfrm>
              <a:off x="11" y="4110"/>
              <a:ext cx="118" cy="209"/>
            </a:xfrm>
            <a:custGeom>
              <a:avLst/>
              <a:gdLst>
                <a:gd name="T0" fmla="*/ 0 w 118"/>
                <a:gd name="T1" fmla="*/ 0 h 209"/>
                <a:gd name="T2" fmla="*/ 6 w 118"/>
                <a:gd name="T3" fmla="*/ 8 h 209"/>
                <a:gd name="T4" fmla="*/ 15 w 118"/>
                <a:gd name="T5" fmla="*/ 19 h 209"/>
                <a:gd name="T6" fmla="*/ 26 w 118"/>
                <a:gd name="T7" fmla="*/ 33 h 209"/>
                <a:gd name="T8" fmla="*/ 38 w 118"/>
                <a:gd name="T9" fmla="*/ 51 h 209"/>
                <a:gd name="T10" fmla="*/ 54 w 118"/>
                <a:gd name="T11" fmla="*/ 72 h 209"/>
                <a:gd name="T12" fmla="*/ 67 w 118"/>
                <a:gd name="T13" fmla="*/ 94 h 209"/>
                <a:gd name="T14" fmla="*/ 79 w 118"/>
                <a:gd name="T15" fmla="*/ 119 h 209"/>
                <a:gd name="T16" fmla="*/ 87 w 118"/>
                <a:gd name="T17" fmla="*/ 146 h 209"/>
                <a:gd name="T18" fmla="*/ 94 w 118"/>
                <a:gd name="T19" fmla="*/ 175 h 209"/>
                <a:gd name="T20" fmla="*/ 91 w 118"/>
                <a:gd name="T21" fmla="*/ 209 h 209"/>
                <a:gd name="T22" fmla="*/ 118 w 118"/>
                <a:gd name="T23" fmla="*/ 209 h 209"/>
                <a:gd name="T24" fmla="*/ 117 w 118"/>
                <a:gd name="T25" fmla="*/ 177 h 209"/>
                <a:gd name="T26" fmla="*/ 104 w 118"/>
                <a:gd name="T27" fmla="*/ 119 h 209"/>
                <a:gd name="T28" fmla="*/ 82 w 118"/>
                <a:gd name="T29" fmla="*/ 69 h 209"/>
                <a:gd name="T30" fmla="*/ 47 w 118"/>
                <a:gd name="T31" fmla="*/ 27 h 209"/>
                <a:gd name="T32" fmla="*/ 0 w 118"/>
                <a:gd name="T33" fmla="*/ 0 h 2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118" h="209">
                  <a:moveTo>
                    <a:pt x="0" y="0"/>
                  </a:moveTo>
                  <a:lnTo>
                    <a:pt x="6" y="8"/>
                  </a:lnTo>
                  <a:lnTo>
                    <a:pt x="15" y="19"/>
                  </a:lnTo>
                  <a:lnTo>
                    <a:pt x="26" y="33"/>
                  </a:lnTo>
                  <a:lnTo>
                    <a:pt x="38" y="51"/>
                  </a:lnTo>
                  <a:lnTo>
                    <a:pt x="54" y="72"/>
                  </a:lnTo>
                  <a:lnTo>
                    <a:pt x="67" y="94"/>
                  </a:lnTo>
                  <a:lnTo>
                    <a:pt x="79" y="119"/>
                  </a:lnTo>
                  <a:lnTo>
                    <a:pt x="87" y="146"/>
                  </a:lnTo>
                  <a:lnTo>
                    <a:pt x="94" y="175"/>
                  </a:lnTo>
                  <a:lnTo>
                    <a:pt x="91" y="209"/>
                  </a:lnTo>
                  <a:lnTo>
                    <a:pt x="118" y="209"/>
                  </a:lnTo>
                  <a:lnTo>
                    <a:pt x="117" y="177"/>
                  </a:lnTo>
                  <a:lnTo>
                    <a:pt x="104" y="119"/>
                  </a:lnTo>
                  <a:lnTo>
                    <a:pt x="82" y="69"/>
                  </a:lnTo>
                  <a:lnTo>
                    <a:pt x="47" y="2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3" name="Freeform 35"/>
            <p:cNvSpPr>
              <a:spLocks/>
            </p:cNvSpPr>
            <p:nvPr/>
          </p:nvSpPr>
          <p:spPr bwMode="ltGray">
            <a:xfrm>
              <a:off x="0" y="3968"/>
              <a:ext cx="130" cy="128"/>
            </a:xfrm>
            <a:custGeom>
              <a:avLst/>
              <a:gdLst>
                <a:gd name="T0" fmla="*/ 103 w 130"/>
                <a:gd name="T1" fmla="*/ 0 h 128"/>
                <a:gd name="T2" fmla="*/ 130 w 130"/>
                <a:gd name="T3" fmla="*/ 128 h 128"/>
                <a:gd name="T4" fmla="*/ 125 w 130"/>
                <a:gd name="T5" fmla="*/ 126 h 128"/>
                <a:gd name="T6" fmla="*/ 111 w 130"/>
                <a:gd name="T7" fmla="*/ 121 h 128"/>
                <a:gd name="T8" fmla="*/ 92 w 130"/>
                <a:gd name="T9" fmla="*/ 111 h 128"/>
                <a:gd name="T10" fmla="*/ 68 w 130"/>
                <a:gd name="T11" fmla="*/ 103 h 128"/>
                <a:gd name="T12" fmla="*/ 41 w 130"/>
                <a:gd name="T13" fmla="*/ 94 h 128"/>
                <a:gd name="T14" fmla="*/ 19 w 130"/>
                <a:gd name="T15" fmla="*/ 90 h 128"/>
                <a:gd name="T16" fmla="*/ 0 w 130"/>
                <a:gd name="T17" fmla="*/ 93 h 128"/>
                <a:gd name="T18" fmla="*/ 0 w 130"/>
                <a:gd name="T19" fmla="*/ 72 h 128"/>
                <a:gd name="T20" fmla="*/ 12 w 130"/>
                <a:gd name="T21" fmla="*/ 70 h 128"/>
                <a:gd name="T22" fmla="*/ 24 w 130"/>
                <a:gd name="T23" fmla="*/ 66 h 128"/>
                <a:gd name="T24" fmla="*/ 38 w 130"/>
                <a:gd name="T25" fmla="*/ 66 h 128"/>
                <a:gd name="T26" fmla="*/ 51 w 130"/>
                <a:gd name="T27" fmla="*/ 67 h 128"/>
                <a:gd name="T28" fmla="*/ 65 w 130"/>
                <a:gd name="T29" fmla="*/ 70 h 128"/>
                <a:gd name="T30" fmla="*/ 78 w 130"/>
                <a:gd name="T31" fmla="*/ 78 h 128"/>
                <a:gd name="T32" fmla="*/ 81 w 130"/>
                <a:gd name="T33" fmla="*/ 74 h 128"/>
                <a:gd name="T34" fmla="*/ 81 w 130"/>
                <a:gd name="T35" fmla="*/ 58 h 128"/>
                <a:gd name="T36" fmla="*/ 82 w 130"/>
                <a:gd name="T37" fmla="*/ 37 h 128"/>
                <a:gd name="T38" fmla="*/ 82 w 130"/>
                <a:gd name="T39" fmla="*/ 29 h 128"/>
                <a:gd name="T40" fmla="*/ 80 w 130"/>
                <a:gd name="T41" fmla="*/ 29 h 128"/>
                <a:gd name="T42" fmla="*/ 77 w 130"/>
                <a:gd name="T43" fmla="*/ 27 h 128"/>
                <a:gd name="T44" fmla="*/ 76 w 130"/>
                <a:gd name="T45" fmla="*/ 22 h 128"/>
                <a:gd name="T46" fmla="*/ 75 w 130"/>
                <a:gd name="T47" fmla="*/ 19 h 128"/>
                <a:gd name="T48" fmla="*/ 76 w 130"/>
                <a:gd name="T49" fmla="*/ 15 h 128"/>
                <a:gd name="T50" fmla="*/ 79 w 130"/>
                <a:gd name="T51" fmla="*/ 10 h 128"/>
                <a:gd name="T52" fmla="*/ 89 w 130"/>
                <a:gd name="T53" fmla="*/ 6 h 128"/>
                <a:gd name="T54" fmla="*/ 103 w 130"/>
                <a:gd name="T55" fmla="*/ 0 h 1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30" h="128">
                  <a:moveTo>
                    <a:pt x="103" y="0"/>
                  </a:moveTo>
                  <a:lnTo>
                    <a:pt x="130" y="128"/>
                  </a:lnTo>
                  <a:lnTo>
                    <a:pt x="125" y="126"/>
                  </a:lnTo>
                  <a:lnTo>
                    <a:pt x="111" y="121"/>
                  </a:lnTo>
                  <a:lnTo>
                    <a:pt x="92" y="111"/>
                  </a:lnTo>
                  <a:lnTo>
                    <a:pt x="68" y="103"/>
                  </a:lnTo>
                  <a:lnTo>
                    <a:pt x="41" y="94"/>
                  </a:lnTo>
                  <a:lnTo>
                    <a:pt x="19" y="90"/>
                  </a:lnTo>
                  <a:lnTo>
                    <a:pt x="0" y="93"/>
                  </a:lnTo>
                  <a:lnTo>
                    <a:pt x="0" y="72"/>
                  </a:lnTo>
                  <a:lnTo>
                    <a:pt x="12" y="70"/>
                  </a:lnTo>
                  <a:lnTo>
                    <a:pt x="24" y="66"/>
                  </a:lnTo>
                  <a:lnTo>
                    <a:pt x="38" y="66"/>
                  </a:lnTo>
                  <a:lnTo>
                    <a:pt x="51" y="67"/>
                  </a:lnTo>
                  <a:lnTo>
                    <a:pt x="65" y="70"/>
                  </a:lnTo>
                  <a:lnTo>
                    <a:pt x="78" y="78"/>
                  </a:lnTo>
                  <a:lnTo>
                    <a:pt x="81" y="74"/>
                  </a:lnTo>
                  <a:lnTo>
                    <a:pt x="81" y="58"/>
                  </a:lnTo>
                  <a:lnTo>
                    <a:pt x="82" y="37"/>
                  </a:lnTo>
                  <a:lnTo>
                    <a:pt x="82" y="29"/>
                  </a:lnTo>
                  <a:lnTo>
                    <a:pt x="80" y="29"/>
                  </a:lnTo>
                  <a:lnTo>
                    <a:pt x="77" y="27"/>
                  </a:lnTo>
                  <a:lnTo>
                    <a:pt x="76" y="22"/>
                  </a:lnTo>
                  <a:lnTo>
                    <a:pt x="75" y="19"/>
                  </a:lnTo>
                  <a:lnTo>
                    <a:pt x="76" y="15"/>
                  </a:lnTo>
                  <a:lnTo>
                    <a:pt x="79" y="10"/>
                  </a:lnTo>
                  <a:lnTo>
                    <a:pt x="89" y="6"/>
                  </a:lnTo>
                  <a:lnTo>
                    <a:pt x="103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4" name="Freeform 36"/>
            <p:cNvSpPr>
              <a:spLocks/>
            </p:cNvSpPr>
            <p:nvPr/>
          </p:nvSpPr>
          <p:spPr bwMode="ltGray">
            <a:xfrm>
              <a:off x="0" y="3949"/>
              <a:ext cx="47" cy="86"/>
            </a:xfrm>
            <a:custGeom>
              <a:avLst/>
              <a:gdLst>
                <a:gd name="T0" fmla="*/ 37 w 47"/>
                <a:gd name="T1" fmla="*/ 0 h 86"/>
                <a:gd name="T2" fmla="*/ 15 w 47"/>
                <a:gd name="T3" fmla="*/ 37 h 86"/>
                <a:gd name="T4" fmla="*/ 0 w 47"/>
                <a:gd name="T5" fmla="*/ 59 h 86"/>
                <a:gd name="T6" fmla="*/ 0 w 47"/>
                <a:gd name="T7" fmla="*/ 86 h 86"/>
                <a:gd name="T8" fmla="*/ 8 w 47"/>
                <a:gd name="T9" fmla="*/ 82 h 86"/>
                <a:gd name="T10" fmla="*/ 20 w 47"/>
                <a:gd name="T11" fmla="*/ 73 h 86"/>
                <a:gd name="T12" fmla="*/ 33 w 47"/>
                <a:gd name="T13" fmla="*/ 63 h 86"/>
                <a:gd name="T14" fmla="*/ 42 w 47"/>
                <a:gd name="T15" fmla="*/ 51 h 86"/>
                <a:gd name="T16" fmla="*/ 47 w 47"/>
                <a:gd name="T17" fmla="*/ 36 h 86"/>
                <a:gd name="T18" fmla="*/ 46 w 47"/>
                <a:gd name="T19" fmla="*/ 19 h 86"/>
                <a:gd name="T20" fmla="*/ 37 w 47"/>
                <a:gd name="T21" fmla="*/ 0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47" h="86">
                  <a:moveTo>
                    <a:pt x="37" y="0"/>
                  </a:moveTo>
                  <a:lnTo>
                    <a:pt x="15" y="37"/>
                  </a:lnTo>
                  <a:lnTo>
                    <a:pt x="0" y="59"/>
                  </a:lnTo>
                  <a:lnTo>
                    <a:pt x="0" y="86"/>
                  </a:lnTo>
                  <a:lnTo>
                    <a:pt x="8" y="82"/>
                  </a:lnTo>
                  <a:lnTo>
                    <a:pt x="20" y="73"/>
                  </a:lnTo>
                  <a:lnTo>
                    <a:pt x="33" y="63"/>
                  </a:lnTo>
                  <a:lnTo>
                    <a:pt x="42" y="51"/>
                  </a:lnTo>
                  <a:lnTo>
                    <a:pt x="47" y="36"/>
                  </a:lnTo>
                  <a:lnTo>
                    <a:pt x="46" y="19"/>
                  </a:lnTo>
                  <a:lnTo>
                    <a:pt x="37" y="0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5" name="Freeform 37"/>
            <p:cNvSpPr>
              <a:spLocks/>
            </p:cNvSpPr>
            <p:nvPr/>
          </p:nvSpPr>
          <p:spPr bwMode="ltGray">
            <a:xfrm>
              <a:off x="0" y="3239"/>
              <a:ext cx="497" cy="740"/>
            </a:xfrm>
            <a:custGeom>
              <a:avLst/>
              <a:gdLst>
                <a:gd name="T0" fmla="*/ 0 w 497"/>
                <a:gd name="T1" fmla="*/ 13 h 740"/>
                <a:gd name="T2" fmla="*/ 41 w 497"/>
                <a:gd name="T3" fmla="*/ 4 h 740"/>
                <a:gd name="T4" fmla="*/ 101 w 497"/>
                <a:gd name="T5" fmla="*/ 0 h 740"/>
                <a:gd name="T6" fmla="*/ 170 w 497"/>
                <a:gd name="T7" fmla="*/ 4 h 740"/>
                <a:gd name="T8" fmla="*/ 248 w 497"/>
                <a:gd name="T9" fmla="*/ 21 h 740"/>
                <a:gd name="T10" fmla="*/ 323 w 497"/>
                <a:gd name="T11" fmla="*/ 50 h 740"/>
                <a:gd name="T12" fmla="*/ 382 w 497"/>
                <a:gd name="T13" fmla="*/ 90 h 740"/>
                <a:gd name="T14" fmla="*/ 428 w 497"/>
                <a:gd name="T15" fmla="*/ 141 h 740"/>
                <a:gd name="T16" fmla="*/ 463 w 497"/>
                <a:gd name="T17" fmla="*/ 199 h 740"/>
                <a:gd name="T18" fmla="*/ 485 w 497"/>
                <a:gd name="T19" fmla="*/ 262 h 740"/>
                <a:gd name="T20" fmla="*/ 496 w 497"/>
                <a:gd name="T21" fmla="*/ 327 h 740"/>
                <a:gd name="T22" fmla="*/ 497 w 497"/>
                <a:gd name="T23" fmla="*/ 396 h 740"/>
                <a:gd name="T24" fmla="*/ 487 w 497"/>
                <a:gd name="T25" fmla="*/ 462 h 740"/>
                <a:gd name="T26" fmla="*/ 470 w 497"/>
                <a:gd name="T27" fmla="*/ 527 h 740"/>
                <a:gd name="T28" fmla="*/ 443 w 497"/>
                <a:gd name="T29" fmla="*/ 586 h 740"/>
                <a:gd name="T30" fmla="*/ 406 w 497"/>
                <a:gd name="T31" fmla="*/ 639 h 740"/>
                <a:gd name="T32" fmla="*/ 364 w 497"/>
                <a:gd name="T33" fmla="*/ 683 h 740"/>
                <a:gd name="T34" fmla="*/ 315 w 497"/>
                <a:gd name="T35" fmla="*/ 715 h 740"/>
                <a:gd name="T36" fmla="*/ 259 w 497"/>
                <a:gd name="T37" fmla="*/ 736 h 740"/>
                <a:gd name="T38" fmla="*/ 198 w 497"/>
                <a:gd name="T39" fmla="*/ 740 h 740"/>
                <a:gd name="T40" fmla="*/ 131 w 497"/>
                <a:gd name="T41" fmla="*/ 727 h 740"/>
                <a:gd name="T42" fmla="*/ 167 w 497"/>
                <a:gd name="T43" fmla="*/ 728 h 740"/>
                <a:gd name="T44" fmla="*/ 204 w 497"/>
                <a:gd name="T45" fmla="*/ 718 h 740"/>
                <a:gd name="T46" fmla="*/ 238 w 497"/>
                <a:gd name="T47" fmla="*/ 700 h 740"/>
                <a:gd name="T48" fmla="*/ 272 w 497"/>
                <a:gd name="T49" fmla="*/ 670 h 740"/>
                <a:gd name="T50" fmla="*/ 304 w 497"/>
                <a:gd name="T51" fmla="*/ 635 h 740"/>
                <a:gd name="T52" fmla="*/ 333 w 497"/>
                <a:gd name="T53" fmla="*/ 594 h 740"/>
                <a:gd name="T54" fmla="*/ 358 w 497"/>
                <a:gd name="T55" fmla="*/ 549 h 740"/>
                <a:gd name="T56" fmla="*/ 381 w 497"/>
                <a:gd name="T57" fmla="*/ 500 h 740"/>
                <a:gd name="T58" fmla="*/ 396 w 497"/>
                <a:gd name="T59" fmla="*/ 449 h 740"/>
                <a:gd name="T60" fmla="*/ 408 w 497"/>
                <a:gd name="T61" fmla="*/ 397 h 740"/>
                <a:gd name="T62" fmla="*/ 414 w 497"/>
                <a:gd name="T63" fmla="*/ 346 h 740"/>
                <a:gd name="T64" fmla="*/ 412 w 497"/>
                <a:gd name="T65" fmla="*/ 296 h 740"/>
                <a:gd name="T66" fmla="*/ 402 w 497"/>
                <a:gd name="T67" fmla="*/ 251 h 740"/>
                <a:gd name="T68" fmla="*/ 384 w 497"/>
                <a:gd name="T69" fmla="*/ 208 h 740"/>
                <a:gd name="T70" fmla="*/ 357 w 497"/>
                <a:gd name="T71" fmla="*/ 172 h 740"/>
                <a:gd name="T72" fmla="*/ 320 w 497"/>
                <a:gd name="T73" fmla="*/ 142 h 740"/>
                <a:gd name="T74" fmla="*/ 260 w 497"/>
                <a:gd name="T75" fmla="*/ 107 h 740"/>
                <a:gd name="T76" fmla="*/ 203 w 497"/>
                <a:gd name="T77" fmla="*/ 82 h 740"/>
                <a:gd name="T78" fmla="*/ 154 w 497"/>
                <a:gd name="T79" fmla="*/ 65 h 740"/>
                <a:gd name="T80" fmla="*/ 108 w 497"/>
                <a:gd name="T81" fmla="*/ 56 h 740"/>
                <a:gd name="T82" fmla="*/ 68 w 497"/>
                <a:gd name="T83" fmla="*/ 55 h 740"/>
                <a:gd name="T84" fmla="*/ 32 w 497"/>
                <a:gd name="T85" fmla="*/ 61 h 740"/>
                <a:gd name="T86" fmla="*/ 0 w 497"/>
                <a:gd name="T87" fmla="*/ 70 h 740"/>
                <a:gd name="T88" fmla="*/ 0 w 497"/>
                <a:gd name="T89" fmla="*/ 13 h 7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497" h="740">
                  <a:moveTo>
                    <a:pt x="0" y="13"/>
                  </a:moveTo>
                  <a:lnTo>
                    <a:pt x="41" y="4"/>
                  </a:lnTo>
                  <a:lnTo>
                    <a:pt x="101" y="0"/>
                  </a:lnTo>
                  <a:lnTo>
                    <a:pt x="170" y="4"/>
                  </a:lnTo>
                  <a:lnTo>
                    <a:pt x="248" y="21"/>
                  </a:lnTo>
                  <a:lnTo>
                    <a:pt x="323" y="50"/>
                  </a:lnTo>
                  <a:lnTo>
                    <a:pt x="382" y="90"/>
                  </a:lnTo>
                  <a:lnTo>
                    <a:pt x="428" y="141"/>
                  </a:lnTo>
                  <a:lnTo>
                    <a:pt x="463" y="199"/>
                  </a:lnTo>
                  <a:lnTo>
                    <a:pt x="485" y="262"/>
                  </a:lnTo>
                  <a:lnTo>
                    <a:pt x="496" y="327"/>
                  </a:lnTo>
                  <a:lnTo>
                    <a:pt x="497" y="396"/>
                  </a:lnTo>
                  <a:lnTo>
                    <a:pt x="487" y="462"/>
                  </a:lnTo>
                  <a:lnTo>
                    <a:pt x="470" y="527"/>
                  </a:lnTo>
                  <a:lnTo>
                    <a:pt x="443" y="586"/>
                  </a:lnTo>
                  <a:lnTo>
                    <a:pt x="406" y="639"/>
                  </a:lnTo>
                  <a:lnTo>
                    <a:pt x="364" y="683"/>
                  </a:lnTo>
                  <a:lnTo>
                    <a:pt x="315" y="715"/>
                  </a:lnTo>
                  <a:lnTo>
                    <a:pt x="259" y="736"/>
                  </a:lnTo>
                  <a:lnTo>
                    <a:pt x="198" y="740"/>
                  </a:lnTo>
                  <a:lnTo>
                    <a:pt x="131" y="727"/>
                  </a:lnTo>
                  <a:lnTo>
                    <a:pt x="167" y="728"/>
                  </a:lnTo>
                  <a:lnTo>
                    <a:pt x="204" y="718"/>
                  </a:lnTo>
                  <a:lnTo>
                    <a:pt x="238" y="700"/>
                  </a:lnTo>
                  <a:lnTo>
                    <a:pt x="272" y="670"/>
                  </a:lnTo>
                  <a:lnTo>
                    <a:pt x="304" y="635"/>
                  </a:lnTo>
                  <a:lnTo>
                    <a:pt x="333" y="594"/>
                  </a:lnTo>
                  <a:lnTo>
                    <a:pt x="358" y="549"/>
                  </a:lnTo>
                  <a:lnTo>
                    <a:pt x="381" y="500"/>
                  </a:lnTo>
                  <a:lnTo>
                    <a:pt x="396" y="449"/>
                  </a:lnTo>
                  <a:lnTo>
                    <a:pt x="408" y="397"/>
                  </a:lnTo>
                  <a:lnTo>
                    <a:pt x="414" y="346"/>
                  </a:lnTo>
                  <a:lnTo>
                    <a:pt x="412" y="296"/>
                  </a:lnTo>
                  <a:lnTo>
                    <a:pt x="402" y="251"/>
                  </a:lnTo>
                  <a:lnTo>
                    <a:pt x="384" y="208"/>
                  </a:lnTo>
                  <a:lnTo>
                    <a:pt x="357" y="172"/>
                  </a:lnTo>
                  <a:lnTo>
                    <a:pt x="320" y="142"/>
                  </a:lnTo>
                  <a:lnTo>
                    <a:pt x="260" y="107"/>
                  </a:lnTo>
                  <a:lnTo>
                    <a:pt x="203" y="82"/>
                  </a:lnTo>
                  <a:lnTo>
                    <a:pt x="154" y="65"/>
                  </a:lnTo>
                  <a:lnTo>
                    <a:pt x="108" y="56"/>
                  </a:lnTo>
                  <a:lnTo>
                    <a:pt x="68" y="55"/>
                  </a:lnTo>
                  <a:lnTo>
                    <a:pt x="32" y="61"/>
                  </a:lnTo>
                  <a:lnTo>
                    <a:pt x="0" y="70"/>
                  </a:lnTo>
                  <a:lnTo>
                    <a:pt x="0" y="13"/>
                  </a:lnTo>
                  <a:close/>
                </a:path>
              </a:pathLst>
            </a:cu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6" name="Freeform 38"/>
            <p:cNvSpPr>
              <a:spLocks/>
            </p:cNvSpPr>
            <p:nvPr/>
          </p:nvSpPr>
          <p:spPr bwMode="ltGray">
            <a:xfrm rot="1584153">
              <a:off x="20" y="410"/>
              <a:ext cx="344" cy="245"/>
            </a:xfrm>
            <a:custGeom>
              <a:avLst/>
              <a:gdLst>
                <a:gd name="T0" fmla="*/ 0 w 257"/>
                <a:gd name="T1" fmla="*/ 0 h 237"/>
                <a:gd name="T2" fmla="*/ 0 w 257"/>
                <a:gd name="T3" fmla="*/ 25 h 237"/>
                <a:gd name="T4" fmla="*/ 3 w 257"/>
                <a:gd name="T5" fmla="*/ 50 h 237"/>
                <a:gd name="T6" fmla="*/ 6 w 257"/>
                <a:gd name="T7" fmla="*/ 75 h 237"/>
                <a:gd name="T8" fmla="*/ 11 w 257"/>
                <a:gd name="T9" fmla="*/ 98 h 237"/>
                <a:gd name="T10" fmla="*/ 18 w 257"/>
                <a:gd name="T11" fmla="*/ 119 h 237"/>
                <a:gd name="T12" fmla="*/ 27 w 257"/>
                <a:gd name="T13" fmla="*/ 141 h 237"/>
                <a:gd name="T14" fmla="*/ 38 w 257"/>
                <a:gd name="T15" fmla="*/ 161 h 237"/>
                <a:gd name="T16" fmla="*/ 51 w 257"/>
                <a:gd name="T17" fmla="*/ 178 h 237"/>
                <a:gd name="T18" fmla="*/ 67 w 257"/>
                <a:gd name="T19" fmla="*/ 194 h 237"/>
                <a:gd name="T20" fmla="*/ 86 w 257"/>
                <a:gd name="T21" fmla="*/ 208 h 237"/>
                <a:gd name="T22" fmla="*/ 106 w 257"/>
                <a:gd name="T23" fmla="*/ 219 h 237"/>
                <a:gd name="T24" fmla="*/ 131 w 257"/>
                <a:gd name="T25" fmla="*/ 228 h 237"/>
                <a:gd name="T26" fmla="*/ 158 w 257"/>
                <a:gd name="T27" fmla="*/ 234 h 237"/>
                <a:gd name="T28" fmla="*/ 188 w 257"/>
                <a:gd name="T29" fmla="*/ 237 h 237"/>
                <a:gd name="T30" fmla="*/ 220 w 257"/>
                <a:gd name="T31" fmla="*/ 236 h 237"/>
                <a:gd name="T32" fmla="*/ 257 w 257"/>
                <a:gd name="T33" fmla="*/ 232 h 237"/>
                <a:gd name="T34" fmla="*/ 224 w 257"/>
                <a:gd name="T35" fmla="*/ 227 h 237"/>
                <a:gd name="T36" fmla="*/ 195 w 257"/>
                <a:gd name="T37" fmla="*/ 220 h 237"/>
                <a:gd name="T38" fmla="*/ 170 w 257"/>
                <a:gd name="T39" fmla="*/ 212 h 237"/>
                <a:gd name="T40" fmla="*/ 148 w 257"/>
                <a:gd name="T41" fmla="*/ 204 h 237"/>
                <a:gd name="T42" fmla="*/ 128 w 257"/>
                <a:gd name="T43" fmla="*/ 193 h 237"/>
                <a:gd name="T44" fmla="*/ 112 w 257"/>
                <a:gd name="T45" fmla="*/ 182 h 237"/>
                <a:gd name="T46" fmla="*/ 97 w 257"/>
                <a:gd name="T47" fmla="*/ 169 h 237"/>
                <a:gd name="T48" fmla="*/ 84 w 257"/>
                <a:gd name="T49" fmla="*/ 155 h 237"/>
                <a:gd name="T50" fmla="*/ 72 w 257"/>
                <a:gd name="T51" fmla="*/ 141 h 237"/>
                <a:gd name="T52" fmla="*/ 61 w 257"/>
                <a:gd name="T53" fmla="*/ 125 h 237"/>
                <a:gd name="T54" fmla="*/ 52 w 257"/>
                <a:gd name="T55" fmla="*/ 107 h 237"/>
                <a:gd name="T56" fmla="*/ 43 w 257"/>
                <a:gd name="T57" fmla="*/ 88 h 237"/>
                <a:gd name="T58" fmla="*/ 33 w 257"/>
                <a:gd name="T59" fmla="*/ 69 h 237"/>
                <a:gd name="T60" fmla="*/ 23 w 257"/>
                <a:gd name="T61" fmla="*/ 47 h 237"/>
                <a:gd name="T62" fmla="*/ 12 w 257"/>
                <a:gd name="T63" fmla="*/ 24 h 237"/>
                <a:gd name="T64" fmla="*/ 0 w 257"/>
                <a:gd name="T65" fmla="*/ 0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257" h="237">
                  <a:moveTo>
                    <a:pt x="0" y="0"/>
                  </a:moveTo>
                  <a:lnTo>
                    <a:pt x="0" y="25"/>
                  </a:lnTo>
                  <a:lnTo>
                    <a:pt x="3" y="50"/>
                  </a:lnTo>
                  <a:lnTo>
                    <a:pt x="6" y="75"/>
                  </a:lnTo>
                  <a:lnTo>
                    <a:pt x="11" y="98"/>
                  </a:lnTo>
                  <a:lnTo>
                    <a:pt x="18" y="119"/>
                  </a:lnTo>
                  <a:lnTo>
                    <a:pt x="27" y="141"/>
                  </a:lnTo>
                  <a:lnTo>
                    <a:pt x="38" y="161"/>
                  </a:lnTo>
                  <a:lnTo>
                    <a:pt x="51" y="178"/>
                  </a:lnTo>
                  <a:lnTo>
                    <a:pt x="67" y="194"/>
                  </a:lnTo>
                  <a:lnTo>
                    <a:pt x="86" y="208"/>
                  </a:lnTo>
                  <a:lnTo>
                    <a:pt x="106" y="219"/>
                  </a:lnTo>
                  <a:lnTo>
                    <a:pt x="131" y="228"/>
                  </a:lnTo>
                  <a:lnTo>
                    <a:pt x="158" y="234"/>
                  </a:lnTo>
                  <a:lnTo>
                    <a:pt x="188" y="237"/>
                  </a:lnTo>
                  <a:lnTo>
                    <a:pt x="220" y="236"/>
                  </a:lnTo>
                  <a:lnTo>
                    <a:pt x="257" y="232"/>
                  </a:lnTo>
                  <a:lnTo>
                    <a:pt x="224" y="227"/>
                  </a:lnTo>
                  <a:lnTo>
                    <a:pt x="195" y="220"/>
                  </a:lnTo>
                  <a:lnTo>
                    <a:pt x="170" y="212"/>
                  </a:lnTo>
                  <a:lnTo>
                    <a:pt x="148" y="204"/>
                  </a:lnTo>
                  <a:lnTo>
                    <a:pt x="128" y="193"/>
                  </a:lnTo>
                  <a:lnTo>
                    <a:pt x="112" y="182"/>
                  </a:lnTo>
                  <a:lnTo>
                    <a:pt x="97" y="169"/>
                  </a:lnTo>
                  <a:lnTo>
                    <a:pt x="84" y="155"/>
                  </a:lnTo>
                  <a:lnTo>
                    <a:pt x="72" y="141"/>
                  </a:lnTo>
                  <a:lnTo>
                    <a:pt x="61" y="125"/>
                  </a:lnTo>
                  <a:lnTo>
                    <a:pt x="52" y="107"/>
                  </a:lnTo>
                  <a:lnTo>
                    <a:pt x="43" y="88"/>
                  </a:lnTo>
                  <a:lnTo>
                    <a:pt x="33" y="69"/>
                  </a:lnTo>
                  <a:lnTo>
                    <a:pt x="23" y="47"/>
                  </a:lnTo>
                  <a:lnTo>
                    <a:pt x="12" y="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7" name="Freeform 39"/>
            <p:cNvSpPr>
              <a:spLocks/>
            </p:cNvSpPr>
            <p:nvPr/>
          </p:nvSpPr>
          <p:spPr bwMode="ltGray">
            <a:xfrm rot="1584153">
              <a:off x="242" y="756"/>
              <a:ext cx="167" cy="115"/>
            </a:xfrm>
            <a:custGeom>
              <a:avLst/>
              <a:gdLst>
                <a:gd name="T0" fmla="*/ 77 w 124"/>
                <a:gd name="T1" fmla="*/ 0 h 110"/>
                <a:gd name="T2" fmla="*/ 124 w 124"/>
                <a:gd name="T3" fmla="*/ 108 h 110"/>
                <a:gd name="T4" fmla="*/ 120 w 124"/>
                <a:gd name="T5" fmla="*/ 107 h 110"/>
                <a:gd name="T6" fmla="*/ 107 w 124"/>
                <a:gd name="T7" fmla="*/ 105 h 110"/>
                <a:gd name="T8" fmla="*/ 89 w 124"/>
                <a:gd name="T9" fmla="*/ 101 h 110"/>
                <a:gd name="T10" fmla="*/ 68 w 124"/>
                <a:gd name="T11" fmla="*/ 99 h 110"/>
                <a:gd name="T12" fmla="*/ 45 w 124"/>
                <a:gd name="T13" fmla="*/ 97 h 110"/>
                <a:gd name="T14" fmla="*/ 25 w 124"/>
                <a:gd name="T15" fmla="*/ 98 h 110"/>
                <a:gd name="T16" fmla="*/ 9 w 124"/>
                <a:gd name="T17" fmla="*/ 102 h 110"/>
                <a:gd name="T18" fmla="*/ 0 w 124"/>
                <a:gd name="T19" fmla="*/ 110 h 110"/>
                <a:gd name="T20" fmla="*/ 4 w 124"/>
                <a:gd name="T21" fmla="*/ 98 h 110"/>
                <a:gd name="T22" fmla="*/ 8 w 124"/>
                <a:gd name="T23" fmla="*/ 89 h 110"/>
                <a:gd name="T24" fmla="*/ 16 w 124"/>
                <a:gd name="T25" fmla="*/ 82 h 110"/>
                <a:gd name="T26" fmla="*/ 25 w 124"/>
                <a:gd name="T27" fmla="*/ 76 h 110"/>
                <a:gd name="T28" fmla="*/ 36 w 124"/>
                <a:gd name="T29" fmla="*/ 72 h 110"/>
                <a:gd name="T30" fmla="*/ 47 w 124"/>
                <a:gd name="T31" fmla="*/ 71 h 110"/>
                <a:gd name="T32" fmla="*/ 59 w 124"/>
                <a:gd name="T33" fmla="*/ 71 h 110"/>
                <a:gd name="T34" fmla="*/ 72 w 124"/>
                <a:gd name="T35" fmla="*/ 74 h 110"/>
                <a:gd name="T36" fmla="*/ 73 w 124"/>
                <a:gd name="T37" fmla="*/ 71 h 110"/>
                <a:gd name="T38" fmla="*/ 70 w 124"/>
                <a:gd name="T39" fmla="*/ 56 h 110"/>
                <a:gd name="T40" fmla="*/ 67 w 124"/>
                <a:gd name="T41" fmla="*/ 38 h 110"/>
                <a:gd name="T42" fmla="*/ 65 w 124"/>
                <a:gd name="T43" fmla="*/ 30 h 110"/>
                <a:gd name="T44" fmla="*/ 63 w 124"/>
                <a:gd name="T45" fmla="*/ 30 h 110"/>
                <a:gd name="T46" fmla="*/ 61 w 124"/>
                <a:gd name="T47" fmla="*/ 29 h 110"/>
                <a:gd name="T48" fmla="*/ 59 w 124"/>
                <a:gd name="T49" fmla="*/ 26 h 110"/>
                <a:gd name="T50" fmla="*/ 57 w 124"/>
                <a:gd name="T51" fmla="*/ 23 h 110"/>
                <a:gd name="T52" fmla="*/ 57 w 124"/>
                <a:gd name="T53" fmla="*/ 19 h 110"/>
                <a:gd name="T54" fmla="*/ 59 w 124"/>
                <a:gd name="T55" fmla="*/ 14 h 110"/>
                <a:gd name="T56" fmla="*/ 66 w 124"/>
                <a:gd name="T57" fmla="*/ 8 h 110"/>
                <a:gd name="T58" fmla="*/ 77 w 124"/>
                <a:gd name="T59" fmla="*/ 0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124" h="110">
                  <a:moveTo>
                    <a:pt x="77" y="0"/>
                  </a:moveTo>
                  <a:lnTo>
                    <a:pt x="124" y="108"/>
                  </a:lnTo>
                  <a:lnTo>
                    <a:pt x="120" y="107"/>
                  </a:lnTo>
                  <a:lnTo>
                    <a:pt x="107" y="105"/>
                  </a:lnTo>
                  <a:lnTo>
                    <a:pt x="89" y="101"/>
                  </a:lnTo>
                  <a:lnTo>
                    <a:pt x="68" y="99"/>
                  </a:lnTo>
                  <a:lnTo>
                    <a:pt x="45" y="97"/>
                  </a:lnTo>
                  <a:lnTo>
                    <a:pt x="25" y="98"/>
                  </a:lnTo>
                  <a:lnTo>
                    <a:pt x="9" y="102"/>
                  </a:lnTo>
                  <a:lnTo>
                    <a:pt x="0" y="110"/>
                  </a:lnTo>
                  <a:lnTo>
                    <a:pt x="4" y="98"/>
                  </a:lnTo>
                  <a:lnTo>
                    <a:pt x="8" y="89"/>
                  </a:lnTo>
                  <a:lnTo>
                    <a:pt x="16" y="82"/>
                  </a:lnTo>
                  <a:lnTo>
                    <a:pt x="25" y="76"/>
                  </a:lnTo>
                  <a:lnTo>
                    <a:pt x="36" y="72"/>
                  </a:lnTo>
                  <a:lnTo>
                    <a:pt x="47" y="71"/>
                  </a:lnTo>
                  <a:lnTo>
                    <a:pt x="59" y="71"/>
                  </a:lnTo>
                  <a:lnTo>
                    <a:pt x="72" y="74"/>
                  </a:lnTo>
                  <a:lnTo>
                    <a:pt x="73" y="71"/>
                  </a:lnTo>
                  <a:lnTo>
                    <a:pt x="70" y="56"/>
                  </a:lnTo>
                  <a:lnTo>
                    <a:pt x="67" y="38"/>
                  </a:lnTo>
                  <a:lnTo>
                    <a:pt x="65" y="30"/>
                  </a:lnTo>
                  <a:lnTo>
                    <a:pt x="63" y="30"/>
                  </a:lnTo>
                  <a:lnTo>
                    <a:pt x="61" y="29"/>
                  </a:lnTo>
                  <a:lnTo>
                    <a:pt x="59" y="26"/>
                  </a:lnTo>
                  <a:lnTo>
                    <a:pt x="57" y="23"/>
                  </a:lnTo>
                  <a:lnTo>
                    <a:pt x="57" y="19"/>
                  </a:lnTo>
                  <a:lnTo>
                    <a:pt x="59" y="14"/>
                  </a:lnTo>
                  <a:lnTo>
                    <a:pt x="66" y="8"/>
                  </a:lnTo>
                  <a:lnTo>
                    <a:pt x="77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8" name="Freeform 40"/>
            <p:cNvSpPr>
              <a:spLocks/>
            </p:cNvSpPr>
            <p:nvPr/>
          </p:nvSpPr>
          <p:spPr bwMode="ltGray">
            <a:xfrm rot="1584153">
              <a:off x="574" y="286"/>
              <a:ext cx="147" cy="160"/>
            </a:xfrm>
            <a:custGeom>
              <a:avLst/>
              <a:gdLst>
                <a:gd name="T0" fmla="*/ 0 w 109"/>
                <a:gd name="T1" fmla="*/ 0 h 156"/>
                <a:gd name="T2" fmla="*/ 5 w 109"/>
                <a:gd name="T3" fmla="*/ 1 h 156"/>
                <a:gd name="T4" fmla="*/ 18 w 109"/>
                <a:gd name="T5" fmla="*/ 5 h 156"/>
                <a:gd name="T6" fmla="*/ 37 w 109"/>
                <a:gd name="T7" fmla="*/ 12 h 156"/>
                <a:gd name="T8" fmla="*/ 58 w 109"/>
                <a:gd name="T9" fmla="*/ 24 h 156"/>
                <a:gd name="T10" fmla="*/ 78 w 109"/>
                <a:gd name="T11" fmla="*/ 44 h 156"/>
                <a:gd name="T12" fmla="*/ 96 w 109"/>
                <a:gd name="T13" fmla="*/ 71 h 156"/>
                <a:gd name="T14" fmla="*/ 107 w 109"/>
                <a:gd name="T15" fmla="*/ 108 h 156"/>
                <a:gd name="T16" fmla="*/ 109 w 109"/>
                <a:gd name="T17" fmla="*/ 156 h 156"/>
                <a:gd name="T18" fmla="*/ 105 w 109"/>
                <a:gd name="T19" fmla="*/ 156 h 156"/>
                <a:gd name="T20" fmla="*/ 99 w 109"/>
                <a:gd name="T21" fmla="*/ 156 h 156"/>
                <a:gd name="T22" fmla="*/ 93 w 109"/>
                <a:gd name="T23" fmla="*/ 156 h 156"/>
                <a:gd name="T24" fmla="*/ 87 w 109"/>
                <a:gd name="T25" fmla="*/ 154 h 156"/>
                <a:gd name="T26" fmla="*/ 81 w 109"/>
                <a:gd name="T27" fmla="*/ 153 h 156"/>
                <a:gd name="T28" fmla="*/ 74 w 109"/>
                <a:gd name="T29" fmla="*/ 150 h 156"/>
                <a:gd name="T30" fmla="*/ 66 w 109"/>
                <a:gd name="T31" fmla="*/ 145 h 156"/>
                <a:gd name="T32" fmla="*/ 58 w 109"/>
                <a:gd name="T33" fmla="*/ 139 h 156"/>
                <a:gd name="T34" fmla="*/ 53 w 109"/>
                <a:gd name="T35" fmla="*/ 126 h 156"/>
                <a:gd name="T36" fmla="*/ 53 w 109"/>
                <a:gd name="T37" fmla="*/ 111 h 156"/>
                <a:gd name="T38" fmla="*/ 56 w 109"/>
                <a:gd name="T39" fmla="*/ 96 h 156"/>
                <a:gd name="T40" fmla="*/ 59 w 109"/>
                <a:gd name="T41" fmla="*/ 80 h 156"/>
                <a:gd name="T42" fmla="*/ 56 w 109"/>
                <a:gd name="T43" fmla="*/ 62 h 156"/>
                <a:gd name="T44" fmla="*/ 48 w 109"/>
                <a:gd name="T45" fmla="*/ 43 h 156"/>
                <a:gd name="T46" fmla="*/ 31 w 109"/>
                <a:gd name="T47" fmla="*/ 23 h 156"/>
                <a:gd name="T48" fmla="*/ 0 w 109"/>
                <a:gd name="T49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09" h="156">
                  <a:moveTo>
                    <a:pt x="0" y="0"/>
                  </a:moveTo>
                  <a:lnTo>
                    <a:pt x="5" y="1"/>
                  </a:lnTo>
                  <a:lnTo>
                    <a:pt x="18" y="5"/>
                  </a:lnTo>
                  <a:lnTo>
                    <a:pt x="37" y="12"/>
                  </a:lnTo>
                  <a:lnTo>
                    <a:pt x="58" y="24"/>
                  </a:lnTo>
                  <a:lnTo>
                    <a:pt x="78" y="44"/>
                  </a:lnTo>
                  <a:lnTo>
                    <a:pt x="96" y="71"/>
                  </a:lnTo>
                  <a:lnTo>
                    <a:pt x="107" y="108"/>
                  </a:lnTo>
                  <a:lnTo>
                    <a:pt x="109" y="156"/>
                  </a:lnTo>
                  <a:lnTo>
                    <a:pt x="105" y="156"/>
                  </a:lnTo>
                  <a:lnTo>
                    <a:pt x="99" y="156"/>
                  </a:lnTo>
                  <a:lnTo>
                    <a:pt x="93" y="156"/>
                  </a:lnTo>
                  <a:lnTo>
                    <a:pt x="87" y="154"/>
                  </a:lnTo>
                  <a:lnTo>
                    <a:pt x="81" y="153"/>
                  </a:lnTo>
                  <a:lnTo>
                    <a:pt x="74" y="150"/>
                  </a:lnTo>
                  <a:lnTo>
                    <a:pt x="66" y="145"/>
                  </a:lnTo>
                  <a:lnTo>
                    <a:pt x="58" y="139"/>
                  </a:lnTo>
                  <a:lnTo>
                    <a:pt x="53" y="126"/>
                  </a:lnTo>
                  <a:lnTo>
                    <a:pt x="53" y="111"/>
                  </a:lnTo>
                  <a:lnTo>
                    <a:pt x="56" y="96"/>
                  </a:lnTo>
                  <a:lnTo>
                    <a:pt x="59" y="80"/>
                  </a:lnTo>
                  <a:lnTo>
                    <a:pt x="56" y="62"/>
                  </a:lnTo>
                  <a:lnTo>
                    <a:pt x="48" y="43"/>
                  </a:lnTo>
                  <a:lnTo>
                    <a:pt x="31" y="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29" name="Freeform 41"/>
            <p:cNvSpPr>
              <a:spLocks/>
            </p:cNvSpPr>
            <p:nvPr/>
          </p:nvSpPr>
          <p:spPr bwMode="ltGray">
            <a:xfrm rot="1584153">
              <a:off x="236" y="721"/>
              <a:ext cx="62" cy="97"/>
            </a:xfrm>
            <a:custGeom>
              <a:avLst/>
              <a:gdLst>
                <a:gd name="T0" fmla="*/ 31 w 46"/>
                <a:gd name="T1" fmla="*/ 0 h 94"/>
                <a:gd name="T2" fmla="*/ 20 w 46"/>
                <a:gd name="T3" fmla="*/ 38 h 94"/>
                <a:gd name="T4" fmla="*/ 15 w 46"/>
                <a:gd name="T5" fmla="*/ 62 h 94"/>
                <a:gd name="T6" fmla="*/ 11 w 46"/>
                <a:gd name="T7" fmla="*/ 79 h 94"/>
                <a:gd name="T8" fmla="*/ 0 w 46"/>
                <a:gd name="T9" fmla="*/ 94 h 94"/>
                <a:gd name="T10" fmla="*/ 12 w 46"/>
                <a:gd name="T11" fmla="*/ 88 h 94"/>
                <a:gd name="T12" fmla="*/ 23 w 46"/>
                <a:gd name="T13" fmla="*/ 80 h 94"/>
                <a:gd name="T14" fmla="*/ 32 w 46"/>
                <a:gd name="T15" fmla="*/ 69 h 94"/>
                <a:gd name="T16" fmla="*/ 40 w 46"/>
                <a:gd name="T17" fmla="*/ 57 h 94"/>
                <a:gd name="T18" fmla="*/ 45 w 46"/>
                <a:gd name="T19" fmla="*/ 44 h 94"/>
                <a:gd name="T20" fmla="*/ 46 w 46"/>
                <a:gd name="T21" fmla="*/ 30 h 94"/>
                <a:gd name="T22" fmla="*/ 42 w 46"/>
                <a:gd name="T23" fmla="*/ 15 h 94"/>
                <a:gd name="T24" fmla="*/ 31 w 46"/>
                <a:gd name="T25" fmla="*/ 0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6" h="94">
                  <a:moveTo>
                    <a:pt x="31" y="0"/>
                  </a:moveTo>
                  <a:lnTo>
                    <a:pt x="20" y="38"/>
                  </a:lnTo>
                  <a:lnTo>
                    <a:pt x="15" y="62"/>
                  </a:lnTo>
                  <a:lnTo>
                    <a:pt x="11" y="79"/>
                  </a:lnTo>
                  <a:lnTo>
                    <a:pt x="0" y="94"/>
                  </a:lnTo>
                  <a:lnTo>
                    <a:pt x="12" y="88"/>
                  </a:lnTo>
                  <a:lnTo>
                    <a:pt x="23" y="80"/>
                  </a:lnTo>
                  <a:lnTo>
                    <a:pt x="32" y="69"/>
                  </a:lnTo>
                  <a:lnTo>
                    <a:pt x="40" y="57"/>
                  </a:lnTo>
                  <a:lnTo>
                    <a:pt x="45" y="44"/>
                  </a:lnTo>
                  <a:lnTo>
                    <a:pt x="46" y="30"/>
                  </a:lnTo>
                  <a:lnTo>
                    <a:pt x="42" y="15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0" name="Freeform 42"/>
            <p:cNvSpPr>
              <a:spLocks/>
            </p:cNvSpPr>
            <p:nvPr/>
          </p:nvSpPr>
          <p:spPr bwMode="ltGray">
            <a:xfrm rot="1584153">
              <a:off x="585" y="466"/>
              <a:ext cx="72" cy="41"/>
            </a:xfrm>
            <a:custGeom>
              <a:avLst/>
              <a:gdLst>
                <a:gd name="T0" fmla="*/ 0 w 54"/>
                <a:gd name="T1" fmla="*/ 0 h 40"/>
                <a:gd name="T2" fmla="*/ 1 w 54"/>
                <a:gd name="T3" fmla="*/ 1 h 40"/>
                <a:gd name="T4" fmla="*/ 6 w 54"/>
                <a:gd name="T5" fmla="*/ 3 h 40"/>
                <a:gd name="T6" fmla="*/ 13 w 54"/>
                <a:gd name="T7" fmla="*/ 8 h 40"/>
                <a:gd name="T8" fmla="*/ 21 w 54"/>
                <a:gd name="T9" fmla="*/ 12 h 40"/>
                <a:gd name="T10" fmla="*/ 29 w 54"/>
                <a:gd name="T11" fmla="*/ 15 h 40"/>
                <a:gd name="T12" fmla="*/ 38 w 54"/>
                <a:gd name="T13" fmla="*/ 17 h 40"/>
                <a:gd name="T14" fmla="*/ 46 w 54"/>
                <a:gd name="T15" fmla="*/ 18 h 40"/>
                <a:gd name="T16" fmla="*/ 54 w 54"/>
                <a:gd name="T17" fmla="*/ 16 h 40"/>
                <a:gd name="T18" fmla="*/ 53 w 54"/>
                <a:gd name="T19" fmla="*/ 25 h 40"/>
                <a:gd name="T20" fmla="*/ 50 w 54"/>
                <a:gd name="T21" fmla="*/ 33 h 40"/>
                <a:gd name="T22" fmla="*/ 44 w 54"/>
                <a:gd name="T23" fmla="*/ 38 h 40"/>
                <a:gd name="T24" fmla="*/ 37 w 54"/>
                <a:gd name="T25" fmla="*/ 40 h 40"/>
                <a:gd name="T26" fmla="*/ 28 w 54"/>
                <a:gd name="T27" fmla="*/ 39 h 40"/>
                <a:gd name="T28" fmla="*/ 19 w 54"/>
                <a:gd name="T29" fmla="*/ 32 h 40"/>
                <a:gd name="T30" fmla="*/ 10 w 54"/>
                <a:gd name="T31" fmla="*/ 20 h 40"/>
                <a:gd name="T32" fmla="*/ 0 w 54"/>
                <a:gd name="T33" fmla="*/ 0 h 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</a:cxnLst>
              <a:rect l="0" t="0" r="r" b="b"/>
              <a:pathLst>
                <a:path w="54" h="40">
                  <a:moveTo>
                    <a:pt x="0" y="0"/>
                  </a:moveTo>
                  <a:lnTo>
                    <a:pt x="1" y="1"/>
                  </a:lnTo>
                  <a:lnTo>
                    <a:pt x="6" y="3"/>
                  </a:lnTo>
                  <a:lnTo>
                    <a:pt x="13" y="8"/>
                  </a:lnTo>
                  <a:lnTo>
                    <a:pt x="21" y="12"/>
                  </a:lnTo>
                  <a:lnTo>
                    <a:pt x="29" y="15"/>
                  </a:lnTo>
                  <a:lnTo>
                    <a:pt x="38" y="17"/>
                  </a:lnTo>
                  <a:lnTo>
                    <a:pt x="46" y="18"/>
                  </a:lnTo>
                  <a:lnTo>
                    <a:pt x="54" y="16"/>
                  </a:lnTo>
                  <a:lnTo>
                    <a:pt x="53" y="25"/>
                  </a:lnTo>
                  <a:lnTo>
                    <a:pt x="50" y="33"/>
                  </a:lnTo>
                  <a:lnTo>
                    <a:pt x="44" y="38"/>
                  </a:lnTo>
                  <a:lnTo>
                    <a:pt x="37" y="40"/>
                  </a:lnTo>
                  <a:lnTo>
                    <a:pt x="28" y="39"/>
                  </a:lnTo>
                  <a:lnTo>
                    <a:pt x="19" y="32"/>
                  </a:lnTo>
                  <a:lnTo>
                    <a:pt x="10" y="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1" name="Freeform 43"/>
            <p:cNvSpPr>
              <a:spLocks/>
            </p:cNvSpPr>
            <p:nvPr/>
          </p:nvSpPr>
          <p:spPr bwMode="ltGray">
            <a:xfrm>
              <a:off x="0" y="886"/>
              <a:ext cx="360" cy="650"/>
            </a:xfrm>
            <a:custGeom>
              <a:avLst/>
              <a:gdLst>
                <a:gd name="T0" fmla="*/ 264 w 360"/>
                <a:gd name="T1" fmla="*/ 0 h 650"/>
                <a:gd name="T2" fmla="*/ 269 w 360"/>
                <a:gd name="T3" fmla="*/ 9 h 650"/>
                <a:gd name="T4" fmla="*/ 277 w 360"/>
                <a:gd name="T5" fmla="*/ 22 h 650"/>
                <a:gd name="T6" fmla="*/ 286 w 360"/>
                <a:gd name="T7" fmla="*/ 39 h 650"/>
                <a:gd name="T8" fmla="*/ 297 w 360"/>
                <a:gd name="T9" fmla="*/ 58 h 650"/>
                <a:gd name="T10" fmla="*/ 309 w 360"/>
                <a:gd name="T11" fmla="*/ 83 h 650"/>
                <a:gd name="T12" fmla="*/ 319 w 360"/>
                <a:gd name="T13" fmla="*/ 108 h 650"/>
                <a:gd name="T14" fmla="*/ 329 w 360"/>
                <a:gd name="T15" fmla="*/ 136 h 650"/>
                <a:gd name="T16" fmla="*/ 333 w 360"/>
                <a:gd name="T17" fmla="*/ 163 h 650"/>
                <a:gd name="T18" fmla="*/ 336 w 360"/>
                <a:gd name="T19" fmla="*/ 193 h 650"/>
                <a:gd name="T20" fmla="*/ 332 w 360"/>
                <a:gd name="T21" fmla="*/ 223 h 650"/>
                <a:gd name="T22" fmla="*/ 323 w 360"/>
                <a:gd name="T23" fmla="*/ 255 h 650"/>
                <a:gd name="T24" fmla="*/ 310 w 360"/>
                <a:gd name="T25" fmla="*/ 285 h 650"/>
                <a:gd name="T26" fmla="*/ 287 w 360"/>
                <a:gd name="T27" fmla="*/ 315 h 650"/>
                <a:gd name="T28" fmla="*/ 257 w 360"/>
                <a:gd name="T29" fmla="*/ 343 h 650"/>
                <a:gd name="T30" fmla="*/ 218 w 360"/>
                <a:gd name="T31" fmla="*/ 370 h 650"/>
                <a:gd name="T32" fmla="*/ 167 w 360"/>
                <a:gd name="T33" fmla="*/ 396 h 650"/>
                <a:gd name="T34" fmla="*/ 111 w 360"/>
                <a:gd name="T35" fmla="*/ 425 h 650"/>
                <a:gd name="T36" fmla="*/ 69 w 360"/>
                <a:gd name="T37" fmla="*/ 457 h 650"/>
                <a:gd name="T38" fmla="*/ 35 w 360"/>
                <a:gd name="T39" fmla="*/ 490 h 650"/>
                <a:gd name="T40" fmla="*/ 12 w 360"/>
                <a:gd name="T41" fmla="*/ 526 h 650"/>
                <a:gd name="T42" fmla="*/ 0 w 360"/>
                <a:gd name="T43" fmla="*/ 553 h 650"/>
                <a:gd name="T44" fmla="*/ 0 w 360"/>
                <a:gd name="T45" fmla="*/ 650 h 650"/>
                <a:gd name="T46" fmla="*/ 6 w 360"/>
                <a:gd name="T47" fmla="*/ 628 h 650"/>
                <a:gd name="T48" fmla="*/ 19 w 360"/>
                <a:gd name="T49" fmla="*/ 594 h 650"/>
                <a:gd name="T50" fmla="*/ 43 w 360"/>
                <a:gd name="T51" fmla="*/ 551 h 650"/>
                <a:gd name="T52" fmla="*/ 76 w 360"/>
                <a:gd name="T53" fmla="*/ 503 h 650"/>
                <a:gd name="T54" fmla="*/ 125 w 360"/>
                <a:gd name="T55" fmla="*/ 454 h 650"/>
                <a:gd name="T56" fmla="*/ 190 w 360"/>
                <a:gd name="T57" fmla="*/ 408 h 650"/>
                <a:gd name="T58" fmla="*/ 275 w 360"/>
                <a:gd name="T59" fmla="*/ 365 h 650"/>
                <a:gd name="T60" fmla="*/ 308 w 360"/>
                <a:gd name="T61" fmla="*/ 342 h 650"/>
                <a:gd name="T62" fmla="*/ 335 w 360"/>
                <a:gd name="T63" fmla="*/ 305 h 650"/>
                <a:gd name="T64" fmla="*/ 352 w 360"/>
                <a:gd name="T65" fmla="*/ 255 h 650"/>
                <a:gd name="T66" fmla="*/ 360 w 360"/>
                <a:gd name="T67" fmla="*/ 201 h 650"/>
                <a:gd name="T68" fmla="*/ 356 w 360"/>
                <a:gd name="T69" fmla="*/ 144 h 650"/>
                <a:gd name="T70" fmla="*/ 341 w 360"/>
                <a:gd name="T71" fmla="*/ 88 h 650"/>
                <a:gd name="T72" fmla="*/ 311 w 360"/>
                <a:gd name="T73" fmla="*/ 39 h 650"/>
                <a:gd name="T74" fmla="*/ 264 w 360"/>
                <a:gd name="T75" fmla="*/ 0 h 6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360" h="650">
                  <a:moveTo>
                    <a:pt x="264" y="0"/>
                  </a:moveTo>
                  <a:lnTo>
                    <a:pt x="269" y="9"/>
                  </a:lnTo>
                  <a:lnTo>
                    <a:pt x="277" y="22"/>
                  </a:lnTo>
                  <a:lnTo>
                    <a:pt x="286" y="39"/>
                  </a:lnTo>
                  <a:lnTo>
                    <a:pt x="297" y="58"/>
                  </a:lnTo>
                  <a:lnTo>
                    <a:pt x="309" y="83"/>
                  </a:lnTo>
                  <a:lnTo>
                    <a:pt x="319" y="108"/>
                  </a:lnTo>
                  <a:lnTo>
                    <a:pt x="329" y="136"/>
                  </a:lnTo>
                  <a:lnTo>
                    <a:pt x="333" y="163"/>
                  </a:lnTo>
                  <a:lnTo>
                    <a:pt x="336" y="193"/>
                  </a:lnTo>
                  <a:lnTo>
                    <a:pt x="332" y="223"/>
                  </a:lnTo>
                  <a:lnTo>
                    <a:pt x="323" y="255"/>
                  </a:lnTo>
                  <a:lnTo>
                    <a:pt x="310" y="285"/>
                  </a:lnTo>
                  <a:lnTo>
                    <a:pt x="287" y="315"/>
                  </a:lnTo>
                  <a:lnTo>
                    <a:pt x="257" y="343"/>
                  </a:lnTo>
                  <a:lnTo>
                    <a:pt x="218" y="370"/>
                  </a:lnTo>
                  <a:lnTo>
                    <a:pt x="167" y="396"/>
                  </a:lnTo>
                  <a:lnTo>
                    <a:pt x="111" y="425"/>
                  </a:lnTo>
                  <a:lnTo>
                    <a:pt x="69" y="457"/>
                  </a:lnTo>
                  <a:lnTo>
                    <a:pt x="35" y="490"/>
                  </a:lnTo>
                  <a:lnTo>
                    <a:pt x="12" y="526"/>
                  </a:lnTo>
                  <a:lnTo>
                    <a:pt x="0" y="553"/>
                  </a:lnTo>
                  <a:lnTo>
                    <a:pt x="0" y="650"/>
                  </a:lnTo>
                  <a:lnTo>
                    <a:pt x="6" y="628"/>
                  </a:lnTo>
                  <a:lnTo>
                    <a:pt x="19" y="594"/>
                  </a:lnTo>
                  <a:lnTo>
                    <a:pt x="43" y="551"/>
                  </a:lnTo>
                  <a:lnTo>
                    <a:pt x="76" y="503"/>
                  </a:lnTo>
                  <a:lnTo>
                    <a:pt x="125" y="454"/>
                  </a:lnTo>
                  <a:lnTo>
                    <a:pt x="190" y="408"/>
                  </a:lnTo>
                  <a:lnTo>
                    <a:pt x="275" y="365"/>
                  </a:lnTo>
                  <a:lnTo>
                    <a:pt x="308" y="342"/>
                  </a:lnTo>
                  <a:lnTo>
                    <a:pt x="335" y="305"/>
                  </a:lnTo>
                  <a:lnTo>
                    <a:pt x="352" y="255"/>
                  </a:lnTo>
                  <a:lnTo>
                    <a:pt x="360" y="201"/>
                  </a:lnTo>
                  <a:lnTo>
                    <a:pt x="356" y="144"/>
                  </a:lnTo>
                  <a:lnTo>
                    <a:pt x="341" y="88"/>
                  </a:lnTo>
                  <a:lnTo>
                    <a:pt x="311" y="39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  <p:sp>
          <p:nvSpPr>
            <p:cNvPr id="37932" name="Freeform 44"/>
            <p:cNvSpPr>
              <a:spLocks/>
            </p:cNvSpPr>
            <p:nvPr/>
          </p:nvSpPr>
          <p:spPr bwMode="ltGray">
            <a:xfrm rot="1584153">
              <a:off x="56" y="84"/>
              <a:ext cx="804" cy="686"/>
            </a:xfrm>
            <a:custGeom>
              <a:avLst/>
              <a:gdLst>
                <a:gd name="T0" fmla="*/ 16 w 596"/>
                <a:gd name="T1" fmla="*/ 370 h 666"/>
                <a:gd name="T2" fmla="*/ 6 w 596"/>
                <a:gd name="T3" fmla="*/ 341 h 666"/>
                <a:gd name="T4" fmla="*/ 0 w 596"/>
                <a:gd name="T5" fmla="*/ 289 h 666"/>
                <a:gd name="T6" fmla="*/ 4 w 596"/>
                <a:gd name="T7" fmla="*/ 222 h 666"/>
                <a:gd name="T8" fmla="*/ 25 w 596"/>
                <a:gd name="T9" fmla="*/ 151 h 666"/>
                <a:gd name="T10" fmla="*/ 69 w 596"/>
                <a:gd name="T11" fmla="*/ 84 h 666"/>
                <a:gd name="T12" fmla="*/ 142 w 596"/>
                <a:gd name="T13" fmla="*/ 31 h 666"/>
                <a:gd name="T14" fmla="*/ 247 w 596"/>
                <a:gd name="T15" fmla="*/ 2 h 666"/>
                <a:gd name="T16" fmla="*/ 380 w 596"/>
                <a:gd name="T17" fmla="*/ 9 h 666"/>
                <a:gd name="T18" fmla="*/ 484 w 596"/>
                <a:gd name="T19" fmla="*/ 68 h 666"/>
                <a:gd name="T20" fmla="*/ 554 w 596"/>
                <a:gd name="T21" fmla="*/ 165 h 666"/>
                <a:gd name="T22" fmla="*/ 591 w 596"/>
                <a:gd name="T23" fmla="*/ 284 h 666"/>
                <a:gd name="T24" fmla="*/ 595 w 596"/>
                <a:gd name="T25" fmla="*/ 409 h 666"/>
                <a:gd name="T26" fmla="*/ 566 w 596"/>
                <a:gd name="T27" fmla="*/ 525 h 666"/>
                <a:gd name="T28" fmla="*/ 507 w 596"/>
                <a:gd name="T29" fmla="*/ 615 h 666"/>
                <a:gd name="T30" fmla="*/ 417 w 596"/>
                <a:gd name="T31" fmla="*/ 663 h 666"/>
                <a:gd name="T32" fmla="*/ 389 w 596"/>
                <a:gd name="T33" fmla="*/ 659 h 666"/>
                <a:gd name="T34" fmla="*/ 441 w 596"/>
                <a:gd name="T35" fmla="*/ 617 h 666"/>
                <a:gd name="T36" fmla="*/ 482 w 596"/>
                <a:gd name="T37" fmla="*/ 544 h 666"/>
                <a:gd name="T38" fmla="*/ 509 w 596"/>
                <a:gd name="T39" fmla="*/ 454 h 666"/>
                <a:gd name="T40" fmla="*/ 520 w 596"/>
                <a:gd name="T41" fmla="*/ 355 h 666"/>
                <a:gd name="T42" fmla="*/ 514 w 596"/>
                <a:gd name="T43" fmla="*/ 258 h 666"/>
                <a:gd name="T44" fmla="*/ 485 w 596"/>
                <a:gd name="T45" fmla="*/ 174 h 666"/>
                <a:gd name="T46" fmla="*/ 433 w 596"/>
                <a:gd name="T47" fmla="*/ 112 h 666"/>
                <a:gd name="T48" fmla="*/ 341 w 596"/>
                <a:gd name="T49" fmla="*/ 75 h 666"/>
                <a:gd name="T50" fmla="*/ 246 w 596"/>
                <a:gd name="T51" fmla="*/ 61 h 666"/>
                <a:gd name="T52" fmla="*/ 174 w 596"/>
                <a:gd name="T53" fmla="*/ 71 h 666"/>
                <a:gd name="T54" fmla="*/ 121 w 596"/>
                <a:gd name="T55" fmla="*/ 101 h 666"/>
                <a:gd name="T56" fmla="*/ 84 w 596"/>
                <a:gd name="T57" fmla="*/ 149 h 666"/>
                <a:gd name="T58" fmla="*/ 57 w 596"/>
                <a:gd name="T59" fmla="*/ 206 h 666"/>
                <a:gd name="T60" fmla="*/ 40 w 596"/>
                <a:gd name="T61" fmla="*/ 272 h 666"/>
                <a:gd name="T62" fmla="*/ 28 w 596"/>
                <a:gd name="T63" fmla="*/ 339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596" h="666">
                  <a:moveTo>
                    <a:pt x="22" y="372"/>
                  </a:moveTo>
                  <a:lnTo>
                    <a:pt x="16" y="370"/>
                  </a:lnTo>
                  <a:lnTo>
                    <a:pt x="10" y="360"/>
                  </a:lnTo>
                  <a:lnTo>
                    <a:pt x="6" y="341"/>
                  </a:lnTo>
                  <a:lnTo>
                    <a:pt x="1" y="318"/>
                  </a:lnTo>
                  <a:lnTo>
                    <a:pt x="0" y="289"/>
                  </a:lnTo>
                  <a:lnTo>
                    <a:pt x="0" y="257"/>
                  </a:lnTo>
                  <a:lnTo>
                    <a:pt x="4" y="222"/>
                  </a:lnTo>
                  <a:lnTo>
                    <a:pt x="13" y="187"/>
                  </a:lnTo>
                  <a:lnTo>
                    <a:pt x="25" y="151"/>
                  </a:lnTo>
                  <a:lnTo>
                    <a:pt x="45" y="116"/>
                  </a:lnTo>
                  <a:lnTo>
                    <a:pt x="69" y="84"/>
                  </a:lnTo>
                  <a:lnTo>
                    <a:pt x="101" y="55"/>
                  </a:lnTo>
                  <a:lnTo>
                    <a:pt x="142" y="31"/>
                  </a:lnTo>
                  <a:lnTo>
                    <a:pt x="190" y="13"/>
                  </a:lnTo>
                  <a:lnTo>
                    <a:pt x="247" y="2"/>
                  </a:lnTo>
                  <a:lnTo>
                    <a:pt x="314" y="0"/>
                  </a:lnTo>
                  <a:lnTo>
                    <a:pt x="380" y="9"/>
                  </a:lnTo>
                  <a:lnTo>
                    <a:pt x="436" y="33"/>
                  </a:lnTo>
                  <a:lnTo>
                    <a:pt x="484" y="68"/>
                  </a:lnTo>
                  <a:lnTo>
                    <a:pt x="524" y="113"/>
                  </a:lnTo>
                  <a:lnTo>
                    <a:pt x="554" y="165"/>
                  </a:lnTo>
                  <a:lnTo>
                    <a:pt x="577" y="222"/>
                  </a:lnTo>
                  <a:lnTo>
                    <a:pt x="591" y="284"/>
                  </a:lnTo>
                  <a:lnTo>
                    <a:pt x="596" y="347"/>
                  </a:lnTo>
                  <a:lnTo>
                    <a:pt x="595" y="409"/>
                  </a:lnTo>
                  <a:lnTo>
                    <a:pt x="585" y="469"/>
                  </a:lnTo>
                  <a:lnTo>
                    <a:pt x="566" y="525"/>
                  </a:lnTo>
                  <a:lnTo>
                    <a:pt x="540" y="574"/>
                  </a:lnTo>
                  <a:lnTo>
                    <a:pt x="507" y="615"/>
                  </a:lnTo>
                  <a:lnTo>
                    <a:pt x="465" y="645"/>
                  </a:lnTo>
                  <a:lnTo>
                    <a:pt x="417" y="663"/>
                  </a:lnTo>
                  <a:lnTo>
                    <a:pt x="360" y="666"/>
                  </a:lnTo>
                  <a:lnTo>
                    <a:pt x="389" y="659"/>
                  </a:lnTo>
                  <a:lnTo>
                    <a:pt x="417" y="642"/>
                  </a:lnTo>
                  <a:lnTo>
                    <a:pt x="441" y="617"/>
                  </a:lnTo>
                  <a:lnTo>
                    <a:pt x="463" y="583"/>
                  </a:lnTo>
                  <a:lnTo>
                    <a:pt x="482" y="544"/>
                  </a:lnTo>
                  <a:lnTo>
                    <a:pt x="497" y="501"/>
                  </a:lnTo>
                  <a:lnTo>
                    <a:pt x="509" y="454"/>
                  </a:lnTo>
                  <a:lnTo>
                    <a:pt x="517" y="404"/>
                  </a:lnTo>
                  <a:lnTo>
                    <a:pt x="520" y="355"/>
                  </a:lnTo>
                  <a:lnTo>
                    <a:pt x="519" y="305"/>
                  </a:lnTo>
                  <a:lnTo>
                    <a:pt x="514" y="258"/>
                  </a:lnTo>
                  <a:lnTo>
                    <a:pt x="502" y="213"/>
                  </a:lnTo>
                  <a:lnTo>
                    <a:pt x="485" y="174"/>
                  </a:lnTo>
                  <a:lnTo>
                    <a:pt x="462" y="139"/>
                  </a:lnTo>
                  <a:lnTo>
                    <a:pt x="433" y="112"/>
                  </a:lnTo>
                  <a:lnTo>
                    <a:pt x="397" y="93"/>
                  </a:lnTo>
                  <a:lnTo>
                    <a:pt x="341" y="75"/>
                  </a:lnTo>
                  <a:lnTo>
                    <a:pt x="290" y="65"/>
                  </a:lnTo>
                  <a:lnTo>
                    <a:pt x="246" y="61"/>
                  </a:lnTo>
                  <a:lnTo>
                    <a:pt x="207" y="63"/>
                  </a:lnTo>
                  <a:lnTo>
                    <a:pt x="174" y="71"/>
                  </a:lnTo>
                  <a:lnTo>
                    <a:pt x="146" y="84"/>
                  </a:lnTo>
                  <a:lnTo>
                    <a:pt x="121" y="101"/>
                  </a:lnTo>
                  <a:lnTo>
                    <a:pt x="101" y="123"/>
                  </a:lnTo>
                  <a:lnTo>
                    <a:pt x="84" y="149"/>
                  </a:lnTo>
                  <a:lnTo>
                    <a:pt x="69" y="176"/>
                  </a:lnTo>
                  <a:lnTo>
                    <a:pt x="57" y="206"/>
                  </a:lnTo>
                  <a:lnTo>
                    <a:pt x="48" y="239"/>
                  </a:lnTo>
                  <a:lnTo>
                    <a:pt x="40" y="272"/>
                  </a:lnTo>
                  <a:lnTo>
                    <a:pt x="33" y="305"/>
                  </a:lnTo>
                  <a:lnTo>
                    <a:pt x="28" y="339"/>
                  </a:lnTo>
                  <a:lnTo>
                    <a:pt x="22" y="37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ZA"/>
            </a:p>
          </p:txBody>
        </p:sp>
      </p:grpSp>
      <p:sp>
        <p:nvSpPr>
          <p:cNvPr id="37933" name="Rectangle 45"/>
          <p:cNvSpPr>
            <a:spLocks noGrp="1" noChangeArrowheads="1"/>
          </p:cNvSpPr>
          <p:nvPr>
            <p:ph type="title"/>
          </p:nvPr>
        </p:nvSpPr>
        <p:spPr bwMode="auto">
          <a:xfrm>
            <a:off x="442913" y="103188"/>
            <a:ext cx="8243887" cy="1314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37934" name="Rectangle 46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45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37935" name="Rectangle 4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7936" name="Rectangle 48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endParaRPr lang="en-US"/>
          </a:p>
        </p:txBody>
      </p:sp>
      <p:sp>
        <p:nvSpPr>
          <p:cNvPr id="37937" name="Rectangle 49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3638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fld id="{EC530E7B-8D65-41E4-A3A5-FB869E3D9645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hf hdr="0" ftr="0" dt="0"/>
  <p:txStyles>
    <p:titleStyle>
      <a:lvl1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+mj-lt"/>
          <a:ea typeface="+mj-ea"/>
          <a:cs typeface="+mj-cs"/>
        </a:defRPr>
      </a:lvl1pPr>
      <a:lvl2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2pPr>
      <a:lvl3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3pPr>
      <a:lvl4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4pPr>
      <a:lvl5pPr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5pPr>
      <a:lvl6pPr marL="4572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6pPr>
      <a:lvl7pPr marL="9144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7pPr>
      <a:lvl8pPr marL="13716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8pPr>
      <a:lvl9pPr marL="1828800" algn="ctr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effectLst>
            <a:outerShdw blurRad="38100" dist="38100" dir="2700000" algn="tl">
              <a:srgbClr val="C0C0C0"/>
            </a:outerShdw>
          </a:effectLst>
          <a:latin typeface="Verdana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3.w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jpe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4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7.jpeg"/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6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35.wmf"/><Relationship Id="rId5" Type="http://schemas.openxmlformats.org/officeDocument/2006/relationships/oleObject" Target="../embeddings/oleObject4.bin"/><Relationship Id="rId4" Type="http://schemas.openxmlformats.org/officeDocument/2006/relationships/image" Target="../media/image37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7" Type="http://schemas.openxmlformats.org/officeDocument/2006/relationships/image" Target="../media/image410.png"/><Relationship Id="rId2" Type="http://schemas.openxmlformats.org/officeDocument/2006/relationships/image" Target="../media/image39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png"/><Relationship Id="rId5" Type="http://schemas.openxmlformats.org/officeDocument/2006/relationships/image" Target="../media/image400.png"/><Relationship Id="rId4" Type="http://schemas.openxmlformats.org/officeDocument/2006/relationships/image" Target="../media/image5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jpeg"/><Relationship Id="rId3" Type="http://schemas.openxmlformats.org/officeDocument/2006/relationships/oleObject" Target="../embeddings/oleObject5.bin"/><Relationship Id="rId7" Type="http://schemas.openxmlformats.org/officeDocument/2006/relationships/image" Target="../media/image43.jpe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42.wmf"/><Relationship Id="rId5" Type="http://schemas.openxmlformats.org/officeDocument/2006/relationships/oleObject" Target="../embeddings/oleObject6.bin"/><Relationship Id="rId4" Type="http://schemas.openxmlformats.org/officeDocument/2006/relationships/image" Target="../media/image41.wmf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0.png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3" Type="http://schemas.openxmlformats.org/officeDocument/2006/relationships/image" Target="../media/image62.png"/><Relationship Id="rId7" Type="http://schemas.openxmlformats.org/officeDocument/2006/relationships/image" Target="../media/image66.pn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6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/>
          <a:p>
            <a:fld id="{445E8F46-074C-4EFD-BE29-48D4EBF2441E}" type="slidenum">
              <a:rPr lang="en-US"/>
              <a:pPr/>
              <a:t>1</a:t>
            </a:fld>
            <a:endParaRPr lang="en-US"/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95275" y="1778000"/>
            <a:ext cx="8534399" cy="1714500"/>
          </a:xfrm>
        </p:spPr>
        <p:txBody>
          <a:bodyPr/>
          <a:lstStyle/>
          <a:p>
            <a:r>
              <a:rPr lang="en-US" sz="4400" dirty="0"/>
              <a:t>Chapter 6</a:t>
            </a:r>
          </a:p>
          <a:p>
            <a:r>
              <a:rPr lang="en-US" sz="4400" dirty="0"/>
              <a:t>Capacitors and Inductors</a:t>
            </a: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 bwMode="auto">
          <a:xfrm>
            <a:off x="711200" y="457200"/>
            <a:ext cx="7702550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3300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rgbClr val="993366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5200" b="1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pPr>
              <a:defRPr/>
            </a:pPr>
            <a:r>
              <a:rPr lang="en-US" sz="3200" dirty="0" smtClean="0"/>
              <a:t>EBN </a:t>
            </a:r>
            <a:r>
              <a:rPr lang="en-US" sz="3200" dirty="0" smtClean="0"/>
              <a:t>111/122</a:t>
            </a:r>
            <a:r>
              <a:rPr lang="en-US" sz="3200" dirty="0" smtClean="0"/>
              <a:t/>
            </a:r>
            <a:br>
              <a:rPr lang="en-US" sz="3200" dirty="0" smtClean="0"/>
            </a:br>
            <a:r>
              <a:rPr lang="en-US" sz="3200" dirty="0" smtClean="0"/>
              <a:t>ELECTRICITY AND ELECTRONICS</a:t>
            </a:r>
            <a:endParaRPr lang="en-US" sz="3200" dirty="0"/>
          </a:p>
        </p:txBody>
      </p:sp>
      <p:pic>
        <p:nvPicPr>
          <p:cNvPr id="2054" name="Picture 6" descr="http://www.ledeaudio.com/images/capacitors_parts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1200" y="3621962"/>
            <a:ext cx="3810000" cy="2428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t1.gstatic.com/images?q=tbn:ANd9GcSPuXpiDi_L7Qhxa_P9ooVEMX9cd2BDHGj9Rws1cvGQFNEF8Rmx2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3540289"/>
            <a:ext cx="3460750" cy="25922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F7472A-5789-458B-B0F9-576B0AA22D92}" type="slidenum">
              <a:rPr lang="en-US"/>
              <a:pPr/>
              <a:t>2</a:t>
            </a:fld>
            <a:endParaRPr lang="en-US"/>
          </a:p>
        </p:txBody>
      </p:sp>
      <p:sp>
        <p:nvSpPr>
          <p:cNvPr id="40962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103188"/>
            <a:ext cx="8243887" cy="1725612"/>
          </a:xfrm>
        </p:spPr>
        <p:txBody>
          <a:bodyPr/>
          <a:lstStyle/>
          <a:p>
            <a:r>
              <a:rPr lang="en-US" dirty="0"/>
              <a:t>Capacitors and Inductors </a:t>
            </a:r>
            <a:r>
              <a:rPr lang="en-US" sz="4000" dirty="0"/>
              <a:t>Chapter 6</a:t>
            </a:r>
          </a:p>
        </p:txBody>
      </p:sp>
      <p:sp>
        <p:nvSpPr>
          <p:cNvPr id="4096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2057400"/>
            <a:ext cx="8229600" cy="3541713"/>
          </a:xfrm>
        </p:spPr>
        <p:txBody>
          <a:bodyPr/>
          <a:lstStyle/>
          <a:p>
            <a:pPr marL="609600" indent="-609600">
              <a:buFontTx/>
              <a:buNone/>
            </a:pPr>
            <a:r>
              <a:rPr lang="en-US" dirty="0" smtClean="0"/>
              <a:t>6.2</a:t>
            </a:r>
            <a:r>
              <a:rPr lang="en-US" dirty="0"/>
              <a:t>	Capacitors</a:t>
            </a:r>
          </a:p>
          <a:p>
            <a:pPr marL="609600" indent="-609600">
              <a:buFontTx/>
              <a:buNone/>
            </a:pPr>
            <a:r>
              <a:rPr lang="en-US" dirty="0" smtClean="0"/>
              <a:t>6.3</a:t>
            </a:r>
            <a:r>
              <a:rPr lang="en-US" dirty="0"/>
              <a:t>	Series and Parallel Capacitors</a:t>
            </a:r>
          </a:p>
          <a:p>
            <a:pPr marL="609600" indent="-609600">
              <a:buFontTx/>
              <a:buNone/>
            </a:pPr>
            <a:r>
              <a:rPr lang="en-US" dirty="0" smtClean="0"/>
              <a:t>6.4</a:t>
            </a:r>
            <a:r>
              <a:rPr lang="en-US" dirty="0"/>
              <a:t>	Inductors</a:t>
            </a:r>
          </a:p>
          <a:p>
            <a:pPr marL="609600" indent="-609600">
              <a:buFontTx/>
              <a:buNone/>
            </a:pPr>
            <a:r>
              <a:rPr lang="en-US" dirty="0" smtClean="0"/>
              <a:t>6.5</a:t>
            </a:r>
            <a:r>
              <a:rPr lang="en-US" dirty="0"/>
              <a:t>	Series and Parallel Inductors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690347" y="4228743"/>
            <a:ext cx="5148853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dirty="0" smtClean="0"/>
              <a:t>A = Surface are of the metal plate [m</a:t>
            </a:r>
            <a:r>
              <a:rPr lang="en-ZA" baseline="30000" dirty="0" smtClean="0"/>
              <a:t>2</a:t>
            </a:r>
            <a:r>
              <a:rPr lang="en-ZA" dirty="0" smtClean="0"/>
              <a:t>]</a:t>
            </a:r>
          </a:p>
          <a:p>
            <a:r>
              <a:rPr lang="en-ZA" sz="2400" dirty="0" smtClean="0">
                <a:sym typeface="Symbol"/>
              </a:rPr>
              <a:t></a:t>
            </a:r>
            <a:r>
              <a:rPr lang="en-ZA" dirty="0" smtClean="0">
                <a:sym typeface="Symbol"/>
              </a:rPr>
              <a:t> = permittivity of the dielectric [F/m]</a:t>
            </a:r>
          </a:p>
          <a:p>
            <a:r>
              <a:rPr lang="en-ZA" dirty="0" smtClean="0">
                <a:sym typeface="Symbol"/>
              </a:rPr>
              <a:t>d = distance between plates [m]</a:t>
            </a:r>
          </a:p>
          <a:p>
            <a:r>
              <a:rPr lang="en-ZA" sz="2400" dirty="0" smtClean="0">
                <a:sym typeface="Symbol"/>
              </a:rPr>
              <a:t></a:t>
            </a:r>
            <a:r>
              <a:rPr lang="en-ZA" dirty="0" smtClean="0">
                <a:sym typeface="Symbol"/>
              </a:rPr>
              <a:t> = </a:t>
            </a:r>
            <a:r>
              <a:rPr lang="en-ZA" sz="2400" dirty="0" smtClean="0">
                <a:sym typeface="Symbol"/>
              </a:rPr>
              <a:t></a:t>
            </a:r>
            <a:r>
              <a:rPr lang="en-ZA" baseline="-25000" dirty="0" smtClean="0">
                <a:sym typeface="Symbol"/>
              </a:rPr>
              <a:t>r</a:t>
            </a:r>
            <a:r>
              <a:rPr lang="en-ZA" dirty="0" smtClean="0">
                <a:sym typeface="Symbol"/>
              </a:rPr>
              <a:t> </a:t>
            </a:r>
            <a:r>
              <a:rPr lang="en-ZA" sz="2400" dirty="0" smtClean="0">
                <a:sym typeface="Symbol"/>
              </a:rPr>
              <a:t></a:t>
            </a:r>
            <a:r>
              <a:rPr lang="en-ZA" baseline="-25000" dirty="0" smtClean="0">
                <a:sym typeface="Symbol"/>
              </a:rPr>
              <a:t>0</a:t>
            </a:r>
          </a:p>
          <a:p>
            <a:r>
              <a:rPr lang="en-ZA" sz="2400" dirty="0" smtClean="0">
                <a:sym typeface="Symbol"/>
              </a:rPr>
              <a:t></a:t>
            </a:r>
            <a:r>
              <a:rPr lang="en-ZA" baseline="-25000" dirty="0" smtClean="0">
                <a:sym typeface="Symbol"/>
              </a:rPr>
              <a:t>r</a:t>
            </a:r>
            <a:r>
              <a:rPr lang="en-ZA" dirty="0" smtClean="0">
                <a:sym typeface="Symbol"/>
              </a:rPr>
              <a:t> = Relative permittivity of material</a:t>
            </a:r>
          </a:p>
          <a:p>
            <a:r>
              <a:rPr lang="en-ZA" sz="2400" dirty="0" smtClean="0">
                <a:sym typeface="Symbol"/>
              </a:rPr>
              <a:t></a:t>
            </a:r>
            <a:r>
              <a:rPr lang="en-ZA" baseline="-25000" dirty="0" smtClean="0">
                <a:sym typeface="Symbol"/>
              </a:rPr>
              <a:t>0</a:t>
            </a:r>
            <a:r>
              <a:rPr lang="en-ZA" dirty="0" smtClean="0">
                <a:sym typeface="Symbol"/>
              </a:rPr>
              <a:t> = Permittivity of air (8.854 x 10</a:t>
            </a:r>
            <a:r>
              <a:rPr lang="en-ZA" baseline="30000" dirty="0" smtClean="0">
                <a:sym typeface="Symbol"/>
              </a:rPr>
              <a:t>-12</a:t>
            </a:r>
            <a:r>
              <a:rPr lang="en-ZA" dirty="0" smtClean="0">
                <a:sym typeface="Symbol"/>
              </a:rPr>
              <a:t> F/m)</a:t>
            </a:r>
            <a:endParaRPr lang="en-ZA" baseline="-25000" dirty="0" smtClean="0">
              <a:sym typeface="Symbol"/>
            </a:endParaRPr>
          </a:p>
          <a:p>
            <a:endParaRPr lang="en-ZA" dirty="0"/>
          </a:p>
        </p:txBody>
      </p:sp>
      <p:sp>
        <p:nvSpPr>
          <p:cNvPr id="9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64ECBC-373F-44B7-B6D6-50068621396E}" type="slidenum">
              <a:rPr lang="en-US"/>
              <a:pPr/>
              <a:t>3</a:t>
            </a:fld>
            <a:endParaRPr lang="en-US"/>
          </a:p>
        </p:txBody>
      </p:sp>
      <p:sp>
        <p:nvSpPr>
          <p:cNvPr id="141314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204786"/>
            <a:ext cx="8243887" cy="887412"/>
          </a:xfrm>
        </p:spPr>
        <p:txBody>
          <a:bodyPr/>
          <a:lstStyle/>
          <a:p>
            <a:r>
              <a:rPr lang="en-US" sz="4000" dirty="0" smtClean="0"/>
              <a:t>6.2 Capacitors</a:t>
            </a:r>
            <a:br>
              <a:rPr lang="en-US" sz="4000" dirty="0" smtClean="0"/>
            </a:br>
            <a:r>
              <a:rPr lang="en-US" sz="3200" dirty="0" smtClean="0">
                <a:solidFill>
                  <a:srgbClr val="FF0000"/>
                </a:solidFill>
              </a:rPr>
              <a:t>Physical </a:t>
            </a:r>
            <a:r>
              <a:rPr lang="en-US" sz="3200" dirty="0" smtClean="0">
                <a:solidFill>
                  <a:srgbClr val="FF0000"/>
                </a:solidFill>
              </a:rPr>
              <a:t>characteristics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413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69900" y="1143000"/>
            <a:ext cx="8077200" cy="1828800"/>
          </a:xfrm>
        </p:spPr>
        <p:txBody>
          <a:bodyPr/>
          <a:lstStyle/>
          <a:p>
            <a:r>
              <a:rPr lang="en-US" sz="2400" dirty="0"/>
              <a:t>A capacitor is a passive element designed        to </a:t>
            </a:r>
            <a:r>
              <a:rPr lang="en-US" sz="2400" b="1" dirty="0"/>
              <a:t>store energy</a:t>
            </a:r>
            <a:r>
              <a:rPr lang="en-US" sz="2400" dirty="0"/>
              <a:t> in its </a:t>
            </a:r>
            <a:r>
              <a:rPr lang="en-US" sz="2400" b="1" dirty="0">
                <a:solidFill>
                  <a:srgbClr val="FF0000"/>
                </a:solidFill>
              </a:rPr>
              <a:t>electric field</a:t>
            </a:r>
            <a:r>
              <a:rPr lang="en-US" sz="2400" b="1" dirty="0"/>
              <a:t>. </a:t>
            </a:r>
            <a:endParaRPr lang="en-US" sz="2400" b="1" dirty="0" smtClean="0"/>
          </a:p>
          <a:p>
            <a:r>
              <a:rPr lang="en-US" sz="2400" dirty="0" smtClean="0"/>
              <a:t>A </a:t>
            </a:r>
            <a:r>
              <a:rPr lang="en-US" sz="2400" b="1" dirty="0" smtClean="0"/>
              <a:t>capacitor</a:t>
            </a:r>
            <a:r>
              <a:rPr lang="en-US" sz="2400" dirty="0" smtClean="0"/>
              <a:t> consists of two conducting plates separated by an insulator (or dielectric).</a:t>
            </a:r>
          </a:p>
          <a:p>
            <a:endParaRPr lang="en-US" sz="2800" b="1" dirty="0"/>
          </a:p>
        </p:txBody>
      </p:sp>
      <p:sp>
        <p:nvSpPr>
          <p:cNvPr id="141321" name="Rectangle 9"/>
          <p:cNvSpPr>
            <a:spLocks noChangeArrowheads="1"/>
          </p:cNvSpPr>
          <p:nvPr/>
        </p:nvSpPr>
        <p:spPr bwMode="auto">
          <a:xfrm>
            <a:off x="457200" y="5449888"/>
            <a:ext cx="8229600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400" dirty="0"/>
          </a:p>
        </p:txBody>
      </p:sp>
      <p:pic>
        <p:nvPicPr>
          <p:cNvPr id="12" name="Picture 3" descr="ale29559_06001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7"/>
          <a:stretch/>
        </p:blipFill>
        <p:spPr bwMode="auto">
          <a:xfrm>
            <a:off x="241301" y="3468107"/>
            <a:ext cx="3461747" cy="3161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1576914"/>
              </p:ext>
            </p:extLst>
          </p:nvPr>
        </p:nvGraphicFramePr>
        <p:xfrm>
          <a:off x="4114800" y="3154006"/>
          <a:ext cx="1535113" cy="1074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1371" name="Equation" r:id="rId4" imgW="558558" imgH="393529" progId="Equation.3">
                  <p:embed/>
                </p:oleObj>
              </mc:Choice>
              <mc:Fallback>
                <p:oleObj name="Equation" r:id="rId4" imgW="558558" imgH="39352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14800" y="3154006"/>
                        <a:ext cx="1535113" cy="1074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405" name="Picture 2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8918" y="1954209"/>
            <a:ext cx="3276600" cy="14747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p:sp>
        <p:nvSpPr>
          <p:cNvPr id="14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2941D0-D7A5-4936-859C-B0090E874371}" type="slidenum">
              <a:rPr lang="en-US"/>
              <a:pPr/>
              <a:t>4</a:t>
            </a:fld>
            <a:endParaRPr lang="en-US"/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title"/>
          </p:nvPr>
        </p:nvSpPr>
        <p:spPr>
          <a:xfrm>
            <a:off x="519113" y="0"/>
            <a:ext cx="8243887" cy="887412"/>
          </a:xfrm>
        </p:spPr>
        <p:txBody>
          <a:bodyPr anchor="t"/>
          <a:lstStyle/>
          <a:p>
            <a:r>
              <a:rPr lang="en-US" sz="2800" dirty="0" smtClean="0"/>
              <a:t>6.2 Capacitors</a:t>
            </a:r>
            <a:br>
              <a:rPr lang="en-US" sz="2800" dirty="0" smtClean="0"/>
            </a:br>
            <a:r>
              <a:rPr lang="en-US" sz="3200" dirty="0" smtClean="0">
                <a:solidFill>
                  <a:srgbClr val="FF0000"/>
                </a:solidFill>
              </a:rPr>
              <a:t>Electrical </a:t>
            </a:r>
            <a:r>
              <a:rPr lang="en-US" sz="3200" dirty="0" smtClean="0">
                <a:solidFill>
                  <a:srgbClr val="FF0000"/>
                </a:solidFill>
              </a:rPr>
              <a:t>characteristics</a:t>
            </a:r>
            <a:endParaRPr lang="en-US" sz="3200" dirty="0"/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44500" y="838200"/>
            <a:ext cx="8458200" cy="11430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b="1" dirty="0"/>
              <a:t>Capacitance</a:t>
            </a:r>
            <a:r>
              <a:rPr lang="en-US" sz="2400" dirty="0"/>
              <a:t> </a:t>
            </a:r>
            <a:r>
              <a:rPr lang="en-US" sz="2400" i="1" dirty="0"/>
              <a:t>C</a:t>
            </a:r>
            <a:r>
              <a:rPr lang="en-US" sz="2400" dirty="0"/>
              <a:t> is the ratio of the charge </a:t>
            </a:r>
            <a:r>
              <a:rPr lang="en-US" sz="2400" i="1" dirty="0">
                <a:solidFill>
                  <a:srgbClr val="FF0000"/>
                </a:solidFill>
              </a:rPr>
              <a:t>q</a:t>
            </a:r>
            <a:r>
              <a:rPr lang="en-US" sz="2400" dirty="0"/>
              <a:t> on one plate of a capacitor to the voltage difference </a:t>
            </a:r>
            <a:r>
              <a:rPr lang="en-US" sz="2400" i="1" dirty="0">
                <a:solidFill>
                  <a:srgbClr val="FF0000"/>
                </a:solidFill>
              </a:rPr>
              <a:t>v</a:t>
            </a:r>
            <a:r>
              <a:rPr lang="en-US" sz="2400" dirty="0"/>
              <a:t> between the two plates, measured in farads (F).</a:t>
            </a:r>
          </a:p>
        </p:txBody>
      </p:sp>
      <p:sp>
        <p:nvSpPr>
          <p:cNvPr id="144394" name="Rectangle 10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44396" name="Rectangle 12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pic>
        <p:nvPicPr>
          <p:cNvPr id="17" name="Picture 3" descr="ale29559_0600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80"/>
          <a:stretch/>
        </p:blipFill>
        <p:spPr bwMode="auto">
          <a:xfrm>
            <a:off x="-25400" y="1975220"/>
            <a:ext cx="3987800" cy="3023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1270552" y="5215990"/>
                <a:ext cx="1395895" cy="935769"/>
              </a:xfrm>
              <a:prstGeom prst="rect">
                <a:avLst/>
              </a:prstGeom>
              <a:noFill/>
              <a:ln>
                <a:solidFill>
                  <a:srgbClr val="FF33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𝐶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𝑞</m:t>
                          </m:r>
                        </m:num>
                        <m:den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𝑣</m:t>
                          </m:r>
                        </m:den>
                      </m:f>
                    </m:oMath>
                  </m:oMathPara>
                </a14:m>
                <a:endParaRPr lang="en-ZA" sz="32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70552" y="5215990"/>
                <a:ext cx="1395895" cy="935769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FF33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3810000" y="2786359"/>
                <a:ext cx="12283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𝑞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</a:rPr>
                        <m:t>𝐶𝑣</m:t>
                      </m:r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786359"/>
                <a:ext cx="1228350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11842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606072" y="3504008"/>
                <a:ext cx="3023328" cy="79355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40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i="1" smtClean="0">
                              <a:latin typeface="Cambria Math"/>
                            </a:rPr>
                            <m:t>𝑑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𝑞</m:t>
                          </m:r>
                        </m:num>
                        <m:den>
                          <m:r>
                            <a:rPr lang="en-ZA" sz="2400" i="1" smtClean="0">
                              <a:latin typeface="Cambria Math"/>
                            </a:rPr>
                            <m:t>𝑑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𝑡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𝑑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𝐶𝑣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</a:rPr>
                        <m:t>𝐶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𝑑𝑣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06072" y="3504008"/>
                <a:ext cx="3023328" cy="79355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650346" y="5653585"/>
                <a:ext cx="4649734" cy="963790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</a:rPr>
                        <m:t>𝑣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ZA" sz="2400" b="0" i="1" smtClean="0">
                              <a:latin typeface="Cambria Math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  <a:ea typeface="Cambria Math"/>
                            </a:rPr>
                            <m:t>∞</m:t>
                          </m:r>
                        </m:sub>
                        <m:sup>
                          <m:r>
                            <a:rPr lang="en-ZA" sz="2400" b="0" i="1" smtClean="0">
                              <a:latin typeface="Cambria Math"/>
                            </a:rPr>
                            <m:t>𝑡</m:t>
                          </m:r>
                        </m:sup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ZA" sz="2400" b="0" i="1" smtClean="0"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400" b="0" i="1" smtClean="0"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ZA" sz="2400" b="0" i="1" smtClean="0">
                              <a:latin typeface="Cambria Math"/>
                            </a:rPr>
                            <m:t>𝑡</m:t>
                          </m:r>
                        </m:sup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𝑖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 </m:t>
                          </m:r>
                          <m:r>
                            <a:rPr lang="en-ZA" sz="2400" b="0" i="1" smtClean="0"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ZA" sz="2400" b="0" i="1" smtClean="0">
                          <a:latin typeface="Cambria Math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</a:rPr>
                        <m:t>𝑣</m:t>
                      </m:r>
                      <m:r>
                        <a:rPr lang="en-ZA" sz="2400" b="0" i="1" smtClean="0"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0346" y="5653585"/>
                <a:ext cx="4649734" cy="963790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4528130" y="5260950"/>
            <a:ext cx="5261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OR</a:t>
            </a:r>
            <a:endParaRPr lang="en-ZA" dirty="0"/>
          </a:p>
        </p:txBody>
      </p:sp>
      <p:grpSp>
        <p:nvGrpSpPr>
          <p:cNvPr id="2" name="Group 1"/>
          <p:cNvGrpSpPr/>
          <p:nvPr/>
        </p:nvGrpSpPr>
        <p:grpSpPr>
          <a:xfrm>
            <a:off x="3650005" y="4439045"/>
            <a:ext cx="5493995" cy="793551"/>
            <a:chOff x="3650005" y="4439045"/>
            <a:chExt cx="5493995" cy="79355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TextBox 20"/>
                <p:cNvSpPr txBox="1"/>
                <p:nvPr/>
              </p:nvSpPr>
              <p:spPr>
                <a:xfrm>
                  <a:off x="3650005" y="4439045"/>
                  <a:ext cx="1404231" cy="793551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400" i="1" smtClean="0">
                            <a:latin typeface="Cambria Math"/>
                          </a:rPr>
                          <m:t>𝑖</m:t>
                        </m:r>
                        <m:r>
                          <a:rPr lang="en-ZA" sz="2400" b="0" i="1" smtClean="0">
                            <a:latin typeface="Cambria Math"/>
                          </a:rPr>
                          <m:t>=</m:t>
                        </m:r>
                        <m:r>
                          <a:rPr lang="en-ZA" sz="2400" b="0" i="1" smtClean="0">
                            <a:latin typeface="Cambria Math"/>
                          </a:rPr>
                          <m:t>𝐶</m:t>
                        </m:r>
                        <m:f>
                          <m:fPr>
                            <m:ctrlPr>
                              <a:rPr lang="en-ZA" sz="2400" b="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400" b="0" i="1" smtClean="0">
                                <a:latin typeface="Cambria Math"/>
                              </a:rPr>
                              <m:t>𝑑𝑣</m:t>
                            </m:r>
                          </m:num>
                          <m:den>
                            <m:r>
                              <a:rPr lang="en-ZA" sz="2400" b="0" i="1" smtClean="0">
                                <a:latin typeface="Cambria Math"/>
                              </a:rPr>
                              <m:t>𝑑𝑡</m:t>
                            </m:r>
                          </m:den>
                        </m:f>
                      </m:oMath>
                    </m:oMathPara>
                  </a14:m>
                  <a:endParaRPr lang="en-ZA" sz="2400" dirty="0"/>
                </a:p>
              </p:txBody>
            </p:sp>
          </mc:Choice>
          <mc:Fallback xmlns="">
            <p:sp>
              <p:nvSpPr>
                <p:cNvPr id="21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0005" y="4439045"/>
                  <a:ext cx="1404231" cy="793551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5" name="Rectangle 24"/>
            <p:cNvSpPr/>
            <p:nvPr/>
          </p:nvSpPr>
          <p:spPr>
            <a:xfrm>
              <a:off x="5130436" y="4543432"/>
              <a:ext cx="4013564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 smtClean="0"/>
                <a:t>If i &gt; 0: Capacitor is charging.</a:t>
              </a:r>
            </a:p>
            <a:p>
              <a:r>
                <a:rPr lang="en-US" sz="1600" dirty="0" smtClean="0"/>
                <a:t>If i &lt; 0:  Capacitor is discharging.</a:t>
              </a:r>
              <a:endParaRPr lang="en-ZA" sz="16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 animBg="1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B0141-1625-4B1A-A831-350F46962361}" type="slidenum">
              <a:rPr lang="en-US"/>
              <a:pPr/>
              <a:t>5</a:t>
            </a:fld>
            <a:endParaRPr lang="en-US"/>
          </a:p>
        </p:txBody>
      </p:sp>
      <p:sp>
        <p:nvSpPr>
          <p:cNvPr id="14745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22382" y="1143000"/>
            <a:ext cx="4800600" cy="8382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sz="2400" dirty="0"/>
              <a:t>The energy, </a:t>
            </a:r>
            <a:r>
              <a:rPr lang="en-US" sz="2400" b="1" i="1" dirty="0">
                <a:solidFill>
                  <a:srgbClr val="FF6600"/>
                </a:solidFill>
              </a:rPr>
              <a:t>w</a:t>
            </a:r>
            <a:r>
              <a:rPr lang="en-US" sz="2400" dirty="0">
                <a:solidFill>
                  <a:srgbClr val="FF3300"/>
                </a:solidFill>
              </a:rPr>
              <a:t>,</a:t>
            </a:r>
            <a:r>
              <a:rPr lang="en-US" sz="2400" dirty="0"/>
              <a:t> </a:t>
            </a:r>
            <a:r>
              <a:rPr lang="en-US" sz="2400" dirty="0" smtClean="0"/>
              <a:t>stored and power </a:t>
            </a:r>
            <a:r>
              <a:rPr lang="en-US" sz="2400" b="1" i="1" dirty="0" smtClean="0">
                <a:solidFill>
                  <a:srgbClr val="FF0000"/>
                </a:solidFill>
              </a:rPr>
              <a:t>p</a:t>
            </a:r>
            <a:r>
              <a:rPr lang="en-US" sz="2400" dirty="0" smtClean="0"/>
              <a:t> </a:t>
            </a:r>
            <a:r>
              <a:rPr lang="en-US" sz="2400" dirty="0"/>
              <a:t>in the capacitor </a:t>
            </a:r>
            <a:r>
              <a:rPr lang="en-US" sz="2400" dirty="0" smtClean="0"/>
              <a:t>is:</a:t>
            </a:r>
            <a:endParaRPr lang="en-US" sz="2400" dirty="0"/>
          </a:p>
        </p:txBody>
      </p:sp>
      <p:sp>
        <p:nvSpPr>
          <p:cNvPr id="147460" name="Rectangle 4"/>
          <p:cNvSpPr>
            <a:spLocks noChangeArrowheads="1"/>
          </p:cNvSpPr>
          <p:nvPr/>
        </p:nvSpPr>
        <p:spPr bwMode="auto">
          <a:xfrm>
            <a:off x="203200" y="3594100"/>
            <a:ext cx="894080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2400" dirty="0" smtClean="0"/>
              <a:t>Important characteristics of capacitors:</a:t>
            </a:r>
            <a:endParaRPr lang="en-US" sz="2400" dirty="0"/>
          </a:p>
          <a:p>
            <a:pPr marL="742950" lvl="1" indent="-285750" eaLnBrk="1" hangingPunct="1">
              <a:spcBef>
                <a:spcPct val="20000"/>
              </a:spcBef>
              <a:buFontTx/>
              <a:buChar char="–"/>
            </a:pPr>
            <a:r>
              <a:rPr lang="en-US" sz="2400" dirty="0" smtClean="0"/>
              <a:t>It is an </a:t>
            </a:r>
            <a:r>
              <a:rPr lang="en-US" sz="2400" b="1" u="sng" dirty="0"/>
              <a:t>open circuit</a:t>
            </a:r>
            <a:r>
              <a:rPr lang="en-US" sz="2400" dirty="0"/>
              <a:t> to dc (dv/</a:t>
            </a:r>
            <a:r>
              <a:rPr lang="en-US" sz="2400" dirty="0" err="1"/>
              <a:t>dt</a:t>
            </a:r>
            <a:r>
              <a:rPr lang="en-US" sz="2400" dirty="0"/>
              <a:t> = 0). </a:t>
            </a:r>
          </a:p>
          <a:p>
            <a:pPr marL="742950" lvl="1" indent="-285750" eaLnBrk="1" hangingPunct="1">
              <a:spcBef>
                <a:spcPct val="20000"/>
              </a:spcBef>
              <a:buFontTx/>
              <a:buChar char="–"/>
            </a:pPr>
            <a:r>
              <a:rPr lang="en-US" sz="2400" dirty="0" smtClean="0"/>
              <a:t>Its </a:t>
            </a:r>
            <a:r>
              <a:rPr lang="en-US" sz="2400" dirty="0"/>
              <a:t>voltage </a:t>
            </a:r>
            <a:r>
              <a:rPr lang="en-US" sz="2400" b="1" u="sng" dirty="0"/>
              <a:t>cannot change </a:t>
            </a:r>
            <a:r>
              <a:rPr lang="en-US" sz="2400" b="1" u="sng" dirty="0" smtClean="0"/>
              <a:t>abruptly</a:t>
            </a:r>
            <a:r>
              <a:rPr lang="en-US" sz="2400" b="1" dirty="0" smtClean="0"/>
              <a:t> </a:t>
            </a:r>
            <a:r>
              <a:rPr lang="en-US" sz="2400" dirty="0" smtClean="0"/>
              <a:t>(dv/</a:t>
            </a:r>
            <a:r>
              <a:rPr lang="en-US" sz="2400" dirty="0" err="1" smtClean="0"/>
              <a:t>dt</a:t>
            </a:r>
            <a:r>
              <a:rPr lang="en-US" sz="2400" dirty="0" smtClean="0"/>
              <a:t> = </a:t>
            </a:r>
            <a:r>
              <a:rPr lang="en-US" sz="2400" dirty="0" smtClean="0">
                <a:sym typeface="Symbol"/>
              </a:rPr>
              <a:t></a:t>
            </a:r>
            <a:r>
              <a:rPr lang="en-US" sz="2400" dirty="0" smtClean="0"/>
              <a:t>).</a:t>
            </a:r>
          </a:p>
          <a:p>
            <a:pPr marL="742950" lvl="1" indent="-285750" eaLnBrk="1" hangingPunct="1">
              <a:spcBef>
                <a:spcPct val="20000"/>
              </a:spcBef>
              <a:buFontTx/>
              <a:buChar char="–"/>
            </a:pPr>
            <a:r>
              <a:rPr lang="en-US" sz="2400" dirty="0" smtClean="0"/>
              <a:t>Does not dissipate energy, but stores it when charging or provides it when discharging.</a:t>
            </a:r>
            <a:endParaRPr lang="en-US" sz="2400" b="1" dirty="0"/>
          </a:p>
        </p:txBody>
      </p:sp>
      <p:sp>
        <p:nvSpPr>
          <p:cNvPr id="147461" name="Rectangle 5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47463" name="Rectangle 7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47465" name="Rectangle 9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47470" name="Rectangle 14"/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" name="Rectangle 2"/>
          <p:cNvSpPr>
            <a:spLocks noGrp="1" noChangeArrowheads="1"/>
          </p:cNvSpPr>
          <p:nvPr>
            <p:ph type="title"/>
          </p:nvPr>
        </p:nvSpPr>
        <p:spPr>
          <a:xfrm>
            <a:off x="519113" y="0"/>
            <a:ext cx="8243887" cy="887412"/>
          </a:xfrm>
        </p:spPr>
        <p:txBody>
          <a:bodyPr anchor="t"/>
          <a:lstStyle/>
          <a:p>
            <a:r>
              <a:rPr lang="en-US" sz="2800" dirty="0" smtClean="0"/>
              <a:t>6.2 Capacitors</a:t>
            </a:r>
            <a:br>
              <a:rPr lang="en-US" sz="2800" dirty="0" smtClean="0"/>
            </a:br>
            <a:r>
              <a:rPr lang="en-US" sz="3200" dirty="0" smtClean="0">
                <a:solidFill>
                  <a:srgbClr val="FF0000"/>
                </a:solidFill>
              </a:rPr>
              <a:t>Energy and Power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838200" y="2389192"/>
                <a:ext cx="2444965" cy="833433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𝑤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𝐶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𝑞</m:t>
                              </m:r>
                            </m:e>
                            <m:sup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𝐶</m:t>
                          </m:r>
                        </m:den>
                      </m:f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389192"/>
                <a:ext cx="2444965" cy="83343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657600" y="2409132"/>
                <a:ext cx="2308644" cy="79355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𝑝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𝑣𝑖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𝐶𝑣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𝑑𝑣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600" y="2409132"/>
                <a:ext cx="2308644" cy="79355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2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844" y="990600"/>
            <a:ext cx="2720556" cy="122451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7257169" y="3446631"/>
                <a:ext cx="1404231" cy="79355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i="1" smtClean="0">
                          <a:latin typeface="Cambria Math"/>
                        </a:rPr>
                        <m:t>𝑖</m:t>
                      </m:r>
                      <m:r>
                        <a:rPr lang="en-ZA" sz="2400" b="0" i="1" smtClean="0"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</a:rPr>
                        <m:t>𝐶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</a:rPr>
                            <m:t>𝑑𝑣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7169" y="3446631"/>
                <a:ext cx="1404231" cy="793551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746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474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746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9D03-B225-4F6C-A623-B9910EF397B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>
          <a:xfrm>
            <a:off x="519113" y="179388"/>
            <a:ext cx="8243887" cy="887412"/>
          </a:xfrm>
          <a:prstGeom prst="rect">
            <a:avLst/>
          </a:prstGeom>
        </p:spPr>
        <p:txBody>
          <a:bodyPr anchor="t"/>
          <a:lstStyle>
            <a:lvl1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2pPr>
            <a:lvl3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3pPr>
            <a:lvl4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4pPr>
            <a:lvl5pPr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5pPr>
            <a:lvl6pPr marL="4572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6pPr>
            <a:lvl7pPr marL="9144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7pPr>
            <a:lvl8pPr marL="13716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8pPr>
            <a:lvl9pPr marL="1828800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defRPr>
            </a:lvl9pPr>
          </a:lstStyle>
          <a:p>
            <a:r>
              <a:rPr lang="en-US" sz="2800" dirty="0" smtClean="0"/>
              <a:t>6.2 Capacitors</a:t>
            </a:r>
            <a:br>
              <a:rPr lang="en-US" sz="2800" dirty="0" smtClean="0"/>
            </a:br>
            <a:r>
              <a:rPr lang="en-US" sz="3200" dirty="0" smtClean="0">
                <a:solidFill>
                  <a:srgbClr val="FF0000"/>
                </a:solidFill>
              </a:rPr>
              <a:t>New Equations</a:t>
            </a:r>
            <a:endParaRPr 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813346" y="5638800"/>
                <a:ext cx="2174570" cy="101431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𝑤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𝐶</m:t>
                      </m:r>
                      <m:sSup>
                        <m:sSupPr>
                          <m:ctrlP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p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ZA" sz="32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13346" y="5638800"/>
                <a:ext cx="2174570" cy="1014317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820354" y="1143000"/>
                <a:ext cx="1576907" cy="5847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𝑞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𝐶𝑣</m:t>
                      </m:r>
                    </m:oMath>
                  </m:oMathPara>
                </a14:m>
                <a:endParaRPr lang="en-ZA" sz="32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354" y="1143000"/>
                <a:ext cx="1576907" cy="58477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820354" y="3392268"/>
                <a:ext cx="1809791" cy="10273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2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𝐶</m:t>
                      </m:r>
                      <m:f>
                        <m:fPr>
                          <m:ctrlP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𝑑𝑣</m:t>
                          </m:r>
                        </m:num>
                        <m:den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ZA" sz="32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354" y="3392268"/>
                <a:ext cx="1809791" cy="1027333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1763726" y="4419600"/>
                <a:ext cx="3951274" cy="12543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ZA" sz="32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32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ZA" sz="32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  <m:e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ZA" sz="32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3726" y="4419600"/>
                <a:ext cx="3951274" cy="1254382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820354" y="2104400"/>
                <a:ext cx="1577676" cy="101752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𝐶</m:t>
                      </m:r>
                      <m:r>
                        <a:rPr lang="en-ZA" sz="32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𝜀</m:t>
                          </m:r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𝐴</m:t>
                          </m:r>
                        </m:num>
                        <m:den>
                          <m:r>
                            <a:rPr lang="en-ZA" sz="32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</m:t>
                          </m:r>
                        </m:den>
                      </m:f>
                    </m:oMath>
                  </m:oMathPara>
                </a14:m>
                <a:endParaRPr lang="en-ZA" sz="32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20354" y="2104400"/>
                <a:ext cx="1577676" cy="1017523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3" descr="ale29559_06006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6"/>
          <a:stretch/>
        </p:blipFill>
        <p:spPr bwMode="auto">
          <a:xfrm>
            <a:off x="4203494" y="1998442"/>
            <a:ext cx="4559506" cy="2787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4892523" y="1543109"/>
            <a:ext cx="328942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/>
              <a:t>V-I characteristic of a Cap 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86404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817B9-0BC8-4BD8-9062-61261E588D46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84655" y="114300"/>
            <a:ext cx="8859345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6.1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What is the voltage across a 3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F capacitor if the charge on one plate is 0.12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  <a:sym typeface="Symbol"/>
              </a:rPr>
              <a:t>mC.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 How much energy is stored in the capacitor?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57200" y="1523999"/>
                <a:ext cx="4051750" cy="83343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𝑞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𝐶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0.12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−3</m:t>
                              </m:r>
                            </m:sup>
                          </m:sSup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3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</m:t>
                          </m:r>
                          <m:sSup>
                            <m:sSup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−6</m:t>
                              </m:r>
                            </m:sup>
                          </m:sSup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=40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523999"/>
                <a:ext cx="4051750" cy="833433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57200" y="2438400"/>
                <a:ext cx="5554598" cy="783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𝑤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𝐶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 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3 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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10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−6</m:t>
                          </m:r>
                        </m:sup>
                      </m:sSup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</m:t>
                      </m:r>
                      <m: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 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40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=2.4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mJ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438400"/>
                <a:ext cx="5554598" cy="783804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ectangle 6"/>
          <p:cNvSpPr/>
          <p:nvPr/>
        </p:nvSpPr>
        <p:spPr>
          <a:xfrm>
            <a:off x="208455" y="3543300"/>
            <a:ext cx="8859345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6.2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The voltage source connected across a 10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F capacitor is given as:</a:t>
            </a:r>
          </a:p>
          <a:p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v(t)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= 50 sin 2000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t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V.  Calculate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i(t)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.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839258" y="4800600"/>
                <a:ext cx="5325689" cy="79457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𝐶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𝑑𝑣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=10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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10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−6</m:t>
                          </m:r>
                        </m:sup>
                      </m:sSup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𝑑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𝑑𝑡</m:t>
                          </m:r>
                        </m:den>
                      </m:f>
                      <m:d>
                        <m:d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50 </m:t>
                          </m:r>
                          <m:func>
                            <m:func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ZA" sz="2400" b="0" i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sin</m:t>
                              </m:r>
                            </m:fName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2000</m:t>
                              </m:r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𝑡</m:t>
                              </m:r>
                            </m:e>
                          </m:func>
                        </m:e>
                      </m:d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258" y="4800600"/>
                <a:ext cx="5325689" cy="79457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057400" y="5631540"/>
                <a:ext cx="4967963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=10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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10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−6</m:t>
                          </m:r>
                        </m:sup>
                      </m:sSup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 50  2000  </m:t>
                      </m:r>
                      <m:func>
                        <m:func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cos</m:t>
                          </m:r>
                        </m:fName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2000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57400" y="5631540"/>
                <a:ext cx="4967963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2089609" y="6156927"/>
                <a:ext cx="216738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unc>
                        <m:func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cos</m:t>
                          </m:r>
                        </m:fName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2000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𝑡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en-ZA" sz="2400" b="0" i="0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A</m:t>
                          </m:r>
                        </m:e>
                      </m:func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9609" y="6156927"/>
                <a:ext cx="2167388" cy="461665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 bwMode="auto">
          <a:xfrm>
            <a:off x="609600" y="3487056"/>
            <a:ext cx="7924800" cy="0"/>
          </a:xfrm>
          <a:prstGeom prst="line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Straight Arrow Connector 12"/>
          <p:cNvCxnSpPr/>
          <p:nvPr/>
        </p:nvCxnSpPr>
        <p:spPr bwMode="auto">
          <a:xfrm>
            <a:off x="2533068" y="6618592"/>
            <a:ext cx="1723929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 bwMode="auto">
          <a:xfrm>
            <a:off x="4954394" y="3048000"/>
            <a:ext cx="1057404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 bwMode="auto">
          <a:xfrm>
            <a:off x="3757323" y="2209800"/>
            <a:ext cx="751627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 bwMode="auto">
          <a:xfrm>
            <a:off x="1741714" y="1596573"/>
            <a:ext cx="6792686" cy="812799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2405736" y="2467428"/>
            <a:ext cx="6128664" cy="84183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2515250" y="5624204"/>
            <a:ext cx="6128664" cy="106688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41930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6" grpId="0" animBg="1"/>
      <p:bldP spid="1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817B9-0BC8-4BD8-9062-61261E588D46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990600" y="171271"/>
            <a:ext cx="7259145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6.3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If the current through a 100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F capacitor is given as:</a:t>
            </a:r>
          </a:p>
          <a:p>
            <a:r>
              <a:rPr lang="en-ZA" sz="2400" i="1" dirty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= 50 sin (120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t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)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mA,  </a:t>
            </a:r>
            <a:r>
              <a:rPr lang="en-ZA" sz="2400" dirty="0">
                <a:latin typeface="Times New Roman" pitchFamily="18" charset="0"/>
                <a:cs typeface="Times New Roman" pitchFamily="18" charset="0"/>
                <a:sym typeface="Symbol"/>
              </a:rPr>
              <a:t>c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alculate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(1ms)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and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(5ms). 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Assume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(0) = 0 V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016000" y="1740931"/>
                <a:ext cx="2540374" cy="81868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(</m:t>
                      </m:r>
                      <m:sSub>
                        <m:sSub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e>
                        <m:sub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</m:sSub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6000" y="1740931"/>
                <a:ext cx="2540374" cy="818686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304800" y="2559617"/>
                <a:ext cx="5393208" cy="8320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(1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𝑚𝑠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)=</m:t>
                      </m:r>
                      <m:f>
                        <m:f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sub/>
                          </m:sSub>
                        </m:sub>
                        <m:sup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𝑚𝑠</m:t>
                          </m:r>
                        </m:sup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50</m:t>
                          </m:r>
                          <m:func>
                            <m:func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ZA" sz="2000" b="0" i="0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120</m:t>
                                  </m:r>
                                  <m: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  <m: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−3</m:t>
                              </m:r>
                            </m:sup>
                          </m:sSup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+0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" y="2559617"/>
                <a:ext cx="5393208" cy="832023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4" name="Group 3"/>
          <p:cNvGrpSpPr/>
          <p:nvPr/>
        </p:nvGrpSpPr>
        <p:grpSpPr>
          <a:xfrm>
            <a:off x="1295400" y="3310686"/>
            <a:ext cx="3469705" cy="1021046"/>
            <a:chOff x="1295400" y="3310686"/>
            <a:chExt cx="3469705" cy="102104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TextBox 10"/>
                <p:cNvSpPr txBox="1"/>
                <p:nvPr/>
              </p:nvSpPr>
              <p:spPr>
                <a:xfrm>
                  <a:off x="1295400" y="3454101"/>
                  <a:ext cx="3001912" cy="711798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b="0" i="1" smtClean="0">
                            <a:solidFill>
                              <a:srgbClr val="000000"/>
                            </a:solidFill>
                            <a:latin typeface="Cambria Math"/>
                          </a:rPr>
                          <m:t>=</m:t>
                        </m:r>
                        <m:f>
                          <m:fPr>
                            <m:ctrlP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−50</m:t>
                            </m:r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</m:t>
                            </m:r>
                            <m:sSup>
                              <m:sSupPr>
                                <m:ctrlP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sym typeface="Symbol"/>
                                  </a:rPr>
                                </m:ctrlPr>
                              </m:sSupPr>
                              <m:e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sym typeface="Symbol"/>
                                  </a:rPr>
                                  <m:t>10</m:t>
                                </m:r>
                              </m:e>
                              <m:sup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sym typeface="Symbol"/>
                                  </a:rPr>
                                  <m:t>−3</m:t>
                                </m:r>
                              </m:sup>
                            </m:sSup>
                          </m:num>
                          <m:den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𝐶</m:t>
                            </m:r>
                            <m:r>
                              <a:rPr lang="en-ZA" sz="2000" i="1">
                                <a:solidFill>
                                  <a:srgbClr val="000000"/>
                                </a:solidFill>
                                <a:latin typeface="Cambria Math"/>
                                <a:ea typeface="Cambria Math"/>
                                <a:sym typeface="Symbol"/>
                              </a:rPr>
                              <m:t></m:t>
                            </m:r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120</m:t>
                            </m:r>
                            <m: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  <a:sym typeface="Symbol"/>
                              </a:rPr>
                              <m:t></m:t>
                            </m:r>
                          </m:den>
                        </m:f>
                        <m:func>
                          <m:funcPr>
                            <m:ctrlPr>
                              <a:rPr lang="en-ZA" sz="2000" b="0" i="1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ZA" sz="2000" b="0" i="0" smtClean="0">
                                <a:solidFill>
                                  <a:srgbClr val="000000"/>
                                </a:solidFill>
                                <a:latin typeface="Cambria Math"/>
                              </a:rPr>
                              <m:t>cos</m:t>
                            </m:r>
                          </m:fName>
                          <m:e>
                            <m:d>
                              <m:dPr>
                                <m:ctrlP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</m:ctrlPr>
                              </m:dPr>
                              <m:e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</a:rPr>
                                  <m:t>120</m:t>
                                </m:r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𝜋</m:t>
                                </m:r>
                                <m:r>
                                  <a:rPr lang="en-ZA" sz="2000" b="0" i="1" smtClean="0">
                                    <a:solidFill>
                                      <a:srgbClr val="000000"/>
                                    </a:solidFill>
                                    <a:latin typeface="Cambria Math"/>
                                    <a:ea typeface="Cambria Math"/>
                                  </a:rPr>
                                  <m:t>𝑡</m:t>
                                </m:r>
                              </m:e>
                            </m:d>
                          </m:e>
                        </m:func>
                      </m:oMath>
                    </m:oMathPara>
                  </a14:m>
                  <a:endParaRPr lang="en-ZA" sz="2000" dirty="0">
                    <a:solidFill>
                      <a:srgbClr val="000000"/>
                    </a:solidFill>
                  </a:endParaRPr>
                </a:p>
              </p:txBody>
            </p:sp>
          </mc:Choice>
          <mc:Fallback xmlns="">
            <p:sp>
              <p:nvSpPr>
                <p:cNvPr id="11" name="TextBox 1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95400" y="3454101"/>
                  <a:ext cx="3001912" cy="711798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" name="Group 2"/>
            <p:cNvGrpSpPr/>
            <p:nvPr/>
          </p:nvGrpSpPr>
          <p:grpSpPr>
            <a:xfrm>
              <a:off x="4195718" y="3310686"/>
              <a:ext cx="569387" cy="1021046"/>
              <a:chOff x="4195718" y="3310686"/>
              <a:chExt cx="569387" cy="1021046"/>
            </a:xfrm>
          </p:grpSpPr>
          <p:cxnSp>
            <p:nvCxnSpPr>
              <p:cNvPr id="13" name="Straight Connector 12"/>
              <p:cNvCxnSpPr>
                <a:stCxn id="16" idx="1"/>
                <a:endCxn id="15" idx="1"/>
              </p:cNvCxnSpPr>
              <p:nvPr/>
            </p:nvCxnSpPr>
            <p:spPr bwMode="auto">
              <a:xfrm>
                <a:off x="4195718" y="3495352"/>
                <a:ext cx="7444" cy="651714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sp>
            <p:nvSpPr>
              <p:cNvPr id="15" name="Rectangle 14"/>
              <p:cNvSpPr/>
              <p:nvPr/>
            </p:nvSpPr>
            <p:spPr>
              <a:xfrm>
                <a:off x="4203162" y="3962400"/>
                <a:ext cx="30008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0</a:t>
                </a:r>
                <a:endParaRPr lang="en-ZA" dirty="0">
                  <a:solidFill>
                    <a:srgbClr val="000000"/>
                  </a:solidFill>
                </a:endParaRPr>
              </a:p>
            </p:txBody>
          </p:sp>
          <p:sp>
            <p:nvSpPr>
              <p:cNvPr id="16" name="Rectangle 15"/>
              <p:cNvSpPr/>
              <p:nvPr/>
            </p:nvSpPr>
            <p:spPr>
              <a:xfrm>
                <a:off x="4195718" y="3310686"/>
                <a:ext cx="56938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ZA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1ms</a:t>
                </a:r>
                <a:endParaRPr lang="en-ZA" dirty="0">
                  <a:solidFill>
                    <a:srgbClr val="000000"/>
                  </a:solidFill>
                </a:endParaRP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1295400" y="4267200"/>
                <a:ext cx="5439502" cy="71179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−50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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−3</m:t>
                              </m:r>
                            </m:sup>
                          </m:sSup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100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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sym typeface="Symbol"/>
                                </a:rPr>
                                <m:t>−6</m:t>
                              </m:r>
                            </m:sup>
                          </m:sSup>
                          <m:r>
                            <a:rPr lang="en-ZA" sz="2000" i="1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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120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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ZA" sz="2000" b="0" i="0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120</m:t>
                                  </m:r>
                                  <m: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  <m: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  <a:sym typeface="Symbol"/>
                                    </a:rPr>
                                    <m:t></m:t>
                                  </m:r>
                                  <m:sSup>
                                    <m:sSupPr>
                                      <m:ctrlPr>
                                        <a:rPr lang="en-ZA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Cambria Math"/>
                                          <a:sym typeface="Symbol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ZA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Cambria Math"/>
                                          <a:sym typeface="Symbol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ZA" sz="2000" b="0" i="1" smtClean="0">
                                          <a:solidFill>
                                            <a:srgbClr val="000000"/>
                                          </a:solidFill>
                                          <a:latin typeface="Cambria Math"/>
                                          <a:ea typeface="Cambria Math"/>
                                          <a:sym typeface="Symbol"/>
                                        </a:rPr>
                                        <m:t>−3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func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−</m:t>
                          </m:r>
                          <m:func>
                            <m:func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ZA" sz="2000" b="0" i="0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cos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0</m:t>
                                  </m:r>
                                </m:e>
                              </m:d>
                            </m:e>
                          </m:func>
                        </m:e>
                      </m:d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4267200"/>
                <a:ext cx="5439502" cy="711798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295400" y="5257800"/>
                <a:ext cx="5781711" cy="70788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=−1.3263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×−0.07022=93.137 </m:t>
                      </m:r>
                      <m:r>
                        <m:rPr>
                          <m:sty m:val="p"/>
                        </m:rPr>
                        <a:rPr lang="en-ZA" sz="2000" b="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mV</m:t>
                      </m:r>
                      <m:r>
                        <a:rPr lang="en-ZA" sz="2000" b="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000" b="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at</m:t>
                      </m:r>
                      <m:r>
                        <a:rPr lang="en-ZA" sz="2000" b="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 </m:t>
                      </m:r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𝑡</m:t>
                      </m:r>
                      <m:r>
                        <a:rPr lang="en-ZA" sz="2000" b="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=1 </m:t>
                      </m:r>
                      <m:r>
                        <m:rPr>
                          <m:sty m:val="p"/>
                        </m:rPr>
                        <a:rPr lang="en-ZA" sz="2000" b="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ms</m:t>
                      </m:r>
                    </m:oMath>
                  </m:oMathPara>
                </a14:m>
                <a:endParaRPr lang="en-ZA" sz="2000" dirty="0"/>
              </a:p>
              <a:p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5257800"/>
                <a:ext cx="5781711" cy="707886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26225" y="5868511"/>
                <a:ext cx="6584175" cy="83708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𝑣</m:t>
                      </m:r>
                      <m:d>
                        <m:d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𝑚𝑠</m:t>
                          </m:r>
                        </m:e>
                      </m:d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𝐶</m:t>
                          </m:r>
                        </m:den>
                      </m:f>
                      <m:nary>
                        <m:naryPr>
                          <m:ctrlP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e>
                            <m:sub/>
                          </m:sSub>
                        </m:sub>
                        <m:sup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5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𝑚𝑠</m:t>
                          </m:r>
                        </m:sup>
                        <m:e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50</m:t>
                          </m:r>
                          <m:func>
                            <m:func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ZA" sz="2000" b="0" i="0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sin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120</m:t>
                                  </m:r>
                                  <m: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𝜋</m:t>
                                  </m:r>
                                  <m:r>
                                    <a:rPr lang="en-ZA" sz="2000" b="0" i="1" smtClean="0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  <a:ea typeface="Cambria Math"/>
                                    </a:rPr>
                                    <m:t>𝑡</m:t>
                                  </m:r>
                                </m:e>
                              </m:d>
                            </m:e>
                          </m:func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</a:rPr>
                            <m:t>×</m:t>
                          </m:r>
                          <m:sSup>
                            <m:sSupPr>
                              <m:ctrlP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</m:ctrlPr>
                            </m:sSupPr>
                            <m:e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0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</a:rPr>
                                <m:t>−3</m:t>
                              </m:r>
                            </m:sup>
                          </m:sSup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 </m:t>
                          </m:r>
                          <m:r>
                            <a:rPr lang="en-ZA" sz="20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ZA" sz="20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+0=1.736 </m:t>
                      </m:r>
                      <m:r>
                        <m:rPr>
                          <m:sty m:val="p"/>
                        </m:rPr>
                        <a:rPr lang="en-ZA" sz="2000" b="0" i="0" smtClean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</m:oMath>
                  </m:oMathPara>
                </a14:m>
                <a:endParaRPr lang="en-ZA" sz="20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225" y="5868511"/>
                <a:ext cx="6584175" cy="837089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Straight Arrow Connector 23"/>
          <p:cNvCxnSpPr/>
          <p:nvPr/>
        </p:nvCxnSpPr>
        <p:spPr bwMode="auto">
          <a:xfrm>
            <a:off x="4353203" y="5611743"/>
            <a:ext cx="1344805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 bwMode="auto">
          <a:xfrm>
            <a:off x="5926608" y="6400800"/>
            <a:ext cx="115999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9157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/>
      <p:bldP spid="18" grpId="0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4648200" y="3657600"/>
            <a:ext cx="3852862" cy="2553834"/>
            <a:chOff x="4648200" y="3657600"/>
            <a:chExt cx="3852862" cy="2553834"/>
          </a:xfrm>
        </p:grpSpPr>
        <p:pic>
          <p:nvPicPr>
            <p:cNvPr id="179202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48200" y="3657600"/>
              <a:ext cx="3852862" cy="255383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5" name="TextBox 14"/>
            <p:cNvSpPr txBox="1"/>
            <p:nvPr/>
          </p:nvSpPr>
          <p:spPr>
            <a:xfrm rot="5400000">
              <a:off x="5940781" y="5208374"/>
              <a:ext cx="14533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+     V</a:t>
              </a:r>
              <a:r>
                <a:rPr lang="en-ZA" b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20</a:t>
              </a:r>
              <a:r>
                <a: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  –</a:t>
              </a:r>
              <a:endParaRPr lang="en-ZA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679091" y="4496192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+  V</a:t>
              </a:r>
              <a:r>
                <a:rPr lang="en-ZA" b="1" baseline="-25000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30</a:t>
              </a:r>
              <a:r>
                <a:rPr lang="en-ZA" b="1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  –</a:t>
              </a:r>
              <a:endParaRPr lang="en-ZA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pic>
        <p:nvPicPr>
          <p:cNvPr id="4" name="Picture 3" descr="ale29559_06013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00"/>
          <a:stretch/>
        </p:blipFill>
        <p:spPr bwMode="auto">
          <a:xfrm>
            <a:off x="4051300" y="171271"/>
            <a:ext cx="4794250" cy="26754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817B9-0BC8-4BD8-9062-61261E588D46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57200" y="171271"/>
            <a:ext cx="3733800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6.5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For DC conditions, calculate the energy stored in the two capacitors.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sp>
        <p:nvSpPr>
          <p:cNvPr id="5" name="Down Arrow 4"/>
          <p:cNvSpPr/>
          <p:nvPr/>
        </p:nvSpPr>
        <p:spPr bwMode="auto">
          <a:xfrm>
            <a:off x="5926931" y="3009900"/>
            <a:ext cx="1295400" cy="6096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5486400" y="4126468"/>
            <a:ext cx="2269331" cy="1900249"/>
            <a:chOff x="5486400" y="4126468"/>
            <a:chExt cx="2269331" cy="1900249"/>
          </a:xfrm>
        </p:grpSpPr>
        <p:sp>
          <p:nvSpPr>
            <p:cNvPr id="6" name="TextBox 5"/>
            <p:cNvSpPr txBox="1"/>
            <p:nvPr/>
          </p:nvSpPr>
          <p:spPr>
            <a:xfrm>
              <a:off x="5486400" y="4724400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+  1V  –</a:t>
              </a:r>
              <a:endParaRPr lang="en-Z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688931" y="4126468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+  3V  –</a:t>
              </a:r>
              <a:endParaRPr lang="en-Z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9" name="TextBox 8"/>
            <p:cNvSpPr txBox="1"/>
            <p:nvPr/>
          </p:nvSpPr>
          <p:spPr>
            <a:xfrm rot="5400000">
              <a:off x="7027824" y="5308651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ZA" dirty="0" smtClean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+  6V  –</a:t>
              </a:r>
              <a:endParaRPr lang="en-ZA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533400" y="1962090"/>
            <a:ext cx="365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en-ZA" sz="2400" baseline="-250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F</a:t>
            </a:r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3 V</a:t>
            </a:r>
          </a:p>
          <a:p>
            <a:endParaRPr lang="en-ZA" sz="2400" dirty="0">
              <a:solidFill>
                <a:schemeClr val="accent4">
                  <a:lumMod val="75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lvl="1"/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w = 0.5Cv</a:t>
            </a:r>
            <a:r>
              <a:rPr lang="en-ZA" sz="2400" baseline="300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</a:p>
          <a:p>
            <a:pPr lvl="1"/>
            <a:r>
              <a:rPr lang="en-ZA" sz="2400" dirty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= 0.5  3010</a:t>
            </a:r>
            <a:r>
              <a:rPr lang="en-ZA" sz="2400" baseline="300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-6</a:t>
            </a:r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 3</a:t>
            </a:r>
            <a:r>
              <a:rPr lang="en-ZA" sz="2400" baseline="300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endParaRPr lang="en-ZA" sz="2400" dirty="0" smtClean="0">
              <a:solidFill>
                <a:schemeClr val="accent4">
                  <a:lumMod val="75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lvl="1"/>
            <a:r>
              <a:rPr lang="en-ZA" sz="2400" dirty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= 135 J</a:t>
            </a:r>
            <a:endParaRPr lang="en-ZA" sz="2400" dirty="0">
              <a:solidFill>
                <a:schemeClr val="accent4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33400" y="4175087"/>
            <a:ext cx="365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baseline="-250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en-ZA" sz="2400" baseline="-250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F</a:t>
            </a:r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= (3+6) = 9 V</a:t>
            </a:r>
          </a:p>
          <a:p>
            <a:endParaRPr lang="en-ZA" sz="2400" dirty="0">
              <a:solidFill>
                <a:schemeClr val="accent4">
                  <a:lumMod val="75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lvl="1"/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w = 0.5Cv</a:t>
            </a:r>
            <a:r>
              <a:rPr lang="en-ZA" sz="2400" baseline="300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</a:p>
          <a:p>
            <a:pPr lvl="1"/>
            <a:r>
              <a:rPr lang="en-ZA" sz="2400" dirty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= 0.5  2010</a:t>
            </a:r>
            <a:r>
              <a:rPr lang="en-ZA" sz="2400" baseline="300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-6</a:t>
            </a:r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 9</a:t>
            </a:r>
            <a:r>
              <a:rPr lang="en-ZA" sz="2400" baseline="300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endParaRPr lang="en-ZA" sz="2400" dirty="0" smtClean="0">
              <a:solidFill>
                <a:schemeClr val="accent4">
                  <a:lumMod val="75000"/>
                </a:schemeClr>
              </a:solidFill>
              <a:latin typeface="Times New Roman" pitchFamily="18" charset="0"/>
              <a:cs typeface="Times New Roman" pitchFamily="18" charset="0"/>
              <a:sym typeface="Symbol"/>
            </a:endParaRPr>
          </a:p>
          <a:p>
            <a:pPr lvl="1"/>
            <a:r>
              <a:rPr lang="en-ZA" sz="2400" dirty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</a:t>
            </a:r>
            <a:r>
              <a:rPr lang="en-ZA" sz="2400" dirty="0" smtClean="0">
                <a:solidFill>
                  <a:schemeClr val="accent4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   = 810 J</a:t>
            </a:r>
            <a:endParaRPr lang="en-ZA" sz="2400" dirty="0">
              <a:solidFill>
                <a:schemeClr val="accent4">
                  <a:lumMod val="75000"/>
                </a:schemeClr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27951" y="866171"/>
            <a:ext cx="1066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 V</a:t>
            </a:r>
            <a:r>
              <a:rPr lang="en-ZA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30</a:t>
            </a:r>
            <a:r>
              <a:rPr lang="en-ZA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–</a:t>
            </a:r>
            <a:endParaRPr lang="en-ZA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 rot="5400000">
            <a:off x="5996656" y="1935405"/>
            <a:ext cx="14533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ZA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+         V</a:t>
            </a:r>
            <a:r>
              <a:rPr lang="en-ZA" baseline="-25000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20</a:t>
            </a:r>
            <a:r>
              <a:rPr lang="en-ZA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–</a:t>
            </a:r>
            <a:endParaRPr lang="en-ZA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8" name="Rectangle 17"/>
          <p:cNvSpPr/>
          <p:nvPr/>
        </p:nvSpPr>
        <p:spPr bwMode="auto">
          <a:xfrm>
            <a:off x="1609629" y="1889520"/>
            <a:ext cx="2624913" cy="62067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Rectangle 18"/>
          <p:cNvSpPr/>
          <p:nvPr/>
        </p:nvSpPr>
        <p:spPr bwMode="auto">
          <a:xfrm>
            <a:off x="1609629" y="2694028"/>
            <a:ext cx="3038571" cy="120705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0" name="Rectangle 19"/>
          <p:cNvSpPr/>
          <p:nvPr/>
        </p:nvSpPr>
        <p:spPr bwMode="auto">
          <a:xfrm>
            <a:off x="1609629" y="4912682"/>
            <a:ext cx="3038571" cy="1207054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609629" y="4126468"/>
            <a:ext cx="2624913" cy="620672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7" name="Arc 16"/>
          <p:cNvSpPr/>
          <p:nvPr/>
        </p:nvSpPr>
        <p:spPr bwMode="auto">
          <a:xfrm>
            <a:off x="6825016" y="5088240"/>
            <a:ext cx="609600" cy="609600"/>
          </a:xfrm>
          <a:prstGeom prst="arc">
            <a:avLst>
              <a:gd name="adj1" fmla="val 16200000"/>
              <a:gd name="adj2" fmla="val 13139454"/>
            </a:avLst>
          </a:prstGeom>
          <a:ln>
            <a:solidFill>
              <a:srgbClr val="0066CC"/>
            </a:solidFill>
            <a:headEnd type="none" w="med" len="med"/>
            <a:tailEnd type="triangle" w="med" len="med"/>
          </a:ln>
          <a:extLst/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7360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8" grpId="0" animBg="1"/>
      <p:bldP spid="19" grpId="0" animBg="1"/>
      <p:bldP spid="20" grpId="0" animBg="1"/>
      <p:bldP spid="21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6D385F-D74C-4D73-B519-8B5692AB642C}" type="slidenum">
              <a:rPr lang="en-US"/>
              <a:pPr/>
              <a:t>10</a:t>
            </a:fld>
            <a:endParaRPr lang="en-US"/>
          </a:p>
        </p:txBody>
      </p:sp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>
          <a:xfrm>
            <a:off x="1" y="103188"/>
            <a:ext cx="9144000" cy="1314450"/>
          </a:xfrm>
        </p:spPr>
        <p:txBody>
          <a:bodyPr/>
          <a:lstStyle/>
          <a:p>
            <a:r>
              <a:rPr lang="en-US" sz="4000" dirty="0" smtClean="0"/>
              <a:t>6.3 </a:t>
            </a:r>
            <a:r>
              <a:rPr lang="en-US" sz="4000" dirty="0"/>
              <a:t>Series and Parallel </a:t>
            </a:r>
            <a:br>
              <a:rPr lang="en-US" sz="4000" dirty="0"/>
            </a:br>
            <a:r>
              <a:rPr lang="en-US" sz="4000" dirty="0" smtClean="0"/>
              <a:t>Capacitors</a:t>
            </a:r>
            <a:endParaRPr lang="en-US" sz="4000" dirty="0"/>
          </a:p>
        </p:txBody>
      </p:sp>
      <p:sp>
        <p:nvSpPr>
          <p:cNvPr id="151556" name="Rectangle 4"/>
          <p:cNvSpPr>
            <a:spLocks noChangeArrowheads="1"/>
          </p:cNvSpPr>
          <p:nvPr/>
        </p:nvSpPr>
        <p:spPr bwMode="auto">
          <a:xfrm>
            <a:off x="381000" y="4419600"/>
            <a:ext cx="8458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800" b="1" u="sng"/>
          </a:p>
        </p:txBody>
      </p:sp>
      <p:sp>
        <p:nvSpPr>
          <p:cNvPr id="151557" name="Rectangle 5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51558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51559" name="Rectangle 7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51560" name="Rectangle 8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51561" name="Rectangle 9"/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51568" name="Rectangle 16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151567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43426292"/>
              </p:ext>
            </p:extLst>
          </p:nvPr>
        </p:nvGraphicFramePr>
        <p:xfrm>
          <a:off x="4968875" y="5597525"/>
          <a:ext cx="3371850" cy="539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49" name="Equation" r:id="rId3" imgW="1485900" imgH="241300" progId="Equation.3">
                  <p:embed/>
                </p:oleObj>
              </mc:Choice>
              <mc:Fallback>
                <p:oleObj name="Equation" r:id="rId3" imgW="1485900" imgH="24130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68875" y="5597525"/>
                        <a:ext cx="3371850" cy="53975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7" name="Picture 3" descr="ale29559_06014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518"/>
          <a:stretch/>
        </p:blipFill>
        <p:spPr bwMode="auto">
          <a:xfrm>
            <a:off x="4572000" y="1752600"/>
            <a:ext cx="4165600" cy="35684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" name="Picture 3" descr="ale29559_06015"/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985"/>
          <a:stretch/>
        </p:blipFill>
        <p:spPr bwMode="auto">
          <a:xfrm>
            <a:off x="161925" y="1599351"/>
            <a:ext cx="3789212" cy="39632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6907517"/>
              </p:ext>
            </p:extLst>
          </p:nvPr>
        </p:nvGraphicFramePr>
        <p:xfrm>
          <a:off x="542925" y="5562600"/>
          <a:ext cx="3200400" cy="889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1650" name="Equation" r:id="rId7" imgW="1612900" imgH="444500" progId="Equation.3">
                  <p:embed/>
                </p:oleObj>
              </mc:Choice>
              <mc:Fallback>
                <p:oleObj name="Equation" r:id="rId7" imgW="1612900" imgH="44450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" y="5562600"/>
                        <a:ext cx="3200400" cy="8890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9D03-B225-4F6C-A623-B9910EF397B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3" descr="ale29559_06017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44"/>
          <a:stretch/>
        </p:blipFill>
        <p:spPr bwMode="auto">
          <a:xfrm>
            <a:off x="457200" y="1002268"/>
            <a:ext cx="3378365" cy="198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7" name="Rectangle 6"/>
          <p:cNvSpPr/>
          <p:nvPr/>
        </p:nvSpPr>
        <p:spPr>
          <a:xfrm>
            <a:off x="457200" y="171271"/>
            <a:ext cx="739140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6.6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equivalent capacitance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978400" y="859980"/>
                <a:ext cx="4165600" cy="522437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342900" indent="-342900">
                  <a:buAutoNum type="arabicPeriod"/>
                </a:pP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120 &amp; 60: </a:t>
                </a:r>
              </a:p>
              <a:p>
                <a:pPr lvl="1"/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</a:rPr>
                  <a:t>120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60 / (120 + 60) = 40 F</a:t>
                </a:r>
              </a:p>
              <a:p>
                <a:pPr lvl="1"/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pPr marL="342900" indent="-342900">
                  <a:buAutoNum type="arabicPeriod"/>
                </a:pP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40 &amp; 20:</a:t>
                </a:r>
              </a:p>
              <a:p>
                <a:pPr lvl="1"/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40 + 20 = 60 F </a:t>
                </a:r>
              </a:p>
              <a:p>
                <a:pPr lvl="1"/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pPr marL="342900" indent="-342900">
                  <a:buAutoNum type="arabicPeriod"/>
                </a:pP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50 &amp; 70:</a:t>
                </a:r>
              </a:p>
              <a:p>
                <a:pPr lvl="1"/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50 + 70 = 120 F</a:t>
                </a:r>
              </a:p>
              <a:p>
                <a:pPr lvl="1"/>
                <a:endParaRPr lang="en-ZA" sz="24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pPr marL="342900" indent="-342900">
                  <a:buAutoNum type="arabicPeriod"/>
                </a:pP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120 &amp; 60:</a:t>
                </a:r>
              </a:p>
              <a:p>
                <a:pPr lvl="1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Times New Roman" pitchFamily="18" charset="0"/>
                            </a:rPr>
                            <m:t>120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×60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cs typeface="Times New Roman" pitchFamily="18" charset="0"/>
                            </a:rPr>
                            <m:t>120+60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cs typeface="Times New Roman" pitchFamily="18" charset="0"/>
                        </a:rPr>
                        <m:t>=40 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cs typeface="Times New Roman" pitchFamily="18" charset="0"/>
                          <a:sym typeface="Symbol"/>
                        </a:rPr>
                        <m:t>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cs typeface="Times New Roman" pitchFamily="18" charset="0"/>
                          <a:sym typeface="Symbol"/>
                        </a:rPr>
                        <m:t>𝐹</m:t>
                      </m:r>
                    </m:oMath>
                  </m:oMathPara>
                </a14:m>
                <a:endParaRPr lang="en-ZA" sz="2400" b="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pPr lvl="1"/>
                <a:endParaRPr lang="en-ZA" sz="2400" b="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endParaRPr>
              </a:p>
              <a:p>
                <a:pPr lvl="1"/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 </a:t>
                </a:r>
                <a:r>
                  <a:rPr lang="en-ZA" sz="2400" dirty="0" err="1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C</a:t>
                </a:r>
                <a:r>
                  <a:rPr lang="en-ZA" sz="2400" baseline="-25000" dirty="0" err="1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eq</a:t>
                </a:r>
                <a:r>
                  <a:rPr lang="en-ZA" sz="2400" dirty="0" smtClean="0">
                    <a:solidFill>
                      <a:srgbClr val="000000"/>
                    </a:solidFill>
                    <a:latin typeface="Times New Roman" pitchFamily="18" charset="0"/>
                    <a:cs typeface="Times New Roman" pitchFamily="18" charset="0"/>
                    <a:sym typeface="Symbol"/>
                  </a:rPr>
                  <a:t> = 40 F</a:t>
                </a:r>
                <a:endParaRPr lang="en-ZA" sz="2400" b="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78400" y="859980"/>
                <a:ext cx="4165600" cy="5224379"/>
              </a:xfrm>
              <a:prstGeom prst="rect">
                <a:avLst/>
              </a:prstGeom>
              <a:blipFill rotWithShape="1">
                <a:blip r:embed="rId3"/>
                <a:stretch>
                  <a:fillRect l="-2050" t="-933" r="-1611" b="-1750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 bwMode="auto">
          <a:xfrm>
            <a:off x="6629975" y="5954486"/>
            <a:ext cx="73239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pic>
        <p:nvPicPr>
          <p:cNvPr id="16589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87682" y="3256187"/>
            <a:ext cx="1652060" cy="1486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589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9626" y="5070810"/>
            <a:ext cx="1742720" cy="14973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3" name="Group 2"/>
          <p:cNvGrpSpPr/>
          <p:nvPr/>
        </p:nvGrpSpPr>
        <p:grpSpPr>
          <a:xfrm>
            <a:off x="123377" y="3022715"/>
            <a:ext cx="3218955" cy="1723458"/>
            <a:chOff x="123377" y="3022715"/>
            <a:chExt cx="3218955" cy="1723458"/>
          </a:xfrm>
        </p:grpSpPr>
        <p:pic>
          <p:nvPicPr>
            <p:cNvPr id="165890" name="Picture 2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377" y="3022715"/>
              <a:ext cx="2506848" cy="17234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" name="TextBox 1"/>
            <p:cNvSpPr txBox="1"/>
            <p:nvPr/>
          </p:nvSpPr>
          <p:spPr>
            <a:xfrm>
              <a:off x="2442950" y="4155105"/>
              <a:ext cx="89938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ZA" sz="12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</a:rPr>
                <a:t>40 </a:t>
              </a:r>
              <a:r>
                <a:rPr lang="en-ZA" sz="1200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F</a:t>
              </a:r>
              <a:endParaRPr lang="en-ZA" sz="1200" dirty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4125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658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658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752" name="Picture 8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3001" y="2387599"/>
            <a:ext cx="2921000" cy="22114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D4DDC-14BA-423A-BED8-D730A1886C4B}" type="slidenum">
              <a:rPr lang="en-US"/>
              <a:pPr/>
              <a:t>12</a:t>
            </a:fld>
            <a:endParaRPr lang="en-US"/>
          </a:p>
        </p:txBody>
      </p:sp>
      <p:sp>
        <p:nvSpPr>
          <p:cNvPr id="156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42913" y="103188"/>
            <a:ext cx="8243887" cy="1725612"/>
          </a:xfrm>
        </p:spPr>
        <p:txBody>
          <a:bodyPr anchor="t"/>
          <a:lstStyle/>
          <a:p>
            <a:r>
              <a:rPr lang="en-US" sz="4000" b="1" dirty="0" smtClean="0"/>
              <a:t>Ch. 6 L#2</a:t>
            </a:r>
            <a:r>
              <a:rPr lang="en-US" sz="4000" dirty="0" smtClean="0"/>
              <a:t/>
            </a:r>
            <a:br>
              <a:rPr lang="en-US" sz="4000" dirty="0" smtClean="0"/>
            </a:br>
            <a:r>
              <a:rPr lang="en-US" sz="4000" dirty="0" smtClean="0"/>
              <a:t>6.4 Inductors</a:t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Physical </a:t>
            </a:r>
            <a:r>
              <a:rPr lang="en-US" sz="4000" dirty="0" smtClean="0">
                <a:solidFill>
                  <a:srgbClr val="FF0000"/>
                </a:solidFill>
              </a:rPr>
              <a:t>characteristics</a:t>
            </a:r>
            <a:endParaRPr lang="en-US" sz="4000" dirty="0"/>
          </a:p>
        </p:txBody>
      </p:sp>
      <p:sp>
        <p:nvSpPr>
          <p:cNvPr id="15667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905000"/>
            <a:ext cx="8153400" cy="914400"/>
          </a:xfrm>
        </p:spPr>
        <p:txBody>
          <a:bodyPr/>
          <a:lstStyle/>
          <a:p>
            <a:r>
              <a:rPr lang="en-US" sz="2400" dirty="0"/>
              <a:t>An inductor is a passive element designed         to </a:t>
            </a:r>
            <a:r>
              <a:rPr lang="en-US" sz="2400" b="1" dirty="0"/>
              <a:t>store energy </a:t>
            </a:r>
            <a:r>
              <a:rPr lang="en-US" sz="2400" dirty="0"/>
              <a:t>in its </a:t>
            </a:r>
            <a:r>
              <a:rPr lang="en-US" sz="2400" b="1" dirty="0">
                <a:solidFill>
                  <a:srgbClr val="FF0000"/>
                </a:solidFill>
              </a:rPr>
              <a:t>magnetic field</a:t>
            </a:r>
            <a:r>
              <a:rPr lang="en-US" sz="2400" dirty="0"/>
              <a:t>. </a:t>
            </a:r>
          </a:p>
        </p:txBody>
      </p:sp>
      <p:sp>
        <p:nvSpPr>
          <p:cNvPr id="156678" name="Rectangle 6"/>
          <p:cNvSpPr>
            <a:spLocks noChangeArrowheads="1"/>
          </p:cNvSpPr>
          <p:nvPr/>
        </p:nvSpPr>
        <p:spPr bwMode="auto">
          <a:xfrm>
            <a:off x="533400" y="5449888"/>
            <a:ext cx="8153400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400"/>
          </a:p>
        </p:txBody>
      </p:sp>
      <p:pic>
        <p:nvPicPr>
          <p:cNvPr id="156681" name="Picture 9" descr="06-021"/>
          <p:cNvPicPr>
            <a:picLocks noGrp="1" noChangeAspect="1" noChangeArrowheads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19100" y="2932113"/>
            <a:ext cx="4191000" cy="2325687"/>
          </a:xfrm>
          <a:ln/>
        </p:spPr>
      </p:pic>
      <p:sp>
        <p:nvSpPr>
          <p:cNvPr id="156683" name="Rectangle 11"/>
          <p:cNvSpPr>
            <a:spLocks noChangeArrowheads="1"/>
          </p:cNvSpPr>
          <p:nvPr/>
        </p:nvSpPr>
        <p:spPr bwMode="auto">
          <a:xfrm>
            <a:off x="457200" y="5257800"/>
            <a:ext cx="80010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2400" dirty="0"/>
              <a:t>An inductor consists of a coil of conducting wire</a:t>
            </a:r>
            <a:r>
              <a:rPr lang="en-US" sz="2400" dirty="0" smtClean="0"/>
              <a:t>.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2400" dirty="0" smtClean="0"/>
              <a:t>Core from iron, steel, plastic or air.</a:t>
            </a:r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2400" dirty="0" smtClean="0">
                <a:sym typeface="Symbol" pitchFamily="18" charset="2"/>
              </a:rPr>
              <a:t> = permeability = </a:t>
            </a:r>
            <a:r>
              <a:rPr lang="en-US" sz="2400" baseline="-25000" dirty="0" smtClean="0">
                <a:sym typeface="Symbol" pitchFamily="18" charset="2"/>
              </a:rPr>
              <a:t>r</a:t>
            </a:r>
            <a:r>
              <a:rPr lang="en-US" sz="2400" dirty="0" smtClean="0">
                <a:sym typeface="Symbol" pitchFamily="18" charset="2"/>
              </a:rPr>
              <a:t></a:t>
            </a:r>
            <a:r>
              <a:rPr lang="en-US" sz="2400" baseline="-25000" dirty="0" smtClean="0">
                <a:sym typeface="Symbol" pitchFamily="18" charset="2"/>
              </a:rPr>
              <a:t>0</a:t>
            </a:r>
            <a:endParaRPr lang="en-US" sz="2400" baseline="-25000" dirty="0" smtClean="0"/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400" dirty="0" smtClean="0"/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400" dirty="0" smtClean="0"/>
          </a:p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400" dirty="0"/>
          </a:p>
        </p:txBody>
      </p:sp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61913375"/>
              </p:ext>
            </p:extLst>
          </p:nvPr>
        </p:nvGraphicFramePr>
        <p:xfrm>
          <a:off x="4648200" y="4349750"/>
          <a:ext cx="2574925" cy="1009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6759" name="Equation" r:id="rId5" imgW="1079280" imgH="419040" progId="Equation.3">
                  <p:embed/>
                </p:oleObj>
              </mc:Choice>
              <mc:Fallback>
                <p:oleObj name="Equation" r:id="rId5" imgW="1079280" imgH="41904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4349750"/>
                        <a:ext cx="2574925" cy="10096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D53517-D6EE-46E2-9F61-6383D9ECE00E}" type="slidenum">
              <a:rPr lang="en-US"/>
              <a:pPr/>
              <a:t>13</a:t>
            </a:fld>
            <a:endParaRPr lang="en-US"/>
          </a:p>
        </p:txBody>
      </p:sp>
      <p:sp>
        <p:nvSpPr>
          <p:cNvPr id="158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 smtClean="0"/>
              <a:t>6.4 Inductors</a:t>
            </a:r>
            <a:br>
              <a:rPr lang="en-US" sz="4000" dirty="0" smtClean="0"/>
            </a:br>
            <a:r>
              <a:rPr lang="en-US" sz="4000" dirty="0" smtClean="0">
                <a:solidFill>
                  <a:srgbClr val="FF0000"/>
                </a:solidFill>
              </a:rPr>
              <a:t>Electrical </a:t>
            </a:r>
            <a:r>
              <a:rPr lang="en-US" sz="4000" dirty="0" smtClean="0">
                <a:solidFill>
                  <a:srgbClr val="FF0000"/>
                </a:solidFill>
              </a:rPr>
              <a:t>characteristics</a:t>
            </a:r>
            <a:endParaRPr lang="en-US" sz="4000" dirty="0"/>
          </a:p>
        </p:txBody>
      </p:sp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533400" y="5449888"/>
            <a:ext cx="8153400" cy="874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400"/>
          </a:p>
        </p:txBody>
      </p:sp>
      <p:sp>
        <p:nvSpPr>
          <p:cNvPr id="158729" name="Rectangle 9"/>
          <p:cNvSpPr>
            <a:spLocks noChangeArrowheads="1"/>
          </p:cNvSpPr>
          <p:nvPr/>
        </p:nvSpPr>
        <p:spPr bwMode="auto">
          <a:xfrm>
            <a:off x="0" y="30527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58731" name="Rectangle 11"/>
          <p:cNvSpPr>
            <a:spLocks noChangeArrowheads="1"/>
          </p:cNvSpPr>
          <p:nvPr/>
        </p:nvSpPr>
        <p:spPr bwMode="auto">
          <a:xfrm>
            <a:off x="0" y="30908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pic>
        <p:nvPicPr>
          <p:cNvPr id="158758" name="Picture 3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39050" y="1371600"/>
            <a:ext cx="1047750" cy="30575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1066800" y="1676400"/>
                <a:ext cx="1600823" cy="910377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ZA" sz="28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8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𝐿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𝑑𝑖</m:t>
                          </m:r>
                        </m:num>
                        <m:den>
                          <m: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den>
                      </m:f>
                    </m:oMath>
                  </m:oMathPara>
                </a14:m>
                <a:endParaRPr lang="en-ZA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1676400"/>
                <a:ext cx="1600823" cy="910377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3124200" y="1676400"/>
                <a:ext cx="3740126" cy="110902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8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sz="28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𝐿</m:t>
                          </m:r>
                        </m:den>
                      </m:f>
                      <m:nary>
                        <m:naryPr>
                          <m:ctrlP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</m:sup>
                        <m:e>
                          <m: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𝑣</m:t>
                          </m:r>
                          <m:d>
                            <m:dPr>
                              <m:ctrlP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ZA" sz="28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</m:t>
                      </m:r>
                      <m:r>
                        <a:rPr lang="en-ZA" sz="28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𝑖</m:t>
                      </m:r>
                      <m:d>
                        <m:dPr>
                          <m:ctrlPr>
                            <a:rPr lang="en-ZA" sz="28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bPr>
                            <m:e>
                              <m: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ZA" sz="28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ZA" sz="28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4200" y="1676400"/>
                <a:ext cx="3740126" cy="1109022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4"/>
          <p:cNvSpPr>
            <a:spLocks noChangeArrowheads="1"/>
          </p:cNvSpPr>
          <p:nvPr/>
        </p:nvSpPr>
        <p:spPr bwMode="auto">
          <a:xfrm>
            <a:off x="203200" y="3898900"/>
            <a:ext cx="894080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r>
              <a:rPr lang="en-US" sz="2400" dirty="0" smtClean="0"/>
              <a:t>Important characteristics of inductors:</a:t>
            </a:r>
            <a:endParaRPr lang="en-US" sz="2400" dirty="0"/>
          </a:p>
          <a:p>
            <a:pPr marL="742950" lvl="1" indent="-285750" eaLnBrk="1" hangingPunct="1">
              <a:spcBef>
                <a:spcPct val="20000"/>
              </a:spcBef>
              <a:buFontTx/>
              <a:buChar char="–"/>
            </a:pPr>
            <a:r>
              <a:rPr lang="en-US" sz="2400" dirty="0" smtClean="0"/>
              <a:t>It is a </a:t>
            </a:r>
            <a:r>
              <a:rPr lang="en-US" sz="2400" b="1" u="sng" dirty="0" smtClean="0">
                <a:solidFill>
                  <a:srgbClr val="FF0000"/>
                </a:solidFill>
              </a:rPr>
              <a:t>short </a:t>
            </a:r>
            <a:r>
              <a:rPr lang="en-US" sz="2400" b="1" u="sng" dirty="0">
                <a:solidFill>
                  <a:srgbClr val="FF0000"/>
                </a:solidFill>
              </a:rPr>
              <a:t>circuit</a:t>
            </a:r>
            <a:r>
              <a:rPr lang="en-US" sz="2400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to </a:t>
            </a:r>
            <a:r>
              <a:rPr lang="en-US" sz="2400" dirty="0" smtClean="0"/>
              <a:t>DC </a:t>
            </a:r>
            <a:r>
              <a:rPr lang="en-US" sz="2400" dirty="0"/>
              <a:t>(</a:t>
            </a:r>
            <a:r>
              <a:rPr lang="en-US" sz="2400" dirty="0" smtClean="0"/>
              <a:t>di/</a:t>
            </a:r>
            <a:r>
              <a:rPr lang="en-US" sz="2400" dirty="0" err="1" smtClean="0"/>
              <a:t>dt</a:t>
            </a:r>
            <a:r>
              <a:rPr lang="en-US" sz="2400" dirty="0" smtClean="0"/>
              <a:t> </a:t>
            </a:r>
            <a:r>
              <a:rPr lang="en-US" sz="2400" dirty="0"/>
              <a:t>= 0). </a:t>
            </a:r>
          </a:p>
          <a:p>
            <a:pPr marL="742950" lvl="1" indent="-285750" eaLnBrk="1" hangingPunct="1">
              <a:spcBef>
                <a:spcPct val="20000"/>
              </a:spcBef>
              <a:buFontTx/>
              <a:buChar char="–"/>
            </a:pPr>
            <a:r>
              <a:rPr lang="en-US" sz="2400" dirty="0" smtClean="0"/>
              <a:t>Its </a:t>
            </a:r>
            <a:r>
              <a:rPr lang="en-US" sz="2400" b="1" u="sng" dirty="0" smtClean="0">
                <a:solidFill>
                  <a:srgbClr val="FF0000"/>
                </a:solidFill>
              </a:rPr>
              <a:t>current</a:t>
            </a:r>
            <a:r>
              <a:rPr lang="en-US" sz="2400" dirty="0" smtClean="0"/>
              <a:t> </a:t>
            </a:r>
            <a:r>
              <a:rPr lang="en-US" sz="2400" dirty="0"/>
              <a:t>cannot change </a:t>
            </a:r>
            <a:r>
              <a:rPr lang="en-US" sz="2400" dirty="0" smtClean="0"/>
              <a:t>abruptly</a:t>
            </a:r>
            <a:r>
              <a:rPr lang="en-US" sz="2400" b="1" dirty="0" smtClean="0"/>
              <a:t> </a:t>
            </a:r>
            <a:r>
              <a:rPr lang="en-US" sz="2400" dirty="0" smtClean="0"/>
              <a:t>(di/</a:t>
            </a:r>
            <a:r>
              <a:rPr lang="en-US" sz="2400" dirty="0" err="1" smtClean="0"/>
              <a:t>dt</a:t>
            </a:r>
            <a:r>
              <a:rPr lang="en-US" sz="2400" dirty="0" smtClean="0"/>
              <a:t> = </a:t>
            </a:r>
            <a:r>
              <a:rPr lang="en-US" sz="2400" dirty="0" smtClean="0">
                <a:sym typeface="Symbol"/>
              </a:rPr>
              <a:t></a:t>
            </a:r>
            <a:r>
              <a:rPr lang="en-US" sz="2400" dirty="0" smtClean="0"/>
              <a:t>).</a:t>
            </a:r>
          </a:p>
          <a:p>
            <a:pPr marL="742950" lvl="1" indent="-285750" eaLnBrk="1" hangingPunct="1">
              <a:spcBef>
                <a:spcPct val="20000"/>
              </a:spcBef>
              <a:buFontTx/>
              <a:buChar char="–"/>
            </a:pPr>
            <a:r>
              <a:rPr lang="en-US" sz="2400" dirty="0" smtClean="0"/>
              <a:t>Does not dissipate energy, but stores it when charging or provides it when discharging.</a:t>
            </a:r>
            <a:endParaRPr lang="en-US" sz="24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1066800" y="3052763"/>
                <a:ext cx="1577675" cy="78380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𝑤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𝐿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66800" y="3052763"/>
                <a:ext cx="1577675" cy="783804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3878893" y="3067249"/>
                <a:ext cx="2230739" cy="79355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𝑝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𝑣𝑖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𝐿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𝑑𝑖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𝑖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78893" y="3067249"/>
                <a:ext cx="2230739" cy="793551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22" grpId="0" animBg="1"/>
      <p:bldP spid="2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4669909" y="2413000"/>
                <a:ext cx="3939027" cy="783804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𝑤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𝐿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=0.2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</a:rPr>
                        <m:t>cos</m:t>
                      </m:r>
                      <m:r>
                        <a:rPr lang="en-ZA" sz="2400" b="0" i="1" baseline="30000" smtClean="0">
                          <a:solidFill>
                            <a:srgbClr val="000000"/>
                          </a:solidFill>
                          <a:latin typeface="Cambria Math"/>
                        </a:rPr>
                        <m:t>2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100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𝑡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 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𝜇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</a:rPr>
                        <m:t>𝐽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69909" y="2413000"/>
                <a:ext cx="3939027" cy="783804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9D03-B225-4F6C-A623-B9910EF397B0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57200" y="0"/>
            <a:ext cx="80010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6.8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The current through a 1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</a:rPr>
              <a:t>mH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inductor is i(t) = 20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</a:rPr>
              <a:t>cos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100t mA.  Calculate the voltage and the stored energy.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57200" y="1124129"/>
                <a:ext cx="6115585" cy="7935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𝑣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𝐿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𝑑𝑖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=1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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10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−3</m:t>
                          </m:r>
                        </m:sup>
                      </m:sSup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×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𝑑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20</m:t>
                          </m:r>
                          <m:func>
                            <m:func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sym typeface="Symbol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en-ZA" sz="2400" b="0" i="0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sym typeface="Symbol"/>
                                </a:rPr>
                                <m:t>cos</m:t>
                              </m:r>
                            </m:fName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sym typeface="Symbol"/>
                                </a:rPr>
                                <m:t>100</m:t>
                              </m:r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sym typeface="Symbol"/>
                                </a:rPr>
                                <m:t>𝑡</m:t>
                              </m:r>
                            </m:e>
                          </m:func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</m:t>
                          </m:r>
                          <m:sSup>
                            <m:sSup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sym typeface="Symbol"/>
                                </a:rPr>
                              </m:ctrlPr>
                            </m:sSupPr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sym typeface="Symbol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  <a:ea typeface="Cambria Math"/>
                                  <a:sym typeface="Symbol"/>
                                </a:rPr>
                                <m:t>−3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124129"/>
                <a:ext cx="6115585" cy="793551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1627364" y="1976735"/>
                <a:ext cx="5686172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=1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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10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−3</m:t>
                          </m:r>
                        </m:sup>
                      </m:sSup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×20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10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−3</m:t>
                          </m:r>
                        </m:sup>
                      </m:sSup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×100×−</m:t>
                      </m:r>
                      <m:func>
                        <m:func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sin</m:t>
                          </m:r>
                        </m:fName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100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𝑡</m:t>
                          </m:r>
                        </m:e>
                      </m:func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364" y="1976735"/>
                <a:ext cx="5686172" cy="46166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627364" y="2514600"/>
                <a:ext cx="2717539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−2</m:t>
                      </m:r>
                      <m:func>
                        <m:func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ZA" sz="2400" b="0" i="0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sin</m:t>
                          </m:r>
                        </m:fName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100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ea typeface="Cambria Math"/>
                              <a:sym typeface="Symbol"/>
                            </a:rPr>
                            <m:t>𝑡</m:t>
                          </m:r>
                        </m:e>
                      </m:func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mV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27364" y="2514600"/>
                <a:ext cx="2717539" cy="461665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Arrow Connector 9"/>
          <p:cNvCxnSpPr/>
          <p:nvPr/>
        </p:nvCxnSpPr>
        <p:spPr bwMode="auto">
          <a:xfrm>
            <a:off x="2133600" y="2971800"/>
            <a:ext cx="2211303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304800" y="3200400"/>
            <a:ext cx="8458199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6.9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The voltage across a 2 H inductor is v(t) = 10(1 – t) V. 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the current through the inductor at t = 4 s if i(0) = 2 A.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604777" y="4400729"/>
                <a:ext cx="3930948" cy="9212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𝑖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(4)=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nary>
                        <m:nary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naryPr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0</m:t>
                          </m:r>
                        </m:sub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4</m:t>
                          </m:r>
                        </m:sup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  <m:d>
                            <m:d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dPr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1−</m:t>
                              </m:r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</m:d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𝑑𝑡</m:t>
                          </m:r>
                        </m:e>
                      </m:nary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+2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77" y="4400729"/>
                <a:ext cx="3930948" cy="92121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1171828" y="5405735"/>
                <a:ext cx="3608617" cy="79611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=0.5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10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𝑡</m:t>
                          </m:r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−</m:t>
                          </m:r>
                          <m:f>
                            <m:f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fPr>
                            <m:num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10</m:t>
                              </m:r>
                            </m:num>
                            <m:den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den>
                          </m:f>
                          <m:sSup>
                            <m:sSupPr>
                              <m:ctrlP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</m:ctrlPr>
                            </m:sSupPr>
                            <m:e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𝑡</m:t>
                              </m:r>
                            </m:e>
                            <m:sup>
                              <m:r>
                                <a:rPr lang="en-ZA" sz="2400" b="0" i="1" smtClean="0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2</m:t>
                              </m:r>
                            </m:sup>
                          </m:sSup>
                        </m:e>
                      </m:d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    +2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828" y="5405735"/>
                <a:ext cx="3608617" cy="796115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15"/>
          <p:cNvSpPr/>
          <p:nvPr/>
        </p:nvSpPr>
        <p:spPr>
          <a:xfrm>
            <a:off x="3738518" y="5956943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0</a:t>
            </a:r>
            <a:endParaRPr lang="en-ZA" dirty="0">
              <a:solidFill>
                <a:srgbClr val="000000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3731074" y="5305229"/>
            <a:ext cx="3000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dirty="0" smtClean="0">
                <a:solidFill>
                  <a:srgbClr val="000000"/>
                </a:solidFill>
                <a:latin typeface="Times New Roman" pitchFamily="18" charset="0"/>
                <a:cs typeface="Times New Roman" pitchFamily="18" charset="0"/>
                <a:sym typeface="Symbol"/>
              </a:rPr>
              <a:t>4</a:t>
            </a:r>
            <a:endParaRPr lang="en-ZA" dirty="0">
              <a:solidFill>
                <a:srgbClr val="0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1211481" y="6141609"/>
                <a:ext cx="144334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−18 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ea typeface="Cambria Math"/>
                          <a:sym typeface="Symbol"/>
                        </a:rPr>
                        <m:t>A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1481" y="6141609"/>
                <a:ext cx="1443344" cy="461665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9" name="Straight Arrow Connector 18"/>
          <p:cNvCxnSpPr/>
          <p:nvPr/>
        </p:nvCxnSpPr>
        <p:spPr bwMode="auto">
          <a:xfrm>
            <a:off x="1669812" y="6577874"/>
            <a:ext cx="985013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 bwMode="auto">
          <a:xfrm>
            <a:off x="304800" y="3287484"/>
            <a:ext cx="8305800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0" name="Rectangle 19"/>
          <p:cNvSpPr/>
          <p:nvPr/>
        </p:nvSpPr>
        <p:spPr bwMode="auto">
          <a:xfrm>
            <a:off x="2067556" y="1174929"/>
            <a:ext cx="6695443" cy="207627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1" name="Rectangle 20"/>
          <p:cNvSpPr/>
          <p:nvPr/>
        </p:nvSpPr>
        <p:spPr bwMode="auto">
          <a:xfrm>
            <a:off x="1627364" y="4367234"/>
            <a:ext cx="5425777" cy="998251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23" name="Rectangle 22"/>
          <p:cNvSpPr/>
          <p:nvPr/>
        </p:nvSpPr>
        <p:spPr bwMode="auto">
          <a:xfrm>
            <a:off x="1627363" y="5405735"/>
            <a:ext cx="5425777" cy="1299865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08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0" grpId="0" animBg="1"/>
      <p:bldP spid="21" grpId="0" animBg="1"/>
      <p:bldP spid="2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817B9-0BC8-4BD8-9062-61261E588D4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57200" y="0"/>
            <a:ext cx="73914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6.10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Determine 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and the energy stored in both the capacitor and the inductor for the DC circuit below.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6028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773"/>
          <a:stretch/>
        </p:blipFill>
        <p:spPr bwMode="auto">
          <a:xfrm>
            <a:off x="304800" y="1260212"/>
            <a:ext cx="4419600" cy="1539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3298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3429000"/>
            <a:ext cx="3962400" cy="15545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Down Arrow 4"/>
          <p:cNvSpPr/>
          <p:nvPr/>
        </p:nvSpPr>
        <p:spPr bwMode="auto">
          <a:xfrm>
            <a:off x="2057400" y="2957286"/>
            <a:ext cx="1295400" cy="68580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876800" y="1469749"/>
                <a:ext cx="2690737" cy="7923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=4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6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6+2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=3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</a:rPr>
                        <m:t>A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1469749"/>
                <a:ext cx="2690737" cy="792396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811487" y="3764334"/>
                <a:ext cx="225613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𝐶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=2</m:t>
                      </m:r>
                      <m:sSub>
                        <m:sSubPr>
                          <m:ctrlPr>
                            <a:rPr lang="en-ZA" sz="240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b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𝐿</m:t>
                          </m:r>
                        </m:sub>
                      </m:sSub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=6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</a:rPr>
                        <m:t>V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1487" y="3764334"/>
                <a:ext cx="2256130" cy="461665"/>
              </a:xfrm>
              <a:prstGeom prst="rect">
                <a:avLst/>
              </a:prstGeom>
              <a:blipFill rotWithShape="1">
                <a:blip r:embed="rId5"/>
                <a:stretch>
                  <a:fillRect b="-5333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862627" y="2338345"/>
                <a:ext cx="4129656" cy="783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𝑤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𝐿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𝑖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</a:rPr>
                        <m:t>=0.5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6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3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=27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J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62627" y="2338345"/>
                <a:ext cx="4129656" cy="783804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898571" y="4591689"/>
                <a:ext cx="4200509" cy="7838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𝑤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</a:rPr>
                        <m:t>𝐶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𝑣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</a:rPr>
                        <m:t>=0.5</m:t>
                      </m:r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4</m:t>
                      </m:r>
                      <m:sSup>
                        <m:sSupPr>
                          <m:ctrlP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</m:ctrlPr>
                        </m:sSupPr>
                        <m:e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6</m:t>
                          </m:r>
                        </m:e>
                        <m:sup>
                          <m:r>
                            <a:rPr lang="en-ZA" sz="2400" b="0" i="1" smtClean="0">
                              <a:solidFill>
                                <a:srgbClr val="000000"/>
                              </a:solidFill>
                              <a:latin typeface="Cambria Math"/>
                              <a:sym typeface="Symbol"/>
                            </a:rPr>
                            <m:t>2</m:t>
                          </m:r>
                        </m:sup>
                      </m:sSup>
                      <m:r>
                        <a:rPr lang="en-ZA" sz="2400" b="0" i="1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=72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solidFill>
                            <a:srgbClr val="000000"/>
                          </a:solidFill>
                          <a:latin typeface="Cambria Math"/>
                          <a:sym typeface="Symbol"/>
                        </a:rPr>
                        <m:t>J</m:t>
                      </m:r>
                    </m:oMath>
                  </m:oMathPara>
                </a14:m>
                <a:endParaRPr lang="en-ZA" sz="2400" dirty="0">
                  <a:solidFill>
                    <a:srgbClr val="000000"/>
                  </a:solidFill>
                </a:endParaRPr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98571" y="4591689"/>
                <a:ext cx="4200509" cy="783804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Arrow Connector 10"/>
          <p:cNvCxnSpPr/>
          <p:nvPr/>
        </p:nvCxnSpPr>
        <p:spPr bwMode="auto">
          <a:xfrm>
            <a:off x="8305800" y="2957286"/>
            <a:ext cx="686483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 bwMode="auto">
          <a:xfrm>
            <a:off x="8412597" y="5257800"/>
            <a:ext cx="686483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 bwMode="auto">
          <a:xfrm>
            <a:off x="5592912" y="1469749"/>
            <a:ext cx="3399372" cy="79239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5607425" y="2290506"/>
            <a:ext cx="3399372" cy="96613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5670680" y="3643086"/>
            <a:ext cx="3399372" cy="792396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7" name="Rectangle 16"/>
          <p:cNvSpPr/>
          <p:nvPr/>
        </p:nvSpPr>
        <p:spPr bwMode="auto">
          <a:xfrm>
            <a:off x="5694509" y="4544518"/>
            <a:ext cx="3399372" cy="966137"/>
          </a:xfrm>
          <a:prstGeom prst="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767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83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F6F410-073E-480D-94D5-8F9D7BE20F21}" type="slidenum">
              <a:rPr lang="en-US"/>
              <a:pPr/>
              <a:t>16</a:t>
            </a:fld>
            <a:endParaRPr lang="en-US"/>
          </a:p>
        </p:txBody>
      </p:sp>
      <p:sp>
        <p:nvSpPr>
          <p:cNvPr id="163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dirty="0"/>
              <a:t>6.4 Series and Parallel</a:t>
            </a:r>
            <a:br>
              <a:rPr lang="en-US" sz="4000" dirty="0"/>
            </a:br>
            <a:r>
              <a:rPr lang="en-US" sz="4000" dirty="0"/>
              <a:t> </a:t>
            </a:r>
            <a:r>
              <a:rPr lang="en-US" sz="4000" dirty="0" smtClean="0"/>
              <a:t>Inductors</a:t>
            </a:r>
            <a:endParaRPr lang="en-US" sz="4000" dirty="0"/>
          </a:p>
        </p:txBody>
      </p:sp>
      <p:sp>
        <p:nvSpPr>
          <p:cNvPr id="163844" name="Rectangle 4"/>
          <p:cNvSpPr>
            <a:spLocks noChangeArrowheads="1"/>
          </p:cNvSpPr>
          <p:nvPr/>
        </p:nvSpPr>
        <p:spPr bwMode="auto">
          <a:xfrm>
            <a:off x="381000" y="4419600"/>
            <a:ext cx="8458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800" b="1" u="sng"/>
          </a:p>
        </p:txBody>
      </p:sp>
      <p:sp>
        <p:nvSpPr>
          <p:cNvPr id="163845" name="Rectangle 5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846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848" name="Rectangle 8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849" name="Rectangle 9"/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851" name="Rectangle 11"/>
          <p:cNvSpPr>
            <a:spLocks noChangeArrowheads="1"/>
          </p:cNvSpPr>
          <p:nvPr/>
        </p:nvSpPr>
        <p:spPr bwMode="auto">
          <a:xfrm>
            <a:off x="0" y="31956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3855" name="Rectangle 15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graphicFrame>
        <p:nvGraphicFramePr>
          <p:cNvPr id="163854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93544"/>
              </p:ext>
            </p:extLst>
          </p:nvPr>
        </p:nvGraphicFramePr>
        <p:xfrm>
          <a:off x="396025" y="5545931"/>
          <a:ext cx="3810000" cy="642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8" name="Equation" r:id="rId3" imgW="1422400" imgH="241300" progId="Equation.3">
                  <p:embed/>
                </p:oleObj>
              </mc:Choice>
              <mc:Fallback>
                <p:oleObj name="Equation" r:id="rId3" imgW="1422400" imgH="2413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025" y="5545931"/>
                        <a:ext cx="3810000" cy="642938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99892310"/>
              </p:ext>
            </p:extLst>
          </p:nvPr>
        </p:nvGraphicFramePr>
        <p:xfrm>
          <a:off x="5210175" y="5455443"/>
          <a:ext cx="2867025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3929" name="Equation" r:id="rId5" imgW="1548728" imgH="444307" progId="Equation.3">
                  <p:embed/>
                </p:oleObj>
              </mc:Choice>
              <mc:Fallback>
                <p:oleObj name="Equation" r:id="rId5" imgW="1548728" imgH="444307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0175" y="5455443"/>
                        <a:ext cx="2867025" cy="82391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20" name="Picture 3" descr="ale29559_06029"/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70"/>
          <a:stretch/>
        </p:blipFill>
        <p:spPr bwMode="auto">
          <a:xfrm>
            <a:off x="359065" y="1447800"/>
            <a:ext cx="3984335" cy="3886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1" name="Picture 3" descr="ale29559_06030"/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49"/>
          <a:stretch/>
        </p:blipFill>
        <p:spPr bwMode="auto">
          <a:xfrm>
            <a:off x="4870897" y="1371600"/>
            <a:ext cx="3968303" cy="3965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7EE634-02AA-4A5A-BC71-CA5B0B1B7D1C}" type="slidenum">
              <a:rPr lang="en-US"/>
              <a:pPr/>
              <a:t>17</a:t>
            </a:fld>
            <a:endParaRPr lang="en-US"/>
          </a:p>
        </p:txBody>
      </p:sp>
      <p:sp>
        <p:nvSpPr>
          <p:cNvPr id="16691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0" y="182562"/>
            <a:ext cx="9220200" cy="655638"/>
          </a:xfrm>
        </p:spPr>
        <p:txBody>
          <a:bodyPr/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dirty="0"/>
              <a:t>Current and voltage relationship for R, L, </a:t>
            </a:r>
            <a:r>
              <a:rPr lang="en-US" dirty="0" smtClean="0"/>
              <a:t>C</a:t>
            </a:r>
            <a:endParaRPr lang="en-US" dirty="0"/>
          </a:p>
        </p:txBody>
      </p:sp>
      <p:sp>
        <p:nvSpPr>
          <p:cNvPr id="166916" name="Rectangle 4"/>
          <p:cNvSpPr>
            <a:spLocks noChangeArrowheads="1"/>
          </p:cNvSpPr>
          <p:nvPr/>
        </p:nvSpPr>
        <p:spPr bwMode="auto">
          <a:xfrm>
            <a:off x="381000" y="4419600"/>
            <a:ext cx="8458200" cy="144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342900" indent="-342900" eaLnBrk="1" hangingPunct="1">
              <a:spcBef>
                <a:spcPct val="20000"/>
              </a:spcBef>
              <a:buFontTx/>
              <a:buChar char="•"/>
            </a:pPr>
            <a:endParaRPr lang="en-US" sz="2800" b="1" u="sng"/>
          </a:p>
        </p:txBody>
      </p:sp>
      <p:sp>
        <p:nvSpPr>
          <p:cNvPr id="166917" name="Rectangle 5"/>
          <p:cNvSpPr>
            <a:spLocks noChangeArrowheads="1"/>
          </p:cNvSpPr>
          <p:nvPr/>
        </p:nvSpPr>
        <p:spPr bwMode="auto">
          <a:xfrm>
            <a:off x="0" y="324802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6918" name="Rectangle 6"/>
          <p:cNvSpPr>
            <a:spLocks noChangeArrowheads="1"/>
          </p:cNvSpPr>
          <p:nvPr/>
        </p:nvSpPr>
        <p:spPr bwMode="auto">
          <a:xfrm>
            <a:off x="0" y="312896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6919" name="Rectangle 7"/>
          <p:cNvSpPr>
            <a:spLocks noChangeArrowheads="1"/>
          </p:cNvSpPr>
          <p:nvPr/>
        </p:nvSpPr>
        <p:spPr bwMode="auto">
          <a:xfrm>
            <a:off x="0" y="30861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6920" name="Rectangle 8"/>
          <p:cNvSpPr>
            <a:spLocks noChangeArrowheads="1"/>
          </p:cNvSpPr>
          <p:nvPr/>
        </p:nvSpPr>
        <p:spPr bwMode="auto">
          <a:xfrm>
            <a:off x="0" y="311467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sp>
        <p:nvSpPr>
          <p:cNvPr id="166921" name="Rectangle 9"/>
          <p:cNvSpPr>
            <a:spLocks noChangeArrowheads="1"/>
          </p:cNvSpPr>
          <p:nvPr/>
        </p:nvSpPr>
        <p:spPr bwMode="auto">
          <a:xfrm>
            <a:off x="0" y="314325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ZA"/>
          </a:p>
        </p:txBody>
      </p:sp>
      <p:pic>
        <p:nvPicPr>
          <p:cNvPr id="166925" name="Picture 13" descr="table251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838200" y="774700"/>
            <a:ext cx="7239000" cy="5911780"/>
          </a:xfrm>
          <a:noFill/>
          <a:ln/>
        </p:spPr>
      </p:pic>
      <p:sp>
        <p:nvSpPr>
          <p:cNvPr id="166927" name="Text Box 15"/>
          <p:cNvSpPr txBox="1">
            <a:spLocks noChangeArrowheads="1"/>
          </p:cNvSpPr>
          <p:nvPr/>
        </p:nvSpPr>
        <p:spPr bwMode="auto">
          <a:xfrm>
            <a:off x="1752600" y="2057400"/>
            <a:ext cx="228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166928" name="Text Box 16"/>
          <p:cNvSpPr txBox="1">
            <a:spLocks noChangeArrowheads="1"/>
          </p:cNvSpPr>
          <p:nvPr/>
        </p:nvSpPr>
        <p:spPr bwMode="auto">
          <a:xfrm>
            <a:off x="1676400" y="3581400"/>
            <a:ext cx="228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FF3300"/>
                </a:solidFill>
              </a:rPr>
              <a:t>+</a:t>
            </a:r>
          </a:p>
        </p:txBody>
      </p:sp>
      <p:sp>
        <p:nvSpPr>
          <p:cNvPr id="166929" name="Text Box 17"/>
          <p:cNvSpPr txBox="1">
            <a:spLocks noChangeArrowheads="1"/>
          </p:cNvSpPr>
          <p:nvPr/>
        </p:nvSpPr>
        <p:spPr bwMode="auto">
          <a:xfrm>
            <a:off x="1689100" y="5334000"/>
            <a:ext cx="228600" cy="212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0" tIns="0" rIns="0" bIns="0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400" dirty="0">
                <a:solidFill>
                  <a:srgbClr val="FF3300"/>
                </a:solidFill>
              </a:rPr>
              <a:t>+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7F9D03-B225-4F6C-A623-B9910EF397B0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437882" y="0"/>
            <a:ext cx="7391400" cy="83099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6.11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Calculate </a:t>
            </a:r>
            <a:r>
              <a:rPr lang="en-ZA" sz="2400" i="1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ZA" sz="2400" i="1" baseline="-25000" dirty="0" err="1" smtClean="0">
                <a:latin typeface="Times New Roman" pitchFamily="18" charset="0"/>
                <a:cs typeface="Times New Roman" pitchFamily="18" charset="0"/>
              </a:rPr>
              <a:t>eq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603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37"/>
          <a:stretch/>
        </p:blipFill>
        <p:spPr bwMode="auto">
          <a:xfrm>
            <a:off x="445395" y="830997"/>
            <a:ext cx="8152977" cy="22828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981664" y="3429000"/>
            <a:ext cx="2752677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40+20 = 60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60//30 = 20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20+100 = 120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120//40 = 30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30+20 = 50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50//50 = 25 </a:t>
            </a:r>
            <a:r>
              <a:rPr lang="en-ZA" sz="2000" dirty="0" err="1" smtClean="0">
                <a:latin typeface="Times New Roman" pitchFamily="18" charset="0"/>
                <a:cs typeface="Times New Roman" pitchFamily="18" charset="0"/>
              </a:rPr>
              <a:t>mH</a:t>
            </a:r>
            <a:r>
              <a:rPr lang="en-ZA" sz="2000" dirty="0" smtClean="0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ZA" sz="2000" dirty="0" err="1" smtClean="0">
                <a:latin typeface="Times New Roman" pitchFamily="18" charset="0"/>
                <a:cs typeface="Times New Roman" pitchFamily="18" charset="0"/>
              </a:rPr>
              <a:t>L</a:t>
            </a:r>
            <a:r>
              <a:rPr lang="en-ZA" sz="2000" baseline="-25000" dirty="0" err="1" smtClean="0">
                <a:latin typeface="Times New Roman" pitchFamily="18" charset="0"/>
                <a:cs typeface="Times New Roman" pitchFamily="18" charset="0"/>
              </a:rPr>
              <a:t>eq</a:t>
            </a:r>
            <a:endParaRPr lang="en-ZA" sz="2000" dirty="0" smtClean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4267200" y="6172200"/>
            <a:ext cx="94116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44123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817B9-0BC8-4BD8-9062-61261E588D46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9600" y="228600"/>
            <a:ext cx="80772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6.12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If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(t) = 0.6e</a:t>
            </a:r>
            <a:r>
              <a:rPr lang="en-ZA" sz="2400" baseline="30000" dirty="0" smtClean="0">
                <a:latin typeface="Times New Roman" pitchFamily="18" charset="0"/>
                <a:cs typeface="Times New Roman" pitchFamily="18" charset="0"/>
              </a:rPr>
              <a:t>-2t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A and i(0) = 1.4 A ,find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a) </a:t>
            </a:r>
            <a:r>
              <a:rPr lang="en-ZA" sz="2400" b="1" u="sng" dirty="0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2400" b="1" u="sng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2400" b="1" u="sng" dirty="0" smtClean="0">
                <a:latin typeface="Times New Roman" pitchFamily="18" charset="0"/>
                <a:cs typeface="Times New Roman" pitchFamily="18" charset="0"/>
                <a:sym typeface="Symbol"/>
              </a:rPr>
              <a:t>(0)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		(b)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(t) and i(t)	(c) 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(t), 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(t) and v(t)</a:t>
            </a:r>
          </a:p>
        </p:txBody>
      </p:sp>
      <p:pic>
        <p:nvPicPr>
          <p:cNvPr id="4" name="Picture 3" descr="ale29559_0603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 r="3320"/>
          <a:stretch/>
        </p:blipFill>
        <p:spPr bwMode="auto">
          <a:xfrm>
            <a:off x="5392939" y="1496723"/>
            <a:ext cx="3751061" cy="2215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8600" y="1773444"/>
            <a:ext cx="51054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(0) = 0.6 A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      KCL: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(0) = 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>i(0)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–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>(0) </a:t>
            </a:r>
            <a:endParaRPr lang="en-ZA" sz="2400" dirty="0" smtClean="0">
              <a:latin typeface="Times New Roman" pitchFamily="18" charset="0"/>
              <a:cs typeface="Times New Roman" pitchFamily="18" charset="0"/>
            </a:endParaRPr>
          </a:p>
          <a:p>
            <a:r>
              <a:rPr lang="en-ZA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                       = 1.4 – 0.6 = 0.8 A </a:t>
            </a:r>
            <a:endParaRPr lang="en-ZA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3818430" y="2950161"/>
            <a:ext cx="82977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33492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817B9-0BC8-4BD8-9062-61261E588D46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9600" y="86931"/>
            <a:ext cx="80772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6.12 continued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If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(t) = 0.6e</a:t>
            </a:r>
            <a:r>
              <a:rPr lang="en-ZA" sz="2400" baseline="30000" dirty="0" smtClean="0">
                <a:latin typeface="Times New Roman" pitchFamily="18" charset="0"/>
                <a:cs typeface="Times New Roman" pitchFamily="18" charset="0"/>
              </a:rPr>
              <a:t>-2t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A and i(0) = 1.4 A ,find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(b) </a:t>
            </a:r>
            <a:r>
              <a:rPr lang="en-ZA" sz="2400" b="1" u="sng" dirty="0" smtClean="0">
                <a:latin typeface="Times New Roman" pitchFamily="18" charset="0"/>
                <a:cs typeface="Times New Roman" pitchFamily="18" charset="0"/>
                <a:sym typeface="Symbol"/>
              </a:rPr>
              <a:t>i</a:t>
            </a:r>
            <a:r>
              <a:rPr lang="en-ZA" sz="2400" b="1" u="sng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2400" b="1" u="sng" dirty="0" smtClean="0">
                <a:latin typeface="Times New Roman" pitchFamily="18" charset="0"/>
                <a:cs typeface="Times New Roman" pitchFamily="18" charset="0"/>
                <a:sym typeface="Symbol"/>
              </a:rPr>
              <a:t>(t)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and i(t)	(c) </a:t>
            </a:r>
            <a:r>
              <a:rPr lang="en-ZA" sz="2400" b="1" u="sng" dirty="0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b="1" u="sng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ZA" sz="2400" b="1" u="sng" dirty="0" smtClean="0">
                <a:latin typeface="Times New Roman" pitchFamily="18" charset="0"/>
                <a:cs typeface="Times New Roman" pitchFamily="18" charset="0"/>
                <a:sym typeface="Symbol"/>
              </a:rPr>
              <a:t>(t), 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(t) and v(t)</a:t>
            </a:r>
          </a:p>
        </p:txBody>
      </p:sp>
      <p:pic>
        <p:nvPicPr>
          <p:cNvPr id="4" name="Picture 3" descr="ale29559_0603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 r="3320"/>
          <a:stretch/>
        </p:blipFill>
        <p:spPr bwMode="auto">
          <a:xfrm>
            <a:off x="5392939" y="1496723"/>
            <a:ext cx="3751061" cy="2215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228600" y="1412832"/>
            <a:ext cx="510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LcParenR"/>
            </a:pP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(0) = 0.8 A </a:t>
            </a:r>
            <a:endParaRPr lang="en-ZA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7" name="Straight Arrow Connector 6"/>
          <p:cNvCxnSpPr/>
          <p:nvPr/>
        </p:nvCxnSpPr>
        <p:spPr bwMode="auto">
          <a:xfrm>
            <a:off x="1654779" y="1856700"/>
            <a:ext cx="829770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28600" y="2153203"/>
                <a:ext cx="8696459" cy="44348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𝐿</m:t>
                          </m:r>
                        </m:den>
                      </m:f>
                      <m:nary>
                        <m:naryPr>
                          <m:limLoc m:val="undOvr"/>
                          <m:subHide m:val="on"/>
                          <m:supHide m:val="on"/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naryPr>
                        <m:sub/>
                        <m:sup/>
                        <m:e>
                          <m:sSub>
                            <m:sSubPr>
                              <m:ctrlP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+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0</m:t>
                          </m:r>
                        </m:e>
                      </m:d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  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∴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𝑛𝑒𝑒𝑑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 </m:t>
                      </m:r>
                      <m:sSub>
                        <m:sSubPr>
                          <m:ctrlPr>
                            <a:rPr lang="en-ZA" sz="2400" b="0" i="1" smtClean="0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ZA" sz="2400" b="0" i="1" smtClean="0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ZA" sz="2400" b="0" i="1" smtClean="0">
                              <a:latin typeface="Cambria Math"/>
                              <a:ea typeface="Cambria Math"/>
                              <a:cs typeface="Times New Roman" pitchFamily="18" charset="0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 </m:t>
                      </m:r>
                    </m:oMath>
                  </m:oMathPara>
                </a14:m>
                <a:endParaRPr lang="en-ZA" sz="2400" i="1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1</m:t>
                          </m:r>
                        </m:sub>
                      </m:sSub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(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𝑡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)= </m:t>
                      </m:r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𝐿</m:t>
                      </m:r>
                      <m:r>
                        <a:rPr lang="en-ZA" sz="2400" b="0" i="1" baseline="-25000" smtClean="0">
                          <a:latin typeface="Cambria Math"/>
                          <a:cs typeface="Times New Roman" pitchFamily="18" charset="0"/>
                        </a:rPr>
                        <m:t>1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</m:ctrlPr>
                            </m:sSubPr>
                            <m:e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𝑖</m:t>
                              </m:r>
                            </m:e>
                            <m:sub>
                              <m: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=6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𝑑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𝑑𝑡</m:t>
                          </m:r>
                        </m:den>
                      </m:f>
                      <m:d>
                        <m:dPr>
                          <m:begChr m:val="{"/>
                          <m:endChr m:val="}"/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0.6</m:t>
                          </m:r>
                          <m:sSup>
                            <m:sSupPr>
                              <m:ctrlP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−2</m:t>
                              </m:r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</m:oMath>
                  </m:oMathPara>
                </a14:m>
                <a:endParaRPr lang="en-ZA" sz="2400" b="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           </m:t>
                      </m:r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6</m:t>
                      </m:r>
                      <m:r>
                        <a:rPr lang="en-ZA" sz="2400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×</m:t>
                      </m:r>
                      <m:r>
                        <a:rPr lang="en-ZA" sz="2400" b="0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−2×0.6</m:t>
                      </m:r>
                      <m:sSup>
                        <m:sSupPr>
                          <m:ctrlP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−2</m:t>
                          </m:r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sup>
                      </m:sSup>
                    </m:oMath>
                  </m:oMathPara>
                </a14:m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 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           </m:t>
                      </m:r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−7.2</m:t>
                      </m:r>
                      <m:sSup>
                        <m:sSupPr>
                          <m:ctrlP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−2</m:t>
                          </m:r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cs typeface="Times New Roman" pitchFamily="18" charset="0"/>
                        </a:rPr>
                        <m:t>V</m:t>
                      </m:r>
                    </m:oMath>
                  </m:oMathPara>
                </a14:m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e>
                      </m:d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3</m:t>
                          </m:r>
                        </m:den>
                      </m:f>
                      <m:nary>
                        <m:naryPr>
                          <m:ctrlPr>
                            <a:rPr lang="en-ZA" sz="240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0</m:t>
                          </m:r>
                        </m:sub>
                        <m:sup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sup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−</m:t>
                          </m:r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7.2</m:t>
                          </m:r>
                          <m:sSup>
                            <m:sSupPr>
                              <m:ctrlP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  <m:t>−2</m:t>
                              </m:r>
                              <m: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𝑑𝑡</m:t>
                          </m:r>
                        </m:e>
                      </m:nary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+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0.8=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−7.2</m:t>
                          </m:r>
                        </m:num>
                        <m:den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3</m:t>
                          </m:r>
                        </m:den>
                      </m:f>
                      <m:d>
                        <m:dPr>
                          <m:begChr m:val="["/>
                          <m:endChr m:val="]"/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</m:ctrlPr>
                            </m:fPr>
                            <m:num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ZA" sz="2400" b="0" i="1" smtClean="0">
                                  <a:latin typeface="Cambria Math"/>
                                  <a:cs typeface="Times New Roman" pitchFamily="18" charset="0"/>
                                </a:rPr>
                                <m:t>−2</m:t>
                              </m:r>
                            </m:den>
                          </m:f>
                          <m:sSup>
                            <m:sSupPr>
                              <m:ctrlP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  <m:t>−2</m:t>
                              </m:r>
                              <m: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  <m:t>𝑡</m:t>
                              </m:r>
                            </m:sup>
                          </m:sSup>
                        </m:e>
                      </m:d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  +0.8</m:t>
                      </m:r>
                    </m:oMath>
                  </m:oMathPara>
                </a14:m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           </m:t>
                      </m:r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1.2</m:t>
                      </m:r>
                      <m:d>
                        <m:dPr>
                          <m:begChr m:val="["/>
                          <m:endChr m:val="]"/>
                          <m:ctrlP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</m:ctrlPr>
                        </m:dPr>
                        <m:e>
                          <m:sSup>
                            <m:sSupPr>
                              <m:ctrlPr>
                                <a:rPr lang="en-ZA" sz="2400" i="1" smtClean="0">
                                  <a:latin typeface="Cambria Math"/>
                                  <a:cs typeface="Times New Roman" pitchFamily="18" charset="0"/>
                                </a:rPr>
                              </m:ctrlPr>
                            </m:sSupPr>
                            <m:e>
                              <m: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  <m:t>−2</m:t>
                              </m:r>
                              <m:r>
                                <a:rPr lang="en-ZA" sz="2400" i="1">
                                  <a:latin typeface="Cambria Math"/>
                                  <a:cs typeface="Times New Roman" pitchFamily="18" charset="0"/>
                                </a:rPr>
                                <m:t>𝑡</m:t>
                              </m:r>
                            </m:sup>
                          </m:sSup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−1</m:t>
                          </m:r>
                        </m:e>
                      </m:d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+0.8</m:t>
                      </m:r>
                    </m:oMath>
                  </m:oMathPara>
                </a14:m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           </m:t>
                      </m:r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1.2</m:t>
                      </m:r>
                      <m:sSup>
                        <m:sSupPr>
                          <m:ctrlPr>
                            <a:rPr lang="en-ZA" sz="240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−2</m:t>
                          </m:r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−0.4</m:t>
                      </m:r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>
                          <a:latin typeface="Cambria Math"/>
                          <a:cs typeface="Times New Roman" pitchFamily="18" charset="0"/>
                        </a:rPr>
                        <m:t>A</m:t>
                      </m:r>
                    </m:oMath>
                  </m:oMathPara>
                </a14:m>
                <a:endParaRPr lang="en-ZA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" y="2153203"/>
                <a:ext cx="8696459" cy="4434868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/>
          <p:cNvGrpSpPr/>
          <p:nvPr/>
        </p:nvGrpSpPr>
        <p:grpSpPr>
          <a:xfrm>
            <a:off x="6422759" y="4832199"/>
            <a:ext cx="307526" cy="1021046"/>
            <a:chOff x="6422759" y="4832199"/>
            <a:chExt cx="307526" cy="1021046"/>
          </a:xfrm>
        </p:grpSpPr>
        <p:sp>
          <p:nvSpPr>
            <p:cNvPr id="8" name="Rectangle 7"/>
            <p:cNvSpPr/>
            <p:nvPr/>
          </p:nvSpPr>
          <p:spPr>
            <a:xfrm>
              <a:off x="6430203" y="5483913"/>
              <a:ext cx="300082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0</a:t>
              </a:r>
              <a:endParaRPr lang="en-ZA" dirty="0">
                <a:solidFill>
                  <a:srgbClr val="000000"/>
                </a:solidFill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6422759" y="4832199"/>
              <a:ext cx="24878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ZA" dirty="0" smtClean="0">
                  <a:solidFill>
                    <a:srgbClr val="000000"/>
                  </a:solidFill>
                  <a:latin typeface="Times New Roman" pitchFamily="18" charset="0"/>
                  <a:cs typeface="Times New Roman" pitchFamily="18" charset="0"/>
                  <a:sym typeface="Symbol"/>
                </a:rPr>
                <a:t>t</a:t>
              </a:r>
              <a:endParaRPr lang="en-ZA" dirty="0">
                <a:solidFill>
                  <a:srgbClr val="000000"/>
                </a:solidFill>
              </a:endParaRPr>
            </a:p>
          </p:txBody>
        </p:sp>
      </p:grpSp>
      <p:cxnSp>
        <p:nvCxnSpPr>
          <p:cNvPr id="11" name="Straight Arrow Connector 10"/>
          <p:cNvCxnSpPr/>
          <p:nvPr/>
        </p:nvCxnSpPr>
        <p:spPr bwMode="auto">
          <a:xfrm>
            <a:off x="1257524" y="6471008"/>
            <a:ext cx="2284166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 bwMode="auto">
          <a:xfrm>
            <a:off x="1392294" y="4561736"/>
            <a:ext cx="1621362" cy="0"/>
          </a:xfrm>
          <a:prstGeom prst="straightConnector1">
            <a:avLst/>
          </a:prstGeom>
          <a:ln>
            <a:solidFill>
              <a:srgbClr val="FF0000"/>
            </a:solidFill>
            <a:headEnd type="none" w="med" len="med"/>
            <a:tailEnd type="arrow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2729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817B9-0BC8-4BD8-9062-61261E588D46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609600" y="86931"/>
            <a:ext cx="80772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PP 6.12 continued …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If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(t) = 0.6e</a:t>
            </a:r>
            <a:r>
              <a:rPr lang="en-ZA" sz="2400" baseline="30000" dirty="0" smtClean="0">
                <a:latin typeface="Times New Roman" pitchFamily="18" charset="0"/>
                <a:cs typeface="Times New Roman" pitchFamily="18" charset="0"/>
              </a:rPr>
              <a:t>-2t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A and i(0) = 1.4 A ,find</a:t>
            </a:r>
          </a:p>
          <a:p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(b) i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(t) and </a:t>
            </a:r>
            <a:r>
              <a:rPr lang="en-ZA" sz="2400" b="1" u="sng" dirty="0" smtClean="0">
                <a:latin typeface="Times New Roman" pitchFamily="18" charset="0"/>
                <a:cs typeface="Times New Roman" pitchFamily="18" charset="0"/>
                <a:sym typeface="Symbol"/>
              </a:rPr>
              <a:t>i(t)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	(c) v</a:t>
            </a:r>
            <a:r>
              <a:rPr lang="en-ZA" sz="2400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1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(t), </a:t>
            </a:r>
            <a:r>
              <a:rPr lang="en-ZA" sz="2400" b="1" u="sng" dirty="0" smtClean="0">
                <a:latin typeface="Times New Roman" pitchFamily="18" charset="0"/>
                <a:cs typeface="Times New Roman" pitchFamily="18" charset="0"/>
                <a:sym typeface="Symbol"/>
              </a:rPr>
              <a:t>v</a:t>
            </a:r>
            <a:r>
              <a:rPr lang="en-ZA" sz="2400" b="1" u="sng" baseline="-25000" dirty="0" smtClean="0">
                <a:latin typeface="Times New Roman" pitchFamily="18" charset="0"/>
                <a:cs typeface="Times New Roman" pitchFamily="18" charset="0"/>
                <a:sym typeface="Symbol"/>
              </a:rPr>
              <a:t>2</a:t>
            </a:r>
            <a:r>
              <a:rPr lang="en-ZA" sz="2400" b="1" u="sng" dirty="0" smtClean="0">
                <a:latin typeface="Times New Roman" pitchFamily="18" charset="0"/>
                <a:cs typeface="Times New Roman" pitchFamily="18" charset="0"/>
                <a:sym typeface="Symbol"/>
              </a:rPr>
              <a:t>(t)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  <a:sym typeface="Symbol"/>
              </a:rPr>
              <a:t> and </a:t>
            </a:r>
            <a:r>
              <a:rPr lang="en-ZA" sz="2400" b="1" u="sng" dirty="0" smtClean="0">
                <a:latin typeface="Times New Roman" pitchFamily="18" charset="0"/>
                <a:cs typeface="Times New Roman" pitchFamily="18" charset="0"/>
                <a:sym typeface="Symbol"/>
              </a:rPr>
              <a:t>v(t)</a:t>
            </a:r>
          </a:p>
        </p:txBody>
      </p:sp>
      <p:pic>
        <p:nvPicPr>
          <p:cNvPr id="4" name="Picture 3" descr="ale29559_06034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428" r="3320"/>
          <a:stretch/>
        </p:blipFill>
        <p:spPr bwMode="auto">
          <a:xfrm>
            <a:off x="5392939" y="1496723"/>
            <a:ext cx="3751061" cy="22154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705119" y="1445206"/>
                <a:ext cx="3325969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𝑣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1</m:t>
                          </m:r>
                        </m:sub>
                      </m:sSub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(</m:t>
                      </m:r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𝑡</m:t>
                      </m:r>
                      <m:r>
                        <m:rPr>
                          <m:nor/>
                        </m:rPr>
                        <a:rPr lang="en-ZA" sz="2400" dirty="0">
                          <a:latin typeface="Times New Roman" pitchFamily="18" charset="0"/>
                          <a:cs typeface="Times New Roman" pitchFamily="18" charset="0"/>
                        </a:rPr>
                        <m:t>)</m:t>
                      </m:r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−7.2</m:t>
                      </m:r>
                      <m:sSup>
                        <m:sSupPr>
                          <m:ctrlP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−2</m:t>
                          </m:r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 b="0" i="0" smtClean="0">
                          <a:latin typeface="Cambria Math"/>
                          <a:cs typeface="Times New Roman" pitchFamily="18" charset="0"/>
                        </a:rPr>
                        <m:t>V</m:t>
                      </m:r>
                    </m:oMath>
                  </m:oMathPara>
                </a14:m>
                <a:endParaRPr lang="en-ZA" sz="2400" dirty="0" smtClean="0">
                  <a:latin typeface="Times New Roman" pitchFamily="18" charset="0"/>
                  <a:cs typeface="Times New Roman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</m:ctrlPr>
                        </m:sSubPr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𝑖</m:t>
                          </m:r>
                        </m:e>
                        <m:sub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2</m:t>
                          </m:r>
                        </m:sub>
                      </m:sSub>
                      <m:d>
                        <m:dPr>
                          <m:ctrlP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e>
                      </m:d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1.2</m:t>
                      </m:r>
                      <m:sSup>
                        <m:sSupPr>
                          <m:ctrlPr>
                            <a:rPr lang="en-ZA" sz="240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sSupPr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𝑒</m:t>
                          </m:r>
                        </m:e>
                        <m:sup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−2</m:t>
                          </m:r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sup>
                      </m:sSup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−0.4</m:t>
                      </m:r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400">
                          <a:latin typeface="Cambria Math"/>
                          <a:cs typeface="Times New Roman" pitchFamily="18" charset="0"/>
                        </a:rPr>
                        <m:t>A</m:t>
                      </m:r>
                    </m:oMath>
                  </m:oMathPara>
                </a14:m>
                <a:endParaRPr lang="en-ZA" sz="24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19" y="1445206"/>
                <a:ext cx="3325969" cy="830997"/>
              </a:xfrm>
              <a:prstGeom prst="rect">
                <a:avLst/>
              </a:prstGeom>
              <a:blipFill rotWithShape="1">
                <a:blip r:embed="rId3"/>
                <a:stretch>
                  <a:fillRect l="-550" b="-735"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588546" y="2383661"/>
            <a:ext cx="4719034" cy="1569660"/>
            <a:chOff x="661116" y="2514287"/>
            <a:chExt cx="4719034" cy="1569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661116" y="2514287"/>
                  <a:ext cx="4719034" cy="1569660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ZA" sz="2400" dirty="0" smtClean="0">
                      <a:latin typeface="Cambria Math"/>
                      <a:cs typeface="Times New Roman" pitchFamily="18" charset="0"/>
                    </a:rPr>
                    <a:t>KCL: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𝑖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(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ZA" sz="2400" dirty="0">
                            <a:latin typeface="Times New Roman" pitchFamily="18" charset="0"/>
                            <a:cs typeface="Times New Roman" pitchFamily="18" charset="0"/>
                          </a:rPr>
                          <m:t>)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ZA" sz="2400" b="0" i="1" smtClean="0">
                                <a:latin typeface="Cambria Math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ZA" sz="2400" dirty="0" smtClean="0">
                    <a:latin typeface="Times New Roman" pitchFamily="18" charset="0"/>
                    <a:cs typeface="Times New Roman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        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=0.6</m:t>
                        </m:r>
                        <m:sSup>
                          <m:sSup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−2</m:t>
                            </m:r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+1.2</m:t>
                        </m:r>
                        <m:sSup>
                          <m:sSup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−2</m:t>
                            </m:r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−0.4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ZA" sz="2400">
                            <a:latin typeface="Cambria Math"/>
                            <a:cs typeface="Times New Roman" pitchFamily="18" charset="0"/>
                          </a:rPr>
                          <m:t>A</m:t>
                        </m:r>
                      </m:oMath>
                    </m:oMathPara>
                  </a14:m>
                  <a:endParaRPr lang="en-ZA" sz="2400" dirty="0" smtClean="0">
                    <a:latin typeface="Times New Roman" pitchFamily="18" charset="0"/>
                    <a:cs typeface="Times New Roman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       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=</m:t>
                        </m:r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1.8</m:t>
                        </m:r>
                        <m:sSup>
                          <m:sSup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−2</m:t>
                            </m:r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−0.4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ZA" sz="2400">
                            <a:latin typeface="Cambria Math"/>
                            <a:cs typeface="Times New Roman" pitchFamily="18" charset="0"/>
                          </a:rPr>
                          <m:t>A</m:t>
                        </m:r>
                      </m:oMath>
                    </m:oMathPara>
                  </a14:m>
                  <a:endParaRPr lang="en-ZA" sz="24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116" y="2514287"/>
                  <a:ext cx="4719034" cy="1569660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1933" t="-2692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/>
            <p:cNvCxnSpPr/>
            <p:nvPr/>
          </p:nvCxnSpPr>
          <p:spPr bwMode="auto">
            <a:xfrm>
              <a:off x="1515102" y="4019552"/>
              <a:ext cx="2284166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4" name="Group 23"/>
          <p:cNvGrpSpPr/>
          <p:nvPr/>
        </p:nvGrpSpPr>
        <p:grpSpPr>
          <a:xfrm>
            <a:off x="380847" y="4189970"/>
            <a:ext cx="5623774" cy="1532214"/>
            <a:chOff x="467931" y="4320596"/>
            <a:chExt cx="5623774" cy="15322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467931" y="4320596"/>
                  <a:ext cx="5623774" cy="1532214"/>
                </a:xfrm>
                <a:prstGeom prst="rect">
                  <a:avLst/>
                </a:prstGeom>
                <a:ln>
                  <a:solidFill>
                    <a:srgbClr val="FF0000"/>
                  </a:solidFill>
                </a:ln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ZA" sz="2400" i="1" smtClean="0">
                                <a:latin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400" b="0" i="1" smtClean="0"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(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𝑡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)= 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𝐿</m:t>
                        </m:r>
                        <m:f>
                          <m:f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𝑑</m:t>
                            </m:r>
                            <m:r>
                              <a:rPr lang="en-ZA" sz="2400" b="0" i="1" smtClean="0">
                                <a:latin typeface="Cambria Math"/>
                                <a:cs typeface="Times New Roman" pitchFamily="18" charset="0"/>
                              </a:rPr>
                              <m:t>𝑖</m:t>
                            </m:r>
                          </m:num>
                          <m:den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=</m:t>
                        </m:r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8</m:t>
                        </m:r>
                        <m:f>
                          <m:f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𝑑</m:t>
                            </m:r>
                          </m:num>
                          <m:den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𝑑𝑡</m:t>
                            </m:r>
                          </m:den>
                        </m:f>
                        <m:d>
                          <m:dPr>
                            <m:begChr m:val="{"/>
                            <m:endChr m:val="}"/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1.</m:t>
                            </m:r>
                            <m:r>
                              <a:rPr lang="en-ZA" sz="2400" b="0" i="1" smtClean="0">
                                <a:latin typeface="Cambria Math"/>
                                <a:cs typeface="Times New Roman" pitchFamily="18" charset="0"/>
                              </a:rPr>
                              <m:t>8</m:t>
                            </m:r>
                            <m:sSup>
                              <m:sSupPr>
                                <m:ctrlPr>
                                  <a:rPr lang="en-ZA" sz="2400" i="1">
                                    <a:latin typeface="Cambria Math"/>
                                    <a:cs typeface="Times New Roman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ZA" sz="2400" i="1">
                                    <a:latin typeface="Cambria Math"/>
                                    <a:cs typeface="Times New Roman" pitchFamily="18" charset="0"/>
                                  </a:rPr>
                                  <m:t>𝑒</m:t>
                                </m:r>
                              </m:e>
                              <m:sup>
                                <m:r>
                                  <a:rPr lang="en-ZA" sz="2400" i="1">
                                    <a:latin typeface="Cambria Math"/>
                                    <a:cs typeface="Times New Roman" pitchFamily="18" charset="0"/>
                                  </a:rPr>
                                  <m:t>−2</m:t>
                                </m:r>
                                <m:r>
                                  <a:rPr lang="en-ZA" sz="2400" i="1">
                                    <a:latin typeface="Cambria Math"/>
                                    <a:cs typeface="Times New Roman" pitchFamily="18" charset="0"/>
                                  </a:rPr>
                                  <m:t>𝑡</m:t>
                                </m:r>
                              </m:sup>
                            </m:sSup>
                            <m:r>
                              <a:rPr lang="en-ZA" sz="2400" b="0" i="1" smtClean="0">
                                <a:latin typeface="Cambria Math"/>
                                <a:cs typeface="Times New Roman" pitchFamily="18" charset="0"/>
                              </a:rPr>
                              <m:t>−</m:t>
                            </m:r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0.</m:t>
                            </m:r>
                            <m:r>
                              <a:rPr lang="en-ZA" sz="2400" b="0" i="1" smtClean="0">
                                <a:latin typeface="Cambria Math"/>
                                <a:cs typeface="Times New Roman" pitchFamily="18" charset="0"/>
                              </a:rPr>
                              <m:t>4</m:t>
                            </m:r>
                          </m:e>
                        </m:d>
                      </m:oMath>
                    </m:oMathPara>
                  </a14:m>
                  <a:endParaRPr lang="en-ZA" sz="2400" dirty="0">
                    <a:latin typeface="Times New Roman" pitchFamily="18" charset="0"/>
                    <a:cs typeface="Times New Roman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           =</m:t>
                        </m:r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8</m:t>
                        </m:r>
                        <m:r>
                          <a:rPr lang="en-ZA" sz="2400" i="1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×−2×</m:t>
                        </m:r>
                        <m:r>
                          <a:rPr lang="en-ZA" sz="2400" b="0" i="1" smtClean="0">
                            <a:latin typeface="Cambria Math"/>
                            <a:ea typeface="Cambria Math"/>
                            <a:cs typeface="Times New Roman" pitchFamily="18" charset="0"/>
                          </a:rPr>
                          <m:t>1.8</m:t>
                        </m:r>
                        <m:sSup>
                          <m:sSup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−2</m:t>
                            </m:r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lang="en-ZA" sz="2400" dirty="0">
                    <a:latin typeface="Times New Roman" pitchFamily="18" charset="0"/>
                    <a:cs typeface="Times New Roman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           =</m:t>
                        </m:r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−28.8</m:t>
                        </m:r>
                        <m:sSup>
                          <m:sSup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−2</m:t>
                            </m:r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ZA" sz="2400">
                            <a:latin typeface="Cambria Math"/>
                            <a:cs typeface="Times New Roman" pitchFamily="18" charset="0"/>
                          </a:rPr>
                          <m:t>V</m:t>
                        </m:r>
                      </m:oMath>
                    </m:oMathPara>
                  </a14:m>
                  <a:endParaRPr lang="en-ZA" sz="24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7931" y="4320596"/>
                  <a:ext cx="5623774" cy="1532214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5" name="Straight Arrow Connector 14"/>
            <p:cNvCxnSpPr/>
            <p:nvPr/>
          </p:nvCxnSpPr>
          <p:spPr bwMode="auto">
            <a:xfrm>
              <a:off x="1540860" y="5787613"/>
              <a:ext cx="1738958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4350464" y="5113221"/>
            <a:ext cx="3888347" cy="1569660"/>
            <a:chOff x="4611716" y="5113221"/>
            <a:chExt cx="3888347" cy="1569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4611716" y="5113221"/>
                  <a:ext cx="3888347" cy="156966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rgbClr val="FF0000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r>
                    <a:rPr lang="en-ZA" sz="2400" dirty="0" smtClean="0">
                      <a:latin typeface="Cambria Math"/>
                      <a:cs typeface="Times New Roman" pitchFamily="18" charset="0"/>
                    </a:rPr>
                    <a:t>KVL:</a:t>
                  </a: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m:rPr>
                            <m:sty m:val="p"/>
                          </m:rPr>
                          <a:rPr lang="en-ZA" sz="2400" b="0" i="0" smtClean="0">
                            <a:latin typeface="Cambria Math"/>
                            <a:cs typeface="Times New Roman" pitchFamily="18" charset="0"/>
                          </a:rPr>
                          <m:t>v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(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𝑡</m:t>
                        </m:r>
                        <m:r>
                          <m:rPr>
                            <m:nor/>
                          </m:rPr>
                          <a:rPr lang="en-ZA" sz="2400" dirty="0">
                            <a:latin typeface="Times New Roman" pitchFamily="18" charset="0"/>
                            <a:cs typeface="Times New Roman" pitchFamily="18" charset="0"/>
                          </a:rPr>
                          <m:t>)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latin typeface="Cambria Math"/>
                                <a:cs typeface="Times New Roman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400" b="0" i="1" smtClean="0">
                                <a:latin typeface="Cambria Math"/>
                                <a:cs typeface="Times New Roman" pitchFamily="18" charset="0"/>
                              </a:rPr>
                              <m:t>1</m:t>
                            </m:r>
                          </m:sub>
                        </m:sSub>
                        <m:d>
                          <m:d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bPr>
                          <m:e>
                            <m:r>
                              <a:rPr lang="en-ZA" sz="2400" b="0" i="1" smtClean="0">
                                <a:latin typeface="Cambria Math"/>
                                <a:cs typeface="Times New Roman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2</m:t>
                            </m:r>
                          </m:sub>
                        </m:sSub>
                        <m:d>
                          <m:d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e>
                        </m:d>
                      </m:oMath>
                    </m:oMathPara>
                  </a14:m>
                  <a:endParaRPr lang="en-ZA" sz="2400" dirty="0" smtClean="0">
                    <a:latin typeface="Times New Roman" pitchFamily="18" charset="0"/>
                    <a:cs typeface="Times New Roman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        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=−</m:t>
                        </m:r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7.2</m:t>
                        </m:r>
                        <m:sSup>
                          <m:sSup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−2</m:t>
                            </m:r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−</m:t>
                        </m:r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28.8</m:t>
                        </m:r>
                        <m:sSup>
                          <m:sSup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−2</m:t>
                            </m:r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sup>
                        </m:sSup>
                      </m:oMath>
                    </m:oMathPara>
                  </a14:m>
                  <a:endParaRPr lang="en-ZA" sz="2400" dirty="0" smtClean="0">
                    <a:latin typeface="Times New Roman" pitchFamily="18" charset="0"/>
                    <a:cs typeface="Times New Roman" pitchFamily="18" charset="0"/>
                  </a:endParaRPr>
                </a:p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       </m:t>
                        </m:r>
                        <m:r>
                          <a:rPr lang="en-ZA" sz="2400" i="1">
                            <a:latin typeface="Cambria Math"/>
                            <a:cs typeface="Times New Roman" pitchFamily="18" charset="0"/>
                          </a:rPr>
                          <m:t>=−</m:t>
                        </m:r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36</m:t>
                        </m:r>
                        <m:sSup>
                          <m:sSupPr>
                            <m:ctrlP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</m:ctrlPr>
                          </m:sSupPr>
                          <m:e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−2</m:t>
                            </m:r>
                            <m:r>
                              <a:rPr lang="en-ZA" sz="2400" i="1">
                                <a:latin typeface="Cambria Math"/>
                                <a:cs typeface="Times New Roman" pitchFamily="18" charset="0"/>
                              </a:rPr>
                              <m:t>𝑡</m:t>
                            </m:r>
                          </m:sup>
                        </m:sSup>
                        <m:r>
                          <a:rPr lang="en-ZA" sz="2400" b="0" i="1" smtClean="0"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ZA" sz="2400" b="0" i="0" smtClean="0">
                            <a:latin typeface="Cambria Math"/>
                            <a:cs typeface="Times New Roman" pitchFamily="18" charset="0"/>
                          </a:rPr>
                          <m:t>V</m:t>
                        </m:r>
                      </m:oMath>
                    </m:oMathPara>
                  </a14:m>
                  <a:endParaRPr lang="en-ZA" sz="2400" dirty="0">
                    <a:latin typeface="Times New Roman" pitchFamily="18" charset="0"/>
                    <a:cs typeface="Times New Roman" pitchFamily="18" charset="0"/>
                  </a:endParaRPr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611716" y="5113221"/>
                  <a:ext cx="3888347" cy="1569660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2344" t="-2703"/>
                  </a:stretch>
                </a:blipFill>
                <a:ln>
                  <a:solidFill>
                    <a:srgbClr val="FF0000"/>
                  </a:solidFill>
                </a:ln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8" name="Straight Arrow Connector 17"/>
            <p:cNvCxnSpPr/>
            <p:nvPr/>
          </p:nvCxnSpPr>
          <p:spPr bwMode="auto">
            <a:xfrm>
              <a:off x="5544050" y="6608460"/>
              <a:ext cx="1504457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22788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817B9-0BC8-4BD8-9062-61261E588D46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437882" y="304800"/>
            <a:ext cx="8229600" cy="1200329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6.40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The current through a 10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</a:rPr>
              <a:t>mH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inductor is shown below.  Determine the voltage across the inductor at t = 1, 3 and 5 </a:t>
            </a:r>
            <a:r>
              <a:rPr lang="en-ZA" sz="2400" dirty="0" err="1" smtClean="0">
                <a:latin typeface="Times New Roman" pitchFamily="18" charset="0"/>
                <a:cs typeface="Times New Roman" pitchFamily="18" charset="0"/>
              </a:rPr>
              <a:t>ms.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4" name="Picture 3" descr="ale29559_06066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540"/>
          <a:stretch/>
        </p:blipFill>
        <p:spPr bwMode="auto">
          <a:xfrm>
            <a:off x="515066" y="1648496"/>
            <a:ext cx="4037616" cy="1820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935968" y="1648496"/>
                <a:ext cx="3568477" cy="7936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𝑣</m:t>
                      </m:r>
                      <m:d>
                        <m:dPr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e>
                      </m:d>
                      <m:r>
                        <a:rPr lang="en-ZA" sz="2400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0.01</m:t>
                      </m:r>
                      <m:f>
                        <m:fPr>
                          <m:ctrlP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𝑑</m:t>
                          </m:r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ZA" sz="2400" i="1">
                              <a:latin typeface="Cambria Math"/>
                              <a:cs typeface="Times New Roman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ZA" sz="2400" b="0" i="1" smtClean="0">
                          <a:latin typeface="Cambria Math"/>
                          <a:cs typeface="Times New Roman" pitchFamily="18" charset="0"/>
                        </a:rPr>
                        <m:t>=0.01</m:t>
                      </m:r>
                      <m:f>
                        <m:fPr>
                          <m:ctrlP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2400" b="0" i="0" smtClean="0">
                              <a:latin typeface="Cambria Math"/>
                              <a:cs typeface="Times New Roman" pitchFamily="18" charset="0"/>
                            </a:rPr>
                            <m:t>Δ</m:t>
                          </m:r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𝑖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400" b="0" i="0" smtClean="0">
                              <a:latin typeface="Cambria Math"/>
                              <a:cs typeface="Times New Roman" pitchFamily="18" charset="0"/>
                            </a:rPr>
                            <m:t>Δ</m:t>
                          </m:r>
                          <m:r>
                            <a:rPr lang="en-ZA" sz="2400" b="0" i="1" smtClean="0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den>
                      </m:f>
                    </m:oMath>
                  </m:oMathPara>
                </a14:m>
                <a:endParaRPr lang="en-ZA" sz="2400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5968" y="1648496"/>
                <a:ext cx="3568477" cy="79361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199068" y="4796278"/>
                <a:ext cx="5050933" cy="67056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latin typeface="Cambria Math"/>
                          <a:cs typeface="Times New Roman" pitchFamily="18" charset="0"/>
                        </a:rPr>
                        <m:t>𝑖</m:t>
                      </m:r>
                      <m:d>
                        <m:dPr>
                          <m:ctrlPr>
                            <a:rPr lang="en-ZA" sz="2000" i="1">
                              <a:latin typeface="Cambria Math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ZA" sz="2000" i="1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e>
                      </m:d>
                      <m:r>
                        <a:rPr lang="en-ZA" sz="2000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ZA" sz="200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l-GR" sz="2000" i="0" smtClean="0">
                              <a:latin typeface="Cambria Math"/>
                              <a:cs typeface="Times New Roman" pitchFamily="18" charset="0"/>
                            </a:rPr>
                            <m:t>Δ</m:t>
                          </m:r>
                          <m:r>
                            <a:rPr lang="en-ZA" sz="2000" b="0" i="1" smtClean="0">
                              <a:latin typeface="Cambria Math"/>
                              <a:cs typeface="Times New Roman" pitchFamily="18" charset="0"/>
                            </a:rPr>
                            <m:t>𝑖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l-GR" sz="2000" i="0">
                              <a:latin typeface="Cambria Math"/>
                              <a:cs typeface="Times New Roman" pitchFamily="18" charset="0"/>
                            </a:rPr>
                            <m:t>Δ</m:t>
                          </m:r>
                          <m:r>
                            <a:rPr lang="en-ZA" sz="2000" b="0" i="1" smtClean="0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den>
                      </m:f>
                      <m:r>
                        <a:rPr lang="en-ZA" sz="2000" b="0" i="1" smtClean="0">
                          <a:latin typeface="Cambria Math"/>
                          <a:cs typeface="Times New Roman" pitchFamily="18" charset="0"/>
                        </a:rPr>
                        <m:t>𝑡</m:t>
                      </m:r>
                      <m:r>
                        <a:rPr lang="en-ZA" sz="2000" b="0" i="1" smtClean="0">
                          <a:latin typeface="Cambria Math"/>
                          <a:cs typeface="Times New Roman" pitchFamily="18" charset="0"/>
                        </a:rPr>
                        <m:t>+</m:t>
                      </m:r>
                      <m:r>
                        <a:rPr lang="en-ZA" sz="2000" b="0" i="1" smtClean="0">
                          <a:latin typeface="Cambria Math"/>
                          <a:cs typeface="Times New Roman" pitchFamily="18" charset="0"/>
                        </a:rPr>
                        <m:t>𝑐</m:t>
                      </m:r>
                      <m:r>
                        <a:rPr lang="en-ZA" sz="2000" b="0" i="1" smtClean="0">
                          <a:latin typeface="Cambria Math"/>
                          <a:cs typeface="Times New Roman" pitchFamily="18" charset="0"/>
                        </a:rPr>
                        <m:t>=</m:t>
                      </m:r>
                      <m:f>
                        <m:fPr>
                          <m:ctrlPr>
                            <a:rPr lang="en-ZA" sz="2000" i="1"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ZA" sz="2000" b="0" i="1" smtClean="0">
                              <a:latin typeface="Cambria Math"/>
                              <a:cs typeface="Times New Roman" pitchFamily="18" charset="0"/>
                            </a:rPr>
                            <m:t>20−0</m:t>
                          </m:r>
                        </m:num>
                        <m:den>
                          <m:r>
                            <a:rPr lang="en-ZA" sz="2000" b="0" i="0" smtClean="0">
                              <a:latin typeface="Cambria Math"/>
                              <a:cs typeface="Times New Roman" pitchFamily="18" charset="0"/>
                            </a:rPr>
                            <m:t>0.002 −0</m:t>
                          </m:r>
                        </m:den>
                      </m:f>
                      <m:r>
                        <a:rPr lang="en-ZA" sz="2000" i="1">
                          <a:latin typeface="Cambria Math"/>
                          <a:cs typeface="Times New Roman" pitchFamily="18" charset="0"/>
                        </a:rPr>
                        <m:t>𝑡</m:t>
                      </m:r>
                      <m:r>
                        <a:rPr lang="en-ZA" sz="2000" i="1">
                          <a:latin typeface="Cambria Math"/>
                          <a:cs typeface="Times New Roman" pitchFamily="18" charset="0"/>
                        </a:rPr>
                        <m:t>+0=10</m:t>
                      </m:r>
                      <m:r>
                        <a:rPr lang="en-ZA" sz="2000" b="0" i="1" smtClean="0">
                          <a:latin typeface="Cambria Math"/>
                          <a:cs typeface="Times New Roman" pitchFamily="18" charset="0"/>
                          <a:sym typeface="Symbol"/>
                        </a:rPr>
                        <m:t>𝑡</m:t>
                      </m:r>
                      <m:r>
                        <a:rPr lang="en-ZA" sz="2000" b="0" i="1" smtClean="0">
                          <a:latin typeface="Cambria Math"/>
                          <a:cs typeface="Times New Roman" pitchFamily="18" charset="0"/>
                          <a:sym typeface="Symbol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ZA" sz="2000" b="0" i="0" smtClean="0">
                          <a:latin typeface="Cambria Math"/>
                          <a:cs typeface="Times New Roman" pitchFamily="18" charset="0"/>
                          <a:sym typeface="Symbol"/>
                        </a:rPr>
                        <m:t>kA</m:t>
                      </m:r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68" y="4796278"/>
                <a:ext cx="5050933" cy="670568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99068" y="5503336"/>
                <a:ext cx="4669612" cy="67666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ZA" sz="2000" b="0" i="1" smtClean="0">
                          <a:latin typeface="Cambria Math"/>
                          <a:cs typeface="Times New Roman" pitchFamily="18" charset="0"/>
                        </a:rPr>
                        <m:t>𝑣</m:t>
                      </m:r>
                      <m:d>
                        <m:dPr>
                          <m:ctrlPr>
                            <a:rPr lang="en-ZA" sz="2000" b="0" i="1" smtClean="0">
                              <a:latin typeface="Cambria Math"/>
                              <a:cs typeface="Times New Roman" pitchFamily="18" charset="0"/>
                            </a:rPr>
                          </m:ctrlPr>
                        </m:dPr>
                        <m:e>
                          <m:r>
                            <a:rPr lang="en-ZA" sz="2000" i="1">
                              <a:latin typeface="Cambria Math"/>
                              <a:cs typeface="Times New Roman" pitchFamily="18" charset="0"/>
                            </a:rPr>
                            <m:t>𝑡</m:t>
                          </m:r>
                        </m:e>
                      </m:d>
                      <m:r>
                        <a:rPr lang="en-ZA" sz="2000" i="1">
                          <a:latin typeface="Cambria Math"/>
                          <a:cs typeface="Times New Roman" pitchFamily="18" charset="0"/>
                        </a:rPr>
                        <m:t>=</m:t>
                      </m:r>
                      <m:r>
                        <a:rPr lang="en-ZA" sz="2000" b="0" i="1" smtClean="0">
                          <a:latin typeface="Cambria Math"/>
                          <a:cs typeface="Times New Roman" pitchFamily="18" charset="0"/>
                        </a:rPr>
                        <m:t>0.01</m:t>
                      </m:r>
                      <m:f>
                        <m:fPr>
                          <m:ctrlPr>
                            <a:rPr lang="en-ZA" sz="2000" i="1">
                              <a:latin typeface="Cambria Math"/>
                              <a:cs typeface="Times New Roman" pitchFamily="18" charset="0"/>
                            </a:rPr>
                          </m:ctrlPr>
                        </m:fPr>
                        <m:num>
                          <m:r>
                            <a:rPr lang="en-ZA" sz="2000" i="1">
                              <a:latin typeface="Cambria Math"/>
                              <a:cs typeface="Times New Roman" pitchFamily="18" charset="0"/>
                            </a:rPr>
                            <m:t>𝑑</m:t>
                          </m:r>
                          <m:r>
                            <a:rPr lang="en-ZA" sz="2000" b="0" i="1" smtClean="0">
                              <a:latin typeface="Cambria Math"/>
                              <a:cs typeface="Times New Roman" pitchFamily="18" charset="0"/>
                            </a:rPr>
                            <m:t>𝑖</m:t>
                          </m:r>
                        </m:num>
                        <m:den>
                          <m:r>
                            <a:rPr lang="en-ZA" sz="2000" i="1">
                              <a:latin typeface="Cambria Math"/>
                              <a:cs typeface="Times New Roman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ZA" sz="2000" b="0" i="1" smtClean="0">
                          <a:latin typeface="Cambria Math"/>
                          <a:cs typeface="Times New Roman" pitchFamily="18" charset="0"/>
                        </a:rPr>
                        <m:t>=0.01</m:t>
                      </m:r>
                      <m:r>
                        <a:rPr lang="en-ZA" sz="2000" b="0" i="1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×10000=100 </m:t>
                      </m:r>
                      <m:r>
                        <m:rPr>
                          <m:sty m:val="p"/>
                        </m:rPr>
                        <a:rPr lang="en-ZA" sz="2000" b="0" i="0" smtClean="0">
                          <a:latin typeface="Cambria Math"/>
                          <a:ea typeface="Cambria Math"/>
                          <a:cs typeface="Times New Roman" pitchFamily="18" charset="0"/>
                        </a:rPr>
                        <m:t>V</m:t>
                      </m:r>
                    </m:oMath>
                  </m:oMathPara>
                </a14:m>
                <a:endParaRPr lang="en-ZA" sz="20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068" y="5503336"/>
                <a:ext cx="4669612" cy="67666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ZA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2281240" y="4411920"/>
            <a:ext cx="5309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ZA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OR</a:t>
            </a:r>
            <a:endParaRPr lang="en-ZA" b="1" dirty="0">
              <a:solidFill>
                <a:srgbClr val="FF0000"/>
              </a:solidFill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242605" y="3640429"/>
            <a:ext cx="4077270" cy="670568"/>
            <a:chOff x="242605" y="3640429"/>
            <a:chExt cx="4077270" cy="67056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242605" y="3640429"/>
                  <a:ext cx="4077270" cy="67056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  <m:t>1</m:t>
                            </m:r>
                            <m: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  <m:t>𝑚𝑠</m:t>
                            </m:r>
                          </m:e>
                        </m:d>
                        <m:r>
                          <a:rPr lang="en-ZA" sz="2000" i="1">
                            <a:latin typeface="Cambria Math"/>
                            <a:cs typeface="Times New Roman" pitchFamily="18" charset="0"/>
                          </a:rPr>
                          <m:t>=</m:t>
                        </m:r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0.01</m:t>
                        </m:r>
                        <m:f>
                          <m:fPr>
                            <m:ctrlP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ZA" sz="2000" b="0" i="0" smtClean="0">
                                <a:latin typeface="Cambria Math"/>
                                <a:cs typeface="Times New Roman" pitchFamily="18" charset="0"/>
                              </a:rPr>
                              <m:t>20−0</m:t>
                            </m:r>
                          </m:num>
                          <m:den>
                            <m:r>
                              <a:rPr lang="en-ZA" sz="2000" b="0" i="0" smtClean="0">
                                <a:latin typeface="Cambria Math"/>
                                <a:cs typeface="Times New Roman" pitchFamily="18" charset="0"/>
                              </a:rPr>
                              <m:t>0.002 </m:t>
                            </m:r>
                            <m: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  <m:t>−0</m:t>
                            </m:r>
                          </m:den>
                        </m:f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=100 </m:t>
                        </m:r>
                        <m:r>
                          <m:rPr>
                            <m:sty m:val="p"/>
                          </m:rPr>
                          <a:rPr lang="en-ZA" sz="2000" b="0" i="0" smtClean="0">
                            <a:latin typeface="Cambria Math"/>
                            <a:cs typeface="Times New Roman" pitchFamily="18" charset="0"/>
                          </a:rPr>
                          <m:t>V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2605" y="3640429"/>
                  <a:ext cx="4077270" cy="670568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/>
            <p:cNvCxnSpPr/>
            <p:nvPr/>
          </p:nvCxnSpPr>
          <p:spPr bwMode="auto">
            <a:xfrm>
              <a:off x="3549393" y="4158554"/>
              <a:ext cx="752228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1" name="Group 20"/>
          <p:cNvGrpSpPr/>
          <p:nvPr/>
        </p:nvGrpSpPr>
        <p:grpSpPr>
          <a:xfrm>
            <a:off x="5066730" y="3610726"/>
            <a:ext cx="3575209" cy="676660"/>
            <a:chOff x="5066730" y="3610726"/>
            <a:chExt cx="3575209" cy="67666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5066730" y="3610726"/>
                  <a:ext cx="3575209" cy="67666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  <m:t>3</m:t>
                            </m:r>
                            <m: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  <m:t>𝑚𝑠</m:t>
                            </m:r>
                          </m:e>
                        </m:d>
                        <m:r>
                          <a:rPr lang="en-ZA" sz="2000" i="1">
                            <a:latin typeface="Cambria Math"/>
                            <a:cs typeface="Times New Roman" pitchFamily="18" charset="0"/>
                          </a:rPr>
                          <m:t>=</m:t>
                        </m:r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0 </m:t>
                        </m:r>
                        <m:r>
                          <m:rPr>
                            <m:sty m:val="p"/>
                          </m:rPr>
                          <a:rPr lang="en-ZA" sz="2000" b="0" i="0" smtClean="0">
                            <a:latin typeface="Cambria Math"/>
                            <a:cs typeface="Times New Roman" pitchFamily="18" charset="0"/>
                          </a:rPr>
                          <m:t>V</m:t>
                        </m:r>
                        <m:r>
                          <a:rPr lang="en-ZA" sz="2000" b="0" i="0" smtClean="0"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ZA" sz="2000" b="0" i="0" smtClean="0">
                            <a:latin typeface="Cambria Math"/>
                            <a:cs typeface="Times New Roman" pitchFamily="18" charset="0"/>
                          </a:rPr>
                          <m:t>because</m:t>
                        </m:r>
                        <m:r>
                          <a:rPr lang="en-ZA" sz="2000" b="0" i="0" smtClean="0">
                            <a:latin typeface="Cambria Math"/>
                            <a:cs typeface="Times New Roman" pitchFamily="18" charset="0"/>
                          </a:rPr>
                          <m:t> </m:t>
                        </m:r>
                        <m:f>
                          <m:fPr>
                            <m:ctrlP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</m:ctrlPr>
                          </m:fPr>
                          <m:num>
                            <m: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  <m:t>𝑑𝑖</m:t>
                            </m:r>
                          </m:num>
                          <m:den>
                            <m: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  <m:t>𝑑𝑡</m:t>
                            </m:r>
                          </m:den>
                        </m:f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=0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6730" y="3610726"/>
                  <a:ext cx="3575209" cy="676660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4" name="Straight Arrow Connector 13"/>
            <p:cNvCxnSpPr/>
            <p:nvPr/>
          </p:nvCxnSpPr>
          <p:spPr bwMode="auto">
            <a:xfrm>
              <a:off x="6359686" y="4147109"/>
              <a:ext cx="376114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5066729" y="4436943"/>
            <a:ext cx="2282420" cy="428635"/>
            <a:chOff x="5066729" y="4306317"/>
            <a:chExt cx="2282420" cy="42863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5066729" y="4306317"/>
                  <a:ext cx="2282420" cy="40011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𝑣</m:t>
                        </m:r>
                        <m:d>
                          <m:dPr>
                            <m:ctrlP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</m:ctrlPr>
                          </m:dPr>
                          <m:e>
                            <m: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  <m:t>5</m:t>
                            </m:r>
                            <m:r>
                              <a:rPr lang="en-ZA" sz="2000" b="0" i="1" smtClean="0">
                                <a:latin typeface="Cambria Math"/>
                                <a:cs typeface="Times New Roman" pitchFamily="18" charset="0"/>
                              </a:rPr>
                              <m:t>𝑚𝑠</m:t>
                            </m:r>
                          </m:e>
                        </m:d>
                        <m:r>
                          <a:rPr lang="en-ZA" sz="2000" i="1">
                            <a:latin typeface="Cambria Math"/>
                            <a:cs typeface="Times New Roman" pitchFamily="18" charset="0"/>
                          </a:rPr>
                          <m:t>=</m:t>
                        </m:r>
                        <m:r>
                          <a:rPr lang="en-ZA" sz="2000" b="0" i="1" smtClean="0">
                            <a:latin typeface="Cambria Math"/>
                            <a:cs typeface="Times New Roman" pitchFamily="18" charset="0"/>
                          </a:rPr>
                          <m:t>−100 </m:t>
                        </m:r>
                        <m:r>
                          <m:rPr>
                            <m:sty m:val="p"/>
                          </m:rPr>
                          <a:rPr lang="en-ZA" sz="2000" b="0" i="0" smtClean="0">
                            <a:latin typeface="Cambria Math"/>
                            <a:cs typeface="Times New Roman" pitchFamily="18" charset="0"/>
                          </a:rPr>
                          <m:t>V</m:t>
                        </m:r>
                      </m:oMath>
                    </m:oMathPara>
                  </a14:m>
                  <a:endParaRPr lang="en-ZA" sz="2000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66729" y="4306317"/>
                  <a:ext cx="2282420" cy="400110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Straight Arrow Connector 15"/>
            <p:cNvCxnSpPr/>
            <p:nvPr/>
          </p:nvCxnSpPr>
          <p:spPr bwMode="auto">
            <a:xfrm>
              <a:off x="6465341" y="4734952"/>
              <a:ext cx="883808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64585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7817B9-0BC8-4BD8-9062-61261E588D46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304800" y="228600"/>
            <a:ext cx="2592946" cy="156966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ZA" sz="2400" b="1" u="sng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Problem 6.48</a:t>
            </a:r>
            <a:r>
              <a:rPr lang="en-ZA" sz="2400" dirty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ZA" sz="2400" dirty="0">
                <a:latin typeface="Times New Roman" pitchFamily="18" charset="0"/>
                <a:cs typeface="Times New Roman" pitchFamily="18" charset="0"/>
              </a:rPr>
            </a:b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Under steady state dc conditions, find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i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 and </a:t>
            </a:r>
            <a:r>
              <a:rPr lang="en-ZA" sz="2400" i="1" dirty="0" smtClean="0">
                <a:latin typeface="Times New Roman" pitchFamily="18" charset="0"/>
                <a:cs typeface="Times New Roman" pitchFamily="18" charset="0"/>
              </a:rPr>
              <a:t>v</a:t>
            </a:r>
            <a:r>
              <a:rPr lang="en-ZA" sz="2400" dirty="0" smtClean="0">
                <a:latin typeface="Times New Roman" pitchFamily="18" charset="0"/>
                <a:cs typeface="Times New Roman" pitchFamily="18" charset="0"/>
              </a:rPr>
              <a:t>.</a:t>
            </a:r>
            <a:endParaRPr lang="en-ZA" sz="2400" i="1" dirty="0" smtClean="0">
              <a:latin typeface="Times New Roman" pitchFamily="18" charset="0"/>
              <a:cs typeface="Times New Roman" pitchFamily="18" charset="0"/>
              <a:sym typeface="Symbol"/>
            </a:endParaRPr>
          </a:p>
        </p:txBody>
      </p:sp>
      <p:pic>
        <p:nvPicPr>
          <p:cNvPr id="5" name="Picture 3" descr="ale29559_06071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710"/>
          <a:stretch/>
        </p:blipFill>
        <p:spPr bwMode="auto">
          <a:xfrm>
            <a:off x="3065176" y="80793"/>
            <a:ext cx="5884058" cy="18322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486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2298" y="2707723"/>
            <a:ext cx="6053070" cy="18252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Down Arrow 5"/>
          <p:cNvSpPr/>
          <p:nvPr/>
        </p:nvSpPr>
        <p:spPr bwMode="auto">
          <a:xfrm>
            <a:off x="5718223" y="2134613"/>
            <a:ext cx="1171977" cy="553792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ZA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090661" y="4532957"/>
            <a:ext cx="4069466" cy="792396"/>
            <a:chOff x="2090661" y="4532957"/>
            <a:chExt cx="4069466" cy="79239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2090661" y="4532957"/>
                  <a:ext cx="4026808" cy="7923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400" b="0" i="1" smtClean="0">
                            <a:latin typeface="Cambria Math"/>
                          </a:rPr>
                          <m:t>𝑖</m:t>
                        </m:r>
                        <m:r>
                          <a:rPr lang="en-ZA" sz="2400" b="0" i="1" smtClean="0">
                            <a:latin typeface="Cambria Math"/>
                          </a:rPr>
                          <m:t>=10</m:t>
                        </m:r>
                        <m:r>
                          <a:rPr lang="en-ZA" sz="2400" b="0" i="1" smtClean="0">
                            <a:latin typeface="Cambria Math"/>
                          </a:rPr>
                          <m:t>𝑚𝐴</m:t>
                        </m:r>
                        <m:r>
                          <a:rPr lang="en-ZA" sz="2400" b="0" i="1" smtClean="0">
                            <a:latin typeface="Cambria Math"/>
                            <a:ea typeface="Cambria Math"/>
                          </a:rPr>
                          <m:t>×</m:t>
                        </m:r>
                        <m:f>
                          <m:fPr>
                            <m:ctrlPr>
                              <a:rPr lang="en-ZA" sz="2400" b="0" i="1" smtClean="0">
                                <a:latin typeface="Cambria Math"/>
                                <a:ea typeface="Cambria Math"/>
                              </a:rPr>
                            </m:ctrlPr>
                          </m:fPr>
                          <m:num>
                            <m:r>
                              <a:rPr lang="en-ZA" sz="2400" b="0" i="1" smtClean="0">
                                <a:latin typeface="Cambria Math"/>
                                <a:ea typeface="Cambria Math"/>
                              </a:rPr>
                              <m:t>30</m:t>
                            </m:r>
                          </m:num>
                          <m:den>
                            <m:r>
                              <a:rPr lang="en-ZA" sz="2400" b="0" i="1" smtClean="0">
                                <a:latin typeface="Cambria Math"/>
                                <a:ea typeface="Cambria Math"/>
                              </a:rPr>
                              <m:t>30+20</m:t>
                            </m:r>
                          </m:den>
                        </m:f>
                        <m:r>
                          <a:rPr lang="en-ZA" sz="2400" b="0" i="1" smtClean="0">
                            <a:latin typeface="Cambria Math"/>
                            <a:ea typeface="Cambria Math"/>
                          </a:rPr>
                          <m:t>=6</m:t>
                        </m:r>
                        <m:r>
                          <a:rPr lang="en-ZA" sz="2400" b="0" i="1" smtClean="0">
                            <a:latin typeface="Cambria Math"/>
                            <a:ea typeface="Cambria Math"/>
                          </a:rPr>
                          <m:t>𝑚𝐴</m:t>
                        </m:r>
                      </m:oMath>
                    </m:oMathPara>
                  </a14:m>
                  <a:endParaRPr lang="en-ZA" sz="2400" dirty="0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661" y="4532957"/>
                  <a:ext cx="4026808" cy="792396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1" name="Straight Arrow Connector 10"/>
            <p:cNvCxnSpPr/>
            <p:nvPr/>
          </p:nvCxnSpPr>
          <p:spPr bwMode="auto">
            <a:xfrm>
              <a:off x="5276319" y="5156887"/>
              <a:ext cx="883808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  <p:grpSp>
        <p:nvGrpSpPr>
          <p:cNvPr id="13" name="Group 12"/>
          <p:cNvGrpSpPr/>
          <p:nvPr/>
        </p:nvGrpSpPr>
        <p:grpSpPr>
          <a:xfrm>
            <a:off x="2090661" y="5534961"/>
            <a:ext cx="3880037" cy="461665"/>
            <a:chOff x="2090661" y="5534961"/>
            <a:chExt cx="3880037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2090661" y="5534961"/>
                  <a:ext cx="3880037" cy="46166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ZA" sz="2400" b="0" i="1" smtClean="0">
                            <a:latin typeface="Cambria Math"/>
                          </a:rPr>
                          <m:t>𝑣</m:t>
                        </m:r>
                        <m:r>
                          <a:rPr lang="en-ZA" sz="2400" b="0" i="1" smtClean="0">
                            <a:latin typeface="Cambria Math"/>
                          </a:rPr>
                          <m:t>=6 </m:t>
                        </m:r>
                        <m:r>
                          <m:rPr>
                            <m:sty m:val="p"/>
                          </m:rPr>
                          <a:rPr lang="en-ZA" sz="2400" b="0" i="0" smtClean="0">
                            <a:latin typeface="Cambria Math"/>
                            <a:ea typeface="Cambria Math"/>
                          </a:rPr>
                          <m:t>mA</m:t>
                        </m:r>
                        <m:r>
                          <a:rPr lang="en-ZA" sz="2400" b="0" i="1" smtClean="0">
                            <a:latin typeface="Cambria Math"/>
                            <a:ea typeface="Cambria Math"/>
                          </a:rPr>
                          <m:t>×20</m:t>
                        </m:r>
                        <m:r>
                          <a:rPr lang="en-ZA" sz="2400" b="0" i="0" smtClean="0">
                            <a:latin typeface="Cambria Math"/>
                            <a:ea typeface="Cambria Math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en-ZA" sz="2400" b="0" i="0" smtClean="0">
                            <a:latin typeface="Cambria Math"/>
                            <a:ea typeface="Cambria Math"/>
                          </a:rPr>
                          <m:t>k</m:t>
                        </m:r>
                        <m:r>
                          <a:rPr lang="en-ZA" sz="2400" b="0" i="1" smtClean="0">
                            <a:latin typeface="Cambria Math"/>
                            <a:ea typeface="Cambria Math"/>
                            <a:sym typeface="Symbol"/>
                          </a:rPr>
                          <m:t>=120 </m:t>
                        </m:r>
                        <m:r>
                          <m:rPr>
                            <m:sty m:val="p"/>
                          </m:rPr>
                          <a:rPr lang="en-ZA" sz="2400" b="0" i="0" smtClean="0">
                            <a:latin typeface="Cambria Math"/>
                            <a:ea typeface="Cambria Math"/>
                            <a:sym typeface="Symbol"/>
                          </a:rPr>
                          <m:t>V</m:t>
                        </m:r>
                      </m:oMath>
                    </m:oMathPara>
                  </a14:m>
                  <a:endParaRPr lang="en-ZA" sz="2400" b="0" dirty="0" smtClean="0">
                    <a:ea typeface="Cambria Math"/>
                    <a:sym typeface="Symbol"/>
                  </a:endParaRPr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90661" y="5534961"/>
                  <a:ext cx="3880037" cy="461665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ZA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Straight Arrow Connector 11"/>
            <p:cNvCxnSpPr/>
            <p:nvPr/>
          </p:nvCxnSpPr>
          <p:spPr bwMode="auto">
            <a:xfrm>
              <a:off x="5086890" y="5976206"/>
              <a:ext cx="883808" cy="0"/>
            </a:xfrm>
            <a:prstGeom prst="straightConnector1">
              <a:avLst/>
            </a:prstGeom>
            <a:ln>
              <a:solidFill>
                <a:srgbClr val="FF0000"/>
              </a:solidFill>
              <a:headEnd type="none" w="med" len="med"/>
              <a:tailEnd type="arrow"/>
            </a:ln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91697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648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Balloons">
  <a:themeElements>
    <a:clrScheme name="Balloons 8">
      <a:dk1>
        <a:srgbClr val="006699"/>
      </a:dk1>
      <a:lt1>
        <a:srgbClr val="FFFFFF"/>
      </a:lt1>
      <a:dk2>
        <a:srgbClr val="006666"/>
      </a:dk2>
      <a:lt2>
        <a:srgbClr val="FFFFCC"/>
      </a:lt2>
      <a:accent1>
        <a:srgbClr val="EDFAD2"/>
      </a:accent1>
      <a:accent2>
        <a:srgbClr val="EBF7FF"/>
      </a:accent2>
      <a:accent3>
        <a:srgbClr val="FFFFFF"/>
      </a:accent3>
      <a:accent4>
        <a:srgbClr val="005682"/>
      </a:accent4>
      <a:accent5>
        <a:srgbClr val="F4FCE5"/>
      </a:accent5>
      <a:accent6>
        <a:srgbClr val="D5E0E7"/>
      </a:accent6>
      <a:hlink>
        <a:srgbClr val="CC99FF"/>
      </a:hlink>
      <a:folHlink>
        <a:srgbClr val="F2DFFD"/>
      </a:folHlink>
    </a:clrScheme>
    <a:fontScheme name="Balloons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Balloons 1">
        <a:dk1>
          <a:srgbClr val="9900CC"/>
        </a:dk1>
        <a:lt1>
          <a:srgbClr val="FFFFCC"/>
        </a:lt1>
        <a:dk2>
          <a:srgbClr val="000000"/>
        </a:dk2>
        <a:lt2>
          <a:srgbClr val="FFFFFF"/>
        </a:lt2>
        <a:accent1>
          <a:srgbClr val="666699"/>
        </a:accent1>
        <a:accent2>
          <a:srgbClr val="660066"/>
        </a:accent2>
        <a:accent3>
          <a:srgbClr val="AAAAAA"/>
        </a:accent3>
        <a:accent4>
          <a:srgbClr val="DADAAE"/>
        </a:accent4>
        <a:accent5>
          <a:srgbClr val="B8B8CA"/>
        </a:accent5>
        <a:accent6>
          <a:srgbClr val="5C005C"/>
        </a:accent6>
        <a:hlink>
          <a:srgbClr val="CC0000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2">
        <a:dk1>
          <a:srgbClr val="990033"/>
        </a:dk1>
        <a:lt1>
          <a:srgbClr val="FFFFFF"/>
        </a:lt1>
        <a:dk2>
          <a:srgbClr val="000000"/>
        </a:dk2>
        <a:lt2>
          <a:srgbClr val="FFFFFF"/>
        </a:lt2>
        <a:accent1>
          <a:srgbClr val="FF3300"/>
        </a:accent1>
        <a:accent2>
          <a:srgbClr val="FF9900"/>
        </a:accent2>
        <a:accent3>
          <a:srgbClr val="AAAAAA"/>
        </a:accent3>
        <a:accent4>
          <a:srgbClr val="DADADA"/>
        </a:accent4>
        <a:accent5>
          <a:srgbClr val="FFADAA"/>
        </a:accent5>
        <a:accent6>
          <a:srgbClr val="E78A00"/>
        </a:accent6>
        <a:hlink>
          <a:srgbClr val="FFFF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3">
        <a:dk1>
          <a:srgbClr val="CCCCFF"/>
        </a:dk1>
        <a:lt1>
          <a:srgbClr val="FFFFCC"/>
        </a:lt1>
        <a:dk2>
          <a:srgbClr val="000000"/>
        </a:dk2>
        <a:lt2>
          <a:srgbClr val="FFFFFF"/>
        </a:lt2>
        <a:accent1>
          <a:srgbClr val="9999FF"/>
        </a:accent1>
        <a:accent2>
          <a:srgbClr val="33CCCC"/>
        </a:accent2>
        <a:accent3>
          <a:srgbClr val="AAAAAA"/>
        </a:accent3>
        <a:accent4>
          <a:srgbClr val="DADAAE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4">
        <a:dk1>
          <a:srgbClr val="000000"/>
        </a:dk1>
        <a:lt1>
          <a:srgbClr val="F8F8F8"/>
        </a:lt1>
        <a:dk2>
          <a:srgbClr val="800000"/>
        </a:dk2>
        <a:lt2>
          <a:srgbClr val="FFFFFF"/>
        </a:lt2>
        <a:accent1>
          <a:srgbClr val="FF3300"/>
        </a:accent1>
        <a:accent2>
          <a:srgbClr val="FF5050"/>
        </a:accent2>
        <a:accent3>
          <a:srgbClr val="C0AAAA"/>
        </a:accent3>
        <a:accent4>
          <a:srgbClr val="D4D4D4"/>
        </a:accent4>
        <a:accent5>
          <a:srgbClr val="FFADAA"/>
        </a:accent5>
        <a:accent6>
          <a:srgbClr val="E74848"/>
        </a:accent6>
        <a:hlink>
          <a:srgbClr val="FF9999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5">
        <a:dk1>
          <a:srgbClr val="666699"/>
        </a:dk1>
        <a:lt1>
          <a:srgbClr val="FFFFFF"/>
        </a:lt1>
        <a:dk2>
          <a:srgbClr val="000066"/>
        </a:dk2>
        <a:lt2>
          <a:srgbClr val="CCECFF"/>
        </a:lt2>
        <a:accent1>
          <a:srgbClr val="009999"/>
        </a:accent1>
        <a:accent2>
          <a:srgbClr val="0099CC"/>
        </a:accent2>
        <a:accent3>
          <a:srgbClr val="AAAAB8"/>
        </a:accent3>
        <a:accent4>
          <a:srgbClr val="DADADA"/>
        </a:accent4>
        <a:accent5>
          <a:srgbClr val="AACACA"/>
        </a:accent5>
        <a:accent6>
          <a:srgbClr val="008AB9"/>
        </a:accent6>
        <a:hlink>
          <a:srgbClr val="CC99FF"/>
        </a:hlink>
        <a:folHlink>
          <a:srgbClr val="3366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6">
        <a:dk1>
          <a:srgbClr val="99CC00"/>
        </a:dk1>
        <a:lt1>
          <a:srgbClr val="FFFFFF"/>
        </a:lt1>
        <a:dk2>
          <a:srgbClr val="009900"/>
        </a:dk2>
        <a:lt2>
          <a:srgbClr val="FFFF99"/>
        </a:lt2>
        <a:accent1>
          <a:srgbClr val="336600"/>
        </a:accent1>
        <a:accent2>
          <a:srgbClr val="008000"/>
        </a:accent2>
        <a:accent3>
          <a:srgbClr val="AACAAA"/>
        </a:accent3>
        <a:accent4>
          <a:srgbClr val="DADADA"/>
        </a:accent4>
        <a:accent5>
          <a:srgbClr val="ADB8AA"/>
        </a:accent5>
        <a:accent6>
          <a:srgbClr val="007300"/>
        </a:accent6>
        <a:hlink>
          <a:srgbClr val="CCCC00"/>
        </a:hlink>
        <a:folHlink>
          <a:srgbClr val="33CC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alloons 7">
        <a:dk1>
          <a:srgbClr val="000066"/>
        </a:dk1>
        <a:lt1>
          <a:srgbClr val="E1F4FF"/>
        </a:lt1>
        <a:dk2>
          <a:srgbClr val="000066"/>
        </a:dk2>
        <a:lt2>
          <a:srgbClr val="CCCCFF"/>
        </a:lt2>
        <a:accent1>
          <a:srgbClr val="9999FF"/>
        </a:accent1>
        <a:accent2>
          <a:srgbClr val="33CCCC"/>
        </a:accent2>
        <a:accent3>
          <a:srgbClr val="EEF8FF"/>
        </a:accent3>
        <a:accent4>
          <a:srgbClr val="000056"/>
        </a:accent4>
        <a:accent5>
          <a:srgbClr val="CACAFF"/>
        </a:accent5>
        <a:accent6>
          <a:srgbClr val="2DB9B9"/>
        </a:accent6>
        <a:hlink>
          <a:srgbClr val="66FFFF"/>
        </a:hlink>
        <a:folHlink>
          <a:srgbClr val="6600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8">
        <a:dk1>
          <a:srgbClr val="006699"/>
        </a:dk1>
        <a:lt1>
          <a:srgbClr val="FFFFFF"/>
        </a:lt1>
        <a:dk2>
          <a:srgbClr val="006666"/>
        </a:dk2>
        <a:lt2>
          <a:srgbClr val="FFFFCC"/>
        </a:lt2>
        <a:accent1>
          <a:srgbClr val="EDFAD2"/>
        </a:accent1>
        <a:accent2>
          <a:srgbClr val="EBF7FF"/>
        </a:accent2>
        <a:accent3>
          <a:srgbClr val="FFFFFF"/>
        </a:accent3>
        <a:accent4>
          <a:srgbClr val="005682"/>
        </a:accent4>
        <a:accent5>
          <a:srgbClr val="F4FCE5"/>
        </a:accent5>
        <a:accent6>
          <a:srgbClr val="D5E0E7"/>
        </a:accent6>
        <a:hlink>
          <a:srgbClr val="CC99FF"/>
        </a:hlink>
        <a:folHlink>
          <a:srgbClr val="F2DF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alloons 9">
        <a:dk1>
          <a:srgbClr val="000000"/>
        </a:dk1>
        <a:lt1>
          <a:srgbClr val="FFFFFF"/>
        </a:lt1>
        <a:dk2>
          <a:srgbClr val="000000"/>
        </a:dk2>
        <a:lt2>
          <a:srgbClr val="FFCC99"/>
        </a:lt2>
        <a:accent1>
          <a:srgbClr val="FF9900"/>
        </a:accent1>
        <a:accent2>
          <a:srgbClr val="FF99CC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8AB9"/>
        </a:accent6>
        <a:hlink>
          <a:srgbClr val="FF9999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Balloons</Template>
  <TotalTime>1845</TotalTime>
  <Words>1713</Words>
  <Application>Microsoft Office PowerPoint</Application>
  <PresentationFormat>On-screen Show (4:3)</PresentationFormat>
  <Paragraphs>207</Paragraphs>
  <Slides>23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5" baseType="lpstr">
      <vt:lpstr>Balloons</vt:lpstr>
      <vt:lpstr>Equation</vt:lpstr>
      <vt:lpstr>PowerPoint Presentation</vt:lpstr>
      <vt:lpstr>Capacitors and Inductors Chapter 6</vt:lpstr>
      <vt:lpstr>6.2 Capacitors Physical characteristics</vt:lpstr>
      <vt:lpstr>6.2 Capacitors Electrical characteristics</vt:lpstr>
      <vt:lpstr>6.2 Capacitors Energy and Power</vt:lpstr>
      <vt:lpstr>PowerPoint Presentation</vt:lpstr>
      <vt:lpstr>PowerPoint Presentation</vt:lpstr>
      <vt:lpstr>PowerPoint Presentation</vt:lpstr>
      <vt:lpstr>PowerPoint Presentation</vt:lpstr>
      <vt:lpstr>6.3 Series and Parallel  Capacitors</vt:lpstr>
      <vt:lpstr>PowerPoint Presentation</vt:lpstr>
      <vt:lpstr>Ch. 6 L#2 6.4 Inductors Physical characteristics</vt:lpstr>
      <vt:lpstr>6.4 Inductors Electrical characteristics</vt:lpstr>
      <vt:lpstr>PowerPoint Presentation</vt:lpstr>
      <vt:lpstr>PowerPoint Presentation</vt:lpstr>
      <vt:lpstr>6.4 Series and Parallel  Inductors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City University of Hong Kong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EE2003  Circuit Theory</dc:title>
  <dc:creator>EE</dc:creator>
  <cp:lastModifiedBy>Derik</cp:lastModifiedBy>
  <cp:revision>124</cp:revision>
  <cp:lastPrinted>2011-10-11T07:09:41Z</cp:lastPrinted>
  <dcterms:created xsi:type="dcterms:W3CDTF">2006-09-12T03:52:31Z</dcterms:created>
  <dcterms:modified xsi:type="dcterms:W3CDTF">2012-04-16T09:10:03Z</dcterms:modified>
</cp:coreProperties>
</file>