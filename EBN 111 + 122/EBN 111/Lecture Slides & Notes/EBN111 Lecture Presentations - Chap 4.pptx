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87" r:id="rId4"/>
    <p:sldId id="322" r:id="rId5"/>
    <p:sldId id="323" r:id="rId6"/>
    <p:sldId id="324" r:id="rId7"/>
    <p:sldId id="286" r:id="rId8"/>
    <p:sldId id="321" r:id="rId9"/>
    <p:sldId id="306" r:id="rId10"/>
    <p:sldId id="307" r:id="rId11"/>
    <p:sldId id="326" r:id="rId12"/>
    <p:sldId id="325" r:id="rId13"/>
    <p:sldId id="310" r:id="rId14"/>
    <p:sldId id="311" r:id="rId15"/>
    <p:sldId id="327" r:id="rId16"/>
    <p:sldId id="328" r:id="rId17"/>
    <p:sldId id="332" r:id="rId18"/>
    <p:sldId id="331" r:id="rId19"/>
    <p:sldId id="330" r:id="rId20"/>
    <p:sldId id="313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16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18" r:id="rId38"/>
    <p:sldId id="348" r:id="rId39"/>
    <p:sldId id="349" r:id="rId40"/>
    <p:sldId id="350" r:id="rId41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66CC"/>
    <a:srgbClr val="000000"/>
    <a:srgbClr val="3366CC"/>
    <a:srgbClr val="0033CC"/>
    <a:srgbClr val="3366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-1382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1814-CE9E-4741-AEB7-5ABC39B0C73C}" type="datetimeFigureOut">
              <a:rPr lang="en-ZA" smtClean="0"/>
              <a:t>2017-08-16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D4FCC-0343-4FF7-9591-CD8F1A30453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3162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76672" cy="511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179" tIns="50090" rIns="100179" bIns="50090" numCol="1" anchor="t" anchorCtr="0" compatLnSpc="1">
            <a:prstTxWarp prst="textNoShape">
              <a:avLst/>
            </a:prstTxWarp>
          </a:bodyPr>
          <a:lstStyle>
            <a:lvl1pPr defTabSz="1001979" eaLnBrk="1" hangingPunct="1">
              <a:defRPr sz="13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2"/>
            <a:ext cx="3076672" cy="511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179" tIns="50090" rIns="100179" bIns="50090" numCol="1" anchor="t" anchorCtr="0" compatLnSpc="1">
            <a:prstTxWarp prst="textNoShape">
              <a:avLst/>
            </a:prstTxWarp>
          </a:bodyPr>
          <a:lstStyle>
            <a:lvl1pPr algn="r" defTabSz="1001979" eaLnBrk="1" hangingPunct="1">
              <a:defRPr sz="13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9938"/>
            <a:ext cx="5114925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78824" cy="460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179" tIns="50090" rIns="100179" bIns="500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869"/>
            <a:ext cx="3076672" cy="511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179" tIns="50090" rIns="100179" bIns="50090" numCol="1" anchor="b" anchorCtr="0" compatLnSpc="1">
            <a:prstTxWarp prst="textNoShape">
              <a:avLst/>
            </a:prstTxWarp>
          </a:bodyPr>
          <a:lstStyle>
            <a:lvl1pPr defTabSz="1001979" eaLnBrk="1" hangingPunct="1">
              <a:defRPr sz="13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9"/>
            <a:ext cx="3076672" cy="511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179" tIns="50090" rIns="100179" bIns="50090" numCol="1" anchor="b" anchorCtr="0" compatLnSpc="1">
            <a:prstTxWarp prst="textNoShape">
              <a:avLst/>
            </a:prstTxWarp>
          </a:bodyPr>
          <a:lstStyle>
            <a:lvl1pPr algn="r" defTabSz="1001979" eaLnBrk="1" hangingPunct="1">
              <a:defRPr sz="1300">
                <a:latin typeface="Arial" pitchFamily="34" charset="0"/>
              </a:defRPr>
            </a:lvl1pPr>
          </a:lstStyle>
          <a:p>
            <a:fld id="{E46399C3-133E-4457-B8D4-30D2CFA7868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978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1A4E22-C1E8-4F9C-B1B1-9EBA1F238823}" type="slidenum">
              <a:rPr lang="en-US"/>
              <a:pPr/>
              <a:t>1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AE890-775E-4A6D-A98B-AAF9BAD6DA94}" type="slidenum">
              <a:rPr lang="en-US"/>
              <a:pPr/>
              <a:t>7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7BBF04-1052-411C-8E31-BE8E22DAE345}" type="slidenum">
              <a:rPr lang="en-US"/>
              <a:pPr/>
              <a:t>8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C7DCA5-AD0A-4DFC-BFF0-3368D9A490CF}" type="slidenum">
              <a:rPr lang="en-US"/>
              <a:pPr/>
              <a:t>20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9F865-2D72-4F67-A540-DB0D6AD90855}" type="slidenum">
              <a:rPr lang="en-US"/>
              <a:pPr/>
              <a:t>28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E506B0-001A-4E1A-8440-124859095251}" type="slidenum">
              <a:rPr lang="en-US"/>
              <a:pPr/>
              <a:t>37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891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891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2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892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893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893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893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894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894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4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4940962-23F2-4A85-88C3-33302FAFCE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8BAD92-0B3E-47C9-A4E6-A430707B99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2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B9CC9-FCB8-496B-8EC0-B7F8B9F5FF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8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BD3E9-62D9-4AFE-B324-25370A2959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5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862AC4-0FEC-4E86-9657-F68CAF2EB7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60B69-1B9D-4C87-9B56-4010174298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9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EA5ADD-BD39-4263-8604-56242E5186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61C4D-3F39-465C-8681-D16264AEB27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9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5B440A-E221-46D2-B7C0-311A57F04A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55B079-1418-4C56-A1FA-EBF6EBD545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79390-3828-4944-B90C-0F8185EB88D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FBFBF6F-2795-479C-8FD1-4D84886B2E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9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820AA8F-F847-4D40-AEFE-1E61E969D8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7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789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789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89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789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790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790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790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790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791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791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91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93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79D99BD-53F7-4F7B-B038-52FC32C463B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12.png"/><Relationship Id="rId7" Type="http://schemas.openxmlformats.org/officeDocument/2006/relationships/image" Target="../media/image12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52.png"/><Relationship Id="rId4" Type="http://schemas.openxmlformats.org/officeDocument/2006/relationships/image" Target="../media/image13.png"/><Relationship Id="rId9" Type="http://schemas.openxmlformats.org/officeDocument/2006/relationships/image" Target="../media/image1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2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microsoft.com/office/2007/relationships/hdphoto" Target="../media/hdphoto5.wdp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41.png"/><Relationship Id="rId5" Type="http://schemas.openxmlformats.org/officeDocument/2006/relationships/image" Target="../media/image28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microsoft.com/office/2007/relationships/hdphoto" Target="../media/hdphoto7.wdp"/><Relationship Id="rId10" Type="http://schemas.openxmlformats.org/officeDocument/2006/relationships/image" Target="../media/image47.jpeg"/><Relationship Id="rId4" Type="http://schemas.openxmlformats.org/officeDocument/2006/relationships/image" Target="../media/image44.png"/><Relationship Id="rId9" Type="http://schemas.microsoft.com/office/2007/relationships/hdphoto" Target="../media/hdphoto9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67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6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58.jpe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54.png"/><Relationship Id="rId9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99.jpeg"/><Relationship Id="rId7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01.png"/><Relationship Id="rId7" Type="http://schemas.openxmlformats.org/officeDocument/2006/relationships/image" Target="../media/image113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0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05.png"/><Relationship Id="rId7" Type="http://schemas.openxmlformats.org/officeDocument/2006/relationships/image" Target="../media/image120.pn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10" Type="http://schemas.openxmlformats.org/officeDocument/2006/relationships/image" Target="../media/image54.png"/><Relationship Id="rId4" Type="http://schemas.openxmlformats.org/officeDocument/2006/relationships/image" Target="../media/image109.png"/><Relationship Id="rId9" Type="http://schemas.openxmlformats.org/officeDocument/2006/relationships/image" Target="../media/image1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png"/><Relationship Id="rId4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0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9.jpeg"/><Relationship Id="rId5" Type="http://schemas.openxmlformats.org/officeDocument/2006/relationships/image" Target="../media/image118.wmf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36.pn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" Type="http://schemas.openxmlformats.org/officeDocument/2006/relationships/image" Target="../media/image127.jpeg"/><Relationship Id="rId16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8.png"/><Relationship Id="rId5" Type="http://schemas.openxmlformats.org/officeDocument/2006/relationships/image" Target="../media/image131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29.png"/><Relationship Id="rId9" Type="http://schemas.openxmlformats.org/officeDocument/2006/relationships/image" Target="../media/image135.png"/><Relationship Id="rId14" Type="http://schemas.openxmlformats.org/officeDocument/2006/relationships/image" Target="../media/image1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2398244-B1B3-469A-825D-6386D5B4F7D8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39875" y="2590800"/>
            <a:ext cx="6146800" cy="1371600"/>
          </a:xfrm>
        </p:spPr>
        <p:txBody>
          <a:bodyPr/>
          <a:lstStyle/>
          <a:p>
            <a:r>
              <a:rPr lang="en-US" sz="4800" dirty="0"/>
              <a:t>Chapter 4</a:t>
            </a:r>
          </a:p>
          <a:p>
            <a:r>
              <a:rPr lang="en-US" sz="4800" dirty="0"/>
              <a:t>Circuit Theorems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0" y="381000"/>
            <a:ext cx="7702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err="1" smtClean="0"/>
              <a:t>EBN</a:t>
            </a:r>
            <a:r>
              <a:rPr lang="en-US" sz="3200" dirty="0" smtClean="0"/>
              <a:t> 111/122</a:t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E475-317F-4073-8D5B-B32C5619D0D4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Theorems - </a:t>
            </a:r>
            <a:r>
              <a:rPr lang="en-US" sz="4000"/>
              <a:t>Chapter 4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981200"/>
            <a:ext cx="6858000" cy="38100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99"/>
                </a:solidFill>
              </a:rPr>
              <a:t>4.1	Motivation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99"/>
                </a:solidFill>
              </a:rPr>
              <a:t>4.2	Linearity Property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/>
              <a:t>4.3	Superposition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/>
              <a:t>4.4	Source Transformation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/>
              <a:t>4.5	</a:t>
            </a:r>
            <a:r>
              <a:rPr lang="en-US" dirty="0" err="1"/>
              <a:t>Thevenin’s</a:t>
            </a:r>
            <a:r>
              <a:rPr lang="en-US" dirty="0"/>
              <a:t> Theorem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/>
              <a:t>4.6	Norton’s Theorem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 smtClean="0"/>
              <a:t>4.8</a:t>
            </a:r>
            <a:r>
              <a:rPr lang="en-US" dirty="0"/>
              <a:t>	Maximum Power Transfer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B497C-1BF2-4C19-9D79-B3D196993EA3}" type="slidenum">
              <a:rPr lang="en-US"/>
              <a:pPr/>
              <a:t>3</a:t>
            </a:fld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676400"/>
            <a:ext cx="8229600" cy="12954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sz="2800"/>
              <a:t>If you are given the following circuit, are there any other alternative(s) to determine the voltage across 2</a:t>
            </a:r>
            <a:r>
              <a:rPr lang="en-US" sz="2800">
                <a:latin typeface="Symbol" pitchFamily="18" charset="2"/>
              </a:rPr>
              <a:t>W</a:t>
            </a:r>
            <a:r>
              <a:rPr lang="en-US" sz="2800"/>
              <a:t> resistor? </a:t>
            </a:r>
          </a:p>
        </p:txBody>
      </p:sp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457200" y="56388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3300"/>
                </a:solidFill>
              </a:rPr>
              <a:t>What are they? And how?</a:t>
            </a:r>
          </a:p>
        </p:txBody>
      </p:sp>
      <p:pic>
        <p:nvPicPr>
          <p:cNvPr id="92172" name="Picture 12" descr="ale63317_0400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2963863"/>
            <a:ext cx="5715000" cy="2446337"/>
          </a:xfrm>
        </p:spPr>
      </p:pic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457200" y="61722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3300"/>
                </a:solidFill>
              </a:rPr>
              <a:t>Can you work it out by inspection?</a:t>
            </a:r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442913" y="381000"/>
            <a:ext cx="82438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r>
              <a:rPr lang="en-US" sz="4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4.1 </a:t>
            </a:r>
            <a:r>
              <a:rPr lang="en-US" sz="4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Motivation</a:t>
            </a:r>
            <a:endParaRPr lang="en-US" sz="40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 descr="ale29559_04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" t="8919" r="277" b="17285"/>
          <a:stretch/>
        </p:blipFill>
        <p:spPr bwMode="auto">
          <a:xfrm>
            <a:off x="5029200" y="3061869"/>
            <a:ext cx="3738093" cy="1644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CA60-7A0B-487A-A9FF-8EEB2A52896F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3887" cy="808038"/>
          </a:xfrm>
        </p:spPr>
        <p:txBody>
          <a:bodyPr/>
          <a:lstStyle/>
          <a:p>
            <a:r>
              <a:rPr lang="en-US" sz="4000" dirty="0"/>
              <a:t>4.2 Linearity </a:t>
            </a:r>
            <a:r>
              <a:rPr lang="en-US" sz="4000" dirty="0" smtClean="0"/>
              <a:t>Property</a:t>
            </a:r>
            <a:endParaRPr lang="en-US" sz="4000" dirty="0"/>
          </a:p>
        </p:txBody>
      </p:sp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461493" y="1219200"/>
            <a:ext cx="83058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It is the property of an element describing </a:t>
            </a:r>
            <a:r>
              <a:rPr lang="en-US" sz="2000" u="sng" dirty="0">
                <a:solidFill>
                  <a:srgbClr val="FF3300"/>
                </a:solidFill>
              </a:rPr>
              <a:t>a linear relationship between cause and effect</a:t>
            </a:r>
            <a:r>
              <a:rPr lang="en-US" sz="2000" dirty="0"/>
              <a:t>. 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A linear circuit is one whose </a:t>
            </a:r>
            <a:r>
              <a:rPr lang="en-US" sz="2000" b="1" dirty="0"/>
              <a:t>output</a:t>
            </a:r>
            <a:r>
              <a:rPr lang="en-US" sz="2000" dirty="0"/>
              <a:t> is </a:t>
            </a:r>
            <a:r>
              <a:rPr lang="en-US" sz="2000" u="sng" dirty="0">
                <a:solidFill>
                  <a:srgbClr val="FF3300"/>
                </a:solidFill>
              </a:rPr>
              <a:t>linearly related</a:t>
            </a:r>
            <a:r>
              <a:rPr lang="en-US" sz="2000" dirty="0"/>
              <a:t> (or directly proportional) to its </a:t>
            </a:r>
            <a:r>
              <a:rPr lang="en-US" sz="2000" b="1" dirty="0"/>
              <a:t>input</a:t>
            </a:r>
            <a:r>
              <a:rPr lang="en-US" sz="2000" dirty="0"/>
              <a:t>.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545206" y="2871864"/>
            <a:ext cx="50173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2000" u="sng" dirty="0" smtClean="0">
                <a:solidFill>
                  <a:srgbClr val="FF3300"/>
                </a:solidFill>
                <a:ea typeface="PMingLiU" pitchFamily="18" charset="-120"/>
              </a:rPr>
              <a:t>Two properties of linearity</a:t>
            </a:r>
          </a:p>
          <a:p>
            <a:pPr marL="285750" indent="-285750">
              <a:buFontTx/>
              <a:buChar char="-"/>
            </a:pPr>
            <a:r>
              <a:rPr lang="en-US" altLang="zh-TW" dirty="0" smtClean="0">
                <a:solidFill>
                  <a:srgbClr val="FF3300"/>
                </a:solidFill>
                <a:ea typeface="PMingLiU" pitchFamily="18" charset="-120"/>
              </a:rPr>
              <a:t>Homogeneity </a:t>
            </a:r>
            <a:r>
              <a:rPr lang="en-US" altLang="zh-TW" dirty="0">
                <a:solidFill>
                  <a:srgbClr val="FF3300"/>
                </a:solidFill>
                <a:ea typeface="PMingLiU" pitchFamily="18" charset="-120"/>
              </a:rPr>
              <a:t>(</a:t>
            </a:r>
            <a:r>
              <a:rPr lang="en-US" altLang="zh-TW" dirty="0" smtClean="0">
                <a:solidFill>
                  <a:srgbClr val="FF3300"/>
                </a:solidFill>
                <a:ea typeface="PMingLiU" pitchFamily="18" charset="-120"/>
              </a:rPr>
              <a:t>scaling)</a:t>
            </a:r>
          </a:p>
          <a:p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= </a:t>
            </a:r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 R </a:t>
            </a:r>
            <a:r>
              <a:rPr lang="en-GB" altLang="zh-TW" sz="2400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→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 = </a:t>
            </a:r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 i R</a:t>
            </a:r>
          </a:p>
          <a:p>
            <a:endParaRPr lang="en-US" altLang="zh-TW" sz="2400" i="1" dirty="0">
              <a:solidFill>
                <a:srgbClr val="00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zh-TW" dirty="0" err="1" smtClean="0">
                <a:solidFill>
                  <a:srgbClr val="FF3300"/>
                </a:solidFill>
                <a:ea typeface="PMingLiU" pitchFamily="18" charset="-120"/>
              </a:rPr>
              <a:t>Additivity</a:t>
            </a:r>
            <a:endParaRPr lang="en-US" altLang="zh-TW" dirty="0" smtClean="0">
              <a:solidFill>
                <a:srgbClr val="FF3300"/>
              </a:solidFill>
              <a:ea typeface="PMingLiU" pitchFamily="18" charset="-120"/>
            </a:endParaRPr>
          </a:p>
          <a:p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</a:t>
            </a:r>
            <a:r>
              <a:rPr lang="en-US" altLang="zh-TW" sz="2400" i="1" baseline="-25000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</a:t>
            </a:r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= i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R and v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= i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R  </a:t>
            </a:r>
            <a:endParaRPr lang="en-US" altLang="zh-TW" sz="2400" i="1" dirty="0" smtClean="0">
              <a:solidFill>
                <a:srgbClr val="00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r>
              <a:rPr lang="en-GB" altLang="zh-TW" sz="4000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→</a:t>
            </a:r>
            <a:r>
              <a:rPr lang="en-US" altLang="zh-TW" sz="2400" i="1" dirty="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 = (i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+ i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 R = v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</a:t>
            </a:r>
            <a:r>
              <a:rPr lang="en-US" altLang="zh-TW" sz="2400" i="1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+ v</a:t>
            </a:r>
            <a:r>
              <a:rPr lang="en-US" altLang="zh-TW" sz="2400" i="1" baseline="-25000" dirty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260" y="4783870"/>
            <a:ext cx="3537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Assume </a:t>
            </a:r>
            <a:r>
              <a:rPr lang="en-ZA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= 10V 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⟹ </a:t>
            </a:r>
            <a:r>
              <a:rPr lang="en-ZA" sz="2000" i="1" dirty="0" smtClean="0">
                <a:latin typeface="Cambria Math"/>
                <a:ea typeface="Cambria Math"/>
                <a:cs typeface="Times New Roman" pitchFamily="18" charset="0"/>
              </a:rPr>
              <a:t> i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= 2 A</a:t>
            </a:r>
          </a:p>
          <a:p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then:	</a:t>
            </a:r>
            <a:r>
              <a:rPr lang="en-ZA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= 1V 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⟹ </a:t>
            </a:r>
            <a:r>
              <a:rPr lang="en-ZA" sz="2000" i="1" dirty="0" smtClean="0">
                <a:latin typeface="Cambria Math"/>
                <a:ea typeface="Cambria Math"/>
                <a:cs typeface="Times New Roman" pitchFamily="18" charset="0"/>
              </a:rPr>
              <a:t> i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= 0.2 A</a:t>
            </a:r>
          </a:p>
          <a:p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	</a:t>
            </a:r>
            <a:r>
              <a:rPr lang="en-ZA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= 100V 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⟹ </a:t>
            </a:r>
            <a:r>
              <a:rPr lang="en-ZA" sz="2000" i="1" dirty="0" smtClean="0">
                <a:latin typeface="Cambria Math"/>
                <a:ea typeface="Cambria Math"/>
                <a:cs typeface="Times New Roman" pitchFamily="18" charset="0"/>
              </a:rPr>
              <a:t> i </a:t>
            </a:r>
            <a:r>
              <a:rPr lang="en-ZA" sz="2000" dirty="0" smtClean="0">
                <a:latin typeface="Cambria Math"/>
                <a:ea typeface="Cambria Math"/>
                <a:cs typeface="Times New Roman" pitchFamily="18" charset="0"/>
              </a:rPr>
              <a:t>= 20 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D7857-BE77-4620-B0D4-2CC638E0A525}" type="slidenum">
              <a:rPr lang="en-US"/>
              <a:pPr/>
              <a:t>5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657" y="114300"/>
            <a:ext cx="8706943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4.2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Assume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= 1 A and use linearity to find the actual value of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3" descr="ale29559_0400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/>
          <a:stretch/>
        </p:blipFill>
        <p:spPr bwMode="auto">
          <a:xfrm>
            <a:off x="2743201" y="1029097"/>
            <a:ext cx="6324600" cy="2460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5800" y="3581400"/>
                <a:ext cx="8001000" cy="3220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/>
                  <a:t>If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o</a:t>
                </a:r>
                <a:r>
                  <a:rPr lang="en-ZA" sz="2000" dirty="0" smtClean="0"/>
                  <a:t> = 1 A:	</a:t>
                </a:r>
                <a:r>
                  <a:rPr lang="en-ZA" sz="2000" i="1" dirty="0" smtClean="0"/>
                  <a:t>V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= 1</a:t>
                </a:r>
                <a:r>
                  <a:rPr lang="en-ZA" sz="2000" dirty="0" smtClean="0">
                    <a:sym typeface="Symbol"/>
                  </a:rPr>
                  <a:t></a:t>
                </a:r>
                <a:r>
                  <a:rPr lang="en-ZA" sz="2000" dirty="0" smtClean="0"/>
                  <a:t>(3+5) = 8 V.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/>
                  <a:t>With </a:t>
                </a:r>
                <a:r>
                  <a:rPr lang="en-ZA" sz="2000" i="1" dirty="0" smtClean="0"/>
                  <a:t>V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= 8 V:	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= 8/4 = 2 A.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/>
                  <a:t>With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= 2 A:	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2</a:t>
                </a:r>
                <a:r>
                  <a:rPr lang="en-ZA" sz="2000" dirty="0" smtClean="0"/>
                  <a:t> =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o</a:t>
                </a:r>
                <a:r>
                  <a:rPr lang="en-ZA" sz="2000" baseline="-25000" dirty="0" smtClean="0"/>
                  <a:t> </a:t>
                </a:r>
                <a:r>
                  <a:rPr lang="en-ZA" sz="2000" dirty="0" smtClean="0"/>
                  <a:t>+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= 1+2 = 3 A (KCL)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/>
                  <a:t>With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2</a:t>
                </a:r>
                <a:r>
                  <a:rPr lang="en-ZA" sz="2000" dirty="0" smtClean="0"/>
                  <a:t> = 3 A:	</a:t>
                </a:r>
                <a:r>
                  <a:rPr lang="en-ZA" sz="2000" i="1" dirty="0" smtClean="0"/>
                  <a:t>V</a:t>
                </a:r>
                <a:r>
                  <a:rPr lang="en-ZA" sz="2000" i="1" baseline="-25000" dirty="0" smtClean="0"/>
                  <a:t>2</a:t>
                </a:r>
                <a:r>
                  <a:rPr lang="en-ZA" sz="2000" i="1" dirty="0" smtClean="0"/>
                  <a:t> </a:t>
                </a:r>
                <a:r>
                  <a:rPr lang="en-ZA" sz="2000" dirty="0" smtClean="0"/>
                  <a:t>= </a:t>
                </a:r>
                <a:r>
                  <a:rPr lang="en-ZA" sz="2000" i="1" dirty="0" smtClean="0"/>
                  <a:t>V</a:t>
                </a:r>
                <a:r>
                  <a:rPr lang="en-ZA" sz="2000" i="1" baseline="-25000" dirty="0" smtClean="0"/>
                  <a:t>1</a:t>
                </a:r>
                <a:r>
                  <a:rPr lang="en-ZA" sz="2000" dirty="0" smtClean="0"/>
                  <a:t> +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2</a:t>
                </a:r>
                <a:r>
                  <a:rPr lang="en-ZA" sz="2000" dirty="0" smtClean="0">
                    <a:sym typeface="Symbol"/>
                  </a:rPr>
                  <a:t>2 = 8+6 = 14 V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𝐼</m:t>
                        </m:r>
                      </m:e>
                      <m:sub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ZA" sz="2000" b="0" i="0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ZA" sz="200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−</m:t>
                        </m:r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2</m:t>
                        </m:r>
                      </m:den>
                    </m:f>
                  </m:oMath>
                </a14:m>
                <a:endParaRPr lang="en-ZA" sz="2000" dirty="0" smtClean="0">
                  <a:sym typeface="Symbol"/>
                </a:endParaRP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sym typeface="Symbol"/>
                  </a:rPr>
                  <a:t>With </a:t>
                </a:r>
                <a:r>
                  <a:rPr lang="en-ZA" sz="2000" i="1" dirty="0" smtClean="0">
                    <a:sym typeface="Symbol"/>
                  </a:rPr>
                  <a:t>V</a:t>
                </a:r>
                <a:r>
                  <a:rPr lang="en-ZA" sz="2000" i="1" baseline="-25000" dirty="0" smtClean="0">
                    <a:sym typeface="Symbol"/>
                  </a:rPr>
                  <a:t>2</a:t>
                </a:r>
                <a:r>
                  <a:rPr lang="en-ZA" sz="2000" dirty="0" smtClean="0">
                    <a:sym typeface="Symbol"/>
                  </a:rPr>
                  <a:t> = 14 V:	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3</a:t>
                </a:r>
                <a:r>
                  <a:rPr lang="en-ZA" sz="2000" dirty="0" smtClean="0">
                    <a:sym typeface="Symbol"/>
                  </a:rPr>
                  <a:t> = 14/7 = 2 A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sym typeface="Symbol"/>
                  </a:rPr>
                  <a:t>With 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3</a:t>
                </a:r>
                <a:r>
                  <a:rPr lang="en-ZA" sz="2000" dirty="0" smtClean="0">
                    <a:sym typeface="Symbol"/>
                  </a:rPr>
                  <a:t> = 2 A:	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4</a:t>
                </a:r>
                <a:r>
                  <a:rPr lang="en-ZA" sz="2000" dirty="0" smtClean="0">
                    <a:sym typeface="Symbol"/>
                  </a:rPr>
                  <a:t> = 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2</a:t>
                </a:r>
                <a:r>
                  <a:rPr lang="en-ZA" sz="2000" dirty="0" smtClean="0">
                    <a:sym typeface="Symbol"/>
                  </a:rPr>
                  <a:t>+ 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3</a:t>
                </a:r>
                <a:r>
                  <a:rPr lang="en-ZA" sz="2000" dirty="0" smtClean="0">
                    <a:sym typeface="Symbol"/>
                  </a:rPr>
                  <a:t> = 3 + 2 = 5 A (KCL)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sym typeface="Symbol"/>
                  </a:rPr>
                  <a:t>Thus:		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o</a:t>
                </a:r>
                <a:r>
                  <a:rPr lang="en-ZA" sz="2000" dirty="0" smtClean="0"/>
                  <a:t>/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4 </a:t>
                </a:r>
                <a:r>
                  <a:rPr lang="en-ZA" sz="2000" dirty="0" smtClean="0"/>
                  <a:t>=</a:t>
                </a:r>
                <a:r>
                  <a:rPr lang="en-ZA" sz="2000" i="1" dirty="0"/>
                  <a:t> </a:t>
                </a:r>
                <a:r>
                  <a:rPr lang="en-ZA" sz="2000" i="1" dirty="0" smtClean="0"/>
                  <a:t>I</a:t>
                </a:r>
                <a:r>
                  <a:rPr lang="en-ZA" sz="2000" i="1" baseline="-25000" dirty="0" smtClean="0"/>
                  <a:t>o</a:t>
                </a:r>
                <a:r>
                  <a:rPr lang="en-ZA" sz="2000" dirty="0" smtClean="0"/>
                  <a:t>/</a:t>
                </a:r>
                <a:r>
                  <a:rPr lang="en-ZA" sz="2000" i="1" dirty="0" smtClean="0">
                    <a:sym typeface="Symbol"/>
                  </a:rPr>
                  <a:t>I</a:t>
                </a:r>
                <a:r>
                  <a:rPr lang="en-ZA" sz="2000" i="1" baseline="-25000" dirty="0" smtClean="0">
                    <a:sym typeface="Symbol"/>
                  </a:rPr>
                  <a:t>S </a:t>
                </a:r>
                <a:r>
                  <a:rPr lang="en-ZA" sz="2000" dirty="0" smtClean="0"/>
                  <a:t>= 1/5 A.</a:t>
                </a:r>
                <a:endParaRPr lang="en-ZA" sz="2000" i="1" dirty="0" smtClean="0">
                  <a:sym typeface="Symbol"/>
                </a:endParaRP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sym typeface="Symbol"/>
                  </a:rPr>
                  <a:t>Due to linearity:  </a:t>
                </a:r>
                <a:r>
                  <a:rPr lang="en-ZA" sz="2000" i="1" dirty="0" err="1" smtClean="0">
                    <a:sym typeface="Symbol"/>
                  </a:rPr>
                  <a:t>I</a:t>
                </a:r>
                <a:r>
                  <a:rPr lang="en-ZA" sz="2000" i="1" baseline="-25000" dirty="0" err="1" smtClean="0">
                    <a:sym typeface="Symbol"/>
                  </a:rPr>
                  <a:t>o_actual</a:t>
                </a:r>
                <a:r>
                  <a:rPr lang="en-ZA" sz="2000" dirty="0" smtClean="0">
                    <a:sym typeface="Symbol"/>
                  </a:rPr>
                  <a:t> = 1/5 * </a:t>
                </a:r>
                <a:r>
                  <a:rPr lang="en-ZA" sz="2000" i="1" dirty="0" err="1" smtClean="0">
                    <a:sym typeface="Symbol"/>
                  </a:rPr>
                  <a:t>I</a:t>
                </a:r>
                <a:r>
                  <a:rPr lang="en-ZA" sz="2000" i="1" baseline="-25000" dirty="0" err="1" smtClean="0">
                    <a:sym typeface="Symbol"/>
                  </a:rPr>
                  <a:t>S_actual</a:t>
                </a:r>
                <a:r>
                  <a:rPr lang="en-ZA" sz="2000" dirty="0" smtClean="0">
                    <a:sym typeface="Symbol"/>
                  </a:rPr>
                  <a:t> = 3 A</a:t>
                </a:r>
                <a:endParaRPr lang="en-ZA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581400"/>
                <a:ext cx="8001000" cy="3220818"/>
              </a:xfrm>
              <a:prstGeom prst="rect">
                <a:avLst/>
              </a:prstGeom>
              <a:blipFill rotWithShape="1">
                <a:blip r:embed="rId3"/>
                <a:stretch>
                  <a:fillRect l="-838" t="-1136" b="-246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4657" y="114300"/>
            <a:ext cx="8706943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Assuming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= 1 V, use linearity to calculate the actual value of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 descr="ale29559_0400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 t="11082" r="8770"/>
          <a:stretch/>
        </p:blipFill>
        <p:spPr bwMode="auto">
          <a:xfrm>
            <a:off x="3581400" y="1088265"/>
            <a:ext cx="4159876" cy="179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5800" y="3092003"/>
                <a:ext cx="8001000" cy="2748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Assume 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sz="2000" i="1" baseline="-25000" dirty="0" smtClean="0">
                    <a:latin typeface="Times New Roman" pitchFamily="18" charset="0"/>
                    <a:cs typeface="Times New Roman" pitchFamily="18" charset="0"/>
                  </a:rPr>
                  <a:t>o</a:t>
                </a: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 = 1 V:	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From  voltage division: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00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𝑉</m:t>
                        </m:r>
                      </m:e>
                      <m:sub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𝑜</m:t>
                        </m:r>
                      </m:sub>
                    </m:sSub>
                    <m:r>
                      <a:rPr lang="en-ZA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𝑉</m:t>
                        </m:r>
                      </m:e>
                      <m:sub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12+8</m:t>
                        </m:r>
                      </m:den>
                    </m:f>
                  </m:oMath>
                </a14:m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Hence: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𝑉</m:t>
                        </m:r>
                      </m:e>
                      <m:sub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ZA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𝑉</m:t>
                        </m:r>
                      </m:e>
                      <m:sub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12+</m:t>
                        </m:r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8</m:t>
                        </m:r>
                      </m:den>
                    </m:f>
                    <m:r>
                      <a:rPr lang="en-ZA" sz="2000" i="1"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sz="2000" baseline="-25000" dirty="0" smtClean="0">
                    <a:latin typeface="Times New Roman" pitchFamily="18" charset="0"/>
                    <a:cs typeface="Times New Roman" pitchFamily="18" charset="0"/>
                  </a:rPr>
                  <a:t>o</a:t>
                </a: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</a:rPr>
                  <a:t> = 2.5 V.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Thus: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0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  <a:cs typeface="Times New Roman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0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  <a:cs typeface="Times New Roman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ZA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2.5</m:t>
                        </m:r>
                      </m:den>
                    </m:f>
                    <m:r>
                      <a:rPr lang="en-ZA" sz="2000" b="0" i="1" smtClean="0">
                        <a:latin typeface="Cambria Math"/>
                        <a:cs typeface="Times New Roman" pitchFamily="18" charset="0"/>
                      </a:rPr>
                      <m:t>=0.4</m:t>
                    </m:r>
                  </m:oMath>
                </a14:m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 </a:t>
                </a:r>
                <a:r>
                  <a:rPr lang="en-ZA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</a:t>
                </a:r>
                <a:r>
                  <a:rPr lang="en-ZA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(This relationship will always be true for this circuit.)</a:t>
                </a:r>
                <a:endParaRPr lang="en-ZA" sz="2000" dirty="0" smtClean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If 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V</a:t>
                </a:r>
                <a:r>
                  <a:rPr lang="en-ZA" sz="2000" i="1" baseline="-25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1</a:t>
                </a: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 is equal 30 V, then according to linearity principle: </a:t>
                </a:r>
              </a:p>
              <a:p>
                <a:pPr>
                  <a:spcBef>
                    <a:spcPts val="600"/>
                  </a:spcBef>
                </a:pPr>
                <a:r>
                  <a:rPr lang="en-ZA" sz="2000" i="1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	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V</a:t>
                </a:r>
                <a:r>
                  <a:rPr lang="en-ZA" sz="2000" i="1" baseline="-25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0</a:t>
                </a:r>
                <a:r>
                  <a:rPr lang="en-ZA" sz="2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 = 0.4 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V</a:t>
                </a:r>
                <a:r>
                  <a:rPr lang="en-ZA" sz="2000" i="1" baseline="-25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1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 = 12 V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92003"/>
                <a:ext cx="8001000" cy="2748766"/>
              </a:xfrm>
              <a:prstGeom prst="rect">
                <a:avLst/>
              </a:prstGeom>
              <a:blipFill rotWithShape="1">
                <a:blip r:embed="rId3"/>
                <a:stretch>
                  <a:fillRect l="-686" t="-1109" b="-310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334000" y="1154579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i="1" dirty="0">
                <a:solidFill>
                  <a:srgbClr val="FF0000"/>
                </a:solidFill>
              </a:rPr>
              <a:t>V</a:t>
            </a:r>
            <a:r>
              <a:rPr lang="en-ZA" i="1" baseline="-25000" dirty="0">
                <a:solidFill>
                  <a:srgbClr val="FF0000"/>
                </a:solidFill>
              </a:rPr>
              <a:t>1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545425" y="1537305"/>
            <a:ext cx="108615" cy="10861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7328079" y="1537305"/>
            <a:ext cx="0" cy="31725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28079" y="1406946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i="1" dirty="0" smtClean="0">
                <a:solidFill>
                  <a:srgbClr val="FF0000"/>
                </a:solidFill>
              </a:rPr>
              <a:t>i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431716" y="1988143"/>
            <a:ext cx="713232" cy="51731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8F30-2A19-415B-AC72-1C29B69A90E5}" type="slidenum">
              <a:rPr lang="en-US"/>
              <a:pPr/>
              <a:t>7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93183"/>
            <a:ext cx="8243887" cy="799452"/>
          </a:xfrm>
        </p:spPr>
        <p:txBody>
          <a:bodyPr/>
          <a:lstStyle/>
          <a:p>
            <a:r>
              <a:rPr lang="en-US" sz="4000" dirty="0"/>
              <a:t>4.3 Superposition </a:t>
            </a:r>
            <a:r>
              <a:rPr lang="en-US" sz="4000" dirty="0" smtClean="0"/>
              <a:t>Theorem</a:t>
            </a:r>
            <a:endParaRPr lang="en-US" sz="4000" dirty="0"/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609600" y="16002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457200" y="19050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u="sng" dirty="0" smtClean="0">
                <a:solidFill>
                  <a:srgbClr val="FF3300"/>
                </a:solidFill>
              </a:rPr>
              <a:t>voltage </a:t>
            </a:r>
            <a:r>
              <a:rPr lang="en-US" sz="2400" u="sng" dirty="0">
                <a:solidFill>
                  <a:srgbClr val="FF3300"/>
                </a:solidFill>
              </a:rPr>
              <a:t>across</a:t>
            </a:r>
            <a:r>
              <a:rPr lang="en-US" sz="2400" dirty="0"/>
              <a:t> (or current through) an element in a linear circuit is the </a:t>
            </a:r>
            <a:r>
              <a:rPr lang="en-US" sz="2400" u="sng" dirty="0">
                <a:solidFill>
                  <a:srgbClr val="FF3300"/>
                </a:solidFill>
              </a:rPr>
              <a:t>algebraic sum</a:t>
            </a:r>
            <a:r>
              <a:rPr lang="en-US" sz="2400" dirty="0"/>
              <a:t> of the voltage across (or currents through) that element due to </a:t>
            </a:r>
            <a:r>
              <a:rPr lang="en-US" sz="2400" u="sng" dirty="0">
                <a:solidFill>
                  <a:srgbClr val="FF3300"/>
                </a:solidFill>
              </a:rPr>
              <a:t>EACH independent source acting alone</a:t>
            </a:r>
            <a:r>
              <a:rPr lang="en-US" sz="2400" dirty="0"/>
              <a:t>.</a:t>
            </a:r>
          </a:p>
        </p:txBody>
      </p: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457200" y="4267200"/>
            <a:ext cx="80010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dirty="0"/>
              <a:t>The principle of superposition helps us to analyze a linear circuit with more than one independent source by </a:t>
            </a:r>
            <a:r>
              <a:rPr lang="en-US" sz="2400" u="sng" dirty="0">
                <a:solidFill>
                  <a:srgbClr val="FF3300"/>
                </a:solidFill>
              </a:rPr>
              <a:t>calculating the contribution of each independent source separately</a:t>
            </a:r>
            <a:r>
              <a:rPr lang="en-US" sz="2400" dirty="0"/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BB75-0EBE-4215-B281-2547ACA65179}" type="slidenum">
              <a:rPr lang="en-US"/>
              <a:pPr/>
              <a:t>8</a:t>
            </a:fld>
            <a:endParaRPr lang="en-US"/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8001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FF3300"/>
                </a:solidFill>
              </a:rPr>
              <a:t>We consider the effects of 8A and 20V one by one, then add the two effects together for final </a:t>
            </a:r>
            <a:r>
              <a:rPr lang="en-US" sz="28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i="1" baseline="-25000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dirty="0">
                <a:solidFill>
                  <a:srgbClr val="FF3300"/>
                </a:solidFill>
              </a:rPr>
              <a:t>.</a:t>
            </a:r>
          </a:p>
        </p:txBody>
      </p:sp>
      <p:pic>
        <p:nvPicPr>
          <p:cNvPr id="138244" name="Picture 4" descr="ale63317_04008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3257550"/>
            <a:ext cx="6096000" cy="2609850"/>
          </a:xfrm>
        </p:spPr>
      </p:pic>
      <p:sp>
        <p:nvSpPr>
          <p:cNvPr id="138247" name="Rectangle 7"/>
          <p:cNvSpPr>
            <a:spLocks noGrp="1" noChangeArrowheads="1"/>
          </p:cNvSpPr>
          <p:nvPr>
            <p:ph type="title"/>
          </p:nvPr>
        </p:nvSpPr>
        <p:spPr>
          <a:xfrm>
            <a:off x="411956" y="193183"/>
            <a:ext cx="8243887" cy="709300"/>
          </a:xfrm>
          <a:noFill/>
          <a:ln/>
        </p:spPr>
        <p:txBody>
          <a:bodyPr/>
          <a:lstStyle/>
          <a:p>
            <a:r>
              <a:rPr lang="en-US" sz="3200" dirty="0"/>
              <a:t>4.3 Superposition </a:t>
            </a:r>
            <a:r>
              <a:rPr lang="en-US" sz="3200" dirty="0" smtClean="0"/>
              <a:t>Theorem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E2F15-59A9-42FE-B7E9-4233F4E1C104}" type="slidenum">
              <a:rPr lang="en-US"/>
              <a:pPr/>
              <a:t>9</a:t>
            </a:fld>
            <a:endParaRPr lang="en-US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4.3 Superposition </a:t>
            </a:r>
            <a:r>
              <a:rPr lang="en-US" sz="3200" dirty="0" smtClean="0"/>
              <a:t>Theorem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800" dirty="0" smtClean="0">
                <a:solidFill>
                  <a:srgbClr val="FF0000"/>
                </a:solidFill>
              </a:rPr>
              <a:t>STEPS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609600" y="16002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457200" y="1752600"/>
            <a:ext cx="8153400" cy="490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3225" indent="-403225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3716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8288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2860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7432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2004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6576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1148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altLang="zh-TW" sz="2400" u="sng" dirty="0">
                <a:latin typeface="Verdana" pitchFamily="34" charset="0"/>
                <a:ea typeface="PMingLiU" pitchFamily="18" charset="-120"/>
              </a:rPr>
              <a:t>Steps to apply superposition principle</a:t>
            </a:r>
          </a:p>
          <a:p>
            <a:endParaRPr lang="en-US" altLang="zh-TW" sz="2800" b="1" u="sng" dirty="0">
              <a:solidFill>
                <a:srgbClr val="000000"/>
              </a:solidFill>
              <a:latin typeface="Verdana" pitchFamily="34" charset="0"/>
              <a:ea typeface="PMingLiU" pitchFamily="18" charset="-120"/>
            </a:endParaRPr>
          </a:p>
          <a:p>
            <a:pPr>
              <a:buClr>
                <a:schemeClr val="tx1"/>
              </a:buClr>
              <a:buFontTx/>
              <a:buAutoNum type="arabicPeriod"/>
            </a:pPr>
            <a:r>
              <a:rPr lang="en-US" altLang="zh-TW" sz="2400" u="sng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Turn off</a:t>
            </a:r>
            <a:r>
              <a:rPr lang="en-US" altLang="zh-TW" sz="2400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 all independent sources except one source. Find the output (voltage or current)     due to that active source using nodal or        mesh analysis.</a:t>
            </a:r>
          </a:p>
          <a:p>
            <a:pPr>
              <a:buClr>
                <a:schemeClr val="tx1"/>
              </a:buClr>
              <a:buFontTx/>
              <a:buAutoNum type="arabicPeriod"/>
            </a:pPr>
            <a:endParaRPr lang="en-US" altLang="zh-TW" sz="2400" dirty="0">
              <a:solidFill>
                <a:srgbClr val="FF3300"/>
              </a:solidFill>
              <a:latin typeface="Verdana" pitchFamily="34" charset="0"/>
              <a:ea typeface="PMingLiU" pitchFamily="18" charset="-120"/>
            </a:endParaRPr>
          </a:p>
          <a:p>
            <a:pPr>
              <a:buClr>
                <a:schemeClr val="tx1"/>
              </a:buClr>
              <a:buFontTx/>
              <a:buAutoNum type="arabicPeriod"/>
            </a:pPr>
            <a:r>
              <a:rPr lang="en-US" altLang="zh-TW" sz="2400" u="sng" dirty="0">
                <a:latin typeface="Verdana" pitchFamily="34" charset="0"/>
                <a:ea typeface="PMingLiU" pitchFamily="18" charset="-120"/>
              </a:rPr>
              <a:t>Repeat</a:t>
            </a:r>
            <a:r>
              <a:rPr lang="en-US" altLang="zh-TW" sz="2400" dirty="0">
                <a:latin typeface="Verdana" pitchFamily="34" charset="0"/>
                <a:ea typeface="PMingLiU" pitchFamily="18" charset="-120"/>
              </a:rPr>
              <a:t> step 1 for each of the other independent sources.</a:t>
            </a:r>
          </a:p>
          <a:p>
            <a:pPr>
              <a:buClr>
                <a:schemeClr val="tx1"/>
              </a:buClr>
              <a:buFontTx/>
              <a:buAutoNum type="arabicPeriod"/>
            </a:pPr>
            <a:endParaRPr lang="en-US" altLang="zh-TW" sz="2400" dirty="0">
              <a:latin typeface="Verdana" pitchFamily="34" charset="0"/>
              <a:ea typeface="PMingLiU" pitchFamily="18" charset="-120"/>
            </a:endParaRPr>
          </a:p>
          <a:p>
            <a:pPr>
              <a:buClr>
                <a:schemeClr val="tx1"/>
              </a:buClr>
              <a:buFontTx/>
              <a:buAutoNum type="arabicPeriod"/>
            </a:pPr>
            <a:r>
              <a:rPr lang="en-US" altLang="zh-TW" sz="2400" u="sng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Find</a:t>
            </a:r>
            <a:r>
              <a:rPr lang="en-US" altLang="zh-TW" sz="2400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 the total contribution by adding </a:t>
            </a:r>
            <a:r>
              <a:rPr lang="en-US" altLang="zh-TW" sz="2400" u="sng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algebraically</a:t>
            </a:r>
            <a:r>
              <a:rPr lang="en-US" altLang="zh-TW" sz="2400" dirty="0">
                <a:solidFill>
                  <a:srgbClr val="FF3300"/>
                </a:solidFill>
                <a:latin typeface="Verdana" pitchFamily="34" charset="0"/>
                <a:ea typeface="PMingLiU" pitchFamily="18" charset="-120"/>
              </a:rPr>
              <a:t> all the contributions due to the independent sources.</a:t>
            </a:r>
            <a:endParaRPr lang="en-US" sz="2800" dirty="0"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3160-FDDA-4ACC-8381-13025FF67D92}" type="slidenum">
              <a:rPr lang="en-US"/>
              <a:pPr/>
              <a:t>10</a:t>
            </a:fld>
            <a:endParaRPr lang="en-US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30034" y="51516"/>
            <a:ext cx="8243887" cy="1066301"/>
          </a:xfrm>
        </p:spPr>
        <p:txBody>
          <a:bodyPr/>
          <a:lstStyle/>
          <a:p>
            <a:r>
              <a:rPr lang="en-US" sz="2800" dirty="0"/>
              <a:t>4.3 Superposition Theorem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dirty="0" smtClean="0">
                <a:solidFill>
                  <a:srgbClr val="FF0000"/>
                </a:solidFill>
              </a:rPr>
              <a:t>Zeroing of Sources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608530" y="1150297"/>
            <a:ext cx="769620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03225" indent="-403225">
              <a:tabLst>
                <a:tab pos="457200" algn="l"/>
              </a:tabLst>
            </a:pPr>
            <a:r>
              <a:rPr lang="en-US" sz="2400" u="sng" dirty="0" smtClean="0"/>
              <a:t>How do you </a:t>
            </a:r>
            <a:r>
              <a:rPr lang="en-US" sz="2400" u="sng" dirty="0" smtClean="0">
                <a:solidFill>
                  <a:srgbClr val="FF0000"/>
                </a:solidFill>
              </a:rPr>
              <a:t>turn off </a:t>
            </a:r>
            <a:r>
              <a:rPr lang="en-US" sz="2400" u="sng" dirty="0" smtClean="0"/>
              <a:t>a source, i.e. make it zero?</a:t>
            </a:r>
            <a:endParaRPr lang="en-US" sz="2400" u="sng" dirty="0"/>
          </a:p>
          <a:p>
            <a:pPr marL="403225" indent="-403225">
              <a:tabLst>
                <a:tab pos="457200" algn="l"/>
              </a:tabLst>
            </a:pPr>
            <a:endParaRPr lang="en-US" sz="2400" dirty="0"/>
          </a:p>
          <a:p>
            <a:pPr marL="403225" indent="-403225">
              <a:buFontTx/>
              <a:buAutoNum type="arabicPeriod"/>
              <a:tabLst>
                <a:tab pos="457200" algn="l"/>
              </a:tabLst>
            </a:pPr>
            <a:r>
              <a:rPr lang="en-US" sz="2400" dirty="0" smtClean="0"/>
              <a:t>Independent </a:t>
            </a:r>
            <a:r>
              <a:rPr lang="en-US" sz="2400" dirty="0"/>
              <a:t>sources</a:t>
            </a:r>
            <a:r>
              <a:rPr lang="en-US" sz="2400" dirty="0">
                <a:solidFill>
                  <a:srgbClr val="000000"/>
                </a:solidFill>
              </a:rPr>
              <a:t>:</a:t>
            </a: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</a:rPr>
              <a:t>Independent voltage sources are replaced by 0 V (</a:t>
            </a:r>
            <a:r>
              <a:rPr lang="en-US" sz="2000" u="sng" dirty="0">
                <a:solidFill>
                  <a:srgbClr val="FF3300"/>
                </a:solidFill>
              </a:rPr>
              <a:t>short </a:t>
            </a:r>
            <a:r>
              <a:rPr lang="en-US" sz="2000" u="sng" dirty="0" smtClean="0">
                <a:solidFill>
                  <a:srgbClr val="FF3300"/>
                </a:solidFill>
              </a:rPr>
              <a:t>circuit (R=0 </a:t>
            </a:r>
            <a:r>
              <a:rPr lang="en-US" sz="2000" u="sng" dirty="0" smtClean="0">
                <a:solidFill>
                  <a:srgbClr val="FF3300"/>
                </a:solidFill>
                <a:sym typeface="Symbol"/>
              </a:rPr>
              <a:t>)</a:t>
            </a:r>
            <a:r>
              <a:rPr lang="en-US" sz="2000" dirty="0" smtClean="0">
                <a:solidFill>
                  <a:srgbClr val="000000"/>
                </a:solidFill>
              </a:rPr>
              <a:t>)</a:t>
            </a: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endParaRPr lang="en-US" sz="2400" dirty="0">
              <a:solidFill>
                <a:srgbClr val="000000"/>
              </a:solidFill>
            </a:endParaRP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endParaRPr lang="en-US" sz="2400" dirty="0" smtClean="0">
              <a:solidFill>
                <a:srgbClr val="000000"/>
              </a:solidFill>
            </a:endParaRP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endParaRPr lang="en-US" sz="2400" dirty="0">
              <a:solidFill>
                <a:srgbClr val="000000"/>
              </a:solidFill>
            </a:endParaRP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</a:rPr>
              <a:t>Independent current sources are replaced by 0 A (</a:t>
            </a:r>
            <a:r>
              <a:rPr lang="en-US" sz="2000" u="sng" dirty="0">
                <a:solidFill>
                  <a:srgbClr val="FF3300"/>
                </a:solidFill>
              </a:rPr>
              <a:t>open </a:t>
            </a:r>
            <a:r>
              <a:rPr lang="en-US" sz="2000" u="sng" dirty="0" smtClean="0">
                <a:solidFill>
                  <a:srgbClr val="FF3300"/>
                </a:solidFill>
              </a:rPr>
              <a:t>circuit (R </a:t>
            </a:r>
            <a:r>
              <a:rPr lang="en-US" sz="2000" u="sng" dirty="0" smtClean="0">
                <a:solidFill>
                  <a:srgbClr val="FF3300"/>
                </a:solidFill>
                <a:sym typeface="Symbol"/>
              </a:rPr>
              <a:t> </a:t>
            </a:r>
            <a:r>
              <a:rPr lang="en-US" sz="2000" u="sng" dirty="0" smtClean="0">
                <a:solidFill>
                  <a:srgbClr val="FF3300"/>
                </a:solidFill>
              </a:rPr>
              <a:t> </a:t>
            </a:r>
            <a:r>
              <a:rPr lang="en-US" sz="2000" u="sng" dirty="0">
                <a:solidFill>
                  <a:srgbClr val="FF3300"/>
                </a:solidFill>
                <a:sym typeface="Symbol"/>
              </a:rPr>
              <a:t>)</a:t>
            </a:r>
            <a:r>
              <a:rPr lang="en-US" sz="2000" dirty="0" smtClean="0">
                <a:solidFill>
                  <a:srgbClr val="000000"/>
                </a:solidFill>
              </a:rPr>
              <a:t>). </a:t>
            </a: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endParaRPr lang="en-US" sz="2400" dirty="0">
              <a:solidFill>
                <a:srgbClr val="000000"/>
              </a:solidFill>
            </a:endParaRPr>
          </a:p>
          <a:p>
            <a:pPr marL="860425" lvl="1" indent="-342900">
              <a:buFont typeface="Wingdings" pitchFamily="2" charset="2"/>
              <a:buChar char="Ø"/>
              <a:tabLst>
                <a:tab pos="457200" algn="l"/>
              </a:tabLst>
            </a:pPr>
            <a:endParaRPr lang="en-US" sz="2400" dirty="0">
              <a:solidFill>
                <a:srgbClr val="000000"/>
              </a:solidFill>
            </a:endParaRPr>
          </a:p>
          <a:p>
            <a:pPr marL="403225" indent="-403225">
              <a:buFontTx/>
              <a:buAutoNum type="arabicPeriod"/>
              <a:tabLst>
                <a:tab pos="457200" algn="l"/>
              </a:tabLst>
            </a:pPr>
            <a:endParaRPr lang="en-US" sz="2400" dirty="0">
              <a:solidFill>
                <a:srgbClr val="000000"/>
              </a:solidFill>
            </a:endParaRPr>
          </a:p>
          <a:p>
            <a:pPr marL="403225" indent="-403225">
              <a:buFontTx/>
              <a:buAutoNum type="arabicPeriod"/>
              <a:tabLst>
                <a:tab pos="457200" algn="l"/>
              </a:tabLst>
            </a:pPr>
            <a:r>
              <a:rPr lang="en-US" sz="2400" dirty="0"/>
              <a:t>Dependent sources </a:t>
            </a:r>
            <a:r>
              <a:rPr lang="en-US" sz="2400" u="sng" dirty="0">
                <a:solidFill>
                  <a:srgbClr val="FF0000"/>
                </a:solidFill>
              </a:rPr>
              <a:t>are left intact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because they are controlled by circuit variables.</a:t>
            </a:r>
            <a:r>
              <a:rPr lang="en-US" dirty="0"/>
              <a:t> 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570" y="2816004"/>
            <a:ext cx="3445833" cy="134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569" y="4516015"/>
            <a:ext cx="3445834" cy="134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 bwMode="auto">
          <a:xfrm>
            <a:off x="5950043" y="3230364"/>
            <a:ext cx="605307" cy="42500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5950043" y="4975450"/>
            <a:ext cx="605307" cy="42500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3038092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4.5: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Use superposition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to 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40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7"/>
          <a:stretch/>
        </p:blipFill>
        <p:spPr bwMode="auto">
          <a:xfrm>
            <a:off x="4262907" y="119646"/>
            <a:ext cx="4386420" cy="154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4657" y="1664942"/>
            <a:ext cx="4957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latin typeface="Times New Roman" pitchFamily="18" charset="0"/>
                <a:cs typeface="Times New Roman" pitchFamily="18" charset="0"/>
              </a:rPr>
              <a:t>Switch off the 4 A  and 12 V sources:</a:t>
            </a:r>
            <a:endParaRPr lang="en-ZA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8" y="2107850"/>
            <a:ext cx="3688754" cy="1523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109682" y="2593039"/>
            <a:ext cx="4957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latin typeface="Times New Roman" pitchFamily="18" charset="0"/>
                <a:cs typeface="Times New Roman" pitchFamily="18" charset="0"/>
              </a:rPr>
              <a:t>Switch off the 4 A  and 16 V sources:</a:t>
            </a:r>
            <a:endParaRPr lang="en-ZA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427" y="2951672"/>
            <a:ext cx="3963818" cy="162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117231" y="4446436"/>
            <a:ext cx="5124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latin typeface="Times New Roman" pitchFamily="18" charset="0"/>
                <a:cs typeface="Times New Roman" pitchFamily="18" charset="0"/>
              </a:rPr>
              <a:t>Switch off the 12 V and 16 V sources:</a:t>
            </a:r>
            <a:endParaRPr lang="en-ZA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2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6" y="4858699"/>
            <a:ext cx="3732565" cy="174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34167" y="3085482"/>
            <a:ext cx="2033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16/16 = 1 A </a:t>
            </a:r>
            <a:endParaRPr lang="en-ZA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9139" y="4046326"/>
            <a:ext cx="2378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- 12/16 = -0.75 A </a:t>
            </a:r>
            <a:endParaRPr lang="en-ZA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945" y="6090995"/>
            <a:ext cx="3185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4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[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/ (2 + 14)] = 0.5 A</a:t>
            </a:r>
            <a:endParaRPr lang="en-ZA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5647" y="5227276"/>
            <a:ext cx="254093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=  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= 1 + -0.75 + 0.5 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= 0.75 A</a:t>
            </a:r>
            <a:endParaRPr lang="en-ZA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5726902" y="6378136"/>
            <a:ext cx="1034506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36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8" grpId="0"/>
      <p:bldP spid="13" grpId="0"/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4657" y="114300"/>
            <a:ext cx="3166881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4.4: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Use superposition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to find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3" descr="ale29559_040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7"/>
          <a:stretch/>
        </p:blipFill>
        <p:spPr bwMode="auto">
          <a:xfrm>
            <a:off x="4205054" y="0"/>
            <a:ext cx="4236332" cy="199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Group 30"/>
          <p:cNvGrpSpPr/>
          <p:nvPr/>
        </p:nvGrpSpPr>
        <p:grpSpPr>
          <a:xfrm>
            <a:off x="156518" y="1613520"/>
            <a:ext cx="4687260" cy="2443991"/>
            <a:chOff x="156518" y="1613520"/>
            <a:chExt cx="4687260" cy="2443991"/>
          </a:xfrm>
        </p:grpSpPr>
        <p:sp>
          <p:nvSpPr>
            <p:cNvPr id="2" name="Rectangle 1"/>
            <p:cNvSpPr/>
            <p:nvPr/>
          </p:nvSpPr>
          <p:spPr>
            <a:xfrm>
              <a:off x="271778" y="1613520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ZA" sz="2400" b="1" dirty="0" smtClean="0">
                  <a:latin typeface="Times New Roman" pitchFamily="18" charset="0"/>
                  <a:cs typeface="Times New Roman" pitchFamily="18" charset="0"/>
                </a:rPr>
                <a:t>Switch off (zero) the 4 A source:</a:t>
              </a:r>
              <a:endParaRPr lang="en-ZA" sz="24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33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18" y="2021952"/>
              <a:ext cx="4361913" cy="20355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0" name="Group 29"/>
          <p:cNvGrpSpPr/>
          <p:nvPr/>
        </p:nvGrpSpPr>
        <p:grpSpPr>
          <a:xfrm>
            <a:off x="156518" y="3994634"/>
            <a:ext cx="4572000" cy="2451238"/>
            <a:chOff x="156518" y="3994634"/>
            <a:chExt cx="4572000" cy="2451238"/>
          </a:xfrm>
        </p:grpSpPr>
        <p:sp>
          <p:nvSpPr>
            <p:cNvPr id="18" name="Rectangle 17"/>
            <p:cNvSpPr/>
            <p:nvPr/>
          </p:nvSpPr>
          <p:spPr>
            <a:xfrm>
              <a:off x="156518" y="399463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ZA" sz="2400" b="1" dirty="0" smtClean="0">
                  <a:latin typeface="Times New Roman" pitchFamily="18" charset="0"/>
                  <a:cs typeface="Times New Roman" pitchFamily="18" charset="0"/>
                </a:rPr>
                <a:t>Switch off (zero) the 20 V source:</a:t>
              </a:r>
              <a:endParaRPr lang="en-ZA" sz="24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3312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893" y="4422660"/>
              <a:ext cx="3735161" cy="2023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5" name="Group 24"/>
          <p:cNvGrpSpPr/>
          <p:nvPr/>
        </p:nvGrpSpPr>
        <p:grpSpPr>
          <a:xfrm>
            <a:off x="4582826" y="1772057"/>
            <a:ext cx="3399470" cy="1989237"/>
            <a:chOff x="4582826" y="1772057"/>
            <a:chExt cx="3399470" cy="1989237"/>
          </a:xfrm>
        </p:grpSpPr>
        <p:sp>
          <p:nvSpPr>
            <p:cNvPr id="13" name="Rectangle 12"/>
            <p:cNvSpPr/>
            <p:nvPr/>
          </p:nvSpPr>
          <p:spPr>
            <a:xfrm>
              <a:off x="4610637" y="1772057"/>
              <a:ext cx="2286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b="1" dirty="0" smtClean="0">
                  <a:latin typeface="Times New Roman" pitchFamily="18" charset="0"/>
                  <a:cs typeface="Times New Roman" pitchFamily="18" charset="0"/>
                </a:rPr>
                <a:t>Nodal-analysis:</a:t>
              </a:r>
              <a:endParaRPr lang="en-ZA" sz="24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586046" y="2233722"/>
                  <a:ext cx="3396250" cy="6705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000" b="0" i="1" smtClean="0">
                                <a:latin typeface="Cambria Math"/>
                              </a:rPr>
                              <m:t>−20</m:t>
                            </m:r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20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ZA" sz="20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−0.1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6046" y="2233722"/>
                  <a:ext cx="3396250" cy="67056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582826" y="2930048"/>
                  <a:ext cx="334335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i="1">
                            <a:latin typeface="Cambria Math"/>
                          </a:rPr>
                          <m:t>−20</m:t>
                        </m:r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r>
                          <a:rPr lang="en-ZA" sz="2000" i="1">
                            <a:latin typeface="Cambria Math"/>
                          </a:rPr>
                          <m:t>5</m:t>
                        </m:r>
                        <m:sSub>
                          <m:sSubPr>
                            <m:ctrlPr>
                              <a:rPr lang="en-ZA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−2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2826" y="2930048"/>
                  <a:ext cx="3343351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4621461" y="3361184"/>
                  <a:ext cx="13437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=5 </m:t>
                        </m:r>
                        <m:r>
                          <a:rPr lang="en-ZA" sz="2000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61" y="3361184"/>
                  <a:ext cx="1343701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>
              <a:stCxn id="16" idx="2"/>
            </p:cNvCxnSpPr>
            <p:nvPr/>
          </p:nvCxnSpPr>
          <p:spPr bwMode="auto">
            <a:xfrm>
              <a:off x="5293312" y="3761294"/>
              <a:ext cx="67185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4563505" y="4118879"/>
            <a:ext cx="3343351" cy="1989237"/>
            <a:chOff x="4563505" y="4118879"/>
            <a:chExt cx="3343351" cy="1989237"/>
          </a:xfrm>
        </p:grpSpPr>
        <p:sp>
          <p:nvSpPr>
            <p:cNvPr id="20" name="Rectangle 19"/>
            <p:cNvSpPr/>
            <p:nvPr/>
          </p:nvSpPr>
          <p:spPr>
            <a:xfrm>
              <a:off x="4591316" y="4118879"/>
              <a:ext cx="2286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b="1" dirty="0" smtClean="0">
                  <a:latin typeface="Times New Roman" pitchFamily="18" charset="0"/>
                  <a:cs typeface="Times New Roman" pitchFamily="18" charset="0"/>
                </a:rPr>
                <a:t>Nodal-analysis:</a:t>
              </a:r>
              <a:endParaRPr lang="en-ZA" sz="24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566725" y="4580544"/>
                  <a:ext cx="3253583" cy="6199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20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−4+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ZA" sz="20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−0.1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6725" y="4580544"/>
                  <a:ext cx="3253583" cy="61997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563505" y="5276870"/>
                  <a:ext cx="334335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i="1">
                            <a:latin typeface="Cambria Math"/>
                          </a:rPr>
                          <m:t>−</m:t>
                        </m:r>
                        <m:r>
                          <a:rPr lang="en-ZA" sz="2000" b="0" i="1" smtClean="0">
                            <a:latin typeface="Cambria Math"/>
                          </a:rPr>
                          <m:t>8</m:t>
                        </m:r>
                        <m:r>
                          <a:rPr lang="en-ZA" sz="2000" i="1">
                            <a:latin typeface="Cambria Math"/>
                          </a:rPr>
                          <m:t>0</m:t>
                        </m:r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r>
                          <a:rPr lang="en-ZA" sz="2000" i="1">
                            <a:latin typeface="Cambria Math"/>
                          </a:rPr>
                          <m:t>5</m:t>
                        </m:r>
                        <m:sSub>
                          <m:sSubPr>
                            <m:ctrlPr>
                              <a:rPr lang="en-ZA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−2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3505" y="5276870"/>
                  <a:ext cx="3343351" cy="4001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602140" y="5708006"/>
                  <a:ext cx="148636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=20 </m:t>
                        </m:r>
                        <m:r>
                          <a:rPr lang="en-ZA" sz="2000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2140" y="5708006"/>
                  <a:ext cx="1486369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/>
            <p:cNvCxnSpPr/>
            <p:nvPr/>
          </p:nvCxnSpPr>
          <p:spPr bwMode="auto">
            <a:xfrm>
              <a:off x="5390977" y="6080875"/>
              <a:ext cx="67185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3481635" y="6215039"/>
            <a:ext cx="4760844" cy="461665"/>
            <a:chOff x="2876280" y="6215039"/>
            <a:chExt cx="5381322" cy="461665"/>
          </a:xfrm>
        </p:grpSpPr>
        <p:sp>
          <p:nvSpPr>
            <p:cNvPr id="24" name="Rectangle 23"/>
            <p:cNvSpPr/>
            <p:nvPr/>
          </p:nvSpPr>
          <p:spPr>
            <a:xfrm>
              <a:off x="2876280" y="6215039"/>
              <a:ext cx="5381322" cy="461665"/>
            </a:xfrm>
            <a:prstGeom prst="rect">
              <a:avLst/>
            </a:prstGeom>
            <a:ln>
              <a:solidFill>
                <a:srgbClr val="FF33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ZA" sz="2400" b="1" dirty="0" smtClean="0">
                  <a:latin typeface="Times New Roman" pitchFamily="18" charset="0"/>
                  <a:cs typeface="Times New Roman" pitchFamily="18" charset="0"/>
                </a:rPr>
                <a:t>Total:</a:t>
              </a:r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ZA" sz="2400" i="1" dirty="0" err="1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err="1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 = 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 + 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 = 5 + 20 = 25 V</a:t>
              </a:r>
              <a:endParaRPr lang="en-ZA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>
              <a:off x="7193903" y="6610826"/>
              <a:ext cx="789250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33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3B2E-0C61-4794-8538-BDA682E7AD54}" type="slidenum">
              <a:rPr lang="en-US"/>
              <a:pPr/>
              <a:t>13</a:t>
            </a:fld>
            <a:endParaRPr lang="en-US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560231" y="1783556"/>
            <a:ext cx="822960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2800" dirty="0"/>
              <a:t>An equivalent circuit is one whose </a:t>
            </a:r>
            <a:r>
              <a:rPr lang="en-US" sz="2800" i="1" dirty="0"/>
              <a:t>v-i</a:t>
            </a:r>
            <a:r>
              <a:rPr lang="en-US" sz="2800" dirty="0"/>
              <a:t> characteristics are identical with the original </a:t>
            </a:r>
            <a:r>
              <a:rPr lang="en-US" sz="2800" dirty="0" smtClean="0"/>
              <a:t>circuit.</a:t>
            </a:r>
            <a:endParaRPr lang="en-US" sz="2800" dirty="0"/>
          </a:p>
          <a:p>
            <a:pPr marL="342900" indent="-342900">
              <a:buFontTx/>
              <a:buChar char="•"/>
            </a:pPr>
            <a:endParaRPr lang="en-US" dirty="0"/>
          </a:p>
          <a:p>
            <a:pPr marL="342900" indent="-342900">
              <a:buFontTx/>
              <a:buChar char="•"/>
            </a:pPr>
            <a:r>
              <a:rPr lang="en-US" sz="2800" dirty="0"/>
              <a:t>It</a:t>
            </a:r>
            <a:r>
              <a:rPr lang="en-US" sz="2800" b="1" dirty="0"/>
              <a:t> </a:t>
            </a:r>
            <a:r>
              <a:rPr lang="en-US" sz="2800" dirty="0"/>
              <a:t>is the process of replacing </a:t>
            </a:r>
            <a:r>
              <a:rPr lang="en-US" sz="2800" u="sng" dirty="0">
                <a:solidFill>
                  <a:srgbClr val="FF3300"/>
                </a:solidFill>
              </a:rPr>
              <a:t>a voltage source </a:t>
            </a:r>
            <a:r>
              <a:rPr lang="en-US" sz="2800" i="1" dirty="0" err="1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i="1" baseline="-25000" dirty="0" err="1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i="1" u="sng" dirty="0" smtClean="0">
                <a:solidFill>
                  <a:srgbClr val="FF3300"/>
                </a:solidFill>
              </a:rPr>
              <a:t> </a:t>
            </a:r>
            <a:r>
              <a:rPr lang="en-US" sz="2800" u="sng" dirty="0">
                <a:solidFill>
                  <a:srgbClr val="FF3300"/>
                </a:solidFill>
              </a:rPr>
              <a:t>in series with a resistor </a:t>
            </a:r>
            <a:r>
              <a:rPr lang="en-US" sz="2800" i="1" u="sng" dirty="0">
                <a:solidFill>
                  <a:srgbClr val="FF3300"/>
                </a:solidFill>
              </a:rPr>
              <a:t>R</a:t>
            </a:r>
            <a:r>
              <a:rPr lang="en-US" sz="2800" i="1" dirty="0"/>
              <a:t> </a:t>
            </a:r>
            <a:r>
              <a:rPr lang="en-US" sz="2800" dirty="0"/>
              <a:t>by a </a:t>
            </a:r>
            <a:r>
              <a:rPr lang="en-US" sz="2800" u="sng" dirty="0">
                <a:solidFill>
                  <a:srgbClr val="FF3300"/>
                </a:solidFill>
              </a:rPr>
              <a:t>current source </a:t>
            </a:r>
            <a:r>
              <a:rPr lang="en-US" sz="2800" i="1" dirty="0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25000" dirty="0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i="1" u="sng" dirty="0" smtClean="0">
                <a:solidFill>
                  <a:srgbClr val="FF3300"/>
                </a:solidFill>
              </a:rPr>
              <a:t> </a:t>
            </a:r>
            <a:r>
              <a:rPr lang="en-US" sz="2800" u="sng" dirty="0">
                <a:solidFill>
                  <a:srgbClr val="FF3300"/>
                </a:solidFill>
              </a:rPr>
              <a:t>in parallel with a resistor </a:t>
            </a:r>
            <a:r>
              <a:rPr lang="en-US" sz="2800" i="1" u="sng" dirty="0">
                <a:solidFill>
                  <a:srgbClr val="FF3300"/>
                </a:solidFill>
              </a:rPr>
              <a:t>R</a:t>
            </a:r>
            <a:r>
              <a:rPr lang="en-US" sz="2800" dirty="0">
                <a:solidFill>
                  <a:srgbClr val="FF3300"/>
                </a:solidFill>
              </a:rPr>
              <a:t>,</a:t>
            </a:r>
            <a:r>
              <a:rPr lang="en-US" sz="2800" dirty="0"/>
              <a:t> or vice versa.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06062" y="228599"/>
            <a:ext cx="8937938" cy="134504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4 L#2:  </a:t>
            </a:r>
          </a:p>
          <a:p>
            <a:r>
              <a:rPr lang="en-US" sz="4800" dirty="0" smtClean="0"/>
              <a:t>4.4 Source Transformations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 descr="ale29559_0401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2"/>
          <a:stretch/>
        </p:blipFill>
        <p:spPr bwMode="auto">
          <a:xfrm>
            <a:off x="203202" y="4009165"/>
            <a:ext cx="5717862" cy="1554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" descr="ale29559_0401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2"/>
          <a:stretch/>
        </p:blipFill>
        <p:spPr bwMode="auto">
          <a:xfrm>
            <a:off x="223974" y="1375776"/>
            <a:ext cx="5697090" cy="159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BA2EF-4AF6-46F6-97D5-85C41134F5C6}" type="slidenum">
              <a:rPr lang="en-US"/>
              <a:pPr/>
              <a:t>14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37177" y="257576"/>
            <a:ext cx="8243887" cy="773695"/>
          </a:xfrm>
        </p:spPr>
        <p:txBody>
          <a:bodyPr/>
          <a:lstStyle/>
          <a:p>
            <a:r>
              <a:rPr lang="en-US" sz="4000" dirty="0"/>
              <a:t>4.4 Source </a:t>
            </a:r>
            <a:r>
              <a:rPr lang="en-US" sz="4000" dirty="0" smtClean="0"/>
              <a:t>Transformation</a:t>
            </a:r>
            <a:endParaRPr lang="en-US" sz="4000" dirty="0"/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1346200" y="3244850"/>
            <a:ext cx="3575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dirty="0">
                <a:latin typeface="TimesNewRoman,Bold" charset="0"/>
                <a:cs typeface="Times New Roman" pitchFamily="18" charset="0"/>
              </a:rPr>
              <a:t>(a) Independent source transform</a:t>
            </a:r>
            <a:endParaRPr lang="en-US" sz="1700" dirty="0"/>
          </a:p>
          <a:p>
            <a:endParaRPr lang="en-US" dirty="0">
              <a:latin typeface="Arial" pitchFamily="34" charset="0"/>
            </a:endParaRPr>
          </a:p>
        </p:txBody>
      </p:sp>
      <p:sp>
        <p:nvSpPr>
          <p:cNvPr id="122887" name="Rectangle 7"/>
          <p:cNvSpPr>
            <a:spLocks noChangeArrowheads="1"/>
          </p:cNvSpPr>
          <p:nvPr/>
        </p:nvSpPr>
        <p:spPr bwMode="auto">
          <a:xfrm>
            <a:off x="1422400" y="5638800"/>
            <a:ext cx="3422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>
                <a:latin typeface="TimesNewRoman,Bold" charset="0"/>
                <a:cs typeface="Times New Roman" pitchFamily="18" charset="0"/>
              </a:rPr>
              <a:t>(b) Dependent source transform</a:t>
            </a:r>
            <a:endParaRPr lang="en-US" sz="2800">
              <a:latin typeface="Arial" pitchFamily="34" charset="0"/>
            </a:endParaRP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6023022" y="1767681"/>
            <a:ext cx="28956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28600">
              <a:buFontTx/>
              <a:buChar char="•"/>
              <a:tabLst>
                <a:tab pos="228600" algn="l"/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The arrow of the    	current source is 	directed toward 	the positive 	terminal of the 	voltage source.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 indent="228600">
              <a:buFontTx/>
              <a:buChar char="•"/>
              <a:tabLst>
                <a:tab pos="228600" algn="l"/>
                <a:tab pos="457200" algn="l"/>
              </a:tabLst>
            </a:pPr>
            <a:r>
              <a:rPr lang="en-US" sz="2000" dirty="0"/>
              <a:t>The source 	transformation is 	not possible when 	R = 0 for voltage 	source and R = ∞ 	for current source.</a:t>
            </a:r>
            <a:r>
              <a:rPr lang="en-US" dirty="0"/>
              <a:t> </a:t>
            </a:r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5439180" y="1391561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2134137" y="138865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5426301" y="3999963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2138967" y="3999963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2896" name="Text Box 16"/>
          <p:cNvSpPr txBox="1">
            <a:spLocks noChangeArrowheads="1"/>
          </p:cNvSpPr>
          <p:nvPr/>
        </p:nvSpPr>
        <p:spPr bwMode="auto">
          <a:xfrm>
            <a:off x="5477817" y="2761154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2161505" y="2761154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5489622" y="5309316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122899" name="Text Box 19"/>
          <p:cNvSpPr txBox="1">
            <a:spLocks noChangeArrowheads="1"/>
          </p:cNvSpPr>
          <p:nvPr/>
        </p:nvSpPr>
        <p:spPr bwMode="auto">
          <a:xfrm>
            <a:off x="2207652" y="5309316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74012" y="2195429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Z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12" y="2195429"/>
                <a:ext cx="109677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83852" y="2097421"/>
                <a:ext cx="942566" cy="565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Z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52" y="2097421"/>
                <a:ext cx="942566" cy="5653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ale29559_040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2"/>
          <a:stretch/>
        </p:blipFill>
        <p:spPr bwMode="auto">
          <a:xfrm>
            <a:off x="223973" y="1375775"/>
            <a:ext cx="6798179" cy="190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BA2EF-4AF6-46F6-97D5-85C41134F5C6}" type="slidenum">
              <a:rPr lang="en-US"/>
              <a:pPr/>
              <a:t>15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37177" y="257576"/>
            <a:ext cx="8243887" cy="1118199"/>
          </a:xfrm>
        </p:spPr>
        <p:txBody>
          <a:bodyPr/>
          <a:lstStyle/>
          <a:p>
            <a:r>
              <a:rPr lang="en-US" sz="3200" dirty="0"/>
              <a:t>4.4 Source </a:t>
            </a:r>
            <a:r>
              <a:rPr lang="en-US" sz="3200" dirty="0" smtClean="0"/>
              <a:t>Transformation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From a Load’s perspective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1041401" y="3561671"/>
            <a:ext cx="595946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>
              <a:tabLst>
                <a:tab pos="228600" algn="l"/>
                <a:tab pos="457200" algn="l"/>
              </a:tabLst>
            </a:pPr>
            <a:r>
              <a:rPr lang="en-US" sz="2000" dirty="0" smtClean="0"/>
              <a:t>A load connected between terminals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a-b</a:t>
            </a:r>
            <a:r>
              <a:rPr lang="en-US" sz="2000" dirty="0" smtClean="0"/>
              <a:t> will not know the difference.  The load will see the same voltage and conduct the same current.</a:t>
            </a:r>
            <a:endParaRPr lang="en-US" dirty="0"/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6467469" y="1477328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2534348" y="1477328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22896" name="Text Box 16"/>
          <p:cNvSpPr txBox="1">
            <a:spLocks noChangeArrowheads="1"/>
          </p:cNvSpPr>
          <p:nvPr/>
        </p:nvSpPr>
        <p:spPr bwMode="auto">
          <a:xfrm>
            <a:off x="6528254" y="3020709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2579496" y="3042558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3300"/>
                </a:solidFill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74012" y="2328020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Z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12" y="2328020"/>
                <a:ext cx="109677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858618" y="2202055"/>
                <a:ext cx="942566" cy="565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Z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618" y="2202055"/>
                <a:ext cx="942566" cy="56534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 bwMode="auto">
          <a:xfrm>
            <a:off x="2637660" y="2195429"/>
            <a:ext cx="250575" cy="663733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Load</a:t>
            </a:r>
          </a:p>
        </p:txBody>
      </p:sp>
      <p:cxnSp>
        <p:nvCxnSpPr>
          <p:cNvPr id="5" name="Straight Connector 4"/>
          <p:cNvCxnSpPr>
            <a:endCxn id="3" idx="0"/>
          </p:cNvCxnSpPr>
          <p:nvPr/>
        </p:nvCxnSpPr>
        <p:spPr bwMode="auto">
          <a:xfrm>
            <a:off x="2762947" y="1985963"/>
            <a:ext cx="1" cy="20946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>
            <a:stCxn id="3" idx="2"/>
          </p:cNvCxnSpPr>
          <p:nvPr/>
        </p:nvCxnSpPr>
        <p:spPr bwMode="auto">
          <a:xfrm flipH="1">
            <a:off x="2758884" y="2859162"/>
            <a:ext cx="4064" cy="2507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>
            <a:off x="6705219" y="1985328"/>
            <a:ext cx="1" cy="20946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H="1">
            <a:off x="6701156" y="2858527"/>
            <a:ext cx="4064" cy="2507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 bwMode="auto">
          <a:xfrm>
            <a:off x="6572718" y="2186634"/>
            <a:ext cx="250575" cy="663733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14370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4656" y="114300"/>
            <a:ext cx="877044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4.5: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Use source transformation and determine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 descr="ale29559_0401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5"/>
          <a:stretch/>
        </p:blipFill>
        <p:spPr bwMode="auto">
          <a:xfrm>
            <a:off x="2121710" y="579288"/>
            <a:ext cx="5646738" cy="155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ight Arrow 13"/>
          <p:cNvSpPr/>
          <p:nvPr/>
        </p:nvSpPr>
        <p:spPr bwMode="auto">
          <a:xfrm rot="5400000">
            <a:off x="2928308" y="3283892"/>
            <a:ext cx="273428" cy="99665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ight Arrow 15"/>
          <p:cNvSpPr/>
          <p:nvPr/>
        </p:nvSpPr>
        <p:spPr bwMode="auto">
          <a:xfrm rot="7369370" flipH="1">
            <a:off x="3761197" y="4533400"/>
            <a:ext cx="2397038" cy="294506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19348" y="1911022"/>
            <a:ext cx="4380199" cy="1724319"/>
            <a:chOff x="347923" y="1911022"/>
            <a:chExt cx="4380199" cy="1724319"/>
          </a:xfrm>
        </p:grpSpPr>
        <p:pic>
          <p:nvPicPr>
            <p:cNvPr id="133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923" y="2212941"/>
              <a:ext cx="3947161" cy="142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Rectangle 7"/>
            <p:cNvSpPr/>
            <p:nvPr/>
          </p:nvSpPr>
          <p:spPr bwMode="auto">
            <a:xfrm>
              <a:off x="1779112" y="1911022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 V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682974" y="2762216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836315" y="2762216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3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331437" y="2696625"/>
              <a:ext cx="544988" cy="4550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6//3 = 2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183134" y="2610900"/>
              <a:ext cx="544988" cy="4550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1+4= 5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2127529" y="2683114"/>
              <a:ext cx="544988" cy="4550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758052" y="2428875"/>
              <a:ext cx="272494" cy="3259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i="1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1600" i="1" baseline="-250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1600" b="0" i="1" u="none" strike="noStrike" cap="none" normalizeH="0" baseline="-25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>
              <a:off x="2743200" y="2476500"/>
              <a:ext cx="0" cy="2761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49781" y="3715389"/>
            <a:ext cx="4283075" cy="1657972"/>
            <a:chOff x="4803775" y="2666966"/>
            <a:chExt cx="4283075" cy="1657972"/>
          </a:xfrm>
        </p:grpSpPr>
        <p:pic>
          <p:nvPicPr>
            <p:cNvPr id="13312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775" y="2910630"/>
              <a:ext cx="3924704" cy="1414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" name="Rectangle 25"/>
            <p:cNvSpPr/>
            <p:nvPr/>
          </p:nvSpPr>
          <p:spPr bwMode="auto">
            <a:xfrm>
              <a:off x="5150199" y="3408924"/>
              <a:ext cx="555276" cy="42438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ZA" sz="16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 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2 = 10 V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236687" y="2752691"/>
              <a:ext cx="544988" cy="3227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2 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6575704" y="3383910"/>
              <a:ext cx="544988" cy="4550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206227" y="3129671"/>
              <a:ext cx="272494" cy="3259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i="1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1600" i="1" baseline="-250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1600" b="0" i="1" u="none" strike="noStrike" cap="none" normalizeH="0" baseline="-25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7191375" y="3177296"/>
              <a:ext cx="0" cy="2761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 bwMode="auto">
            <a:xfrm>
              <a:off x="7242668" y="3447657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3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8541862" y="3437498"/>
              <a:ext cx="544988" cy="3614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6189134" y="2666966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 V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78382" y="5309197"/>
            <a:ext cx="3705402" cy="1552969"/>
            <a:chOff x="347924" y="3620426"/>
            <a:chExt cx="3705402" cy="1552969"/>
          </a:xfrm>
        </p:grpSpPr>
        <p:pic>
          <p:nvPicPr>
            <p:cNvPr id="13312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812" y="3785049"/>
              <a:ext cx="2811400" cy="1388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" name="Rectangle 33"/>
            <p:cNvSpPr/>
            <p:nvPr/>
          </p:nvSpPr>
          <p:spPr bwMode="auto">
            <a:xfrm>
              <a:off x="1599330" y="4223091"/>
              <a:ext cx="544988" cy="4550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 bwMode="auto">
            <a:xfrm>
              <a:off x="2215001" y="4016477"/>
              <a:ext cx="0" cy="2761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 bwMode="auto">
            <a:xfrm>
              <a:off x="2266294" y="4286838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3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3508338" y="4286204"/>
              <a:ext cx="544988" cy="3614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47924" y="4268872"/>
              <a:ext cx="558888" cy="38886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 + 10 = 15V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331437" y="3620426"/>
              <a:ext cx="544988" cy="3227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2 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236312" y="3956205"/>
              <a:ext cx="272494" cy="3259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i="1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1600" i="1" baseline="-250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1600" b="0" i="1" u="none" strike="noStrike" cap="none" normalizeH="0" baseline="-25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94590" y="2457919"/>
            <a:ext cx="4130578" cy="1387476"/>
            <a:chOff x="4211710" y="4360595"/>
            <a:chExt cx="4130578" cy="1387476"/>
          </a:xfrm>
        </p:grpSpPr>
        <p:pic>
          <p:nvPicPr>
            <p:cNvPr id="13312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775" y="4360595"/>
              <a:ext cx="3237444" cy="1387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" name="Rectangle 40"/>
            <p:cNvSpPr/>
            <p:nvPr/>
          </p:nvSpPr>
          <p:spPr bwMode="auto">
            <a:xfrm>
              <a:off x="5926392" y="4726382"/>
              <a:ext cx="544988" cy="2293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6503963" y="4579846"/>
              <a:ext cx="0" cy="2761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 bwMode="auto">
            <a:xfrm>
              <a:off x="6555256" y="4850207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3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7797300" y="4849573"/>
              <a:ext cx="544988" cy="3614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5 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6526778" y="4503743"/>
              <a:ext cx="272494" cy="3259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i="1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1600" i="1" baseline="-250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1600" b="0" i="1" u="none" strike="noStrike" cap="none" normalizeH="0" baseline="-25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5686425" y="5013976"/>
              <a:ext cx="544988" cy="3227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2 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4211710" y="4695093"/>
              <a:ext cx="760993" cy="4270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15/2= 7.5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559883" y="4148374"/>
            <a:ext cx="2786411" cy="1341705"/>
            <a:chOff x="1738663" y="5328042"/>
            <a:chExt cx="2786411" cy="1341705"/>
          </a:xfrm>
        </p:grpSpPr>
        <p:pic>
          <p:nvPicPr>
            <p:cNvPr id="133127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123" y="5328042"/>
              <a:ext cx="1754537" cy="13417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" name="Rectangle 48"/>
            <p:cNvSpPr/>
            <p:nvPr/>
          </p:nvSpPr>
          <p:spPr bwMode="auto">
            <a:xfrm>
              <a:off x="1738663" y="5646813"/>
              <a:ext cx="760993" cy="4270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7.5+3=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10.5 A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3980086" y="5844469"/>
              <a:ext cx="544988" cy="2293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7 </a:t>
              </a:r>
              <a:r>
                <a:rPr lang="en-ZA" sz="16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 bwMode="auto">
            <a:xfrm>
              <a:off x="4093518" y="5524585"/>
              <a:ext cx="0" cy="2761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 bwMode="auto">
            <a:xfrm>
              <a:off x="4116333" y="5448482"/>
              <a:ext cx="272494" cy="3259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i="1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1600" i="1" baseline="-250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1600" b="0" i="1" u="none" strike="noStrike" cap="none" normalizeH="0" baseline="-25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 bwMode="auto">
                <a:xfrm>
                  <a:off x="3354761" y="5662680"/>
                  <a:ext cx="544988" cy="455032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ZA" sz="16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5//2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  <m:t>7</m:t>
                          </m:r>
                        </m:den>
                      </m:f>
                    </m:oMath>
                  </a14:m>
                  <a:r>
                    <a:rPr lang="en-ZA" sz="16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 </a:t>
                  </a:r>
                  <a:r>
                    <a:rPr lang="en-ZA" sz="16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  <a:sym typeface="Symbol"/>
                    </a:rPr>
                    <a:t></a:t>
                  </a:r>
                  <a:endParaRPr kumimoji="0" lang="en-ZA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54761" y="5662680"/>
                  <a:ext cx="544988" cy="4550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6667" t="-37333" r="-25556" b="-37333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Right Arrow 59"/>
          <p:cNvSpPr/>
          <p:nvPr/>
        </p:nvSpPr>
        <p:spPr bwMode="auto">
          <a:xfrm rot="5400000">
            <a:off x="2909633" y="4940158"/>
            <a:ext cx="273428" cy="99665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1" name="Right Arrow 60"/>
          <p:cNvSpPr/>
          <p:nvPr/>
        </p:nvSpPr>
        <p:spPr bwMode="auto">
          <a:xfrm rot="5400000">
            <a:off x="7078584" y="3452891"/>
            <a:ext cx="273428" cy="99665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959716" y="5531595"/>
                <a:ext cx="3607526" cy="938719"/>
              </a:xfrm>
              <a:prstGeom prst="rect">
                <a:avLst/>
              </a:prstGeom>
              <a:noFill/>
              <a:ln>
                <a:solidFill>
                  <a:srgbClr val="FF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33CC"/>
                          </a:solidFill>
                          <a:latin typeface="Cambria Math"/>
                        </a:rPr>
                        <m:t>=10.5</m:t>
                      </m:r>
                      <m:r>
                        <a:rPr lang="en-ZA" sz="2000" b="0" i="1" smtClean="0">
                          <a:solidFill>
                            <a:srgbClr val="0033CC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ZA" sz="2000" b="0" i="1" smtClean="0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000" b="0" i="1" smtClean="0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ZA" sz="2000" b="0" i="1" smtClean="0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</m:num>
                        <m:den>
                          <m:r>
                            <a:rPr lang="en-ZA" sz="2000" b="0" i="1" smtClea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7+</m:t>
                          </m:r>
                          <m:f>
                            <m:fPr>
                              <m:type m:val="skw"/>
                              <m:ctrlPr>
                                <a:rPr lang="en-ZA" sz="2000" i="1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000" b="0" i="1" smtClean="0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ZA" sz="2000" b="0" i="1" smtClean="0">
                                  <a:solidFill>
                                    <a:srgbClr val="0033CC"/>
                                  </a:solidFill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</m:den>
                      </m:f>
                      <m:r>
                        <a:rPr lang="en-ZA" sz="2000" b="0" i="1" smtClean="0">
                          <a:solidFill>
                            <a:srgbClr val="0033CC"/>
                          </a:solidFill>
                          <a:latin typeface="Cambria Math"/>
                        </a:rPr>
                        <m:t>=1.78 </m:t>
                      </m:r>
                      <m:r>
                        <a:rPr lang="en-ZA" sz="2000" b="0" i="1" smtClean="0">
                          <a:solidFill>
                            <a:srgbClr val="0033CC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716" y="5531595"/>
                <a:ext cx="3607526" cy="93871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/>
          <p:cNvSpPr/>
          <p:nvPr/>
        </p:nvSpPr>
        <p:spPr bwMode="auto">
          <a:xfrm>
            <a:off x="2394204" y="927279"/>
            <a:ext cx="2189580" cy="130759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5" name="Rounded Rectangle 64"/>
          <p:cNvSpPr/>
          <p:nvPr/>
        </p:nvSpPr>
        <p:spPr bwMode="auto">
          <a:xfrm>
            <a:off x="6763479" y="927279"/>
            <a:ext cx="1094790" cy="130759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8" name="Rounded Rectangle 67"/>
          <p:cNvSpPr/>
          <p:nvPr/>
        </p:nvSpPr>
        <p:spPr bwMode="auto">
          <a:xfrm>
            <a:off x="242560" y="2273220"/>
            <a:ext cx="1060302" cy="130759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33121" name="Group 133120"/>
          <p:cNvGrpSpPr/>
          <p:nvPr/>
        </p:nvGrpSpPr>
        <p:grpSpPr>
          <a:xfrm>
            <a:off x="654399" y="4363814"/>
            <a:ext cx="1193451" cy="1637140"/>
            <a:chOff x="654399" y="4363814"/>
            <a:chExt cx="1193451" cy="1637140"/>
          </a:xfrm>
        </p:grpSpPr>
        <p:cxnSp>
          <p:nvCxnSpPr>
            <p:cNvPr id="58" name="Straight Arrow Connector 57"/>
            <p:cNvCxnSpPr/>
            <p:nvPr/>
          </p:nvCxnSpPr>
          <p:spPr bwMode="auto">
            <a:xfrm>
              <a:off x="654399" y="4819930"/>
              <a:ext cx="648463" cy="711665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 bwMode="auto">
            <a:xfrm flipH="1">
              <a:off x="1327681" y="4363814"/>
              <a:ext cx="520169" cy="1167781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 bwMode="auto">
            <a:xfrm>
              <a:off x="1327681" y="5556029"/>
              <a:ext cx="183619" cy="444925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8" name="Rounded Rectangle 77"/>
          <p:cNvSpPr/>
          <p:nvPr/>
        </p:nvSpPr>
        <p:spPr bwMode="auto">
          <a:xfrm>
            <a:off x="1437270" y="5575199"/>
            <a:ext cx="969613" cy="1155801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7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60" grpId="0" animBg="1"/>
      <p:bldP spid="61" grpId="0" animBg="1"/>
      <p:bldP spid="27" grpId="0" animBg="1"/>
      <p:bldP spid="55" grpId="0" animBg="1"/>
      <p:bldP spid="65" grpId="0" animBg="1"/>
      <p:bldP spid="68" grpId="0" animBg="1"/>
      <p:bldP spid="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" name="Picture 3" descr="ale29559_0401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5"/>
          <a:stretch/>
        </p:blipFill>
        <p:spPr bwMode="auto">
          <a:xfrm>
            <a:off x="1346354" y="579288"/>
            <a:ext cx="6402208" cy="175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656" y="114300"/>
            <a:ext cx="877044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4.5b: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Use nodal analysis and determine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841750" y="882650"/>
            <a:ext cx="1536700" cy="440596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467592" y="3139349"/>
            <a:ext cx="4679921" cy="1101426"/>
            <a:chOff x="467592" y="3139349"/>
            <a:chExt cx="4679921" cy="1101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086149" y="3572194"/>
                  <a:ext cx="3540777" cy="6685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den>
                        </m:f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−5+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−3+</m:t>
                        </m:r>
                        <m:f>
                          <m:f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149" y="3572194"/>
                  <a:ext cx="3540777" cy="66858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/>
            <p:cNvSpPr/>
            <p:nvPr/>
          </p:nvSpPr>
          <p:spPr>
            <a:xfrm>
              <a:off x="467592" y="3139349"/>
              <a:ext cx="33329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KCL @ </a:t>
              </a:r>
              <a:r>
                <a:rPr lang="en-ZA" sz="2400" b="1" dirty="0" err="1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Supernode</a:t>
              </a:r>
              <a:r>
                <a:rPr lang="en-ZA" sz="24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</a:t>
              </a:r>
              <a:endParaRPr lang="en-ZA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4762500" y="3714109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5216" y="2612530"/>
            <a:ext cx="6937152" cy="461666"/>
            <a:chOff x="505216" y="2612530"/>
            <a:chExt cx="6937152" cy="461666"/>
          </a:xfrm>
        </p:grpSpPr>
        <p:sp>
          <p:nvSpPr>
            <p:cNvPr id="17" name="Rectangle 16"/>
            <p:cNvSpPr/>
            <p:nvPr/>
          </p:nvSpPr>
          <p:spPr>
            <a:xfrm>
              <a:off x="505216" y="2612531"/>
              <a:ext cx="2169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dirty="0" err="1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Supernode</a:t>
              </a:r>
              <a:r>
                <a:rPr lang="en-ZA" sz="24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</a:t>
              </a:r>
              <a:endParaRPr lang="en-ZA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794023" y="2612530"/>
                  <a:ext cx="18109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=5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023" y="2612530"/>
                  <a:ext cx="1810945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762500" y="2612531"/>
                  <a:ext cx="20727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∴</m:t>
                        </m:r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−5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500" y="2612531"/>
                  <a:ext cx="2072747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19"/>
            <p:cNvSpPr/>
            <p:nvPr/>
          </p:nvSpPr>
          <p:spPr bwMode="auto">
            <a:xfrm>
              <a:off x="7057355" y="2650988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67592" y="4240775"/>
            <a:ext cx="6974776" cy="1677097"/>
            <a:chOff x="467592" y="4240775"/>
            <a:chExt cx="6974776" cy="1677097"/>
          </a:xfrm>
        </p:grpSpPr>
        <p:sp>
          <p:nvSpPr>
            <p:cNvPr id="13" name="Rectangle 12"/>
            <p:cNvSpPr/>
            <p:nvPr/>
          </p:nvSpPr>
          <p:spPr>
            <a:xfrm>
              <a:off x="467592" y="4302811"/>
              <a:ext cx="6158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x30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112750" y="4240775"/>
                  <a:ext cx="6329618" cy="493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5(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−5)</m:t>
                        </m:r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15</m:t>
                        </m:r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0+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−5)+</m:t>
                        </m:r>
                        <m:f>
                          <m:fPr>
                            <m:type m:val="skw"/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30</m:t>
                            </m:r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den>
                        </m:f>
                        <m:sSub>
                          <m:sSub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−90+</m:t>
                        </m:r>
                        <m:sSub>
                          <m:sSub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750" y="4240775"/>
                  <a:ext cx="6329618" cy="49340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124691" b="-191358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1022649" y="4701250"/>
                  <a:ext cx="6241452" cy="493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30</m:t>
                            </m:r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den>
                        </m:f>
                        <m:sSub>
                          <m:sSub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=+</m:t>
                        </m:r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25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150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+50+90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649" y="4701250"/>
                  <a:ext cx="6241452" cy="49340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124691" b="-191358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130081" y="5143052"/>
                  <a:ext cx="204940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25.286</m:t>
                        </m:r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=315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081" y="5143052"/>
                  <a:ext cx="2049407" cy="4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944396" y="5517762"/>
                  <a:ext cx="20646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∴</m:t>
                        </m:r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=12.457 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396" y="5517762"/>
                  <a:ext cx="2064668" cy="4001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216625" y="5767920"/>
                <a:ext cx="2356030" cy="6674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=1.78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25" y="5767920"/>
                <a:ext cx="2356030" cy="66742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1807687" y="734282"/>
            <a:ext cx="4687527" cy="1909086"/>
            <a:chOff x="1807687" y="734282"/>
            <a:chExt cx="4687527" cy="1909086"/>
          </a:xfrm>
        </p:grpSpPr>
        <p:sp>
          <p:nvSpPr>
            <p:cNvPr id="7" name="Rectangle 6"/>
            <p:cNvSpPr/>
            <p:nvPr/>
          </p:nvSpPr>
          <p:spPr bwMode="auto">
            <a:xfrm>
              <a:off x="2650649" y="734282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1600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kumimoji="0" lang="en-ZA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712101" y="769573"/>
              <a:ext cx="447675" cy="323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1600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kumimoji="0" lang="en-ZA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1807687" y="1079134"/>
              <a:ext cx="2335688" cy="61548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5125282" y="1072784"/>
              <a:ext cx="1369932" cy="61547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37218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088" y="2335530"/>
              <a:ext cx="360495" cy="307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880641" y="1058132"/>
                <a:ext cx="1062278" cy="6674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641" y="1058132"/>
                <a:ext cx="1062278" cy="66742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10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8770444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4.7: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Use source transformation and 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402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1"/>
          <a:stretch/>
        </p:blipFill>
        <p:spPr bwMode="auto">
          <a:xfrm>
            <a:off x="284656" y="637520"/>
            <a:ext cx="4713288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 bwMode="auto">
          <a:xfrm>
            <a:off x="2875430" y="913454"/>
            <a:ext cx="1794447" cy="156192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1144" y="762000"/>
            <a:ext cx="34671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b="1" dirty="0" smtClean="0">
                <a:solidFill>
                  <a:srgbClr val="FF0000"/>
                </a:solidFill>
              </a:rPr>
              <a:t>Very IMPORTANT:</a:t>
            </a:r>
          </a:p>
          <a:p>
            <a:r>
              <a:rPr lang="en-ZA" dirty="0" smtClean="0"/>
              <a:t>Do NOT transform the part of the circuit with the unknown variable!</a:t>
            </a:r>
            <a:endParaRPr lang="en-ZA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17" y="2540000"/>
            <a:ext cx="4186261" cy="1676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1" y="4216189"/>
            <a:ext cx="5201144" cy="2414485"/>
            <a:chOff x="125389" y="4216189"/>
            <a:chExt cx="5075755" cy="2282033"/>
          </a:xfrm>
        </p:grpSpPr>
        <p:pic>
          <p:nvPicPr>
            <p:cNvPr id="135172" name="Picture 4"/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41" y="4844839"/>
              <a:ext cx="5035303" cy="1653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5171" name="Picture 3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389" y="4216189"/>
              <a:ext cx="4772025" cy="628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5174" name="Picture 6"/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144" y="2348876"/>
            <a:ext cx="3942856" cy="1999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5175" name="Picture 7"/>
          <p:cNvPicPr>
            <a:picLocks noChangeAspect="1" noChangeArrowheads="1"/>
          </p:cNvPicPr>
          <p:nvPr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318" y="4348641"/>
            <a:ext cx="3841682" cy="165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 bwMode="auto">
          <a:xfrm>
            <a:off x="5226544" y="2235200"/>
            <a:ext cx="0" cy="4533900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4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3" y="3914039"/>
            <a:ext cx="5162249" cy="236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84656" y="114300"/>
            <a:ext cx="4579444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4.24:</a:t>
            </a:r>
            <a:r>
              <a:rPr lang="en-ZA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837838"/>
            <a:ext cx="3886200" cy="1565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 bwMode="auto">
          <a:xfrm>
            <a:off x="5226544" y="3914039"/>
            <a:ext cx="0" cy="2855061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6197" name="Picture 5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502" y="5403728"/>
            <a:ext cx="2889997" cy="1393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98488" y="2101493"/>
            <a:ext cx="6361112" cy="1736345"/>
            <a:chOff x="598488" y="2101493"/>
            <a:chExt cx="6361112" cy="1736345"/>
          </a:xfrm>
        </p:grpSpPr>
        <p:pic>
          <p:nvPicPr>
            <p:cNvPr id="136194" name="Picture 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488" y="2101493"/>
              <a:ext cx="6361112" cy="1736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Oval 14"/>
            <p:cNvSpPr/>
            <p:nvPr/>
          </p:nvSpPr>
          <p:spPr bwMode="auto">
            <a:xfrm>
              <a:off x="2595349" y="2525007"/>
              <a:ext cx="137190" cy="13719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5012056" y="2525007"/>
              <a:ext cx="137190" cy="137190"/>
            </a:xfrm>
            <a:prstGeom prst="ellipse">
              <a:avLst/>
            </a:prstGeom>
            <a:solidFill>
              <a:srgbClr val="0033CC"/>
            </a:solidFill>
            <a:ln w="952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012056" y="3670430"/>
              <a:ext cx="137190" cy="13719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775200" y="1"/>
            <a:ext cx="4368800" cy="2260471"/>
            <a:chOff x="4775200" y="1"/>
            <a:chExt cx="4368800" cy="2260471"/>
          </a:xfrm>
        </p:grpSpPr>
        <p:pic>
          <p:nvPicPr>
            <p:cNvPr id="4" name="Picture 3" descr="ale29559_04092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18"/>
            <a:stretch/>
          </p:blipFill>
          <p:spPr bwMode="auto">
            <a:xfrm>
              <a:off x="4775200" y="1"/>
              <a:ext cx="4368800" cy="2201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Oval 11"/>
            <p:cNvSpPr/>
            <p:nvPr/>
          </p:nvSpPr>
          <p:spPr bwMode="auto">
            <a:xfrm>
              <a:off x="6924676" y="1084827"/>
              <a:ext cx="137190" cy="13719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975601" y="1084827"/>
              <a:ext cx="137190" cy="137190"/>
            </a:xfrm>
            <a:prstGeom prst="ellipse">
              <a:avLst/>
            </a:prstGeom>
            <a:solidFill>
              <a:srgbClr val="0033CC"/>
            </a:solidFill>
            <a:ln w="952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975601" y="2123282"/>
              <a:ext cx="137190" cy="13719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76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ale29559_0402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6"/>
          <a:stretch/>
        </p:blipFill>
        <p:spPr bwMode="auto">
          <a:xfrm>
            <a:off x="5276073" y="1889125"/>
            <a:ext cx="3716131" cy="3983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8A89-B80E-4BA1-B334-C77A3A273BA0}" type="slidenum">
              <a:rPr lang="en-US"/>
              <a:pPr/>
              <a:t>20</a:t>
            </a:fld>
            <a:endParaRPr lang="en-US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457200" y="1889125"/>
            <a:ext cx="50292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/>
              <a:t>It states that a linear </a:t>
            </a:r>
            <a:r>
              <a:rPr lang="en-US" sz="2000" dirty="0" smtClean="0"/>
              <a:t>2-terminal </a:t>
            </a:r>
            <a:r>
              <a:rPr lang="en-US" sz="2000" dirty="0"/>
              <a:t>circuit (Fig. a) can be replaced by an equivalent circuit (Fig. b) consisting of </a:t>
            </a:r>
            <a:r>
              <a:rPr lang="en-US" sz="2000" dirty="0">
                <a:solidFill>
                  <a:srgbClr val="FF3300"/>
                </a:solidFill>
              </a:rPr>
              <a:t>a voltage source </a:t>
            </a:r>
            <a:r>
              <a:rPr lang="en-US" sz="2000" i="1" dirty="0">
                <a:solidFill>
                  <a:srgbClr val="FF3300"/>
                </a:solidFill>
              </a:rPr>
              <a:t>V</a:t>
            </a:r>
            <a:r>
              <a:rPr lang="en-US" sz="2000" i="1" baseline="-25000" dirty="0">
                <a:solidFill>
                  <a:srgbClr val="FF3300"/>
                </a:solidFill>
              </a:rPr>
              <a:t>TH</a:t>
            </a:r>
            <a:r>
              <a:rPr lang="en-US" sz="2000" i="1" dirty="0">
                <a:solidFill>
                  <a:srgbClr val="FF3300"/>
                </a:solidFill>
              </a:rPr>
              <a:t> </a:t>
            </a:r>
            <a:r>
              <a:rPr lang="en-US" sz="2000" dirty="0">
                <a:solidFill>
                  <a:srgbClr val="FF3300"/>
                </a:solidFill>
              </a:rPr>
              <a:t>in series with a resistor </a:t>
            </a:r>
            <a:r>
              <a:rPr lang="en-US" sz="2000" i="1" dirty="0">
                <a:solidFill>
                  <a:srgbClr val="FF3300"/>
                </a:solidFill>
              </a:rPr>
              <a:t>R</a:t>
            </a:r>
            <a:r>
              <a:rPr lang="en-US" sz="2000" i="1" baseline="-25000" dirty="0">
                <a:solidFill>
                  <a:srgbClr val="FF3300"/>
                </a:solidFill>
              </a:rPr>
              <a:t>TH</a:t>
            </a:r>
            <a:r>
              <a:rPr lang="en-US" sz="2000" dirty="0">
                <a:solidFill>
                  <a:srgbClr val="FF3300"/>
                </a:solidFill>
              </a:rPr>
              <a:t>, </a:t>
            </a:r>
          </a:p>
          <a:p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/>
              <a:t>where</a:t>
            </a:r>
          </a:p>
          <a:p>
            <a:endParaRPr lang="en-US" sz="2000" dirty="0"/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533400" y="4343400"/>
            <a:ext cx="5212773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i="1" dirty="0">
                <a:latin typeface="Verdana" pitchFamily="34" charset="0"/>
              </a:rPr>
              <a:t>V</a:t>
            </a:r>
            <a:r>
              <a:rPr lang="en-US" i="1" baseline="-25000" dirty="0">
                <a:latin typeface="Verdana" pitchFamily="34" charset="0"/>
              </a:rPr>
              <a:t>TH</a:t>
            </a:r>
            <a:r>
              <a:rPr lang="en-US" i="1" dirty="0">
                <a:latin typeface="Verdana" pitchFamily="34" charset="0"/>
              </a:rPr>
              <a:t> </a:t>
            </a:r>
            <a:r>
              <a:rPr lang="en-US" dirty="0">
                <a:latin typeface="Verdana" pitchFamily="34" charset="0"/>
              </a:rPr>
              <a:t>is the open-circuit voltage </a:t>
            </a:r>
            <a:r>
              <a:rPr lang="en-US" dirty="0" smtClean="0">
                <a:latin typeface="Verdana" pitchFamily="34" charset="0"/>
              </a:rPr>
              <a:t>(</a:t>
            </a:r>
            <a:r>
              <a:rPr lang="en-US" i="1" dirty="0" err="1" smtClean="0">
                <a:latin typeface="Verdana" pitchFamily="34" charset="0"/>
              </a:rPr>
              <a:t>V</a:t>
            </a:r>
            <a:r>
              <a:rPr lang="en-US" i="1" baseline="-25000" dirty="0" err="1" smtClean="0">
                <a:latin typeface="Verdana" pitchFamily="34" charset="0"/>
              </a:rPr>
              <a:t>oc</a:t>
            </a:r>
            <a:r>
              <a:rPr lang="en-US" dirty="0" smtClean="0">
                <a:latin typeface="Verdana" pitchFamily="34" charset="0"/>
              </a:rPr>
              <a:t>) at </a:t>
            </a:r>
            <a:r>
              <a:rPr lang="en-US" dirty="0">
                <a:latin typeface="Verdana" pitchFamily="34" charset="0"/>
              </a:rPr>
              <a:t>the terminals.</a:t>
            </a:r>
          </a:p>
          <a:p>
            <a:pPr lvl="1">
              <a:buFontTx/>
              <a:buChar char="•"/>
            </a:pPr>
            <a:endParaRPr lang="en-US" dirty="0">
              <a:latin typeface="Verdana" pitchFamily="34" charset="0"/>
            </a:endParaRPr>
          </a:p>
          <a:p>
            <a:pPr>
              <a:buFontTx/>
              <a:buChar char="•"/>
            </a:pPr>
            <a:r>
              <a:rPr lang="en-US" i="1" dirty="0">
                <a:latin typeface="Verdana" pitchFamily="34" charset="0"/>
              </a:rPr>
              <a:t>R</a:t>
            </a:r>
            <a:r>
              <a:rPr lang="en-US" i="1" baseline="-25000" dirty="0">
                <a:latin typeface="Verdana" pitchFamily="34" charset="0"/>
              </a:rPr>
              <a:t>TH </a:t>
            </a:r>
            <a:r>
              <a:rPr lang="en-US" dirty="0">
                <a:latin typeface="Verdana" pitchFamily="34" charset="0"/>
              </a:rPr>
              <a:t>is the input or equivalent resistance at the terminals when the independent sources are turned off.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06062" y="228599"/>
            <a:ext cx="8937938" cy="134504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4 L#3:  </a:t>
            </a:r>
          </a:p>
          <a:p>
            <a:r>
              <a:rPr lang="en-US" sz="4800" dirty="0" smtClean="0"/>
              <a:t>4.5 </a:t>
            </a:r>
            <a:r>
              <a:rPr lang="en-US" sz="4800" dirty="0" err="1" smtClean="0"/>
              <a:t>Thevenin’s</a:t>
            </a:r>
            <a:r>
              <a:rPr lang="en-US" sz="4800" dirty="0" smtClean="0"/>
              <a:t> Theorem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37177" y="257576"/>
            <a:ext cx="8243887" cy="1118199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4.5 </a:t>
            </a:r>
            <a:r>
              <a:rPr lang="en-US" sz="3200" dirty="0" err="1" smtClean="0"/>
              <a:t>Thevenin’s</a:t>
            </a:r>
            <a:r>
              <a:rPr lang="en-US" sz="3200" dirty="0" smtClean="0"/>
              <a:t> Theorem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How to determine </a:t>
            </a:r>
            <a:r>
              <a:rPr lang="en-US" sz="4000" dirty="0" err="1" smtClean="0">
                <a:solidFill>
                  <a:srgbClr val="FF0000"/>
                </a:solidFill>
              </a:rPr>
              <a:t>V</a:t>
            </a:r>
            <a:r>
              <a:rPr lang="en-US" sz="4000" baseline="-25000" dirty="0" err="1" smtClean="0">
                <a:solidFill>
                  <a:srgbClr val="FF0000"/>
                </a:solidFill>
              </a:rPr>
              <a:t>th</a:t>
            </a:r>
            <a:r>
              <a:rPr lang="en-US" sz="4000" dirty="0" smtClean="0">
                <a:solidFill>
                  <a:srgbClr val="FF0000"/>
                </a:solidFill>
              </a:rPr>
              <a:t> and </a:t>
            </a:r>
            <a:r>
              <a:rPr lang="en-US" sz="4000" dirty="0" err="1" smtClean="0">
                <a:solidFill>
                  <a:srgbClr val="FF0000"/>
                </a:solidFill>
              </a:rPr>
              <a:t>R</a:t>
            </a:r>
            <a:r>
              <a:rPr lang="en-US" sz="4000" baseline="-25000" dirty="0" err="1" smtClean="0">
                <a:solidFill>
                  <a:srgbClr val="FF0000"/>
                </a:solidFill>
              </a:rPr>
              <a:t>th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35" y="1837440"/>
            <a:ext cx="319087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37177" y="1375775"/>
            <a:ext cx="2885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u="sng" dirty="0" smtClean="0">
                <a:latin typeface="Verdana" pitchFamily="34" charset="0"/>
              </a:rPr>
              <a:t>To determine </a:t>
            </a:r>
            <a:r>
              <a:rPr lang="en-US" sz="2400" u="sng" dirty="0" err="1" smtClean="0">
                <a:latin typeface="Verdana" pitchFamily="34" charset="0"/>
              </a:rPr>
              <a:t>V</a:t>
            </a:r>
            <a:r>
              <a:rPr lang="en-US" sz="2400" u="sng" baseline="-25000" dirty="0" err="1" smtClean="0">
                <a:latin typeface="Verdana" pitchFamily="34" charset="0"/>
              </a:rPr>
              <a:t>th</a:t>
            </a:r>
            <a:r>
              <a:rPr lang="en-US" sz="2400" u="sng" dirty="0" smtClean="0">
                <a:latin typeface="Verdana" pitchFamily="34" charset="0"/>
              </a:rPr>
              <a:t>:</a:t>
            </a:r>
            <a:endParaRPr lang="en-US" sz="2400" u="sng" dirty="0">
              <a:latin typeface="Verdana" pitchFamily="34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456904" y="2656268"/>
            <a:ext cx="151434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971244" y="1479687"/>
            <a:ext cx="394093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Open Circuit Voltage.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Terminals a-b are terminals between which you want to determine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equivalent.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be anywhere in the circuit.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37177" y="3975161"/>
            <a:ext cx="2885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u="sng" dirty="0" smtClean="0">
                <a:latin typeface="Verdana" pitchFamily="34" charset="0"/>
              </a:rPr>
              <a:t>To determine </a:t>
            </a:r>
            <a:r>
              <a:rPr lang="en-US" sz="2400" u="sng" dirty="0" err="1" smtClean="0">
                <a:latin typeface="Verdana" pitchFamily="34" charset="0"/>
              </a:rPr>
              <a:t>R</a:t>
            </a:r>
            <a:r>
              <a:rPr lang="en-US" sz="2400" u="sng" baseline="-25000" dirty="0" err="1" smtClean="0">
                <a:latin typeface="Verdana" pitchFamily="34" charset="0"/>
              </a:rPr>
              <a:t>th</a:t>
            </a:r>
            <a:r>
              <a:rPr lang="en-US" sz="2400" u="sng" dirty="0" smtClean="0">
                <a:latin typeface="Verdana" pitchFamily="34" charset="0"/>
              </a:rPr>
              <a:t>:</a:t>
            </a:r>
            <a:endParaRPr lang="en-US" sz="2400" u="sng" dirty="0">
              <a:latin typeface="Verdana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994855" y="4436826"/>
            <a:ext cx="3940936" cy="15696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Method #1: </a:t>
            </a:r>
          </a:p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Zeroing of Sources:</a:t>
            </a: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circuit contains no dependent sources.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77" y="4436826"/>
            <a:ext cx="3960081" cy="2015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975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37177" y="257576"/>
            <a:ext cx="8243887" cy="1118199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4.5 </a:t>
            </a:r>
            <a:r>
              <a:rPr lang="en-US" sz="3200" dirty="0" err="1" smtClean="0"/>
              <a:t>Thevenin’s</a:t>
            </a:r>
            <a:r>
              <a:rPr lang="en-US" sz="3200" dirty="0" smtClean="0"/>
              <a:t> Theorem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How to determine </a:t>
            </a:r>
            <a:r>
              <a:rPr lang="en-US" sz="4000" dirty="0" err="1" smtClean="0">
                <a:solidFill>
                  <a:srgbClr val="FF0000"/>
                </a:solidFill>
              </a:rPr>
              <a:t>R</a:t>
            </a:r>
            <a:r>
              <a:rPr lang="en-US" sz="4000" baseline="-25000" dirty="0" err="1" smtClean="0">
                <a:solidFill>
                  <a:srgbClr val="FF0000"/>
                </a:solidFill>
              </a:rPr>
              <a:t>th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Case 2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48964" y="2878435"/>
            <a:ext cx="179463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 Sources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959179" y="1540936"/>
            <a:ext cx="5061398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Method #2: Application of test sources,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circuit does contain dependent sources.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3" descr="ale29559_0402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2" t="2325" r="5765"/>
          <a:stretch/>
        </p:blipFill>
        <p:spPr bwMode="auto">
          <a:xfrm>
            <a:off x="154545" y="1272744"/>
            <a:ext cx="3649911" cy="539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Connector 12"/>
          <p:cNvCxnSpPr/>
          <p:nvPr/>
        </p:nvCxnSpPr>
        <p:spPr bwMode="auto">
          <a:xfrm>
            <a:off x="671513" y="2252663"/>
            <a:ext cx="107632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633413" y="2786063"/>
            <a:ext cx="37147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437177" y="2509838"/>
            <a:ext cx="63438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auto">
          <a:xfrm>
            <a:off x="671513" y="4919663"/>
            <a:ext cx="107632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>
            <a:off x="633413" y="5453063"/>
            <a:ext cx="37147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 bwMode="auto">
          <a:xfrm>
            <a:off x="437177" y="5176838"/>
            <a:ext cx="63438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 bwMode="auto">
          <a:xfrm>
            <a:off x="1004888" y="3009900"/>
            <a:ext cx="1154112" cy="66040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1071563" y="5638800"/>
            <a:ext cx="1154112" cy="66040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23" name="Straight Arrow Connector 22"/>
          <p:cNvCxnSpPr>
            <a:stCxn id="9" idx="1"/>
          </p:cNvCxnSpPr>
          <p:nvPr/>
        </p:nvCxnSpPr>
        <p:spPr bwMode="auto">
          <a:xfrm flipH="1" flipV="1">
            <a:off x="3492500" y="2509838"/>
            <a:ext cx="656464" cy="59943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1"/>
          </p:cNvCxnSpPr>
          <p:nvPr/>
        </p:nvCxnSpPr>
        <p:spPr bwMode="auto">
          <a:xfrm flipH="1">
            <a:off x="3378200" y="3109268"/>
            <a:ext cx="770764" cy="16278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4148964" y="3473438"/>
            <a:ext cx="461403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MUCHO IMPORTANTE:</a:t>
            </a: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cannot turn off dependent sources as they are controlled by circuit variables.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66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4-8: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457200" indent="-457200">
              <a:buAutoNum type="alphaLcParenR"/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equivalent circuit to the left of terminals a-b. </a:t>
            </a:r>
          </a:p>
          <a:p>
            <a:pPr marL="457200" indent="-457200">
              <a:buAutoNum type="alphaLcParenR"/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I.</a:t>
            </a:r>
            <a:endParaRPr lang="en-ZA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403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5"/>
          <a:stretch/>
        </p:blipFill>
        <p:spPr bwMode="auto">
          <a:xfrm>
            <a:off x="4524557" y="114300"/>
            <a:ext cx="4479743" cy="1984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9345" y="4807572"/>
                <a:ext cx="2624308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−18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45" y="4807572"/>
                <a:ext cx="2624308" cy="6705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05" y="2559557"/>
            <a:ext cx="3164680" cy="1470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oup 28"/>
          <p:cNvGrpSpPr/>
          <p:nvPr/>
        </p:nvGrpSpPr>
        <p:grpSpPr>
          <a:xfrm>
            <a:off x="1840845" y="2477881"/>
            <a:ext cx="407507" cy="1736605"/>
            <a:chOff x="1840845" y="2477881"/>
            <a:chExt cx="407507" cy="1736605"/>
          </a:xfrm>
        </p:grpSpPr>
        <p:sp>
          <p:nvSpPr>
            <p:cNvPr id="7" name="Rectangle 6"/>
            <p:cNvSpPr/>
            <p:nvPr/>
          </p:nvSpPr>
          <p:spPr bwMode="auto">
            <a:xfrm>
              <a:off x="1840845" y="2477881"/>
              <a:ext cx="407507" cy="2872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000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1964817" y="2763452"/>
              <a:ext cx="124880" cy="12169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612" y="3941415"/>
              <a:ext cx="328149" cy="273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2200" y="4048983"/>
                <a:ext cx="2530052" cy="674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𝑎𝑏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4+6</m:t>
                          </m:r>
                        </m:den>
                      </m:f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0" y="4048983"/>
                <a:ext cx="2530052" cy="67460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8044" y="5503019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x30: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9244" y="5491291"/>
                <a:ext cx="30069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−90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9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0+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44" y="5491291"/>
                <a:ext cx="3006913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9105" y="5901213"/>
                <a:ext cx="15546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=22.5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05" y="5901213"/>
                <a:ext cx="1554656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69834" y="4048983"/>
                <a:ext cx="2355453" cy="674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=22.5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4+6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=9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834" y="4048983"/>
                <a:ext cx="2355453" cy="674608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 bwMode="auto">
          <a:xfrm>
            <a:off x="4123828" y="4539198"/>
            <a:ext cx="80145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114549" y="4638675"/>
            <a:ext cx="1520523" cy="1447800"/>
          </a:xfrm>
          <a:custGeom>
            <a:avLst/>
            <a:gdLst>
              <a:gd name="connsiteX0" fmla="*/ 0 w 1695450"/>
              <a:gd name="connsiteY0" fmla="*/ 1371600 h 1371600"/>
              <a:gd name="connsiteX1" fmla="*/ 1695450 w 1695450"/>
              <a:gd name="connsiteY1" fmla="*/ 1304925 h 1371600"/>
              <a:gd name="connsiteX2" fmla="*/ 1685925 w 1695450"/>
              <a:gd name="connsiteY2" fmla="*/ 352425 h 1371600"/>
              <a:gd name="connsiteX3" fmla="*/ 619125 w 1695450"/>
              <a:gd name="connsiteY3" fmla="*/ 0 h 1371600"/>
              <a:gd name="connsiteX0" fmla="*/ 0 w 1695450"/>
              <a:gd name="connsiteY0" fmla="*/ 1371600 h 1395506"/>
              <a:gd name="connsiteX1" fmla="*/ 1695450 w 1695450"/>
              <a:gd name="connsiteY1" fmla="*/ 1304925 h 1395506"/>
              <a:gd name="connsiteX2" fmla="*/ 1685925 w 1695450"/>
              <a:gd name="connsiteY2" fmla="*/ 352425 h 1395506"/>
              <a:gd name="connsiteX3" fmla="*/ 619125 w 1695450"/>
              <a:gd name="connsiteY3" fmla="*/ 0 h 1395506"/>
              <a:gd name="connsiteX0" fmla="*/ 0 w 1695450"/>
              <a:gd name="connsiteY0" fmla="*/ 1371600 h 1395506"/>
              <a:gd name="connsiteX1" fmla="*/ 1695450 w 1695450"/>
              <a:gd name="connsiteY1" fmla="*/ 1304925 h 1395506"/>
              <a:gd name="connsiteX2" fmla="*/ 1685925 w 1695450"/>
              <a:gd name="connsiteY2" fmla="*/ 352425 h 1395506"/>
              <a:gd name="connsiteX3" fmla="*/ 619125 w 1695450"/>
              <a:gd name="connsiteY3" fmla="*/ 0 h 1395506"/>
              <a:gd name="connsiteX0" fmla="*/ 0 w 1866206"/>
              <a:gd name="connsiteY0" fmla="*/ 1371600 h 1395506"/>
              <a:gd name="connsiteX1" fmla="*/ 1695450 w 1866206"/>
              <a:gd name="connsiteY1" fmla="*/ 1304925 h 1395506"/>
              <a:gd name="connsiteX2" fmla="*/ 1685925 w 1866206"/>
              <a:gd name="connsiteY2" fmla="*/ 352425 h 1395506"/>
              <a:gd name="connsiteX3" fmla="*/ 619125 w 1866206"/>
              <a:gd name="connsiteY3" fmla="*/ 0 h 1395506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769316"/>
              <a:gd name="connsiteY0" fmla="*/ 1371600 h 1371600"/>
              <a:gd name="connsiteX1" fmla="*/ 1695450 w 1769316"/>
              <a:gd name="connsiteY1" fmla="*/ 1085850 h 1371600"/>
              <a:gd name="connsiteX2" fmla="*/ 1381125 w 1769316"/>
              <a:gd name="connsiteY2" fmla="*/ 295275 h 1371600"/>
              <a:gd name="connsiteX3" fmla="*/ 619125 w 1769316"/>
              <a:gd name="connsiteY3" fmla="*/ 0 h 1371600"/>
              <a:gd name="connsiteX0" fmla="*/ 0 w 1769316"/>
              <a:gd name="connsiteY0" fmla="*/ 1447800 h 1447800"/>
              <a:gd name="connsiteX1" fmla="*/ 1695450 w 1769316"/>
              <a:gd name="connsiteY1" fmla="*/ 1162050 h 1447800"/>
              <a:gd name="connsiteX2" fmla="*/ 1381125 w 1769316"/>
              <a:gd name="connsiteY2" fmla="*/ 371475 h 1447800"/>
              <a:gd name="connsiteX3" fmla="*/ 619125 w 1769316"/>
              <a:gd name="connsiteY3" fmla="*/ 0 h 1447800"/>
              <a:gd name="connsiteX0" fmla="*/ 0 w 1646508"/>
              <a:gd name="connsiteY0" fmla="*/ 1447800 h 1447800"/>
              <a:gd name="connsiteX1" fmla="*/ 1552575 w 1646508"/>
              <a:gd name="connsiteY1" fmla="*/ 1238250 h 1447800"/>
              <a:gd name="connsiteX2" fmla="*/ 1381125 w 1646508"/>
              <a:gd name="connsiteY2" fmla="*/ 371475 h 1447800"/>
              <a:gd name="connsiteX3" fmla="*/ 619125 w 1646508"/>
              <a:gd name="connsiteY3" fmla="*/ 0 h 1447800"/>
              <a:gd name="connsiteX0" fmla="*/ 0 w 1774725"/>
              <a:gd name="connsiteY0" fmla="*/ 1447800 h 1447800"/>
              <a:gd name="connsiteX1" fmla="*/ 1552575 w 1774725"/>
              <a:gd name="connsiteY1" fmla="*/ 1238250 h 1447800"/>
              <a:gd name="connsiteX2" fmla="*/ 1666875 w 1774725"/>
              <a:gd name="connsiteY2" fmla="*/ 685800 h 1447800"/>
              <a:gd name="connsiteX3" fmla="*/ 619125 w 1774725"/>
              <a:gd name="connsiteY3" fmla="*/ 0 h 1447800"/>
              <a:gd name="connsiteX0" fmla="*/ 0 w 1657848"/>
              <a:gd name="connsiteY0" fmla="*/ 1447800 h 1447800"/>
              <a:gd name="connsiteX1" fmla="*/ 1552575 w 1657848"/>
              <a:gd name="connsiteY1" fmla="*/ 1238250 h 1447800"/>
              <a:gd name="connsiteX2" fmla="*/ 1419225 w 1657848"/>
              <a:gd name="connsiteY2" fmla="*/ 504825 h 1447800"/>
              <a:gd name="connsiteX3" fmla="*/ 619125 w 1657848"/>
              <a:gd name="connsiteY3" fmla="*/ 0 h 1447800"/>
              <a:gd name="connsiteX0" fmla="*/ 0 w 1488427"/>
              <a:gd name="connsiteY0" fmla="*/ 1447800 h 1447800"/>
              <a:gd name="connsiteX1" fmla="*/ 1285875 w 1488427"/>
              <a:gd name="connsiteY1" fmla="*/ 1314450 h 1447800"/>
              <a:gd name="connsiteX2" fmla="*/ 1419225 w 1488427"/>
              <a:gd name="connsiteY2" fmla="*/ 504825 h 1447800"/>
              <a:gd name="connsiteX3" fmla="*/ 619125 w 1488427"/>
              <a:gd name="connsiteY3" fmla="*/ 0 h 1447800"/>
              <a:gd name="connsiteX0" fmla="*/ 0 w 1520523"/>
              <a:gd name="connsiteY0" fmla="*/ 1447800 h 1447800"/>
              <a:gd name="connsiteX1" fmla="*/ 1352550 w 1520523"/>
              <a:gd name="connsiteY1" fmla="*/ 1314450 h 1447800"/>
              <a:gd name="connsiteX2" fmla="*/ 1419225 w 1520523"/>
              <a:gd name="connsiteY2" fmla="*/ 504825 h 1447800"/>
              <a:gd name="connsiteX3" fmla="*/ 619125 w 1520523"/>
              <a:gd name="connsiteY3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0523" h="1447800">
                <a:moveTo>
                  <a:pt x="0" y="1447800"/>
                </a:moveTo>
                <a:cubicBezTo>
                  <a:pt x="565150" y="1425575"/>
                  <a:pt x="1116013" y="1471613"/>
                  <a:pt x="1352550" y="1314450"/>
                </a:cubicBezTo>
                <a:cubicBezTo>
                  <a:pt x="1589088" y="1157288"/>
                  <a:pt x="1541462" y="723900"/>
                  <a:pt x="1419225" y="504825"/>
                </a:cubicBezTo>
                <a:cubicBezTo>
                  <a:pt x="1296988" y="285750"/>
                  <a:pt x="974725" y="117475"/>
                  <a:pt x="619125" y="0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831" y="2494626"/>
            <a:ext cx="2757488" cy="1445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5130389" y="2067760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Zero Ind. Sources: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86600" y="3980738"/>
            <a:ext cx="2578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i="1" dirty="0" err="1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ZA" sz="2000" i="1" baseline="-25000" dirty="0" err="1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th</a:t>
            </a:r>
            <a:r>
              <a:rPr lang="en-ZA" sz="2000" i="1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= 4//(6+6) = 3 </a:t>
            </a:r>
            <a:r>
              <a:rPr lang="en-ZA" sz="200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</a:t>
            </a:r>
            <a:endParaRPr lang="en-ZA" sz="2000" dirty="0">
              <a:solidFill>
                <a:srgbClr val="000000"/>
              </a:solidFill>
              <a:latin typeface="Cambria Math" pitchFamily="18" charset="0"/>
              <a:ea typeface="Cambria Math" pitchFamily="18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5065826" y="4807572"/>
            <a:ext cx="2562225" cy="1895475"/>
            <a:chOff x="4824526" y="4807572"/>
            <a:chExt cx="2562225" cy="1895475"/>
          </a:xfrm>
        </p:grpSpPr>
        <p:pic>
          <p:nvPicPr>
            <p:cNvPr id="133126" name="Picture 6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526" y="4807572"/>
              <a:ext cx="2562225" cy="1895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Rectangle 30"/>
            <p:cNvSpPr/>
            <p:nvPr/>
          </p:nvSpPr>
          <p:spPr bwMode="auto">
            <a:xfrm>
              <a:off x="5358204" y="5499125"/>
              <a:ext cx="555139" cy="3942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smtClean="0">
                  <a:solidFill>
                    <a:schemeClr val="tx1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9 V 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5486999" y="5100312"/>
              <a:ext cx="555139" cy="3942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smtClean="0">
                  <a:solidFill>
                    <a:schemeClr val="tx1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 </a:t>
              </a:r>
              <a:r>
                <a:rPr lang="en-ZA" sz="2000" b="1" dirty="0" smtClean="0">
                  <a:solidFill>
                    <a:schemeClr val="tx1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r>
                <a:rPr lang="en-ZA" sz="2000" b="1" dirty="0" smtClean="0">
                  <a:solidFill>
                    <a:schemeClr val="tx1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489497" y="5046360"/>
            <a:ext cx="1242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i="1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I </a:t>
            </a:r>
            <a:r>
              <a:rPr lang="en-ZA" sz="200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= 9/4 </a:t>
            </a:r>
          </a:p>
          <a:p>
            <a:r>
              <a:rPr lang="en-ZA" sz="2000" dirty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  =2.25 A</a:t>
            </a:r>
            <a:endParaRPr lang="en-ZA" sz="2000" dirty="0">
              <a:solidFill>
                <a:srgbClr val="000000"/>
              </a:solidFill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>
            <a:off x="7732895" y="4345907"/>
            <a:ext cx="62132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 bwMode="auto">
          <a:xfrm flipV="1">
            <a:off x="7866939" y="5712774"/>
            <a:ext cx="865206" cy="885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5267511" y="4501098"/>
            <a:ext cx="1117527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5065826" y="4539198"/>
            <a:ext cx="3836874" cy="2163848"/>
          </a:xfrm>
          <a:prstGeom prst="roundRect">
            <a:avLst>
              <a:gd name="adj" fmla="val 11972"/>
            </a:avLst>
          </a:prstGeom>
          <a:noFill/>
          <a:ln w="1905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5057522" y="2036599"/>
            <a:ext cx="3836874" cy="2406571"/>
          </a:xfrm>
          <a:prstGeom prst="roundRect">
            <a:avLst>
              <a:gd name="adj" fmla="val 10862"/>
            </a:avLst>
          </a:prstGeom>
          <a:noFill/>
          <a:ln w="1905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71706" y="2036599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114300" y="2067760"/>
            <a:ext cx="4869180" cy="4396540"/>
          </a:xfrm>
          <a:prstGeom prst="roundRect">
            <a:avLst>
              <a:gd name="adj" fmla="val 8001"/>
            </a:avLst>
          </a:prstGeom>
          <a:noFill/>
          <a:ln w="1905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8093840" y="2783446"/>
            <a:ext cx="910460" cy="1085850"/>
            <a:chOff x="2877158" y="711200"/>
            <a:chExt cx="1453542" cy="1733550"/>
          </a:xfrm>
        </p:grpSpPr>
        <p:sp>
          <p:nvSpPr>
            <p:cNvPr id="54" name="Arc 53"/>
            <p:cNvSpPr/>
            <p:nvPr/>
          </p:nvSpPr>
          <p:spPr bwMode="auto">
            <a:xfrm rot="10800000">
              <a:off x="3378200" y="711200"/>
              <a:ext cx="952500" cy="825500"/>
            </a:xfrm>
            <a:prstGeom prst="arc">
              <a:avLst>
                <a:gd name="adj1" fmla="val 16200000"/>
                <a:gd name="adj2" fmla="val 580696"/>
              </a:avLst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Arc 54"/>
            <p:cNvSpPr/>
            <p:nvPr/>
          </p:nvSpPr>
          <p:spPr bwMode="auto">
            <a:xfrm rot="10800000" flipV="1">
              <a:off x="3378200" y="1543050"/>
              <a:ext cx="952500" cy="90170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6" name="Arc 55"/>
            <p:cNvSpPr/>
            <p:nvPr/>
          </p:nvSpPr>
          <p:spPr bwMode="auto">
            <a:xfrm rot="13392871">
              <a:off x="3257549" y="1069975"/>
              <a:ext cx="933450" cy="93345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7" name="Arc 56"/>
            <p:cNvSpPr/>
            <p:nvPr/>
          </p:nvSpPr>
          <p:spPr bwMode="auto">
            <a:xfrm rot="8207129" flipH="1">
              <a:off x="2877158" y="1289247"/>
              <a:ext cx="483795" cy="483795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747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6" grpId="0"/>
      <p:bldP spid="22" grpId="0" animBg="1"/>
      <p:bldP spid="26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4-9: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equivalent circuit to the left of terminals a-b. </a:t>
            </a:r>
          </a:p>
        </p:txBody>
      </p:sp>
      <p:pic>
        <p:nvPicPr>
          <p:cNvPr id="10" name="Picture 3" descr="ale29559_0403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/>
          <a:stretch/>
        </p:blipFill>
        <p:spPr bwMode="auto">
          <a:xfrm>
            <a:off x="4127500" y="25400"/>
            <a:ext cx="4284116" cy="16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8238059" y="559799"/>
            <a:ext cx="910460" cy="1085850"/>
            <a:chOff x="2877158" y="711200"/>
            <a:chExt cx="1453542" cy="1733550"/>
          </a:xfrm>
        </p:grpSpPr>
        <p:sp>
          <p:nvSpPr>
            <p:cNvPr id="12" name="Arc 11"/>
            <p:cNvSpPr/>
            <p:nvPr/>
          </p:nvSpPr>
          <p:spPr bwMode="auto">
            <a:xfrm rot="10800000">
              <a:off x="3378200" y="711200"/>
              <a:ext cx="952500" cy="825500"/>
            </a:xfrm>
            <a:prstGeom prst="arc">
              <a:avLst>
                <a:gd name="adj1" fmla="val 16200000"/>
                <a:gd name="adj2" fmla="val 580696"/>
              </a:avLst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Arc 12"/>
            <p:cNvSpPr/>
            <p:nvPr/>
          </p:nvSpPr>
          <p:spPr bwMode="auto">
            <a:xfrm rot="10800000" flipV="1">
              <a:off x="3378200" y="1543050"/>
              <a:ext cx="952500" cy="90170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Arc 13"/>
            <p:cNvSpPr/>
            <p:nvPr/>
          </p:nvSpPr>
          <p:spPr bwMode="auto">
            <a:xfrm rot="13392871">
              <a:off x="3257549" y="1069975"/>
              <a:ext cx="933450" cy="93345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5" name="Arc 14"/>
            <p:cNvSpPr/>
            <p:nvPr/>
          </p:nvSpPr>
          <p:spPr bwMode="auto">
            <a:xfrm rot="8207129" flipH="1">
              <a:off x="2877158" y="1289247"/>
              <a:ext cx="483795" cy="483795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646151" y="160746"/>
            <a:ext cx="564405" cy="1723905"/>
            <a:chOff x="1637645" y="2465181"/>
            <a:chExt cx="564405" cy="1723905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637645" y="2465181"/>
              <a:ext cx="407507" cy="2872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000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979106" y="2763452"/>
              <a:ext cx="124880" cy="12169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3901" y="3916015"/>
              <a:ext cx="328149" cy="273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09721" y="2697935"/>
                <a:ext cx="2530052" cy="674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𝑎𝑏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4+3</m:t>
                          </m:r>
                        </m:den>
                      </m:f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721" y="2697935"/>
                <a:ext cx="2530052" cy="67460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2404329" y="2236270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04329" y="3372543"/>
                <a:ext cx="288623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−6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sSub>
                        <m:sSub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329" y="3372543"/>
                <a:ext cx="2886239" cy="67056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799524" y="4055968"/>
                <a:ext cx="1852045" cy="54168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ZA" sz="20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But</m:t>
                          </m:r>
                          <m:r>
                            <a:rPr lang="en-ZA" sz="20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: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524" y="4055968"/>
                <a:ext cx="1852045" cy="5416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17029" y="4627715"/>
                <a:ext cx="2914516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−6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029" y="4627715"/>
                <a:ext cx="2914516" cy="6705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2112257" y="5327980"/>
            <a:ext cx="720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x35: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657058" y="5290852"/>
                <a:ext cx="26107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−42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2.5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058" y="5290852"/>
                <a:ext cx="2610778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513401" y="5813675"/>
                <a:ext cx="1454757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=9.</m:t>
                      </m:r>
                      <m:acc>
                        <m:accPr>
                          <m:chr m:val="̇"/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acc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01" y="5813675"/>
                <a:ext cx="1454757" cy="411844"/>
              </a:xfrm>
              <a:prstGeom prst="rect">
                <a:avLst/>
              </a:prstGeom>
              <a:blipFill rotWithShape="1">
                <a:blip r:embed="rId9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/>
          <p:cNvSpPr/>
          <p:nvPr/>
        </p:nvSpPr>
        <p:spPr>
          <a:xfrm>
            <a:off x="3962447" y="3323871"/>
            <a:ext cx="1502432" cy="2721584"/>
          </a:xfrm>
          <a:custGeom>
            <a:avLst/>
            <a:gdLst>
              <a:gd name="connsiteX0" fmla="*/ 0 w 1695450"/>
              <a:gd name="connsiteY0" fmla="*/ 1371600 h 1371600"/>
              <a:gd name="connsiteX1" fmla="*/ 1695450 w 1695450"/>
              <a:gd name="connsiteY1" fmla="*/ 1304925 h 1371600"/>
              <a:gd name="connsiteX2" fmla="*/ 1685925 w 1695450"/>
              <a:gd name="connsiteY2" fmla="*/ 352425 h 1371600"/>
              <a:gd name="connsiteX3" fmla="*/ 619125 w 1695450"/>
              <a:gd name="connsiteY3" fmla="*/ 0 h 1371600"/>
              <a:gd name="connsiteX0" fmla="*/ 0 w 1695450"/>
              <a:gd name="connsiteY0" fmla="*/ 1371600 h 1395506"/>
              <a:gd name="connsiteX1" fmla="*/ 1695450 w 1695450"/>
              <a:gd name="connsiteY1" fmla="*/ 1304925 h 1395506"/>
              <a:gd name="connsiteX2" fmla="*/ 1685925 w 1695450"/>
              <a:gd name="connsiteY2" fmla="*/ 352425 h 1395506"/>
              <a:gd name="connsiteX3" fmla="*/ 619125 w 1695450"/>
              <a:gd name="connsiteY3" fmla="*/ 0 h 1395506"/>
              <a:gd name="connsiteX0" fmla="*/ 0 w 1695450"/>
              <a:gd name="connsiteY0" fmla="*/ 1371600 h 1395506"/>
              <a:gd name="connsiteX1" fmla="*/ 1695450 w 1695450"/>
              <a:gd name="connsiteY1" fmla="*/ 1304925 h 1395506"/>
              <a:gd name="connsiteX2" fmla="*/ 1685925 w 1695450"/>
              <a:gd name="connsiteY2" fmla="*/ 352425 h 1395506"/>
              <a:gd name="connsiteX3" fmla="*/ 619125 w 1695450"/>
              <a:gd name="connsiteY3" fmla="*/ 0 h 1395506"/>
              <a:gd name="connsiteX0" fmla="*/ 0 w 1866206"/>
              <a:gd name="connsiteY0" fmla="*/ 1371600 h 1395506"/>
              <a:gd name="connsiteX1" fmla="*/ 1695450 w 1866206"/>
              <a:gd name="connsiteY1" fmla="*/ 1304925 h 1395506"/>
              <a:gd name="connsiteX2" fmla="*/ 1685925 w 1866206"/>
              <a:gd name="connsiteY2" fmla="*/ 352425 h 1395506"/>
              <a:gd name="connsiteX3" fmla="*/ 619125 w 1866206"/>
              <a:gd name="connsiteY3" fmla="*/ 0 h 1395506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866206"/>
              <a:gd name="connsiteY0" fmla="*/ 1371600 h 1371600"/>
              <a:gd name="connsiteX1" fmla="*/ 1695450 w 1866206"/>
              <a:gd name="connsiteY1" fmla="*/ 1085850 h 1371600"/>
              <a:gd name="connsiteX2" fmla="*/ 1685925 w 1866206"/>
              <a:gd name="connsiteY2" fmla="*/ 352425 h 1371600"/>
              <a:gd name="connsiteX3" fmla="*/ 619125 w 1866206"/>
              <a:gd name="connsiteY3" fmla="*/ 0 h 1371600"/>
              <a:gd name="connsiteX0" fmla="*/ 0 w 1769316"/>
              <a:gd name="connsiteY0" fmla="*/ 1371600 h 1371600"/>
              <a:gd name="connsiteX1" fmla="*/ 1695450 w 1769316"/>
              <a:gd name="connsiteY1" fmla="*/ 1085850 h 1371600"/>
              <a:gd name="connsiteX2" fmla="*/ 1381125 w 1769316"/>
              <a:gd name="connsiteY2" fmla="*/ 295275 h 1371600"/>
              <a:gd name="connsiteX3" fmla="*/ 619125 w 1769316"/>
              <a:gd name="connsiteY3" fmla="*/ 0 h 1371600"/>
              <a:gd name="connsiteX0" fmla="*/ 0 w 1769316"/>
              <a:gd name="connsiteY0" fmla="*/ 1447800 h 1447800"/>
              <a:gd name="connsiteX1" fmla="*/ 1695450 w 1769316"/>
              <a:gd name="connsiteY1" fmla="*/ 1162050 h 1447800"/>
              <a:gd name="connsiteX2" fmla="*/ 1381125 w 1769316"/>
              <a:gd name="connsiteY2" fmla="*/ 371475 h 1447800"/>
              <a:gd name="connsiteX3" fmla="*/ 619125 w 1769316"/>
              <a:gd name="connsiteY3" fmla="*/ 0 h 1447800"/>
              <a:gd name="connsiteX0" fmla="*/ 0 w 1646508"/>
              <a:gd name="connsiteY0" fmla="*/ 1447800 h 1447800"/>
              <a:gd name="connsiteX1" fmla="*/ 1552575 w 1646508"/>
              <a:gd name="connsiteY1" fmla="*/ 1238250 h 1447800"/>
              <a:gd name="connsiteX2" fmla="*/ 1381125 w 1646508"/>
              <a:gd name="connsiteY2" fmla="*/ 371475 h 1447800"/>
              <a:gd name="connsiteX3" fmla="*/ 619125 w 1646508"/>
              <a:gd name="connsiteY3" fmla="*/ 0 h 1447800"/>
              <a:gd name="connsiteX0" fmla="*/ 0 w 1774725"/>
              <a:gd name="connsiteY0" fmla="*/ 1447800 h 1447800"/>
              <a:gd name="connsiteX1" fmla="*/ 1552575 w 1774725"/>
              <a:gd name="connsiteY1" fmla="*/ 1238250 h 1447800"/>
              <a:gd name="connsiteX2" fmla="*/ 1666875 w 1774725"/>
              <a:gd name="connsiteY2" fmla="*/ 685800 h 1447800"/>
              <a:gd name="connsiteX3" fmla="*/ 619125 w 1774725"/>
              <a:gd name="connsiteY3" fmla="*/ 0 h 1447800"/>
              <a:gd name="connsiteX0" fmla="*/ 0 w 1657848"/>
              <a:gd name="connsiteY0" fmla="*/ 1447800 h 1447800"/>
              <a:gd name="connsiteX1" fmla="*/ 1552575 w 1657848"/>
              <a:gd name="connsiteY1" fmla="*/ 1238250 h 1447800"/>
              <a:gd name="connsiteX2" fmla="*/ 1419225 w 1657848"/>
              <a:gd name="connsiteY2" fmla="*/ 504825 h 1447800"/>
              <a:gd name="connsiteX3" fmla="*/ 619125 w 1657848"/>
              <a:gd name="connsiteY3" fmla="*/ 0 h 1447800"/>
              <a:gd name="connsiteX0" fmla="*/ 0 w 1488427"/>
              <a:gd name="connsiteY0" fmla="*/ 1447800 h 1447800"/>
              <a:gd name="connsiteX1" fmla="*/ 1285875 w 1488427"/>
              <a:gd name="connsiteY1" fmla="*/ 1314450 h 1447800"/>
              <a:gd name="connsiteX2" fmla="*/ 1419225 w 1488427"/>
              <a:gd name="connsiteY2" fmla="*/ 504825 h 1447800"/>
              <a:gd name="connsiteX3" fmla="*/ 619125 w 1488427"/>
              <a:gd name="connsiteY3" fmla="*/ 0 h 1447800"/>
              <a:gd name="connsiteX0" fmla="*/ 0 w 1520523"/>
              <a:gd name="connsiteY0" fmla="*/ 1447800 h 1447800"/>
              <a:gd name="connsiteX1" fmla="*/ 1352550 w 1520523"/>
              <a:gd name="connsiteY1" fmla="*/ 1314450 h 1447800"/>
              <a:gd name="connsiteX2" fmla="*/ 1419225 w 1520523"/>
              <a:gd name="connsiteY2" fmla="*/ 504825 h 1447800"/>
              <a:gd name="connsiteX3" fmla="*/ 619125 w 1520523"/>
              <a:gd name="connsiteY3" fmla="*/ 0 h 1447800"/>
              <a:gd name="connsiteX0" fmla="*/ 0 w 1502432"/>
              <a:gd name="connsiteY0" fmla="*/ 1402004 h 1402004"/>
              <a:gd name="connsiteX1" fmla="*/ 1352550 w 1502432"/>
              <a:gd name="connsiteY1" fmla="*/ 1268654 h 1402004"/>
              <a:gd name="connsiteX2" fmla="*/ 1419225 w 1502432"/>
              <a:gd name="connsiteY2" fmla="*/ 459029 h 1402004"/>
              <a:gd name="connsiteX3" fmla="*/ 911225 w 1502432"/>
              <a:gd name="connsiteY3" fmla="*/ 0 h 140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2432" h="1402004">
                <a:moveTo>
                  <a:pt x="0" y="1402004"/>
                </a:moveTo>
                <a:cubicBezTo>
                  <a:pt x="565150" y="1379779"/>
                  <a:pt x="1116013" y="1425817"/>
                  <a:pt x="1352550" y="1268654"/>
                </a:cubicBezTo>
                <a:cubicBezTo>
                  <a:pt x="1589088" y="1111492"/>
                  <a:pt x="1492779" y="670471"/>
                  <a:pt x="1419225" y="459029"/>
                </a:cubicBezTo>
                <a:cubicBezTo>
                  <a:pt x="1345671" y="247587"/>
                  <a:pt x="1266825" y="117475"/>
                  <a:pt x="911225" y="0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13574" y="2711954"/>
                <a:ext cx="1988750" cy="66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=9.</m:t>
                      </m:r>
                      <m:acc>
                        <m:accPr>
                          <m:chr m:val="̇"/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acc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=5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acc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574" y="2711954"/>
                <a:ext cx="1988750" cy="66832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 bwMode="auto">
          <a:xfrm>
            <a:off x="5900865" y="3202169"/>
            <a:ext cx="80145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 bwMode="auto">
          <a:xfrm>
            <a:off x="2046923" y="2267431"/>
            <a:ext cx="4749800" cy="3958088"/>
          </a:xfrm>
          <a:prstGeom prst="roundRect">
            <a:avLst>
              <a:gd name="adj" fmla="val 8001"/>
            </a:avLst>
          </a:prstGeom>
          <a:noFill/>
          <a:ln w="1905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35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5" grpId="0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4656" y="114300"/>
            <a:ext cx="3699422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4-9: continued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36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6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ZA" sz="3600" b="1" baseline="-25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ZA" sz="3600" b="1" dirty="0" smtClean="0">
                <a:latin typeface="Times New Roman" pitchFamily="18" charset="0"/>
                <a:cs typeface="Times New Roman" pitchFamily="18" charset="0"/>
              </a:rPr>
              <a:t> Method A</a:t>
            </a:r>
            <a:endParaRPr lang="en-ZA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3" descr="ale29559_0403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/>
          <a:stretch/>
        </p:blipFill>
        <p:spPr bwMode="auto">
          <a:xfrm>
            <a:off x="4606314" y="168880"/>
            <a:ext cx="3689023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217704" y="1761186"/>
            <a:ext cx="8646896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Zero Ind. Sources + CURRENT Test Source: Need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= V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41" y="2153261"/>
            <a:ext cx="3464240" cy="1521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35"/>
          <p:cNvSpPr/>
          <p:nvPr/>
        </p:nvSpPr>
        <p:spPr bwMode="auto">
          <a:xfrm>
            <a:off x="3766777" y="2855243"/>
            <a:ext cx="555139" cy="3942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000" b="1" dirty="0" smtClean="0">
                <a:solidFill>
                  <a:schemeClr val="tx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A </a:t>
            </a:r>
            <a:endParaRPr kumimoji="0" lang="en-ZA" sz="2000" b="1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434802" y="2204061"/>
            <a:ext cx="1757120" cy="1628515"/>
            <a:chOff x="1434802" y="2204061"/>
            <a:chExt cx="1757120" cy="1628515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434802" y="2204061"/>
              <a:ext cx="407507" cy="2872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000" b="1" baseline="-250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1744629" y="2502332"/>
              <a:ext cx="124880" cy="12169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426" y="3559505"/>
              <a:ext cx="328149" cy="273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" name="Oval 40"/>
            <p:cNvSpPr/>
            <p:nvPr/>
          </p:nvSpPr>
          <p:spPr bwMode="auto">
            <a:xfrm>
              <a:off x="2925729" y="2518014"/>
              <a:ext cx="124880" cy="12169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2784415" y="2229182"/>
              <a:ext cx="407507" cy="2872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000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62968" y="3816584"/>
                <a:ext cx="2897716" cy="668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sSub>
                        <m:sSub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8" y="3816584"/>
                <a:ext cx="2897716" cy="66851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59184" y="5087560"/>
                <a:ext cx="3488968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4" y="5087560"/>
                <a:ext cx="3488968" cy="66858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90213" y="5755675"/>
                <a:ext cx="41547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7.5(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)+5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)=0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13" y="5755675"/>
                <a:ext cx="4154727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-37279" y="5799382"/>
            <a:ext cx="720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x15: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62968" y="6233757"/>
                <a:ext cx="21868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0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.5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+2.5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8" y="6233757"/>
                <a:ext cx="2186816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/>
          <p:cNvSpPr/>
          <p:nvPr/>
        </p:nvSpPr>
        <p:spPr bwMode="auto">
          <a:xfrm>
            <a:off x="2749784" y="625125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972616" y="4500523"/>
                <a:ext cx="1739386" cy="55335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ZA" sz="16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But</m:t>
                          </m:r>
                          <m:r>
                            <a:rPr lang="en-ZA" sz="16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:</m:t>
                          </m:r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16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ZA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16" y="4500523"/>
                <a:ext cx="1739386" cy="55335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561794" y="2528466"/>
                <a:ext cx="2491323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794" y="2528466"/>
                <a:ext cx="2491323" cy="66858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561794" y="3065277"/>
                <a:ext cx="26831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794" y="3065277"/>
                <a:ext cx="2683170" cy="40011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/>
          <p:cNvSpPr/>
          <p:nvPr/>
        </p:nvSpPr>
        <p:spPr>
          <a:xfrm>
            <a:off x="5010585" y="3096055"/>
            <a:ext cx="720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x12: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556373" y="3506991"/>
                <a:ext cx="21307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+7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373" y="3506991"/>
                <a:ext cx="2130711" cy="400110"/>
              </a:xfrm>
              <a:prstGeom prst="rect">
                <a:avLst/>
              </a:prstGeom>
              <a:blipFill rotWithShape="1">
                <a:blip r:embed="rId1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/>
          <p:cNvSpPr/>
          <p:nvPr/>
        </p:nvSpPr>
        <p:spPr bwMode="auto">
          <a:xfrm>
            <a:off x="7713801" y="3532391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656723" y="4154441"/>
            <a:ext cx="1569953" cy="400110"/>
            <a:chOff x="4047123" y="4103641"/>
            <a:chExt cx="1569953" cy="400110"/>
          </a:xfrm>
        </p:grpSpPr>
        <p:sp>
          <p:nvSpPr>
            <p:cNvPr id="4" name="Rectangle 3"/>
            <p:cNvSpPr/>
            <p:nvPr/>
          </p:nvSpPr>
          <p:spPr>
            <a:xfrm>
              <a:off x="4432136" y="4103641"/>
              <a:ext cx="118494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b="1" dirty="0" smtClean="0">
                  <a:latin typeface="Times New Roman" pitchFamily="18" charset="0"/>
                  <a:cs typeface="Times New Roman" pitchFamily="18" charset="0"/>
                </a:rPr>
                <a:t>+ 8x       :</a:t>
              </a:r>
              <a:endParaRPr lang="en-ZA" sz="2000" b="1" dirty="0"/>
            </a:p>
          </p:txBody>
        </p:sp>
        <p:sp>
          <p:nvSpPr>
            <p:cNvPr id="55" name="Oval 54"/>
            <p:cNvSpPr/>
            <p:nvPr/>
          </p:nvSpPr>
          <p:spPr bwMode="auto">
            <a:xfrm>
              <a:off x="4047123" y="411634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  <p:sp>
          <p:nvSpPr>
            <p:cNvPr id="56" name="Oval 55"/>
            <p:cNvSpPr/>
            <p:nvPr/>
          </p:nvSpPr>
          <p:spPr bwMode="auto">
            <a:xfrm>
              <a:off x="5032154" y="411634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215216" y="4150842"/>
                <a:ext cx="20801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7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+20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16" y="4150842"/>
                <a:ext cx="2080121" cy="40011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243051" y="4653770"/>
                <a:ext cx="1440394" cy="410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4</m:t>
                          </m:r>
                        </m:e>
                      </m:acc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051" y="4653770"/>
                <a:ext cx="1440394" cy="410753"/>
              </a:xfrm>
              <a:prstGeom prst="rect">
                <a:avLst/>
              </a:prstGeom>
              <a:blipFill rotWithShape="1">
                <a:blip r:embed="rId1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849229" y="5421850"/>
                <a:ext cx="3778599" cy="84619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acc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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229" y="5421850"/>
                <a:ext cx="3778599" cy="846194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ircular Arrow 6"/>
          <p:cNvSpPr/>
          <p:nvPr/>
        </p:nvSpPr>
        <p:spPr bwMode="auto">
          <a:xfrm rot="5400000">
            <a:off x="2926610" y="1672953"/>
            <a:ext cx="1939748" cy="960617"/>
          </a:xfrm>
          <a:prstGeom prst="circularArrow">
            <a:avLst>
              <a:gd name="adj1" fmla="val 5591"/>
              <a:gd name="adj2" fmla="val 720092"/>
              <a:gd name="adj3" fmla="val 20354196"/>
              <a:gd name="adj4" fmla="val 16329858"/>
              <a:gd name="adj5" fmla="val 12090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 animBg="1"/>
      <p:bldP spid="49" grpId="0" animBg="1"/>
      <p:bldP spid="50" grpId="0"/>
      <p:bldP spid="51" grpId="0"/>
      <p:bldP spid="52" grpId="0"/>
      <p:bldP spid="53" grpId="0"/>
      <p:bldP spid="54" grpId="0" animBg="1"/>
      <p:bldP spid="57" grpId="0"/>
      <p:bldP spid="58" grpId="0"/>
      <p:bldP spid="5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90" y="2144527"/>
            <a:ext cx="3754982" cy="1523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4656" y="114300"/>
            <a:ext cx="3699422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4-9: continued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36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6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ZA" sz="3600" b="1" baseline="-25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ZA" sz="3600" b="1" dirty="0" smtClean="0">
                <a:latin typeface="Times New Roman" pitchFamily="18" charset="0"/>
                <a:cs typeface="Times New Roman" pitchFamily="18" charset="0"/>
              </a:rPr>
              <a:t> Method B</a:t>
            </a:r>
            <a:endParaRPr lang="en-ZA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3" descr="ale29559_0403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/>
          <a:stretch/>
        </p:blipFill>
        <p:spPr bwMode="auto">
          <a:xfrm>
            <a:off x="4606314" y="168880"/>
            <a:ext cx="3689023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217704" y="1761186"/>
            <a:ext cx="8646896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Zero Ind. Sources + VOLTAGE Test Source: Need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183114" y="2089761"/>
            <a:ext cx="555139" cy="3942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0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b="1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kumimoji="0" lang="en-ZA" sz="2000" b="1" i="1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434802" y="2213586"/>
            <a:ext cx="879773" cy="1644389"/>
            <a:chOff x="1434802" y="2204061"/>
            <a:chExt cx="879773" cy="1644389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434802" y="2204061"/>
              <a:ext cx="407507" cy="2872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ZA" sz="2000" b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000" b="1" baseline="-250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endParaRPr kumimoji="0" lang="en-ZA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1744629" y="2502332"/>
              <a:ext cx="124880" cy="12169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426" y="3575379"/>
              <a:ext cx="328149" cy="273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62968" y="3816584"/>
                <a:ext cx="281391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sSub>
                        <m:sSub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8" y="3816584"/>
                <a:ext cx="2813912" cy="67056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59184" y="5087560"/>
                <a:ext cx="3323154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1.5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4" y="5087560"/>
                <a:ext cx="3323154" cy="67056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90213" y="5755675"/>
                <a:ext cx="39889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7.5(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−1)+5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)=0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13" y="5755675"/>
                <a:ext cx="3988912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-37279" y="5799382"/>
            <a:ext cx="720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x15: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62968" y="6233757"/>
                <a:ext cx="34281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m:t>0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m:t>.5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m:t>+2.5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m:t>=0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=−5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8" y="6233757"/>
                <a:ext cx="3428183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972616" y="4500523"/>
                <a:ext cx="1739386" cy="55335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ZA" sz="16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But</m:t>
                          </m:r>
                          <m:r>
                            <a:rPr lang="en-ZA" sz="1600" b="0" i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:</m:t>
                          </m:r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16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1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ZA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16" y="4500523"/>
                <a:ext cx="1739386" cy="55335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561794" y="2871366"/>
                <a:ext cx="2389950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794" y="2871366"/>
                <a:ext cx="2389950" cy="670568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561794" y="3522477"/>
                <a:ext cx="26903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+12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−3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794" y="3522477"/>
                <a:ext cx="2690352" cy="40011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/>
          <p:cNvSpPr/>
          <p:nvPr/>
        </p:nvSpPr>
        <p:spPr>
          <a:xfrm>
            <a:off x="5010585" y="3553255"/>
            <a:ext cx="720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x12: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556373" y="3964191"/>
                <a:ext cx="15177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2.25 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373" y="3964191"/>
                <a:ext cx="1517788" cy="400110"/>
              </a:xfrm>
              <a:prstGeom prst="rect">
                <a:avLst/>
              </a:prstGeom>
              <a:blipFill rotWithShape="1">
                <a:blip r:embed="rId1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606314" y="4468180"/>
                <a:ext cx="4132413" cy="84664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𝑡𝑒𝑠𝑡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2.25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acc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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314" y="4468180"/>
                <a:ext cx="4132413" cy="84664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ircular Arrow 6"/>
          <p:cNvSpPr/>
          <p:nvPr/>
        </p:nvSpPr>
        <p:spPr bwMode="auto">
          <a:xfrm rot="5400000">
            <a:off x="2926610" y="1672953"/>
            <a:ext cx="1939748" cy="960617"/>
          </a:xfrm>
          <a:prstGeom prst="circularArrow">
            <a:avLst>
              <a:gd name="adj1" fmla="val 5591"/>
              <a:gd name="adj2" fmla="val 720092"/>
              <a:gd name="adj3" fmla="val 20354196"/>
              <a:gd name="adj4" fmla="val 16329858"/>
              <a:gd name="adj5" fmla="val 12090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 bwMode="auto">
          <a:xfrm flipH="1" flipV="1">
            <a:off x="3183114" y="2483972"/>
            <a:ext cx="480328" cy="736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633087" y="2977290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KCL:</a:t>
            </a:r>
            <a:endParaRPr lang="en-ZA" sz="2400" dirty="0">
              <a:solidFill>
                <a:srgbClr val="00B050"/>
              </a:solidFill>
            </a:endParaRPr>
          </a:p>
        </p:txBody>
      </p:sp>
      <p:sp>
        <p:nvSpPr>
          <p:cNvPr id="60" name="Oval 59"/>
          <p:cNvSpPr/>
          <p:nvPr/>
        </p:nvSpPr>
        <p:spPr bwMode="auto">
          <a:xfrm>
            <a:off x="2978116" y="2502332"/>
            <a:ext cx="124880" cy="121696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72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9" grpId="0" animBg="1"/>
      <p:bldP spid="50" grpId="0"/>
      <p:bldP spid="51" grpId="0"/>
      <p:bldP spid="52" grpId="0"/>
      <p:bldP spid="53" grpId="0"/>
      <p:bldP spid="59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20032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4-39: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equivalent circuit.</a:t>
            </a:r>
          </a:p>
        </p:txBody>
      </p:sp>
      <p:pic>
        <p:nvPicPr>
          <p:cNvPr id="4" name="Picture 3" descr="ale29559_0410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0002" r="4167"/>
          <a:stretch/>
        </p:blipFill>
        <p:spPr bwMode="auto">
          <a:xfrm>
            <a:off x="4483099" y="0"/>
            <a:ext cx="4194617" cy="290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378179" y="1424368"/>
            <a:ext cx="3977919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V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+ V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75439" y="1444140"/>
            <a:ext cx="4283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_</a:t>
            </a:r>
            <a:endParaRPr lang="en-ZA" dirty="0"/>
          </a:p>
        </p:txBody>
      </p:sp>
      <p:sp>
        <p:nvSpPr>
          <p:cNvPr id="7" name="Rectangle 6"/>
          <p:cNvSpPr/>
          <p:nvPr/>
        </p:nvSpPr>
        <p:spPr>
          <a:xfrm>
            <a:off x="6751639" y="1125402"/>
            <a:ext cx="13163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  V</a:t>
            </a:r>
            <a:r>
              <a:rPr lang="en-US" b="1" baseline="-25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+</a:t>
            </a:r>
            <a:endParaRPr lang="en-ZA" dirty="0"/>
          </a:p>
        </p:txBody>
      </p:sp>
      <p:sp>
        <p:nvSpPr>
          <p:cNvPr id="8" name="Arc 7"/>
          <p:cNvSpPr/>
          <p:nvPr/>
        </p:nvSpPr>
        <p:spPr bwMode="auto">
          <a:xfrm>
            <a:off x="5528320" y="1444140"/>
            <a:ext cx="923279" cy="1133044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0" i="1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9" name="Arc 8"/>
          <p:cNvSpPr/>
          <p:nvPr/>
        </p:nvSpPr>
        <p:spPr bwMode="auto">
          <a:xfrm>
            <a:off x="5295900" y="553757"/>
            <a:ext cx="2362200" cy="452742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179" y="2367470"/>
            <a:ext cx="2410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Loop 2: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-1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352" y="2767580"/>
            <a:ext cx="385874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Loop 1: 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-8 + 10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+10(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5i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25i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-2</a:t>
            </a: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-0.08 A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352" y="4573200"/>
            <a:ext cx="299312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V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16</a:t>
            </a:r>
          </a:p>
          <a:p>
            <a:pPr marL="0" indent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= 5i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+ 16i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= 5(-0.08) + 16(-1)</a:t>
            </a:r>
          </a:p>
          <a:p>
            <a:pPr marL="0" indent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= -16.4 V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1054100" y="6097358"/>
            <a:ext cx="108026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319" y="3375594"/>
            <a:ext cx="2609827" cy="1841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5295900" y="2913929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Zero Ind. Sources: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41020" y="5185150"/>
            <a:ext cx="32576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i="1" dirty="0" err="1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ZA" sz="2400" i="1" baseline="-25000" dirty="0" err="1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th</a:t>
            </a:r>
            <a:r>
              <a:rPr lang="en-ZA" sz="2400" i="1" dirty="0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= 16+ </a:t>
            </a:r>
            <a:r>
              <a:rPr lang="en-ZA" sz="2400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5</a:t>
            </a:r>
            <a:r>
              <a:rPr lang="en-ZA" sz="2400" dirty="0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//(10+10) </a:t>
            </a:r>
          </a:p>
          <a:p>
            <a:r>
              <a:rPr lang="en-ZA" sz="2400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      = 20 </a:t>
            </a:r>
            <a:r>
              <a:rPr lang="en-ZA" sz="2400" dirty="0" smtClean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</a:t>
            </a:r>
            <a:endParaRPr lang="en-ZA" sz="2400" dirty="0">
              <a:solidFill>
                <a:srgbClr val="0070C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1478" y="1213101"/>
            <a:ext cx="49212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_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0432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/>
      <p:bldP spid="16" grpId="0" animBg="1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738F-91D5-4390-9C26-4D883C065AF2}" type="slidenum">
              <a:rPr lang="en-US"/>
              <a:pPr/>
              <a:t>28</a:t>
            </a:fld>
            <a:endParaRPr lang="en-US"/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609600" y="16002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457200" y="1600200"/>
            <a:ext cx="5334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dirty="0"/>
              <a:t>It states that a linear two-terminal circuit can be replaced by an equivalent circuit of </a:t>
            </a:r>
            <a:r>
              <a:rPr lang="en-US" sz="2000" u="sng" dirty="0">
                <a:solidFill>
                  <a:srgbClr val="FF3300"/>
                </a:solidFill>
              </a:rPr>
              <a:t>a current source </a:t>
            </a:r>
            <a:r>
              <a:rPr lang="en-US" sz="2000" i="1" u="sng" dirty="0">
                <a:solidFill>
                  <a:srgbClr val="FF3300"/>
                </a:solidFill>
              </a:rPr>
              <a:t>I</a:t>
            </a:r>
            <a:r>
              <a:rPr lang="en-US" sz="2000" i="1" u="sng" baseline="-25000" dirty="0">
                <a:solidFill>
                  <a:srgbClr val="FF3300"/>
                </a:solidFill>
              </a:rPr>
              <a:t>N</a:t>
            </a:r>
            <a:r>
              <a:rPr lang="en-US" sz="2000" i="1" u="sng" dirty="0">
                <a:solidFill>
                  <a:srgbClr val="FF3300"/>
                </a:solidFill>
              </a:rPr>
              <a:t> </a:t>
            </a:r>
            <a:r>
              <a:rPr lang="en-US" sz="2000" u="sng" dirty="0">
                <a:solidFill>
                  <a:srgbClr val="FF3300"/>
                </a:solidFill>
              </a:rPr>
              <a:t>in parallel with a resistor </a:t>
            </a:r>
            <a:r>
              <a:rPr lang="en-US" sz="2000" i="1" u="sng" dirty="0">
                <a:solidFill>
                  <a:srgbClr val="FF3300"/>
                </a:solidFill>
              </a:rPr>
              <a:t>R</a:t>
            </a:r>
            <a:r>
              <a:rPr lang="en-US" sz="2000" i="1" u="sng" baseline="-25000" dirty="0">
                <a:solidFill>
                  <a:srgbClr val="FF3300"/>
                </a:solidFill>
              </a:rPr>
              <a:t>N</a:t>
            </a:r>
            <a:r>
              <a:rPr lang="en-US" sz="2000" dirty="0">
                <a:solidFill>
                  <a:srgbClr val="FF3300"/>
                </a:solidFill>
              </a:rPr>
              <a:t>, </a:t>
            </a:r>
          </a:p>
          <a:p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/>
              <a:t>Where</a:t>
            </a:r>
          </a:p>
          <a:p>
            <a:r>
              <a:rPr lang="en-US" sz="2000" dirty="0"/>
              <a:t> </a:t>
            </a:r>
          </a:p>
          <a:p>
            <a:pPr>
              <a:buFontTx/>
              <a:buChar char="•"/>
            </a:pPr>
            <a:r>
              <a:rPr lang="en-US" sz="2000" i="1" dirty="0"/>
              <a:t> I</a:t>
            </a:r>
            <a:r>
              <a:rPr lang="en-US" sz="2000" i="1" baseline="-25000" dirty="0"/>
              <a:t>N</a:t>
            </a:r>
            <a:r>
              <a:rPr lang="en-US" sz="2000" i="1" dirty="0"/>
              <a:t> </a:t>
            </a:r>
            <a:r>
              <a:rPr lang="en-US" sz="2000" dirty="0"/>
              <a:t>is the short circuit current through</a:t>
            </a:r>
          </a:p>
          <a:p>
            <a:r>
              <a:rPr lang="en-US" sz="2000" dirty="0"/>
              <a:t>  the terminals. </a:t>
            </a:r>
          </a:p>
          <a:p>
            <a:r>
              <a:rPr lang="en-US" sz="2000" dirty="0"/>
              <a:t> </a:t>
            </a:r>
          </a:p>
          <a:p>
            <a:pPr>
              <a:buFontTx/>
              <a:buChar char="•"/>
            </a:pPr>
            <a:r>
              <a:rPr lang="en-US" sz="2000" i="1" dirty="0"/>
              <a:t> R</a:t>
            </a:r>
            <a:r>
              <a:rPr lang="en-US" sz="2000" i="1" baseline="-25000" dirty="0"/>
              <a:t>N</a:t>
            </a:r>
            <a:r>
              <a:rPr lang="en-US" sz="2000" i="1" dirty="0"/>
              <a:t> </a:t>
            </a:r>
            <a:r>
              <a:rPr lang="en-US" sz="2000" dirty="0"/>
              <a:t>is the input or equivalent resistance</a:t>
            </a:r>
          </a:p>
          <a:p>
            <a:r>
              <a:rPr lang="en-US" sz="2000" dirty="0"/>
              <a:t>  at the terminals when the independent</a:t>
            </a:r>
          </a:p>
          <a:p>
            <a:r>
              <a:rPr lang="en-US" sz="2000" dirty="0"/>
              <a:t>  sources are turned off.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06062" y="228599"/>
            <a:ext cx="8937938" cy="134504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4 L#4:  </a:t>
            </a:r>
          </a:p>
          <a:p>
            <a:r>
              <a:rPr lang="en-US" sz="4800" dirty="0" smtClean="0"/>
              <a:t>4.6 Norton’s Theorem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11" name="Picture 10" descr="ale29559_0403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3" t="4768" r="11861"/>
          <a:stretch/>
        </p:blipFill>
        <p:spPr bwMode="auto">
          <a:xfrm>
            <a:off x="5794210" y="1524000"/>
            <a:ext cx="3070390" cy="370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57576"/>
            <a:ext cx="9055099" cy="1118199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4.6 Norton’s Theorem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Norton </a:t>
            </a:r>
            <a:r>
              <a:rPr lang="en-US" sz="4000" dirty="0" err="1" smtClean="0">
                <a:solidFill>
                  <a:srgbClr val="FF0000"/>
                </a:solidFill>
              </a:rPr>
              <a:t>vs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000" dirty="0" err="1" smtClean="0">
                <a:solidFill>
                  <a:srgbClr val="FF0000"/>
                </a:solidFill>
              </a:rPr>
              <a:t>Thevenin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6" name="Picture 5" descr="ale29559_0403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3" t="57602" r="11861" b="6523"/>
          <a:stretch/>
        </p:blipFill>
        <p:spPr bwMode="auto">
          <a:xfrm>
            <a:off x="117309" y="2476694"/>
            <a:ext cx="3593965" cy="1635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2200372"/>
            <a:ext cx="3771189" cy="2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eft-Right Arrow 7"/>
          <p:cNvSpPr/>
          <p:nvPr/>
        </p:nvSpPr>
        <p:spPr bwMode="auto">
          <a:xfrm>
            <a:off x="3508073" y="2926005"/>
            <a:ext cx="1231900" cy="736600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245079" y="4111916"/>
            <a:ext cx="3977919" cy="2308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Where:</a:t>
            </a:r>
          </a:p>
          <a:p>
            <a:pPr marL="0" indent="0" algn="ctr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endParaRPr lang="en-US" sz="2400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/R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19100" y="1397000"/>
            <a:ext cx="855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FF3300"/>
                </a:solidFill>
              </a:rPr>
              <a:t>Norton equivalent = Source transformation of the </a:t>
            </a:r>
            <a:r>
              <a:rPr lang="en-US" sz="2400" dirty="0" err="1" smtClean="0">
                <a:solidFill>
                  <a:srgbClr val="FF3300"/>
                </a:solidFill>
              </a:rPr>
              <a:t>Thevenin</a:t>
            </a:r>
            <a:r>
              <a:rPr lang="en-US" sz="2400" dirty="0" smtClean="0">
                <a:solidFill>
                  <a:srgbClr val="FF3300"/>
                </a:solidFill>
              </a:rPr>
              <a:t> equivalent and vice versa.</a:t>
            </a:r>
            <a:endParaRPr lang="en-US" sz="24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02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ale29559_0403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t="10543" r="10269"/>
          <a:stretch/>
        </p:blipFill>
        <p:spPr bwMode="auto">
          <a:xfrm>
            <a:off x="469720" y="1902527"/>
            <a:ext cx="4089400" cy="183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AD92-0B3E-47C9-A4E6-A430707B99F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37177" y="257576"/>
            <a:ext cx="8243887" cy="1118199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4.6 Norton’s Theorem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How to determine I</a:t>
            </a:r>
            <a:r>
              <a:rPr lang="en-US" sz="4000" baseline="-25000" dirty="0" smtClean="0">
                <a:solidFill>
                  <a:srgbClr val="FF0000"/>
                </a:solidFill>
              </a:rPr>
              <a:t>N</a:t>
            </a:r>
            <a:r>
              <a:rPr lang="en-US" sz="4000" dirty="0" smtClean="0">
                <a:solidFill>
                  <a:srgbClr val="FF0000"/>
                </a:solidFill>
              </a:rPr>
              <a:t> and R</a:t>
            </a:r>
            <a:r>
              <a:rPr lang="en-US" sz="4000" baseline="-25000" dirty="0" smtClean="0">
                <a:solidFill>
                  <a:srgbClr val="FF0000"/>
                </a:solidFill>
              </a:rPr>
              <a:t>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37177" y="1375775"/>
            <a:ext cx="2885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u="sng" dirty="0" smtClean="0">
                <a:latin typeface="Verdana" pitchFamily="34" charset="0"/>
              </a:rPr>
              <a:t>To determine I</a:t>
            </a:r>
            <a:r>
              <a:rPr lang="en-US" sz="2400" u="sng" baseline="-25000" dirty="0" smtClean="0">
                <a:latin typeface="Verdana" pitchFamily="34" charset="0"/>
              </a:rPr>
              <a:t>N</a:t>
            </a:r>
            <a:r>
              <a:rPr lang="en-US" sz="2400" u="sng" dirty="0" smtClean="0">
                <a:latin typeface="Verdana" pitchFamily="34" charset="0"/>
              </a:rPr>
              <a:t>:</a:t>
            </a:r>
            <a:endParaRPr lang="en-US" sz="2400" u="sng" dirty="0">
              <a:latin typeface="Verdana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971244" y="1837440"/>
            <a:ext cx="3940936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short circuit current.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Terminals a-b are terminals between which you want to determine the Norton equivalent.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be anywhere in the circuit.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37177" y="3975161"/>
            <a:ext cx="2885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u="sng" dirty="0" smtClean="0">
                <a:latin typeface="Verdana" pitchFamily="34" charset="0"/>
              </a:rPr>
              <a:t>To determine R</a:t>
            </a:r>
            <a:r>
              <a:rPr lang="en-US" sz="2400" u="sng" baseline="-25000" dirty="0" smtClean="0">
                <a:latin typeface="Verdana" pitchFamily="34" charset="0"/>
              </a:rPr>
              <a:t>N</a:t>
            </a:r>
            <a:r>
              <a:rPr lang="en-US" sz="2400" u="sng" dirty="0" smtClean="0">
                <a:latin typeface="Verdana" pitchFamily="34" charset="0"/>
              </a:rPr>
              <a:t>:</a:t>
            </a:r>
            <a:endParaRPr lang="en-US" sz="2400" u="sng" dirty="0">
              <a:latin typeface="Verdana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77768" y="4415952"/>
            <a:ext cx="7243831" cy="193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Methods #1 and #2 as with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R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Method #3:</a:t>
            </a:r>
          </a:p>
          <a:p>
            <a:pPr>
              <a:buFont typeface="Arial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Not in this textbook, but you will find it in other.</a:t>
            </a:r>
            <a:endParaRPr lang="en-US" sz="2000" strike="sngStrike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Short circuit terminals a-b &amp; do not zero any sources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charset="0"/>
              <a:buChar char="•"/>
            </a:pP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endParaRPr lang="en-US" sz="2000" i="1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Works for circuits with or without dependent sources.</a:t>
            </a:r>
          </a:p>
        </p:txBody>
      </p:sp>
    </p:spTree>
    <p:extLst>
      <p:ext uri="{BB962C8B-B14F-4D97-AF65-F5344CB8AC3E}">
        <p14:creationId xmlns:p14="http://schemas.microsoft.com/office/powerpoint/2010/main" val="2765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4-11: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 to the left of terminals a-b. </a:t>
            </a:r>
          </a:p>
        </p:txBody>
      </p:sp>
      <p:pic>
        <p:nvPicPr>
          <p:cNvPr id="4" name="Picture 3" descr="ale29559_0404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7"/>
          <a:stretch/>
        </p:blipFill>
        <p:spPr bwMode="auto">
          <a:xfrm>
            <a:off x="3835400" y="114300"/>
            <a:ext cx="4889500" cy="1796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33606" y="1805766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ale29559_0404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7"/>
          <a:stretch/>
        </p:blipFill>
        <p:spPr bwMode="auto">
          <a:xfrm>
            <a:off x="170356" y="2258502"/>
            <a:ext cx="3798394" cy="1395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3711875" y="2703344"/>
            <a:ext cx="480416" cy="799951"/>
            <a:chOff x="8394700" y="673100"/>
            <a:chExt cx="480416" cy="799951"/>
          </a:xfrm>
        </p:grpSpPr>
        <p:cxnSp>
          <p:nvCxnSpPr>
            <p:cNvPr id="16" name="Straight Connector 15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Straight Arrow Connector 16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22" name="Multiply 21"/>
          <p:cNvSpPr/>
          <p:nvPr/>
        </p:nvSpPr>
        <p:spPr bwMode="auto">
          <a:xfrm>
            <a:off x="2603773" y="2603256"/>
            <a:ext cx="983703" cy="1000125"/>
          </a:xfrm>
          <a:prstGeom prst="mathMultiply">
            <a:avLst>
              <a:gd name="adj1" fmla="val 2218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18" y="3622431"/>
            <a:ext cx="3029257" cy="136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3064174" y="4027319"/>
            <a:ext cx="480416" cy="799951"/>
            <a:chOff x="8394700" y="673100"/>
            <a:chExt cx="480416" cy="799951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83367" y="5168091"/>
            <a:ext cx="3708923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Hence 9 A splitting between two 3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 resistors:</a:t>
            </a:r>
          </a:p>
          <a:p>
            <a:pPr marL="0" indent="0"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9/2 = 4.5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5" y="2625318"/>
            <a:ext cx="3311525" cy="138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4643656" y="1832589"/>
            <a:ext cx="4288824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Method #1</a:t>
            </a:r>
          </a:p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Only independent sources: Zero them.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4605075" y="4111056"/>
            <a:ext cx="370892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 algn="ctr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6//(3+3) = 3 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8022020" y="2930584"/>
            <a:ext cx="910460" cy="1085850"/>
            <a:chOff x="2877158" y="711200"/>
            <a:chExt cx="1453542" cy="1733550"/>
          </a:xfrm>
        </p:grpSpPr>
        <p:sp>
          <p:nvSpPr>
            <p:cNvPr id="34" name="Arc 33"/>
            <p:cNvSpPr/>
            <p:nvPr/>
          </p:nvSpPr>
          <p:spPr bwMode="auto">
            <a:xfrm rot="10800000">
              <a:off x="3378200" y="711200"/>
              <a:ext cx="952500" cy="825500"/>
            </a:xfrm>
            <a:prstGeom prst="arc">
              <a:avLst>
                <a:gd name="adj1" fmla="val 16200000"/>
                <a:gd name="adj2" fmla="val 580696"/>
              </a:avLst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5" name="Arc 34"/>
            <p:cNvSpPr/>
            <p:nvPr/>
          </p:nvSpPr>
          <p:spPr bwMode="auto">
            <a:xfrm rot="10800000" flipV="1">
              <a:off x="3378200" y="1543050"/>
              <a:ext cx="952500" cy="90170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6" name="Arc 35"/>
            <p:cNvSpPr/>
            <p:nvPr/>
          </p:nvSpPr>
          <p:spPr bwMode="auto">
            <a:xfrm rot="13392871">
              <a:off x="3257549" y="1069975"/>
              <a:ext cx="933450" cy="93345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7" name="Arc 36"/>
            <p:cNvSpPr/>
            <p:nvPr/>
          </p:nvSpPr>
          <p:spPr bwMode="auto">
            <a:xfrm rot="8207129" flipH="1">
              <a:off x="2877158" y="1289247"/>
              <a:ext cx="483795" cy="483795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24" name="Straight Arrow Connector 23"/>
          <p:cNvCxnSpPr/>
          <p:nvPr/>
        </p:nvCxnSpPr>
        <p:spPr bwMode="auto">
          <a:xfrm>
            <a:off x="2603773" y="6172200"/>
            <a:ext cx="81570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 bwMode="auto">
          <a:xfrm>
            <a:off x="7105561" y="4505384"/>
            <a:ext cx="81570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 bwMode="auto">
          <a:xfrm>
            <a:off x="577849" y="2540000"/>
            <a:ext cx="1147919" cy="1063381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40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9" grpId="0" animBg="1"/>
      <p:bldP spid="31" grpId="0" animBg="1"/>
      <p:bldP spid="32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30" y="2888600"/>
            <a:ext cx="4173270" cy="194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4-12: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circuit.</a:t>
            </a:r>
          </a:p>
        </p:txBody>
      </p:sp>
      <p:pic>
        <p:nvPicPr>
          <p:cNvPr id="4" name="Picture 3" descr="ale29559_0404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4"/>
          <a:stretch/>
        </p:blipFill>
        <p:spPr bwMode="auto">
          <a:xfrm>
            <a:off x="3984078" y="114300"/>
            <a:ext cx="4818168" cy="203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71706" y="1845263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le29559_0404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4"/>
          <a:stretch/>
        </p:blipFill>
        <p:spPr bwMode="auto">
          <a:xfrm>
            <a:off x="284656" y="2276376"/>
            <a:ext cx="3242852" cy="1369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3300001" y="2724435"/>
            <a:ext cx="480416" cy="799951"/>
            <a:chOff x="8394700" y="673100"/>
            <a:chExt cx="480416" cy="799951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68045" y="3646025"/>
            <a:ext cx="3512372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Observe: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 makes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 V and hence also 2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Multiply 11"/>
          <p:cNvSpPr/>
          <p:nvPr/>
        </p:nvSpPr>
        <p:spPr bwMode="auto">
          <a:xfrm>
            <a:off x="2199316" y="2636375"/>
            <a:ext cx="983703" cy="1000125"/>
          </a:xfrm>
          <a:prstGeom prst="mathMultiply">
            <a:avLst>
              <a:gd name="adj1" fmla="val 2218"/>
            </a:avLst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5" y="4391213"/>
            <a:ext cx="1923570" cy="1042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977527" y="4517362"/>
            <a:ext cx="480416" cy="799951"/>
            <a:chOff x="8394700" y="673100"/>
            <a:chExt cx="480416" cy="799951"/>
          </a:xfrm>
        </p:grpSpPr>
        <p:cxnSp>
          <p:nvCxnSpPr>
            <p:cNvPr id="15" name="Straight Connector 14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471705" y="5633059"/>
            <a:ext cx="3055803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 shorted, 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ence no current through the 6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10 A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Multiply 18"/>
          <p:cNvSpPr/>
          <p:nvPr/>
        </p:nvSpPr>
        <p:spPr bwMode="auto">
          <a:xfrm>
            <a:off x="241412" y="4391213"/>
            <a:ext cx="983703" cy="1000125"/>
          </a:xfrm>
          <a:prstGeom prst="mathMultiply">
            <a:avLst>
              <a:gd name="adj1" fmla="val 2218"/>
            </a:avLst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1977527" y="6663213"/>
            <a:ext cx="81570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4636976" y="2108958"/>
            <a:ext cx="3872024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Method #2: </a:t>
            </a:r>
          </a:p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Zero Ind. Sources + Test Source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4862534" y="2987369"/>
            <a:ext cx="2147048" cy="529716"/>
            <a:chOff x="4862534" y="2987369"/>
            <a:chExt cx="2147048" cy="529716"/>
          </a:xfrm>
        </p:grpSpPr>
        <p:sp>
          <p:nvSpPr>
            <p:cNvPr id="24" name="Oval 23"/>
            <p:cNvSpPr/>
            <p:nvPr/>
          </p:nvSpPr>
          <p:spPr bwMode="auto">
            <a:xfrm>
              <a:off x="6651172" y="3348016"/>
              <a:ext cx="169069" cy="1690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5412922" y="3347638"/>
              <a:ext cx="169069" cy="1690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489247" y="3016052"/>
              <a:ext cx="52033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62534" y="2987369"/>
              <a:ext cx="9194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(1+2)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082059" y="3459145"/>
            <a:ext cx="2691858" cy="735110"/>
            <a:chOff x="5082059" y="3459145"/>
            <a:chExt cx="2691858" cy="735110"/>
          </a:xfrm>
        </p:grpSpPr>
        <p:cxnSp>
          <p:nvCxnSpPr>
            <p:cNvPr id="23" name="Straight Arrow Connector 22"/>
            <p:cNvCxnSpPr/>
            <p:nvPr/>
          </p:nvCxnSpPr>
          <p:spPr bwMode="auto">
            <a:xfrm flipH="1">
              <a:off x="7303584" y="3524386"/>
              <a:ext cx="43706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7433759" y="3459145"/>
              <a:ext cx="3401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 smtClean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ZA" sz="2000" dirty="0"/>
            </a:p>
          </p:txBody>
        </p:sp>
        <p:cxnSp>
          <p:nvCxnSpPr>
            <p:cNvPr id="32" name="Straight Arrow Connector 31"/>
            <p:cNvCxnSpPr/>
            <p:nvPr/>
          </p:nvCxnSpPr>
          <p:spPr bwMode="auto">
            <a:xfrm>
              <a:off x="5082059" y="3744125"/>
              <a:ext cx="0" cy="45013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>
              <a:off x="6587747" y="3744125"/>
              <a:ext cx="0" cy="45013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0" name="Rectangle 29"/>
          <p:cNvSpPr/>
          <p:nvPr/>
        </p:nvSpPr>
        <p:spPr>
          <a:xfrm>
            <a:off x="4636976" y="4706609"/>
            <a:ext cx="1942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KCL @ 1 V node: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16898" y="5064680"/>
                <a:ext cx="1392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898" y="5064680"/>
                <a:ext cx="1392048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84601" y="5412563"/>
                <a:ext cx="3152914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1+2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=1 </m:t>
                      </m:r>
                      <m:r>
                        <a:rPr lang="en-ZA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601" y="5412563"/>
                <a:ext cx="3152914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801432" y="6040073"/>
                <a:ext cx="2388090" cy="65954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𝑁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𝑡𝑒𝑠𝑡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=1 </m:t>
                      </m:r>
                      <m:r>
                        <a:rPr lang="en-ZA" b="0" i="1" smtClean="0">
                          <a:latin typeface="Cambria Math"/>
                          <a:sym typeface="Symbol"/>
                        </a:rPr>
                        <m:t>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432" y="6040073"/>
                <a:ext cx="2388090" cy="6595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276" y="4556840"/>
            <a:ext cx="328149" cy="27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824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8" grpId="0" animBg="1"/>
      <p:bldP spid="19" grpId="0" animBg="1"/>
      <p:bldP spid="21" grpId="0" animBg="1"/>
      <p:bldP spid="30" grpId="0"/>
      <p:bldP spid="33" grpId="0"/>
      <p:bldP spid="38" grpId="0"/>
      <p:bldP spid="3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4-12: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circuit.</a:t>
            </a:r>
          </a:p>
        </p:txBody>
      </p:sp>
      <p:pic>
        <p:nvPicPr>
          <p:cNvPr id="4" name="Picture 3" descr="ale29559_0404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4"/>
          <a:stretch/>
        </p:blipFill>
        <p:spPr bwMode="auto">
          <a:xfrm>
            <a:off x="3984078" y="114300"/>
            <a:ext cx="4818168" cy="203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71706" y="1845263"/>
            <a:ext cx="351237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le29559_0404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4"/>
          <a:stretch/>
        </p:blipFill>
        <p:spPr bwMode="auto">
          <a:xfrm>
            <a:off x="284656" y="2276376"/>
            <a:ext cx="3242852" cy="1369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3300001" y="2724435"/>
            <a:ext cx="480416" cy="799951"/>
            <a:chOff x="8394700" y="673100"/>
            <a:chExt cx="480416" cy="799951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2" name="Multiply 11"/>
          <p:cNvSpPr/>
          <p:nvPr/>
        </p:nvSpPr>
        <p:spPr bwMode="auto">
          <a:xfrm>
            <a:off x="2199316" y="2636375"/>
            <a:ext cx="983703" cy="1000125"/>
          </a:xfrm>
          <a:prstGeom prst="mathMultiply">
            <a:avLst>
              <a:gd name="adj1" fmla="val 2218"/>
            </a:avLst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5" y="4391213"/>
            <a:ext cx="1923570" cy="1042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977527" y="4517362"/>
            <a:ext cx="480416" cy="799951"/>
            <a:chOff x="8394700" y="673100"/>
            <a:chExt cx="480416" cy="799951"/>
          </a:xfrm>
        </p:grpSpPr>
        <p:cxnSp>
          <p:nvCxnSpPr>
            <p:cNvPr id="15" name="Straight Connector 14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8477250" y="896193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9" name="Multiply 18"/>
          <p:cNvSpPr/>
          <p:nvPr/>
        </p:nvSpPr>
        <p:spPr bwMode="auto">
          <a:xfrm>
            <a:off x="241412" y="4391213"/>
            <a:ext cx="983703" cy="1000125"/>
          </a:xfrm>
          <a:prstGeom prst="mathMultiply">
            <a:avLst>
              <a:gd name="adj1" fmla="val 2218"/>
            </a:avLst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4636976" y="2108958"/>
            <a:ext cx="3872024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Method #3: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4189845" y="2833873"/>
            <a:ext cx="3430698" cy="1543120"/>
            <a:chOff x="4189845" y="2833873"/>
            <a:chExt cx="3430698" cy="1543120"/>
          </a:xfrm>
        </p:grpSpPr>
        <p:grpSp>
          <p:nvGrpSpPr>
            <p:cNvPr id="22" name="Group 21"/>
            <p:cNvGrpSpPr/>
            <p:nvPr/>
          </p:nvGrpSpPr>
          <p:grpSpPr>
            <a:xfrm>
              <a:off x="4189845" y="2871973"/>
              <a:ext cx="3430698" cy="1505020"/>
              <a:chOff x="4189845" y="2871973"/>
              <a:chExt cx="3430698" cy="1505020"/>
            </a:xfrm>
          </p:grpSpPr>
          <p:pic>
            <p:nvPicPr>
              <p:cNvPr id="135170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9845" y="2871973"/>
                <a:ext cx="3430698" cy="15050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" name="Oval 23"/>
              <p:cNvSpPr/>
              <p:nvPr/>
            </p:nvSpPr>
            <p:spPr bwMode="auto">
              <a:xfrm>
                <a:off x="5598637" y="4171328"/>
                <a:ext cx="169069" cy="169069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5572137" y="3217567"/>
                <a:ext cx="169069" cy="169069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  <p:sp>
          <p:nvSpPr>
            <p:cNvPr id="31" name="Rectangle 30"/>
            <p:cNvSpPr/>
            <p:nvPr/>
          </p:nvSpPr>
          <p:spPr>
            <a:xfrm>
              <a:off x="4970030" y="2833873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4636976" y="4337277"/>
            <a:ext cx="4006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Ito current flowing, all elements are now </a:t>
            </a:r>
          </a:p>
          <a:p>
            <a:pPr marL="0" indent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series, use Voltage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get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726003" y="4945508"/>
                <a:ext cx="2440347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2+6</m:t>
                          </m:r>
                        </m:den>
                      </m:f>
                      <m:d>
                        <m:d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b="0" i="1" smtClean="0">
                              <a:latin typeface="Cambria Math"/>
                            </a:rPr>
                            <m:t>60−2</m:t>
                          </m:r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003" y="4945508"/>
                <a:ext cx="2440347" cy="6173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6108946" y="629929"/>
            <a:ext cx="184809" cy="1481366"/>
            <a:chOff x="6108946" y="629929"/>
            <a:chExt cx="184809" cy="1481366"/>
          </a:xfrm>
        </p:grpSpPr>
        <p:sp>
          <p:nvSpPr>
            <p:cNvPr id="36" name="Oval 35"/>
            <p:cNvSpPr/>
            <p:nvPr/>
          </p:nvSpPr>
          <p:spPr bwMode="auto">
            <a:xfrm>
              <a:off x="6124686" y="1942226"/>
              <a:ext cx="169069" cy="1690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6108946" y="629929"/>
              <a:ext cx="169069" cy="1690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759179" y="5629520"/>
                <a:ext cx="2470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𝑜𝑐</m:t>
                          </m:r>
                        </m:sub>
                      </m:sSub>
                      <m:r>
                        <a:rPr lang="en-ZA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=10 </m:t>
                      </m:r>
                      <m:r>
                        <a:rPr lang="en-ZA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179" y="5629520"/>
                <a:ext cx="2470933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758490" y="6016230"/>
                <a:ext cx="2709653" cy="6718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𝑁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𝑜𝑐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𝑠𝑐</m:t>
                              </m:r>
                            </m:sub>
                          </m:sSub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=1 </m:t>
                      </m:r>
                      <m:r>
                        <a:rPr lang="en-ZA" sz="2000" b="0" i="1" smtClean="0">
                          <a:latin typeface="Cambria Math"/>
                          <a:sym typeface="Symbol"/>
                        </a:rPr>
                        <m:t>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490" y="6016230"/>
                <a:ext cx="2709653" cy="6718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268045" y="3646025"/>
            <a:ext cx="3512372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Observe: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 makes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 V and hence also 2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471705" y="5633059"/>
            <a:ext cx="3055803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 shorted, 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ence no current through the 6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10 A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1977527" y="6663213"/>
            <a:ext cx="81570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Arc 27"/>
          <p:cNvSpPr/>
          <p:nvPr/>
        </p:nvSpPr>
        <p:spPr bwMode="auto">
          <a:xfrm>
            <a:off x="5205106" y="3557808"/>
            <a:ext cx="908210" cy="492705"/>
          </a:xfrm>
          <a:prstGeom prst="arc">
            <a:avLst>
              <a:gd name="adj1" fmla="val 16200000"/>
              <a:gd name="adj2" fmla="val 10934318"/>
            </a:avLst>
          </a:prstGeom>
          <a:ln>
            <a:solidFill>
              <a:srgbClr val="00B050"/>
            </a:solidFill>
            <a:headEnd type="none" w="med" len="med"/>
            <a:tailEnd type="triangle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endParaRPr kumimoji="0" lang="en-ZA" sz="1800" b="0" i="1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7659147" y="2998258"/>
            <a:ext cx="1363279" cy="1331250"/>
            <a:chOff x="7636998" y="2892183"/>
            <a:chExt cx="1363279" cy="1331250"/>
          </a:xfrm>
        </p:grpSpPr>
        <p:pic>
          <p:nvPicPr>
            <p:cNvPr id="135171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1297" y="2892183"/>
              <a:ext cx="1318980" cy="1331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" name="Rectangle 48"/>
            <p:cNvSpPr/>
            <p:nvPr/>
          </p:nvSpPr>
          <p:spPr>
            <a:xfrm rot="16200000">
              <a:off x="7536009" y="3707580"/>
              <a:ext cx="46358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 V</a:t>
              </a:r>
              <a:endParaRPr lang="en-ZA" sz="11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03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0" grpId="0"/>
      <p:bldP spid="38" grpId="0"/>
      <p:bldP spid="41" grpId="0"/>
      <p:bldP spid="42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4-51: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 between terminals a-b.</a:t>
            </a:r>
          </a:p>
        </p:txBody>
      </p:sp>
      <p:pic>
        <p:nvPicPr>
          <p:cNvPr id="4" name="Picture 3" descr="ale29559_041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2"/>
          <a:stretch/>
        </p:blipFill>
        <p:spPr bwMode="auto">
          <a:xfrm>
            <a:off x="3971019" y="88542"/>
            <a:ext cx="4971216" cy="1975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58826" y="1703466"/>
            <a:ext cx="390997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6" y="2894748"/>
            <a:ext cx="3411581" cy="128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/>
          <p:nvPr/>
        </p:nvGrpSpPr>
        <p:grpSpPr>
          <a:xfrm rot="16200000">
            <a:off x="1744969" y="2312231"/>
            <a:ext cx="481538" cy="799951"/>
            <a:chOff x="8394700" y="673100"/>
            <a:chExt cx="481538" cy="799951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8394700" y="673100"/>
              <a:ext cx="0" cy="79995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8477250" y="896749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 rot="5400000">
              <a:off x="8477250" y="896194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1" name="Multiply 10"/>
          <p:cNvSpPr/>
          <p:nvPr/>
        </p:nvSpPr>
        <p:spPr bwMode="auto">
          <a:xfrm>
            <a:off x="1521176" y="2907875"/>
            <a:ext cx="983703" cy="610455"/>
          </a:xfrm>
          <a:prstGeom prst="mathMultiply">
            <a:avLst>
              <a:gd name="adj1" fmla="val 2218"/>
            </a:avLst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91372" y="4132269"/>
            <a:ext cx="3643312" cy="1554950"/>
            <a:chOff x="191372" y="4132269"/>
            <a:chExt cx="3643312" cy="1554950"/>
          </a:xfrm>
        </p:grpSpPr>
        <p:pic>
          <p:nvPicPr>
            <p:cNvPr id="13619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372" y="4472782"/>
              <a:ext cx="3643312" cy="1214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Straight Arrow Connector 12"/>
            <p:cNvCxnSpPr/>
            <p:nvPr/>
          </p:nvCxnSpPr>
          <p:spPr bwMode="auto">
            <a:xfrm rot="16200000">
              <a:off x="1989854" y="4327640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1786805" y="4132269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633230" y="428811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en-ZA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368799" y="2589478"/>
            <a:ext cx="3368878" cy="1883304"/>
            <a:chOff x="4368799" y="2589478"/>
            <a:chExt cx="3368878" cy="18833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368799" y="2952976"/>
                  <a:ext cx="3267882" cy="6705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000" b="0" i="1" smtClean="0">
                                <a:latin typeface="Cambria Math"/>
                              </a:rPr>
                              <m:t>−120</m:t>
                            </m:r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6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−6+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799" y="2952976"/>
                  <a:ext cx="3267882" cy="67056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4394198" y="3627281"/>
                  <a:ext cx="33434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−120+2</m:t>
                        </m:r>
                        <m:sSub>
                          <m:sSubPr>
                            <m:ctrlPr>
                              <a:rPr lang="en-ZA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−36+3</m:t>
                        </m:r>
                        <m:sSub>
                          <m:sSubPr>
                            <m:ctrlPr>
                              <a:rPr lang="en-ZA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198" y="3627281"/>
                  <a:ext cx="334347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4394198" y="4103450"/>
                  <a:ext cx="1242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=26 </m:t>
                        </m:r>
                        <m:r>
                          <a:rPr lang="en-ZA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198" y="4103450"/>
                  <a:ext cx="1242776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/>
            <p:cNvSpPr/>
            <p:nvPr/>
          </p:nvSpPr>
          <p:spPr>
            <a:xfrm>
              <a:off x="4462456" y="2589478"/>
              <a:ext cx="2086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KCL at big node:</a:t>
              </a:r>
              <a:endParaRPr lang="en-ZA" sz="20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462456" y="4623841"/>
            <a:ext cx="3140440" cy="1554376"/>
            <a:chOff x="4462456" y="4623841"/>
            <a:chExt cx="3140440" cy="1554376"/>
          </a:xfrm>
        </p:grpSpPr>
        <p:sp>
          <p:nvSpPr>
            <p:cNvPr id="20" name="Rectangle 19"/>
            <p:cNvSpPr/>
            <p:nvPr/>
          </p:nvSpPr>
          <p:spPr>
            <a:xfrm>
              <a:off x="4462456" y="4623841"/>
              <a:ext cx="188731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KCL at node </a:t>
              </a:r>
              <a:r>
                <a:rPr lang="en-US" sz="2000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:</a:t>
              </a:r>
              <a:endParaRPr lang="en-ZA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469795" y="4868572"/>
                  <a:ext cx="2223942" cy="6665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𝑠𝑐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−6+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795" y="4868572"/>
                  <a:ext cx="2223942" cy="66652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469795" y="5509701"/>
                  <a:ext cx="3133101" cy="668516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𝑠𝑐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𝑁</m:t>
                            </m:r>
                          </m:sub>
                        </m:sSub>
                        <m:r>
                          <a:rPr lang="en-ZA" sz="2000" b="0" i="1" smtClean="0">
                            <a:latin typeface="Cambria Math"/>
                          </a:rPr>
                          <m:t>=−6+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latin typeface="Cambria Math"/>
                              </a:rPr>
                              <m:t>26</m:t>
                            </m:r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=7 </m:t>
                        </m:r>
                        <m:r>
                          <a:rPr lang="en-ZA" sz="2000" b="0" i="1" smtClean="0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795" y="5509701"/>
                  <a:ext cx="3133101" cy="668516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/>
            <p:nvPr/>
          </p:nvCxnSpPr>
          <p:spPr bwMode="auto">
            <a:xfrm>
              <a:off x="6997700" y="6002813"/>
              <a:ext cx="588181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4463183" y="2124677"/>
            <a:ext cx="37343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Method #1: Nodal Analysis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6192" name="Group 136191"/>
          <p:cNvGrpSpPr/>
          <p:nvPr/>
        </p:nvGrpSpPr>
        <p:grpSpPr>
          <a:xfrm>
            <a:off x="1171464" y="4518915"/>
            <a:ext cx="2093253" cy="487172"/>
            <a:chOff x="1171464" y="4518915"/>
            <a:chExt cx="2093253" cy="487172"/>
          </a:xfrm>
        </p:grpSpPr>
        <p:cxnSp>
          <p:nvCxnSpPr>
            <p:cNvPr id="29" name="Straight Arrow Connector 28"/>
            <p:cNvCxnSpPr/>
            <p:nvPr/>
          </p:nvCxnSpPr>
          <p:spPr bwMode="auto">
            <a:xfrm flipH="1">
              <a:off x="3254175" y="4672824"/>
              <a:ext cx="10542" cy="333263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 flipH="1">
              <a:off x="2376742" y="4690688"/>
              <a:ext cx="8972" cy="28364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 bwMode="auto">
            <a:xfrm flipH="1">
              <a:off x="1661595" y="4665876"/>
              <a:ext cx="10542" cy="333263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 flipH="1">
              <a:off x="1171464" y="4518915"/>
              <a:ext cx="289662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500" y="5625558"/>
            <a:ext cx="328149" cy="27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00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6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4-51: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 between terminals a-b.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58826" y="1703466"/>
            <a:ext cx="5178148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Calculate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/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 #2: Source Transformations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41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2"/>
          <a:stretch/>
        </p:blipFill>
        <p:spPr bwMode="auto">
          <a:xfrm>
            <a:off x="3971019" y="88542"/>
            <a:ext cx="4971216" cy="1975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214250" y="4143220"/>
            <a:ext cx="3870127" cy="1473015"/>
            <a:chOff x="270523" y="2539824"/>
            <a:chExt cx="3870127" cy="1473015"/>
          </a:xfrm>
        </p:grpSpPr>
        <p:grpSp>
          <p:nvGrpSpPr>
            <p:cNvPr id="17" name="Group 16"/>
            <p:cNvGrpSpPr/>
            <p:nvPr/>
          </p:nvGrpSpPr>
          <p:grpSpPr>
            <a:xfrm>
              <a:off x="903286" y="2539824"/>
              <a:ext cx="3237364" cy="1473015"/>
              <a:chOff x="804861" y="3071515"/>
              <a:chExt cx="3237364" cy="1473015"/>
            </a:xfrm>
          </p:grpSpPr>
          <p:pic>
            <p:nvPicPr>
              <p:cNvPr id="137218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861" y="3367306"/>
                <a:ext cx="3237364" cy="11772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" name="Group 6"/>
              <p:cNvGrpSpPr/>
              <p:nvPr/>
            </p:nvGrpSpPr>
            <p:grpSpPr>
              <a:xfrm rot="16200000">
                <a:off x="2044936" y="2917072"/>
                <a:ext cx="491065" cy="799951"/>
                <a:chOff x="8394700" y="673100"/>
                <a:chExt cx="491065" cy="799951"/>
              </a:xfrm>
            </p:grpSpPr>
            <p:cxnSp>
              <p:nvCxnSpPr>
                <p:cNvPr id="8" name="Straight Connector 7"/>
                <p:cNvCxnSpPr/>
                <p:nvPr/>
              </p:nvCxnSpPr>
              <p:spPr bwMode="auto">
                <a:xfrm>
                  <a:off x="8394700" y="673100"/>
                  <a:ext cx="0" cy="79995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" name="Straight Arrow Connector 8"/>
                <p:cNvCxnSpPr/>
                <p:nvPr/>
              </p:nvCxnSpPr>
              <p:spPr bwMode="auto">
                <a:xfrm>
                  <a:off x="8477252" y="896748"/>
                  <a:ext cx="0" cy="407233"/>
                </a:xfrm>
                <a:prstGeom prst="straightConnector1">
                  <a:avLst/>
                </a:prstGeom>
                <a:ln>
                  <a:headEnd type="none" w="med" len="med"/>
                  <a:tailEnd type="arrow"/>
                </a:ln>
                <a:extLst/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 rot="5400000">
                  <a:off x="8486777" y="829523"/>
                  <a:ext cx="39786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 err="1">
                      <a:latin typeface="Times New Roman" pitchFamily="18" charset="0"/>
                      <a:cs typeface="Times New Roman" pitchFamily="18" charset="0"/>
                    </a:rPr>
                    <a:t>i</a:t>
                  </a:r>
                  <a:r>
                    <a:rPr lang="en-US" sz="2000" b="1" baseline="-25000" dirty="0" err="1">
                      <a:latin typeface="Times New Roman" pitchFamily="18" charset="0"/>
                      <a:cs typeface="Times New Roman" pitchFamily="18" charset="0"/>
                    </a:rPr>
                    <a:t>sc</a:t>
                  </a:r>
                  <a:endParaRPr lang="en-ZA" sz="2000" dirty="0"/>
                </a:p>
              </p:txBody>
            </p:sp>
          </p:grpSp>
        </p:grpSp>
        <p:sp>
          <p:nvSpPr>
            <p:cNvPr id="28" name="Rectangle 27"/>
            <p:cNvSpPr/>
            <p:nvPr/>
          </p:nvSpPr>
          <p:spPr>
            <a:xfrm>
              <a:off x="270523" y="3277661"/>
              <a:ext cx="6271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20 A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81556" y="2617641"/>
            <a:ext cx="3761777" cy="1674042"/>
            <a:chOff x="697067" y="4309668"/>
            <a:chExt cx="3761777" cy="1674042"/>
          </a:xfrm>
        </p:grpSpPr>
        <p:pic>
          <p:nvPicPr>
            <p:cNvPr id="13721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067" y="4520485"/>
              <a:ext cx="3761777" cy="146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1162949" y="5143631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0796" y="4399319"/>
              <a:ext cx="1140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6//3 = 2 </a:t>
              </a:r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71623" y="4404438"/>
              <a:ext cx="5373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 </a:t>
              </a:r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71623" y="5143631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12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 bwMode="auto">
            <a:xfrm rot="16200000">
              <a:off x="2644054" y="4514565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2374334" y="4309668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881556" y="4836598"/>
            <a:ext cx="3491340" cy="830997"/>
            <a:chOff x="4881556" y="4836598"/>
            <a:chExt cx="3491340" cy="830997"/>
          </a:xfrm>
        </p:grpSpPr>
        <p:sp>
          <p:nvSpPr>
            <p:cNvPr id="32" name="Rectangle 31"/>
            <p:cNvSpPr/>
            <p:nvPr/>
          </p:nvSpPr>
          <p:spPr>
            <a:xfrm>
              <a:off x="4881556" y="4836598"/>
              <a:ext cx="3491340" cy="83099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All in series:</a:t>
              </a:r>
            </a:p>
            <a:p>
              <a:r>
                <a:rPr lang="en-ZA" sz="2400" dirty="0" err="1" smtClean="0">
                  <a:solidFill>
                    <a:srgbClr val="3366CC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400" baseline="-25000" dirty="0" err="1" smtClean="0">
                  <a:solidFill>
                    <a:srgbClr val="3366CC"/>
                  </a:solidFill>
                  <a:latin typeface="Times New Roman" pitchFamily="18" charset="0"/>
                  <a:cs typeface="Times New Roman" pitchFamily="18" charset="0"/>
                </a:rPr>
                <a:t>sc</a:t>
              </a:r>
              <a:r>
                <a:rPr lang="en-ZA" sz="2400" dirty="0" smtClean="0">
                  <a:solidFill>
                    <a:srgbClr val="3366CC"/>
                  </a:solidFill>
                  <a:latin typeface="Times New Roman" pitchFamily="18" charset="0"/>
                  <a:cs typeface="Times New Roman" pitchFamily="18" charset="0"/>
                </a:rPr>
                <a:t> = (40 – 12)/(2+2) = 7 A </a:t>
              </a:r>
              <a:endParaRPr lang="en-ZA" sz="2400" dirty="0">
                <a:solidFill>
                  <a:srgbClr val="3366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 bwMode="auto">
            <a:xfrm>
              <a:off x="7733915" y="5587108"/>
              <a:ext cx="588181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441065" y="2499755"/>
            <a:ext cx="3643312" cy="1554950"/>
            <a:chOff x="191372" y="4132269"/>
            <a:chExt cx="3643312" cy="1554950"/>
          </a:xfrm>
        </p:grpSpPr>
        <p:pic>
          <p:nvPicPr>
            <p:cNvPr id="3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372" y="4472782"/>
              <a:ext cx="3643312" cy="1214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38" name="Straight Arrow Connector 37"/>
            <p:cNvCxnSpPr/>
            <p:nvPr/>
          </p:nvCxnSpPr>
          <p:spPr bwMode="auto">
            <a:xfrm rot="16200000">
              <a:off x="1989854" y="4327640"/>
              <a:ext cx="0" cy="407233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1786805" y="4132269"/>
              <a:ext cx="3978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>
                  <a:latin typeface="Times New Roman" pitchFamily="18" charset="0"/>
                  <a:cs typeface="Times New Roman" pitchFamily="18" charset="0"/>
                </a:rPr>
                <a:t>sc</a:t>
              </a:r>
              <a:endParaRPr lang="en-ZA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98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4-51: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Norton equivalent circuit between terminals a-b.</a:t>
            </a:r>
          </a:p>
        </p:txBody>
      </p:sp>
      <p:pic>
        <p:nvPicPr>
          <p:cNvPr id="4" name="Picture 3" descr="ale29559_041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2"/>
          <a:stretch/>
        </p:blipFill>
        <p:spPr bwMode="auto">
          <a:xfrm>
            <a:off x="3971019" y="88542"/>
            <a:ext cx="4971216" cy="1975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409352" y="1779938"/>
            <a:ext cx="3872024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Method #1: </a:t>
            </a:r>
          </a:p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Zero Ind. Sources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59" y="2930379"/>
            <a:ext cx="3653519" cy="175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4" name="Group 23"/>
          <p:cNvGrpSpPr/>
          <p:nvPr/>
        </p:nvGrpSpPr>
        <p:grpSpPr>
          <a:xfrm rot="16200000">
            <a:off x="1532320" y="2293034"/>
            <a:ext cx="910460" cy="1085850"/>
            <a:chOff x="2877158" y="711200"/>
            <a:chExt cx="1453542" cy="1733550"/>
          </a:xfrm>
        </p:grpSpPr>
        <p:sp>
          <p:nvSpPr>
            <p:cNvPr id="25" name="Arc 24"/>
            <p:cNvSpPr/>
            <p:nvPr/>
          </p:nvSpPr>
          <p:spPr bwMode="auto">
            <a:xfrm rot="10800000">
              <a:off x="3378200" y="711200"/>
              <a:ext cx="952500" cy="825500"/>
            </a:xfrm>
            <a:prstGeom prst="arc">
              <a:avLst>
                <a:gd name="adj1" fmla="val 16200000"/>
                <a:gd name="adj2" fmla="val 580696"/>
              </a:avLst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Arc 25"/>
            <p:cNvSpPr/>
            <p:nvPr/>
          </p:nvSpPr>
          <p:spPr bwMode="auto">
            <a:xfrm rot="10800000" flipV="1">
              <a:off x="3378200" y="1543050"/>
              <a:ext cx="952500" cy="90170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6" name="Arc 35"/>
            <p:cNvSpPr/>
            <p:nvPr/>
          </p:nvSpPr>
          <p:spPr bwMode="auto">
            <a:xfrm rot="13392871">
              <a:off x="3257549" y="1069975"/>
              <a:ext cx="933450" cy="933450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7" name="Arc 36"/>
            <p:cNvSpPr/>
            <p:nvPr/>
          </p:nvSpPr>
          <p:spPr bwMode="auto">
            <a:xfrm rot="8207129" flipH="1">
              <a:off x="2877158" y="1289247"/>
              <a:ext cx="483795" cy="483795"/>
            </a:xfrm>
            <a:prstGeom prst="arc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4504342" y="2957929"/>
            <a:ext cx="239841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 // (6//3+2)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= 4 // (2+2)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= 4 // 4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= 2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endParaRPr lang="en-ZA" sz="2400" dirty="0"/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5245963" y="4475897"/>
            <a:ext cx="69763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72" y="4772406"/>
            <a:ext cx="2579687" cy="184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73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027C-F814-445C-95FA-58AB71E18F2A}" type="slidenum">
              <a:rPr lang="en-US"/>
              <a:pPr/>
              <a:t>37</a:t>
            </a:fld>
            <a:endParaRPr lang="en-US"/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609600" y="16002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457200" y="1676400"/>
            <a:ext cx="4495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dirty="0"/>
              <a:t>If the entire circuit is replaced by its </a:t>
            </a:r>
            <a:r>
              <a:rPr lang="en-US" sz="2000" u="sng" dirty="0" err="1">
                <a:solidFill>
                  <a:srgbClr val="FF3300"/>
                </a:solidFill>
              </a:rPr>
              <a:t>Thevenin</a:t>
            </a:r>
            <a:r>
              <a:rPr lang="en-US" sz="2000" u="sng" dirty="0">
                <a:solidFill>
                  <a:srgbClr val="FF3300"/>
                </a:solidFill>
              </a:rPr>
              <a:t> equivalent</a:t>
            </a:r>
            <a:r>
              <a:rPr lang="en-US" sz="2000" dirty="0"/>
              <a:t> except for the load, the power delivered to the load is: </a:t>
            </a:r>
          </a:p>
        </p:txBody>
      </p:sp>
      <p:sp>
        <p:nvSpPr>
          <p:cNvPr id="131089" name="Text Box 17"/>
          <p:cNvSpPr txBox="1">
            <a:spLocks noChangeArrowheads="1"/>
          </p:cNvSpPr>
          <p:nvPr/>
        </p:nvSpPr>
        <p:spPr bwMode="auto">
          <a:xfrm>
            <a:off x="5257800" y="5943600"/>
            <a:ext cx="3594100" cy="54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1400" dirty="0"/>
              <a:t>The power transfer profile with different R</a:t>
            </a:r>
            <a:r>
              <a:rPr lang="en-US" sz="1400" baseline="-25000" dirty="0"/>
              <a:t>L</a:t>
            </a:r>
            <a:r>
              <a:rPr lang="en-US" sz="1400" dirty="0"/>
              <a:t> </a:t>
            </a:r>
          </a:p>
        </p:txBody>
      </p:sp>
      <p:sp>
        <p:nvSpPr>
          <p:cNvPr id="131090" name="Rectangle 18"/>
          <p:cNvSpPr>
            <a:spLocks noChangeArrowheads="1"/>
          </p:cNvSpPr>
          <p:nvPr/>
        </p:nvSpPr>
        <p:spPr bwMode="auto">
          <a:xfrm>
            <a:off x="457200" y="4541226"/>
            <a:ext cx="45720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For maximum power dissipated in R</a:t>
            </a:r>
            <a:r>
              <a:rPr lang="en-US" sz="2000" baseline="-25000" dirty="0"/>
              <a:t>L</a:t>
            </a:r>
            <a:r>
              <a:rPr lang="en-US" sz="2000" dirty="0"/>
              <a:t>, </a:t>
            </a:r>
            <a:r>
              <a:rPr lang="en-US" sz="2000" dirty="0" err="1"/>
              <a:t>P</a:t>
            </a:r>
            <a:r>
              <a:rPr lang="en-US" sz="2000" baseline="-25000" dirty="0" err="1"/>
              <a:t>max</a:t>
            </a:r>
            <a:r>
              <a:rPr lang="en-US" sz="2000" dirty="0"/>
              <a:t>, for a given </a:t>
            </a:r>
            <a:r>
              <a:rPr lang="en-US" sz="2000" dirty="0" smtClean="0"/>
              <a:t>R</a:t>
            </a:r>
            <a:r>
              <a:rPr lang="en-US" sz="2000" baseline="-25000" dirty="0" smtClean="0"/>
              <a:t>TH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dirty="0" smtClean="0"/>
              <a:t>V</a:t>
            </a:r>
            <a:r>
              <a:rPr lang="en-US" sz="2000" baseline="-25000" dirty="0" smtClean="0"/>
              <a:t>TH</a:t>
            </a:r>
            <a:r>
              <a:rPr lang="en-US" sz="2000" dirty="0"/>
              <a:t>:	</a:t>
            </a:r>
            <a:endParaRPr lang="en-US" sz="2000" baseline="-25000" dirty="0"/>
          </a:p>
        </p:txBody>
      </p:sp>
      <p:graphicFrame>
        <p:nvGraphicFramePr>
          <p:cNvPr id="131093" name="Object 21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675021627"/>
              </p:ext>
            </p:extLst>
          </p:nvPr>
        </p:nvGraphicFramePr>
        <p:xfrm>
          <a:off x="1219200" y="2895601"/>
          <a:ext cx="3389984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65" name="Equation" r:id="rId4" imgW="1714320" imgH="507960" progId="Equation.3">
                  <p:embed/>
                </p:oleObj>
              </mc:Choice>
              <mc:Fallback>
                <p:oleObj name="Equation" r:id="rId4" imgW="1714320" imgH="5079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1"/>
                        <a:ext cx="3389984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0" y="139699"/>
            <a:ext cx="9144000" cy="134504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4 L#5:  </a:t>
            </a:r>
          </a:p>
          <a:p>
            <a:r>
              <a:rPr lang="en-US" sz="4800" smtClean="0"/>
              <a:t>4.8 </a:t>
            </a:r>
            <a:r>
              <a:rPr lang="en-US" sz="4800" dirty="0" smtClean="0"/>
              <a:t>Maximum Power Transfer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15" name="Picture 3" descr="ale29559_0404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1" t="9951" r="10377"/>
          <a:stretch/>
        </p:blipFill>
        <p:spPr bwMode="auto">
          <a:xfrm>
            <a:off x="5372101" y="1346198"/>
            <a:ext cx="3479799" cy="228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 descr="ale29559_0404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t="8699" r="3147"/>
          <a:stretch/>
        </p:blipFill>
        <p:spPr bwMode="auto">
          <a:xfrm>
            <a:off x="5257800" y="3754406"/>
            <a:ext cx="3671284" cy="218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" y="5262506"/>
                <a:ext cx="5048113" cy="846194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    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→    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𝑚𝑎𝑥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𝑡h</m:t>
                              </m:r>
                            </m:sub>
                            <m:sup/>
                          </m:sSubSup>
                          <m:r>
                            <a:rPr lang="en-ZA" sz="2400" b="0" i="1" baseline="30000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ZA" sz="2400" i="1"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𝑅𝐿</m:t>
                              </m:r>
                            </m:sub>
                            <m:sup/>
                          </m:sSubSup>
                          <m:r>
                            <a:rPr lang="en-ZA" sz="2400" i="1" baseline="30000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262506"/>
                <a:ext cx="5048113" cy="84619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9" grpId="0"/>
      <p:bldP spid="131090" grpId="0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BF6F-2795-479C-8FD1-4D84886B2E37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 4-13: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R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maximum power transfer as well as what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will be.</a:t>
            </a:r>
          </a:p>
        </p:txBody>
      </p:sp>
      <p:pic>
        <p:nvPicPr>
          <p:cNvPr id="9" name="Picture 3" descr="ale29559_0405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1"/>
          <a:stretch/>
        </p:blipFill>
        <p:spPr bwMode="auto">
          <a:xfrm>
            <a:off x="4254500" y="114299"/>
            <a:ext cx="4637088" cy="1753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46556" y="1741837"/>
            <a:ext cx="4757244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Method: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Determine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circuit between a-b.  I.e.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5456" y="2578037"/>
            <a:ext cx="4241305" cy="2226929"/>
            <a:chOff x="335456" y="2578037"/>
            <a:chExt cx="4241305" cy="2226929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35456" y="2578037"/>
              <a:ext cx="337666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2400" b="1" baseline="-25000" dirty="0" err="1" smtClean="0">
                  <a:latin typeface="Times New Roman" pitchFamily="18" charset="0"/>
                  <a:cs typeface="Times New Roman" pitchFamily="18" charset="0"/>
                </a:rPr>
                <a:t>th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:  Zeroing of sources:</a:t>
              </a:r>
            </a:p>
          </p:txBody>
        </p:sp>
        <p:pic>
          <p:nvPicPr>
            <p:cNvPr id="132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456" y="3066536"/>
              <a:ext cx="3527840" cy="1738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3" name="Group 12"/>
            <p:cNvGrpSpPr/>
            <p:nvPr/>
          </p:nvGrpSpPr>
          <p:grpSpPr>
            <a:xfrm>
              <a:off x="3666301" y="3430072"/>
              <a:ext cx="910460" cy="1085850"/>
              <a:chOff x="2877158" y="711200"/>
              <a:chExt cx="1453542" cy="1733550"/>
            </a:xfrm>
          </p:grpSpPr>
          <p:sp>
            <p:nvSpPr>
              <p:cNvPr id="14" name="Arc 13"/>
              <p:cNvSpPr/>
              <p:nvPr/>
            </p:nvSpPr>
            <p:spPr bwMode="auto">
              <a:xfrm rot="10800000">
                <a:off x="3378200" y="711200"/>
                <a:ext cx="952500" cy="825500"/>
              </a:xfrm>
              <a:prstGeom prst="arc">
                <a:avLst>
                  <a:gd name="adj1" fmla="val 16200000"/>
                  <a:gd name="adj2" fmla="val 580696"/>
                </a:avLst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5" name="Arc 14"/>
              <p:cNvSpPr/>
              <p:nvPr/>
            </p:nvSpPr>
            <p:spPr bwMode="auto">
              <a:xfrm rot="10800000" flipV="1">
                <a:off x="3378200" y="1543050"/>
                <a:ext cx="952500" cy="901700"/>
              </a:xfrm>
              <a:prstGeom prst="arc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6" name="Arc 15"/>
              <p:cNvSpPr/>
              <p:nvPr/>
            </p:nvSpPr>
            <p:spPr bwMode="auto">
              <a:xfrm rot="13392871">
                <a:off x="3257549" y="1069975"/>
                <a:ext cx="933450" cy="933450"/>
              </a:xfrm>
              <a:prstGeom prst="arc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7" name="Arc 16"/>
              <p:cNvSpPr/>
              <p:nvPr/>
            </p:nvSpPr>
            <p:spPr bwMode="auto">
              <a:xfrm rot="8207129" flipH="1">
                <a:off x="2877158" y="1289247"/>
                <a:ext cx="483795" cy="483795"/>
              </a:xfrm>
              <a:prstGeom prst="arc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</p:grp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246556" y="4619419"/>
            <a:ext cx="3357087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6//12 + 3 + 2 = 9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 = R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L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4833911" y="1632395"/>
            <a:ext cx="3376666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 Super positioning: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759359" y="2191772"/>
            <a:ext cx="4105241" cy="1141236"/>
            <a:chOff x="4759359" y="2191772"/>
            <a:chExt cx="4105241" cy="1141236"/>
          </a:xfrm>
        </p:grpSpPr>
        <p:pic>
          <p:nvPicPr>
            <p:cNvPr id="13209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9359" y="2191772"/>
              <a:ext cx="3525769" cy="1141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8264559" y="2247374"/>
              <a:ext cx="600041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  <a:p>
              <a:pPr marL="0" indent="0"/>
              <a:r>
                <a:rPr lang="en-US" sz="20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sz="2000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th1</a:t>
              </a:r>
              <a:endParaRPr 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0" indent="0"/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4872011" y="3344853"/>
            <a:ext cx="3268689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th1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12 V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12/(6+12) = 8 V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2011" y="3939037"/>
            <a:ext cx="3979247" cy="1259164"/>
            <a:chOff x="4872011" y="3939037"/>
            <a:chExt cx="3979247" cy="1259164"/>
          </a:xfrm>
        </p:grpSpPr>
        <p:pic>
          <p:nvPicPr>
            <p:cNvPr id="132101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2011" y="3939037"/>
              <a:ext cx="3569246" cy="1259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8251217" y="4030307"/>
              <a:ext cx="600041" cy="1015663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  <a:p>
              <a:pPr marL="0" indent="0"/>
              <a:r>
                <a:rPr lang="en-US" sz="20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sz="2000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th2</a:t>
              </a:r>
              <a:endParaRPr 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0" indent="0"/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5292559" y="5211080"/>
            <a:ext cx="2753907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th2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= 2A  ((6//12) + 3) </a:t>
            </a:r>
          </a:p>
          <a:p>
            <a:pPr marL="0" indent="0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= 2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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7 = 14 V</a:t>
            </a:r>
          </a:p>
          <a:p>
            <a:pPr marL="0" indent="0"/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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= 8 + 14 = 22V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2419351" y="4990808"/>
            <a:ext cx="1184293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18801" y="5108787"/>
            <a:ext cx="2222972" cy="1647593"/>
            <a:chOff x="218801" y="5108787"/>
            <a:chExt cx="2222972" cy="1647593"/>
          </a:xfrm>
        </p:grpSpPr>
        <p:pic>
          <p:nvPicPr>
            <p:cNvPr id="132102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801" y="5169628"/>
              <a:ext cx="1804987" cy="1586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979913" y="5108787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9 </a:t>
              </a:r>
              <a:r>
                <a:rPr lang="en-US" dirty="0"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lang="en-ZA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06049" y="5778338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9 </a:t>
              </a:r>
              <a:r>
                <a:rPr lang="en-US" dirty="0">
                  <a:latin typeface="Times New Roman" pitchFamily="18" charset="0"/>
                  <a:cs typeface="Times New Roman" pitchFamily="18" charset="0"/>
                  <a:sym typeface="Symbol"/>
                </a:rPr>
                <a:t></a:t>
              </a:r>
              <a:endParaRPr lang="en-ZA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422747" y="5641029"/>
            <a:ext cx="2708242" cy="648126"/>
            <a:chOff x="2422747" y="5641029"/>
            <a:chExt cx="2708242" cy="648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2422747" y="5641029"/>
                  <a:ext cx="2708242" cy="648126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ZA" b="0" i="1" smtClean="0">
                                <a:latin typeface="Cambria Math"/>
                              </a:rPr>
                              <m:t>𝑚𝑎𝑥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ZA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ZA" b="0" i="1" smtClean="0">
                                    <a:latin typeface="Cambria Math"/>
                                  </a:rPr>
                                  <m:t>22</m:t>
                                </m:r>
                              </m:e>
                              <m:sup>
                                <m:r>
                                  <a:rPr lang="en-ZA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ZA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n-ZA" b="0" i="1" smtClean="0">
                                <a:latin typeface="Cambria Math"/>
                                <a:ea typeface="Cambria Math"/>
                              </a:rPr>
                              <m:t>×9</m:t>
                            </m:r>
                          </m:den>
                        </m:f>
                        <m:r>
                          <a:rPr lang="en-ZA" b="0" i="1" smtClean="0">
                            <a:latin typeface="Cambria Math"/>
                          </a:rPr>
                          <m:t>=13.44 </m:t>
                        </m:r>
                        <m:r>
                          <a:rPr lang="en-ZA" b="0" i="1" smtClean="0">
                            <a:latin typeface="Cambria Math"/>
                          </a:rPr>
                          <m:t>𝑊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2747" y="5641029"/>
                  <a:ext cx="2708242" cy="648126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/>
            <p:cNvCxnSpPr/>
            <p:nvPr/>
          </p:nvCxnSpPr>
          <p:spPr bwMode="auto">
            <a:xfrm>
              <a:off x="4185540" y="6186393"/>
              <a:ext cx="895534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/>
          <p:cNvCxnSpPr/>
          <p:nvPr/>
        </p:nvCxnSpPr>
        <p:spPr bwMode="auto">
          <a:xfrm>
            <a:off x="7165190" y="6147670"/>
            <a:ext cx="592147" cy="12408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57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19" grpId="0" animBg="1"/>
      <p:bldP spid="22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3699422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4-13: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R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maximum power transfer as well as what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will be.</a:t>
            </a:r>
          </a:p>
        </p:txBody>
      </p:sp>
      <p:pic>
        <p:nvPicPr>
          <p:cNvPr id="4" name="Picture 3" descr="ale29559_0405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3"/>
          <a:stretch/>
        </p:blipFill>
        <p:spPr bwMode="auto">
          <a:xfrm>
            <a:off x="5236976" y="54529"/>
            <a:ext cx="3356522" cy="16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0" name="Group 29"/>
          <p:cNvGrpSpPr/>
          <p:nvPr/>
        </p:nvGrpSpPr>
        <p:grpSpPr>
          <a:xfrm>
            <a:off x="335456" y="1694547"/>
            <a:ext cx="3376666" cy="1965134"/>
            <a:chOff x="335456" y="1694547"/>
            <a:chExt cx="3376666" cy="1965134"/>
          </a:xfrm>
        </p:grpSpPr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335456" y="1694547"/>
              <a:ext cx="337666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2400" b="1" baseline="-25000" dirty="0" err="1" smtClean="0">
                  <a:latin typeface="Times New Roman" pitchFamily="18" charset="0"/>
                  <a:cs typeface="Times New Roman" pitchFamily="18" charset="0"/>
                </a:rPr>
                <a:t>th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:  Method #2:</a:t>
              </a:r>
            </a:p>
          </p:txBody>
        </p:sp>
        <p:pic>
          <p:nvPicPr>
            <p:cNvPr id="13209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845" y="2181673"/>
              <a:ext cx="2650222" cy="1478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3137763" y="2099902"/>
              <a:ext cx="3401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baseline="-250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ZA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 flipH="1">
              <a:off x="2730500" y="2304197"/>
              <a:ext cx="40726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1751053" y="2068337"/>
            <a:ext cx="370614" cy="1757618"/>
            <a:chOff x="1542453" y="2433247"/>
            <a:chExt cx="370614" cy="1757618"/>
          </a:xfrm>
        </p:grpSpPr>
        <p:sp>
          <p:nvSpPr>
            <p:cNvPr id="10" name="Rectangle 9"/>
            <p:cNvSpPr/>
            <p:nvPr/>
          </p:nvSpPr>
          <p:spPr>
            <a:xfrm>
              <a:off x="1542453" y="2433247"/>
              <a:ext cx="3706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endParaRPr lang="en-ZA" sz="2000" dirty="0">
                <a:solidFill>
                  <a:srgbClr val="FF0000"/>
                </a:solidFill>
              </a:endParaRPr>
            </a:p>
          </p:txBody>
        </p:sp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94" b="-1"/>
            <a:stretch/>
          </p:blipFill>
          <p:spPr bwMode="auto">
            <a:xfrm>
              <a:off x="1588814" y="3977957"/>
              <a:ext cx="273912" cy="212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0345" y="3868148"/>
                <a:ext cx="2735044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−3</m:t>
                          </m:r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45" y="3868148"/>
                <a:ext cx="2735044" cy="61093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/>
          <p:cNvGrpSpPr/>
          <p:nvPr/>
        </p:nvGrpSpPr>
        <p:grpSpPr>
          <a:xfrm>
            <a:off x="188554" y="4489946"/>
            <a:ext cx="4306500" cy="404983"/>
            <a:chOff x="188554" y="4489946"/>
            <a:chExt cx="4306500" cy="4049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61147" y="4489946"/>
                  <a:ext cx="3733907" cy="4049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+4</m:t>
                        </m:r>
                        <m:d>
                          <m:dPr>
                            <m:ctrlP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−3</m:t>
                            </m:r>
                            <m:d>
                              <m:d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+(</m:t>
                        </m:r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−1) =0</m:t>
                        </m:r>
                      </m:oMath>
                    </m:oMathPara>
                  </a14:m>
                  <a:endParaRPr lang="en-ZA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147" y="4489946"/>
                  <a:ext cx="3733907" cy="40498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/>
            <p:cNvSpPr/>
            <p:nvPr/>
          </p:nvSpPr>
          <p:spPr>
            <a:xfrm>
              <a:off x="188554" y="4504286"/>
              <a:ext cx="5725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x4: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35746" y="4916155"/>
            <a:ext cx="2176314" cy="816758"/>
            <a:chOff x="735746" y="4916155"/>
            <a:chExt cx="2176314" cy="816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73846" y="4916155"/>
                  <a:ext cx="21382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b="0" i="1" smtClean="0">
                            <a:latin typeface="Cambria Math"/>
                          </a:rPr>
                          <m:t>2</m:t>
                        </m:r>
                        <m:r>
                          <a:rPr lang="en-ZA" b="0" i="1" smtClean="0"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latin typeface="Cambria Math"/>
                          </a:rPr>
                          <m:t>+16</m:t>
                        </m:r>
                        <m:r>
                          <a:rPr lang="en-ZA" b="0" i="1" smtClean="0"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latin typeface="Cambria Math"/>
                          </a:rPr>
                          <m:t>+</m:t>
                        </m:r>
                        <m:r>
                          <a:rPr lang="en-ZA" b="0" i="1" smtClean="0"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latin typeface="Cambria Math"/>
                          </a:rPr>
                          <m:t> =1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46" y="4916155"/>
                  <a:ext cx="213821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35746" y="5278621"/>
                  <a:ext cx="1245533" cy="4542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f>
                          <m:fPr>
                            <m:type m:val="skw"/>
                            <m:ctrlP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19</m:t>
                            </m:r>
                          </m:den>
                        </m:f>
                      </m:oMath>
                    </m:oMathPara>
                  </a14:m>
                  <a:endParaRPr lang="en-ZA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746" y="5278621"/>
                  <a:ext cx="1245533" cy="45429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120270" r="-41176" b="-187838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4655887" y="2192787"/>
            <a:ext cx="3806614" cy="1530309"/>
            <a:chOff x="4655887" y="2192787"/>
            <a:chExt cx="3806614" cy="1530309"/>
          </a:xfrm>
        </p:grpSpPr>
        <p:grpSp>
          <p:nvGrpSpPr>
            <p:cNvPr id="38" name="Group 37"/>
            <p:cNvGrpSpPr/>
            <p:nvPr/>
          </p:nvGrpSpPr>
          <p:grpSpPr>
            <a:xfrm>
              <a:off x="4655887" y="2192787"/>
              <a:ext cx="3428704" cy="1530309"/>
              <a:chOff x="4655887" y="2192787"/>
              <a:chExt cx="3428704" cy="1530309"/>
            </a:xfrm>
          </p:grpSpPr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4655887" y="2250069"/>
                <a:ext cx="807544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/>
            </p:spPr>
            <p:txBody>
              <a:bodyPr wrap="squar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indent="0"/>
                <a:r>
                  <a:rPr lang="en-US" sz="2400" b="1" dirty="0" err="1" smtClean="0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US" sz="2400" b="1" baseline="-25000" dirty="0" err="1" smtClean="0">
                    <a:latin typeface="Times New Roman" pitchFamily="18" charset="0"/>
                    <a:cs typeface="Times New Roman" pitchFamily="18" charset="0"/>
                  </a:rPr>
                  <a:t>th</a:t>
                </a:r>
                <a:r>
                  <a:rPr lang="en-US" sz="2400" b="1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</p:txBody>
          </p:sp>
          <p:pic>
            <p:nvPicPr>
              <p:cNvPr id="132099" name="Picture 3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58357" y="2192787"/>
                <a:ext cx="2326234" cy="1530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7862460" y="2553957"/>
              <a:ext cx="600041" cy="1015663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  <a:p>
              <a:pPr marL="0" indent="0"/>
              <a:r>
                <a:rPr lang="en-US" sz="2000" i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sz="2000" i="1" baseline="-250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th</a:t>
              </a:r>
              <a:endParaRPr 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0" indent="0"/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35200" y="3837987"/>
                <a:ext cx="2307748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−9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−3</m:t>
                          </m:r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200" y="3837987"/>
                <a:ext cx="2307748" cy="61093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746816" y="4536487"/>
                <a:ext cx="2830710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−9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−3(9−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816" y="4536487"/>
                <a:ext cx="2830710" cy="61811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19510" y="5194041"/>
                <a:ext cx="32338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latin typeface="Cambria Math"/>
                        </a:rPr>
                        <m:t>−9+2</m:t>
                      </m:r>
                      <m:d>
                        <m:d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−27+3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</m:e>
                      </m:d>
                      <m:r>
                        <a:rPr lang="en-ZA" b="0" i="1" smtClean="0">
                          <a:latin typeface="Cambria Math"/>
                        </a:rPr>
                        <m:t> =0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510" y="5194041"/>
                <a:ext cx="323389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78869" y="5660759"/>
                <a:ext cx="25421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+2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+6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 =9+54</m:t>
                      </m:r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869" y="5660759"/>
                <a:ext cx="254217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88517" y="6072887"/>
                <a:ext cx="2484783" cy="4560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latin typeface="Cambria Math"/>
                        </a:rPr>
                        <m:t> =</m:t>
                      </m:r>
                      <m:sSub>
                        <m:sSub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63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=7 </m:t>
                      </m:r>
                      <m:r>
                        <a:rPr lang="en-ZA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517" y="6072887"/>
                <a:ext cx="2484783" cy="456087"/>
              </a:xfrm>
              <a:prstGeom prst="rect">
                <a:avLst/>
              </a:prstGeom>
              <a:blipFill rotWithShape="1">
                <a:blip r:embed="rId14"/>
                <a:stretch>
                  <a:fillRect t="-118667" r="-491" b="-184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680030" y="4993083"/>
            <a:ext cx="1916935" cy="1080745"/>
            <a:chOff x="2422747" y="5641029"/>
            <a:chExt cx="1916935" cy="1080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2422747" y="5641029"/>
                  <a:ext cx="1916935" cy="1080745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ZA" b="0" i="1" smtClean="0">
                                <a:latin typeface="Cambria Math"/>
                              </a:rPr>
                              <m:t>𝑚𝑎𝑥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ZA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ZA" b="0" i="1" smtClean="0">
                                    <a:latin typeface="Cambria Math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ZA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ZA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n-ZA" b="0" i="1" smtClean="0">
                                <a:latin typeface="Cambria Math"/>
                                <a:ea typeface="Cambria Math"/>
                              </a:rPr>
                              <m:t>×4.</m:t>
                            </m:r>
                            <m:acc>
                              <m:accPr>
                                <m:chr m:val="̇"/>
                                <m:ctrlPr>
                                  <a:rPr lang="en-ZA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n-ZA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en-ZA" b="0" i="1" dirty="0" smtClean="0">
                    <a:latin typeface="Cambria Math"/>
                    <a:ea typeface="Cambria Math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ZA" b="0" dirty="0" smtClean="0"/>
                    <a:t>        </a:t>
                  </a:r>
                  <a14:m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=2.901 </m:t>
                      </m:r>
                      <m:r>
                        <a:rPr lang="en-ZA" b="0" i="1" smtClean="0">
                          <a:latin typeface="Cambria Math"/>
                        </a:rPr>
                        <m:t>𝑊</m:t>
                      </m:r>
                    </m:oMath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2747" y="5641029"/>
                  <a:ext cx="1916935" cy="108074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/>
            <p:cNvCxnSpPr/>
            <p:nvPr/>
          </p:nvCxnSpPr>
          <p:spPr bwMode="auto">
            <a:xfrm>
              <a:off x="3398604" y="6636531"/>
              <a:ext cx="895534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766845" y="5743564"/>
            <a:ext cx="3060966" cy="1057759"/>
            <a:chOff x="766845" y="5743564"/>
            <a:chExt cx="3060966" cy="1057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80998" y="5743564"/>
                  <a:ext cx="2371547" cy="61093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b="0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en-ZA">
                            <a:solidFill>
                              <a:srgbClr val="0066CC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b="0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  <m:t>1−</m:t>
                            </m:r>
                            <m:r>
                              <a:rPr lang="en-ZA" b="0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  <m:t>𝑉</m:t>
                            </m:r>
                          </m:num>
                          <m:den>
                            <m:r>
                              <a:rPr lang="en-ZA" b="0" i="1" smtClean="0">
                                <a:solidFill>
                                  <a:srgbClr val="0066CC"/>
                                </a:solidFill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b="0" i="1" smtClean="0">
                            <a:solidFill>
                              <a:srgbClr val="0066CC"/>
                            </a:solidFill>
                            <a:latin typeface="Cambria Math"/>
                          </a:rPr>
                          <m:t>=0.237 </m:t>
                        </m:r>
                        <m:r>
                          <a:rPr lang="en-ZA" b="0" i="1" smtClean="0">
                            <a:solidFill>
                              <a:srgbClr val="0066CC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ZA" dirty="0">
                    <a:solidFill>
                      <a:srgbClr val="0066CC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998" y="5743564"/>
                  <a:ext cx="2371547" cy="610936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766845" y="6300930"/>
                  <a:ext cx="3060966" cy="5003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𝑡h</m:t>
                            </m:r>
                          </m:sub>
                        </m:sSub>
                        <m:r>
                          <a:rPr lang="en-ZA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type m:val="skw"/>
                            <m:ctrlP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𝑡𝑒𝑠𝑡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ZA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4.</m:t>
                        </m:r>
                        <m:acc>
                          <m:accPr>
                            <m:chr m:val="̇"/>
                            <m:ctrlP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</m:acc>
                        <m:r>
                          <a:rPr lang="en-ZA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ZA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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45" y="6300930"/>
                  <a:ext cx="3060966" cy="500393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106098" b="-162195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/>
          <p:cNvGrpSpPr/>
          <p:nvPr/>
        </p:nvGrpSpPr>
        <p:grpSpPr>
          <a:xfrm>
            <a:off x="6908397" y="2117538"/>
            <a:ext cx="370614" cy="1757618"/>
            <a:chOff x="1542453" y="2433247"/>
            <a:chExt cx="370614" cy="1757618"/>
          </a:xfrm>
        </p:grpSpPr>
        <p:sp>
          <p:nvSpPr>
            <p:cNvPr id="33" name="Rectangle 32"/>
            <p:cNvSpPr/>
            <p:nvPr/>
          </p:nvSpPr>
          <p:spPr>
            <a:xfrm>
              <a:off x="1542453" y="2433247"/>
              <a:ext cx="3706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endParaRPr lang="en-ZA" sz="2000" dirty="0">
                <a:solidFill>
                  <a:srgbClr val="FF0000"/>
                </a:solidFill>
              </a:endParaRPr>
            </a:p>
          </p:txBody>
        </p:sp>
        <p:pic>
          <p:nvPicPr>
            <p:cNvPr id="34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94" b="-1"/>
            <a:stretch/>
          </p:blipFill>
          <p:spPr bwMode="auto">
            <a:xfrm>
              <a:off x="1588814" y="3977957"/>
              <a:ext cx="273912" cy="212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5" name="Cloud 34"/>
          <p:cNvSpPr/>
          <p:nvPr/>
        </p:nvSpPr>
        <p:spPr bwMode="auto">
          <a:xfrm>
            <a:off x="3565389" y="3868148"/>
            <a:ext cx="1349511" cy="590266"/>
          </a:xfrm>
          <a:prstGeom prst="cloud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ZA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i="1" baseline="-250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ZA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i="1" dirty="0" smtClean="0">
                <a:latin typeface="Times New Roman" pitchFamily="18" charset="0"/>
                <a:cs typeface="Times New Roman" pitchFamily="18" charset="0"/>
              </a:rPr>
              <a:t>= -</a:t>
            </a:r>
            <a:r>
              <a:rPr kumimoji="0" lang="en-ZA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loud 41"/>
              <p:cNvSpPr/>
              <p:nvPr/>
            </p:nvSpPr>
            <p:spPr bwMode="auto">
              <a:xfrm>
                <a:off x="7828936" y="4107797"/>
                <a:ext cx="1222870" cy="499644"/>
              </a:xfrm>
              <a:prstGeom prst="cloud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ZA" sz="1600" i="1" dirty="0" err="1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sz="1600" i="1" baseline="-25000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ZA" sz="1600" i="1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1600" i="1" dirty="0" smtClean="0">
                    <a:latin typeface="Times New Roman" pitchFamily="18" charset="0"/>
                    <a:cs typeface="Times New Roman" pitchFamily="18" charset="0"/>
                  </a:rPr>
                  <a:t>= 9</a:t>
                </a:r>
                <a14:m>
                  <m:oMath xmlns:m="http://schemas.openxmlformats.org/officeDocument/2006/math">
                    <m:r>
                      <a:rPr lang="en-ZA" sz="1600" i="1">
                        <a:latin typeface="Cambria Math"/>
                      </a:rPr>
                      <m:t>−</m:t>
                    </m:r>
                  </m:oMath>
                </a14:m>
                <a:r>
                  <a:rPr lang="en-ZA" sz="1600" i="1" dirty="0" smtClean="0">
                    <a:latin typeface="Times New Roman" pitchFamily="18" charset="0"/>
                    <a:cs typeface="Times New Roman" pitchFamily="18" charset="0"/>
                  </a:rPr>
                  <a:t>V</a:t>
                </a:r>
                <a:endParaRPr kumimoji="0" lang="en-ZA" sz="16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2" name="Cloud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8936" y="4107797"/>
                <a:ext cx="1222870" cy="499644"/>
              </a:xfrm>
              <a:prstGeom prst="cloud">
                <a:avLst/>
              </a:prstGeom>
              <a:blipFill rotWithShape="1">
                <a:blip r:embed="rId18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42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3" grpId="0"/>
      <p:bldP spid="24" grpId="0"/>
      <p:bldP spid="25" grpId="0"/>
      <p:bldP spid="26" grpId="0"/>
      <p:bldP spid="35" grpId="0" animBg="1"/>
      <p:bldP spid="4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927599" y="2431945"/>
            <a:ext cx="3781425" cy="1633538"/>
            <a:chOff x="4927599" y="2431945"/>
            <a:chExt cx="3781425" cy="1633538"/>
          </a:xfrm>
        </p:grpSpPr>
        <p:pic>
          <p:nvPicPr>
            <p:cNvPr id="13312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599" y="2431945"/>
              <a:ext cx="3781425" cy="163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Oval 23"/>
            <p:cNvSpPr/>
            <p:nvPr/>
          </p:nvSpPr>
          <p:spPr bwMode="auto">
            <a:xfrm>
              <a:off x="6149521" y="3025434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7524296" y="3026123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5ADD-BD39-4263-8604-56242E51864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3" name="Picture 3" descr="ale29559_0413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7"/>
          <a:stretch/>
        </p:blipFill>
        <p:spPr bwMode="auto">
          <a:xfrm>
            <a:off x="4785890" y="177979"/>
            <a:ext cx="4243810" cy="208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656" y="114300"/>
            <a:ext cx="4528644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4.66: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maximum power that can be delivered to resistor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6400800" y="1073150"/>
            <a:ext cx="139700" cy="1397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7785100" y="1079679"/>
            <a:ext cx="139700" cy="1397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35456" y="1463714"/>
            <a:ext cx="2613806" cy="2334633"/>
            <a:chOff x="335456" y="1463714"/>
            <a:chExt cx="2613806" cy="2334633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35456" y="1463714"/>
              <a:ext cx="238198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marL="0" indent="0"/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2400" b="1" baseline="-25000" dirty="0" err="1" smtClean="0">
                  <a:latin typeface="Times New Roman" pitchFamily="18" charset="0"/>
                  <a:cs typeface="Times New Roman" pitchFamily="18" charset="0"/>
                </a:rPr>
                <a:t>th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:  Method #1: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25290" y="1925378"/>
              <a:ext cx="2423972" cy="1872969"/>
              <a:chOff x="525290" y="1925379"/>
              <a:chExt cx="2002317" cy="1503482"/>
            </a:xfrm>
          </p:grpSpPr>
          <p:pic>
            <p:nvPicPr>
              <p:cNvPr id="133122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5290" y="1925379"/>
                <a:ext cx="2002317" cy="15034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Oval 9"/>
              <p:cNvSpPr/>
              <p:nvPr/>
            </p:nvSpPr>
            <p:spPr bwMode="auto">
              <a:xfrm>
                <a:off x="1314724" y="2607270"/>
                <a:ext cx="139700" cy="139700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 bwMode="auto">
              <a:xfrm>
                <a:off x="2369164" y="2626915"/>
                <a:ext cx="139700" cy="139700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487983" y="3784514"/>
            <a:ext cx="1985965" cy="1813013"/>
            <a:chOff x="771489" y="3707737"/>
            <a:chExt cx="1985965" cy="1813013"/>
          </a:xfrm>
        </p:grpSpPr>
        <p:pic>
          <p:nvPicPr>
            <p:cNvPr id="133123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89" y="3707737"/>
              <a:ext cx="1985965" cy="1813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Oval 11"/>
            <p:cNvSpPr/>
            <p:nvPr/>
          </p:nvSpPr>
          <p:spPr bwMode="auto">
            <a:xfrm>
              <a:off x="783641" y="4026511"/>
              <a:ext cx="172669" cy="172668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2573633" y="4050792"/>
              <a:ext cx="172669" cy="172668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442324" y="5841298"/>
            <a:ext cx="204094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2 // (3+5)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= 1.6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endParaRPr lang="en-ZA" sz="2400" dirty="0"/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6069382" y="3089650"/>
            <a:ext cx="1753025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/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     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743700" y="3534995"/>
            <a:ext cx="407263" cy="400110"/>
            <a:chOff x="6743700" y="3534995"/>
            <a:chExt cx="407263" cy="400110"/>
          </a:xfrm>
        </p:grpSpPr>
        <p:sp>
          <p:nvSpPr>
            <p:cNvPr id="20" name="Rectangle 19"/>
            <p:cNvSpPr/>
            <p:nvPr/>
          </p:nvSpPr>
          <p:spPr>
            <a:xfrm>
              <a:off x="6850137" y="3534995"/>
              <a:ext cx="255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ZA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 bwMode="auto">
            <a:xfrm flipH="1">
              <a:off x="6743700" y="3904850"/>
              <a:ext cx="40726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5800440" y="4069404"/>
            <a:ext cx="2214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60 / 10 = 6 A</a:t>
            </a:r>
            <a:endParaRPr lang="en-ZA" sz="2400" dirty="0"/>
          </a:p>
        </p:txBody>
      </p:sp>
      <p:sp>
        <p:nvSpPr>
          <p:cNvPr id="23" name="Rectangle 22"/>
          <p:cNvSpPr/>
          <p:nvPr/>
        </p:nvSpPr>
        <p:spPr>
          <a:xfrm>
            <a:off x="5064392" y="4686956"/>
            <a:ext cx="3739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2i – 10 = 12 – 10 = 2 V</a:t>
            </a:r>
            <a:endParaRPr lang="en-ZA" sz="2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5677211" y="5435281"/>
            <a:ext cx="1916935" cy="1008738"/>
            <a:chOff x="2422747" y="5641029"/>
            <a:chExt cx="1916935" cy="10087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422747" y="5641029"/>
                  <a:ext cx="1916935" cy="1008738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ZA" b="0" i="1" smtClean="0">
                                <a:latin typeface="Cambria Math"/>
                              </a:rPr>
                              <m:t>𝑚𝑎𝑥</m:t>
                            </m:r>
                          </m:sub>
                        </m:sSub>
                        <m:r>
                          <a:rPr lang="en-ZA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ZA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ZA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ZA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ZA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n-ZA" b="0" i="1" smtClean="0">
                                <a:latin typeface="Cambria Math"/>
                                <a:ea typeface="Cambria Math"/>
                              </a:rPr>
                              <m:t>×1.6 </m:t>
                            </m:r>
                          </m:den>
                        </m:f>
                      </m:oMath>
                    </m:oMathPara>
                  </a14:m>
                  <a:endParaRPr lang="en-ZA" b="0" i="1" dirty="0" smtClean="0">
                    <a:latin typeface="Cambria Math"/>
                    <a:ea typeface="Cambria Math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ZA" b="0" dirty="0" smtClean="0"/>
                    <a:t>        </a:t>
                  </a:r>
                  <a14:m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=0.625 </m:t>
                      </m:r>
                      <m:r>
                        <a:rPr lang="en-ZA" b="0" i="1" smtClean="0">
                          <a:latin typeface="Cambria Math"/>
                        </a:rPr>
                        <m:t>𝑊</m:t>
                      </m:r>
                    </m:oMath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2747" y="5641029"/>
                  <a:ext cx="1916935" cy="100873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 bwMode="auto">
            <a:xfrm>
              <a:off x="3398604" y="6610773"/>
              <a:ext cx="895534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2680395" y="3824470"/>
            <a:ext cx="1825990" cy="1900918"/>
            <a:chOff x="2680395" y="3824470"/>
            <a:chExt cx="1825990" cy="1900918"/>
          </a:xfrm>
        </p:grpSpPr>
        <p:pic>
          <p:nvPicPr>
            <p:cNvPr id="133126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395" y="3862393"/>
              <a:ext cx="1825990" cy="17990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Oval 31"/>
            <p:cNvSpPr/>
            <p:nvPr/>
          </p:nvSpPr>
          <p:spPr bwMode="auto">
            <a:xfrm>
              <a:off x="3859203" y="3824470"/>
              <a:ext cx="172669" cy="172668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859203" y="5552720"/>
              <a:ext cx="172669" cy="172668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38" name="Rounded Rectangle 37"/>
          <p:cNvSpPr/>
          <p:nvPr/>
        </p:nvSpPr>
        <p:spPr bwMode="auto">
          <a:xfrm>
            <a:off x="7746354" y="1273757"/>
            <a:ext cx="962670" cy="1063381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7693107" y="3019040"/>
            <a:ext cx="1006391" cy="1063381"/>
          </a:xfrm>
          <a:prstGeom prst="roundRect">
            <a:avLst>
              <a:gd name="adj" fmla="val 1172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23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2" grpId="0"/>
      <p:bldP spid="23" grpId="0"/>
      <p:bldP spid="38" grpId="0" animBg="1"/>
      <p:bldP spid="39" grpId="0" animBg="1"/>
    </p:bld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4331</TotalTime>
  <Words>3401</Words>
  <Application>Microsoft Office PowerPoint</Application>
  <PresentationFormat>On-screen Show (4:3)</PresentationFormat>
  <Paragraphs>524</Paragraphs>
  <Slides>40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Balloons</vt:lpstr>
      <vt:lpstr>Equation</vt:lpstr>
      <vt:lpstr>PowerPoint Presentation</vt:lpstr>
      <vt:lpstr>Circuit Theorems - Chapter 4</vt:lpstr>
      <vt:lpstr>If you are given the following circuit, are there any other alternative(s) to determine the voltage across 2W resistor? </vt:lpstr>
      <vt:lpstr>4.2 Linearity Property</vt:lpstr>
      <vt:lpstr>PowerPoint Presentation</vt:lpstr>
      <vt:lpstr>PowerPoint Presentation</vt:lpstr>
      <vt:lpstr>4.3 Superposition Theorem</vt:lpstr>
      <vt:lpstr>4.3 Superposition Theorem</vt:lpstr>
      <vt:lpstr>4.3 Superposition Theorem STEPS</vt:lpstr>
      <vt:lpstr>4.3 Superposition Theorem  Zeroing of Sources</vt:lpstr>
      <vt:lpstr>PowerPoint Presentation</vt:lpstr>
      <vt:lpstr>PowerPoint Presentation</vt:lpstr>
      <vt:lpstr>PowerPoint Presentation</vt:lpstr>
      <vt:lpstr>4.4 Source Transformation</vt:lpstr>
      <vt:lpstr>4.4 Source Transformation From a Load’s perspective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Xianming</cp:lastModifiedBy>
  <cp:revision>194</cp:revision>
  <cp:lastPrinted>2011-09-12T07:42:18Z</cp:lastPrinted>
  <dcterms:created xsi:type="dcterms:W3CDTF">2006-09-12T03:52:31Z</dcterms:created>
  <dcterms:modified xsi:type="dcterms:W3CDTF">2017-08-16T08:52:50Z</dcterms:modified>
</cp:coreProperties>
</file>