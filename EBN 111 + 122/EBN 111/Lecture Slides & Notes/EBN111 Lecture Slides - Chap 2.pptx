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3"/>
  </p:notesMasterIdLst>
  <p:handoutMasterIdLst>
    <p:handoutMasterId r:id="rId64"/>
  </p:handoutMasterIdLst>
  <p:sldIdLst>
    <p:sldId id="256" r:id="rId2"/>
    <p:sldId id="272" r:id="rId3"/>
    <p:sldId id="273" r:id="rId4"/>
    <p:sldId id="316" r:id="rId5"/>
    <p:sldId id="292" r:id="rId6"/>
    <p:sldId id="289" r:id="rId7"/>
    <p:sldId id="288" r:id="rId8"/>
    <p:sldId id="274" r:id="rId9"/>
    <p:sldId id="290" r:id="rId10"/>
    <p:sldId id="291" r:id="rId11"/>
    <p:sldId id="293" r:id="rId12"/>
    <p:sldId id="275" r:id="rId13"/>
    <p:sldId id="295" r:id="rId14"/>
    <p:sldId id="298" r:id="rId15"/>
    <p:sldId id="299" r:id="rId16"/>
    <p:sldId id="300" r:id="rId17"/>
    <p:sldId id="301" r:id="rId18"/>
    <p:sldId id="303" r:id="rId19"/>
    <p:sldId id="302" r:id="rId20"/>
    <p:sldId id="294" r:id="rId21"/>
    <p:sldId id="305" r:id="rId22"/>
    <p:sldId id="306" r:id="rId23"/>
    <p:sldId id="307" r:id="rId24"/>
    <p:sldId id="308" r:id="rId25"/>
    <p:sldId id="278" r:id="rId26"/>
    <p:sldId id="280" r:id="rId27"/>
    <p:sldId id="309" r:id="rId28"/>
    <p:sldId id="310" r:id="rId29"/>
    <p:sldId id="279" r:id="rId30"/>
    <p:sldId id="311" r:id="rId31"/>
    <p:sldId id="312" r:id="rId32"/>
    <p:sldId id="313" r:id="rId33"/>
    <p:sldId id="314" r:id="rId34"/>
    <p:sldId id="315" r:id="rId35"/>
    <p:sldId id="277" r:id="rId36"/>
    <p:sldId id="318" r:id="rId37"/>
    <p:sldId id="319" r:id="rId38"/>
    <p:sldId id="320" r:id="rId39"/>
    <p:sldId id="283" r:id="rId40"/>
    <p:sldId id="321" r:id="rId41"/>
    <p:sldId id="322" r:id="rId42"/>
    <p:sldId id="323" r:id="rId43"/>
    <p:sldId id="324" r:id="rId44"/>
    <p:sldId id="338" r:id="rId45"/>
    <p:sldId id="339" r:id="rId46"/>
    <p:sldId id="325" r:id="rId47"/>
    <p:sldId id="326" r:id="rId48"/>
    <p:sldId id="327" r:id="rId49"/>
    <p:sldId id="284" r:id="rId50"/>
    <p:sldId id="329" r:id="rId51"/>
    <p:sldId id="331" r:id="rId52"/>
    <p:sldId id="332" r:id="rId53"/>
    <p:sldId id="330" r:id="rId54"/>
    <p:sldId id="333" r:id="rId55"/>
    <p:sldId id="334" r:id="rId56"/>
    <p:sldId id="335" r:id="rId57"/>
    <p:sldId id="337" r:id="rId58"/>
    <p:sldId id="340" r:id="rId59"/>
    <p:sldId id="341" r:id="rId60"/>
    <p:sldId id="342" r:id="rId61"/>
    <p:sldId id="343" r:id="rId62"/>
  </p:sldIdLst>
  <p:sldSz cx="9144000" cy="6858000" type="screen4x3"/>
  <p:notesSz cx="6794500" cy="99218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00099"/>
    <a:srgbClr val="FF3300"/>
    <a:srgbClr val="0066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20" autoAdjust="0"/>
  </p:normalViewPr>
  <p:slideViewPr>
    <p:cSldViewPr snapToGrid="0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4486" cy="495555"/>
          </a:xfrm>
          <a:prstGeom prst="rect">
            <a:avLst/>
          </a:prstGeom>
        </p:spPr>
        <p:txBody>
          <a:bodyPr vert="horz" lIns="88177" tIns="44089" rIns="88177" bIns="44089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496" y="1"/>
            <a:ext cx="2944486" cy="495555"/>
          </a:xfrm>
          <a:prstGeom prst="rect">
            <a:avLst/>
          </a:prstGeom>
        </p:spPr>
        <p:txBody>
          <a:bodyPr vert="horz" lIns="88177" tIns="44089" rIns="88177" bIns="44089" rtlCol="0"/>
          <a:lstStyle>
            <a:lvl1pPr algn="r">
              <a:defRPr sz="1200"/>
            </a:lvl1pPr>
          </a:lstStyle>
          <a:p>
            <a:fld id="{C2736754-07D1-4257-8C66-8F8C95E7FECF}" type="datetimeFigureOut">
              <a:rPr lang="en-ZA" smtClean="0"/>
              <a:t>2018/02/07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4781"/>
            <a:ext cx="2944486" cy="495555"/>
          </a:xfrm>
          <a:prstGeom prst="rect">
            <a:avLst/>
          </a:prstGeom>
        </p:spPr>
        <p:txBody>
          <a:bodyPr vert="horz" lIns="88177" tIns="44089" rIns="88177" bIns="44089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496" y="9424781"/>
            <a:ext cx="2944486" cy="495555"/>
          </a:xfrm>
          <a:prstGeom prst="rect">
            <a:avLst/>
          </a:prstGeom>
        </p:spPr>
        <p:txBody>
          <a:bodyPr vert="horz" lIns="88177" tIns="44089" rIns="88177" bIns="44089" rtlCol="0" anchor="b"/>
          <a:lstStyle>
            <a:lvl1pPr algn="r">
              <a:defRPr sz="1200"/>
            </a:lvl1pPr>
          </a:lstStyle>
          <a:p>
            <a:fld id="{FB3592AD-77D2-4AC8-847E-7B3508B1B4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2388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4283" cy="496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14" tIns="47757" rIns="95514" bIns="4775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645" y="1"/>
            <a:ext cx="2944283" cy="496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14" tIns="47757" rIns="95514" bIns="4775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2891"/>
            <a:ext cx="5435600" cy="4464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14" tIns="47757" rIns="95514" bIns="477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4060"/>
            <a:ext cx="2944283" cy="496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14" tIns="47757" rIns="95514" bIns="4775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645" y="9424060"/>
            <a:ext cx="2944283" cy="496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14" tIns="47757" rIns="95514" bIns="4775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fld id="{809F02E9-6382-49BE-B1E8-33B2C5AFCF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970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61734F-0E61-456F-BA5F-397251B571A2}" type="slidenum">
              <a:rPr lang="en-US"/>
              <a:pPr/>
              <a:t>1</a:t>
            </a:fld>
            <a:endParaRPr lang="en-US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38915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38916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16 w 596"/>
                  <a:gd name="T1" fmla="*/ 370 h 666"/>
                  <a:gd name="T2" fmla="*/ 6 w 596"/>
                  <a:gd name="T3" fmla="*/ 341 h 666"/>
                  <a:gd name="T4" fmla="*/ 0 w 596"/>
                  <a:gd name="T5" fmla="*/ 289 h 666"/>
                  <a:gd name="T6" fmla="*/ 4 w 596"/>
                  <a:gd name="T7" fmla="*/ 222 h 666"/>
                  <a:gd name="T8" fmla="*/ 25 w 596"/>
                  <a:gd name="T9" fmla="*/ 151 h 666"/>
                  <a:gd name="T10" fmla="*/ 69 w 596"/>
                  <a:gd name="T11" fmla="*/ 84 h 666"/>
                  <a:gd name="T12" fmla="*/ 142 w 596"/>
                  <a:gd name="T13" fmla="*/ 31 h 666"/>
                  <a:gd name="T14" fmla="*/ 247 w 596"/>
                  <a:gd name="T15" fmla="*/ 2 h 666"/>
                  <a:gd name="T16" fmla="*/ 380 w 596"/>
                  <a:gd name="T17" fmla="*/ 9 h 666"/>
                  <a:gd name="T18" fmla="*/ 484 w 596"/>
                  <a:gd name="T19" fmla="*/ 68 h 666"/>
                  <a:gd name="T20" fmla="*/ 554 w 596"/>
                  <a:gd name="T21" fmla="*/ 165 h 666"/>
                  <a:gd name="T22" fmla="*/ 591 w 596"/>
                  <a:gd name="T23" fmla="*/ 284 h 666"/>
                  <a:gd name="T24" fmla="*/ 595 w 596"/>
                  <a:gd name="T25" fmla="*/ 409 h 666"/>
                  <a:gd name="T26" fmla="*/ 566 w 596"/>
                  <a:gd name="T27" fmla="*/ 525 h 666"/>
                  <a:gd name="T28" fmla="*/ 507 w 596"/>
                  <a:gd name="T29" fmla="*/ 615 h 666"/>
                  <a:gd name="T30" fmla="*/ 417 w 596"/>
                  <a:gd name="T31" fmla="*/ 663 h 666"/>
                  <a:gd name="T32" fmla="*/ 389 w 596"/>
                  <a:gd name="T33" fmla="*/ 659 h 666"/>
                  <a:gd name="T34" fmla="*/ 441 w 596"/>
                  <a:gd name="T35" fmla="*/ 617 h 666"/>
                  <a:gd name="T36" fmla="*/ 482 w 596"/>
                  <a:gd name="T37" fmla="*/ 544 h 666"/>
                  <a:gd name="T38" fmla="*/ 509 w 596"/>
                  <a:gd name="T39" fmla="*/ 454 h 666"/>
                  <a:gd name="T40" fmla="*/ 520 w 596"/>
                  <a:gd name="T41" fmla="*/ 355 h 666"/>
                  <a:gd name="T42" fmla="*/ 514 w 596"/>
                  <a:gd name="T43" fmla="*/ 258 h 666"/>
                  <a:gd name="T44" fmla="*/ 485 w 596"/>
                  <a:gd name="T45" fmla="*/ 174 h 666"/>
                  <a:gd name="T46" fmla="*/ 433 w 596"/>
                  <a:gd name="T47" fmla="*/ 112 h 666"/>
                  <a:gd name="T48" fmla="*/ 341 w 596"/>
                  <a:gd name="T49" fmla="*/ 75 h 666"/>
                  <a:gd name="T50" fmla="*/ 246 w 596"/>
                  <a:gd name="T51" fmla="*/ 61 h 666"/>
                  <a:gd name="T52" fmla="*/ 174 w 596"/>
                  <a:gd name="T53" fmla="*/ 71 h 666"/>
                  <a:gd name="T54" fmla="*/ 121 w 596"/>
                  <a:gd name="T55" fmla="*/ 101 h 666"/>
                  <a:gd name="T56" fmla="*/ 84 w 596"/>
                  <a:gd name="T57" fmla="*/ 149 h 666"/>
                  <a:gd name="T58" fmla="*/ 57 w 596"/>
                  <a:gd name="T59" fmla="*/ 206 h 666"/>
                  <a:gd name="T60" fmla="*/ 40 w 596"/>
                  <a:gd name="T61" fmla="*/ 272 h 666"/>
                  <a:gd name="T62" fmla="*/ 28 w 596"/>
                  <a:gd name="T63" fmla="*/ 339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7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5 h 237"/>
                  <a:gd name="T4" fmla="*/ 3 w 257"/>
                  <a:gd name="T5" fmla="*/ 50 h 237"/>
                  <a:gd name="T6" fmla="*/ 6 w 257"/>
                  <a:gd name="T7" fmla="*/ 75 h 237"/>
                  <a:gd name="T8" fmla="*/ 11 w 257"/>
                  <a:gd name="T9" fmla="*/ 98 h 237"/>
                  <a:gd name="T10" fmla="*/ 18 w 257"/>
                  <a:gd name="T11" fmla="*/ 119 h 237"/>
                  <a:gd name="T12" fmla="*/ 27 w 257"/>
                  <a:gd name="T13" fmla="*/ 141 h 237"/>
                  <a:gd name="T14" fmla="*/ 38 w 257"/>
                  <a:gd name="T15" fmla="*/ 161 h 237"/>
                  <a:gd name="T16" fmla="*/ 51 w 257"/>
                  <a:gd name="T17" fmla="*/ 178 h 237"/>
                  <a:gd name="T18" fmla="*/ 67 w 257"/>
                  <a:gd name="T19" fmla="*/ 194 h 237"/>
                  <a:gd name="T20" fmla="*/ 86 w 257"/>
                  <a:gd name="T21" fmla="*/ 208 h 237"/>
                  <a:gd name="T22" fmla="*/ 106 w 257"/>
                  <a:gd name="T23" fmla="*/ 219 h 237"/>
                  <a:gd name="T24" fmla="*/ 131 w 257"/>
                  <a:gd name="T25" fmla="*/ 228 h 237"/>
                  <a:gd name="T26" fmla="*/ 158 w 257"/>
                  <a:gd name="T27" fmla="*/ 234 h 237"/>
                  <a:gd name="T28" fmla="*/ 188 w 257"/>
                  <a:gd name="T29" fmla="*/ 237 h 237"/>
                  <a:gd name="T30" fmla="*/ 220 w 257"/>
                  <a:gd name="T31" fmla="*/ 236 h 237"/>
                  <a:gd name="T32" fmla="*/ 257 w 257"/>
                  <a:gd name="T33" fmla="*/ 232 h 237"/>
                  <a:gd name="T34" fmla="*/ 224 w 257"/>
                  <a:gd name="T35" fmla="*/ 227 h 237"/>
                  <a:gd name="T36" fmla="*/ 195 w 257"/>
                  <a:gd name="T37" fmla="*/ 220 h 237"/>
                  <a:gd name="T38" fmla="*/ 170 w 257"/>
                  <a:gd name="T39" fmla="*/ 212 h 237"/>
                  <a:gd name="T40" fmla="*/ 148 w 257"/>
                  <a:gd name="T41" fmla="*/ 204 h 237"/>
                  <a:gd name="T42" fmla="*/ 128 w 257"/>
                  <a:gd name="T43" fmla="*/ 193 h 237"/>
                  <a:gd name="T44" fmla="*/ 112 w 257"/>
                  <a:gd name="T45" fmla="*/ 182 h 237"/>
                  <a:gd name="T46" fmla="*/ 97 w 257"/>
                  <a:gd name="T47" fmla="*/ 169 h 237"/>
                  <a:gd name="T48" fmla="*/ 84 w 257"/>
                  <a:gd name="T49" fmla="*/ 155 h 237"/>
                  <a:gd name="T50" fmla="*/ 72 w 257"/>
                  <a:gd name="T51" fmla="*/ 141 h 237"/>
                  <a:gd name="T52" fmla="*/ 61 w 257"/>
                  <a:gd name="T53" fmla="*/ 125 h 237"/>
                  <a:gd name="T54" fmla="*/ 52 w 257"/>
                  <a:gd name="T55" fmla="*/ 107 h 237"/>
                  <a:gd name="T56" fmla="*/ 43 w 257"/>
                  <a:gd name="T57" fmla="*/ 88 h 237"/>
                  <a:gd name="T58" fmla="*/ 33 w 257"/>
                  <a:gd name="T59" fmla="*/ 69 h 237"/>
                  <a:gd name="T60" fmla="*/ 23 w 257"/>
                  <a:gd name="T61" fmla="*/ 47 h 237"/>
                  <a:gd name="T62" fmla="*/ 12 w 257"/>
                  <a:gd name="T63" fmla="*/ 24 h 237"/>
                  <a:gd name="T64" fmla="*/ 0 w 257"/>
                  <a:gd name="T6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8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77 w 124"/>
                  <a:gd name="T1" fmla="*/ 0 h 110"/>
                  <a:gd name="T2" fmla="*/ 124 w 124"/>
                  <a:gd name="T3" fmla="*/ 108 h 110"/>
                  <a:gd name="T4" fmla="*/ 120 w 124"/>
                  <a:gd name="T5" fmla="*/ 107 h 110"/>
                  <a:gd name="T6" fmla="*/ 107 w 124"/>
                  <a:gd name="T7" fmla="*/ 105 h 110"/>
                  <a:gd name="T8" fmla="*/ 89 w 124"/>
                  <a:gd name="T9" fmla="*/ 101 h 110"/>
                  <a:gd name="T10" fmla="*/ 68 w 124"/>
                  <a:gd name="T11" fmla="*/ 99 h 110"/>
                  <a:gd name="T12" fmla="*/ 45 w 124"/>
                  <a:gd name="T13" fmla="*/ 97 h 110"/>
                  <a:gd name="T14" fmla="*/ 25 w 124"/>
                  <a:gd name="T15" fmla="*/ 98 h 110"/>
                  <a:gd name="T16" fmla="*/ 9 w 124"/>
                  <a:gd name="T17" fmla="*/ 102 h 110"/>
                  <a:gd name="T18" fmla="*/ 0 w 124"/>
                  <a:gd name="T19" fmla="*/ 110 h 110"/>
                  <a:gd name="T20" fmla="*/ 4 w 124"/>
                  <a:gd name="T21" fmla="*/ 98 h 110"/>
                  <a:gd name="T22" fmla="*/ 8 w 124"/>
                  <a:gd name="T23" fmla="*/ 89 h 110"/>
                  <a:gd name="T24" fmla="*/ 16 w 124"/>
                  <a:gd name="T25" fmla="*/ 82 h 110"/>
                  <a:gd name="T26" fmla="*/ 25 w 124"/>
                  <a:gd name="T27" fmla="*/ 76 h 110"/>
                  <a:gd name="T28" fmla="*/ 36 w 124"/>
                  <a:gd name="T29" fmla="*/ 72 h 110"/>
                  <a:gd name="T30" fmla="*/ 47 w 124"/>
                  <a:gd name="T31" fmla="*/ 71 h 110"/>
                  <a:gd name="T32" fmla="*/ 59 w 124"/>
                  <a:gd name="T33" fmla="*/ 71 h 110"/>
                  <a:gd name="T34" fmla="*/ 72 w 124"/>
                  <a:gd name="T35" fmla="*/ 74 h 110"/>
                  <a:gd name="T36" fmla="*/ 73 w 124"/>
                  <a:gd name="T37" fmla="*/ 71 h 110"/>
                  <a:gd name="T38" fmla="*/ 70 w 124"/>
                  <a:gd name="T39" fmla="*/ 56 h 110"/>
                  <a:gd name="T40" fmla="*/ 67 w 124"/>
                  <a:gd name="T41" fmla="*/ 38 h 110"/>
                  <a:gd name="T42" fmla="*/ 65 w 124"/>
                  <a:gd name="T43" fmla="*/ 30 h 110"/>
                  <a:gd name="T44" fmla="*/ 63 w 124"/>
                  <a:gd name="T45" fmla="*/ 30 h 110"/>
                  <a:gd name="T46" fmla="*/ 61 w 124"/>
                  <a:gd name="T47" fmla="*/ 29 h 110"/>
                  <a:gd name="T48" fmla="*/ 59 w 124"/>
                  <a:gd name="T49" fmla="*/ 26 h 110"/>
                  <a:gd name="T50" fmla="*/ 57 w 124"/>
                  <a:gd name="T51" fmla="*/ 23 h 110"/>
                  <a:gd name="T52" fmla="*/ 57 w 124"/>
                  <a:gd name="T53" fmla="*/ 19 h 110"/>
                  <a:gd name="T54" fmla="*/ 59 w 124"/>
                  <a:gd name="T55" fmla="*/ 14 h 110"/>
                  <a:gd name="T56" fmla="*/ 66 w 124"/>
                  <a:gd name="T57" fmla="*/ 8 h 110"/>
                  <a:gd name="T58" fmla="*/ 77 w 124"/>
                  <a:gd name="T5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9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5 w 109"/>
                  <a:gd name="T3" fmla="*/ 1 h 156"/>
                  <a:gd name="T4" fmla="*/ 18 w 109"/>
                  <a:gd name="T5" fmla="*/ 5 h 156"/>
                  <a:gd name="T6" fmla="*/ 37 w 109"/>
                  <a:gd name="T7" fmla="*/ 12 h 156"/>
                  <a:gd name="T8" fmla="*/ 58 w 109"/>
                  <a:gd name="T9" fmla="*/ 24 h 156"/>
                  <a:gd name="T10" fmla="*/ 78 w 109"/>
                  <a:gd name="T11" fmla="*/ 44 h 156"/>
                  <a:gd name="T12" fmla="*/ 96 w 109"/>
                  <a:gd name="T13" fmla="*/ 71 h 156"/>
                  <a:gd name="T14" fmla="*/ 107 w 109"/>
                  <a:gd name="T15" fmla="*/ 108 h 156"/>
                  <a:gd name="T16" fmla="*/ 109 w 109"/>
                  <a:gd name="T17" fmla="*/ 156 h 156"/>
                  <a:gd name="T18" fmla="*/ 105 w 109"/>
                  <a:gd name="T19" fmla="*/ 156 h 156"/>
                  <a:gd name="T20" fmla="*/ 99 w 109"/>
                  <a:gd name="T21" fmla="*/ 156 h 156"/>
                  <a:gd name="T22" fmla="*/ 93 w 109"/>
                  <a:gd name="T23" fmla="*/ 156 h 156"/>
                  <a:gd name="T24" fmla="*/ 87 w 109"/>
                  <a:gd name="T25" fmla="*/ 154 h 156"/>
                  <a:gd name="T26" fmla="*/ 81 w 109"/>
                  <a:gd name="T27" fmla="*/ 153 h 156"/>
                  <a:gd name="T28" fmla="*/ 74 w 109"/>
                  <a:gd name="T29" fmla="*/ 150 h 156"/>
                  <a:gd name="T30" fmla="*/ 66 w 109"/>
                  <a:gd name="T31" fmla="*/ 145 h 156"/>
                  <a:gd name="T32" fmla="*/ 58 w 109"/>
                  <a:gd name="T33" fmla="*/ 139 h 156"/>
                  <a:gd name="T34" fmla="*/ 53 w 109"/>
                  <a:gd name="T35" fmla="*/ 126 h 156"/>
                  <a:gd name="T36" fmla="*/ 53 w 109"/>
                  <a:gd name="T37" fmla="*/ 111 h 156"/>
                  <a:gd name="T38" fmla="*/ 56 w 109"/>
                  <a:gd name="T39" fmla="*/ 96 h 156"/>
                  <a:gd name="T40" fmla="*/ 59 w 109"/>
                  <a:gd name="T41" fmla="*/ 80 h 156"/>
                  <a:gd name="T42" fmla="*/ 56 w 109"/>
                  <a:gd name="T43" fmla="*/ 62 h 156"/>
                  <a:gd name="T44" fmla="*/ 48 w 109"/>
                  <a:gd name="T45" fmla="*/ 43 h 156"/>
                  <a:gd name="T46" fmla="*/ 31 w 109"/>
                  <a:gd name="T47" fmla="*/ 23 h 156"/>
                  <a:gd name="T48" fmla="*/ 0 w 109"/>
                  <a:gd name="T4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0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31 w 46"/>
                  <a:gd name="T1" fmla="*/ 0 h 94"/>
                  <a:gd name="T2" fmla="*/ 20 w 46"/>
                  <a:gd name="T3" fmla="*/ 38 h 94"/>
                  <a:gd name="T4" fmla="*/ 15 w 46"/>
                  <a:gd name="T5" fmla="*/ 62 h 94"/>
                  <a:gd name="T6" fmla="*/ 11 w 46"/>
                  <a:gd name="T7" fmla="*/ 79 h 94"/>
                  <a:gd name="T8" fmla="*/ 0 w 46"/>
                  <a:gd name="T9" fmla="*/ 94 h 94"/>
                  <a:gd name="T10" fmla="*/ 12 w 46"/>
                  <a:gd name="T11" fmla="*/ 88 h 94"/>
                  <a:gd name="T12" fmla="*/ 23 w 46"/>
                  <a:gd name="T13" fmla="*/ 80 h 94"/>
                  <a:gd name="T14" fmla="*/ 32 w 46"/>
                  <a:gd name="T15" fmla="*/ 69 h 94"/>
                  <a:gd name="T16" fmla="*/ 40 w 46"/>
                  <a:gd name="T17" fmla="*/ 57 h 94"/>
                  <a:gd name="T18" fmla="*/ 45 w 46"/>
                  <a:gd name="T19" fmla="*/ 44 h 94"/>
                  <a:gd name="T20" fmla="*/ 46 w 46"/>
                  <a:gd name="T21" fmla="*/ 30 h 94"/>
                  <a:gd name="T22" fmla="*/ 42 w 46"/>
                  <a:gd name="T23" fmla="*/ 15 h 94"/>
                  <a:gd name="T24" fmla="*/ 31 w 46"/>
                  <a:gd name="T2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1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 w 54"/>
                  <a:gd name="T3" fmla="*/ 1 h 40"/>
                  <a:gd name="T4" fmla="*/ 6 w 54"/>
                  <a:gd name="T5" fmla="*/ 3 h 40"/>
                  <a:gd name="T6" fmla="*/ 13 w 54"/>
                  <a:gd name="T7" fmla="*/ 8 h 40"/>
                  <a:gd name="T8" fmla="*/ 21 w 54"/>
                  <a:gd name="T9" fmla="*/ 12 h 40"/>
                  <a:gd name="T10" fmla="*/ 29 w 54"/>
                  <a:gd name="T11" fmla="*/ 15 h 40"/>
                  <a:gd name="T12" fmla="*/ 38 w 54"/>
                  <a:gd name="T13" fmla="*/ 17 h 40"/>
                  <a:gd name="T14" fmla="*/ 46 w 54"/>
                  <a:gd name="T15" fmla="*/ 18 h 40"/>
                  <a:gd name="T16" fmla="*/ 54 w 54"/>
                  <a:gd name="T17" fmla="*/ 16 h 40"/>
                  <a:gd name="T18" fmla="*/ 53 w 54"/>
                  <a:gd name="T19" fmla="*/ 25 h 40"/>
                  <a:gd name="T20" fmla="*/ 50 w 54"/>
                  <a:gd name="T21" fmla="*/ 33 h 40"/>
                  <a:gd name="T22" fmla="*/ 44 w 54"/>
                  <a:gd name="T23" fmla="*/ 38 h 40"/>
                  <a:gd name="T24" fmla="*/ 37 w 54"/>
                  <a:gd name="T25" fmla="*/ 40 h 40"/>
                  <a:gd name="T26" fmla="*/ 28 w 54"/>
                  <a:gd name="T27" fmla="*/ 39 h 40"/>
                  <a:gd name="T28" fmla="*/ 19 w 54"/>
                  <a:gd name="T29" fmla="*/ 32 h 40"/>
                  <a:gd name="T30" fmla="*/ 10 w 54"/>
                  <a:gd name="T31" fmla="*/ 20 h 40"/>
                  <a:gd name="T32" fmla="*/ 0 w 54"/>
                  <a:gd name="T3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2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6 w 149"/>
                  <a:gd name="T3" fmla="*/ 6 h 704"/>
                  <a:gd name="T4" fmla="*/ 16 w 149"/>
                  <a:gd name="T5" fmla="*/ 14 h 704"/>
                  <a:gd name="T6" fmla="*/ 28 w 149"/>
                  <a:gd name="T7" fmla="*/ 24 h 704"/>
                  <a:gd name="T8" fmla="*/ 41 w 149"/>
                  <a:gd name="T9" fmla="*/ 37 h 704"/>
                  <a:gd name="T10" fmla="*/ 58 w 149"/>
                  <a:gd name="T11" fmla="*/ 53 h 704"/>
                  <a:gd name="T12" fmla="*/ 73 w 149"/>
                  <a:gd name="T13" fmla="*/ 70 h 704"/>
                  <a:gd name="T14" fmla="*/ 88 w 149"/>
                  <a:gd name="T15" fmla="*/ 90 h 704"/>
                  <a:gd name="T16" fmla="*/ 100 w 149"/>
                  <a:gd name="T17" fmla="*/ 113 h 704"/>
                  <a:gd name="T18" fmla="*/ 112 w 149"/>
                  <a:gd name="T19" fmla="*/ 137 h 704"/>
                  <a:gd name="T20" fmla="*/ 120 w 149"/>
                  <a:gd name="T21" fmla="*/ 165 h 704"/>
                  <a:gd name="T22" fmla="*/ 124 w 149"/>
                  <a:gd name="T23" fmla="*/ 196 h 704"/>
                  <a:gd name="T24" fmla="*/ 126 w 149"/>
                  <a:gd name="T25" fmla="*/ 228 h 704"/>
                  <a:gd name="T26" fmla="*/ 120 w 149"/>
                  <a:gd name="T27" fmla="*/ 264 h 704"/>
                  <a:gd name="T28" fmla="*/ 109 w 149"/>
                  <a:gd name="T29" fmla="*/ 302 h 704"/>
                  <a:gd name="T30" fmla="*/ 92 w 149"/>
                  <a:gd name="T31" fmla="*/ 342 h 704"/>
                  <a:gd name="T32" fmla="*/ 67 w 149"/>
                  <a:gd name="T33" fmla="*/ 386 h 704"/>
                  <a:gd name="T34" fmla="*/ 39 w 149"/>
                  <a:gd name="T35" fmla="*/ 436 h 704"/>
                  <a:gd name="T36" fmla="*/ 21 w 149"/>
                  <a:gd name="T37" fmla="*/ 482 h 704"/>
                  <a:gd name="T38" fmla="*/ 10 w 149"/>
                  <a:gd name="T39" fmla="*/ 525 h 704"/>
                  <a:gd name="T40" fmla="*/ 6 w 149"/>
                  <a:gd name="T41" fmla="*/ 566 h 704"/>
                  <a:gd name="T42" fmla="*/ 6 w 149"/>
                  <a:gd name="T43" fmla="*/ 605 h 704"/>
                  <a:gd name="T44" fmla="*/ 8 w 149"/>
                  <a:gd name="T45" fmla="*/ 641 h 704"/>
                  <a:gd name="T46" fmla="*/ 12 w 149"/>
                  <a:gd name="T47" fmla="*/ 673 h 704"/>
                  <a:gd name="T48" fmla="*/ 14 w 149"/>
                  <a:gd name="T49" fmla="*/ 704 h 704"/>
                  <a:gd name="T50" fmla="*/ 41 w 149"/>
                  <a:gd name="T51" fmla="*/ 688 h 704"/>
                  <a:gd name="T52" fmla="*/ 39 w 149"/>
                  <a:gd name="T53" fmla="*/ 680 h 704"/>
                  <a:gd name="T54" fmla="*/ 36 w 149"/>
                  <a:gd name="T55" fmla="*/ 657 h 704"/>
                  <a:gd name="T56" fmla="*/ 33 w 149"/>
                  <a:gd name="T57" fmla="*/ 622 h 704"/>
                  <a:gd name="T58" fmla="*/ 35 w 149"/>
                  <a:gd name="T59" fmla="*/ 575 h 704"/>
                  <a:gd name="T60" fmla="*/ 41 w 149"/>
                  <a:gd name="T61" fmla="*/ 519 h 704"/>
                  <a:gd name="T62" fmla="*/ 58 w 149"/>
                  <a:gd name="T63" fmla="*/ 455 h 704"/>
                  <a:gd name="T64" fmla="*/ 86 w 149"/>
                  <a:gd name="T65" fmla="*/ 386 h 704"/>
                  <a:gd name="T66" fmla="*/ 129 w 149"/>
                  <a:gd name="T67" fmla="*/ 313 h 704"/>
                  <a:gd name="T68" fmla="*/ 143 w 149"/>
                  <a:gd name="T69" fmla="*/ 279 h 704"/>
                  <a:gd name="T70" fmla="*/ 149 w 149"/>
                  <a:gd name="T71" fmla="*/ 235 h 704"/>
                  <a:gd name="T72" fmla="*/ 144 w 149"/>
                  <a:gd name="T73" fmla="*/ 184 h 704"/>
                  <a:gd name="T74" fmla="*/ 131 w 149"/>
                  <a:gd name="T75" fmla="*/ 134 h 704"/>
                  <a:gd name="T76" fmla="*/ 109 w 149"/>
                  <a:gd name="T77" fmla="*/ 85 h 704"/>
                  <a:gd name="T78" fmla="*/ 81 w 149"/>
                  <a:gd name="T79" fmla="*/ 44 h 704"/>
                  <a:gd name="T80" fmla="*/ 44 w 149"/>
                  <a:gd name="T81" fmla="*/ 14 h 704"/>
                  <a:gd name="T82" fmla="*/ 0 w 149"/>
                  <a:gd name="T83" fmla="*/ 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923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94 w 128"/>
                <a:gd name="T1" fmla="*/ 0 h 217"/>
                <a:gd name="T2" fmla="*/ 105 w 128"/>
                <a:gd name="T3" fmla="*/ 9 h 217"/>
                <a:gd name="T4" fmla="*/ 115 w 128"/>
                <a:gd name="T5" fmla="*/ 27 h 217"/>
                <a:gd name="T6" fmla="*/ 123 w 128"/>
                <a:gd name="T7" fmla="*/ 50 h 217"/>
                <a:gd name="T8" fmla="*/ 128 w 128"/>
                <a:gd name="T9" fmla="*/ 78 h 217"/>
                <a:gd name="T10" fmla="*/ 127 w 128"/>
                <a:gd name="T11" fmla="*/ 111 h 217"/>
                <a:gd name="T12" fmla="*/ 116 w 128"/>
                <a:gd name="T13" fmla="*/ 145 h 217"/>
                <a:gd name="T14" fmla="*/ 94 w 128"/>
                <a:gd name="T15" fmla="*/ 181 h 217"/>
                <a:gd name="T16" fmla="*/ 60 w 128"/>
                <a:gd name="T17" fmla="*/ 217 h 217"/>
                <a:gd name="T18" fmla="*/ 49 w 128"/>
                <a:gd name="T19" fmla="*/ 213 h 217"/>
                <a:gd name="T20" fmla="*/ 38 w 128"/>
                <a:gd name="T21" fmla="*/ 210 h 217"/>
                <a:gd name="T22" fmla="*/ 26 w 128"/>
                <a:gd name="T23" fmla="*/ 205 h 217"/>
                <a:gd name="T24" fmla="*/ 16 w 128"/>
                <a:gd name="T25" fmla="*/ 201 h 217"/>
                <a:gd name="T26" fmla="*/ 8 w 128"/>
                <a:gd name="T27" fmla="*/ 196 h 217"/>
                <a:gd name="T28" fmla="*/ 2 w 128"/>
                <a:gd name="T29" fmla="*/ 190 h 217"/>
                <a:gd name="T30" fmla="*/ 0 w 128"/>
                <a:gd name="T31" fmla="*/ 183 h 217"/>
                <a:gd name="T32" fmla="*/ 1 w 128"/>
                <a:gd name="T33" fmla="*/ 178 h 217"/>
                <a:gd name="T34" fmla="*/ 13 w 128"/>
                <a:gd name="T35" fmla="*/ 171 h 217"/>
                <a:gd name="T36" fmla="*/ 29 w 128"/>
                <a:gd name="T37" fmla="*/ 161 h 217"/>
                <a:gd name="T38" fmla="*/ 46 w 128"/>
                <a:gd name="T39" fmla="*/ 150 h 217"/>
                <a:gd name="T40" fmla="*/ 63 w 128"/>
                <a:gd name="T41" fmla="*/ 134 h 217"/>
                <a:gd name="T42" fmla="*/ 79 w 128"/>
                <a:gd name="T43" fmla="*/ 112 h 217"/>
                <a:gd name="T44" fmla="*/ 91 w 128"/>
                <a:gd name="T45" fmla="*/ 83 h 217"/>
                <a:gd name="T46" fmla="*/ 97 w 128"/>
                <a:gd name="T47" fmla="*/ 46 h 217"/>
                <a:gd name="T48" fmla="*/ 94 w 128"/>
                <a:gd name="T4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4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5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6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75 w 117"/>
                <a:gd name="T1" fmla="*/ 0 h 132"/>
                <a:gd name="T2" fmla="*/ 0 w 117"/>
                <a:gd name="T3" fmla="*/ 25 h 132"/>
                <a:gd name="T4" fmla="*/ 3 w 117"/>
                <a:gd name="T5" fmla="*/ 26 h 132"/>
                <a:gd name="T6" fmla="*/ 14 w 117"/>
                <a:gd name="T7" fmla="*/ 29 h 132"/>
                <a:gd name="T8" fmla="*/ 29 w 117"/>
                <a:gd name="T9" fmla="*/ 36 h 132"/>
                <a:gd name="T10" fmla="*/ 46 w 117"/>
                <a:gd name="T11" fmla="*/ 47 h 132"/>
                <a:gd name="T12" fmla="*/ 66 w 117"/>
                <a:gd name="T13" fmla="*/ 62 h 132"/>
                <a:gd name="T14" fmla="*/ 84 w 117"/>
                <a:gd name="T15" fmla="*/ 80 h 132"/>
                <a:gd name="T16" fmla="*/ 102 w 117"/>
                <a:gd name="T17" fmla="*/ 103 h 132"/>
                <a:gd name="T18" fmla="*/ 116 w 117"/>
                <a:gd name="T19" fmla="*/ 132 h 132"/>
                <a:gd name="T20" fmla="*/ 117 w 117"/>
                <a:gd name="T21" fmla="*/ 120 h 132"/>
                <a:gd name="T22" fmla="*/ 115 w 117"/>
                <a:gd name="T23" fmla="*/ 107 h 132"/>
                <a:gd name="T24" fmla="*/ 108 w 117"/>
                <a:gd name="T25" fmla="*/ 90 h 132"/>
                <a:gd name="T26" fmla="*/ 99 w 117"/>
                <a:gd name="T27" fmla="*/ 74 h 132"/>
                <a:gd name="T28" fmla="*/ 89 w 117"/>
                <a:gd name="T29" fmla="*/ 58 h 132"/>
                <a:gd name="T30" fmla="*/ 78 w 117"/>
                <a:gd name="T31" fmla="*/ 45 h 132"/>
                <a:gd name="T32" fmla="*/ 67 w 117"/>
                <a:gd name="T33" fmla="*/ 36 h 132"/>
                <a:gd name="T34" fmla="*/ 58 w 117"/>
                <a:gd name="T35" fmla="*/ 32 h 132"/>
                <a:gd name="T36" fmla="*/ 69 w 117"/>
                <a:gd name="T37" fmla="*/ 29 h 132"/>
                <a:gd name="T38" fmla="*/ 79 w 117"/>
                <a:gd name="T39" fmla="*/ 28 h 132"/>
                <a:gd name="T40" fmla="*/ 89 w 117"/>
                <a:gd name="T41" fmla="*/ 26 h 132"/>
                <a:gd name="T42" fmla="*/ 98 w 117"/>
                <a:gd name="T43" fmla="*/ 25 h 132"/>
                <a:gd name="T44" fmla="*/ 105 w 117"/>
                <a:gd name="T45" fmla="*/ 24 h 132"/>
                <a:gd name="T46" fmla="*/ 109 w 117"/>
                <a:gd name="T47" fmla="*/ 22 h 132"/>
                <a:gd name="T48" fmla="*/ 113 w 117"/>
                <a:gd name="T49" fmla="*/ 21 h 132"/>
                <a:gd name="T50" fmla="*/ 114 w 117"/>
                <a:gd name="T51" fmla="*/ 21 h 132"/>
                <a:gd name="T52" fmla="*/ 75 w 117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7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29 w 29"/>
                <a:gd name="T1" fmla="*/ 0 h 77"/>
                <a:gd name="T2" fmla="*/ 23 w 29"/>
                <a:gd name="T3" fmla="*/ 0 h 77"/>
                <a:gd name="T4" fmla="*/ 16 w 29"/>
                <a:gd name="T5" fmla="*/ 4 h 77"/>
                <a:gd name="T6" fmla="*/ 9 w 29"/>
                <a:gd name="T7" fmla="*/ 9 h 77"/>
                <a:gd name="T8" fmla="*/ 4 w 29"/>
                <a:gd name="T9" fmla="*/ 19 h 77"/>
                <a:gd name="T10" fmla="*/ 1 w 29"/>
                <a:gd name="T11" fmla="*/ 30 h 77"/>
                <a:gd name="T12" fmla="*/ 0 w 29"/>
                <a:gd name="T13" fmla="*/ 44 h 77"/>
                <a:gd name="T14" fmla="*/ 3 w 29"/>
                <a:gd name="T15" fmla="*/ 60 h 77"/>
                <a:gd name="T16" fmla="*/ 11 w 29"/>
                <a:gd name="T17" fmla="*/ 77 h 77"/>
                <a:gd name="T18" fmla="*/ 15 w 29"/>
                <a:gd name="T19" fmla="*/ 53 h 77"/>
                <a:gd name="T20" fmla="*/ 19 w 29"/>
                <a:gd name="T21" fmla="*/ 37 h 77"/>
                <a:gd name="T22" fmla="*/ 23 w 29"/>
                <a:gd name="T23" fmla="*/ 22 h 77"/>
                <a:gd name="T24" fmla="*/ 29 w 29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8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8929" name="Group 17"/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38930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1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2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33" name="Group 21"/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38934" name="Freeform 22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5" name="Freeform 23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6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37" name="Group 25"/>
            <p:cNvGrpSpPr>
              <a:grpSpLocks/>
            </p:cNvGrpSpPr>
            <p:nvPr userDrawn="1"/>
          </p:nvGrpSpPr>
          <p:grpSpPr bwMode="auto">
            <a:xfrm rot="-1307516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38938" name="Freeform 26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9" name="Freeform 27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0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41" name="Group 29"/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38942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3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4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45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38946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7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8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949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0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1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2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3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4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6 w 149"/>
                <a:gd name="T3" fmla="*/ 6 h 704"/>
                <a:gd name="T4" fmla="*/ 16 w 149"/>
                <a:gd name="T5" fmla="*/ 14 h 704"/>
                <a:gd name="T6" fmla="*/ 28 w 149"/>
                <a:gd name="T7" fmla="*/ 24 h 704"/>
                <a:gd name="T8" fmla="*/ 41 w 149"/>
                <a:gd name="T9" fmla="*/ 37 h 704"/>
                <a:gd name="T10" fmla="*/ 58 w 149"/>
                <a:gd name="T11" fmla="*/ 53 h 704"/>
                <a:gd name="T12" fmla="*/ 73 w 149"/>
                <a:gd name="T13" fmla="*/ 70 h 704"/>
                <a:gd name="T14" fmla="*/ 88 w 149"/>
                <a:gd name="T15" fmla="*/ 90 h 704"/>
                <a:gd name="T16" fmla="*/ 100 w 149"/>
                <a:gd name="T17" fmla="*/ 113 h 704"/>
                <a:gd name="T18" fmla="*/ 112 w 149"/>
                <a:gd name="T19" fmla="*/ 137 h 704"/>
                <a:gd name="T20" fmla="*/ 120 w 149"/>
                <a:gd name="T21" fmla="*/ 165 h 704"/>
                <a:gd name="T22" fmla="*/ 124 w 149"/>
                <a:gd name="T23" fmla="*/ 196 h 704"/>
                <a:gd name="T24" fmla="*/ 126 w 149"/>
                <a:gd name="T25" fmla="*/ 228 h 704"/>
                <a:gd name="T26" fmla="*/ 120 w 149"/>
                <a:gd name="T27" fmla="*/ 264 h 704"/>
                <a:gd name="T28" fmla="*/ 109 w 149"/>
                <a:gd name="T29" fmla="*/ 302 h 704"/>
                <a:gd name="T30" fmla="*/ 92 w 149"/>
                <a:gd name="T31" fmla="*/ 342 h 704"/>
                <a:gd name="T32" fmla="*/ 67 w 149"/>
                <a:gd name="T33" fmla="*/ 386 h 704"/>
                <a:gd name="T34" fmla="*/ 39 w 149"/>
                <a:gd name="T35" fmla="*/ 436 h 704"/>
                <a:gd name="T36" fmla="*/ 21 w 149"/>
                <a:gd name="T37" fmla="*/ 482 h 704"/>
                <a:gd name="T38" fmla="*/ 10 w 149"/>
                <a:gd name="T39" fmla="*/ 525 h 704"/>
                <a:gd name="T40" fmla="*/ 6 w 149"/>
                <a:gd name="T41" fmla="*/ 566 h 704"/>
                <a:gd name="T42" fmla="*/ 6 w 149"/>
                <a:gd name="T43" fmla="*/ 605 h 704"/>
                <a:gd name="T44" fmla="*/ 8 w 149"/>
                <a:gd name="T45" fmla="*/ 641 h 704"/>
                <a:gd name="T46" fmla="*/ 12 w 149"/>
                <a:gd name="T47" fmla="*/ 673 h 704"/>
                <a:gd name="T48" fmla="*/ 14 w 149"/>
                <a:gd name="T49" fmla="*/ 704 h 704"/>
                <a:gd name="T50" fmla="*/ 41 w 149"/>
                <a:gd name="T51" fmla="*/ 688 h 704"/>
                <a:gd name="T52" fmla="*/ 39 w 149"/>
                <a:gd name="T53" fmla="*/ 680 h 704"/>
                <a:gd name="T54" fmla="*/ 36 w 149"/>
                <a:gd name="T55" fmla="*/ 657 h 704"/>
                <a:gd name="T56" fmla="*/ 33 w 149"/>
                <a:gd name="T57" fmla="*/ 622 h 704"/>
                <a:gd name="T58" fmla="*/ 35 w 149"/>
                <a:gd name="T59" fmla="*/ 575 h 704"/>
                <a:gd name="T60" fmla="*/ 41 w 149"/>
                <a:gd name="T61" fmla="*/ 519 h 704"/>
                <a:gd name="T62" fmla="*/ 58 w 149"/>
                <a:gd name="T63" fmla="*/ 455 h 704"/>
                <a:gd name="T64" fmla="*/ 86 w 149"/>
                <a:gd name="T65" fmla="*/ 386 h 704"/>
                <a:gd name="T66" fmla="*/ 129 w 149"/>
                <a:gd name="T67" fmla="*/ 313 h 704"/>
                <a:gd name="T68" fmla="*/ 143 w 149"/>
                <a:gd name="T69" fmla="*/ 279 h 704"/>
                <a:gd name="T70" fmla="*/ 149 w 149"/>
                <a:gd name="T71" fmla="*/ 235 h 704"/>
                <a:gd name="T72" fmla="*/ 144 w 149"/>
                <a:gd name="T73" fmla="*/ 184 h 704"/>
                <a:gd name="T74" fmla="*/ 131 w 149"/>
                <a:gd name="T75" fmla="*/ 134 h 704"/>
                <a:gd name="T76" fmla="*/ 109 w 149"/>
                <a:gd name="T77" fmla="*/ 85 h 704"/>
                <a:gd name="T78" fmla="*/ 81 w 149"/>
                <a:gd name="T79" fmla="*/ 44 h 704"/>
                <a:gd name="T80" fmla="*/ 44 w 149"/>
                <a:gd name="T81" fmla="*/ 14 h 704"/>
                <a:gd name="T82" fmla="*/ 0 w 149"/>
                <a:gd name="T8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5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8956" name="Rectangle 4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8957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8958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C08114D-6E08-4BC5-8C77-49DEA66343E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895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200" b="1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896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0E175F-A0E8-43CB-8957-0044934BF1F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4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6A7E5E-C611-4C5A-A690-6E1FCD43E7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9F8CC5-9A62-4677-8B1B-2DFFE9B7AD0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99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AF794-3FFC-4A04-AFE3-192B7F2944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7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A8DFF9-51A7-4231-94C1-E8565B53F2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7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3EBD51-663E-4783-84FD-D38F71A4BDC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0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893CDD-9CBE-45E1-A92F-AACC742D8A8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8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F3021-E27F-4EA3-9A25-DE56D5D814C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66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754AE5-06EF-4752-A326-DEB20CFE98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6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032AD8-44F5-4C2D-8FEE-F289C4CC24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45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9A20D3D-1579-42BA-8F19-C3239B2FB4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83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82BD2C9-4BA0-4656-834E-648FA56D56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0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37891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7892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37893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4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5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7896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7897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37898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46 w 217"/>
                  <a:gd name="T1" fmla="*/ 210 h 210"/>
                  <a:gd name="T2" fmla="*/ 37 w 217"/>
                  <a:gd name="T3" fmla="*/ 198 h 210"/>
                  <a:gd name="T4" fmla="*/ 26 w 217"/>
                  <a:gd name="T5" fmla="*/ 181 h 210"/>
                  <a:gd name="T6" fmla="*/ 15 w 217"/>
                  <a:gd name="T7" fmla="*/ 159 h 210"/>
                  <a:gd name="T8" fmla="*/ 5 w 217"/>
                  <a:gd name="T9" fmla="*/ 135 h 210"/>
                  <a:gd name="T10" fmla="*/ 0 w 217"/>
                  <a:gd name="T11" fmla="*/ 109 h 210"/>
                  <a:gd name="T12" fmla="*/ 1 w 217"/>
                  <a:gd name="T13" fmla="*/ 82 h 210"/>
                  <a:gd name="T14" fmla="*/ 9 w 217"/>
                  <a:gd name="T15" fmla="*/ 57 h 210"/>
                  <a:gd name="T16" fmla="*/ 27 w 217"/>
                  <a:gd name="T17" fmla="*/ 35 h 210"/>
                  <a:gd name="T18" fmla="*/ 45 w 217"/>
                  <a:gd name="T19" fmla="*/ 22 h 210"/>
                  <a:gd name="T20" fmla="*/ 60 w 217"/>
                  <a:gd name="T21" fmla="*/ 12 h 210"/>
                  <a:gd name="T22" fmla="*/ 72 w 217"/>
                  <a:gd name="T23" fmla="*/ 7 h 210"/>
                  <a:gd name="T24" fmla="*/ 81 w 217"/>
                  <a:gd name="T25" fmla="*/ 5 h 210"/>
                  <a:gd name="T26" fmla="*/ 88 w 217"/>
                  <a:gd name="T27" fmla="*/ 5 h 210"/>
                  <a:gd name="T28" fmla="*/ 104 w 217"/>
                  <a:gd name="T29" fmla="*/ 0 h 210"/>
                  <a:gd name="T30" fmla="*/ 148 w 217"/>
                  <a:gd name="T31" fmla="*/ 8 h 210"/>
                  <a:gd name="T32" fmla="*/ 160 w 217"/>
                  <a:gd name="T33" fmla="*/ 12 h 210"/>
                  <a:gd name="T34" fmla="*/ 172 w 217"/>
                  <a:gd name="T35" fmla="*/ 15 h 210"/>
                  <a:gd name="T36" fmla="*/ 182 w 217"/>
                  <a:gd name="T37" fmla="*/ 19 h 210"/>
                  <a:gd name="T38" fmla="*/ 190 w 217"/>
                  <a:gd name="T39" fmla="*/ 23 h 210"/>
                  <a:gd name="T40" fmla="*/ 198 w 217"/>
                  <a:gd name="T41" fmla="*/ 27 h 210"/>
                  <a:gd name="T42" fmla="*/ 205 w 217"/>
                  <a:gd name="T43" fmla="*/ 32 h 210"/>
                  <a:gd name="T44" fmla="*/ 211 w 217"/>
                  <a:gd name="T45" fmla="*/ 38 h 210"/>
                  <a:gd name="T46" fmla="*/ 217 w 217"/>
                  <a:gd name="T47" fmla="*/ 45 h 210"/>
                  <a:gd name="T48" fmla="*/ 205 w 217"/>
                  <a:gd name="T49" fmla="*/ 40 h 210"/>
                  <a:gd name="T50" fmla="*/ 194 w 217"/>
                  <a:gd name="T51" fmla="*/ 36 h 210"/>
                  <a:gd name="T52" fmla="*/ 183 w 217"/>
                  <a:gd name="T53" fmla="*/ 33 h 210"/>
                  <a:gd name="T54" fmla="*/ 172 w 217"/>
                  <a:gd name="T55" fmla="*/ 30 h 210"/>
                  <a:gd name="T56" fmla="*/ 163 w 217"/>
                  <a:gd name="T57" fmla="*/ 27 h 210"/>
                  <a:gd name="T58" fmla="*/ 153 w 217"/>
                  <a:gd name="T59" fmla="*/ 26 h 210"/>
                  <a:gd name="T60" fmla="*/ 143 w 217"/>
                  <a:gd name="T61" fmla="*/ 24 h 210"/>
                  <a:gd name="T62" fmla="*/ 134 w 217"/>
                  <a:gd name="T63" fmla="*/ 24 h 210"/>
                  <a:gd name="T64" fmla="*/ 125 w 217"/>
                  <a:gd name="T65" fmla="*/ 24 h 210"/>
                  <a:gd name="T66" fmla="*/ 116 w 217"/>
                  <a:gd name="T67" fmla="*/ 25 h 210"/>
                  <a:gd name="T68" fmla="*/ 107 w 217"/>
                  <a:gd name="T69" fmla="*/ 27 h 210"/>
                  <a:gd name="T70" fmla="*/ 99 w 217"/>
                  <a:gd name="T71" fmla="*/ 29 h 210"/>
                  <a:gd name="T72" fmla="*/ 91 w 217"/>
                  <a:gd name="T73" fmla="*/ 33 h 210"/>
                  <a:gd name="T74" fmla="*/ 82 w 217"/>
                  <a:gd name="T75" fmla="*/ 36 h 210"/>
                  <a:gd name="T76" fmla="*/ 74 w 217"/>
                  <a:gd name="T77" fmla="*/ 41 h 210"/>
                  <a:gd name="T78" fmla="*/ 66 w 217"/>
                  <a:gd name="T79" fmla="*/ 46 h 210"/>
                  <a:gd name="T80" fmla="*/ 52 w 217"/>
                  <a:gd name="T81" fmla="*/ 61 h 210"/>
                  <a:gd name="T82" fmla="*/ 42 w 217"/>
                  <a:gd name="T83" fmla="*/ 80 h 210"/>
                  <a:gd name="T84" fmla="*/ 37 w 217"/>
                  <a:gd name="T85" fmla="*/ 103 h 210"/>
                  <a:gd name="T86" fmla="*/ 35 w 217"/>
                  <a:gd name="T87" fmla="*/ 126 h 210"/>
                  <a:gd name="T88" fmla="*/ 35 w 217"/>
                  <a:gd name="T89" fmla="*/ 151 h 210"/>
                  <a:gd name="T90" fmla="*/ 38 w 217"/>
                  <a:gd name="T91" fmla="*/ 174 h 210"/>
                  <a:gd name="T92" fmla="*/ 41 w 217"/>
                  <a:gd name="T93" fmla="*/ 194 h 210"/>
                  <a:gd name="T94" fmla="*/ 46 w 217"/>
                  <a:gd name="T9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9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09 w 182"/>
                  <a:gd name="T1" fmla="*/ 0 h 213"/>
                  <a:gd name="T2" fmla="*/ 112 w 182"/>
                  <a:gd name="T3" fmla="*/ 2 h 213"/>
                  <a:gd name="T4" fmla="*/ 118 w 182"/>
                  <a:gd name="T5" fmla="*/ 8 h 213"/>
                  <a:gd name="T6" fmla="*/ 127 w 182"/>
                  <a:gd name="T7" fmla="*/ 18 h 213"/>
                  <a:gd name="T8" fmla="*/ 137 w 182"/>
                  <a:gd name="T9" fmla="*/ 33 h 213"/>
                  <a:gd name="T10" fmla="*/ 145 w 182"/>
                  <a:gd name="T11" fmla="*/ 52 h 213"/>
                  <a:gd name="T12" fmla="*/ 150 w 182"/>
                  <a:gd name="T13" fmla="*/ 76 h 213"/>
                  <a:gd name="T14" fmla="*/ 150 w 182"/>
                  <a:gd name="T15" fmla="*/ 105 h 213"/>
                  <a:gd name="T16" fmla="*/ 144 w 182"/>
                  <a:gd name="T17" fmla="*/ 139 h 213"/>
                  <a:gd name="T18" fmla="*/ 140 w 182"/>
                  <a:gd name="T19" fmla="*/ 149 h 213"/>
                  <a:gd name="T20" fmla="*/ 136 w 182"/>
                  <a:gd name="T21" fmla="*/ 157 h 213"/>
                  <a:gd name="T22" fmla="*/ 131 w 182"/>
                  <a:gd name="T23" fmla="*/ 165 h 213"/>
                  <a:gd name="T24" fmla="*/ 125 w 182"/>
                  <a:gd name="T25" fmla="*/ 173 h 213"/>
                  <a:gd name="T26" fmla="*/ 117 w 182"/>
                  <a:gd name="T27" fmla="*/ 180 h 213"/>
                  <a:gd name="T28" fmla="*/ 110 w 182"/>
                  <a:gd name="T29" fmla="*/ 185 h 213"/>
                  <a:gd name="T30" fmla="*/ 102 w 182"/>
                  <a:gd name="T31" fmla="*/ 191 h 213"/>
                  <a:gd name="T32" fmla="*/ 92 w 182"/>
                  <a:gd name="T33" fmla="*/ 195 h 213"/>
                  <a:gd name="T34" fmla="*/ 82 w 182"/>
                  <a:gd name="T35" fmla="*/ 197 h 213"/>
                  <a:gd name="T36" fmla="*/ 72 w 182"/>
                  <a:gd name="T37" fmla="*/ 200 h 213"/>
                  <a:gd name="T38" fmla="*/ 61 w 182"/>
                  <a:gd name="T39" fmla="*/ 201 h 213"/>
                  <a:gd name="T40" fmla="*/ 49 w 182"/>
                  <a:gd name="T41" fmla="*/ 201 h 213"/>
                  <a:gd name="T42" fmla="*/ 37 w 182"/>
                  <a:gd name="T43" fmla="*/ 200 h 213"/>
                  <a:gd name="T44" fmla="*/ 25 w 182"/>
                  <a:gd name="T45" fmla="*/ 197 h 213"/>
                  <a:gd name="T46" fmla="*/ 12 w 182"/>
                  <a:gd name="T47" fmla="*/ 193 h 213"/>
                  <a:gd name="T48" fmla="*/ 0 w 182"/>
                  <a:gd name="T49" fmla="*/ 188 h 213"/>
                  <a:gd name="T50" fmla="*/ 11 w 182"/>
                  <a:gd name="T51" fmla="*/ 195 h 213"/>
                  <a:gd name="T52" fmla="*/ 22 w 182"/>
                  <a:gd name="T53" fmla="*/ 200 h 213"/>
                  <a:gd name="T54" fmla="*/ 33 w 182"/>
                  <a:gd name="T55" fmla="*/ 205 h 213"/>
                  <a:gd name="T56" fmla="*/ 43 w 182"/>
                  <a:gd name="T57" fmla="*/ 208 h 213"/>
                  <a:gd name="T58" fmla="*/ 53 w 182"/>
                  <a:gd name="T59" fmla="*/ 211 h 213"/>
                  <a:gd name="T60" fmla="*/ 63 w 182"/>
                  <a:gd name="T61" fmla="*/ 212 h 213"/>
                  <a:gd name="T62" fmla="*/ 73 w 182"/>
                  <a:gd name="T63" fmla="*/ 213 h 213"/>
                  <a:gd name="T64" fmla="*/ 83 w 182"/>
                  <a:gd name="T65" fmla="*/ 213 h 213"/>
                  <a:gd name="T66" fmla="*/ 91 w 182"/>
                  <a:gd name="T67" fmla="*/ 212 h 213"/>
                  <a:gd name="T68" fmla="*/ 100 w 182"/>
                  <a:gd name="T69" fmla="*/ 210 h 213"/>
                  <a:gd name="T70" fmla="*/ 108 w 182"/>
                  <a:gd name="T71" fmla="*/ 208 h 213"/>
                  <a:gd name="T72" fmla="*/ 116 w 182"/>
                  <a:gd name="T73" fmla="*/ 206 h 213"/>
                  <a:gd name="T74" fmla="*/ 123 w 182"/>
                  <a:gd name="T75" fmla="*/ 203 h 213"/>
                  <a:gd name="T76" fmla="*/ 130 w 182"/>
                  <a:gd name="T77" fmla="*/ 199 h 213"/>
                  <a:gd name="T78" fmla="*/ 136 w 182"/>
                  <a:gd name="T79" fmla="*/ 195 h 213"/>
                  <a:gd name="T80" fmla="*/ 142 w 182"/>
                  <a:gd name="T81" fmla="*/ 191 h 213"/>
                  <a:gd name="T82" fmla="*/ 158 w 182"/>
                  <a:gd name="T83" fmla="*/ 176 h 213"/>
                  <a:gd name="T84" fmla="*/ 169 w 182"/>
                  <a:gd name="T85" fmla="*/ 161 h 213"/>
                  <a:gd name="T86" fmla="*/ 176 w 182"/>
                  <a:gd name="T87" fmla="*/ 144 h 213"/>
                  <a:gd name="T88" fmla="*/ 179 w 182"/>
                  <a:gd name="T89" fmla="*/ 128 h 213"/>
                  <a:gd name="T90" fmla="*/ 181 w 182"/>
                  <a:gd name="T91" fmla="*/ 111 h 213"/>
                  <a:gd name="T92" fmla="*/ 181 w 182"/>
                  <a:gd name="T93" fmla="*/ 95 h 213"/>
                  <a:gd name="T94" fmla="*/ 182 w 182"/>
                  <a:gd name="T95" fmla="*/ 79 h 213"/>
                  <a:gd name="T96" fmla="*/ 173 w 182"/>
                  <a:gd name="T97" fmla="*/ 46 h 213"/>
                  <a:gd name="T98" fmla="*/ 156 w 182"/>
                  <a:gd name="T99" fmla="*/ 21 h 213"/>
                  <a:gd name="T100" fmla="*/ 151 w 182"/>
                  <a:gd name="T101" fmla="*/ 18 h 213"/>
                  <a:gd name="T102" fmla="*/ 147 w 182"/>
                  <a:gd name="T103" fmla="*/ 15 h 213"/>
                  <a:gd name="T104" fmla="*/ 142 w 182"/>
                  <a:gd name="T105" fmla="*/ 13 h 213"/>
                  <a:gd name="T106" fmla="*/ 138 w 182"/>
                  <a:gd name="T107" fmla="*/ 11 h 213"/>
                  <a:gd name="T108" fmla="*/ 132 w 182"/>
                  <a:gd name="T109" fmla="*/ 9 h 213"/>
                  <a:gd name="T110" fmla="*/ 126 w 182"/>
                  <a:gd name="T111" fmla="*/ 6 h 213"/>
                  <a:gd name="T112" fmla="*/ 119 w 182"/>
                  <a:gd name="T113" fmla="*/ 3 h 213"/>
                  <a:gd name="T114" fmla="*/ 109 w 182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0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94 w 128"/>
                  <a:gd name="T1" fmla="*/ 0 h 217"/>
                  <a:gd name="T2" fmla="*/ 105 w 128"/>
                  <a:gd name="T3" fmla="*/ 9 h 217"/>
                  <a:gd name="T4" fmla="*/ 115 w 128"/>
                  <a:gd name="T5" fmla="*/ 27 h 217"/>
                  <a:gd name="T6" fmla="*/ 123 w 128"/>
                  <a:gd name="T7" fmla="*/ 50 h 217"/>
                  <a:gd name="T8" fmla="*/ 128 w 128"/>
                  <a:gd name="T9" fmla="*/ 78 h 217"/>
                  <a:gd name="T10" fmla="*/ 127 w 128"/>
                  <a:gd name="T11" fmla="*/ 111 h 217"/>
                  <a:gd name="T12" fmla="*/ 116 w 128"/>
                  <a:gd name="T13" fmla="*/ 145 h 217"/>
                  <a:gd name="T14" fmla="*/ 94 w 128"/>
                  <a:gd name="T15" fmla="*/ 181 h 217"/>
                  <a:gd name="T16" fmla="*/ 60 w 128"/>
                  <a:gd name="T17" fmla="*/ 217 h 217"/>
                  <a:gd name="T18" fmla="*/ 49 w 128"/>
                  <a:gd name="T19" fmla="*/ 213 h 217"/>
                  <a:gd name="T20" fmla="*/ 38 w 128"/>
                  <a:gd name="T21" fmla="*/ 210 h 217"/>
                  <a:gd name="T22" fmla="*/ 26 w 128"/>
                  <a:gd name="T23" fmla="*/ 205 h 217"/>
                  <a:gd name="T24" fmla="*/ 16 w 128"/>
                  <a:gd name="T25" fmla="*/ 201 h 217"/>
                  <a:gd name="T26" fmla="*/ 8 w 128"/>
                  <a:gd name="T27" fmla="*/ 196 h 217"/>
                  <a:gd name="T28" fmla="*/ 2 w 128"/>
                  <a:gd name="T29" fmla="*/ 190 h 217"/>
                  <a:gd name="T30" fmla="*/ 0 w 128"/>
                  <a:gd name="T31" fmla="*/ 183 h 217"/>
                  <a:gd name="T32" fmla="*/ 1 w 128"/>
                  <a:gd name="T33" fmla="*/ 178 h 217"/>
                  <a:gd name="T34" fmla="*/ 13 w 128"/>
                  <a:gd name="T35" fmla="*/ 171 h 217"/>
                  <a:gd name="T36" fmla="*/ 29 w 128"/>
                  <a:gd name="T37" fmla="*/ 161 h 217"/>
                  <a:gd name="T38" fmla="*/ 46 w 128"/>
                  <a:gd name="T39" fmla="*/ 150 h 217"/>
                  <a:gd name="T40" fmla="*/ 63 w 128"/>
                  <a:gd name="T41" fmla="*/ 134 h 217"/>
                  <a:gd name="T42" fmla="*/ 79 w 128"/>
                  <a:gd name="T43" fmla="*/ 112 h 217"/>
                  <a:gd name="T44" fmla="*/ 91 w 128"/>
                  <a:gd name="T45" fmla="*/ 83 h 217"/>
                  <a:gd name="T46" fmla="*/ 97 w 128"/>
                  <a:gd name="T47" fmla="*/ 46 h 217"/>
                  <a:gd name="T48" fmla="*/ 94 w 128"/>
                  <a:gd name="T4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1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75 w 117"/>
                  <a:gd name="T1" fmla="*/ 0 h 132"/>
                  <a:gd name="T2" fmla="*/ 0 w 117"/>
                  <a:gd name="T3" fmla="*/ 25 h 132"/>
                  <a:gd name="T4" fmla="*/ 3 w 117"/>
                  <a:gd name="T5" fmla="*/ 26 h 132"/>
                  <a:gd name="T6" fmla="*/ 14 w 117"/>
                  <a:gd name="T7" fmla="*/ 29 h 132"/>
                  <a:gd name="T8" fmla="*/ 29 w 117"/>
                  <a:gd name="T9" fmla="*/ 36 h 132"/>
                  <a:gd name="T10" fmla="*/ 46 w 117"/>
                  <a:gd name="T11" fmla="*/ 47 h 132"/>
                  <a:gd name="T12" fmla="*/ 66 w 117"/>
                  <a:gd name="T13" fmla="*/ 62 h 132"/>
                  <a:gd name="T14" fmla="*/ 84 w 117"/>
                  <a:gd name="T15" fmla="*/ 80 h 132"/>
                  <a:gd name="T16" fmla="*/ 102 w 117"/>
                  <a:gd name="T17" fmla="*/ 103 h 132"/>
                  <a:gd name="T18" fmla="*/ 116 w 117"/>
                  <a:gd name="T19" fmla="*/ 132 h 132"/>
                  <a:gd name="T20" fmla="*/ 117 w 117"/>
                  <a:gd name="T21" fmla="*/ 120 h 132"/>
                  <a:gd name="T22" fmla="*/ 115 w 117"/>
                  <a:gd name="T23" fmla="*/ 107 h 132"/>
                  <a:gd name="T24" fmla="*/ 108 w 117"/>
                  <a:gd name="T25" fmla="*/ 90 h 132"/>
                  <a:gd name="T26" fmla="*/ 99 w 117"/>
                  <a:gd name="T27" fmla="*/ 74 h 132"/>
                  <a:gd name="T28" fmla="*/ 89 w 117"/>
                  <a:gd name="T29" fmla="*/ 58 h 132"/>
                  <a:gd name="T30" fmla="*/ 78 w 117"/>
                  <a:gd name="T31" fmla="*/ 45 h 132"/>
                  <a:gd name="T32" fmla="*/ 67 w 117"/>
                  <a:gd name="T33" fmla="*/ 36 h 132"/>
                  <a:gd name="T34" fmla="*/ 58 w 117"/>
                  <a:gd name="T35" fmla="*/ 32 h 132"/>
                  <a:gd name="T36" fmla="*/ 69 w 117"/>
                  <a:gd name="T37" fmla="*/ 29 h 132"/>
                  <a:gd name="T38" fmla="*/ 79 w 117"/>
                  <a:gd name="T39" fmla="*/ 28 h 132"/>
                  <a:gd name="T40" fmla="*/ 89 w 117"/>
                  <a:gd name="T41" fmla="*/ 26 h 132"/>
                  <a:gd name="T42" fmla="*/ 98 w 117"/>
                  <a:gd name="T43" fmla="*/ 25 h 132"/>
                  <a:gd name="T44" fmla="*/ 105 w 117"/>
                  <a:gd name="T45" fmla="*/ 24 h 132"/>
                  <a:gd name="T46" fmla="*/ 109 w 117"/>
                  <a:gd name="T47" fmla="*/ 22 h 132"/>
                  <a:gd name="T48" fmla="*/ 113 w 117"/>
                  <a:gd name="T49" fmla="*/ 21 h 132"/>
                  <a:gd name="T50" fmla="*/ 114 w 117"/>
                  <a:gd name="T51" fmla="*/ 21 h 132"/>
                  <a:gd name="T52" fmla="*/ 75 w 117"/>
                  <a:gd name="T5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2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9 w 29"/>
                  <a:gd name="T1" fmla="*/ 0 h 77"/>
                  <a:gd name="T2" fmla="*/ 23 w 29"/>
                  <a:gd name="T3" fmla="*/ 0 h 77"/>
                  <a:gd name="T4" fmla="*/ 16 w 29"/>
                  <a:gd name="T5" fmla="*/ 4 h 77"/>
                  <a:gd name="T6" fmla="*/ 9 w 29"/>
                  <a:gd name="T7" fmla="*/ 9 h 77"/>
                  <a:gd name="T8" fmla="*/ 4 w 29"/>
                  <a:gd name="T9" fmla="*/ 19 h 77"/>
                  <a:gd name="T10" fmla="*/ 1 w 29"/>
                  <a:gd name="T11" fmla="*/ 30 h 77"/>
                  <a:gd name="T12" fmla="*/ 0 w 29"/>
                  <a:gd name="T13" fmla="*/ 44 h 77"/>
                  <a:gd name="T14" fmla="*/ 3 w 29"/>
                  <a:gd name="T15" fmla="*/ 60 h 77"/>
                  <a:gd name="T16" fmla="*/ 11 w 29"/>
                  <a:gd name="T17" fmla="*/ 77 h 77"/>
                  <a:gd name="T18" fmla="*/ 15 w 29"/>
                  <a:gd name="T19" fmla="*/ 53 h 77"/>
                  <a:gd name="T20" fmla="*/ 19 w 29"/>
                  <a:gd name="T21" fmla="*/ 37 h 77"/>
                  <a:gd name="T22" fmla="*/ 23 w 29"/>
                  <a:gd name="T23" fmla="*/ 22 h 77"/>
                  <a:gd name="T24" fmla="*/ 29 w 29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37903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37904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12 w 207"/>
                    <a:gd name="T1" fmla="*/ 44 h 564"/>
                    <a:gd name="T2" fmla="*/ 6 w 207"/>
                    <a:gd name="T3" fmla="*/ 72 h 564"/>
                    <a:gd name="T4" fmla="*/ 3 w 207"/>
                    <a:gd name="T5" fmla="*/ 99 h 564"/>
                    <a:gd name="T6" fmla="*/ 0 w 207"/>
                    <a:gd name="T7" fmla="*/ 125 h 564"/>
                    <a:gd name="T8" fmla="*/ 0 w 207"/>
                    <a:gd name="T9" fmla="*/ 151 h 564"/>
                    <a:gd name="T10" fmla="*/ 3 w 207"/>
                    <a:gd name="T11" fmla="*/ 180 h 564"/>
                    <a:gd name="T12" fmla="*/ 7 w 207"/>
                    <a:gd name="T13" fmla="*/ 211 h 564"/>
                    <a:gd name="T14" fmla="*/ 16 w 207"/>
                    <a:gd name="T15" fmla="*/ 247 h 564"/>
                    <a:gd name="T16" fmla="*/ 29 w 207"/>
                    <a:gd name="T17" fmla="*/ 287 h 564"/>
                    <a:gd name="T18" fmla="*/ 43 w 207"/>
                    <a:gd name="T19" fmla="*/ 325 h 564"/>
                    <a:gd name="T20" fmla="*/ 61 w 207"/>
                    <a:gd name="T21" fmla="*/ 364 h 564"/>
                    <a:gd name="T22" fmla="*/ 83 w 207"/>
                    <a:gd name="T23" fmla="*/ 406 h 564"/>
                    <a:gd name="T24" fmla="*/ 106 w 207"/>
                    <a:gd name="T25" fmla="*/ 446 h 564"/>
                    <a:gd name="T26" fmla="*/ 132 w 207"/>
                    <a:gd name="T27" fmla="*/ 483 h 564"/>
                    <a:gd name="T28" fmla="*/ 157 w 207"/>
                    <a:gd name="T29" fmla="*/ 516 h 564"/>
                    <a:gd name="T30" fmla="*/ 182 w 207"/>
                    <a:gd name="T31" fmla="*/ 544 h 564"/>
                    <a:gd name="T32" fmla="*/ 207 w 207"/>
                    <a:gd name="T33" fmla="*/ 564 h 564"/>
                    <a:gd name="T34" fmla="*/ 160 w 207"/>
                    <a:gd name="T35" fmla="*/ 501 h 564"/>
                    <a:gd name="T36" fmla="*/ 127 w 207"/>
                    <a:gd name="T37" fmla="*/ 448 h 564"/>
                    <a:gd name="T38" fmla="*/ 103 w 207"/>
                    <a:gd name="T39" fmla="*/ 405 h 564"/>
                    <a:gd name="T40" fmla="*/ 87 w 207"/>
                    <a:gd name="T41" fmla="*/ 368 h 564"/>
                    <a:gd name="T42" fmla="*/ 75 w 207"/>
                    <a:gd name="T43" fmla="*/ 337 h 564"/>
                    <a:gd name="T44" fmla="*/ 68 w 207"/>
                    <a:gd name="T45" fmla="*/ 309 h 564"/>
                    <a:gd name="T46" fmla="*/ 63 w 207"/>
                    <a:gd name="T47" fmla="*/ 285 h 564"/>
                    <a:gd name="T48" fmla="*/ 56 w 207"/>
                    <a:gd name="T49" fmla="*/ 261 h 564"/>
                    <a:gd name="T50" fmla="*/ 44 w 207"/>
                    <a:gd name="T51" fmla="*/ 205 h 564"/>
                    <a:gd name="T52" fmla="*/ 41 w 207"/>
                    <a:gd name="T53" fmla="*/ 140 h 564"/>
                    <a:gd name="T54" fmla="*/ 43 w 207"/>
                    <a:gd name="T55" fmla="*/ 68 h 564"/>
                    <a:gd name="T56" fmla="*/ 50 w 207"/>
                    <a:gd name="T57" fmla="*/ 0 h 564"/>
                    <a:gd name="T58" fmla="*/ 12 w 207"/>
                    <a:gd name="T59" fmla="*/ 4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7905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9 h 232"/>
                    <a:gd name="T2" fmla="*/ 14 w 47"/>
                    <a:gd name="T3" fmla="*/ 55 h 232"/>
                    <a:gd name="T4" fmla="*/ 22 w 47"/>
                    <a:gd name="T5" fmla="*/ 101 h 232"/>
                    <a:gd name="T6" fmla="*/ 24 w 47"/>
                    <a:gd name="T7" fmla="*/ 159 h 232"/>
                    <a:gd name="T8" fmla="*/ 19 w 47"/>
                    <a:gd name="T9" fmla="*/ 232 h 232"/>
                    <a:gd name="T10" fmla="*/ 45 w 47"/>
                    <a:gd name="T11" fmla="*/ 217 h 232"/>
                    <a:gd name="T12" fmla="*/ 47 w 47"/>
                    <a:gd name="T13" fmla="*/ 178 h 232"/>
                    <a:gd name="T14" fmla="*/ 47 w 47"/>
                    <a:gd name="T15" fmla="*/ 140 h 232"/>
                    <a:gd name="T16" fmla="*/ 45 w 47"/>
                    <a:gd name="T17" fmla="*/ 103 h 232"/>
                    <a:gd name="T18" fmla="*/ 41 w 47"/>
                    <a:gd name="T19" fmla="*/ 71 h 232"/>
                    <a:gd name="T20" fmla="*/ 36 w 47"/>
                    <a:gd name="T21" fmla="*/ 52 h 232"/>
                    <a:gd name="T22" fmla="*/ 29 w 47"/>
                    <a:gd name="T23" fmla="*/ 34 h 232"/>
                    <a:gd name="T24" fmla="*/ 22 w 47"/>
                    <a:gd name="T25" fmla="*/ 17 h 232"/>
                    <a:gd name="T26" fmla="*/ 13 w 47"/>
                    <a:gd name="T27" fmla="*/ 0 h 232"/>
                    <a:gd name="T28" fmla="*/ 0 w 47"/>
                    <a:gd name="T29" fmla="*/ 19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7906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87 w 87"/>
                    <a:gd name="T1" fmla="*/ 22 h 40"/>
                    <a:gd name="T2" fmla="*/ 77 w 87"/>
                    <a:gd name="T3" fmla="*/ 17 h 40"/>
                    <a:gd name="T4" fmla="*/ 68 w 87"/>
                    <a:gd name="T5" fmla="*/ 12 h 40"/>
                    <a:gd name="T6" fmla="*/ 58 w 87"/>
                    <a:gd name="T7" fmla="*/ 7 h 40"/>
                    <a:gd name="T8" fmla="*/ 47 w 87"/>
                    <a:gd name="T9" fmla="*/ 5 h 40"/>
                    <a:gd name="T10" fmla="*/ 37 w 87"/>
                    <a:gd name="T11" fmla="*/ 3 h 40"/>
                    <a:gd name="T12" fmla="*/ 26 w 87"/>
                    <a:gd name="T13" fmla="*/ 2 h 40"/>
                    <a:gd name="T14" fmla="*/ 13 w 87"/>
                    <a:gd name="T15" fmla="*/ 0 h 40"/>
                    <a:gd name="T16" fmla="*/ 0 w 87"/>
                    <a:gd name="T17" fmla="*/ 2 h 40"/>
                    <a:gd name="T18" fmla="*/ 6 w 87"/>
                    <a:gd name="T19" fmla="*/ 6 h 40"/>
                    <a:gd name="T20" fmla="*/ 14 w 87"/>
                    <a:gd name="T21" fmla="*/ 10 h 40"/>
                    <a:gd name="T22" fmla="*/ 22 w 87"/>
                    <a:gd name="T23" fmla="*/ 14 h 40"/>
                    <a:gd name="T24" fmla="*/ 33 w 87"/>
                    <a:gd name="T25" fmla="*/ 18 h 40"/>
                    <a:gd name="T26" fmla="*/ 42 w 87"/>
                    <a:gd name="T27" fmla="*/ 22 h 40"/>
                    <a:gd name="T28" fmla="*/ 52 w 87"/>
                    <a:gd name="T29" fmla="*/ 27 h 40"/>
                    <a:gd name="T30" fmla="*/ 64 w 87"/>
                    <a:gd name="T31" fmla="*/ 33 h 40"/>
                    <a:gd name="T32" fmla="*/ 74 w 87"/>
                    <a:gd name="T33" fmla="*/ 40 h 40"/>
                    <a:gd name="T34" fmla="*/ 87 w 87"/>
                    <a:gd name="T3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</p:grpSp>
        <p:grpSp>
          <p:nvGrpSpPr>
            <p:cNvPr id="37907" name="Group 19"/>
            <p:cNvGrpSpPr>
              <a:grpSpLocks/>
            </p:cNvGrpSpPr>
            <p:nvPr/>
          </p:nvGrpSpPr>
          <p:grpSpPr bwMode="auto">
            <a:xfrm rot="-15351438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37908" name="Freeform 2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9" name="Freeform 2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0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7911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37912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3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4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7915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37916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7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8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7919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16 w 596"/>
                <a:gd name="T1" fmla="*/ 370 h 666"/>
                <a:gd name="T2" fmla="*/ 6 w 596"/>
                <a:gd name="T3" fmla="*/ 341 h 666"/>
                <a:gd name="T4" fmla="*/ 0 w 596"/>
                <a:gd name="T5" fmla="*/ 289 h 666"/>
                <a:gd name="T6" fmla="*/ 4 w 596"/>
                <a:gd name="T7" fmla="*/ 222 h 666"/>
                <a:gd name="T8" fmla="*/ 25 w 596"/>
                <a:gd name="T9" fmla="*/ 151 h 666"/>
                <a:gd name="T10" fmla="*/ 69 w 596"/>
                <a:gd name="T11" fmla="*/ 84 h 666"/>
                <a:gd name="T12" fmla="*/ 142 w 596"/>
                <a:gd name="T13" fmla="*/ 31 h 666"/>
                <a:gd name="T14" fmla="*/ 247 w 596"/>
                <a:gd name="T15" fmla="*/ 2 h 666"/>
                <a:gd name="T16" fmla="*/ 380 w 596"/>
                <a:gd name="T17" fmla="*/ 9 h 666"/>
                <a:gd name="T18" fmla="*/ 484 w 596"/>
                <a:gd name="T19" fmla="*/ 68 h 666"/>
                <a:gd name="T20" fmla="*/ 554 w 596"/>
                <a:gd name="T21" fmla="*/ 165 h 666"/>
                <a:gd name="T22" fmla="*/ 591 w 596"/>
                <a:gd name="T23" fmla="*/ 284 h 666"/>
                <a:gd name="T24" fmla="*/ 595 w 596"/>
                <a:gd name="T25" fmla="*/ 409 h 666"/>
                <a:gd name="T26" fmla="*/ 566 w 596"/>
                <a:gd name="T27" fmla="*/ 525 h 666"/>
                <a:gd name="T28" fmla="*/ 507 w 596"/>
                <a:gd name="T29" fmla="*/ 615 h 666"/>
                <a:gd name="T30" fmla="*/ 417 w 596"/>
                <a:gd name="T31" fmla="*/ 663 h 666"/>
                <a:gd name="T32" fmla="*/ 389 w 596"/>
                <a:gd name="T33" fmla="*/ 659 h 666"/>
                <a:gd name="T34" fmla="*/ 441 w 596"/>
                <a:gd name="T35" fmla="*/ 617 h 666"/>
                <a:gd name="T36" fmla="*/ 482 w 596"/>
                <a:gd name="T37" fmla="*/ 544 h 666"/>
                <a:gd name="T38" fmla="*/ 509 w 596"/>
                <a:gd name="T39" fmla="*/ 454 h 666"/>
                <a:gd name="T40" fmla="*/ 520 w 596"/>
                <a:gd name="T41" fmla="*/ 355 h 666"/>
                <a:gd name="T42" fmla="*/ 514 w 596"/>
                <a:gd name="T43" fmla="*/ 258 h 666"/>
                <a:gd name="T44" fmla="*/ 485 w 596"/>
                <a:gd name="T45" fmla="*/ 174 h 666"/>
                <a:gd name="T46" fmla="*/ 433 w 596"/>
                <a:gd name="T47" fmla="*/ 112 h 666"/>
                <a:gd name="T48" fmla="*/ 341 w 596"/>
                <a:gd name="T49" fmla="*/ 75 h 666"/>
                <a:gd name="T50" fmla="*/ 246 w 596"/>
                <a:gd name="T51" fmla="*/ 61 h 666"/>
                <a:gd name="T52" fmla="*/ 174 w 596"/>
                <a:gd name="T53" fmla="*/ 71 h 666"/>
                <a:gd name="T54" fmla="*/ 121 w 596"/>
                <a:gd name="T55" fmla="*/ 101 h 666"/>
                <a:gd name="T56" fmla="*/ 84 w 596"/>
                <a:gd name="T57" fmla="*/ 149 h 666"/>
                <a:gd name="T58" fmla="*/ 57 w 596"/>
                <a:gd name="T59" fmla="*/ 206 h 666"/>
                <a:gd name="T60" fmla="*/ 40 w 596"/>
                <a:gd name="T61" fmla="*/ 272 h 666"/>
                <a:gd name="T62" fmla="*/ 28 w 596"/>
                <a:gd name="T63" fmla="*/ 339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7933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7934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7935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7936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7937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575B99E-0E1E-4A72-AF66-5CDEDF92E64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jpeg"/><Relationship Id="rId5" Type="http://schemas.openxmlformats.org/officeDocument/2006/relationships/image" Target="../media/image27.wmf"/><Relationship Id="rId4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6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jpeg"/><Relationship Id="rId5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9.png"/><Relationship Id="rId5" Type="http://schemas.openxmlformats.org/officeDocument/2006/relationships/image" Target="../media/image1.png"/><Relationship Id="rId4" Type="http://schemas.openxmlformats.org/officeDocument/2006/relationships/oleObject" Target="../embeddings/oleObject7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jpeg"/><Relationship Id="rId5" Type="http://schemas.openxmlformats.org/officeDocument/2006/relationships/image" Target="../media/image71.png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0.png"/><Relationship Id="rId4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4.png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79.png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0.png"/><Relationship Id="rId4" Type="http://schemas.openxmlformats.org/officeDocument/2006/relationships/image" Target="../media/image77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jpeg"/><Relationship Id="rId3" Type="http://schemas.openxmlformats.org/officeDocument/2006/relationships/image" Target="../media/image78.png"/><Relationship Id="rId7" Type="http://schemas.openxmlformats.org/officeDocument/2006/relationships/image" Target="../media/image85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0.png"/><Relationship Id="rId4" Type="http://schemas.openxmlformats.org/officeDocument/2006/relationships/image" Target="../media/image820.png"/><Relationship Id="rId9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93.wmf"/><Relationship Id="rId3" Type="http://schemas.openxmlformats.org/officeDocument/2006/relationships/image" Target="../media/image95.jpeg"/><Relationship Id="rId7" Type="http://schemas.openxmlformats.org/officeDocument/2006/relationships/image" Target="../media/image90.w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50.png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92.wmf"/><Relationship Id="rId5" Type="http://schemas.openxmlformats.org/officeDocument/2006/relationships/image" Target="../media/image89.wmf"/><Relationship Id="rId15" Type="http://schemas.openxmlformats.org/officeDocument/2006/relationships/image" Target="../media/image94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91.wmf"/><Relationship Id="rId14" Type="http://schemas.openxmlformats.org/officeDocument/2006/relationships/oleObject" Target="../embeddings/oleObject15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E1A655BA-2A05-41E9-8502-065CFBE877D7}" type="slidenum">
              <a:rPr lang="en-US"/>
              <a:pPr/>
              <a:t>1</a:t>
            </a:fld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2438400"/>
            <a:ext cx="6146800" cy="1866900"/>
          </a:xfrm>
        </p:spPr>
        <p:txBody>
          <a:bodyPr/>
          <a:lstStyle/>
          <a:p>
            <a:r>
              <a:rPr lang="en-US" sz="6000" dirty="0"/>
              <a:t>Chapter 2</a:t>
            </a:r>
          </a:p>
          <a:p>
            <a:r>
              <a:rPr lang="en-US" sz="6000" dirty="0"/>
              <a:t>Basic Laws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2057400" y="5562600"/>
            <a:ext cx="57150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Copyright © The McGraw-Hill Companies, Inc. Permission required for reproduction or display.</a:t>
            </a:r>
          </a:p>
          <a:p>
            <a:endParaRPr lang="en-US" sz="90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62000" y="381000"/>
            <a:ext cx="77025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sz="3200" dirty="0" err="1" smtClean="0"/>
              <a:t>EBN</a:t>
            </a:r>
            <a:r>
              <a:rPr lang="en-US" sz="3200" smtClean="0"/>
              <a:t> 111/122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ELECTRICITY AND ELECTRONICS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13DC-B8C9-4F02-9A17-3E28ADDCFB7C}" type="slidenum">
              <a:rPr lang="en-US"/>
              <a:pPr/>
              <a:t>2</a:t>
            </a:fld>
            <a:endParaRPr lang="en-US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Laws - Chapter 2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1828800"/>
            <a:ext cx="6858000" cy="3581400"/>
          </a:xfrm>
          <a:noFill/>
        </p:spPr>
        <p:txBody>
          <a:bodyPr lIns="0" rIns="0"/>
          <a:lstStyle/>
          <a:p>
            <a:pPr marL="609600" indent="-609600">
              <a:lnSpc>
                <a:spcPct val="150000"/>
              </a:lnSpc>
              <a:buFontTx/>
              <a:buNone/>
            </a:pPr>
            <a:r>
              <a:rPr lang="en-US" sz="2400" dirty="0" smtClean="0"/>
              <a:t>2.2  </a:t>
            </a:r>
            <a:r>
              <a:rPr lang="en-US" sz="2400" dirty="0"/>
              <a:t>Ohm’s Law.</a:t>
            </a:r>
          </a:p>
          <a:p>
            <a:pPr marL="609600" indent="-609600">
              <a:lnSpc>
                <a:spcPct val="150000"/>
              </a:lnSpc>
              <a:buFontTx/>
              <a:buNone/>
            </a:pPr>
            <a:r>
              <a:rPr lang="en-US" sz="2400" dirty="0" smtClean="0"/>
              <a:t>2.3  </a:t>
            </a:r>
            <a:r>
              <a:rPr lang="en-US" sz="2400" dirty="0"/>
              <a:t>Nodes, Branches, and Loops.</a:t>
            </a:r>
          </a:p>
          <a:p>
            <a:pPr marL="609600" indent="-609600">
              <a:lnSpc>
                <a:spcPct val="150000"/>
              </a:lnSpc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2.4  </a:t>
            </a:r>
            <a:r>
              <a:rPr lang="en-US" sz="2400" dirty="0">
                <a:solidFill>
                  <a:srgbClr val="FF0000"/>
                </a:solidFill>
              </a:rPr>
              <a:t>Kirchhoff’s Laws.</a:t>
            </a:r>
          </a:p>
          <a:p>
            <a:pPr marL="609600" indent="-609600">
              <a:lnSpc>
                <a:spcPct val="150000"/>
              </a:lnSpc>
              <a:buFontTx/>
              <a:buNone/>
            </a:pPr>
            <a:r>
              <a:rPr lang="en-US" sz="2400" dirty="0" smtClean="0"/>
              <a:t>2.5  </a:t>
            </a:r>
            <a:r>
              <a:rPr lang="en-US" sz="2400" dirty="0"/>
              <a:t>Series Resistors and Voltage Division.</a:t>
            </a:r>
          </a:p>
          <a:p>
            <a:pPr marL="609600" indent="-609600">
              <a:lnSpc>
                <a:spcPct val="150000"/>
              </a:lnSpc>
              <a:buFontTx/>
              <a:buNone/>
            </a:pPr>
            <a:r>
              <a:rPr lang="en-US" sz="2400" dirty="0" smtClean="0"/>
              <a:t>2.6  </a:t>
            </a:r>
            <a:r>
              <a:rPr lang="en-US" sz="2400" dirty="0"/>
              <a:t>Parallel Resistors and Current Division.</a:t>
            </a:r>
          </a:p>
          <a:p>
            <a:pPr marL="609600" indent="-609600">
              <a:lnSpc>
                <a:spcPct val="150000"/>
              </a:lnSpc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2.7  </a:t>
            </a:r>
            <a:r>
              <a:rPr lang="en-US" sz="2400" dirty="0">
                <a:solidFill>
                  <a:srgbClr val="FF0000"/>
                </a:solidFill>
              </a:rPr>
              <a:t>Wye-Delta Transformations.</a:t>
            </a:r>
          </a:p>
        </p:txBody>
      </p:sp>
      <p:sp>
        <p:nvSpPr>
          <p:cNvPr id="7" name="Left Brace 6"/>
          <p:cNvSpPr/>
          <p:nvPr/>
        </p:nvSpPr>
        <p:spPr bwMode="auto">
          <a:xfrm>
            <a:off x="2057400" y="1981200"/>
            <a:ext cx="381000" cy="1030932"/>
          </a:xfrm>
          <a:prstGeom prst="leftBrace">
            <a:avLst>
              <a:gd name="adj1" fmla="val 73095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26583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L#1</a:t>
            </a:r>
            <a:endParaRPr lang="en-ZA" sz="2400" dirty="0"/>
          </a:p>
        </p:txBody>
      </p:sp>
      <p:sp>
        <p:nvSpPr>
          <p:cNvPr id="9" name="Left Brace 8"/>
          <p:cNvSpPr/>
          <p:nvPr/>
        </p:nvSpPr>
        <p:spPr bwMode="auto">
          <a:xfrm>
            <a:off x="2057400" y="3124200"/>
            <a:ext cx="381000" cy="515466"/>
          </a:xfrm>
          <a:prstGeom prst="leftBrace">
            <a:avLst>
              <a:gd name="adj1" fmla="val 73095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3190701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L#2</a:t>
            </a:r>
            <a:endParaRPr lang="en-ZA" sz="2400" dirty="0"/>
          </a:p>
        </p:txBody>
      </p:sp>
      <p:sp>
        <p:nvSpPr>
          <p:cNvPr id="11" name="Left Brace 10"/>
          <p:cNvSpPr/>
          <p:nvPr/>
        </p:nvSpPr>
        <p:spPr bwMode="auto">
          <a:xfrm>
            <a:off x="2057400" y="3850332"/>
            <a:ext cx="381000" cy="1026468"/>
          </a:xfrm>
          <a:prstGeom prst="leftBrace">
            <a:avLst>
              <a:gd name="adj1" fmla="val 73095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Left Brace 11"/>
          <p:cNvSpPr/>
          <p:nvPr/>
        </p:nvSpPr>
        <p:spPr bwMode="auto">
          <a:xfrm>
            <a:off x="2057400" y="5029200"/>
            <a:ext cx="381000" cy="515466"/>
          </a:xfrm>
          <a:prstGeom prst="leftBrace">
            <a:avLst>
              <a:gd name="adj1" fmla="val 73095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4132732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L#3</a:t>
            </a:r>
            <a:endParaRPr lang="en-ZA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1143000" y="5056100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L#4</a:t>
            </a:r>
            <a:endParaRPr lang="en-ZA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8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98924985"/>
              </p:ext>
            </p:extLst>
          </p:nvPr>
        </p:nvGraphicFramePr>
        <p:xfrm>
          <a:off x="7558704" y="1405927"/>
          <a:ext cx="1585296" cy="4331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42" name="Bitmap Image" r:id="rId3" imgW="1467055" imgH="4009524" progId="PBrush">
                  <p:embed/>
                </p:oleObj>
              </mc:Choice>
              <mc:Fallback>
                <p:oleObj name="Bitmap Image" r:id="rId3" imgW="1467055" imgH="4009524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704" y="1405927"/>
                        <a:ext cx="1585296" cy="4331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47B60-0B63-41AE-B4C2-F668614D0D68}" type="slidenum">
              <a:rPr lang="en-US"/>
              <a:pPr/>
              <a:t>3</a:t>
            </a:fld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-381000"/>
            <a:ext cx="8243887" cy="1905000"/>
          </a:xfrm>
        </p:spPr>
        <p:txBody>
          <a:bodyPr/>
          <a:lstStyle/>
          <a:p>
            <a:r>
              <a:rPr lang="en-US" b="1" dirty="0" smtClean="0"/>
              <a:t>Chapter 2: Lecture #1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2.2 </a:t>
            </a:r>
            <a:r>
              <a:rPr lang="en-US" dirty="0"/>
              <a:t>Ohms </a:t>
            </a:r>
            <a:r>
              <a:rPr lang="en-US" dirty="0" smtClean="0"/>
              <a:t>Law: </a:t>
            </a:r>
            <a:r>
              <a:rPr lang="en-US" b="1" dirty="0" smtClean="0">
                <a:solidFill>
                  <a:srgbClr val="FF0000"/>
                </a:solidFill>
              </a:rPr>
              <a:t>V = IR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239000" cy="5029200"/>
          </a:xfrm>
        </p:spPr>
        <p:txBody>
          <a:bodyPr/>
          <a:lstStyle/>
          <a:p>
            <a:r>
              <a:rPr lang="en-US" sz="2400" dirty="0"/>
              <a:t>Ohm’s law states that the voltage </a:t>
            </a:r>
            <a:r>
              <a:rPr lang="en-US" sz="2400" i="1" dirty="0" smtClean="0">
                <a:solidFill>
                  <a:srgbClr val="FF0000"/>
                </a:solidFill>
              </a:rPr>
              <a:t>V</a:t>
            </a:r>
            <a:r>
              <a:rPr lang="en-US" sz="2400" dirty="0" smtClean="0"/>
              <a:t> across </a:t>
            </a:r>
            <a:r>
              <a:rPr lang="en-US" sz="2400" dirty="0"/>
              <a:t>a </a:t>
            </a:r>
            <a:r>
              <a:rPr lang="en-US" sz="2400" dirty="0" smtClean="0"/>
              <a:t>resistor is </a:t>
            </a:r>
            <a:r>
              <a:rPr lang="en-US" sz="2400" dirty="0"/>
              <a:t>directly proportional to the current </a:t>
            </a:r>
            <a:r>
              <a:rPr lang="en-US" sz="2400" i="1" dirty="0">
                <a:solidFill>
                  <a:srgbClr val="FF0000"/>
                </a:solidFill>
              </a:rPr>
              <a:t>I</a:t>
            </a:r>
            <a:r>
              <a:rPr lang="en-US" sz="2400" dirty="0"/>
              <a:t> flowing through the resistor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 smtClean="0"/>
              <a:t>Resistance </a:t>
            </a:r>
            <a:r>
              <a:rPr lang="en-US" sz="2400" i="1" dirty="0" smtClean="0">
                <a:solidFill>
                  <a:srgbClr val="FF0000"/>
                </a:solidFill>
              </a:rPr>
              <a:t>R</a:t>
            </a:r>
            <a:r>
              <a:rPr lang="en-US" sz="2400" dirty="0" smtClean="0"/>
              <a:t>:  Physical property of a material to resist the flow of current.</a:t>
            </a:r>
            <a:endParaRPr lang="en-US" sz="2000" dirty="0"/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10" name="Picture 3" descr="ale29559_02001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99" r="23764" b="6686"/>
          <a:stretch/>
        </p:blipFill>
        <p:spPr bwMode="auto">
          <a:xfrm>
            <a:off x="457200" y="3961412"/>
            <a:ext cx="2985247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442447" y="4597400"/>
                <a:ext cx="3276600" cy="1140505"/>
              </a:xfrm>
              <a:prstGeom prst="rect">
                <a:avLst/>
              </a:prstGeom>
              <a:noFill/>
              <a:ln>
                <a:solidFill>
                  <a:srgbClr val="080808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600" b="0" i="1" smtClean="0">
                          <a:latin typeface="Cambria Math"/>
                        </a:rPr>
                        <m:t>𝑅</m:t>
                      </m:r>
                      <m:r>
                        <a:rPr lang="en-ZA" sz="3600" b="0" i="1" smtClean="0">
                          <a:latin typeface="Cambria Math"/>
                        </a:rPr>
                        <m:t>=</m:t>
                      </m:r>
                      <m:r>
                        <a:rPr lang="en-ZA" sz="3600" b="0" i="1" smtClean="0">
                          <a:latin typeface="Cambria Math"/>
                          <a:ea typeface="Cambria Math"/>
                        </a:rPr>
                        <m:t>𝜌</m:t>
                      </m:r>
                      <m:f>
                        <m:fPr>
                          <m:ctrlPr>
                            <a:rPr lang="en-ZA" sz="3600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3600" b="0" i="1" smtClean="0">
                              <a:latin typeface="Cambria Math"/>
                              <a:sym typeface="Symbol"/>
                            </a:rPr>
                            <m:t>𝑙</m:t>
                          </m:r>
                        </m:num>
                        <m:den>
                          <m:r>
                            <a:rPr lang="en-ZA" sz="3600" b="0" i="1" smtClean="0">
                              <a:latin typeface="Cambria Math"/>
                              <a:sym typeface="Symbol"/>
                            </a:rPr>
                            <m:t>𝐴</m:t>
                          </m:r>
                        </m:den>
                      </m:f>
                      <m:r>
                        <a:rPr lang="en-ZA" sz="3600" b="0" i="1" smtClean="0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3600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36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</m:num>
                        <m:den>
                          <m:r>
                            <a:rPr lang="en-ZA" sz="3600" b="0" i="1" smtClean="0">
                              <a:latin typeface="Cambria Math"/>
                              <a:sym typeface="Symbol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ZA" sz="36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447" y="4597400"/>
                <a:ext cx="3276600" cy="11405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0D3D-1579-42BA-8F19-C3239B2FB4A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01486" y="286357"/>
            <a:ext cx="734422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2.2 Ohms Law: </a:t>
            </a:r>
            <a:r>
              <a:rPr lang="en-US" sz="3600" b="1" dirty="0">
                <a:solidFill>
                  <a:srgbClr val="FF0000"/>
                </a:solidFill>
              </a:rPr>
              <a:t>V = </a:t>
            </a:r>
            <a:r>
              <a:rPr lang="en-US" sz="3600" b="1" dirty="0" smtClean="0">
                <a:solidFill>
                  <a:srgbClr val="FF0000"/>
                </a:solidFill>
              </a:rPr>
              <a:t>IR</a:t>
            </a:r>
          </a:p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Passive Sign Convention</a:t>
            </a:r>
            <a:endParaRPr lang="en-ZA" sz="4000" dirty="0"/>
          </a:p>
        </p:txBody>
      </p:sp>
      <p:graphicFrame>
        <p:nvGraphicFramePr>
          <p:cNvPr id="7" name="Object 6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725045677"/>
              </p:ext>
            </p:extLst>
          </p:nvPr>
        </p:nvGraphicFramePr>
        <p:xfrm>
          <a:off x="750888" y="1519210"/>
          <a:ext cx="1585912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3" name="Bitmap Image" r:id="rId3" imgW="1467055" imgH="4009524" progId="PBrush">
                  <p:embed/>
                </p:oleObj>
              </mc:Choice>
              <mc:Fallback>
                <p:oleObj name="Bitmap Image" r:id="rId3" imgW="1467055" imgH="4009524" progId="PBrush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1519210"/>
                        <a:ext cx="1585912" cy="433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497150" y="5798849"/>
            <a:ext cx="15311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3200" b="1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3200" b="1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iR</a:t>
            </a:r>
            <a:endParaRPr lang="en-US" sz="3200" b="1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Object 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626807127"/>
              </p:ext>
            </p:extLst>
          </p:nvPr>
        </p:nvGraphicFramePr>
        <p:xfrm>
          <a:off x="5243059" y="1548241"/>
          <a:ext cx="1585912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4" name="Bitmap Image" r:id="rId5" imgW="1467055" imgH="4009524" progId="PBrush">
                  <p:embed/>
                </p:oleObj>
              </mc:Choice>
              <mc:Fallback>
                <p:oleObj name="Bitmap Image" r:id="rId5" imgW="1467055" imgH="4009524" progId="PBrush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3059" y="1548241"/>
                        <a:ext cx="1585912" cy="433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704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038251" y="1901371"/>
            <a:ext cx="294533" cy="9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151280" y="5806505"/>
                <a:ext cx="160332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3200" b="1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v </a:t>
                </a:r>
                <a:r>
                  <a:rPr lang="en-US" sz="3200" b="1" i="1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ZA" sz="320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US" sz="3200" b="1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i="1" dirty="0" err="1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iR</a:t>
                </a:r>
                <a:endParaRPr lang="en-US" sz="3200" b="1" i="1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280" y="5806505"/>
                <a:ext cx="1603323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9506" t="-14737" r="-9506" b="-3368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03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72" name="Picture 8" descr="http://t1.gstatic.com/images?q=tbn:ANd9GcRbv1z-1yx4kpoU2ELdTRJgioSVzlS3j6Z4OzXQJ7IJ_tBA8pNP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5" y="577350"/>
            <a:ext cx="2991022" cy="251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076" name="Picture 12" descr="http://t0.gstatic.com/images?q=tbn:ANd9GcQ2dxcSR8aibflb6kHZHNkheWn6oEQZ0IntgRjOj860FsXMLt0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16475"/>
          <a:stretch/>
        </p:blipFill>
        <p:spPr bwMode="auto">
          <a:xfrm>
            <a:off x="393786" y="2794001"/>
            <a:ext cx="165735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0D3D-1579-42BA-8F19-C3239B2FB4A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8074" name="Picture 10" descr="http://t0.gstatic.com/images?q=tbn:ANd9GcTnGGPdbV7E7jW2WJbvCjMcP92_Lr281HhDuKuTkTHR1woQo4w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124" y="3764552"/>
            <a:ext cx="2514600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078" name="Picture 14" descr="http://t0.gstatic.com/images?q=tbn:ANd9GcTFf5UC17W6QOMKp1du1JytaJQPp-GiR5_iOJI2TqWjxJMLCBTaGQ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283" y="1736313"/>
            <a:ext cx="3345773" cy="203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20" descr="data:image/jpg;base64,/9j/4AAQSkZJRgABAQAAAQABAAD/2wCEAAkGBhQQEBUSEhAUFRAQFBQUEQ8QFRAVEBAVFhIWFBcXFRcYHCceGBkjGRUSIC8gJCcpLS0sFx4xNTwqNSgrOCkBCQoKDgwOGA8PGikcHyQsLC8sKSopLCwpLCwsLCwsLCktKSwpLC0tLCwsLCkpKSksKSwpKiksKSwpKSksLCkpKf/AABEIANMAtAMBIgACEQEDEQH/xAAcAAEAAQUBAQAAAAAAAAAAAAAABgECAwQFBwj/xABCEAACAQIEBAQCBgcGBgMAAAABAgADEQQSITEFBkFREyJhgTJxB0KRobHBFCNicnPR8CQzUlOCskNEkqLD8RUWNP/EABoBAQEBAQEBAQAAAAAAAAAAAAABAgMFBAb/xAAmEQEAAgICAgEDBQEAAAAAAAAAAQIDERIhMUEEE1FhJDJCgfAi/9oADAMBAAIRAxEAPwD3GIiAiIgIiICIiAiIgIiICIiAiIgIiICIiAiIgIiIFJWUErAREQEREBERAREQEShkX5g5vag+WlSzKhHiVDfLrsFt6/WOlxbXoEolZ5/V5mZ3zJWqqCAcrFbKbeYWA16bd50uD80PcCqwenqDUFrrp6b+t9ZdJtLolqNcXBuO/eXSKREQEREBERAREQEREBERAREQEREBERAoZCcXjSlSrlsLu2bQEt5iFBB0tc6k3Og7azaQDiTfrX/iEE+nimElGKtJvFBV8oIqaAW+A2Om1jqfeZMJVK16WptVCMwG9nW/2jf2mYdD1CVNe1yekst/asP2CD0+o41t7Qj1bhf9xT/hp/tE2prcNFqNMfsJ/tE2YaIiICIiAiIgIiICIiAiIgIiICIiAiIgJAOKLeo/pU/8hk+MgHE6lqj/ALVVhbXWzM3sfL90JLg1XsD/AAqxtbqMp/GYMD5sRQ9aCk77+AWJPbWbKjyi50FFr7W3B/ATDgag/wDkEUbnDEgd702t95EEPXMGLU0HZV/2iZpZSWygdgB90vhSIiAiIgIiICIiAiIgIiICIiAiIgIkP5g+kSnhqjUkpNUqIbMWPhUge2Yglv8ASpEkHAOK/pWHp18uXxFvlvexDEHWwvqOwgb95E+K8MWvVeqjj9WxDdVYinlYejA3HXrOpzXx9cFhzVYXJKoi3tcsbXv0AF2Pos16FOlh8IRTFvKdD9Y5bXHQ3++WEl58MPVFwFGYUTTHmGQvdSGIO48pm39G+G/SeJ4qu974ILhqQI+IrmV37aFWA+cpgMYWrZWXKNTmN9PSx0++d/geFpYAVKiuXeoz1KrEBQ1yXNhsNyd+3SIE4ErNbh2NWvSSql8tRQwvuLi9j6jb2mzIpERAREQEREBERAREQEREBERAREjnNvMi4ZRTWsqV6h0JXPkQXu5GwGlhm3/APIObHvxHEEdKnTff+f4T0fkbm7C08JQw710SsFIKPmUAl2IGYjLc/ORLiPAC9R6qP47VDd1yqte+5sgOWppqMhv1sJF+M8S8EqiUwBVJBrnKyKbaqo+EuBr5trjQzVpiI7ZruZ1D1fnXG06tfD07pVQeKalIVKYDXNMBb3sHtmyhrBvMN5wOL8W/RaYSjiGCgEfouMptmpD6oDMAwUdrmRjgFRHbw6d8wALM4DNVZ11uG8rgZcuQWPlFtTaZ+YqlRVyh7rsFFV1VTY3UJVHlJtoBpvFe4Zt1Kwc7vffD27k1Dc+z/nNs8aeugL1M9MfEtNDToaf4mJJbppeQKvxBw3xEftF8MAffedLh9R6guWDqNzmqVMmu5LAUkHqBfuZdL6e7cgV82DvckCo4F9NNDoOg12Mks8i5S4zUoVzSpFdaIdr5yuYsR5xvfVWvobX+UkC/SqlGr4OMw1SjUBHnpnxaTKdnQ2Vip/dnK16xPbtTHa/7Y2nsTn8J47Qxa5qFZKgG+Q6r2zKdV9wJ0JqJ2zMTE6kiIhCIiAiIgIiICIlpa0C6UvOFj+esDQqeHUxdIPsVBLZf3yoIT3tI/wDSHzdWw1Om2Fq0AlZWIrtZ81iP7vXLsdyGvtpbXFrxEbda4r2mI1rf3d7nfjZwuEd0qU0qt5abVcxANixKqoJYhQzWtYAEmwBnzwayisWq4xQ5JLVGOJdyx+tot2bax9/l0qPOWIq16dWvinNSgX8OoctlDqQwIW2hNtQRa5sZ3S9CvqzDD1GOlVT/AGWoTrrYAAk+iH0YzFbVye9OmbBkwdTG3IfjWv6ouoNiq1NKh6FygPkJIuBc20nSw9FXpqtVAaGICrYMcoqbKjH6tTfI+zElTYkZtanwmqtRwE8QYZ8tc08zeECma+Wwa1iGvbS2tp3cJwZHpnw2Vgws9ByuR1Ot6bXswPVdOhBB33lrMxGny1ntGFw1bh1UEp4mHq5vCqZQVqLfKbjW1QCysN7gbjKY4vxqpVSypUYJfQNfKLDTKytYaHsBtpN7miticPSSi3ivQLuwTNT8TPlVf1qkglrHRgSGDE6NmvFTxoC16b+l6dxt0sT904RktXw7ca27lpmr5tQ2bTUU6QIv0zGl0+XWS/l7gOIxGXKrqn+fWV2yC9xkDZUvtqFv6icJeZ6Y3UDrcrUU/h+ckfBuf702pU2ZyQAiU87Vhrr5mACC1hdm0voZv6l5ThXSYYelQwQKrdqrG9Rib1HO3mOw3Onr1JueHx7FLjaDtZT4VOq9J081mpkMRfqD51Nv8XcC2mnCatYZ8Sy08OTpSzFaJ/iVDY1jqPKuh7GbeJxqLT8KktlIszsMpZQbgBfqJmAOti1hoBurXl5IyTWYmPSDYHiT0XDo7JUXZ0JVh7jp6T1rkn6VhUK0MYQHNgmJ0Cse1QbA7eYad7bmCPwgVzZaV3tdmWwKi/xMb2tvv2Nr2ml/9ZxC6pSdx+wpY+4W95w4XwzuvcPUnNg+VGrRqf8Ae30sJWQr6KuPNiMGUqG74dglybsUK5kv8vMv+mTWfZWeUbeVek0tNZIiJpgiIgUBlZbeLzKrpHOf1J4fWAcqWAGYXvYsLjToReXczcyvhAMtHNm0zsyhFPa3xN9ltDqJDn5lxOKJp1HQUagIZBSp5NdsxcN5b77mS3caWk6tEvKqvCKgCsabLSqM60qpA8JnTdQRpfftt9mTl7wFqlsQqMFHlp1C603JBAuyjoSpsbAi+vfv81cDJfKj5shK5V0p3G4QWCg3v8IAP4w+tRIBPY2sSAwOvTfp2+yedvhbT9TX9Ri8639uphJ6+J4e9EmotNHzsQuFLGo6lPKirlyqQ+Xzk2sDoZF8DxSpSOmxFmQ6q19wQe/abvAeGriKwpsxC/EwXKXYDfIG0LWJNvQ2klq8r4Jlq5Wq0/Cy5DVI20zmoSQEtqQLa/Od+79xGnnzOP48zjvM224XA+PrRqM4zUC7Ag0y3hggW1U6emgBHQiSvD8xrUp3dVVW/wCYpi9Jrnd72KH1a2uhaea4qkpLKHzKpIVxcBhc2IB2BFjb1nb4ERRQlCwJ+sSSCe3YH+tZumaa9S5/I+HW3dYTTi71ChLMKlEAAVLXyg/CGOjJfsxsb6XkPxya3yrfe2VbH56fnOxguM+CwyXW581G48J1b4gq7AtqLAga6g6W2X4JTrAthnAKgZsNWbzr2yuwAsRsX0NtHa8+qJpd5WTHfGii1/RR81c+2psZ0uEcTqGpkWqKIy3vSSmqg5lAuVXMB5ic3T8Mh4RUYsi08tanlJVhlYKTZmN9iCV9mnYwfAFIUuqBgBmfxAKp72sDY+p6jtOdppSe4SsWtCuI4VURg1VmZn+GqWLh+vkq3Nx7+wlgw4AsNNfb7Jt0MXWwzPTv4tLNqpAKspGhysMuotpoRfuJr1sQM7ZDlU2KINSLqCQTvocw17TvGnKd7Y0p1KLGpTKlra0qlwrhdSFPQnsb67Fbm/c5d5jGIBSpQahVFyLsrpU0uQGBuGtc69jqLCRqrxRVNi2ZxpkTzOP3hsv+oynB8S1XE0mayKjMyU0NwL02BzHZja400AYzjl4u+Ot5jfp6n9H9H9fjX6PUoX9W8HMx+17/ADJPWTYTg8n0lXCggAF2ZmPVjfKCe/lVR8gJ3c0tfCTO5ViImmSIiBiJkc5pOMuowxPhto/hqDVBvvmY2A0tpY+p6SEmULTLWkGwnI9Wo2es+Undqh8Wsfa9h7sZ0MRwDA4Zf1zm52L1Gzt+6ifksk5eRdeTFLmo9ZmdviYgFm+ZYn7pDSL8WXDEn9Go1Be16tRrJp0C+vzE0By21df/AM5IJALZWpgEGwJqNb5AgmelYXhNKjqlMZgLCo3mf/qO3tabDPffXvfXSZ1H2bi1o9vnjjfLlSlVdPD+A2OqlgCLjMFFj+8BY9hOIaIvcgE9f66T1vm7gv8AaqhBsSVKg3IAyDLY72Fre0jfEeCNlJaiWt1AzafNdR72nwXjUzp7fx/l0tWIt3KEF7kXFwvTUG3a+/vJlw/mLCKiU/CphM+aszCsrOtthkDZdD0v8zNDl7gSYmq6sSlOkwH6tvNmJYg3trYKB7zNzLywMLlyvnVhfxHADXuQV8umm9yBv1nSvKleWumc1sWfJGLcxMOZzBiab1j+jBvDGxsy31JFhodAQM1he20twXE3W2YFshvnRmWrTJ3N1II/Pr1BwUaQ6tt21v8AlacmtxMUa7hVKZTl320sdLbHt6zNJtaZmrpeuLFWKXn+5TnAcZrPVULWJR6DUkJVLo3ieKF6XAKk6AWzTdbgtRjdsQ1ulgo0mvwjl90qJVqOLjzZBmJOakQAxO1s+3S0kKn02nScs/yebatOX/PhBOYMS9LEsisDlWlfMgZjaigBuSB/6M536Q7+VnZr7JcgW9ES1/vk9xHLlCrVarUp53crcsWyjKioAACBby31vuZv4XCLSFqahB2pgL941++Wc35ZrFax47Q3h/LdVrXHhJ1DDKSN/wC7HmOv+K3SSbh3DEpfCNdi7WzH2Gij0HvedAqBLeo+c4xeZnTjkyTaXofLSWwtP1DH/vM6lzNLl5LYWl+5f7WJm/PvhyUDy5akstLpoZRUiY4jaaWEzGzS5piaRVGeWGpKOZiJhVWeYw+sGW2glxOb6+HIDGsgxFKwNO92ZSb2IXYjUi/cyPjFkpZaLkWPmayKNLEg7yZ1eFUqlRXdTmT4SCwtfvbf3l2O4Aji9PyONjqUb94fmJxtSu9kbQLh+CamEC4cKjqSjKEAIBF9RbYsNDtea3G+FtWdM9WyKCPDXIzHW9r9Pnr+FpLjKT0SRVpkA7VB5lPv6+s5Nchjob37TnfJ606U3E8olGq/KSMpCVKiMd2ujW+WgnEp/RkBUVnxGdcwZ1KsrOtwWGYE2JFxJ0w9JQmYjJx8Oszz/dO1z+YljuST6amXqJizyq1JwtO0n8M1pcV/q8w59pV8Uq7kTPG3py7XMkyYLBmq6oN2I17DqfsmLCq9Y2poTf61tP6+UnHL3AxQGY61Dueg9BPqx4p3uXLy7lFAqhRsoAA9ALCXEykqBPrUlQJUJLwkptZaVmTLEqbazCY2WZysoUkVqlJiZJulJY1ODbSySmSbZpSnhwrAlObdOnLVpzZpLJMG2J8MCLfces4uN5To1DfJlbumn3bSSWlpSZ4ptBMTyQ//AA6/s4H4zn1+UsUNhTb7R+c9J8KU8GPpwbeVvy3i/wDKX7W/lKDlrGHpTHyVz/KeqeBHgSfTrHo5S80o8lYhvjqkeiqq/wAz986/D+Qqam7eY9zcn7TJqKHpLxSmuKbczB8LWmLKvv1M3kpTOKcraaiE2sCSoWXxNaNqSsRLpCIiBjtGWXRMtMZEplmW0ZYNsOSUNOZ8sZYNsQpzIol2WVhNkRE0haIiTQpaViI0EREoREQEREBERAREQLZWViZCIiUIiICIiUIiICIiAiIgIiICIiAiIgIiICIiAiIkCIiAiIlCIiAiIgIiICIiAiIgIiICIiAiIgIiIH//2Q=="/>
          <p:cNvSpPr>
            <a:spLocks noChangeAspect="1" noChangeArrowheads="1"/>
          </p:cNvSpPr>
          <p:nvPr/>
        </p:nvSpPr>
        <p:spPr bwMode="auto">
          <a:xfrm>
            <a:off x="76200" y="-842963"/>
            <a:ext cx="1485900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88086" name="Picture 22" descr="http://t3.gstatic.com/images?q=tbn:ANd9GcSzUc7UqQRvG9-pgKyBZrA36yKlp5w7vdVFtD4qW3G-cJboVYKw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027" y="4309238"/>
            <a:ext cx="1329941" cy="227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066" name="Picture 2" descr="http://t3.gstatic.com/images?q=tbn:ANd9GcQCssCF_ZvAZvkiQodP_rwWp7Dil8he6JfoKn4BnRK2XO8JSUNpm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86" y="5264007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24" descr="data:image/jpg;base64,/9j/4AAQSkZJRgABAQAAAQABAAD/2wCEAAkGBhQREBQUERASFBITGBgYFRUWFhQVGRUZFRkaGRYcGBcYJyYhGhokGRgZIC8gIycpLiwtGB4xNTAqNSYrLCkBCQoKBQUFDQUFDSkYEhgpKSkpKSkpKSkpKSkpKSkpKSkpKSkpKSkpKSkpKSkpKSkpKSkpKSkpKSkpKSkpKSkpKf/AABEIALoBDwMBIgACEQEDEQH/xAAcAAEAAwEBAQEBAAAAAAAAAAAABAUGBwMIAgH/xABIEAACAQICBAkJBgMHAwUAAAABAgMAEQQSBSExQQYHExVTYZKy0SIyNFFxc4GCkRQjQlJicjOhsQgkQ6KztMF0wvA1RGODo//EABQBAQAAAAAAAAAAAAAAAAAAAAD/xAAUEQEAAAAAAAAAAAAAAAAAAAAA/9oADAMBAAIRAxEAPwDrmitFQmCImGIkxpfyE/KOqpXNEPQRdhPCmiPR4fdp3RUugic0Q9BF2E8Kc0Q9BF2E8Kl0oInNEPQRdhPCnNEPQRdhPCpdKCJzRD0EXYTwpzRD0EXYTwqXSgic0Q9BF2E8Kc0Q9BF2E8Kl0oInNEPQRdhPCnNEPQRdhPCpdKCJzRD0EXYTwpzRD0EXYTwqXVY2n4ybQh5yNR5IBlB3gyEiMHqLX6qCRzRD0EXYTwpzRD0EXYTwqMJcU+yOCIetmeVviqhQO2a/v2PEnbikH7ILd5moJHNEPQRdhPCnNEPQRdhPCo/2LEDZilP7oVPdZaE4pd2HlHUZID/PlAfqKCRzRD0EXYTwpzRD0EXYTwqLz+qekRyQfqcAx/GVCVUfuK1ZxyBgCpBBFwQbgg7wd4oI3NEPQRdhPCnNEPQRdhPCpdKCJzRD0EXYTwpzRD0EXYTwqXSgic0Q9BF2E8Kc0Q9BF2E8Kl0oInNEPQRdhPCnNEPQRdhPCpdKCJzRD0EXYTwpzRD0EXYTwqXSgic0Q9BF2E8Kc0Q9BF2E8Kl0oInNEPQRdhPCqvhNoyJcLIRDED5OsIo/GvVV/VTwq9Ek+XvrQS9Eejw+7TuisFi+NWQrKiYN45obZ2c3Rcsoimymwz2kKqNl899WUit7oj0eH3ad0VKyj1UHOJeN8gNbBqxD5QRiFyjXiRlkcqBHIfs2pTf+KusVZ43hxOMFjcSmFjUYZmSPPKWLGOTJIXRV8gKNepmvr1jbWuw2AjjTJHGipcnKAALk3Jt1kk17ZaDCNxnkymGLDxyTBzHl+0WAPLxwoSwQkKwkzg21gbNdeWJ403iL8rg0UIxUn7RfUk0kLm2TMbPHqChiQb21Vvwg9QqFjVmDXiSB1/I5ZGv6w4DD4ZR7aDO6X4wTh8aMIcHKzuyCNwTkYTAckWa3k3cTKdthETrvYZ7B8Z2KKqeRw7H7k5SzI0ivBNK7bDlF4rAgGxBGu9xvuewv8aCaLrK8ovbizAD92WpeExcUozRPHINl0KsB8RQYzhBxiPE+GjijjVp0w8pMjXOXEFwVjQWzlct2a4AzLqN6r8JxrvIYokiTlCMLncm+uWTCpMOS1FfSfJa5By6r10vKPUK/mQeoUH6qBj9LCNhGimWdhdY1te2zM7HUiX/EdtiAGOqvPSOkHLiHD2MxALMdawobjOw3k2IVN5B2AE144rFYfRuHeWaTKt7ySOczyuRv3s5tYKBqAAAAFgH7Ghml14txJf8AwVuIV6iu2U9b6t4VaqOEPGZgMBdGlDyLq5KEByLbjayp7CRXI+G/G5iMaWjgLYfDbMqm0kg/W42A/lXV6yawVB1nSn9oCYkjDYSNBuaVmc9lMoH1NZ+bjo0mx1TRJ1LCn/desNSg28fHNpMHXiI26jDH/wAAVd6N4/sSpHL4WGQbyheJv55h/SuW0oPo/g9xv4DFkK0hw8h1ZZrKCeqQXX6keytE+hADnwr8gx1kKLxPfX5cWoG/5lyt+qvk6tbwN4y8Vo4hVblcPvhcmwG/k22ofZq9YoPobB6XOcRYhOSmPm67pLbWeTfVc21lCAwsdRGs2dZ/QXCDC6WwxaM5l1B428l4m2i9jdWB1hlO64OqpGDxbwyCDENmDaoJj/iWBOSS2oSgAm+xgCRYgiguKUpQKUpQKUpQKUpQKUpQKqeFXokny99atqqeFXokny99aCXoj0eH3ad0VLqJoj0eH3ad0VLoFKUoFKUoFQsXoaGU5niUvuceS49jrZh8DU2lBV81yp/BxT23LMBMva8mT6uai6Q01iIFAbDLJI5yRck98z2JGZHylQACxsWsFNX1VGjxy08k58yPNDD8p++b2mRcvsiuPONBAi4QYXBQO005VwDJKZUaKSVrC5COAWOoKFW4ACqNQFcM4T8IsTprEswUiKP+HFmssaneSdRc7z8Ngq+46+GJxGJ+yRt9zhz95bY8u+/UgNvaW9QrBaF0l9ne4LhW84KbHqIBupt6iPpQRZ8OyMVdSrDaDVtwZ4G4rSD5cNEWANmkbyY0/c3r6hc9Vavm2DFCJ5SZFBBLoQjMt9a3tq9XUfVXXYdP4PCYWIQL5DeRBh4VzSOwFyqx7S28k6htJtroMhoHiFw6AHFzSTPvVPu0HVfzj7bj2Vr8Lxc6NiHk4DD+1lzn6vc1+F0fjsVrxE/2OI7IMOVaW3/yYhgQD1RqLfnNeg4vsETeTD8s35p5JcQx9plZqCv0dwe0Pj1fkcNhJOTYo4VAjoykghgLMusGx37r1Uab4isHKCcO8uHfcLmVPir+V9GrQ8EeLfB6NZpIIyZnzXlc3IVjfKoGpV9gvq1k1qaD5e4W8XuL0cbzIHhvYTR3ZOoNvQ9R+BNZqvsOaFXUq6hlYEMrAEEHaCDqIrg/GlxXfY74nCKThifvI9vIk7CPXGTq/T7NgYjg3wkmwGIWeBrMPOXXlkXerjeD/LaNdfSegdNwaWwQkS+V9TpfyopFsbXGxlNmVh+kivlitjxX8Mjo/Grnb+7zkJMNy6/If2qTr6i3VQfQeiMYxzQzG80Vrta3KI18kgA2ZrEEbmVhssTZVU6cXJkxK+dBfPb8ULW5UddgA464wN5q1Vri41g0H9pSsnwn4JT4mSaSLEvExhjSG0s6BXV3MuZUOUh0ZVzWYjaBqFBqZZlUXZgouBckDWxso17ySAB11/JMQq+c6rs2kDzjlXb62IA9Zrn54CYwsn96ugEWZZJ5ZTmixCzARkRrkAUFb2N7LqFiT54Li6xIKmWaNzaFGJmnZgsOK5exNgHZo9RbKnlawNZNB0ilc9PAPG/cX0hI+RmD2mkjOROSWBgcrhnCRNmBAzNM+vXrlcIeBGJxGImljxbx583JgT4lAn3EaR+Qhy6plL7Nd9+yg25YC1yNeode/wD4o7gAkkADWSdQAFc8TgHjWxBllxatacSqBJMAl1xSFkUABWCzQnL5QPJEFrGv1o7i+xWRVxGLkfKkwI+04ghpXWBY31BDlvHIzI2YXkPnXNBvhOtg2ZcrWym4sc3m2O+99VVvCr0ST5e+tY/DcAMbysZkxUbRRthCEzSWthZIH1JlsGyxSDNc3LfhuRWw4U+iSfL31oJeiPR4fdp3RUuomiPR4fdp3RUugUpSgUpSgUpSghaaxbRQOyefYLH+9yEjv1Z2Wq3T+kV0bo2SRf8A28Vkv+JrBY7+slyL+01M0t5UuGTcZS7DqiRmF/ZJkPwFYHj90lkwUEI/xpcx61iW9u0yn4UHDJJCzFmJLMSSTtJOsk9ZNT+Dug3xuKiw8fnSta+3Ko1sx6goJ+FV1dc4gNChpMRimHmBYkPW3lP8bBB8xoNxwk4P4XC6OVQhXkFCQBADJI7myIB+Nnc/VidWusZoSCfRuJMs6g4hhZwda8mTcJGdyj8w2kXPqrfzj7TpVUOuLARiUjccRiMyx360iVz/APcD6qttNaEjxUeSQax5rDap6ur1jfQfrRGmI8THnjPUynap9RFfvF6Vhi/izRofUzAH6ba5bOJcFO6LJlceSWQ7QRcfyN/WKn6K4GT4gcoxCK2sM9yzX322/EkUHQMLpuCU2jnjY+oML/Sp1c20jwBnjXMjLLbctw3wB2/W9S+CHC1ldYZ2LKxyozbVO4E7wdmvZ7Ngb6vOeBXVkdQysCrKdYIIsQR6iK9KUHy3w+4KHR2OeEX5I+XCTvja9gTvKkFT7L76ztd24+tCiTBxYgDyoJMpP6JdRv8AOE+prhBNqD6W4quEH2zRkZc5pIbwyX13yAZSfahX+dXvB/yY2hO3DuYh+wWaLXv+6ZPjeuO8RWlphLicPCqeWqyAyMwC5DlYhVBLHy11XXZtrqEGiXOMkE+IkYSRo+WK8CEqzI2pDnPkmMa3NBdYzS8URyvIM52ILu59ka3Y/AVHOPnk/g4fIPzztk+IjTMx9jZKmYPARwi0UaIDtCqFv1m209ZqRQVXMzv6RiZH/RH9wn+Q8ofYXI6qnYPAxwrlijVF22UAC52nVtPXXvSgUpSgUpSgVU8KvRJPl761bVU8KvRJPl760EvRHo8Pu07oqXUTRHo8Pu07oqXQKUpQKUpQKUpQVuIH98h9zOf8+HH9CfrXJf7Qc332DXcElPaZB/211nFG2Mg9RinX4loGH8lb6Vyn+0Jh/vMG+4rMv0MZH9TQcir6B4j4wmiS5IAaaViTYCyhV1n1eTXz9XfOIuZZNGSRmxyTOrKRcWdUbWN4NzQX/AvHxyz6QKyRs7YptSspOSOKGNTYbvJOvrrV1k+A3F5DotsSYtZnkLKSNccY8yMHeAS2vfqvsrWUHKtBQjFY5eU1h2Z2B32u1vZsHsrqtcpw8hwOP8oG0bkHrRtVx8pBrqUE6uoZGDKwuCNhFB6VzTh5gBFisy6uVXMbbmBIJ+Oo+29dKZrC52CuX8KtJfa8XaLylFo0t+I32j2k/QCg6PorEGSCJztdFJ9pAJqVXhgMNycSJ+RVXsgCvegy3GhBn0RjB6o83xRlYf0r5ir6Z41sUI9D4sk+cgQe2R1X/mvmag3/ABHzZdLAfnhlH0yt/wAV3Sc/32Hrhn/lJh7f1NcO4jMPm0rm/JBIfqUX/mu4zC+Ni/TDNf5pILd00FnSlKBSlKBSlKBSlKBVTwq9Ek+XvrVtVTwq9Ek+XvrQS9Eejw+7TuipdRNEejw+7TuipdApSlApSlApSlBWaaOVoJNyTKD7JQ0I/wA0in4ViuPbRXKaOSUDXBKpPUsgKH/MUrfaTwXLQvHe2dSAfyn8LDrBsfhUCbDrpDANHIMvLxskg/I4urj2pID2aD5Srp/EPp4RYuXDMbDEKGT98Vzb4oWPyVzfSGBeCWSKQWkiYow61Nj8KYDHPBKksTZZI2DIfUVNx8Oqg+v6VScD+FMekcKk8eonVIm+Nx5yn+oO8EGrugz/AAp4KjFAOhCzKLAnYw9Tf8GsSsuMwJI+8iF/VmQ+y91+ldWrP8OvQX/dH31oMTLpTGYzyM0kg3qi2X5soA+tavgpwO5AiWexl/Co1hL7yd7f0668eLb+FN+8d2tjQKUqFpnS8eEgknmbLHGLsd/UAN5J1AbyaDmHH9p4CKDCKfKduVcepVuqX9rFj8lcVq04T8IHx2LlxEmoyHUu0Io1Io9g+pud9VYF9gufV66Dsf8AZ90Uf71iCNXkRKfZ5b/1Sun4TysXO26NY4h7fKkb+Ukf0qt4EaEXRujI0kspRDJMfUzeW9/2jV7Fq10DARCGdcskpMrjeDIc2U/tXKny0FjSlKBSlKBSlKBSlKBVTwq9Ek+XvrVtVTwq9Ek+XvrQS9Eejw+7TuipdRNEejw+7TuipdApSlApSlApSlAqpQ8hiSp1RYk5l/TMo8pfnQZh1o+9hVtUbSGBWaMo1wDYhhqZWUgqyncysAQfWBQck47+BJv9vhW+oLiAOrUkn0sp+U+uuO19ZYDFcqrwYhV5VRaRbeTKjXAdQdqML3Guxupva54Txl8Wj6PczQAtg2Oo7TCTsV/0+pvgddrhQ8DuGU2jZ+VhOZGsJYibLIo9fqYX1Nu9hIP0lwZ4TwY+ATYd7jYynU0bb1Ybj/I7RcV8taM0a08gRNW8k7FA2k/+b60GhdJzaGx0brJdGtygF7SR5rMCvrGsg7j8RQfTdZ/h16C/7o++taCs/wAOvQX/AHR99aCu4tv4U37x3a2NY7i2/hTfvHdrY0EfSGkI4InlmdUjQXZm1AD/AM3b6+cuMXjDfScuVcyYWM/dxnUWOzO/6vUPwg9ZNXfG3wgmxmkjgUbLDCygLsDOVDM7euwaw9Vj66w2mtAvhst2DK2xgCNY3EUFZXSOJrgScViRipV+4w7XS41SSjWtvWE849eXrrP8A+Acuk5rC6QIRysttn6V9bkfTad1/ofLFgMPHDBFs8iCFTYu23b9WZzsGZjQf3Sh5aVMONa6pJ+pAfIT2u67N6pJ6xVtULRWjzEhztmlkOeV7WzOQBqG5QAFUbgo2m5qbQKUpQKUpQKUpQKUpQKqeFXokny99atqqeFXokny99aCXoj0eH3ad0VLqJoj0eH3ad0VLoFKUoFKUoFKUoFKUoIWktG8rlZWyTR3McgFypO0EfiRrAMu+w2EAiLhNKJOXw2IVBMFtJEbMrqw2pfzkI3HWL6wLi83SePEMZe2Y6giDUXdjZFHWWIF9206hWX4S5cNgwj5XxMr8oX2ESfikU7VyiyLruBlGsA0GDk4PQYfFTLgwxR3so84+rKm8rmvbedW2vLQHFni8bjhNjIWgwyMDle2d1Q3CBRrF95NtptetPwVwpivi3iLwxZtYKgpYXZ8rWzKouNRv6gd3QMDpaKa4jkBYbUN1df3RtZl+IFBMrP8OvQX/dH31rQVn+HXoL/uj760Fdxbfwpv3ju1sax3Ft/Cm/eO7WxoOR8aPFriJcV9twIzu2UyRggMGQAB0vYNdQAV26t99VJjNFtJEExUEkTOASjDKy69q36wbGu343SMcIvLIqA6hmIFz6lG1j1DXWU0/GdIK3IQsPs5ILSAxuxyhsixEZrEFTd8u0WBvegnYLH4TA4KJcMoyFfuo1tma5AZnJ2AMfKkY2BOs7KtdH6OIYyzENOwtcXyxrtyR33XAJY62IubAKq4fgRpBFd4JUUriBluQNZsRkY71IJFvWes1tNCTMoaCRiZILAMdZeNr8k5O8kAqT+ZG6qC0pSlApSlApSlApSlApSlAqp4VeiSfL31q2qp4VeiSfL31oJeiPR4fdp3RUuomiPR4fdp3RUugUpSgUpSgUpSgUpVbpnEtZYYjaWa4DDbGgtyknyggD9TJuvQeEUgmmaZjaDDZljJ2M4BWWT2KM0YPvdxFYPH4l9IYyy/iOVB+VBvPwuxrQcNtIrBAmEhGUFRcDdGupV+JH0HXXnwVwX2bDnEsmaaayQJsLZj5I6sx1k7lW+wGgulwSs6YVB9xhwrS/qbzooz13+8b5BrDmrXG6LimtysSPbzSQLr1q21T1givzorAcjGFLZnJLSPa2d21s1t2vYNwAG6plBV8ylf4WKxCD8pZZh/+wZvowrOaelnfASNJLGyiVksIirHksQY1ObNYeaCfJ+lbY1jdNf+mTf9RN/vJKCNwCilaOXkpUQZxe8Zc3y7jmAH0NX2isHJiIIpJsVMeUjR2SPJEt3UNqKDPv8Az1V8W38Kb9692tBwa9Cw3uYv9NaD2weiIojmSMBztc3Zz7ZGux+JqJpH7iZZx5j5Yp+oE/dP8rMVPU9z5tW9eeIgWRGR1DK4KsDsIYWIPURQc84b6D5GUTRiySG5t+F9p9l9o671cYDTPLQpihrmw3kzqNrxNbOQN+oCQdaFR5xqzw2HE0MuEnJZ47KWO1kOuGT22Fifzo+6sNo/Fvo/FkONSnLIB+JTvHwswoOpo4YAgggi4I1gg7CDX6qm0I4iY4e/kW5TDn1xMdaj3bEDqVo+urmgUpSgUpSgUpSgUpSgVU8KvRJPl761bVU8KvRJPl760EvRHo8Pu07oqXUTRHo8Pu07oqXQKUpQKUpQKUpQfiaZUVmYhVUEsTqAAFySfUBVdoaFmLYiRSHmtlUixjiF+TUjcxuWbrYj8IqRpXRwniMZZluVNxY61YMLhrhluBdTqIuKiDS7Qm2LUKN06X5I/vvcwn9xK/qJ1UH70twbhxLK0qksurUSLjbY23V5aOQTzcrYcjDePDjcSPJkkA+GReoORqevXTGILZYImIkmvdhtjiFuUcHcdYVf1ODrANWEECoqogCqoCqBsAAsAOoCg9KUpQfw1jdNf+mTf9RN/vJK2RrHaYUnRk1he2ImJ9gxkl6Bxbfwpv3r3a0HBr0LDe5i/wBNaoeLdDyMptqLix9dlF6vuDXoWG9zF/prQWVKUoKnTSmIriVGuK4lA/FC1s/tKWDjf5LAedTSfB2DFMryLcgairWzLtANto8atiKqNDnkXbDHYgzwdcRNsvtjY5f2mPeaD10vgiUV4VHKwHNGNQzWFmj6gyEr1EqfwipmDxayxrIhurgMN2o+sbj1bqhTaauxTDpy8gNmscsaHeHl1gEflUM36d9emh9HtCjB3DM7tIQoyohfWwQEk2LXY3JuWY6r2AT6UpQKUpQKUpQKUpQKqeFXokny99atqqeFXokny99aCXoj0eH3ad0VLqJoj0eH3ad0VLoFKUoFKUoFKUoPLF4gRxu5BIRSxABYkKLmwGsnVsFZrgFpTFTQypj42SdHv5SKoMcyiRAMt1OW7R7b+QL2JrVUoIWA0PFAWMUYTNa9ibALeyqDqRQSxyrYXYm2s1NpSgUpSg/hqs4Pj7l/f4n/AHMtWhqkw0eIgDKEw5QySsGaaRD97K7gEcmQD5YG00FyqACwAAGwDUKr+DXoWG9zF/prX4GLxJ1CLCk69X2iTcbH/D3HVUrRODMOHijYgmONEJGwlFCm3VqoJdKUoFQ9IaJjny8opOUm1mZDYizAlSCVI2qdRsLg2qZSgyPGDiZ8Ng4xgCYW5VEukecImV/wKj2W4XYp/nWi0NO8mGheVWWR40Z1YZWVmUFgw3EG4tUylApSlApSlApSlApSlAqp4VeiSfL31q2qp4VeiSfL31oJeiPR4fdp3RUuuW4TSswjQCeWwUfjb1Drr253m6eXtv40HTKVzPnebp5e2/jTnebp5e2/jQdMpXM+d5unl7b+NOd5unl7b+NB0ylcz53m6eXtv4053m6eXtv40HTKVzPnebp5e2/jTnebp5e2/jQdMpXM+d5unl7b+NOd5unl7b+NB0ylcz53m6eXtv4053m6eXtv40HTKquFGhvteDmgBCtIhyMdiyL5UTfK4U/CsRzvN08vbfxpzvN08vbfxoL3gRwKfAyzPNMJjIqBDrJUteTE7QNT4hmf2Za19cz53m6eXtv4053m6eXtv40HTKVzPnebp5e2/jTnebp5e2/jQdMpXM+d5unl7b+NOd5unl7b+NB0ylcz53m6eXtv4053m6eXtv40HTKVzPnebp5e2/jTnebp5e2/jQdMpXM+d5unl7b+NOd5unl7b+NB0ylcz53m6eXtv4053m6eXtv40HTKVzPnebp5e2/jTnebp5e2/jQdMqp4VeiSfL31rE87zdPL238aiaU0pMYmBmlI1ai7HeOug//Z"/>
          <p:cNvSpPr>
            <a:spLocks noChangeAspect="1" noChangeArrowheads="1"/>
          </p:cNvSpPr>
          <p:nvPr/>
        </p:nvSpPr>
        <p:spPr bwMode="auto">
          <a:xfrm>
            <a:off x="76200" y="-858838"/>
            <a:ext cx="2581275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10" name="AutoShape 26" descr="data:image/jpg;base64,/9j/4AAQSkZJRgABAQAAAQABAAD/2wCEAAkGBhQREBQUERASFBITGBgYFRUWFhQVGRUZFRkaGRYcGBcYJyYhGhokGRgZIC8gIycpLiwtGB4xNTAqNSYrLCkBCQoKBQUFDQUFDSkYEhgpKSkpKSkpKSkpKSkpKSkpKSkpKSkpKSkpKSkpKSkpKSkpKSkpKSkpKSkpKSkpKSkpKf/AABEIALoBDwMBIgACEQEDEQH/xAAcAAEAAwEBAQEBAAAAAAAAAAAABAUGBwMIAgH/xABIEAACAQICBAkJBgMHAwUAAAABAgMAEQQSBSExQQYHExVTYZKy0SIyNFFxc4GCkRQjQlJicjOhsQgkQ6KztMF0wvA1RGODo//EABQBAQAAAAAAAAAAAAAAAAAAAAD/xAAUEQEAAAAAAAAAAAAAAAAAAAAA/9oADAMBAAIRAxEAPwDrmitFQmCImGIkxpfyE/KOqpXNEPQRdhPCmiPR4fdp3RUugic0Q9BF2E8Kc0Q9BF2E8Kl0oInNEPQRdhPCnNEPQRdhPCpdKCJzRD0EXYTwpzRD0EXYTwqXSgic0Q9BF2E8Kc0Q9BF2E8Kl0oInNEPQRdhPCnNEPQRdhPCpdKCJzRD0EXYTwpzRD0EXYTwqXVY2n4ybQh5yNR5IBlB3gyEiMHqLX6qCRzRD0EXYTwpzRD0EXYTwqMJcU+yOCIetmeVviqhQO2a/v2PEnbikH7ILd5moJHNEPQRdhPCnNEPQRdhPCo/2LEDZilP7oVPdZaE4pd2HlHUZID/PlAfqKCRzRD0EXYTwpzRD0EXYTwqLz+qekRyQfqcAx/GVCVUfuK1ZxyBgCpBBFwQbgg7wd4oI3NEPQRdhPCnNEPQRdhPCpdKCJzRD0EXYTwpzRD0EXYTwqXSgic0Q9BF2E8Kc0Q9BF2E8Kl0oInNEPQRdhPCnNEPQRdhPCpdKCJzRD0EXYTwpzRD0EXYTwqXSgic0Q9BF2E8Kc0Q9BF2E8Kl0oInNEPQRdhPCqvhNoyJcLIRDED5OsIo/GvVV/VTwq9Ek+XvrQS9Eejw+7TuisFi+NWQrKiYN45obZ2c3Rcsoimymwz2kKqNl899WUit7oj0eH3ad0VKyj1UHOJeN8gNbBqxD5QRiFyjXiRlkcqBHIfs2pTf+KusVZ43hxOMFjcSmFjUYZmSPPKWLGOTJIXRV8gKNepmvr1jbWuw2AjjTJHGipcnKAALk3Jt1kk17ZaDCNxnkymGLDxyTBzHl+0WAPLxwoSwQkKwkzg21gbNdeWJ403iL8rg0UIxUn7RfUk0kLm2TMbPHqChiQb21Vvwg9QqFjVmDXiSB1/I5ZGv6w4DD4ZR7aDO6X4wTh8aMIcHKzuyCNwTkYTAckWa3k3cTKdthETrvYZ7B8Z2KKqeRw7H7k5SzI0ivBNK7bDlF4rAgGxBGu9xvuewv8aCaLrK8ovbizAD92WpeExcUozRPHINl0KsB8RQYzhBxiPE+GjijjVp0w8pMjXOXEFwVjQWzlct2a4AzLqN6r8JxrvIYokiTlCMLncm+uWTCpMOS1FfSfJa5By6r10vKPUK/mQeoUH6qBj9LCNhGimWdhdY1te2zM7HUiX/EdtiAGOqvPSOkHLiHD2MxALMdawobjOw3k2IVN5B2AE144rFYfRuHeWaTKt7ySOczyuRv3s5tYKBqAAAAFgH7Ghml14txJf8AwVuIV6iu2U9b6t4VaqOEPGZgMBdGlDyLq5KEByLbjayp7CRXI+G/G5iMaWjgLYfDbMqm0kg/W42A/lXV6yawVB1nSn9oCYkjDYSNBuaVmc9lMoH1NZ+bjo0mx1TRJ1LCn/desNSg28fHNpMHXiI26jDH/wAAVd6N4/sSpHL4WGQbyheJv55h/SuW0oPo/g9xv4DFkK0hw8h1ZZrKCeqQXX6keytE+hADnwr8gx1kKLxPfX5cWoG/5lyt+qvk6tbwN4y8Vo4hVblcPvhcmwG/k22ofZq9YoPobB6XOcRYhOSmPm67pLbWeTfVc21lCAwsdRGs2dZ/QXCDC6WwxaM5l1B428l4m2i9jdWB1hlO64OqpGDxbwyCDENmDaoJj/iWBOSS2oSgAm+xgCRYgiguKUpQKUpQKUpQKUpQKUpQKqeFXokny99atqqeFXokny99aCXoj0eH3ad0VLqJoj0eH3ad0VLoFKUoFKUoFQsXoaGU5niUvuceS49jrZh8DU2lBV81yp/BxT23LMBMva8mT6uai6Q01iIFAbDLJI5yRck98z2JGZHylQACxsWsFNX1VGjxy08k58yPNDD8p++b2mRcvsiuPONBAi4QYXBQO005VwDJKZUaKSVrC5COAWOoKFW4ACqNQFcM4T8IsTprEswUiKP+HFmssaneSdRc7z8Ngq+46+GJxGJ+yRt9zhz95bY8u+/UgNvaW9QrBaF0l9ne4LhW84KbHqIBupt6iPpQRZ8OyMVdSrDaDVtwZ4G4rSD5cNEWANmkbyY0/c3r6hc9Vavm2DFCJ5SZFBBLoQjMt9a3tq9XUfVXXYdP4PCYWIQL5DeRBh4VzSOwFyqx7S28k6htJtroMhoHiFw6AHFzSTPvVPu0HVfzj7bj2Vr8Lxc6NiHk4DD+1lzn6vc1+F0fjsVrxE/2OI7IMOVaW3/yYhgQD1RqLfnNeg4vsETeTD8s35p5JcQx9plZqCv0dwe0Pj1fkcNhJOTYo4VAjoykghgLMusGx37r1Uab4isHKCcO8uHfcLmVPir+V9GrQ8EeLfB6NZpIIyZnzXlc3IVjfKoGpV9gvq1k1qaD5e4W8XuL0cbzIHhvYTR3ZOoNvQ9R+BNZqvsOaFXUq6hlYEMrAEEHaCDqIrg/GlxXfY74nCKThifvI9vIk7CPXGTq/T7NgYjg3wkmwGIWeBrMPOXXlkXerjeD/LaNdfSegdNwaWwQkS+V9TpfyopFsbXGxlNmVh+kivlitjxX8Mjo/Grnb+7zkJMNy6/If2qTr6i3VQfQeiMYxzQzG80Vrta3KI18kgA2ZrEEbmVhssTZVU6cXJkxK+dBfPb8ULW5UddgA464wN5q1Vri41g0H9pSsnwn4JT4mSaSLEvExhjSG0s6BXV3MuZUOUh0ZVzWYjaBqFBqZZlUXZgouBckDWxso17ySAB11/JMQq+c6rs2kDzjlXb62IA9Zrn54CYwsn96ugEWZZJ5ZTmixCzARkRrkAUFb2N7LqFiT54Li6xIKmWaNzaFGJmnZgsOK5exNgHZo9RbKnlawNZNB0ilc9PAPG/cX0hI+RmD2mkjOROSWBgcrhnCRNmBAzNM+vXrlcIeBGJxGImljxbx583JgT4lAn3EaR+Qhy6plL7Nd9+yg25YC1yNeode/wD4o7gAkkADWSdQAFc8TgHjWxBllxatacSqBJMAl1xSFkUABWCzQnL5QPJEFrGv1o7i+xWRVxGLkfKkwI+04ghpXWBY31BDlvHIzI2YXkPnXNBvhOtg2ZcrWym4sc3m2O+99VVvCr0ST5e+tY/DcAMbysZkxUbRRthCEzSWthZIH1JlsGyxSDNc3LfhuRWw4U+iSfL31oJeiPR4fdp3RUuomiPR4fdp3RUugUpSgUpSgUpSghaaxbRQOyefYLH+9yEjv1Z2Wq3T+kV0bo2SRf8A28Vkv+JrBY7+slyL+01M0t5UuGTcZS7DqiRmF/ZJkPwFYHj90lkwUEI/xpcx61iW9u0yn4UHDJJCzFmJLMSSTtJOsk9ZNT+Dug3xuKiw8fnSta+3Ko1sx6goJ+FV1dc4gNChpMRimHmBYkPW3lP8bBB8xoNxwk4P4XC6OVQhXkFCQBADJI7myIB+Nnc/VidWusZoSCfRuJMs6g4hhZwda8mTcJGdyj8w2kXPqrfzj7TpVUOuLARiUjccRiMyx360iVz/APcD6qttNaEjxUeSQax5rDap6ur1jfQfrRGmI8THnjPUynap9RFfvF6Vhi/izRofUzAH6ba5bOJcFO6LJlceSWQ7QRcfyN/WKn6K4GT4gcoxCK2sM9yzX322/EkUHQMLpuCU2jnjY+oML/Sp1c20jwBnjXMjLLbctw3wB2/W9S+CHC1ldYZ2LKxyozbVO4E7wdmvZ7Ngb6vOeBXVkdQysCrKdYIIsQR6iK9KUHy3w+4KHR2OeEX5I+XCTvja9gTvKkFT7L76ztd24+tCiTBxYgDyoJMpP6JdRv8AOE+prhBNqD6W4quEH2zRkZc5pIbwyX13yAZSfahX+dXvB/yY2hO3DuYh+wWaLXv+6ZPjeuO8RWlphLicPCqeWqyAyMwC5DlYhVBLHy11XXZtrqEGiXOMkE+IkYSRo+WK8CEqzI2pDnPkmMa3NBdYzS8URyvIM52ILu59ka3Y/AVHOPnk/g4fIPzztk+IjTMx9jZKmYPARwi0UaIDtCqFv1m209ZqRQVXMzv6RiZH/RH9wn+Q8ofYXI6qnYPAxwrlijVF22UAC52nVtPXXvSgUpSgUpSgVU8KvRJPl761bVU8KvRJPl760EvRHo8Pu07oqXUTRHo8Pu07oqXQKUpQKUpQKUpQVuIH98h9zOf8+HH9CfrXJf7Qc332DXcElPaZB/211nFG2Mg9RinX4loGH8lb6Vyn+0Jh/vMG+4rMv0MZH9TQcir6B4j4wmiS5IAaaViTYCyhV1n1eTXz9XfOIuZZNGSRmxyTOrKRcWdUbWN4NzQX/AvHxyz6QKyRs7YptSspOSOKGNTYbvJOvrrV1k+A3F5DotsSYtZnkLKSNccY8yMHeAS2vfqvsrWUHKtBQjFY5eU1h2Z2B32u1vZsHsrqtcpw8hwOP8oG0bkHrRtVx8pBrqUE6uoZGDKwuCNhFB6VzTh5gBFisy6uVXMbbmBIJ+Oo+29dKZrC52CuX8KtJfa8XaLylFo0t+I32j2k/QCg6PorEGSCJztdFJ9pAJqVXhgMNycSJ+RVXsgCvegy3GhBn0RjB6o83xRlYf0r5ir6Z41sUI9D4sk+cgQe2R1X/mvmag3/ABHzZdLAfnhlH0yt/wAV3Sc/32Hrhn/lJh7f1NcO4jMPm0rm/JBIfqUX/mu4zC+Ni/TDNf5pILd00FnSlKBSlKBSlKBSlKBVTwq9Ek+XvrVtVTwq9Ek+XvrQS9Eejw+7TuipdRNEejw+7TuipdApSlApSlApSlBWaaOVoJNyTKD7JQ0I/wA0in4ViuPbRXKaOSUDXBKpPUsgKH/MUrfaTwXLQvHe2dSAfyn8LDrBsfhUCbDrpDANHIMvLxskg/I4urj2pID2aD5Srp/EPp4RYuXDMbDEKGT98Vzb4oWPyVzfSGBeCWSKQWkiYow61Nj8KYDHPBKksTZZI2DIfUVNx8Oqg+v6VScD+FMekcKk8eonVIm+Nx5yn+oO8EGrugz/AAp4KjFAOhCzKLAnYw9Tf8GsSsuMwJI+8iF/VmQ+y91+ldWrP8OvQX/dH31oMTLpTGYzyM0kg3qi2X5soA+tavgpwO5AiWexl/Co1hL7yd7f0668eLb+FN+8d2tjQKUqFpnS8eEgknmbLHGLsd/UAN5J1AbyaDmHH9p4CKDCKfKduVcepVuqX9rFj8lcVq04T8IHx2LlxEmoyHUu0Io1Io9g+pud9VYF9gufV66Dsf8AZ90Uf71iCNXkRKfZ5b/1Sun4TysXO26NY4h7fKkb+Ukf0qt4EaEXRujI0kspRDJMfUzeW9/2jV7Fq10DARCGdcskpMrjeDIc2U/tXKny0FjSlKBSlKBSlKBSlKBVTwq9Ek+XvrVtVTwq9Ek+XvrQS9Eejw+7TuipdRNEejw+7TuipdApSlApSlApSlAqpQ8hiSp1RYk5l/TMo8pfnQZh1o+9hVtUbSGBWaMo1wDYhhqZWUgqyncysAQfWBQck47+BJv9vhW+oLiAOrUkn0sp+U+uuO19ZYDFcqrwYhV5VRaRbeTKjXAdQdqML3Guxupva54Txl8Wj6PczQAtg2Oo7TCTsV/0+pvgddrhQ8DuGU2jZ+VhOZGsJYibLIo9fqYX1Nu9hIP0lwZ4TwY+ATYd7jYynU0bb1Ybj/I7RcV8taM0a08gRNW8k7FA2k/+b60GhdJzaGx0brJdGtygF7SR5rMCvrGsg7j8RQfTdZ/h16C/7o++taCs/wAOvQX/AHR99aCu4tv4U37x3a2NY7i2/hTfvHdrY0EfSGkI4InlmdUjQXZm1AD/AM3b6+cuMXjDfScuVcyYWM/dxnUWOzO/6vUPwg9ZNXfG3wgmxmkjgUbLDCygLsDOVDM7euwaw9Vj66w2mtAvhst2DK2xgCNY3EUFZXSOJrgScViRipV+4w7XS41SSjWtvWE849eXrrP8A+Acuk5rC6QIRysttn6V9bkfTad1/ofLFgMPHDBFs8iCFTYu23b9WZzsGZjQf3Sh5aVMONa6pJ+pAfIT2u67N6pJ6xVtULRWjzEhztmlkOeV7WzOQBqG5QAFUbgo2m5qbQKUpQKUpQKUpQKUpQKqeFXokny99atqqeFXokny99aCXoj0eH3ad0VLqJoj0eH3ad0VLoFKUoFKUoFKUoFKUoIWktG8rlZWyTR3McgFypO0EfiRrAMu+w2EAiLhNKJOXw2IVBMFtJEbMrqw2pfzkI3HWL6wLi83SePEMZe2Y6giDUXdjZFHWWIF9206hWX4S5cNgwj5XxMr8oX2ESfikU7VyiyLruBlGsA0GDk4PQYfFTLgwxR3so84+rKm8rmvbedW2vLQHFni8bjhNjIWgwyMDle2d1Q3CBRrF95NtptetPwVwpivi3iLwxZtYKgpYXZ8rWzKouNRv6gd3QMDpaKa4jkBYbUN1df3RtZl+IFBMrP8OvQX/dH31rQVn+HXoL/uj760Fdxbfwpv3ju1sax3Ft/Cm/eO7WxoOR8aPFriJcV9twIzu2UyRggMGQAB0vYNdQAV26t99VJjNFtJEExUEkTOASjDKy69q36wbGu343SMcIvLIqA6hmIFz6lG1j1DXWU0/GdIK3IQsPs5ILSAxuxyhsixEZrEFTd8u0WBvegnYLH4TA4KJcMoyFfuo1tma5AZnJ2AMfKkY2BOs7KtdH6OIYyzENOwtcXyxrtyR33XAJY62IubAKq4fgRpBFd4JUUriBluQNZsRkY71IJFvWes1tNCTMoaCRiZILAMdZeNr8k5O8kAqT+ZG6qC0pSlApSlApSlApSlApSlAqp4VeiSfL31q2qp4VeiSfL31oJeiPR4fdp3RUuomiPR4fdp3RUugUpSgUpSgUpSgUpVbpnEtZYYjaWa4DDbGgtyknyggD9TJuvQeEUgmmaZjaDDZljJ2M4BWWT2KM0YPvdxFYPH4l9IYyy/iOVB+VBvPwuxrQcNtIrBAmEhGUFRcDdGupV+JH0HXXnwVwX2bDnEsmaaayQJsLZj5I6sx1k7lW+wGgulwSs6YVB9xhwrS/qbzooz13+8b5BrDmrXG6LimtysSPbzSQLr1q21T1givzorAcjGFLZnJLSPa2d21s1t2vYNwAG6plBV8ylf4WKxCD8pZZh/+wZvowrOaelnfASNJLGyiVksIirHksQY1ObNYeaCfJ+lbY1jdNf+mTf9RN/vJKCNwCilaOXkpUQZxe8Zc3y7jmAH0NX2isHJiIIpJsVMeUjR2SPJEt3UNqKDPv8Az1V8W38Kb9692tBwa9Cw3uYv9NaD2weiIojmSMBztc3Zz7ZGux+JqJpH7iZZx5j5Yp+oE/dP8rMVPU9z5tW9eeIgWRGR1DK4KsDsIYWIPURQc84b6D5GUTRiySG5t+F9p9l9o671cYDTPLQpihrmw3kzqNrxNbOQN+oCQdaFR5xqzw2HE0MuEnJZ47KWO1kOuGT22Fifzo+6sNo/Fvo/FkONSnLIB+JTvHwswoOpo4YAgggi4I1gg7CDX6qm0I4iY4e/kW5TDn1xMdaj3bEDqVo+urmgUpSgUpSgUpSgUpSgVU8KvRJPl761bVU8KvRJPl760EvRHo8Pu07oqXUTRHo8Pu07oqXQKUpQKUpQKUpQfiaZUVmYhVUEsTqAAFySfUBVdoaFmLYiRSHmtlUixjiF+TUjcxuWbrYj8IqRpXRwniMZZluVNxY61YMLhrhluBdTqIuKiDS7Qm2LUKN06X5I/vvcwn9xK/qJ1UH70twbhxLK0qksurUSLjbY23V5aOQTzcrYcjDePDjcSPJkkA+GReoORqevXTGILZYImIkmvdhtjiFuUcHcdYVf1ODrANWEECoqogCqoCqBsAAsAOoCg9KUpQfw1jdNf+mTf9RN/vJK2RrHaYUnRk1he2ImJ9gxkl6Bxbfwpv3r3a0HBr0LDe5i/wBNaoeLdDyMptqLix9dlF6vuDXoWG9zF/prQWVKUoKnTSmIriVGuK4lA/FC1s/tKWDjf5LAedTSfB2DFMryLcgairWzLtANto8atiKqNDnkXbDHYgzwdcRNsvtjY5f2mPeaD10vgiUV4VHKwHNGNQzWFmj6gyEr1EqfwipmDxayxrIhurgMN2o+sbj1bqhTaauxTDpy8gNmscsaHeHl1gEflUM36d9emh9HtCjB3DM7tIQoyohfWwQEk2LXY3JuWY6r2AT6UpQKUpQKUpQKUpQKqeFXokny99atqqeFXokny99aCXoj0eH3ad0VLqJoj0eH3ad0VLoFKUoFKUoFKUoPLF4gRxu5BIRSxABYkKLmwGsnVsFZrgFpTFTQypj42SdHv5SKoMcyiRAMt1OW7R7b+QL2JrVUoIWA0PFAWMUYTNa9ibALeyqDqRQSxyrYXYm2s1NpSgUpSg/hqs4Pj7l/f4n/AHMtWhqkw0eIgDKEw5QySsGaaRD97K7gEcmQD5YG00FyqACwAAGwDUKr+DXoWG9zF/prX4GLxJ1CLCk69X2iTcbH/D3HVUrRODMOHijYgmONEJGwlFCm3VqoJdKUoFQ9IaJjny8opOUm1mZDYizAlSCVI2qdRsLg2qZSgyPGDiZ8Ng4xgCYW5VEukecImV/wKj2W4XYp/nWi0NO8mGheVWWR40Z1YZWVmUFgw3EG4tUylApSlApSlApSlApSlAqp4VeiSfL31q2qp4VeiSfL31oJeiPR4fdp3RUuuW4TSswjQCeWwUfjb1Drr253m6eXtv40HTKVzPnebp5e2/jTnebp5e2/jQdMpXM+d5unl7b+NOd5unl7b+NB0ylcz53m6eXtv4053m6eXtv40HTKVzPnebp5e2/jTnebp5e2/jQdMpXM+d5unl7b+NOd5unl7b+NB0ylcz53m6eXtv4053m6eXtv40HTKquFGhvteDmgBCtIhyMdiyL5UTfK4U/CsRzvN08vbfxpzvN08vbfxoL3gRwKfAyzPNMJjIqBDrJUteTE7QNT4hmf2Za19cz53m6eXtv4053m6eXtv40HTKVzPnebp5e2/jTnebp5e2/jQdMpXM+d5unl7b+NOd5unl7b+NB0ylcz53m6eXtv4053m6eXtv40HTKVzPnebp5e2/jTnebp5e2/jQdMpXM+d5unl7b+NOd5unl7b+NB0ylcz53m6eXtv4053m6eXtv40HTKVzPnebp5e2/jTnebp5e2/jQdMqp4VeiSfL31rE87zdPL238aiaU0pMYmBmlI1ai7HeOug//Z"/>
          <p:cNvSpPr>
            <a:spLocks noChangeAspect="1" noChangeArrowheads="1"/>
          </p:cNvSpPr>
          <p:nvPr/>
        </p:nvSpPr>
        <p:spPr bwMode="auto">
          <a:xfrm>
            <a:off x="228600" y="-706438"/>
            <a:ext cx="2581275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88092" name="Picture 28" descr="http://www.markallen.com/teaching/images/electronics/potentiometer1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1" y="5142510"/>
            <a:ext cx="2111428" cy="1444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094" name="Picture 30" descr="http://upload.wikimedia.org/wikipedia/commons/thumb/b/b5/Potentiometer.jpg/225px-Potentiometer.jp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2" b="16648"/>
          <a:stretch/>
        </p:blipFill>
        <p:spPr bwMode="auto">
          <a:xfrm>
            <a:off x="6655254" y="3769737"/>
            <a:ext cx="1450122" cy="126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" descr="ale29559_02004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" t="8293" r="6078" b="14865"/>
          <a:stretch/>
        </p:blipFill>
        <p:spPr bwMode="auto">
          <a:xfrm>
            <a:off x="4970283" y="90486"/>
            <a:ext cx="3711629" cy="1662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96" name="Picture 32" descr="http://t2.gstatic.com/images?q=tbn:ANd9GcQoYffnUSq2ySpKqYfHrPY0rbgPTmVBUdgCL7mbt4N2hzh_ssvE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858880" y="255949"/>
            <a:ext cx="2098761" cy="46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 descr="ale29559_02006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1" t="3668" r="9542"/>
          <a:stretch/>
        </p:blipFill>
        <p:spPr bwMode="auto">
          <a:xfrm>
            <a:off x="2133600" y="2233657"/>
            <a:ext cx="2245050" cy="2854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89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91947"/>
              </p:ext>
            </p:extLst>
          </p:nvPr>
        </p:nvGraphicFramePr>
        <p:xfrm>
          <a:off x="567928" y="1600198"/>
          <a:ext cx="8008142" cy="3810002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1706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Material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Resistivity</a:t>
                      </a:r>
                      <a:r>
                        <a:rPr lang="en-ZA" sz="2400" baseline="0" dirty="0" smtClean="0"/>
                        <a:t> (</a:t>
                      </a:r>
                      <a:r>
                        <a:rPr lang="en-ZA" sz="2400" baseline="0" dirty="0" smtClean="0">
                          <a:sym typeface="Symbol"/>
                        </a:rPr>
                        <a:t>m)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Usage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Copper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1.72 x 10</a:t>
                      </a:r>
                      <a:r>
                        <a:rPr lang="en-ZA" sz="2400" baseline="30000" dirty="0" smtClean="0"/>
                        <a:t>-8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Conductor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Gold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 smtClean="0"/>
                        <a:t>2.45 x 10</a:t>
                      </a:r>
                      <a:r>
                        <a:rPr lang="en-ZA" sz="2400" baseline="30000" dirty="0" smtClean="0"/>
                        <a:t>-8</a:t>
                      </a:r>
                      <a:endParaRPr lang="en-ZA" sz="2400" dirty="0" smtClean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Conductor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Carbon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 smtClean="0"/>
                        <a:t>4 x 10</a:t>
                      </a:r>
                      <a:r>
                        <a:rPr lang="en-ZA" sz="2400" baseline="30000" dirty="0" smtClean="0"/>
                        <a:t>-5</a:t>
                      </a:r>
                      <a:endParaRPr lang="en-ZA" sz="2400" dirty="0" smtClean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Semi-conductor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Silicon</a:t>
                      </a:r>
                      <a:endParaRPr lang="en-ZA" sz="2400" dirty="0" smtClean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 smtClean="0"/>
                        <a:t>6.4 x 10</a:t>
                      </a:r>
                      <a:r>
                        <a:rPr lang="en-ZA" sz="2400" baseline="30000" dirty="0" smtClean="0"/>
                        <a:t>2</a:t>
                      </a:r>
                      <a:endParaRPr lang="en-ZA" sz="2400" dirty="0" smtClean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Semi-conductor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Paper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 smtClean="0"/>
                        <a:t>1 x 10</a:t>
                      </a:r>
                      <a:r>
                        <a:rPr lang="en-ZA" sz="2400" baseline="30000" dirty="0" smtClean="0"/>
                        <a:t>10</a:t>
                      </a:r>
                      <a:endParaRPr lang="en-ZA" sz="2400" dirty="0" smtClean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Insulator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Teflon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 smtClean="0"/>
                        <a:t>3 x 10</a:t>
                      </a:r>
                      <a:r>
                        <a:rPr lang="en-ZA" sz="2400" baseline="30000" dirty="0" smtClean="0"/>
                        <a:t>12</a:t>
                      </a:r>
                      <a:endParaRPr lang="en-ZA" sz="2400" dirty="0" smtClean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 smtClean="0"/>
                        <a:t>Insulator</a:t>
                      </a:r>
                      <a:endParaRPr lang="en-ZA" sz="2400" dirty="0">
                        <a:solidFill>
                          <a:srgbClr val="08080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304800"/>
            <a:ext cx="9144000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2.2 Ohms Law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b="1" dirty="0" smtClean="0">
                <a:solidFill>
                  <a:srgbClr val="FF0000"/>
                </a:solidFill>
              </a:rPr>
              <a:t>Resistivity </a:t>
            </a:r>
            <a:r>
              <a:rPr lang="en-US" sz="4800" b="1" dirty="0" smtClean="0">
                <a:solidFill>
                  <a:srgbClr val="FF0000"/>
                </a:solidFill>
                <a:sym typeface="Symbol"/>
              </a:rPr>
              <a:t></a:t>
            </a:r>
            <a:r>
              <a:rPr lang="en-US" sz="4000" b="1" dirty="0" smtClean="0">
                <a:solidFill>
                  <a:srgbClr val="FF0000"/>
                </a:solidFill>
                <a:sym typeface="Symbol"/>
              </a:rPr>
              <a:t> &amp; </a:t>
            </a:r>
            <a:r>
              <a:rPr lang="en-US" sz="4000" b="1" dirty="0">
                <a:solidFill>
                  <a:srgbClr val="FF0000"/>
                </a:solidFill>
              </a:rPr>
              <a:t>Resistance </a:t>
            </a:r>
            <a:r>
              <a:rPr lang="en-US" sz="4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endParaRPr lang="en-US" sz="40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50830" y="5562600"/>
                <a:ext cx="6042337" cy="114409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𝑅</m:t>
                      </m:r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  <a:ea typeface="Cambria Math"/>
                        </a:rPr>
                        <m:t>𝜌</m:t>
                      </m:r>
                      <m:f>
                        <m:fPr>
                          <m:ctrlP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/>
                              <a:sym typeface="Symbol"/>
                            </a:rPr>
                            <m:t>𝑙</m:t>
                          </m:r>
                        </m:num>
                        <m:den>
                          <m: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/>
                              <a:sym typeface="Symbol"/>
                            </a:rPr>
                            <m:t>𝐴</m:t>
                          </m:r>
                        </m:den>
                      </m:f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  <a:sym typeface="Symbol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3600" i="1">
                              <a:solidFill>
                                <a:srgbClr val="080808"/>
                              </a:solidFill>
                              <a:latin typeface="Cambria Math"/>
                              <a:sym typeface="Symbol"/>
                            </a:rPr>
                            <m:t></m:t>
                          </m:r>
                          <m:r>
                            <a:rPr lang="en-ZA" sz="3600" i="1">
                              <a:solidFill>
                                <a:srgbClr val="080808"/>
                              </a:solidFill>
                              <a:latin typeface="Cambria Math"/>
                              <a:sym typeface="Symbol"/>
                            </a:rPr>
                            <m:t>𝑚</m:t>
                          </m:r>
                          <m:f>
                            <m:fPr>
                              <m:ctrlPr>
                                <a:rPr lang="en-ZA" sz="36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ZA" sz="3600" i="1">
                                  <a:solidFill>
                                    <a:srgbClr val="080808"/>
                                  </a:solidFill>
                                  <a:latin typeface="Cambria Math"/>
                                  <a:sym typeface="Symbol"/>
                                </a:rPr>
                                <m:t>𝑚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ZA" sz="3600" i="1">
                                      <a:solidFill>
                                        <a:srgbClr val="080808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pPr>
                                <m:e>
                                  <m:r>
                                    <a:rPr lang="en-ZA" sz="3600" i="1">
                                      <a:solidFill>
                                        <a:srgbClr val="080808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ZA" sz="3600" i="1">
                                      <a:solidFill>
                                        <a:srgbClr val="080808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  <a:sym typeface="Symbo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36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3600" i="1">
                              <a:solidFill>
                                <a:srgbClr val="080808"/>
                              </a:solidFill>
                              <a:latin typeface="Cambria Math"/>
                              <a:sym typeface="Symbol"/>
                            </a:rPr>
                            <m:t></m:t>
                          </m:r>
                        </m:e>
                      </m:d>
                    </m:oMath>
                  </m:oMathPara>
                </a14:m>
                <a:endParaRPr lang="en-ZA" sz="3600" dirty="0">
                  <a:solidFill>
                    <a:srgbClr val="080808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830" y="5562600"/>
                <a:ext cx="6042337" cy="11440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72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4000" y="6248400"/>
            <a:ext cx="2133600" cy="457200"/>
          </a:xfrm>
        </p:spPr>
        <p:txBody>
          <a:bodyPr/>
          <a:lstStyle/>
          <a:p>
            <a:fld id="{A4847B60-0B63-41AE-B4C2-F668614D0D68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9319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95487"/>
            <a:ext cx="380047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02456" y="457200"/>
            <a:ext cx="8243887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2.2 Ohms Law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rgbClr val="FF0000"/>
                </a:solidFill>
              </a:rPr>
              <a:t>Resistance </a:t>
            </a:r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 -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extremes</a:t>
            </a:r>
            <a:endParaRPr lang="en-US" sz="5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319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970087"/>
            <a:ext cx="3810000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0556" y="4862512"/>
            <a:ext cx="37028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R = 0:  SHORT Circuit (SC)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v =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i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 0 = 0</a:t>
            </a:r>
            <a:endParaRPr lang="en-ZA" sz="24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05399" y="4860924"/>
                <a:ext cx="3740943" cy="1092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ZA" sz="2400" dirty="0" smtClean="0">
                    <a:latin typeface="Times New Roman" pitchFamily="18" charset="0"/>
                    <a:cs typeface="Times New Roman" pitchFamily="18" charset="0"/>
                  </a:rPr>
                  <a:t>R = ∞:  OPEN Circuit (OC)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𝑖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func>
                        <m:funcPr>
                          <m:ctrlPr>
                            <a:rPr lang="en-ZA" sz="24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ZA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ZA" sz="2400" b="0" i="0" smtClean="0">
                                  <a:latin typeface="Cambria Math"/>
                                  <a:cs typeface="Times New Roman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𝑅</m:t>
                              </m:r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⟶∞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ZA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𝑣</m:t>
                              </m:r>
                            </m:num>
                            <m:den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func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=0</m:t>
                      </m:r>
                    </m:oMath>
                  </m:oMathPara>
                </a14:m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399" y="4860924"/>
                <a:ext cx="3740943" cy="1092415"/>
              </a:xfrm>
              <a:prstGeom prst="rect">
                <a:avLst/>
              </a:prstGeom>
              <a:blipFill rotWithShape="1">
                <a:blip r:embed="rId4"/>
                <a:stretch>
                  <a:fillRect l="-2443" t="-444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8562" y="5460426"/>
                <a:ext cx="1666875" cy="1140505"/>
              </a:xfrm>
              <a:prstGeom prst="rect">
                <a:avLst/>
              </a:prstGeom>
              <a:noFill/>
              <a:ln>
                <a:solidFill>
                  <a:srgbClr val="080808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600" b="0" i="1" smtClean="0">
                          <a:latin typeface="Cambria Math"/>
                        </a:rPr>
                        <m:t>𝑅</m:t>
                      </m:r>
                      <m:r>
                        <a:rPr lang="en-ZA" sz="3600" b="0" i="1" smtClean="0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3600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36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</m:num>
                        <m:den>
                          <m:r>
                            <a:rPr lang="en-ZA" sz="3600" b="0" i="1" smtClean="0">
                              <a:latin typeface="Cambria Math"/>
                              <a:sym typeface="Symbol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ZA" sz="3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562" y="5460426"/>
                <a:ext cx="1666875" cy="114050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7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6E29-16C4-4B91-BA77-2A310C547C75}" type="slidenum">
              <a:rPr lang="en-US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539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95300" y="2133600"/>
                <a:ext cx="8153400" cy="388620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sz="2400" i="1" u="sng" dirty="0" smtClean="0"/>
                  <a:t>Conductance</a:t>
                </a:r>
                <a:r>
                  <a:rPr lang="en-US" sz="2400" i="1" dirty="0"/>
                  <a:t> </a:t>
                </a:r>
                <a:r>
                  <a:rPr lang="en-US" sz="2400" dirty="0"/>
                  <a:t>is the ability of an element to conduct electric current; it is the reciprocal       of resistance R and is measured in </a:t>
                </a:r>
                <a:r>
                  <a:rPr lang="en-US" sz="2400" dirty="0" smtClean="0"/>
                  <a:t>mho’s [</a:t>
                </a:r>
                <a:r>
                  <a:rPr lang="en-US" sz="3600" dirty="0" smtClean="0">
                    <a:latin typeface="Times New Roman"/>
                    <a:cs typeface="Times New Roman"/>
                  </a:rPr>
                  <a:t>ʊ</a:t>
                </a:r>
                <a:r>
                  <a:rPr lang="en-US" sz="2800" dirty="0" smtClean="0">
                    <a:latin typeface="Times New Roman"/>
                    <a:cs typeface="Times New Roman"/>
                  </a:rPr>
                  <a:t>]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or </a:t>
                </a:r>
                <a:r>
                  <a:rPr lang="en-US" sz="2400" dirty="0" err="1" smtClean="0"/>
                  <a:t>siemens</a:t>
                </a:r>
                <a:r>
                  <a:rPr lang="en-US" sz="2400" dirty="0" smtClean="0"/>
                  <a:t> [S].</a:t>
                </a:r>
                <a:endParaRPr lang="en-US" sz="2400" dirty="0"/>
              </a:p>
              <a:p>
                <a:pPr marL="0" indent="0" algn="just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𝐺</m:t>
                      </m:r>
                      <m:r>
                        <a:rPr lang="en-ZA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𝑅</m:t>
                          </m:r>
                        </m:den>
                      </m:f>
                      <m:r>
                        <a:rPr lang="en-ZA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num>
                        <m:den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den>
                      </m:f>
                      <m:r>
                        <a:rPr lang="en-ZA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ZA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lnSpc>
                    <a:spcPct val="90000"/>
                  </a:lnSpc>
                </a:pPr>
                <a:endParaRPr lang="en-US" sz="2800" i="1" u="sng" dirty="0" smtClean="0"/>
              </a:p>
              <a:p>
                <a:pPr marL="0" indent="0" algn="just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36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3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𝐺𝑣</m:t>
                      </m:r>
                    </m:oMath>
                  </m:oMathPara>
                </a14:m>
                <a:endParaRPr lang="en-US" sz="3600" i="1" u="sng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lnSpc>
                    <a:spcPct val="90000"/>
                  </a:lnSpc>
                  <a:buFontTx/>
                  <a:buNone/>
                </a:pPr>
                <a:r>
                  <a:rPr lang="en-US" sz="2800" dirty="0"/>
                  <a:t>				</a:t>
                </a:r>
              </a:p>
            </p:txBody>
          </p:sp>
        </mc:Choice>
        <mc:Fallback xmlns="">
          <p:sp>
            <p:nvSpPr>
              <p:cNvPr id="655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95300" y="2133600"/>
                <a:ext cx="8153400" cy="3886200"/>
              </a:xfrm>
              <a:blipFill rotWithShape="1">
                <a:blip r:embed="rId2"/>
                <a:stretch>
                  <a:fillRect l="-1121" t="-219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602456" y="457200"/>
            <a:ext cx="8243887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2.2 Ohms Law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rgbClr val="FF0000"/>
                </a:solidFill>
              </a:rPr>
              <a:t>Conductance </a:t>
            </a:r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endParaRPr lang="en-US" sz="5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6E29-16C4-4B91-BA77-2A310C547C75}" type="slidenum">
              <a:rPr lang="en-US"/>
              <a:pPr/>
              <a:t>9</a:t>
            </a:fld>
            <a:endParaRPr lang="en-US"/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0" y="457200"/>
            <a:ext cx="9144000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2.2 Ohms Law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b="1" dirty="0" smtClean="0">
                <a:solidFill>
                  <a:srgbClr val="FF0000"/>
                </a:solidFill>
              </a:rPr>
              <a:t>Power dissipated in a Resistor</a:t>
            </a:r>
            <a:endParaRPr lang="en-US" sz="48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600200" y="2057400"/>
                <a:ext cx="188538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4400" b="0" i="1" smtClean="0">
                          <a:latin typeface="Cambria Math"/>
                        </a:rPr>
                        <m:t>𝑝</m:t>
                      </m:r>
                      <m:r>
                        <a:rPr lang="en-ZA" sz="4400" b="0" i="1" smtClean="0">
                          <a:latin typeface="Cambria Math"/>
                        </a:rPr>
                        <m:t>=</m:t>
                      </m:r>
                      <m:r>
                        <a:rPr lang="en-ZA" sz="4400" b="0" i="1" smtClean="0">
                          <a:latin typeface="Cambria Math"/>
                        </a:rPr>
                        <m:t>𝑣𝑖</m:t>
                      </m:r>
                    </m:oMath>
                  </m:oMathPara>
                </a14:m>
                <a:endParaRPr lang="en-ZA" sz="4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57400"/>
                <a:ext cx="1885388" cy="7694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3561788" y="1600200"/>
            <a:ext cx="4286812" cy="841921"/>
            <a:chOff x="2340266" y="2071934"/>
            <a:chExt cx="4286812" cy="841921"/>
          </a:xfrm>
        </p:grpSpPr>
        <p:cxnSp>
          <p:nvCxnSpPr>
            <p:cNvPr id="5" name="Straight Arrow Connector 4"/>
            <p:cNvCxnSpPr>
              <a:stCxn id="3" idx="3"/>
              <a:endCxn id="11" idx="1"/>
            </p:cNvCxnSpPr>
            <p:nvPr/>
          </p:nvCxnSpPr>
          <p:spPr bwMode="auto">
            <a:xfrm flipV="1">
              <a:off x="2340266" y="2364322"/>
              <a:ext cx="1645961" cy="54953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TextBox 19"/>
            <p:cNvSpPr txBox="1"/>
            <p:nvPr/>
          </p:nvSpPr>
          <p:spPr>
            <a:xfrm rot="20414656">
              <a:off x="2631602" y="2270010"/>
              <a:ext cx="838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2000" i="1" dirty="0" smtClean="0">
                  <a:latin typeface="Times New Roman" pitchFamily="18" charset="0"/>
                  <a:cs typeface="Times New Roman" pitchFamily="18" charset="0"/>
                </a:rPr>
                <a:t>v=</a:t>
              </a:r>
              <a:r>
                <a:rPr lang="en-ZA" sz="2000" i="1" dirty="0" err="1" smtClean="0">
                  <a:latin typeface="Times New Roman" pitchFamily="18" charset="0"/>
                  <a:cs typeface="Times New Roman" pitchFamily="18" charset="0"/>
                </a:rPr>
                <a:t>iR</a:t>
              </a:r>
              <a:endParaRPr lang="en-ZA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986227" y="2071934"/>
                  <a:ext cx="264085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ZA" sz="32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ZA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ZA" sz="3200" b="0" i="1" smtClean="0">
                              <a:latin typeface="Cambria Math"/>
                            </a:rPr>
                            <m:t>𝑖𝑅</m:t>
                          </m:r>
                        </m:e>
                      </m:d>
                      <m:r>
                        <a:rPr lang="en-ZA" sz="3200" b="0" i="1" smtClean="0">
                          <a:latin typeface="Cambria Math"/>
                        </a:rPr>
                        <m:t>𝑖</m:t>
                      </m:r>
                      <m:r>
                        <a:rPr lang="en-ZA" sz="32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ZA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ZA" sz="3200" b="0" i="1" smtClean="0">
                              <a:latin typeface="Cambria Math"/>
                            </a:rPr>
                            <m:t>𝑖</m:t>
                          </m:r>
                        </m:e>
                        <m:sup>
                          <m:r>
                            <a:rPr lang="en-ZA" sz="32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ZA" sz="3200" dirty="0" smtClean="0">
                      <a:latin typeface="Times New Roman" pitchFamily="18" charset="0"/>
                      <a:cs typeface="Times New Roman" pitchFamily="18" charset="0"/>
                    </a:rPr>
                    <a:t>R</a:t>
                  </a:r>
                  <a:endParaRPr lang="en-ZA" sz="3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6227" y="2071934"/>
                  <a:ext cx="2640851" cy="58477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14737" r="-4839" b="-32632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3561788" y="2442121"/>
            <a:ext cx="3901322" cy="1099726"/>
            <a:chOff x="2340266" y="2913855"/>
            <a:chExt cx="3901322" cy="1099726"/>
          </a:xfrm>
        </p:grpSpPr>
        <p:cxnSp>
          <p:nvCxnSpPr>
            <p:cNvPr id="14" name="Straight Arrow Connector 13"/>
            <p:cNvCxnSpPr>
              <a:stCxn id="3" idx="3"/>
              <a:endCxn id="13" idx="1"/>
            </p:cNvCxnSpPr>
            <p:nvPr/>
          </p:nvCxnSpPr>
          <p:spPr bwMode="auto">
            <a:xfrm>
              <a:off x="2340266" y="2913855"/>
              <a:ext cx="1645961" cy="56108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TextBox 24"/>
            <p:cNvSpPr txBox="1"/>
            <p:nvPr/>
          </p:nvSpPr>
          <p:spPr>
            <a:xfrm rot="1283116">
              <a:off x="2633217" y="3187046"/>
              <a:ext cx="838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2000" i="1" dirty="0" smtClean="0">
                  <a:latin typeface="Times New Roman" pitchFamily="18" charset="0"/>
                  <a:cs typeface="Times New Roman" pitchFamily="18" charset="0"/>
                </a:rPr>
                <a:t>i=v/R</a:t>
              </a:r>
              <a:endParaRPr lang="en-ZA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986227" y="2936298"/>
                  <a:ext cx="2255361" cy="10772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320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ZA" sz="32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𝑣</m:t>
                        </m:r>
                        <m:f>
                          <m:fPr>
                            <m:ctrlPr>
                              <a:rPr lang="en-ZA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ZA" sz="32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𝑣</m:t>
                            </m:r>
                          </m:num>
                          <m:den>
                            <m:r>
                              <a:rPr lang="en-ZA" sz="32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𝑅</m:t>
                            </m:r>
                          </m:den>
                        </m:f>
                        <m:r>
                          <a:rPr lang="en-ZA" sz="32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ZA" sz="32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ZA" sz="32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ZA" sz="32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ZA" sz="3200" i="1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𝑅</m:t>
                            </m:r>
                          </m:den>
                        </m:f>
                      </m:oMath>
                    </m:oMathPara>
                  </a14:m>
                  <a:endParaRPr lang="en-ZA" sz="3200" dirty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6227" y="2936298"/>
                  <a:ext cx="2255361" cy="107728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TextBox 22"/>
          <p:cNvSpPr txBox="1"/>
          <p:nvPr/>
        </p:nvSpPr>
        <p:spPr>
          <a:xfrm>
            <a:off x="647700" y="4419600"/>
            <a:ext cx="7848600" cy="158812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3600" b="1" i="1" dirty="0" smtClean="0">
                <a:solidFill>
                  <a:srgbClr val="FF0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MUCHO IMPORTANTE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:</a:t>
            </a:r>
            <a:endParaRPr lang="en-US" sz="3600" b="1" dirty="0">
              <a:solidFill>
                <a:srgbClr val="FF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Since </a:t>
            </a:r>
            <a:r>
              <a:rPr lang="en-US" sz="36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6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36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&amp; R is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always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≥0: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sz="36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 a resistor is </a:t>
            </a: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ALWAYS ≥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(positive)</a:t>
            </a:r>
            <a:endParaRPr lang="en-ZA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Oval 1"/>
          <p:cNvSpPr/>
          <p:nvPr/>
        </p:nvSpPr>
        <p:spPr bwMode="auto">
          <a:xfrm>
            <a:off x="5175892" y="1485769"/>
            <a:ext cx="2704563" cy="92727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4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090244882"/>
              </p:ext>
            </p:extLst>
          </p:nvPr>
        </p:nvGraphicFramePr>
        <p:xfrm>
          <a:off x="428917" y="1485769"/>
          <a:ext cx="1039275" cy="2837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5" name="Bitmap Image" r:id="rId6" imgW="1467055" imgH="4009524" progId="PBrush">
                  <p:embed/>
                </p:oleObj>
              </mc:Choice>
              <mc:Fallback>
                <p:oleObj name="Bitmap Image" r:id="rId6" imgW="1467055" imgH="4009524" progId="PBrush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917" y="1485769"/>
                        <a:ext cx="1039275" cy="2837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785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6372896"/>
            <a:ext cx="2133600" cy="457200"/>
          </a:xfrm>
        </p:spPr>
        <p:txBody>
          <a:bodyPr/>
          <a:lstStyle/>
          <a:p>
            <a:fld id="{29A20D3D-1579-42BA-8F19-C3239B2FB4A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81000" y="609600"/>
            <a:ext cx="8243887" cy="1600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2-2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In the circuit shown, calculate the current </a:t>
            </a:r>
            <a:r>
              <a:rPr lang="en-ZA" sz="32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, the conductance </a:t>
            </a:r>
            <a:r>
              <a:rPr lang="en-ZA" sz="32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 and the power </a:t>
            </a:r>
            <a:r>
              <a:rPr lang="en-ZA" sz="32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3" descr="ale29559_0200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0" t="10428" r="19937"/>
          <a:stretch/>
        </p:blipFill>
        <p:spPr bwMode="auto">
          <a:xfrm>
            <a:off x="91587" y="2971800"/>
            <a:ext cx="3255186" cy="204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169727" y="2221607"/>
            <a:ext cx="5888814" cy="4521558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</a:rPr>
              <a:t>i= v/R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</a:rPr>
              <a:t>= 30 / 5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10</a:t>
            </a:r>
            <a:r>
              <a:rPr lang="en-ZA" sz="3200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3</a:t>
            </a:r>
            <a:r>
              <a:rPr lang="en-ZA" sz="3200" dirty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= 6mA</a:t>
            </a:r>
          </a:p>
          <a:p>
            <a:pPr algn="l"/>
            <a:endParaRPr lang="en-ZA" sz="3200" i="1" dirty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G =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/R =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1/5000 = 0.2 </a:t>
            </a:r>
            <a:r>
              <a:rPr lang="en-ZA" sz="3200" dirty="0" err="1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mS</a:t>
            </a:r>
            <a:endParaRPr lang="en-ZA" sz="3200" dirty="0" smtClean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endParaRPr lang="en-ZA" sz="3200" i="1" dirty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p = i</a:t>
            </a:r>
            <a:r>
              <a:rPr lang="en-ZA" sz="3200" i="1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R =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(610</a:t>
            </a:r>
            <a:r>
              <a:rPr lang="en-ZA" sz="3200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-3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en-ZA" sz="3200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2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 510</a:t>
            </a:r>
            <a:r>
              <a:rPr lang="en-ZA" sz="3200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3</a:t>
            </a:r>
            <a:endParaRPr lang="en-ZA" sz="3200" dirty="0" smtClean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3200" dirty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           = 180 </a:t>
            </a:r>
            <a:r>
              <a:rPr lang="en-ZA" sz="3200" dirty="0" err="1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mW</a:t>
            </a:r>
            <a:endParaRPr lang="en-ZA" sz="3200" dirty="0" smtClean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ZA" sz="3200" dirty="0">
                <a:solidFill>
                  <a:srgbClr val="FF3300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o</a:t>
            </a:r>
            <a:r>
              <a:rPr lang="en-ZA" sz="3200" dirty="0" smtClean="0">
                <a:solidFill>
                  <a:srgbClr val="FF3300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r:</a:t>
            </a:r>
            <a:endParaRPr lang="en-ZA" sz="3200" dirty="0">
              <a:solidFill>
                <a:srgbClr val="FF3300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3200" i="1" dirty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p </a:t>
            </a:r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= +vi =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30</a:t>
            </a:r>
            <a:r>
              <a:rPr lang="en-ZA" sz="3200" dirty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 0.006 = 0.18 W</a:t>
            </a:r>
          </a:p>
          <a:p>
            <a:r>
              <a:rPr lang="en-ZA" sz="3200" dirty="0">
                <a:solidFill>
                  <a:srgbClr val="FF3300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or:</a:t>
            </a:r>
          </a:p>
          <a:p>
            <a:pPr algn="l"/>
            <a:r>
              <a:rPr lang="en-ZA" sz="3200" i="1" dirty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p = </a:t>
            </a:r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3200" i="1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/R </a:t>
            </a:r>
            <a:r>
              <a:rPr lang="en-ZA" sz="3200" i="1" dirty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=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(30)</a:t>
            </a:r>
            <a:r>
              <a:rPr lang="en-ZA" sz="3200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2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/ 5000 = 180mW</a:t>
            </a:r>
            <a:endParaRPr lang="en-ZA" sz="3200" dirty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endParaRPr lang="en-ZA" sz="3200" dirty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6858000" y="2667000"/>
            <a:ext cx="990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555681" y="3543837"/>
            <a:ext cx="134530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/>
          <p:nvPr/>
        </p:nvCxnSpPr>
        <p:spPr bwMode="auto">
          <a:xfrm>
            <a:off x="4998072" y="4876800"/>
            <a:ext cx="144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6937756" y="5715000"/>
            <a:ext cx="144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>
            <a:off x="7395289" y="6601496"/>
            <a:ext cx="144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39758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0D3D-1579-42BA-8F19-C3239B2FB4A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81000" y="609600"/>
            <a:ext cx="8243887" cy="1600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2-2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For the circuit shown, calculate the voltage </a:t>
            </a:r>
            <a:r>
              <a:rPr lang="en-ZA" sz="32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, conductance </a:t>
            </a:r>
            <a:r>
              <a:rPr lang="en-ZA" sz="32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 and power </a:t>
            </a:r>
            <a:r>
              <a:rPr lang="en-ZA" sz="32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3" descr="ale29559_0200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967" t="11163" r="17546"/>
          <a:stretch/>
        </p:blipFill>
        <p:spPr bwMode="auto">
          <a:xfrm>
            <a:off x="0" y="3097820"/>
            <a:ext cx="3581400" cy="200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3670530" y="2226972"/>
            <a:ext cx="5181600" cy="4097627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</a:rPr>
              <a:t>v= </a:t>
            </a:r>
            <a:r>
              <a:rPr lang="en-ZA" sz="3200" i="1" dirty="0" err="1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</a:rPr>
              <a:t>= 2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10</a:t>
            </a:r>
            <a:r>
              <a:rPr lang="en-ZA" sz="3200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-3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  1010</a:t>
            </a:r>
            <a:r>
              <a:rPr lang="en-ZA" sz="3200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3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</a:p>
          <a:p>
            <a:pPr algn="l"/>
            <a:r>
              <a:rPr lang="en-ZA" sz="3200" dirty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        = 20 V</a:t>
            </a:r>
          </a:p>
          <a:p>
            <a:pPr algn="l"/>
            <a:endParaRPr lang="en-ZA" sz="3200" i="1" dirty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G =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/R =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1/10000 = 100 S</a:t>
            </a:r>
          </a:p>
          <a:p>
            <a:pPr algn="l"/>
            <a:endParaRPr lang="en-ZA" sz="3200" i="1" dirty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p = i</a:t>
            </a:r>
            <a:r>
              <a:rPr lang="en-ZA" sz="3200" i="1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R =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(210</a:t>
            </a:r>
            <a:r>
              <a:rPr lang="en-ZA" sz="3200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-3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en-ZA" sz="3200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2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 1010</a:t>
            </a:r>
            <a:r>
              <a:rPr lang="en-ZA" sz="3200" baseline="300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3</a:t>
            </a:r>
            <a:endParaRPr lang="en-ZA" sz="3200" dirty="0" smtClean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3200" dirty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            = 40 </a:t>
            </a:r>
            <a:r>
              <a:rPr lang="en-ZA" sz="3200" dirty="0" err="1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mW</a:t>
            </a:r>
            <a:endParaRPr lang="en-ZA" sz="3200" dirty="0" smtClean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ZA" sz="3200" dirty="0">
                <a:solidFill>
                  <a:srgbClr val="FF3300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o</a:t>
            </a:r>
            <a:r>
              <a:rPr lang="en-ZA" sz="3200" dirty="0" smtClean="0">
                <a:solidFill>
                  <a:srgbClr val="FF3300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r:</a:t>
            </a:r>
            <a:endParaRPr lang="en-ZA" sz="3200" dirty="0">
              <a:solidFill>
                <a:srgbClr val="FF3300"/>
              </a:solidFill>
              <a:effectLst/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3200" i="1" dirty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p </a:t>
            </a:r>
            <a:r>
              <a:rPr lang="en-ZA" sz="3200" i="1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= +vi =</a:t>
            </a:r>
            <a:r>
              <a:rPr lang="en-ZA" sz="3200" dirty="0" smtClean="0">
                <a:solidFill>
                  <a:srgbClr val="080808"/>
                </a:solidFill>
                <a:effectLst/>
                <a:latin typeface="Times New Roman" pitchFamily="18" charset="0"/>
                <a:cs typeface="Times New Roman" pitchFamily="18" charset="0"/>
                <a:sym typeface="Symbol"/>
              </a:rPr>
              <a:t>20  0.002 = 0.04 W</a:t>
            </a:r>
            <a:endParaRPr lang="en-ZA" sz="3200" dirty="0">
              <a:solidFill>
                <a:srgbClr val="080808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4914900" y="3124200"/>
            <a:ext cx="990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7279581" y="3962400"/>
            <a:ext cx="134530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5410200" y="5334000"/>
            <a:ext cx="144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7383151" y="6172200"/>
            <a:ext cx="144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Group 3"/>
          <p:cNvGrpSpPr/>
          <p:nvPr/>
        </p:nvGrpSpPr>
        <p:grpSpPr>
          <a:xfrm>
            <a:off x="5589431" y="2226972"/>
            <a:ext cx="2234819" cy="451834"/>
            <a:chOff x="5589431" y="2226972"/>
            <a:chExt cx="2234819" cy="451834"/>
          </a:xfrm>
        </p:grpSpPr>
        <p:cxnSp>
          <p:nvCxnSpPr>
            <p:cNvPr id="3" name="Straight Connector 2"/>
            <p:cNvCxnSpPr/>
            <p:nvPr/>
          </p:nvCxnSpPr>
          <p:spPr bwMode="auto">
            <a:xfrm flipV="1">
              <a:off x="5589431" y="2226972"/>
              <a:ext cx="544669" cy="45183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Straight Connector 12"/>
            <p:cNvCxnSpPr/>
            <p:nvPr/>
          </p:nvCxnSpPr>
          <p:spPr bwMode="auto">
            <a:xfrm flipV="1">
              <a:off x="7279581" y="2226972"/>
              <a:ext cx="544669" cy="45183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038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C6A-D79B-418A-AA9D-C6F9852DA175}" type="slidenum">
              <a:rPr lang="en-US"/>
              <a:pPr/>
              <a:t>12</a:t>
            </a:fld>
            <a:endParaRPr 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-16099" y="228600"/>
            <a:ext cx="9143999" cy="731838"/>
          </a:xfrm>
        </p:spPr>
        <p:txBody>
          <a:bodyPr/>
          <a:lstStyle/>
          <a:p>
            <a:r>
              <a:rPr lang="en-US" sz="4000" dirty="0" smtClean="0"/>
              <a:t>2.3 </a:t>
            </a:r>
            <a:r>
              <a:rPr lang="en-US" sz="4000" dirty="0"/>
              <a:t>Nodes, Branches and </a:t>
            </a:r>
            <a:r>
              <a:rPr lang="en-US" sz="4000" dirty="0" smtClean="0"/>
              <a:t>Loops</a:t>
            </a:r>
            <a:endParaRPr lang="en-US" sz="4000" dirty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3962400"/>
          </a:xfrm>
        </p:spPr>
        <p:txBody>
          <a:bodyPr/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rgbClr val="FF3300"/>
                </a:solidFill>
              </a:rPr>
              <a:t>branch</a:t>
            </a:r>
            <a:r>
              <a:rPr lang="en-US" sz="2400" dirty="0"/>
              <a:t> represents a single element such as a voltage source or a resistor. </a:t>
            </a:r>
          </a:p>
          <a:p>
            <a:r>
              <a:rPr lang="en-US" sz="2400" dirty="0"/>
              <a:t>A </a:t>
            </a:r>
            <a:r>
              <a:rPr lang="en-US" sz="2400" dirty="0">
                <a:solidFill>
                  <a:srgbClr val="FF3300"/>
                </a:solidFill>
              </a:rPr>
              <a:t>node</a:t>
            </a:r>
            <a:r>
              <a:rPr lang="en-US" sz="2400" dirty="0"/>
              <a:t> is the point of connection between two   or more branches. </a:t>
            </a:r>
          </a:p>
          <a:p>
            <a:r>
              <a:rPr lang="en-US" sz="2400" dirty="0"/>
              <a:t>A </a:t>
            </a:r>
            <a:r>
              <a:rPr lang="en-US" sz="2400" dirty="0">
                <a:solidFill>
                  <a:srgbClr val="FF3300"/>
                </a:solidFill>
              </a:rPr>
              <a:t>loop</a:t>
            </a:r>
            <a:r>
              <a:rPr lang="en-US" sz="2400" dirty="0"/>
              <a:t> is any closed path in a circuit.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8" name="Picture 3" descr="ale29559_0201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" t="9101" r="1782"/>
          <a:stretch/>
        </p:blipFill>
        <p:spPr bwMode="auto">
          <a:xfrm>
            <a:off x="1600200" y="3338513"/>
            <a:ext cx="5598017" cy="2996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3" descr="ale29559_0201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" t="9101" r="1782"/>
          <a:stretch/>
        </p:blipFill>
        <p:spPr bwMode="auto">
          <a:xfrm>
            <a:off x="990599" y="2590800"/>
            <a:ext cx="6833323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-16099" y="228600"/>
            <a:ext cx="9143999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2.3 Nodes, Branches and Loops</a:t>
            </a:r>
          </a:p>
          <a:p>
            <a:r>
              <a:rPr lang="en-US" sz="4000" dirty="0" smtClean="0">
                <a:solidFill>
                  <a:srgbClr val="FF3300"/>
                </a:solidFill>
              </a:rPr>
              <a:t>BRANCHES</a:t>
            </a:r>
          </a:p>
          <a:p>
            <a:r>
              <a:rPr lang="en-US" sz="2000" dirty="0" smtClean="0"/>
              <a:t>“A </a:t>
            </a:r>
            <a:r>
              <a:rPr lang="en-US" sz="2000" dirty="0"/>
              <a:t>single element such as a voltage source or a </a:t>
            </a:r>
            <a:r>
              <a:rPr lang="en-US" sz="2000" dirty="0" smtClean="0"/>
              <a:t>resistor.”</a:t>
            </a:r>
            <a:endParaRPr lang="en-US" sz="2000" dirty="0">
              <a:solidFill>
                <a:srgbClr val="FF3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51661" y="1727099"/>
            <a:ext cx="431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How many branches?  </a:t>
            </a:r>
            <a:endParaRPr lang="en-ZA" sz="2400" b="1" dirty="0">
              <a:solidFill>
                <a:srgbClr val="FF33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1496266"/>
            <a:ext cx="67678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5400" b="1" dirty="0" smtClean="0">
                <a:solidFill>
                  <a:srgbClr val="FF3300"/>
                </a:solidFill>
              </a:rPr>
              <a:t>5</a:t>
            </a:r>
            <a:endParaRPr lang="en-ZA" sz="5400" dirty="0"/>
          </a:p>
        </p:txBody>
      </p:sp>
    </p:spTree>
    <p:extLst>
      <p:ext uri="{BB962C8B-B14F-4D97-AF65-F5344CB8AC3E}">
        <p14:creationId xmlns:p14="http://schemas.microsoft.com/office/powerpoint/2010/main" val="9974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3" descr="ale29559_0201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" t="9101" r="1782"/>
          <a:stretch/>
        </p:blipFill>
        <p:spPr bwMode="auto">
          <a:xfrm>
            <a:off x="-16099" y="1782091"/>
            <a:ext cx="612152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-16099" y="228600"/>
            <a:ext cx="9143999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2.3 Nodes, Branches and Loops</a:t>
            </a:r>
          </a:p>
          <a:p>
            <a:r>
              <a:rPr lang="en-US" sz="4000" dirty="0" smtClean="0">
                <a:solidFill>
                  <a:srgbClr val="FF3300"/>
                </a:solidFill>
              </a:rPr>
              <a:t>NODES</a:t>
            </a:r>
          </a:p>
          <a:p>
            <a:r>
              <a:rPr lang="en-US" sz="2000" dirty="0" smtClean="0"/>
              <a:t>“The </a:t>
            </a:r>
            <a:r>
              <a:rPr lang="en-US" sz="2000" dirty="0"/>
              <a:t>point of connection between two </a:t>
            </a:r>
            <a:r>
              <a:rPr lang="en-US" sz="2000" dirty="0" smtClean="0"/>
              <a:t>or </a:t>
            </a:r>
            <a:r>
              <a:rPr lang="en-US" sz="2000" u="sng" dirty="0"/>
              <a:t>more</a:t>
            </a:r>
            <a:r>
              <a:rPr lang="en-US" sz="2000" dirty="0"/>
              <a:t> </a:t>
            </a:r>
            <a:r>
              <a:rPr lang="en-US" sz="2000" dirty="0" smtClean="0"/>
              <a:t>branches.”</a:t>
            </a:r>
            <a:endParaRPr lang="en-US" sz="2000" dirty="0">
              <a:solidFill>
                <a:srgbClr val="FF3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81600" y="1608148"/>
            <a:ext cx="4035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dirty="0" smtClean="0"/>
              <a:t>How many nodes?  </a:t>
            </a:r>
            <a:endParaRPr lang="en-ZA" sz="3200" b="1" dirty="0">
              <a:solidFill>
                <a:srgbClr val="FF33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447800" y="4393148"/>
            <a:ext cx="7538475" cy="2302022"/>
            <a:chOff x="1447800" y="4393148"/>
            <a:chExt cx="7538475" cy="2302022"/>
          </a:xfrm>
        </p:grpSpPr>
        <p:pic>
          <p:nvPicPr>
            <p:cNvPr id="8" name="Picture 3" descr="ale29559_020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28" b="414"/>
            <a:stretch>
              <a:fillRect/>
            </a:stretch>
          </p:blipFill>
          <p:spPr bwMode="auto">
            <a:xfrm>
              <a:off x="5257801" y="4393148"/>
              <a:ext cx="3728474" cy="23020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1447800" y="5248141"/>
              <a:ext cx="34289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2400" dirty="0" smtClean="0"/>
                <a:t>Node a:  2 Branches</a:t>
              </a:r>
            </a:p>
            <a:p>
              <a:r>
                <a:rPr lang="en-ZA" sz="2400" dirty="0" smtClean="0"/>
                <a:t>Node b:  4 Branches</a:t>
              </a:r>
            </a:p>
            <a:p>
              <a:r>
                <a:rPr lang="en-ZA" sz="2400" dirty="0" smtClean="0"/>
                <a:t>Node c:  4 Branches</a:t>
              </a:r>
              <a:endParaRPr lang="en-ZA" sz="2400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6861159" y="2238332"/>
            <a:ext cx="67678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5400" b="1" dirty="0">
                <a:solidFill>
                  <a:srgbClr val="FF3300"/>
                </a:solidFill>
              </a:rPr>
              <a:t>3</a:t>
            </a:r>
            <a:endParaRPr lang="en-ZA" sz="5400" dirty="0"/>
          </a:p>
        </p:txBody>
      </p:sp>
    </p:spTree>
    <p:extLst>
      <p:ext uri="{BB962C8B-B14F-4D97-AF65-F5344CB8AC3E}">
        <p14:creationId xmlns:p14="http://schemas.microsoft.com/office/powerpoint/2010/main" val="277985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09800"/>
            <a:ext cx="8029575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-16099" y="228600"/>
            <a:ext cx="9143999" cy="13716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2.3 Nodes, Branches and Loops</a:t>
            </a:r>
          </a:p>
          <a:p>
            <a:r>
              <a:rPr lang="en-US" sz="4000" dirty="0" smtClean="0">
                <a:solidFill>
                  <a:srgbClr val="FF3300"/>
                </a:solidFill>
              </a:rPr>
              <a:t>LOOPS</a:t>
            </a:r>
          </a:p>
          <a:p>
            <a:r>
              <a:rPr lang="en-US" sz="2000" dirty="0" smtClean="0"/>
              <a:t>“Any </a:t>
            </a:r>
            <a:r>
              <a:rPr lang="en-US" sz="2000" dirty="0"/>
              <a:t>closed path in a circuit</a:t>
            </a:r>
            <a:r>
              <a:rPr lang="en-US" sz="2000" dirty="0" smtClean="0"/>
              <a:t>.”</a:t>
            </a:r>
            <a:endParaRPr lang="en-US" sz="2000" dirty="0">
              <a:solidFill>
                <a:srgbClr val="FF3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42290" y="1702671"/>
            <a:ext cx="2929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How many loops?</a:t>
            </a:r>
            <a:endParaRPr lang="en-ZA" sz="2400" b="1" dirty="0">
              <a:solidFill>
                <a:srgbClr val="FF3300"/>
              </a:solidFill>
            </a:endParaRPr>
          </a:p>
        </p:txBody>
      </p:sp>
      <p:sp>
        <p:nvSpPr>
          <p:cNvPr id="2" name="Oval 1"/>
          <p:cNvSpPr/>
          <p:nvPr/>
        </p:nvSpPr>
        <p:spPr bwMode="auto">
          <a:xfrm>
            <a:off x="2332690" y="3200400"/>
            <a:ext cx="1858310" cy="22098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619221" y="3200400"/>
            <a:ext cx="1006700" cy="2209800"/>
          </a:xfrm>
          <a:prstGeom prst="ellipse">
            <a:avLst/>
          </a:prstGeom>
          <a:noFill/>
          <a:ln w="38100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6003700" y="3200400"/>
            <a:ext cx="1006700" cy="2209800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1495021" y="2743200"/>
            <a:ext cx="6248400" cy="3124200"/>
          </a:xfrm>
          <a:prstGeom prst="roundRect">
            <a:avLst>
              <a:gd name="adj" fmla="val 10484"/>
            </a:avLst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2209800" y="3247623"/>
            <a:ext cx="3416121" cy="2391177"/>
          </a:xfrm>
          <a:prstGeom prst="roundRect">
            <a:avLst>
              <a:gd name="adj" fmla="val 10484"/>
            </a:avLst>
          </a:prstGeom>
          <a:noFill/>
          <a:ln w="57150" cap="flat" cmpd="sng" algn="ctr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>
            <a:off x="4555900" y="3048000"/>
            <a:ext cx="2594021" cy="2391177"/>
          </a:xfrm>
          <a:prstGeom prst="roundRect">
            <a:avLst>
              <a:gd name="adj" fmla="val 10484"/>
            </a:avLst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73133" y="1471838"/>
            <a:ext cx="67678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5400" b="1" dirty="0" smtClean="0">
                <a:solidFill>
                  <a:srgbClr val="FF3300"/>
                </a:solidFill>
              </a:rPr>
              <a:t>6</a:t>
            </a:r>
            <a:endParaRPr lang="en-ZA" sz="5400" dirty="0"/>
          </a:p>
        </p:txBody>
      </p:sp>
    </p:spTree>
    <p:extLst>
      <p:ext uri="{BB962C8B-B14F-4D97-AF65-F5344CB8AC3E}">
        <p14:creationId xmlns:p14="http://schemas.microsoft.com/office/powerpoint/2010/main" val="48956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5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2" grpId="0" animBg="1"/>
      <p:bldP spid="13" grpId="0" animBg="1"/>
      <p:bldP spid="14" grpId="0" animBg="1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90800"/>
            <a:ext cx="8029575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-16099" y="76199"/>
            <a:ext cx="9143999" cy="2052935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2.3 Nodes, Branches and Loops</a:t>
            </a:r>
          </a:p>
          <a:p>
            <a:r>
              <a:rPr lang="en-US" sz="4000" dirty="0" smtClean="0">
                <a:solidFill>
                  <a:srgbClr val="FF3300"/>
                </a:solidFill>
              </a:rPr>
              <a:t>INDEPENDENT LOOPS</a:t>
            </a:r>
          </a:p>
          <a:p>
            <a:r>
              <a:rPr lang="en-US" sz="2000" dirty="0" smtClean="0"/>
              <a:t>“A loop that contains at least one branch which is not a part of any other independent loop.”</a:t>
            </a:r>
          </a:p>
          <a:p>
            <a:r>
              <a:rPr lang="en-US" sz="2000" dirty="0" smtClean="0">
                <a:solidFill>
                  <a:srgbClr val="FF3300"/>
                </a:solidFill>
              </a:rPr>
              <a:t>“A loop that cannot be formed by combining / merging any of the other loops.”</a:t>
            </a:r>
            <a:endParaRPr lang="en-US" sz="2000" dirty="0">
              <a:solidFill>
                <a:srgbClr val="FF3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2205335"/>
            <a:ext cx="78486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Independent sets leads to independent equations</a:t>
            </a:r>
            <a:endParaRPr lang="en-ZA" sz="2400" b="1" dirty="0">
              <a:solidFill>
                <a:srgbClr val="FF33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332690" y="3581400"/>
            <a:ext cx="4677710" cy="2209800"/>
            <a:chOff x="2332690" y="3200400"/>
            <a:chExt cx="4677710" cy="2209800"/>
          </a:xfrm>
        </p:grpSpPr>
        <p:sp>
          <p:nvSpPr>
            <p:cNvPr id="2" name="Oval 1"/>
            <p:cNvSpPr/>
            <p:nvPr/>
          </p:nvSpPr>
          <p:spPr bwMode="auto">
            <a:xfrm>
              <a:off x="2332690" y="3200400"/>
              <a:ext cx="1858310" cy="220980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4619221" y="3200400"/>
              <a:ext cx="1006700" cy="2209800"/>
            </a:xfrm>
            <a:prstGeom prst="ellipse">
              <a:avLst/>
            </a:prstGeom>
            <a:noFill/>
            <a:ln w="38100" cap="flat" cmpd="sng" algn="ctr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6003700" y="3200400"/>
              <a:ext cx="1006700" cy="2209800"/>
            </a:xfrm>
            <a:prstGeom prst="ellipse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495021" y="3200400"/>
            <a:ext cx="6248400" cy="3124200"/>
            <a:chOff x="1495021" y="2743200"/>
            <a:chExt cx="6248400" cy="3124200"/>
          </a:xfrm>
        </p:grpSpPr>
        <p:sp>
          <p:nvSpPr>
            <p:cNvPr id="12" name="Rounded Rectangle 11"/>
            <p:cNvSpPr/>
            <p:nvPr/>
          </p:nvSpPr>
          <p:spPr bwMode="auto">
            <a:xfrm>
              <a:off x="1495021" y="2743200"/>
              <a:ext cx="6248400" cy="3124200"/>
            </a:xfrm>
            <a:prstGeom prst="roundRect">
              <a:avLst>
                <a:gd name="adj" fmla="val 10484"/>
              </a:avLst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 bwMode="auto">
            <a:xfrm>
              <a:off x="2209800" y="3247623"/>
              <a:ext cx="3416121" cy="2391177"/>
            </a:xfrm>
            <a:prstGeom prst="roundRect">
              <a:avLst>
                <a:gd name="adj" fmla="val 10484"/>
              </a:avLst>
            </a:prstGeom>
            <a:noFill/>
            <a:ln w="57150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 bwMode="auto">
            <a:xfrm>
              <a:off x="4555900" y="3048000"/>
              <a:ext cx="2594021" cy="2391177"/>
            </a:xfrm>
            <a:prstGeom prst="roundRect">
              <a:avLst>
                <a:gd name="adj" fmla="val 10484"/>
              </a:avLst>
            </a:prstGeom>
            <a:noFill/>
            <a:ln w="5715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128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05100"/>
            <a:ext cx="8029575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-16099" y="228599"/>
            <a:ext cx="9143999" cy="2476501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2.3 Nodes, Branches and Loops</a:t>
            </a:r>
          </a:p>
          <a:p>
            <a:r>
              <a:rPr lang="en-US" sz="3600" dirty="0" smtClean="0">
                <a:solidFill>
                  <a:srgbClr val="FF3300"/>
                </a:solidFill>
              </a:rPr>
              <a:t>When is it NOT an independent set?</a:t>
            </a:r>
          </a:p>
          <a:p>
            <a:endParaRPr lang="en-US" sz="1400" dirty="0" smtClean="0">
              <a:solidFill>
                <a:srgbClr val="FF3300"/>
              </a:solidFill>
            </a:endParaRPr>
          </a:p>
          <a:p>
            <a:r>
              <a:rPr lang="en-US" sz="3200" dirty="0" smtClean="0">
                <a:solidFill>
                  <a:srgbClr val="FF3300"/>
                </a:solidFill>
              </a:rPr>
              <a:t>If any loop can be formed by merging any of the other loops.</a:t>
            </a:r>
            <a:endParaRPr lang="en-US" sz="3200" dirty="0">
              <a:solidFill>
                <a:srgbClr val="FF3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42290" y="2243435"/>
            <a:ext cx="3306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Dependent set 1:</a:t>
            </a:r>
            <a:endParaRPr lang="en-ZA" sz="2400" b="1" dirty="0">
              <a:solidFill>
                <a:srgbClr val="FF3300"/>
              </a:solidFill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619221" y="3657600"/>
            <a:ext cx="1006700" cy="2209800"/>
          </a:xfrm>
          <a:prstGeom prst="ellipse">
            <a:avLst/>
          </a:prstGeom>
          <a:noFill/>
          <a:ln w="38100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495021" y="3276600"/>
            <a:ext cx="6248400" cy="3124200"/>
            <a:chOff x="1495021" y="3276600"/>
            <a:chExt cx="6248400" cy="3124200"/>
          </a:xfrm>
        </p:grpSpPr>
        <p:sp>
          <p:nvSpPr>
            <p:cNvPr id="2" name="Oval 1"/>
            <p:cNvSpPr/>
            <p:nvPr/>
          </p:nvSpPr>
          <p:spPr bwMode="auto">
            <a:xfrm>
              <a:off x="2332690" y="3657600"/>
              <a:ext cx="1858310" cy="220980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6003700" y="3657600"/>
              <a:ext cx="1006700" cy="2209800"/>
            </a:xfrm>
            <a:prstGeom prst="ellipse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 bwMode="auto">
            <a:xfrm>
              <a:off x="1495021" y="3276600"/>
              <a:ext cx="6248400" cy="3124200"/>
            </a:xfrm>
            <a:prstGeom prst="roundRect">
              <a:avLst>
                <a:gd name="adj" fmla="val 10484"/>
              </a:avLst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949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05100"/>
            <a:ext cx="8029575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942290" y="2243435"/>
            <a:ext cx="3306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Dependent set 2:</a:t>
            </a:r>
            <a:endParaRPr lang="en-ZA" sz="2400" b="1" dirty="0">
              <a:solidFill>
                <a:srgbClr val="FF3300"/>
              </a:solidFill>
            </a:endParaRPr>
          </a:p>
        </p:txBody>
      </p:sp>
      <p:sp>
        <p:nvSpPr>
          <p:cNvPr id="2" name="Oval 1"/>
          <p:cNvSpPr/>
          <p:nvPr/>
        </p:nvSpPr>
        <p:spPr bwMode="auto">
          <a:xfrm>
            <a:off x="2332690" y="3657600"/>
            <a:ext cx="1858310" cy="22098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619221" y="3657600"/>
            <a:ext cx="1006700" cy="2209800"/>
          </a:xfrm>
          <a:prstGeom prst="ellipse">
            <a:avLst/>
          </a:prstGeom>
          <a:noFill/>
          <a:ln w="38100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2298879" y="3628623"/>
            <a:ext cx="3416121" cy="2391177"/>
          </a:xfrm>
          <a:prstGeom prst="roundRect">
            <a:avLst>
              <a:gd name="adj" fmla="val 10484"/>
            </a:avLst>
          </a:prstGeom>
          <a:noFill/>
          <a:ln w="57150" cap="flat" cmpd="sng" algn="ctr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-16099" y="228599"/>
            <a:ext cx="9143999" cy="2476501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2.3 Nodes, Branches and Loops</a:t>
            </a:r>
          </a:p>
          <a:p>
            <a:r>
              <a:rPr lang="en-US" sz="3600" dirty="0" smtClean="0">
                <a:solidFill>
                  <a:srgbClr val="FF3300"/>
                </a:solidFill>
              </a:rPr>
              <a:t>When is it NOT independent?</a:t>
            </a:r>
          </a:p>
          <a:p>
            <a:endParaRPr lang="en-US" sz="1400" dirty="0" smtClean="0">
              <a:solidFill>
                <a:srgbClr val="FF3300"/>
              </a:solidFill>
            </a:endParaRPr>
          </a:p>
          <a:p>
            <a:r>
              <a:rPr lang="en-US" sz="3200" dirty="0" smtClean="0">
                <a:solidFill>
                  <a:srgbClr val="FF3300"/>
                </a:solidFill>
              </a:rPr>
              <a:t>If any loop can be formed by merging any of the other loops.</a:t>
            </a:r>
            <a:endParaRPr lang="en-US" sz="3200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5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05100"/>
            <a:ext cx="8029575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942290" y="2243435"/>
            <a:ext cx="3306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Dependent set 3:</a:t>
            </a:r>
            <a:endParaRPr lang="en-ZA" sz="2400" b="1" dirty="0">
              <a:solidFill>
                <a:srgbClr val="FF3300"/>
              </a:solidFill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6003700" y="3657600"/>
            <a:ext cx="1006700" cy="2209800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1495021" y="3276600"/>
            <a:ext cx="6248400" cy="3124200"/>
          </a:xfrm>
          <a:prstGeom prst="roundRect">
            <a:avLst>
              <a:gd name="adj" fmla="val 10484"/>
            </a:avLst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2209800" y="3781023"/>
            <a:ext cx="3416121" cy="2391177"/>
          </a:xfrm>
          <a:prstGeom prst="roundRect">
            <a:avLst>
              <a:gd name="adj" fmla="val 10484"/>
            </a:avLst>
          </a:prstGeom>
          <a:noFill/>
          <a:ln w="57150" cap="flat" cmpd="sng" algn="ctr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-16099" y="228599"/>
            <a:ext cx="9143999" cy="2476501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2.3 Nodes, Branches and Loops</a:t>
            </a:r>
          </a:p>
          <a:p>
            <a:r>
              <a:rPr lang="en-US" sz="3600" dirty="0" smtClean="0">
                <a:solidFill>
                  <a:srgbClr val="FF3300"/>
                </a:solidFill>
              </a:rPr>
              <a:t>When is it NOT independent?</a:t>
            </a:r>
          </a:p>
          <a:p>
            <a:endParaRPr lang="en-US" sz="1400" dirty="0" smtClean="0">
              <a:solidFill>
                <a:srgbClr val="FF3300"/>
              </a:solidFill>
            </a:endParaRPr>
          </a:p>
          <a:p>
            <a:r>
              <a:rPr lang="en-US" sz="3200" dirty="0" smtClean="0">
                <a:solidFill>
                  <a:srgbClr val="FF3300"/>
                </a:solidFill>
              </a:rPr>
              <a:t>If any loop can be formed by merging any of the other loops.</a:t>
            </a:r>
            <a:endParaRPr lang="en-US" sz="3200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5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69700" y="1600200"/>
            <a:ext cx="7772400" cy="830997"/>
          </a:xfrm>
          <a:prstGeom prst="rect">
            <a:avLst/>
          </a:prstGeom>
          <a:ln>
            <a:solidFill>
              <a:srgbClr val="080808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network with </a:t>
            </a:r>
            <a:r>
              <a:rPr lang="en-US" sz="2400" i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branches, </a:t>
            </a:r>
            <a:r>
              <a:rPr lang="en-US" sz="2400" i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nodes, and </a:t>
            </a:r>
            <a:r>
              <a:rPr lang="en-US" sz="2400" i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u="sng" dirty="0">
                <a:latin typeface="Times New Roman" pitchFamily="18" charset="0"/>
                <a:cs typeface="Times New Roman" pitchFamily="18" charset="0"/>
              </a:rPr>
              <a:t>independent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loops will satisfy the fundamental theorem of network topology:</a:t>
            </a:r>
            <a:endParaRPr lang="en-Z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-16099" y="228599"/>
            <a:ext cx="9143999" cy="2476501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2.3 Nodes, Branches and Loops</a:t>
            </a:r>
          </a:p>
          <a:p>
            <a:r>
              <a:rPr lang="en-US" sz="3600" dirty="0" smtClean="0">
                <a:solidFill>
                  <a:srgbClr val="FF3300"/>
                </a:solidFill>
              </a:rPr>
              <a:t>Fundamental theorem of network topology</a:t>
            </a:r>
            <a:endParaRPr lang="en-US" sz="3200" dirty="0">
              <a:solidFill>
                <a:srgbClr val="FF33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82259" y="2630269"/>
                <a:ext cx="2947282" cy="646331"/>
              </a:xfrm>
              <a:prstGeom prst="rect">
                <a:avLst/>
              </a:prstGeom>
              <a:noFill/>
              <a:ln>
                <a:solidFill>
                  <a:srgbClr val="FF33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𝑏</m:t>
                      </m:r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𝑙</m:t>
                      </m:r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𝑛</m:t>
                      </m:r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ZA" sz="3600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259" y="2630269"/>
                <a:ext cx="2947282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FF33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133599" y="3405233"/>
            <a:ext cx="5207441" cy="830997"/>
          </a:xfrm>
          <a:prstGeom prst="rect">
            <a:avLst/>
          </a:prstGeom>
          <a:ln>
            <a:solidFill>
              <a:srgbClr val="08080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 branches = #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-loops + # nodes - 1 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5        =         3         +       3      - 1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419" y="4343399"/>
            <a:ext cx="4495800" cy="2367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018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-16099" y="228600"/>
            <a:ext cx="9143999" cy="123825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2.3 Nodes, Branches and Loops</a:t>
            </a:r>
          </a:p>
          <a:p>
            <a:r>
              <a:rPr lang="en-US" b="1" dirty="0" smtClean="0">
                <a:solidFill>
                  <a:srgbClr val="FF3300"/>
                </a:solidFill>
              </a:rPr>
              <a:t>Series and Parallel</a:t>
            </a:r>
            <a:endParaRPr lang="en-US" sz="4000" b="1" dirty="0">
              <a:solidFill>
                <a:srgbClr val="FF33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" y="1371600"/>
            <a:ext cx="8534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u="sng" dirty="0" smtClean="0">
                <a:solidFill>
                  <a:srgbClr val="FF0000"/>
                </a:solidFill>
              </a:rPr>
              <a:t>SERIES</a:t>
            </a:r>
          </a:p>
          <a:p>
            <a:r>
              <a:rPr lang="en-ZA" sz="2000" dirty="0" smtClean="0"/>
              <a:t>Two (2) elements are in series if: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ZA" sz="2000" dirty="0" smtClean="0"/>
              <a:t>They exclusively share a single node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ZA" sz="2000" dirty="0" smtClean="0">
                <a:sym typeface="Symbol"/>
              </a:rPr>
              <a:t> carry the </a:t>
            </a:r>
            <a:r>
              <a:rPr lang="en-ZA" sz="2000" b="1" dirty="0" smtClean="0">
                <a:solidFill>
                  <a:srgbClr val="FF0000"/>
                </a:solidFill>
                <a:sym typeface="Symbol"/>
              </a:rPr>
              <a:t>same current</a:t>
            </a:r>
            <a:r>
              <a:rPr lang="en-ZA" sz="2000" dirty="0" smtClean="0">
                <a:sym typeface="Symbol"/>
              </a:rPr>
              <a:t>.</a:t>
            </a:r>
          </a:p>
          <a:p>
            <a:endParaRPr lang="en-ZA" sz="2000" dirty="0">
              <a:sym typeface="Symbol"/>
            </a:endParaRPr>
          </a:p>
          <a:p>
            <a:r>
              <a:rPr lang="en-ZA" sz="2000" b="1" u="sng" dirty="0" smtClean="0">
                <a:solidFill>
                  <a:srgbClr val="00B050"/>
                </a:solidFill>
                <a:sym typeface="Symbol"/>
              </a:rPr>
              <a:t>PARALLEL</a:t>
            </a:r>
          </a:p>
          <a:p>
            <a:r>
              <a:rPr lang="en-ZA" sz="2000" dirty="0" smtClean="0">
                <a:sym typeface="Symbol"/>
              </a:rPr>
              <a:t>Two or more elements are in parallel if: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ZA" sz="2000" dirty="0" smtClean="0">
                <a:sym typeface="Symbol"/>
              </a:rPr>
              <a:t>They are connected to the same two nodes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ZA" sz="2000" dirty="0">
                <a:sym typeface="Symbol"/>
              </a:rPr>
              <a:t> </a:t>
            </a:r>
            <a:r>
              <a:rPr lang="en-ZA" sz="2000" dirty="0" smtClean="0">
                <a:sym typeface="Symbol"/>
              </a:rPr>
              <a:t>have the </a:t>
            </a:r>
            <a:r>
              <a:rPr lang="en-ZA" sz="2000" b="1" dirty="0" smtClean="0">
                <a:solidFill>
                  <a:srgbClr val="FF0000"/>
                </a:solidFill>
                <a:sym typeface="Symbol"/>
              </a:rPr>
              <a:t>same voltage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1" t="11902" r="9720" b="10062"/>
          <a:stretch/>
        </p:blipFill>
        <p:spPr bwMode="auto">
          <a:xfrm>
            <a:off x="2176462" y="4343400"/>
            <a:ext cx="4556847" cy="236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reeform 5"/>
          <p:cNvSpPr/>
          <p:nvPr/>
        </p:nvSpPr>
        <p:spPr>
          <a:xfrm>
            <a:off x="2096137" y="4212501"/>
            <a:ext cx="1852347" cy="2039972"/>
          </a:xfrm>
          <a:custGeom>
            <a:avLst/>
            <a:gdLst>
              <a:gd name="connsiteX0" fmla="*/ 1777285 w 1931831"/>
              <a:gd name="connsiteY0" fmla="*/ 540912 h 1828800"/>
              <a:gd name="connsiteX1" fmla="*/ 1764406 w 1931831"/>
              <a:gd name="connsiteY1" fmla="*/ 12879 h 1828800"/>
              <a:gd name="connsiteX2" fmla="*/ 0 w 1931831"/>
              <a:gd name="connsiteY2" fmla="*/ 0 h 1828800"/>
              <a:gd name="connsiteX3" fmla="*/ 64395 w 1931831"/>
              <a:gd name="connsiteY3" fmla="*/ 1828800 h 1828800"/>
              <a:gd name="connsiteX4" fmla="*/ 837127 w 1931831"/>
              <a:gd name="connsiteY4" fmla="*/ 1815921 h 1828800"/>
              <a:gd name="connsiteX5" fmla="*/ 798491 w 1931831"/>
              <a:gd name="connsiteY5" fmla="*/ 643943 h 1828800"/>
              <a:gd name="connsiteX6" fmla="*/ 1906074 w 1931831"/>
              <a:gd name="connsiteY6" fmla="*/ 618186 h 1828800"/>
              <a:gd name="connsiteX7" fmla="*/ 1931831 w 1931831"/>
              <a:gd name="connsiteY7" fmla="*/ 656822 h 1828800"/>
              <a:gd name="connsiteX0" fmla="*/ 1777285 w 1906074"/>
              <a:gd name="connsiteY0" fmla="*/ 540912 h 1828800"/>
              <a:gd name="connsiteX1" fmla="*/ 1764406 w 1906074"/>
              <a:gd name="connsiteY1" fmla="*/ 12879 h 1828800"/>
              <a:gd name="connsiteX2" fmla="*/ 0 w 1906074"/>
              <a:gd name="connsiteY2" fmla="*/ 0 h 1828800"/>
              <a:gd name="connsiteX3" fmla="*/ 64395 w 1906074"/>
              <a:gd name="connsiteY3" fmla="*/ 1828800 h 1828800"/>
              <a:gd name="connsiteX4" fmla="*/ 837127 w 1906074"/>
              <a:gd name="connsiteY4" fmla="*/ 1815921 h 1828800"/>
              <a:gd name="connsiteX5" fmla="*/ 798491 w 1906074"/>
              <a:gd name="connsiteY5" fmla="*/ 643943 h 1828800"/>
              <a:gd name="connsiteX6" fmla="*/ 1906074 w 1906074"/>
              <a:gd name="connsiteY6" fmla="*/ 618186 h 1828800"/>
              <a:gd name="connsiteX7" fmla="*/ 1764191 w 1906074"/>
              <a:gd name="connsiteY7" fmla="*/ 519662 h 1828800"/>
              <a:gd name="connsiteX0" fmla="*/ 1829672 w 1906074"/>
              <a:gd name="connsiteY0" fmla="*/ 536149 h 1828800"/>
              <a:gd name="connsiteX1" fmla="*/ 1764406 w 1906074"/>
              <a:gd name="connsiteY1" fmla="*/ 12879 h 1828800"/>
              <a:gd name="connsiteX2" fmla="*/ 0 w 1906074"/>
              <a:gd name="connsiteY2" fmla="*/ 0 h 1828800"/>
              <a:gd name="connsiteX3" fmla="*/ 64395 w 1906074"/>
              <a:gd name="connsiteY3" fmla="*/ 1828800 h 1828800"/>
              <a:gd name="connsiteX4" fmla="*/ 837127 w 1906074"/>
              <a:gd name="connsiteY4" fmla="*/ 1815921 h 1828800"/>
              <a:gd name="connsiteX5" fmla="*/ 798491 w 1906074"/>
              <a:gd name="connsiteY5" fmla="*/ 643943 h 1828800"/>
              <a:gd name="connsiteX6" fmla="*/ 1906074 w 1906074"/>
              <a:gd name="connsiteY6" fmla="*/ 618186 h 1828800"/>
              <a:gd name="connsiteX7" fmla="*/ 1764191 w 1906074"/>
              <a:gd name="connsiteY7" fmla="*/ 519662 h 1828800"/>
              <a:gd name="connsiteX0" fmla="*/ 1829672 w 1906074"/>
              <a:gd name="connsiteY0" fmla="*/ 536149 h 1828800"/>
              <a:gd name="connsiteX1" fmla="*/ 1764406 w 1906074"/>
              <a:gd name="connsiteY1" fmla="*/ 12879 h 1828800"/>
              <a:gd name="connsiteX2" fmla="*/ 0 w 1906074"/>
              <a:gd name="connsiteY2" fmla="*/ 0 h 1828800"/>
              <a:gd name="connsiteX3" fmla="*/ 64395 w 1906074"/>
              <a:gd name="connsiteY3" fmla="*/ 1828800 h 1828800"/>
              <a:gd name="connsiteX4" fmla="*/ 837127 w 1906074"/>
              <a:gd name="connsiteY4" fmla="*/ 1815921 h 1828800"/>
              <a:gd name="connsiteX5" fmla="*/ 798491 w 1906074"/>
              <a:gd name="connsiteY5" fmla="*/ 643943 h 1828800"/>
              <a:gd name="connsiteX6" fmla="*/ 1906074 w 1906074"/>
              <a:gd name="connsiteY6" fmla="*/ 618186 h 1828800"/>
              <a:gd name="connsiteX7" fmla="*/ 1828485 w 1906074"/>
              <a:gd name="connsiteY7" fmla="*/ 536331 h 1828800"/>
              <a:gd name="connsiteX0" fmla="*/ 1829672 w 1906074"/>
              <a:gd name="connsiteY0" fmla="*/ 536149 h 1828800"/>
              <a:gd name="connsiteX1" fmla="*/ 1764406 w 1906074"/>
              <a:gd name="connsiteY1" fmla="*/ 12879 h 1828800"/>
              <a:gd name="connsiteX2" fmla="*/ 0 w 1906074"/>
              <a:gd name="connsiteY2" fmla="*/ 0 h 1828800"/>
              <a:gd name="connsiteX3" fmla="*/ 64395 w 1906074"/>
              <a:gd name="connsiteY3" fmla="*/ 1828800 h 1828800"/>
              <a:gd name="connsiteX4" fmla="*/ 837127 w 1906074"/>
              <a:gd name="connsiteY4" fmla="*/ 1815921 h 1828800"/>
              <a:gd name="connsiteX5" fmla="*/ 798491 w 1906074"/>
              <a:gd name="connsiteY5" fmla="*/ 643943 h 1828800"/>
              <a:gd name="connsiteX6" fmla="*/ 1906074 w 1906074"/>
              <a:gd name="connsiteY6" fmla="*/ 618186 h 1828800"/>
              <a:gd name="connsiteX7" fmla="*/ 1883254 w 1906074"/>
              <a:gd name="connsiteY7" fmla="*/ 543475 h 1828800"/>
              <a:gd name="connsiteX0" fmla="*/ 1829672 w 1906074"/>
              <a:gd name="connsiteY0" fmla="*/ 536149 h 1828800"/>
              <a:gd name="connsiteX1" fmla="*/ 1764406 w 1906074"/>
              <a:gd name="connsiteY1" fmla="*/ 12879 h 1828800"/>
              <a:gd name="connsiteX2" fmla="*/ 0 w 1906074"/>
              <a:gd name="connsiteY2" fmla="*/ 0 h 1828800"/>
              <a:gd name="connsiteX3" fmla="*/ 64395 w 1906074"/>
              <a:gd name="connsiteY3" fmla="*/ 1828800 h 1828800"/>
              <a:gd name="connsiteX4" fmla="*/ 837127 w 1906074"/>
              <a:gd name="connsiteY4" fmla="*/ 1815921 h 1828800"/>
              <a:gd name="connsiteX5" fmla="*/ 798491 w 1906074"/>
              <a:gd name="connsiteY5" fmla="*/ 643943 h 1828800"/>
              <a:gd name="connsiteX6" fmla="*/ 1906074 w 1906074"/>
              <a:gd name="connsiteY6" fmla="*/ 618186 h 1828800"/>
              <a:gd name="connsiteX7" fmla="*/ 1833248 w 1906074"/>
              <a:gd name="connsiteY7" fmla="*/ 531568 h 1828800"/>
              <a:gd name="connsiteX0" fmla="*/ 1829672 w 1833248"/>
              <a:gd name="connsiteY0" fmla="*/ 536149 h 1828800"/>
              <a:gd name="connsiteX1" fmla="*/ 1764406 w 1833248"/>
              <a:gd name="connsiteY1" fmla="*/ 12879 h 1828800"/>
              <a:gd name="connsiteX2" fmla="*/ 0 w 1833248"/>
              <a:gd name="connsiteY2" fmla="*/ 0 h 1828800"/>
              <a:gd name="connsiteX3" fmla="*/ 64395 w 1833248"/>
              <a:gd name="connsiteY3" fmla="*/ 1828800 h 1828800"/>
              <a:gd name="connsiteX4" fmla="*/ 837127 w 1833248"/>
              <a:gd name="connsiteY4" fmla="*/ 1815921 h 1828800"/>
              <a:gd name="connsiteX5" fmla="*/ 798491 w 1833248"/>
              <a:gd name="connsiteY5" fmla="*/ 643943 h 1828800"/>
              <a:gd name="connsiteX6" fmla="*/ 1648899 w 1833248"/>
              <a:gd name="connsiteY6" fmla="*/ 541986 h 1828800"/>
              <a:gd name="connsiteX7" fmla="*/ 1833248 w 1833248"/>
              <a:gd name="connsiteY7" fmla="*/ 531568 h 1828800"/>
              <a:gd name="connsiteX0" fmla="*/ 1829672 w 1833248"/>
              <a:gd name="connsiteY0" fmla="*/ 536149 h 1828800"/>
              <a:gd name="connsiteX1" fmla="*/ 1764406 w 1833248"/>
              <a:gd name="connsiteY1" fmla="*/ 12879 h 1828800"/>
              <a:gd name="connsiteX2" fmla="*/ 0 w 1833248"/>
              <a:gd name="connsiteY2" fmla="*/ 0 h 1828800"/>
              <a:gd name="connsiteX3" fmla="*/ 64395 w 1833248"/>
              <a:gd name="connsiteY3" fmla="*/ 1828800 h 1828800"/>
              <a:gd name="connsiteX4" fmla="*/ 837127 w 1833248"/>
              <a:gd name="connsiteY4" fmla="*/ 1815921 h 1828800"/>
              <a:gd name="connsiteX5" fmla="*/ 798491 w 1833248"/>
              <a:gd name="connsiteY5" fmla="*/ 643943 h 1828800"/>
              <a:gd name="connsiteX6" fmla="*/ 1833248 w 1833248"/>
              <a:gd name="connsiteY6" fmla="*/ 531568 h 1828800"/>
              <a:gd name="connsiteX0" fmla="*/ 1829672 w 1833248"/>
              <a:gd name="connsiteY0" fmla="*/ 536149 h 1828800"/>
              <a:gd name="connsiteX1" fmla="*/ 1764406 w 1833248"/>
              <a:gd name="connsiteY1" fmla="*/ 12879 h 1828800"/>
              <a:gd name="connsiteX2" fmla="*/ 0 w 1833248"/>
              <a:gd name="connsiteY2" fmla="*/ 0 h 1828800"/>
              <a:gd name="connsiteX3" fmla="*/ 64395 w 1833248"/>
              <a:gd name="connsiteY3" fmla="*/ 1828800 h 1828800"/>
              <a:gd name="connsiteX4" fmla="*/ 837127 w 1833248"/>
              <a:gd name="connsiteY4" fmla="*/ 1815921 h 1828800"/>
              <a:gd name="connsiteX5" fmla="*/ 798491 w 1833248"/>
              <a:gd name="connsiteY5" fmla="*/ 643943 h 1828800"/>
              <a:gd name="connsiteX6" fmla="*/ 1833248 w 1833248"/>
              <a:gd name="connsiteY6" fmla="*/ 531568 h 1828800"/>
              <a:gd name="connsiteX0" fmla="*/ 1829672 w 1833248"/>
              <a:gd name="connsiteY0" fmla="*/ 536149 h 1828800"/>
              <a:gd name="connsiteX1" fmla="*/ 1764406 w 1833248"/>
              <a:gd name="connsiteY1" fmla="*/ 12879 h 1828800"/>
              <a:gd name="connsiteX2" fmla="*/ 0 w 1833248"/>
              <a:gd name="connsiteY2" fmla="*/ 0 h 1828800"/>
              <a:gd name="connsiteX3" fmla="*/ 64395 w 1833248"/>
              <a:gd name="connsiteY3" fmla="*/ 1828800 h 1828800"/>
              <a:gd name="connsiteX4" fmla="*/ 837127 w 1833248"/>
              <a:gd name="connsiteY4" fmla="*/ 1815921 h 1828800"/>
              <a:gd name="connsiteX5" fmla="*/ 798491 w 1833248"/>
              <a:gd name="connsiteY5" fmla="*/ 643943 h 1828800"/>
              <a:gd name="connsiteX6" fmla="*/ 1833248 w 1833248"/>
              <a:gd name="connsiteY6" fmla="*/ 531568 h 1828800"/>
              <a:gd name="connsiteX0" fmla="*/ 1829672 w 1833248"/>
              <a:gd name="connsiteY0" fmla="*/ 536149 h 2013032"/>
              <a:gd name="connsiteX1" fmla="*/ 1764406 w 1833248"/>
              <a:gd name="connsiteY1" fmla="*/ 12879 h 2013032"/>
              <a:gd name="connsiteX2" fmla="*/ 0 w 1833248"/>
              <a:gd name="connsiteY2" fmla="*/ 0 h 2013032"/>
              <a:gd name="connsiteX3" fmla="*/ 64395 w 1833248"/>
              <a:gd name="connsiteY3" fmla="*/ 1828800 h 2013032"/>
              <a:gd name="connsiteX4" fmla="*/ 837127 w 1833248"/>
              <a:gd name="connsiteY4" fmla="*/ 1815921 h 2013032"/>
              <a:gd name="connsiteX5" fmla="*/ 798491 w 1833248"/>
              <a:gd name="connsiteY5" fmla="*/ 643943 h 2013032"/>
              <a:gd name="connsiteX6" fmla="*/ 1833248 w 1833248"/>
              <a:gd name="connsiteY6" fmla="*/ 531568 h 2013032"/>
              <a:gd name="connsiteX0" fmla="*/ 1970710 w 1974286"/>
              <a:gd name="connsiteY0" fmla="*/ 536149 h 2013032"/>
              <a:gd name="connsiteX1" fmla="*/ 1905444 w 1974286"/>
              <a:gd name="connsiteY1" fmla="*/ 12879 h 2013032"/>
              <a:gd name="connsiteX2" fmla="*/ 141038 w 1974286"/>
              <a:gd name="connsiteY2" fmla="*/ 0 h 2013032"/>
              <a:gd name="connsiteX3" fmla="*/ 205433 w 1974286"/>
              <a:gd name="connsiteY3" fmla="*/ 1828800 h 2013032"/>
              <a:gd name="connsiteX4" fmla="*/ 978165 w 1974286"/>
              <a:gd name="connsiteY4" fmla="*/ 1815921 h 2013032"/>
              <a:gd name="connsiteX5" fmla="*/ 939529 w 1974286"/>
              <a:gd name="connsiteY5" fmla="*/ 643943 h 2013032"/>
              <a:gd name="connsiteX6" fmla="*/ 1974286 w 1974286"/>
              <a:gd name="connsiteY6" fmla="*/ 531568 h 2013032"/>
              <a:gd name="connsiteX0" fmla="*/ 1970710 w 1974286"/>
              <a:gd name="connsiteY0" fmla="*/ 688637 h 2165520"/>
              <a:gd name="connsiteX1" fmla="*/ 1905444 w 1974286"/>
              <a:gd name="connsiteY1" fmla="*/ 165367 h 2165520"/>
              <a:gd name="connsiteX2" fmla="*/ 141038 w 1974286"/>
              <a:gd name="connsiteY2" fmla="*/ 152488 h 2165520"/>
              <a:gd name="connsiteX3" fmla="*/ 205433 w 1974286"/>
              <a:gd name="connsiteY3" fmla="*/ 1981288 h 2165520"/>
              <a:gd name="connsiteX4" fmla="*/ 978165 w 1974286"/>
              <a:gd name="connsiteY4" fmla="*/ 1968409 h 2165520"/>
              <a:gd name="connsiteX5" fmla="*/ 939529 w 1974286"/>
              <a:gd name="connsiteY5" fmla="*/ 796431 h 2165520"/>
              <a:gd name="connsiteX6" fmla="*/ 1974286 w 1974286"/>
              <a:gd name="connsiteY6" fmla="*/ 684056 h 2165520"/>
              <a:gd name="connsiteX0" fmla="*/ 1970710 w 2054367"/>
              <a:gd name="connsiteY0" fmla="*/ 688637 h 2165520"/>
              <a:gd name="connsiteX1" fmla="*/ 1905444 w 2054367"/>
              <a:gd name="connsiteY1" fmla="*/ 165367 h 2165520"/>
              <a:gd name="connsiteX2" fmla="*/ 141038 w 2054367"/>
              <a:gd name="connsiteY2" fmla="*/ 152488 h 2165520"/>
              <a:gd name="connsiteX3" fmla="*/ 205433 w 2054367"/>
              <a:gd name="connsiteY3" fmla="*/ 1981288 h 2165520"/>
              <a:gd name="connsiteX4" fmla="*/ 978165 w 2054367"/>
              <a:gd name="connsiteY4" fmla="*/ 1968409 h 2165520"/>
              <a:gd name="connsiteX5" fmla="*/ 939529 w 2054367"/>
              <a:gd name="connsiteY5" fmla="*/ 796431 h 2165520"/>
              <a:gd name="connsiteX6" fmla="*/ 1974286 w 2054367"/>
              <a:gd name="connsiteY6" fmla="*/ 684056 h 2165520"/>
              <a:gd name="connsiteX0" fmla="*/ 1970710 w 2054367"/>
              <a:gd name="connsiteY0" fmla="*/ 688637 h 2165520"/>
              <a:gd name="connsiteX1" fmla="*/ 1905444 w 2054367"/>
              <a:gd name="connsiteY1" fmla="*/ 165367 h 2165520"/>
              <a:gd name="connsiteX2" fmla="*/ 141038 w 2054367"/>
              <a:gd name="connsiteY2" fmla="*/ 152488 h 2165520"/>
              <a:gd name="connsiteX3" fmla="*/ 205433 w 2054367"/>
              <a:gd name="connsiteY3" fmla="*/ 1981288 h 2165520"/>
              <a:gd name="connsiteX4" fmla="*/ 978165 w 2054367"/>
              <a:gd name="connsiteY4" fmla="*/ 1968409 h 2165520"/>
              <a:gd name="connsiteX5" fmla="*/ 939529 w 2054367"/>
              <a:gd name="connsiteY5" fmla="*/ 796431 h 2165520"/>
              <a:gd name="connsiteX6" fmla="*/ 1626624 w 2054367"/>
              <a:gd name="connsiteY6" fmla="*/ 669768 h 2165520"/>
              <a:gd name="connsiteX0" fmla="*/ 1789735 w 2013036"/>
              <a:gd name="connsiteY0" fmla="*/ 707687 h 2165520"/>
              <a:gd name="connsiteX1" fmla="*/ 1905444 w 2013036"/>
              <a:gd name="connsiteY1" fmla="*/ 165367 h 2165520"/>
              <a:gd name="connsiteX2" fmla="*/ 141038 w 2013036"/>
              <a:gd name="connsiteY2" fmla="*/ 152488 h 2165520"/>
              <a:gd name="connsiteX3" fmla="*/ 205433 w 2013036"/>
              <a:gd name="connsiteY3" fmla="*/ 1981288 h 2165520"/>
              <a:gd name="connsiteX4" fmla="*/ 978165 w 2013036"/>
              <a:gd name="connsiteY4" fmla="*/ 1968409 h 2165520"/>
              <a:gd name="connsiteX5" fmla="*/ 939529 w 2013036"/>
              <a:gd name="connsiteY5" fmla="*/ 796431 h 2165520"/>
              <a:gd name="connsiteX6" fmla="*/ 1626624 w 2013036"/>
              <a:gd name="connsiteY6" fmla="*/ 669768 h 2165520"/>
              <a:gd name="connsiteX0" fmla="*/ 1827835 w 2019723"/>
              <a:gd name="connsiteY0" fmla="*/ 721974 h 2165520"/>
              <a:gd name="connsiteX1" fmla="*/ 1905444 w 2019723"/>
              <a:gd name="connsiteY1" fmla="*/ 165367 h 2165520"/>
              <a:gd name="connsiteX2" fmla="*/ 141038 w 2019723"/>
              <a:gd name="connsiteY2" fmla="*/ 152488 h 2165520"/>
              <a:gd name="connsiteX3" fmla="*/ 205433 w 2019723"/>
              <a:gd name="connsiteY3" fmla="*/ 1981288 h 2165520"/>
              <a:gd name="connsiteX4" fmla="*/ 978165 w 2019723"/>
              <a:gd name="connsiteY4" fmla="*/ 1968409 h 2165520"/>
              <a:gd name="connsiteX5" fmla="*/ 939529 w 2019723"/>
              <a:gd name="connsiteY5" fmla="*/ 796431 h 2165520"/>
              <a:gd name="connsiteX6" fmla="*/ 1626624 w 2019723"/>
              <a:gd name="connsiteY6" fmla="*/ 669768 h 2165520"/>
              <a:gd name="connsiteX0" fmla="*/ 1618285 w 1990590"/>
              <a:gd name="connsiteY0" fmla="*/ 674349 h 2165520"/>
              <a:gd name="connsiteX1" fmla="*/ 1905444 w 1990590"/>
              <a:gd name="connsiteY1" fmla="*/ 165367 h 2165520"/>
              <a:gd name="connsiteX2" fmla="*/ 141038 w 1990590"/>
              <a:gd name="connsiteY2" fmla="*/ 152488 h 2165520"/>
              <a:gd name="connsiteX3" fmla="*/ 205433 w 1990590"/>
              <a:gd name="connsiteY3" fmla="*/ 1981288 h 2165520"/>
              <a:gd name="connsiteX4" fmla="*/ 978165 w 1990590"/>
              <a:gd name="connsiteY4" fmla="*/ 1968409 h 2165520"/>
              <a:gd name="connsiteX5" fmla="*/ 939529 w 1990590"/>
              <a:gd name="connsiteY5" fmla="*/ 796431 h 2165520"/>
              <a:gd name="connsiteX6" fmla="*/ 1626624 w 1990590"/>
              <a:gd name="connsiteY6" fmla="*/ 669768 h 2165520"/>
              <a:gd name="connsiteX0" fmla="*/ 1618285 w 1990590"/>
              <a:gd name="connsiteY0" fmla="*/ 674349 h 2165520"/>
              <a:gd name="connsiteX1" fmla="*/ 1905444 w 1990590"/>
              <a:gd name="connsiteY1" fmla="*/ 165367 h 2165520"/>
              <a:gd name="connsiteX2" fmla="*/ 141038 w 1990590"/>
              <a:gd name="connsiteY2" fmla="*/ 152488 h 2165520"/>
              <a:gd name="connsiteX3" fmla="*/ 205433 w 1990590"/>
              <a:gd name="connsiteY3" fmla="*/ 1981288 h 2165520"/>
              <a:gd name="connsiteX4" fmla="*/ 978165 w 1990590"/>
              <a:gd name="connsiteY4" fmla="*/ 1968409 h 2165520"/>
              <a:gd name="connsiteX5" fmla="*/ 939529 w 1990590"/>
              <a:gd name="connsiteY5" fmla="*/ 796431 h 2165520"/>
              <a:gd name="connsiteX6" fmla="*/ 1690918 w 1990590"/>
              <a:gd name="connsiteY6" fmla="*/ 672149 h 2165520"/>
              <a:gd name="connsiteX0" fmla="*/ 1692103 w 1998997"/>
              <a:gd name="connsiteY0" fmla="*/ 674349 h 2165520"/>
              <a:gd name="connsiteX1" fmla="*/ 1905444 w 1998997"/>
              <a:gd name="connsiteY1" fmla="*/ 165367 h 2165520"/>
              <a:gd name="connsiteX2" fmla="*/ 141038 w 1998997"/>
              <a:gd name="connsiteY2" fmla="*/ 152488 h 2165520"/>
              <a:gd name="connsiteX3" fmla="*/ 205433 w 1998997"/>
              <a:gd name="connsiteY3" fmla="*/ 1981288 h 2165520"/>
              <a:gd name="connsiteX4" fmla="*/ 978165 w 1998997"/>
              <a:gd name="connsiteY4" fmla="*/ 1968409 h 2165520"/>
              <a:gd name="connsiteX5" fmla="*/ 939529 w 1998997"/>
              <a:gd name="connsiteY5" fmla="*/ 796431 h 2165520"/>
              <a:gd name="connsiteX6" fmla="*/ 1690918 w 1998997"/>
              <a:gd name="connsiteY6" fmla="*/ 672149 h 2165520"/>
              <a:gd name="connsiteX0" fmla="*/ 1568743 w 1875637"/>
              <a:gd name="connsiteY0" fmla="*/ 653241 h 2144412"/>
              <a:gd name="connsiteX1" fmla="*/ 1782084 w 1875637"/>
              <a:gd name="connsiteY1" fmla="*/ 144259 h 2144412"/>
              <a:gd name="connsiteX2" fmla="*/ 252628 w 1875637"/>
              <a:gd name="connsiteY2" fmla="*/ 163130 h 2144412"/>
              <a:gd name="connsiteX3" fmla="*/ 82073 w 1875637"/>
              <a:gd name="connsiteY3" fmla="*/ 1960180 h 2144412"/>
              <a:gd name="connsiteX4" fmla="*/ 854805 w 1875637"/>
              <a:gd name="connsiteY4" fmla="*/ 1947301 h 2144412"/>
              <a:gd name="connsiteX5" fmla="*/ 816169 w 1875637"/>
              <a:gd name="connsiteY5" fmla="*/ 775323 h 2144412"/>
              <a:gd name="connsiteX6" fmla="*/ 1567558 w 1875637"/>
              <a:gd name="connsiteY6" fmla="*/ 651041 h 2144412"/>
              <a:gd name="connsiteX0" fmla="*/ 1568743 w 1960314"/>
              <a:gd name="connsiteY0" fmla="*/ 675996 h 2167167"/>
              <a:gd name="connsiteX1" fmla="*/ 1877334 w 1960314"/>
              <a:gd name="connsiteY1" fmla="*/ 109864 h 2167167"/>
              <a:gd name="connsiteX2" fmla="*/ 252628 w 1960314"/>
              <a:gd name="connsiteY2" fmla="*/ 185885 h 2167167"/>
              <a:gd name="connsiteX3" fmla="*/ 82073 w 1960314"/>
              <a:gd name="connsiteY3" fmla="*/ 1982935 h 2167167"/>
              <a:gd name="connsiteX4" fmla="*/ 854805 w 1960314"/>
              <a:gd name="connsiteY4" fmla="*/ 1970056 h 2167167"/>
              <a:gd name="connsiteX5" fmla="*/ 816169 w 1960314"/>
              <a:gd name="connsiteY5" fmla="*/ 798078 h 2167167"/>
              <a:gd name="connsiteX6" fmla="*/ 1567558 w 1960314"/>
              <a:gd name="connsiteY6" fmla="*/ 673796 h 2167167"/>
              <a:gd name="connsiteX0" fmla="*/ 1568743 w 1960314"/>
              <a:gd name="connsiteY0" fmla="*/ 675996 h 2139821"/>
              <a:gd name="connsiteX1" fmla="*/ 1877334 w 1960314"/>
              <a:gd name="connsiteY1" fmla="*/ 109864 h 2139821"/>
              <a:gd name="connsiteX2" fmla="*/ 252628 w 1960314"/>
              <a:gd name="connsiteY2" fmla="*/ 185885 h 2139821"/>
              <a:gd name="connsiteX3" fmla="*/ 82073 w 1960314"/>
              <a:gd name="connsiteY3" fmla="*/ 1982935 h 2139821"/>
              <a:gd name="connsiteX4" fmla="*/ 638905 w 1960314"/>
              <a:gd name="connsiteY4" fmla="*/ 1893856 h 2139821"/>
              <a:gd name="connsiteX5" fmla="*/ 816169 w 1960314"/>
              <a:gd name="connsiteY5" fmla="*/ 798078 h 2139821"/>
              <a:gd name="connsiteX6" fmla="*/ 1567558 w 1960314"/>
              <a:gd name="connsiteY6" fmla="*/ 673796 h 2139821"/>
              <a:gd name="connsiteX0" fmla="*/ 1577461 w 1969032"/>
              <a:gd name="connsiteY0" fmla="*/ 675996 h 2006285"/>
              <a:gd name="connsiteX1" fmla="*/ 1886052 w 1969032"/>
              <a:gd name="connsiteY1" fmla="*/ 109864 h 2006285"/>
              <a:gd name="connsiteX2" fmla="*/ 261346 w 1969032"/>
              <a:gd name="connsiteY2" fmla="*/ 185885 h 2006285"/>
              <a:gd name="connsiteX3" fmla="*/ 78091 w 1969032"/>
              <a:gd name="connsiteY3" fmla="*/ 1722585 h 2006285"/>
              <a:gd name="connsiteX4" fmla="*/ 647623 w 1969032"/>
              <a:gd name="connsiteY4" fmla="*/ 1893856 h 2006285"/>
              <a:gd name="connsiteX5" fmla="*/ 824887 w 1969032"/>
              <a:gd name="connsiteY5" fmla="*/ 798078 h 2006285"/>
              <a:gd name="connsiteX6" fmla="*/ 1576276 w 1969032"/>
              <a:gd name="connsiteY6" fmla="*/ 673796 h 2006285"/>
              <a:gd name="connsiteX0" fmla="*/ 1639811 w 2031382"/>
              <a:gd name="connsiteY0" fmla="*/ 675996 h 2065947"/>
              <a:gd name="connsiteX1" fmla="*/ 1948402 w 2031382"/>
              <a:gd name="connsiteY1" fmla="*/ 109864 h 2065947"/>
              <a:gd name="connsiteX2" fmla="*/ 323696 w 2031382"/>
              <a:gd name="connsiteY2" fmla="*/ 185885 h 2065947"/>
              <a:gd name="connsiteX3" fmla="*/ 57891 w 2031382"/>
              <a:gd name="connsiteY3" fmla="*/ 1862285 h 2065947"/>
              <a:gd name="connsiteX4" fmla="*/ 709973 w 2031382"/>
              <a:gd name="connsiteY4" fmla="*/ 1893856 h 2065947"/>
              <a:gd name="connsiteX5" fmla="*/ 887237 w 2031382"/>
              <a:gd name="connsiteY5" fmla="*/ 798078 h 2065947"/>
              <a:gd name="connsiteX6" fmla="*/ 1638626 w 2031382"/>
              <a:gd name="connsiteY6" fmla="*/ 673796 h 2065947"/>
              <a:gd name="connsiteX0" fmla="*/ 1639811 w 2024811"/>
              <a:gd name="connsiteY0" fmla="*/ 663469 h 2053420"/>
              <a:gd name="connsiteX1" fmla="*/ 1747683 w 2024811"/>
              <a:gd name="connsiteY1" fmla="*/ 484509 h 2053420"/>
              <a:gd name="connsiteX2" fmla="*/ 1948402 w 2024811"/>
              <a:gd name="connsiteY2" fmla="*/ 97337 h 2053420"/>
              <a:gd name="connsiteX3" fmla="*/ 323696 w 2024811"/>
              <a:gd name="connsiteY3" fmla="*/ 173358 h 2053420"/>
              <a:gd name="connsiteX4" fmla="*/ 57891 w 2024811"/>
              <a:gd name="connsiteY4" fmla="*/ 1849758 h 2053420"/>
              <a:gd name="connsiteX5" fmla="*/ 709973 w 2024811"/>
              <a:gd name="connsiteY5" fmla="*/ 1881329 h 2053420"/>
              <a:gd name="connsiteX6" fmla="*/ 887237 w 2024811"/>
              <a:gd name="connsiteY6" fmla="*/ 785551 h 2053420"/>
              <a:gd name="connsiteX7" fmla="*/ 1638626 w 2024811"/>
              <a:gd name="connsiteY7" fmla="*/ 661269 h 2053420"/>
              <a:gd name="connsiteX0" fmla="*/ 1639811 w 2065076"/>
              <a:gd name="connsiteY0" fmla="*/ 663469 h 2053420"/>
              <a:gd name="connsiteX1" fmla="*/ 1944533 w 2065076"/>
              <a:gd name="connsiteY1" fmla="*/ 598809 h 2053420"/>
              <a:gd name="connsiteX2" fmla="*/ 1948402 w 2065076"/>
              <a:gd name="connsiteY2" fmla="*/ 97337 h 2053420"/>
              <a:gd name="connsiteX3" fmla="*/ 323696 w 2065076"/>
              <a:gd name="connsiteY3" fmla="*/ 173358 h 2053420"/>
              <a:gd name="connsiteX4" fmla="*/ 57891 w 2065076"/>
              <a:gd name="connsiteY4" fmla="*/ 1849758 h 2053420"/>
              <a:gd name="connsiteX5" fmla="*/ 709973 w 2065076"/>
              <a:gd name="connsiteY5" fmla="*/ 1881329 h 2053420"/>
              <a:gd name="connsiteX6" fmla="*/ 887237 w 2065076"/>
              <a:gd name="connsiteY6" fmla="*/ 785551 h 2053420"/>
              <a:gd name="connsiteX7" fmla="*/ 1638626 w 2065076"/>
              <a:gd name="connsiteY7" fmla="*/ 661269 h 2053420"/>
              <a:gd name="connsiteX0" fmla="*/ 1639811 w 1985070"/>
              <a:gd name="connsiteY0" fmla="*/ 671521 h 2061472"/>
              <a:gd name="connsiteX1" fmla="*/ 1944533 w 1985070"/>
              <a:gd name="connsiteY1" fmla="*/ 606861 h 2061472"/>
              <a:gd name="connsiteX2" fmla="*/ 1802352 w 1985070"/>
              <a:gd name="connsiteY2" fmla="*/ 86339 h 2061472"/>
              <a:gd name="connsiteX3" fmla="*/ 323696 w 1985070"/>
              <a:gd name="connsiteY3" fmla="*/ 181410 h 2061472"/>
              <a:gd name="connsiteX4" fmla="*/ 57891 w 1985070"/>
              <a:gd name="connsiteY4" fmla="*/ 1857810 h 2061472"/>
              <a:gd name="connsiteX5" fmla="*/ 709973 w 1985070"/>
              <a:gd name="connsiteY5" fmla="*/ 1889381 h 2061472"/>
              <a:gd name="connsiteX6" fmla="*/ 887237 w 1985070"/>
              <a:gd name="connsiteY6" fmla="*/ 793603 h 2061472"/>
              <a:gd name="connsiteX7" fmla="*/ 1638626 w 1985070"/>
              <a:gd name="connsiteY7" fmla="*/ 669321 h 2061472"/>
              <a:gd name="connsiteX0" fmla="*/ 1639811 w 2036449"/>
              <a:gd name="connsiteY0" fmla="*/ 671521 h 2061472"/>
              <a:gd name="connsiteX1" fmla="*/ 2014383 w 2036449"/>
              <a:gd name="connsiteY1" fmla="*/ 537011 h 2061472"/>
              <a:gd name="connsiteX2" fmla="*/ 1802352 w 2036449"/>
              <a:gd name="connsiteY2" fmla="*/ 86339 h 2061472"/>
              <a:gd name="connsiteX3" fmla="*/ 323696 w 2036449"/>
              <a:gd name="connsiteY3" fmla="*/ 181410 h 2061472"/>
              <a:gd name="connsiteX4" fmla="*/ 57891 w 2036449"/>
              <a:gd name="connsiteY4" fmla="*/ 1857810 h 2061472"/>
              <a:gd name="connsiteX5" fmla="*/ 709973 w 2036449"/>
              <a:gd name="connsiteY5" fmla="*/ 1889381 h 2061472"/>
              <a:gd name="connsiteX6" fmla="*/ 887237 w 2036449"/>
              <a:gd name="connsiteY6" fmla="*/ 793603 h 2061472"/>
              <a:gd name="connsiteX7" fmla="*/ 1638626 w 2036449"/>
              <a:gd name="connsiteY7" fmla="*/ 669321 h 2061472"/>
              <a:gd name="connsiteX0" fmla="*/ 1639811 w 2036449"/>
              <a:gd name="connsiteY0" fmla="*/ 671521 h 2061472"/>
              <a:gd name="connsiteX1" fmla="*/ 2014383 w 2036449"/>
              <a:gd name="connsiteY1" fmla="*/ 537011 h 2061472"/>
              <a:gd name="connsiteX2" fmla="*/ 1802352 w 2036449"/>
              <a:gd name="connsiteY2" fmla="*/ 86339 h 2061472"/>
              <a:gd name="connsiteX3" fmla="*/ 323696 w 2036449"/>
              <a:gd name="connsiteY3" fmla="*/ 181410 h 2061472"/>
              <a:gd name="connsiteX4" fmla="*/ 57891 w 2036449"/>
              <a:gd name="connsiteY4" fmla="*/ 1857810 h 2061472"/>
              <a:gd name="connsiteX5" fmla="*/ 709973 w 2036449"/>
              <a:gd name="connsiteY5" fmla="*/ 1889381 h 2061472"/>
              <a:gd name="connsiteX6" fmla="*/ 887237 w 2036449"/>
              <a:gd name="connsiteY6" fmla="*/ 793603 h 2061472"/>
              <a:gd name="connsiteX7" fmla="*/ 1625926 w 2036449"/>
              <a:gd name="connsiteY7" fmla="*/ 631221 h 2061472"/>
              <a:gd name="connsiteX0" fmla="*/ 1620761 w 2036449"/>
              <a:gd name="connsiteY0" fmla="*/ 646121 h 2061472"/>
              <a:gd name="connsiteX1" fmla="*/ 2014383 w 2036449"/>
              <a:gd name="connsiteY1" fmla="*/ 537011 h 2061472"/>
              <a:gd name="connsiteX2" fmla="*/ 1802352 w 2036449"/>
              <a:gd name="connsiteY2" fmla="*/ 86339 h 2061472"/>
              <a:gd name="connsiteX3" fmla="*/ 323696 w 2036449"/>
              <a:gd name="connsiteY3" fmla="*/ 181410 h 2061472"/>
              <a:gd name="connsiteX4" fmla="*/ 57891 w 2036449"/>
              <a:gd name="connsiteY4" fmla="*/ 1857810 h 2061472"/>
              <a:gd name="connsiteX5" fmla="*/ 709973 w 2036449"/>
              <a:gd name="connsiteY5" fmla="*/ 1889381 h 2061472"/>
              <a:gd name="connsiteX6" fmla="*/ 887237 w 2036449"/>
              <a:gd name="connsiteY6" fmla="*/ 793603 h 2061472"/>
              <a:gd name="connsiteX7" fmla="*/ 1625926 w 2036449"/>
              <a:gd name="connsiteY7" fmla="*/ 631221 h 2061472"/>
              <a:gd name="connsiteX0" fmla="*/ 1620761 w 2042660"/>
              <a:gd name="connsiteY0" fmla="*/ 623920 h 2039271"/>
              <a:gd name="connsiteX1" fmla="*/ 2014383 w 2042660"/>
              <a:gd name="connsiteY1" fmla="*/ 514810 h 2039271"/>
              <a:gd name="connsiteX2" fmla="*/ 2017399 w 2042660"/>
              <a:gd name="connsiteY2" fmla="*/ 120674 h 2039271"/>
              <a:gd name="connsiteX3" fmla="*/ 1802352 w 2042660"/>
              <a:gd name="connsiteY3" fmla="*/ 64138 h 2039271"/>
              <a:gd name="connsiteX4" fmla="*/ 323696 w 2042660"/>
              <a:gd name="connsiteY4" fmla="*/ 159209 h 2039271"/>
              <a:gd name="connsiteX5" fmla="*/ 57891 w 2042660"/>
              <a:gd name="connsiteY5" fmla="*/ 1835609 h 2039271"/>
              <a:gd name="connsiteX6" fmla="*/ 709973 w 2042660"/>
              <a:gd name="connsiteY6" fmla="*/ 1867180 h 2039271"/>
              <a:gd name="connsiteX7" fmla="*/ 887237 w 2042660"/>
              <a:gd name="connsiteY7" fmla="*/ 771402 h 2039271"/>
              <a:gd name="connsiteX8" fmla="*/ 1625926 w 2042660"/>
              <a:gd name="connsiteY8" fmla="*/ 609020 h 2039271"/>
              <a:gd name="connsiteX0" fmla="*/ 1620761 w 2035481"/>
              <a:gd name="connsiteY0" fmla="*/ 648676 h 2064027"/>
              <a:gd name="connsiteX1" fmla="*/ 2014383 w 2035481"/>
              <a:gd name="connsiteY1" fmla="*/ 539566 h 2064027"/>
              <a:gd name="connsiteX2" fmla="*/ 1802352 w 2035481"/>
              <a:gd name="connsiteY2" fmla="*/ 88894 h 2064027"/>
              <a:gd name="connsiteX3" fmla="*/ 323696 w 2035481"/>
              <a:gd name="connsiteY3" fmla="*/ 183965 h 2064027"/>
              <a:gd name="connsiteX4" fmla="*/ 57891 w 2035481"/>
              <a:gd name="connsiteY4" fmla="*/ 1860365 h 2064027"/>
              <a:gd name="connsiteX5" fmla="*/ 709973 w 2035481"/>
              <a:gd name="connsiteY5" fmla="*/ 1891936 h 2064027"/>
              <a:gd name="connsiteX6" fmla="*/ 887237 w 2035481"/>
              <a:gd name="connsiteY6" fmla="*/ 796158 h 2064027"/>
              <a:gd name="connsiteX7" fmla="*/ 1625926 w 2035481"/>
              <a:gd name="connsiteY7" fmla="*/ 633776 h 2064027"/>
              <a:gd name="connsiteX0" fmla="*/ 1620761 w 2017851"/>
              <a:gd name="connsiteY0" fmla="*/ 657550 h 2072901"/>
              <a:gd name="connsiteX1" fmla="*/ 2014383 w 2017851"/>
              <a:gd name="connsiteY1" fmla="*/ 548440 h 2072901"/>
              <a:gd name="connsiteX2" fmla="*/ 1592802 w 2017851"/>
              <a:gd name="connsiteY2" fmla="*/ 78718 h 2072901"/>
              <a:gd name="connsiteX3" fmla="*/ 323696 w 2017851"/>
              <a:gd name="connsiteY3" fmla="*/ 192839 h 2072901"/>
              <a:gd name="connsiteX4" fmla="*/ 57891 w 2017851"/>
              <a:gd name="connsiteY4" fmla="*/ 1869239 h 2072901"/>
              <a:gd name="connsiteX5" fmla="*/ 709973 w 2017851"/>
              <a:gd name="connsiteY5" fmla="*/ 1900810 h 2072901"/>
              <a:gd name="connsiteX6" fmla="*/ 887237 w 2017851"/>
              <a:gd name="connsiteY6" fmla="*/ 805032 h 2072901"/>
              <a:gd name="connsiteX7" fmla="*/ 1625926 w 2017851"/>
              <a:gd name="connsiteY7" fmla="*/ 642650 h 2072901"/>
              <a:gd name="connsiteX0" fmla="*/ 1620761 w 1793933"/>
              <a:gd name="connsiteY0" fmla="*/ 657550 h 2072901"/>
              <a:gd name="connsiteX1" fmla="*/ 1757208 w 1793933"/>
              <a:gd name="connsiteY1" fmla="*/ 548440 h 2072901"/>
              <a:gd name="connsiteX2" fmla="*/ 1592802 w 1793933"/>
              <a:gd name="connsiteY2" fmla="*/ 78718 h 2072901"/>
              <a:gd name="connsiteX3" fmla="*/ 323696 w 1793933"/>
              <a:gd name="connsiteY3" fmla="*/ 192839 h 2072901"/>
              <a:gd name="connsiteX4" fmla="*/ 57891 w 1793933"/>
              <a:gd name="connsiteY4" fmla="*/ 1869239 h 2072901"/>
              <a:gd name="connsiteX5" fmla="*/ 709973 w 1793933"/>
              <a:gd name="connsiteY5" fmla="*/ 1900810 h 2072901"/>
              <a:gd name="connsiteX6" fmla="*/ 887237 w 1793933"/>
              <a:gd name="connsiteY6" fmla="*/ 805032 h 2072901"/>
              <a:gd name="connsiteX7" fmla="*/ 1625926 w 1793933"/>
              <a:gd name="connsiteY7" fmla="*/ 642650 h 2072901"/>
              <a:gd name="connsiteX0" fmla="*/ 1620761 w 1793933"/>
              <a:gd name="connsiteY0" fmla="*/ 657550 h 2072901"/>
              <a:gd name="connsiteX1" fmla="*/ 1757208 w 1793933"/>
              <a:gd name="connsiteY1" fmla="*/ 548440 h 2072901"/>
              <a:gd name="connsiteX2" fmla="*/ 1592802 w 1793933"/>
              <a:gd name="connsiteY2" fmla="*/ 78718 h 2072901"/>
              <a:gd name="connsiteX3" fmla="*/ 323696 w 1793933"/>
              <a:gd name="connsiteY3" fmla="*/ 192839 h 2072901"/>
              <a:gd name="connsiteX4" fmla="*/ 57891 w 1793933"/>
              <a:gd name="connsiteY4" fmla="*/ 1869239 h 2072901"/>
              <a:gd name="connsiteX5" fmla="*/ 709973 w 1793933"/>
              <a:gd name="connsiteY5" fmla="*/ 1900810 h 2072901"/>
              <a:gd name="connsiteX6" fmla="*/ 887237 w 1793933"/>
              <a:gd name="connsiteY6" fmla="*/ 805032 h 2072901"/>
              <a:gd name="connsiteX7" fmla="*/ 1321126 w 1793933"/>
              <a:gd name="connsiteY7" fmla="*/ 671225 h 2072901"/>
              <a:gd name="connsiteX0" fmla="*/ 1620761 w 1793933"/>
              <a:gd name="connsiteY0" fmla="*/ 657550 h 2072901"/>
              <a:gd name="connsiteX1" fmla="*/ 1757208 w 1793933"/>
              <a:gd name="connsiteY1" fmla="*/ 548440 h 2072901"/>
              <a:gd name="connsiteX2" fmla="*/ 1592802 w 1793933"/>
              <a:gd name="connsiteY2" fmla="*/ 78718 h 2072901"/>
              <a:gd name="connsiteX3" fmla="*/ 323696 w 1793933"/>
              <a:gd name="connsiteY3" fmla="*/ 192839 h 2072901"/>
              <a:gd name="connsiteX4" fmla="*/ 57891 w 1793933"/>
              <a:gd name="connsiteY4" fmla="*/ 1869239 h 2072901"/>
              <a:gd name="connsiteX5" fmla="*/ 709973 w 1793933"/>
              <a:gd name="connsiteY5" fmla="*/ 1900810 h 2072901"/>
              <a:gd name="connsiteX6" fmla="*/ 887237 w 1793933"/>
              <a:gd name="connsiteY6" fmla="*/ 805032 h 2072901"/>
              <a:gd name="connsiteX7" fmla="*/ 1349701 w 1793933"/>
              <a:gd name="connsiteY7" fmla="*/ 671225 h 2072901"/>
              <a:gd name="connsiteX0" fmla="*/ 1344536 w 1793933"/>
              <a:gd name="connsiteY0" fmla="*/ 686125 h 2072901"/>
              <a:gd name="connsiteX1" fmla="*/ 1757208 w 1793933"/>
              <a:gd name="connsiteY1" fmla="*/ 548440 h 2072901"/>
              <a:gd name="connsiteX2" fmla="*/ 1592802 w 1793933"/>
              <a:gd name="connsiteY2" fmla="*/ 78718 h 2072901"/>
              <a:gd name="connsiteX3" fmla="*/ 323696 w 1793933"/>
              <a:gd name="connsiteY3" fmla="*/ 192839 h 2072901"/>
              <a:gd name="connsiteX4" fmla="*/ 57891 w 1793933"/>
              <a:gd name="connsiteY4" fmla="*/ 1869239 h 2072901"/>
              <a:gd name="connsiteX5" fmla="*/ 709973 w 1793933"/>
              <a:gd name="connsiteY5" fmla="*/ 1900810 h 2072901"/>
              <a:gd name="connsiteX6" fmla="*/ 887237 w 1793933"/>
              <a:gd name="connsiteY6" fmla="*/ 805032 h 2072901"/>
              <a:gd name="connsiteX7" fmla="*/ 1349701 w 1793933"/>
              <a:gd name="connsiteY7" fmla="*/ 671225 h 2072901"/>
              <a:gd name="connsiteX0" fmla="*/ 1402950 w 1852347"/>
              <a:gd name="connsiteY0" fmla="*/ 653196 h 2039972"/>
              <a:gd name="connsiteX1" fmla="*/ 1815622 w 1852347"/>
              <a:gd name="connsiteY1" fmla="*/ 515511 h 2039972"/>
              <a:gd name="connsiteX2" fmla="*/ 1651216 w 1852347"/>
              <a:gd name="connsiteY2" fmla="*/ 45789 h 2039972"/>
              <a:gd name="connsiteX3" fmla="*/ 201135 w 1852347"/>
              <a:gd name="connsiteY3" fmla="*/ 236110 h 2039972"/>
              <a:gd name="connsiteX4" fmla="*/ 116305 w 1852347"/>
              <a:gd name="connsiteY4" fmla="*/ 1836310 h 2039972"/>
              <a:gd name="connsiteX5" fmla="*/ 768387 w 1852347"/>
              <a:gd name="connsiteY5" fmla="*/ 1867881 h 2039972"/>
              <a:gd name="connsiteX6" fmla="*/ 945651 w 1852347"/>
              <a:gd name="connsiteY6" fmla="*/ 772103 h 2039972"/>
              <a:gd name="connsiteX7" fmla="*/ 1408115 w 1852347"/>
              <a:gd name="connsiteY7" fmla="*/ 638296 h 2039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52347" h="2039972">
                <a:moveTo>
                  <a:pt x="1402950" y="653196"/>
                </a:moveTo>
                <a:cubicBezTo>
                  <a:pt x="1420929" y="623369"/>
                  <a:pt x="1764190" y="609866"/>
                  <a:pt x="1815622" y="515511"/>
                </a:cubicBezTo>
                <a:cubicBezTo>
                  <a:pt x="1845887" y="422214"/>
                  <a:pt x="1932997" y="105056"/>
                  <a:pt x="1651216" y="45789"/>
                </a:cubicBezTo>
                <a:cubicBezTo>
                  <a:pt x="1369435" y="-13478"/>
                  <a:pt x="484470" y="-66544"/>
                  <a:pt x="201135" y="236110"/>
                </a:cubicBezTo>
                <a:cubicBezTo>
                  <a:pt x="-82200" y="538764"/>
                  <a:pt x="-23216" y="1533657"/>
                  <a:pt x="116305" y="1836310"/>
                </a:cubicBezTo>
                <a:cubicBezTo>
                  <a:pt x="255826" y="2138963"/>
                  <a:pt x="646038" y="2065357"/>
                  <a:pt x="768387" y="1867881"/>
                </a:cubicBezTo>
                <a:cubicBezTo>
                  <a:pt x="890736" y="1670405"/>
                  <a:pt x="779631" y="986162"/>
                  <a:pt x="945651" y="772103"/>
                </a:cubicBezTo>
                <a:cubicBezTo>
                  <a:pt x="1111671" y="558044"/>
                  <a:pt x="1063196" y="675754"/>
                  <a:pt x="1408115" y="638296"/>
                </a:cubicBezTo>
              </a:path>
            </a:pathLst>
          </a:custGeom>
          <a:ln w="28575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4087091" y="4267200"/>
            <a:ext cx="2542309" cy="2469539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54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81000" y="152400"/>
            <a:ext cx="8243887" cy="28956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2-4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How many branches, nodes and independent loops does the circuit have?</a:t>
            </a:r>
          </a:p>
          <a:p>
            <a:pPr algn="l">
              <a:lnSpc>
                <a:spcPct val="100000"/>
              </a:lnSpc>
            </a:pP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Branches	=</a:t>
            </a:r>
          </a:p>
          <a:p>
            <a:pPr algn="l">
              <a:lnSpc>
                <a:spcPct val="100000"/>
              </a:lnSpc>
            </a:pP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Nodes	=</a:t>
            </a:r>
          </a:p>
          <a:p>
            <a:pPr algn="l">
              <a:lnSpc>
                <a:spcPct val="100000"/>
              </a:lnSpc>
            </a:pP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Loops	=</a:t>
            </a:r>
          </a:p>
        </p:txBody>
      </p:sp>
      <p:pic>
        <p:nvPicPr>
          <p:cNvPr id="4" name="Picture 3" descr="ale29559_0201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029"/>
          <a:stretch/>
        </p:blipFill>
        <p:spPr bwMode="auto">
          <a:xfrm>
            <a:off x="356315" y="3276600"/>
            <a:ext cx="796231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1295400" y="3831465"/>
            <a:ext cx="6019800" cy="2797935"/>
            <a:chOff x="1295400" y="2764665"/>
            <a:chExt cx="6019800" cy="2797935"/>
          </a:xfrm>
        </p:grpSpPr>
        <p:sp>
          <p:nvSpPr>
            <p:cNvPr id="11" name="Oval 10"/>
            <p:cNvSpPr/>
            <p:nvPr/>
          </p:nvSpPr>
          <p:spPr bwMode="auto">
            <a:xfrm>
              <a:off x="1295400" y="2764665"/>
              <a:ext cx="1676400" cy="3048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5638800" y="2764665"/>
              <a:ext cx="1676400" cy="3048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1295400" y="5257800"/>
              <a:ext cx="6019800" cy="3048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5" name="Oval 14"/>
          <p:cNvSpPr/>
          <p:nvPr/>
        </p:nvSpPr>
        <p:spPr bwMode="auto">
          <a:xfrm>
            <a:off x="1600200" y="4267200"/>
            <a:ext cx="1066800" cy="20574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6096000" y="4262907"/>
            <a:ext cx="1066800" cy="2057400"/>
          </a:xfrm>
          <a:prstGeom prst="ellipse">
            <a:avLst/>
          </a:prstGeom>
          <a:noFill/>
          <a:ln w="38100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3276600" y="4267200"/>
            <a:ext cx="1981200" cy="2057400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658414" y="1447800"/>
            <a:ext cx="537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600" b="1" dirty="0" smtClean="0">
                <a:solidFill>
                  <a:srgbClr val="FF3300"/>
                </a:solidFill>
              </a:rPr>
              <a:t>5</a:t>
            </a:r>
            <a:endParaRPr lang="en-ZA" sz="3600" dirty="0"/>
          </a:p>
        </p:txBody>
      </p:sp>
      <p:sp>
        <p:nvSpPr>
          <p:cNvPr id="20" name="Rectangle 19"/>
          <p:cNvSpPr/>
          <p:nvPr/>
        </p:nvSpPr>
        <p:spPr>
          <a:xfrm>
            <a:off x="2658413" y="1929924"/>
            <a:ext cx="537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600" b="1" dirty="0" smtClean="0">
                <a:solidFill>
                  <a:srgbClr val="FF3300"/>
                </a:solidFill>
              </a:rPr>
              <a:t>3</a:t>
            </a:r>
            <a:endParaRPr lang="en-ZA" sz="3600" dirty="0"/>
          </a:p>
        </p:txBody>
      </p:sp>
      <p:sp>
        <p:nvSpPr>
          <p:cNvPr id="21" name="Rectangle 20"/>
          <p:cNvSpPr/>
          <p:nvPr/>
        </p:nvSpPr>
        <p:spPr>
          <a:xfrm>
            <a:off x="2658412" y="2401669"/>
            <a:ext cx="537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600" b="1" dirty="0" smtClean="0">
                <a:solidFill>
                  <a:srgbClr val="FF3300"/>
                </a:solidFill>
              </a:rPr>
              <a:t>3</a:t>
            </a:r>
            <a:endParaRPr lang="en-ZA" sz="36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5219173" y="1669419"/>
            <a:ext cx="3037883" cy="1464500"/>
            <a:chOff x="4350349" y="1622616"/>
            <a:chExt cx="3037883" cy="1464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380427" y="1622616"/>
                  <a:ext cx="2947282" cy="646331"/>
                </a:xfrm>
                <a:prstGeom prst="rect">
                  <a:avLst/>
                </a:prstGeom>
                <a:noFill/>
                <a:ln>
                  <a:solidFill>
                    <a:srgbClr val="FF33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𝑏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𝑙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−1</m:t>
                        </m:r>
                      </m:oMath>
                    </m:oMathPara>
                  </a14:m>
                  <a:endParaRPr lang="en-ZA" sz="3600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0427" y="1622616"/>
                  <a:ext cx="2947282" cy="646331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solidFill>
                    <a:srgbClr val="FF33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350349" y="2440785"/>
                  <a:ext cx="3037883" cy="646331"/>
                </a:xfrm>
                <a:prstGeom prst="rect">
                  <a:avLst/>
                </a:prstGeom>
                <a:noFill/>
                <a:ln>
                  <a:solidFill>
                    <a:srgbClr val="FF33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5=3+3−1</m:t>
                        </m:r>
                      </m:oMath>
                    </m:oMathPara>
                  </a14:m>
                  <a:endParaRPr lang="en-ZA" sz="3600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0349" y="2440785"/>
                  <a:ext cx="3037883" cy="646331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solidFill>
                    <a:srgbClr val="FF33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5288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/>
      <p:bldP spid="20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516600" y="2319629"/>
            <a:ext cx="6400800" cy="4282353"/>
            <a:chOff x="1371600" y="2286000"/>
            <a:chExt cx="6400800" cy="4282353"/>
          </a:xfrm>
        </p:grpSpPr>
        <p:pic>
          <p:nvPicPr>
            <p:cNvPr id="3" name="Picture 3" descr="ale29559_0206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68" t="7677" r="3285"/>
            <a:stretch>
              <a:fillRect/>
            </a:stretch>
          </p:blipFill>
          <p:spPr bwMode="auto">
            <a:xfrm>
              <a:off x="1447800" y="2286000"/>
              <a:ext cx="6248400" cy="4138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9" name="Group 18"/>
            <p:cNvGrpSpPr/>
            <p:nvPr/>
          </p:nvGrpSpPr>
          <p:grpSpPr>
            <a:xfrm>
              <a:off x="1371600" y="2819400"/>
              <a:ext cx="6400800" cy="3748953"/>
              <a:chOff x="1371600" y="2819400"/>
              <a:chExt cx="6400800" cy="3748953"/>
            </a:xfrm>
          </p:grpSpPr>
          <p:sp>
            <p:nvSpPr>
              <p:cNvPr id="4" name="Rectangle 3"/>
              <p:cNvSpPr/>
              <p:nvPr/>
            </p:nvSpPr>
            <p:spPr bwMode="auto">
              <a:xfrm>
                <a:off x="3429000" y="4800600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 bwMode="auto">
              <a:xfrm>
                <a:off x="1371600" y="4800600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 bwMode="auto">
              <a:xfrm>
                <a:off x="5431500" y="4889500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 bwMode="auto">
              <a:xfrm>
                <a:off x="5410200" y="2819400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7484400" y="4787900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 rot="18910479">
                <a:off x="2452703" y="4931992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 bwMode="auto">
              <a:xfrm rot="18910479">
                <a:off x="6454090" y="2861890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 bwMode="auto">
              <a:xfrm rot="18910479">
                <a:off x="6479493" y="4931993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 bwMode="auto">
              <a:xfrm rot="13510479">
                <a:off x="4427999" y="2888807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 bwMode="auto">
              <a:xfrm rot="5400000">
                <a:off x="2496708" y="3859876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 bwMode="auto">
              <a:xfrm rot="5400000">
                <a:off x="4360106" y="3868276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 bwMode="auto">
              <a:xfrm rot="5400000">
                <a:off x="6479493" y="3868276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 bwMode="auto">
              <a:xfrm rot="5400000">
                <a:off x="2408698" y="5929053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 bwMode="auto">
              <a:xfrm rot="5400000">
                <a:off x="4427999" y="5923829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 bwMode="auto">
              <a:xfrm rot="5400000">
                <a:off x="6479493" y="5893205"/>
                <a:ext cx="288000" cy="99060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</p:grpSp>
      </p:grpSp>
      <p:sp>
        <p:nvSpPr>
          <p:cNvPr id="21" name="Title 1"/>
          <p:cNvSpPr txBox="1">
            <a:spLocks/>
          </p:cNvSpPr>
          <p:nvPr/>
        </p:nvSpPr>
        <p:spPr>
          <a:xfrm>
            <a:off x="381000" y="152400"/>
            <a:ext cx="8243887" cy="30480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2.5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Find the number of nodes, branches and independent loops.</a:t>
            </a:r>
          </a:p>
          <a:p>
            <a:pPr algn="l">
              <a:lnSpc>
                <a:spcPct val="100000"/>
              </a:lnSpc>
            </a:pP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Branches	=</a:t>
            </a:r>
          </a:p>
          <a:p>
            <a:pPr algn="l">
              <a:lnSpc>
                <a:spcPct val="100000"/>
              </a:lnSpc>
            </a:pP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Nodes	=</a:t>
            </a:r>
          </a:p>
          <a:p>
            <a:pPr algn="l">
              <a:lnSpc>
                <a:spcPct val="100000"/>
              </a:lnSpc>
            </a:pP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Loops	=</a:t>
            </a:r>
          </a:p>
          <a:p>
            <a:pPr algn="l"/>
            <a:endParaRPr lang="en-ZA" sz="3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658414" y="1447800"/>
            <a:ext cx="8467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600" b="1" dirty="0" smtClean="0">
                <a:solidFill>
                  <a:srgbClr val="FF3300"/>
                </a:solidFill>
              </a:rPr>
              <a:t>15</a:t>
            </a:r>
            <a:endParaRPr lang="en-ZA" sz="3600" dirty="0"/>
          </a:p>
        </p:txBody>
      </p:sp>
      <p:sp>
        <p:nvSpPr>
          <p:cNvPr id="23" name="Rectangle 22"/>
          <p:cNvSpPr/>
          <p:nvPr/>
        </p:nvSpPr>
        <p:spPr>
          <a:xfrm>
            <a:off x="2658413" y="1929924"/>
            <a:ext cx="537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600" b="1" dirty="0" smtClean="0">
                <a:solidFill>
                  <a:srgbClr val="FF3300"/>
                </a:solidFill>
              </a:rPr>
              <a:t>9</a:t>
            </a:r>
            <a:endParaRPr lang="en-ZA" sz="3600" dirty="0"/>
          </a:p>
        </p:txBody>
      </p:sp>
      <p:sp>
        <p:nvSpPr>
          <p:cNvPr id="24" name="Rectangle 23"/>
          <p:cNvSpPr/>
          <p:nvPr/>
        </p:nvSpPr>
        <p:spPr>
          <a:xfrm>
            <a:off x="2658412" y="2401669"/>
            <a:ext cx="537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600" b="1" dirty="0" smtClean="0">
                <a:solidFill>
                  <a:srgbClr val="FF3300"/>
                </a:solidFill>
              </a:rPr>
              <a:t>7</a:t>
            </a:r>
            <a:endParaRPr lang="en-ZA" sz="36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5791200" y="1262480"/>
            <a:ext cx="3275256" cy="1464500"/>
            <a:chOff x="4350349" y="1622616"/>
            <a:chExt cx="3275256" cy="1464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380427" y="1622616"/>
                  <a:ext cx="2947282" cy="646331"/>
                </a:xfrm>
                <a:prstGeom prst="rect">
                  <a:avLst/>
                </a:prstGeom>
                <a:noFill/>
                <a:ln>
                  <a:solidFill>
                    <a:srgbClr val="FF33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𝑏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𝑙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−1</m:t>
                        </m:r>
                      </m:oMath>
                    </m:oMathPara>
                  </a14:m>
                  <a:endParaRPr lang="en-ZA" sz="3600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0427" y="1622616"/>
                  <a:ext cx="2947282" cy="646331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>
                  <a:solidFill>
                    <a:srgbClr val="FF33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4350349" y="2440785"/>
                  <a:ext cx="3275256" cy="646331"/>
                </a:xfrm>
                <a:prstGeom prst="rect">
                  <a:avLst/>
                </a:prstGeom>
                <a:noFill/>
                <a:ln>
                  <a:solidFill>
                    <a:srgbClr val="FF33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15=7+9−1</m:t>
                        </m:r>
                      </m:oMath>
                    </m:oMathPara>
                  </a14:m>
                  <a:endParaRPr lang="en-ZA" sz="3600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0349" y="2440785"/>
                  <a:ext cx="3275256" cy="646331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solidFill>
                    <a:srgbClr val="FF33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/>
          <p:cNvGrpSpPr/>
          <p:nvPr/>
        </p:nvGrpSpPr>
        <p:grpSpPr>
          <a:xfrm>
            <a:off x="516600" y="2253090"/>
            <a:ext cx="6400800" cy="4354160"/>
            <a:chOff x="516600" y="2253090"/>
            <a:chExt cx="6400800" cy="4354160"/>
          </a:xfrm>
        </p:grpSpPr>
        <p:sp>
          <p:nvSpPr>
            <p:cNvPr id="28" name="Oval 27"/>
            <p:cNvSpPr/>
            <p:nvPr/>
          </p:nvSpPr>
          <p:spPr bwMode="auto">
            <a:xfrm>
              <a:off x="516600" y="4253205"/>
              <a:ext cx="323165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Oval 28"/>
            <p:cNvSpPr/>
            <p:nvPr/>
          </p:nvSpPr>
          <p:spPr bwMode="auto">
            <a:xfrm>
              <a:off x="522934" y="6251035"/>
              <a:ext cx="323165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0" name="Oval 29"/>
            <p:cNvSpPr/>
            <p:nvPr/>
          </p:nvSpPr>
          <p:spPr bwMode="auto">
            <a:xfrm>
              <a:off x="2534928" y="4257575"/>
              <a:ext cx="323165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2553917" y="6284085"/>
              <a:ext cx="323165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2" name="Oval 31"/>
            <p:cNvSpPr/>
            <p:nvPr/>
          </p:nvSpPr>
          <p:spPr bwMode="auto">
            <a:xfrm>
              <a:off x="4558917" y="2253090"/>
              <a:ext cx="323165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4558916" y="4236187"/>
              <a:ext cx="323165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6594235" y="4249175"/>
              <a:ext cx="323165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5" name="Oval 34"/>
            <p:cNvSpPr/>
            <p:nvPr/>
          </p:nvSpPr>
          <p:spPr bwMode="auto">
            <a:xfrm>
              <a:off x="4537617" y="6260551"/>
              <a:ext cx="323165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6" name="Oval 35"/>
            <p:cNvSpPr/>
            <p:nvPr/>
          </p:nvSpPr>
          <p:spPr bwMode="auto">
            <a:xfrm>
              <a:off x="6573978" y="6260550"/>
              <a:ext cx="323165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38" name="Oval 37"/>
          <p:cNvSpPr/>
          <p:nvPr/>
        </p:nvSpPr>
        <p:spPr bwMode="auto">
          <a:xfrm rot="19129391">
            <a:off x="1100694" y="5115368"/>
            <a:ext cx="485236" cy="121113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9" name="Oval 38"/>
          <p:cNvSpPr/>
          <p:nvPr/>
        </p:nvSpPr>
        <p:spPr bwMode="auto">
          <a:xfrm rot="19129391">
            <a:off x="1834406" y="4504125"/>
            <a:ext cx="485236" cy="121113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0" name="Oval 39"/>
          <p:cNvSpPr/>
          <p:nvPr/>
        </p:nvSpPr>
        <p:spPr bwMode="auto">
          <a:xfrm>
            <a:off x="3125766" y="4834229"/>
            <a:ext cx="1182466" cy="121113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1" name="Oval 40"/>
          <p:cNvSpPr/>
          <p:nvPr/>
        </p:nvSpPr>
        <p:spPr bwMode="auto">
          <a:xfrm rot="2261159">
            <a:off x="3824788" y="3083482"/>
            <a:ext cx="485236" cy="121113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2" name="Oval 41"/>
          <p:cNvSpPr/>
          <p:nvPr/>
        </p:nvSpPr>
        <p:spPr bwMode="auto">
          <a:xfrm rot="19129391">
            <a:off x="5131195" y="3095497"/>
            <a:ext cx="485236" cy="121113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3" name="Oval 42"/>
          <p:cNvSpPr/>
          <p:nvPr/>
        </p:nvSpPr>
        <p:spPr bwMode="auto">
          <a:xfrm rot="19129391">
            <a:off x="5823637" y="4478649"/>
            <a:ext cx="485236" cy="121113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4" name="Oval 43"/>
          <p:cNvSpPr/>
          <p:nvPr/>
        </p:nvSpPr>
        <p:spPr bwMode="auto">
          <a:xfrm rot="19129391">
            <a:off x="5141527" y="5094188"/>
            <a:ext cx="485236" cy="121113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75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81000" y="152400"/>
            <a:ext cx="8243887" cy="30480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2.7b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Find the number of nodes, branches and independent loops.</a:t>
            </a:r>
          </a:p>
          <a:p>
            <a:pPr algn="l">
              <a:lnSpc>
                <a:spcPct val="100000"/>
              </a:lnSpc>
            </a:pP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Branches	=</a:t>
            </a:r>
          </a:p>
          <a:p>
            <a:pPr algn="l">
              <a:lnSpc>
                <a:spcPct val="100000"/>
              </a:lnSpc>
            </a:pP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Nodes	=</a:t>
            </a:r>
          </a:p>
          <a:p>
            <a:pPr algn="l">
              <a:lnSpc>
                <a:spcPct val="100000"/>
              </a:lnSpc>
            </a:pP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Loops	=</a:t>
            </a:r>
          </a:p>
          <a:p>
            <a:pPr algn="l"/>
            <a:endParaRPr lang="en-ZA" sz="3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207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86" t="8325"/>
          <a:stretch/>
        </p:blipFill>
        <p:spPr bwMode="auto">
          <a:xfrm>
            <a:off x="1385359" y="3027931"/>
            <a:ext cx="5916030" cy="382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58414" y="1447800"/>
            <a:ext cx="8467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600" b="1" dirty="0" smtClean="0">
                <a:solidFill>
                  <a:srgbClr val="FF3300"/>
                </a:solidFill>
              </a:rPr>
              <a:t>7</a:t>
            </a:r>
            <a:endParaRPr lang="en-ZA" sz="3600" dirty="0"/>
          </a:p>
        </p:txBody>
      </p:sp>
      <p:sp>
        <p:nvSpPr>
          <p:cNvPr id="6" name="Rectangle 5"/>
          <p:cNvSpPr/>
          <p:nvPr/>
        </p:nvSpPr>
        <p:spPr>
          <a:xfrm>
            <a:off x="2658413" y="1929924"/>
            <a:ext cx="537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600" b="1" dirty="0" smtClean="0">
                <a:solidFill>
                  <a:srgbClr val="FF3300"/>
                </a:solidFill>
              </a:rPr>
              <a:t>5</a:t>
            </a:r>
            <a:endParaRPr lang="en-ZA" sz="3600" dirty="0"/>
          </a:p>
        </p:txBody>
      </p:sp>
      <p:sp>
        <p:nvSpPr>
          <p:cNvPr id="7" name="Rectangle 6"/>
          <p:cNvSpPr/>
          <p:nvPr/>
        </p:nvSpPr>
        <p:spPr>
          <a:xfrm>
            <a:off x="2658412" y="2401669"/>
            <a:ext cx="537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600" b="1" dirty="0" smtClean="0">
                <a:solidFill>
                  <a:srgbClr val="FF3300"/>
                </a:solidFill>
              </a:rPr>
              <a:t>3</a:t>
            </a:r>
            <a:endParaRPr lang="en-ZA" sz="3600" dirty="0"/>
          </a:p>
        </p:txBody>
      </p:sp>
      <p:grpSp>
        <p:nvGrpSpPr>
          <p:cNvPr id="8" name="Group 7"/>
          <p:cNvGrpSpPr/>
          <p:nvPr/>
        </p:nvGrpSpPr>
        <p:grpSpPr>
          <a:xfrm>
            <a:off x="5791200" y="1262480"/>
            <a:ext cx="3020378" cy="1464500"/>
            <a:chOff x="4350349" y="1622616"/>
            <a:chExt cx="3020378" cy="1464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4380427" y="1622616"/>
                  <a:ext cx="2947282" cy="646331"/>
                </a:xfrm>
                <a:prstGeom prst="rect">
                  <a:avLst/>
                </a:prstGeom>
                <a:noFill/>
                <a:ln>
                  <a:solidFill>
                    <a:srgbClr val="FF33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𝑏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𝑙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−1</m:t>
                        </m:r>
                      </m:oMath>
                    </m:oMathPara>
                  </a14:m>
                  <a:endParaRPr lang="en-ZA" sz="3600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0427" y="1622616"/>
                  <a:ext cx="2947282" cy="646331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>
                  <a:solidFill>
                    <a:srgbClr val="FF33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4350349" y="2440785"/>
                  <a:ext cx="3020378" cy="646331"/>
                </a:xfrm>
                <a:prstGeom prst="rect">
                  <a:avLst/>
                </a:prstGeom>
                <a:noFill/>
                <a:ln>
                  <a:solidFill>
                    <a:srgbClr val="FF33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36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7=3+5−1</m:t>
                        </m:r>
                      </m:oMath>
                    </m:oMathPara>
                  </a14:m>
                  <a:endParaRPr lang="en-ZA" sz="3600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0349" y="2440785"/>
                  <a:ext cx="3020378" cy="646331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solidFill>
                    <a:srgbClr val="FF33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/>
          <p:cNvGrpSpPr/>
          <p:nvPr/>
        </p:nvGrpSpPr>
        <p:grpSpPr>
          <a:xfrm>
            <a:off x="2496829" y="3724616"/>
            <a:ext cx="4798090" cy="2482763"/>
            <a:chOff x="2496829" y="3724616"/>
            <a:chExt cx="4798090" cy="2482763"/>
          </a:xfrm>
        </p:grpSpPr>
        <p:sp>
          <p:nvSpPr>
            <p:cNvPr id="11" name="Oval 10"/>
            <p:cNvSpPr/>
            <p:nvPr/>
          </p:nvSpPr>
          <p:spPr bwMode="auto">
            <a:xfrm>
              <a:off x="2496829" y="3733800"/>
              <a:ext cx="1236971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2496829" y="5867400"/>
              <a:ext cx="1236971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6057948" y="5884214"/>
              <a:ext cx="1236971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5105400" y="3724617"/>
              <a:ext cx="277817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6934200" y="3724616"/>
              <a:ext cx="277817" cy="32316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208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ale29559_020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4419600" y="2614792"/>
            <a:ext cx="3581400" cy="280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69F7-1A64-4790-9132-7B7F2115007B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Chapter 2: Lecture </a:t>
            </a:r>
            <a:r>
              <a:rPr lang="en-US" b="1" dirty="0" smtClean="0"/>
              <a:t>#2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2.4 </a:t>
            </a:r>
            <a:r>
              <a:rPr lang="en-US" sz="4000" dirty="0"/>
              <a:t>Kirchhoff’s </a:t>
            </a:r>
            <a:r>
              <a:rPr lang="en-US" sz="4000" dirty="0" smtClean="0"/>
              <a:t>Laws</a:t>
            </a:r>
            <a:endParaRPr lang="en-US" sz="4000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600200"/>
            <a:ext cx="7421451" cy="129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Kirchhoff’s </a:t>
            </a:r>
            <a:r>
              <a:rPr lang="en-US" sz="2400" dirty="0">
                <a:solidFill>
                  <a:srgbClr val="FF0000"/>
                </a:solidFill>
              </a:rPr>
              <a:t>current law (KCL) </a:t>
            </a:r>
            <a:r>
              <a:rPr lang="en-US" sz="2400" dirty="0"/>
              <a:t>states that the algebraic sum of currents </a:t>
            </a:r>
            <a:r>
              <a:rPr lang="en-US" sz="2400" dirty="0" smtClean="0"/>
              <a:t>entering and leaving </a:t>
            </a:r>
            <a:r>
              <a:rPr lang="en-US" sz="2400" dirty="0"/>
              <a:t>a node </a:t>
            </a:r>
            <a:r>
              <a:rPr lang="en-US" sz="2400" dirty="0" smtClean="0"/>
              <a:t>(</a:t>
            </a:r>
            <a:r>
              <a:rPr lang="en-US" sz="2400" dirty="0"/>
              <a:t>or a closed boundary) is zero.</a:t>
            </a:r>
          </a:p>
        </p:txBody>
      </p:sp>
      <p:sp>
        <p:nvSpPr>
          <p:cNvPr id="73737" name="Rectangle 9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737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263418"/>
              </p:ext>
            </p:extLst>
          </p:nvPr>
        </p:nvGraphicFramePr>
        <p:xfrm>
          <a:off x="2082800" y="5251966"/>
          <a:ext cx="17272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64" name="Equation" r:id="rId4" imgW="571252" imgH="431613" progId="Equation.3">
                  <p:embed/>
                </p:oleObj>
              </mc:Choice>
              <mc:Fallback>
                <p:oleObj name="Equation" r:id="rId4" imgW="571252" imgH="4316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5251966"/>
                        <a:ext cx="1727200" cy="1295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101600" y="5716310"/>
            <a:ext cx="3810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/>
              <a:t>Mathematically</a:t>
            </a:r>
            <a:endParaRPr lang="en-US" dirty="0"/>
          </a:p>
        </p:txBody>
      </p:sp>
      <p:sp>
        <p:nvSpPr>
          <p:cNvPr id="73741" name="AutoShape 13"/>
          <p:cNvSpPr>
            <a:spLocks noChangeArrowheads="1"/>
          </p:cNvSpPr>
          <p:nvPr/>
        </p:nvSpPr>
        <p:spPr bwMode="auto">
          <a:xfrm rot="3355850">
            <a:off x="5322030" y="3489956"/>
            <a:ext cx="1322152" cy="1173487"/>
          </a:xfrm>
          <a:prstGeom prst="rtTriangle">
            <a:avLst/>
          </a:prstGeom>
          <a:solidFill>
            <a:srgbClr val="080808">
              <a:alpha val="4600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A"/>
          </a:p>
        </p:txBody>
      </p:sp>
      <p:sp>
        <p:nvSpPr>
          <p:cNvPr id="2" name="Rectangle 1"/>
          <p:cNvSpPr/>
          <p:nvPr/>
        </p:nvSpPr>
        <p:spPr>
          <a:xfrm>
            <a:off x="3965575" y="5393144"/>
            <a:ext cx="4572000" cy="10618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/>
              <a:t>N </a:t>
            </a:r>
            <a:r>
              <a:rPr lang="en-US" dirty="0"/>
              <a:t>= Number of branches connected to the node.  </a:t>
            </a:r>
            <a:endParaRPr lang="en-US" dirty="0" smtClean="0"/>
          </a:p>
          <a:p>
            <a:pPr>
              <a:spcBef>
                <a:spcPct val="50000"/>
              </a:spcBef>
            </a:pPr>
            <a:r>
              <a:rPr lang="en-US" dirty="0" smtClean="0"/>
              <a:t>i</a:t>
            </a:r>
            <a:r>
              <a:rPr lang="en-US" baseline="-25000" dirty="0" smtClean="0"/>
              <a:t>n</a:t>
            </a:r>
            <a:r>
              <a:rPr lang="en-US" dirty="0" smtClean="0"/>
              <a:t> = n</a:t>
            </a:r>
            <a:r>
              <a:rPr lang="en-US" baseline="30000" dirty="0" smtClean="0"/>
              <a:t>th</a:t>
            </a:r>
            <a:r>
              <a:rPr lang="en-US" dirty="0" smtClean="0"/>
              <a:t> current entering or leaving.</a:t>
            </a:r>
            <a:endParaRPr lang="en-US" dirty="0"/>
          </a:p>
        </p:txBody>
      </p:sp>
      <p:pic>
        <p:nvPicPr>
          <p:cNvPr id="13" name="Picture 3" descr="ale29559_020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2" t="8171" r="24979"/>
          <a:stretch>
            <a:fillRect/>
          </a:stretch>
        </p:blipFill>
        <p:spPr bwMode="auto">
          <a:xfrm>
            <a:off x="1633470" y="2666999"/>
            <a:ext cx="2514600" cy="2669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782" name="Picture 54" descr="http://www.aplusphysics.com/courses/regents/electricity/images/Kirchhoff%20Picture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764" y="790575"/>
            <a:ext cx="1333500" cy="187642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8" grpId="0"/>
      <p:bldP spid="73741" grpId="0" animBg="1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" descr="ale29559_020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92299" y="3780900"/>
            <a:ext cx="3581400" cy="280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A54E-51C1-417A-8822-CC844D8F20B1}" type="slidenum">
              <a:rPr lang="en-US"/>
              <a:pPr/>
              <a:t>26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152400"/>
            <a:ext cx="8243887" cy="916546"/>
          </a:xfrm>
        </p:spPr>
        <p:txBody>
          <a:bodyPr/>
          <a:lstStyle/>
          <a:p>
            <a:r>
              <a:rPr lang="en-US" sz="3200" dirty="0" smtClean="0"/>
              <a:t>2.4 </a:t>
            </a:r>
            <a:r>
              <a:rPr lang="en-US" sz="2800" dirty="0"/>
              <a:t>Kirchhoff’s Laws </a:t>
            </a:r>
            <a:r>
              <a:rPr lang="en-US" sz="2800" dirty="0" smtClean="0"/>
              <a:t>(KCL)</a:t>
            </a:r>
            <a:br>
              <a:rPr lang="en-US" sz="2800" dirty="0" smtClean="0"/>
            </a:br>
            <a:r>
              <a:rPr lang="en-US" sz="2800" i="1" dirty="0" smtClean="0"/>
              <a:t>“What goes in, must come out”</a:t>
            </a:r>
            <a:endParaRPr lang="en-US" sz="2800" i="1" dirty="0"/>
          </a:p>
        </p:txBody>
      </p:sp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3544372" y="2286000"/>
            <a:ext cx="4685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+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–i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–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= 0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81400" y="4876800"/>
            <a:ext cx="487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Closed Boundary (Super Node):</a:t>
            </a:r>
          </a:p>
          <a:p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– i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= 0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4800" y="3214688"/>
            <a:ext cx="4343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Entering = Leaving</a:t>
            </a:r>
          </a:p>
          <a:p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i="1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9400" y="1186419"/>
            <a:ext cx="57933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Current entering a node: ADD +</a:t>
            </a:r>
          </a:p>
          <a:p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Current leaving a node: SUBTRACT – 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7800" y="3780900"/>
            <a:ext cx="4875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ZA" sz="2000" i="1" dirty="0"/>
          </a:p>
        </p:txBody>
      </p:sp>
      <p:sp>
        <p:nvSpPr>
          <p:cNvPr id="24" name="Rectangle 23"/>
          <p:cNvSpPr/>
          <p:nvPr/>
        </p:nvSpPr>
        <p:spPr>
          <a:xfrm>
            <a:off x="2209800" y="4419600"/>
            <a:ext cx="4875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ZA" sz="2000" i="1" dirty="0"/>
          </a:p>
        </p:txBody>
      </p:sp>
      <p:sp>
        <p:nvSpPr>
          <p:cNvPr id="25" name="Rectangle 24"/>
          <p:cNvSpPr/>
          <p:nvPr/>
        </p:nvSpPr>
        <p:spPr>
          <a:xfrm>
            <a:off x="2078326" y="5695890"/>
            <a:ext cx="4875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ZA" sz="2000" i="1" dirty="0"/>
          </a:p>
        </p:txBody>
      </p:sp>
      <p:sp>
        <p:nvSpPr>
          <p:cNvPr id="26" name="Rectangle 25"/>
          <p:cNvSpPr/>
          <p:nvPr/>
        </p:nvSpPr>
        <p:spPr>
          <a:xfrm>
            <a:off x="1188882" y="6165220"/>
            <a:ext cx="4875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ZA" sz="2000" i="1" dirty="0"/>
          </a:p>
        </p:txBody>
      </p:sp>
      <p:sp>
        <p:nvSpPr>
          <p:cNvPr id="27" name="Rectangle 26"/>
          <p:cNvSpPr/>
          <p:nvPr/>
        </p:nvSpPr>
        <p:spPr>
          <a:xfrm>
            <a:off x="125569" y="4648200"/>
            <a:ext cx="4875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ZA" sz="2000" i="1" dirty="0"/>
          </a:p>
        </p:txBody>
      </p:sp>
      <p:pic>
        <p:nvPicPr>
          <p:cNvPr id="29" name="Picture 3" descr="ale29559_020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2" t="8171" r="24979"/>
          <a:stretch>
            <a:fillRect/>
          </a:stretch>
        </p:blipFill>
        <p:spPr bwMode="auto">
          <a:xfrm>
            <a:off x="304800" y="951390"/>
            <a:ext cx="2514600" cy="2669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70"/>
          <a:stretch/>
        </p:blipFill>
        <p:spPr bwMode="auto">
          <a:xfrm>
            <a:off x="4572000" y="3133545"/>
            <a:ext cx="1931807" cy="222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0D3D-1579-42BA-8F19-C3239B2FB4A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0056" y="152399"/>
            <a:ext cx="8243887" cy="1161245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2.4 </a:t>
            </a:r>
            <a:r>
              <a:rPr lang="en-US" sz="2800" dirty="0" smtClean="0"/>
              <a:t>Kirchhoff’s Laws (KCL)</a:t>
            </a:r>
          </a:p>
          <a:p>
            <a:r>
              <a:rPr lang="en-US" sz="3200" dirty="0" smtClean="0">
                <a:solidFill>
                  <a:srgbClr val="FF0000"/>
                </a:solidFill>
              </a:rPr>
              <a:t>Current Sources in Parallel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407" y="1109733"/>
            <a:ext cx="4343400" cy="2162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6" y="3133546"/>
            <a:ext cx="3948114" cy="222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919784" y="4303186"/>
            <a:ext cx="584023" cy="50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541907" y="4330715"/>
                <a:ext cx="204414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ZA" sz="20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S</a:t>
                </a:r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ZA" sz="2000" b="0" i="1">
                        <a:solidFill>
                          <a:srgbClr val="080808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I</a:t>
                </a:r>
                <a:r>
                  <a:rPr lang="en-ZA" sz="20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+ I</a:t>
                </a:r>
                <a:r>
                  <a:rPr lang="en-ZA" sz="20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ZA" sz="2000" b="0" i="1">
                        <a:solidFill>
                          <a:srgbClr val="080808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I</a:t>
                </a:r>
                <a:r>
                  <a:rPr lang="en-ZA" sz="20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endParaRPr lang="en-ZA" sz="2000" i="1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907" y="4330715"/>
                <a:ext cx="2044149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2985" t="-7576" r="-299" b="-25758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527850" y="4353426"/>
                <a:ext cx="202491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ZA" sz="2000" i="1" baseline="-25000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S</a:t>
                </a:r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= + I</a:t>
                </a:r>
                <a:r>
                  <a:rPr lang="en-ZA" sz="20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ZA" sz="2000" i="1">
                        <a:solidFill>
                          <a:srgbClr val="080808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I</a:t>
                </a:r>
                <a:r>
                  <a:rPr lang="en-ZA" sz="20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ZA" sz="20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+ I</a:t>
                </a:r>
                <a:r>
                  <a:rPr lang="en-ZA" sz="20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endParaRPr lang="en-ZA" sz="2000" i="1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850" y="4353426"/>
                <a:ext cx="2024913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3313" t="-7576" b="-25758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37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223313" y="2802778"/>
            <a:ext cx="4631585" cy="1820012"/>
            <a:chOff x="1446526" y="2643938"/>
            <a:chExt cx="4631585" cy="1820012"/>
          </a:xfrm>
        </p:grpSpPr>
        <p:grpSp>
          <p:nvGrpSpPr>
            <p:cNvPr id="15" name="Group 14"/>
            <p:cNvGrpSpPr/>
            <p:nvPr/>
          </p:nvGrpSpPr>
          <p:grpSpPr>
            <a:xfrm>
              <a:off x="1446526" y="2643938"/>
              <a:ext cx="4631585" cy="1820012"/>
              <a:chOff x="2386684" y="1927740"/>
              <a:chExt cx="4631585" cy="1820012"/>
            </a:xfrm>
          </p:grpSpPr>
          <p:pic>
            <p:nvPicPr>
              <p:cNvPr id="88066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86684" y="1927740"/>
                <a:ext cx="3895166" cy="18200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5" name="Straight Arrow Connector 4"/>
              <p:cNvCxnSpPr/>
              <p:nvPr/>
            </p:nvCxnSpPr>
            <p:spPr bwMode="auto">
              <a:xfrm>
                <a:off x="4932609" y="2429914"/>
                <a:ext cx="0" cy="502276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 bwMode="auto">
              <a:xfrm flipV="1">
                <a:off x="6385775" y="2605563"/>
                <a:ext cx="0" cy="592427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 bwMode="auto">
              <a:xfrm flipH="1">
                <a:off x="3090929" y="2519965"/>
                <a:ext cx="513010" cy="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10" name="Rectangle 9"/>
              <p:cNvSpPr/>
              <p:nvPr/>
            </p:nvSpPr>
            <p:spPr>
              <a:xfrm>
                <a:off x="4983050" y="2378557"/>
                <a:ext cx="4940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8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ZA" sz="28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ZA" sz="28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ZA" sz="2800" dirty="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175538" y="2519965"/>
                <a:ext cx="4940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8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ZA" sz="28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ZA" sz="28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ZA" sz="2800" dirty="0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524223" y="2331697"/>
                <a:ext cx="4940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8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ZA" sz="28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en-ZA" sz="28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ZA" sz="2800" dirty="0"/>
              </a:p>
            </p:txBody>
          </p:sp>
        </p:grpSp>
        <p:sp>
          <p:nvSpPr>
            <p:cNvPr id="14" name="Oval 13"/>
            <p:cNvSpPr/>
            <p:nvPr/>
          </p:nvSpPr>
          <p:spPr bwMode="auto">
            <a:xfrm>
              <a:off x="3618962" y="2785607"/>
              <a:ext cx="154547" cy="154547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4787147" y="1791076"/>
            <a:ext cx="27302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– i</a:t>
            </a:r>
            <a:r>
              <a:rPr lang="en-ZA" sz="3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3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3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8" name="Arc 17"/>
          <p:cNvSpPr/>
          <p:nvPr/>
        </p:nvSpPr>
        <p:spPr bwMode="auto">
          <a:xfrm flipH="1">
            <a:off x="3473022" y="2139614"/>
            <a:ext cx="2158921" cy="1255389"/>
          </a:xfrm>
          <a:prstGeom prst="arc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triangle" w="lg" len="lg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50056" y="152399"/>
            <a:ext cx="8243887" cy="1161245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2.4 </a:t>
            </a:r>
            <a:r>
              <a:rPr lang="en-US" sz="2800" dirty="0" smtClean="0"/>
              <a:t>Kirchhoff’s Laws (KCL)</a:t>
            </a:r>
          </a:p>
          <a:p>
            <a:r>
              <a:rPr lang="en-US" sz="3200" dirty="0" smtClean="0">
                <a:solidFill>
                  <a:srgbClr val="FF0000"/>
                </a:solidFill>
              </a:rPr>
              <a:t>Resistive networks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65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ale29559_020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3" t="10052" r="9126"/>
          <a:stretch>
            <a:fillRect/>
          </a:stretch>
        </p:blipFill>
        <p:spPr bwMode="auto">
          <a:xfrm>
            <a:off x="463640" y="2834582"/>
            <a:ext cx="4108360" cy="2290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F76C-A525-40BC-BD32-4C8ACFE9C4C4}" type="slidenum">
              <a:rPr lang="en-US"/>
              <a:pPr/>
              <a:t>29</a:t>
            </a:fld>
            <a:endParaRPr 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Kirchhoff’s </a:t>
            </a:r>
            <a:r>
              <a:rPr lang="en-US" sz="2400" dirty="0">
                <a:solidFill>
                  <a:srgbClr val="FF0000"/>
                </a:solidFill>
              </a:rPr>
              <a:t>voltage law (KVL) </a:t>
            </a:r>
            <a:r>
              <a:rPr lang="en-US" sz="2400" dirty="0"/>
              <a:t>states that the algebraic sum of all voltages around a closed path (or loop) is zero.</a:t>
            </a:r>
            <a:r>
              <a:rPr lang="en-US" sz="2800" dirty="0"/>
              <a:t> </a:t>
            </a:r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3745958" y="5856669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Mathematically, </a:t>
            </a:r>
          </a:p>
        </p:txBody>
      </p:sp>
      <p:sp>
        <p:nvSpPr>
          <p:cNvPr id="76812" name="Rectangle 12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875778"/>
              </p:ext>
            </p:extLst>
          </p:nvPr>
        </p:nvGraphicFramePr>
        <p:xfrm>
          <a:off x="6221920" y="5461516"/>
          <a:ext cx="1646349" cy="1157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34" name="Equation" r:id="rId4" imgW="609480" imgH="431640" progId="Equation.3">
                  <p:embed/>
                </p:oleObj>
              </mc:Choice>
              <mc:Fallback>
                <p:oleObj name="Equation" r:id="rId4" imgW="60948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1920" y="5461516"/>
                        <a:ext cx="1646349" cy="115701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450056" y="152399"/>
            <a:ext cx="8243887" cy="1096851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600" dirty="0" smtClean="0"/>
              <a:t>2.4 </a:t>
            </a:r>
            <a:r>
              <a:rPr lang="en-US" sz="3200" dirty="0" smtClean="0"/>
              <a:t>Kirchhoff’s Laws (KVL)</a:t>
            </a:r>
          </a:p>
          <a:p>
            <a:r>
              <a:rPr lang="en-US" sz="2800" i="1" dirty="0"/>
              <a:t>“What goes </a:t>
            </a:r>
            <a:r>
              <a:rPr lang="en-US" sz="2800" i="1" dirty="0" smtClean="0"/>
              <a:t>up, </a:t>
            </a:r>
            <a:r>
              <a:rPr lang="en-US" sz="2800" i="1" dirty="0"/>
              <a:t>must come </a:t>
            </a:r>
            <a:r>
              <a:rPr lang="en-US" sz="2800" i="1" dirty="0" smtClean="0"/>
              <a:t>down”</a:t>
            </a:r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333273" y="5163422"/>
            <a:ext cx="4599336" cy="584775"/>
          </a:xfrm>
          <a:prstGeom prst="rect">
            <a:avLst/>
          </a:prstGeom>
          <a:ln>
            <a:solidFill>
              <a:srgbClr val="080808"/>
            </a:solidFill>
          </a:ln>
        </p:spPr>
        <p:txBody>
          <a:bodyPr wrap="none">
            <a:spAutoFit/>
          </a:bodyPr>
          <a:lstStyle/>
          <a:p>
            <a:r>
              <a:rPr lang="en-ZA" sz="3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v</a:t>
            </a:r>
            <a:r>
              <a:rPr lang="en-ZA" sz="32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 v</a:t>
            </a:r>
            <a:r>
              <a:rPr lang="en-ZA" sz="3200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v</a:t>
            </a:r>
            <a:r>
              <a:rPr lang="en-ZA" sz="3200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64428" y="3194853"/>
            <a:ext cx="3761334" cy="15696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sz="2400" b="1" dirty="0" smtClean="0">
                <a:solidFill>
                  <a:srgbClr val="0070C0"/>
                </a:solidFill>
                <a:latin typeface="+mn-lt"/>
              </a:rPr>
              <a:t>Convention: 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ZA" sz="2400" dirty="0" smtClean="0">
                <a:solidFill>
                  <a:srgbClr val="0070C0"/>
                </a:solidFill>
                <a:latin typeface="+mn-lt"/>
              </a:rPr>
              <a:t>Always go clock wise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ZA" sz="2400" dirty="0" smtClean="0">
                <a:solidFill>
                  <a:srgbClr val="00B050"/>
                </a:solidFill>
                <a:latin typeface="+mn-lt"/>
              </a:rPr>
              <a:t>In at +:  ADD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ZA" sz="2400" dirty="0" smtClean="0">
                <a:solidFill>
                  <a:srgbClr val="FF0000"/>
                </a:solidFill>
                <a:latin typeface="+mn-lt"/>
              </a:rPr>
              <a:t>In at </a:t>
            </a:r>
            <a:r>
              <a:rPr lang="en-ZA" sz="2400" dirty="0" smtClean="0">
                <a:solidFill>
                  <a:srgbClr val="FF0000"/>
                </a:solidFill>
                <a:latin typeface="+mn-lt"/>
                <a:cs typeface="Times New Roman" pitchFamily="18" charset="0"/>
              </a:rPr>
              <a:t>–:  SUBTRACT</a:t>
            </a:r>
            <a:endParaRPr lang="en-ZA" sz="2400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2683836" y="4230141"/>
            <a:ext cx="4018801" cy="2466975"/>
            <a:chOff x="3339317" y="4377274"/>
            <a:chExt cx="4018801" cy="2466975"/>
          </a:xfrm>
        </p:grpSpPr>
        <p:pic>
          <p:nvPicPr>
            <p:cNvPr id="9011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9317" y="4377274"/>
              <a:ext cx="1666875" cy="2466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011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442235" y="5430321"/>
              <a:ext cx="476250" cy="466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5006192" y="5463629"/>
                  <a:ext cx="235192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ZA" sz="2000" i="1" dirty="0" smtClean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V</a:t>
                  </a:r>
                  <a:r>
                    <a:rPr lang="en-ZA" sz="2000" i="1" baseline="-25000" dirty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S</a:t>
                  </a:r>
                  <a:r>
                    <a:rPr lang="en-ZA" sz="2000" i="1" dirty="0" smtClean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 = </a:t>
                  </a:r>
                  <a14:m>
                    <m:oMath xmlns:m="http://schemas.openxmlformats.org/officeDocument/2006/math">
                      <m:r>
                        <a:rPr lang="en-ZA" sz="2000" b="0" i="1">
                          <a:solidFill>
                            <a:srgbClr val="080808"/>
                          </a:solidFill>
                          <a:latin typeface="Cambria Math"/>
                        </a:rPr>
                        <m:t>−</m:t>
                      </m:r>
                    </m:oMath>
                  </a14:m>
                  <a:r>
                    <a:rPr lang="en-ZA" sz="2000" i="1" dirty="0" smtClean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 V</a:t>
                  </a:r>
                  <a:r>
                    <a:rPr lang="en-ZA" sz="2000" i="1" baseline="-25000" dirty="0" smtClean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  <a:r>
                    <a:rPr lang="en-ZA" sz="2000" i="1" dirty="0" smtClean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ZA" sz="2000" i="1">
                          <a:solidFill>
                            <a:srgbClr val="080808"/>
                          </a:solidFill>
                          <a:latin typeface="Cambria Math"/>
                        </a:rPr>
                        <m:t>−</m:t>
                      </m:r>
                    </m:oMath>
                  </a14:m>
                  <a:r>
                    <a:rPr lang="en-ZA" sz="2000" i="1" dirty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ZA" sz="2000" i="1" dirty="0" smtClean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V</a:t>
                  </a:r>
                  <a:r>
                    <a:rPr lang="en-ZA" sz="2000" i="1" baseline="-25000" dirty="0" smtClean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r>
                    <a:rPr lang="en-ZA" sz="2000" i="1" dirty="0" smtClean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80808"/>
                          </a:solidFill>
                          <a:latin typeface="Cambria Math"/>
                          <a:cs typeface="Times New Roman" pitchFamily="18" charset="0"/>
                        </a:rPr>
                        <m:t>+</m:t>
                      </m:r>
                    </m:oMath>
                  </a14:m>
                  <a:r>
                    <a:rPr lang="en-ZA" sz="2000" i="1" dirty="0" smtClean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 V</a:t>
                  </a:r>
                  <a:r>
                    <a:rPr lang="en-ZA" sz="2000" i="1" baseline="-25000" dirty="0" smtClean="0">
                      <a:solidFill>
                        <a:srgbClr val="080808"/>
                      </a:solidFill>
                      <a:latin typeface="Times New Roman" pitchFamily="18" charset="0"/>
                      <a:cs typeface="Times New Roman" pitchFamily="18" charset="0"/>
                    </a:rPr>
                    <a:t>3</a:t>
                  </a:r>
                  <a:endParaRPr lang="en-ZA" sz="2000" i="1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6192" y="5463629"/>
                  <a:ext cx="2351926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2591" t="-7576" b="-25758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" name="Picture 3" descr="ale29559_02020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8" b="9320"/>
          <a:stretch/>
        </p:blipFill>
        <p:spPr bwMode="auto">
          <a:xfrm>
            <a:off x="690704" y="700825"/>
            <a:ext cx="5401297" cy="336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0D3D-1579-42BA-8F19-C3239B2FB4A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0056" y="152399"/>
            <a:ext cx="8243887" cy="1096851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2.4 </a:t>
            </a:r>
            <a:r>
              <a:rPr lang="en-US" sz="2800" dirty="0" smtClean="0"/>
              <a:t>Kirchhoff’s Laws (KVL)</a:t>
            </a:r>
          </a:p>
          <a:p>
            <a:r>
              <a:rPr lang="en-US" sz="3200" dirty="0" smtClean="0">
                <a:solidFill>
                  <a:srgbClr val="FF0000"/>
                </a:solidFill>
              </a:rPr>
              <a:t>Voltage sources in series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016247" y="1866900"/>
            <a:ext cx="3390900" cy="220282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67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le29559_020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5" t="8900" r="12463"/>
          <a:stretch>
            <a:fillRect/>
          </a:stretch>
        </p:blipFill>
        <p:spPr bwMode="auto">
          <a:xfrm>
            <a:off x="165980" y="1431906"/>
            <a:ext cx="3962584" cy="2440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01897" y="327165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2-5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094703" y="1777285"/>
            <a:ext cx="566671" cy="0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40766" y="1368174"/>
            <a:ext cx="2696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en-ZA" sz="2400" dirty="0">
              <a:solidFill>
                <a:srgbClr val="08080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46232" y="852351"/>
            <a:ext cx="47965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KVL: –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v</a:t>
            </a:r>
            <a:r>
              <a:rPr lang="en-ZA" sz="3200" i="1" baseline="-250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" name="Arc 4"/>
          <p:cNvSpPr/>
          <p:nvPr/>
        </p:nvSpPr>
        <p:spPr bwMode="auto">
          <a:xfrm>
            <a:off x="1287885" y="2293963"/>
            <a:ext cx="1640892" cy="716607"/>
          </a:xfrm>
          <a:prstGeom prst="arc">
            <a:avLst>
              <a:gd name="adj1" fmla="val 18040631"/>
              <a:gd name="adj2" fmla="val 13011368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10962" y="1487937"/>
            <a:ext cx="23423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Ohm: v</a:t>
            </a:r>
            <a:r>
              <a:rPr lang="en-ZA" sz="32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en-ZA" sz="3200" i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10962" y="2138627"/>
            <a:ext cx="26500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Ohm: v</a:t>
            </a:r>
            <a:r>
              <a:rPr lang="en-ZA" sz="3200" i="1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= – </a:t>
            </a:r>
            <a:r>
              <a:rPr lang="en-ZA" sz="3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en-ZA" sz="3200" i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07628" y="2885067"/>
            <a:ext cx="44871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(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i) 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(-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i) =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 =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  <a:p>
            <a:r>
              <a:rPr lang="en-ZA" sz="3200" u="sng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ZA" sz="3200" i="1" u="sng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3200" u="sng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3200" i="1" u="sng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u="sng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ZA" sz="3200" u="sng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5931" y="4529722"/>
            <a:ext cx="39004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 =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4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3 = </a:t>
            </a:r>
            <a:r>
              <a:rPr lang="en-ZA" sz="3200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12 V</a:t>
            </a:r>
            <a:endParaRPr lang="en-ZA" sz="3200" u="sng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0016" y="4529722"/>
            <a:ext cx="40051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= – </a:t>
            </a:r>
            <a:r>
              <a:rPr lang="en-ZA" sz="3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ZA" sz="3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3200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3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3 = </a:t>
            </a:r>
            <a:r>
              <a:rPr lang="en-ZA" sz="3200" i="1" u="sng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3200" u="sng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6 V</a:t>
            </a:r>
            <a:endParaRPr lang="en-ZA" sz="3200" u="sng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4927" y="5164228"/>
            <a:ext cx="6099747" cy="156966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ZA" sz="3200" dirty="0" smtClean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The Test:…</a:t>
            </a:r>
          </a:p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3200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10 + 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8 – (</a:t>
            </a:r>
            <a:r>
              <a:rPr lang="en-ZA" sz="3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–6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) = – 18 + 18 = 0</a:t>
            </a:r>
            <a:endParaRPr lang="en-ZA" sz="32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328229" y="1368174"/>
            <a:ext cx="1579399" cy="925789"/>
            <a:chOff x="6328229" y="1368174"/>
            <a:chExt cx="1579399" cy="925789"/>
          </a:xfrm>
        </p:grpSpPr>
        <p:cxnSp>
          <p:nvCxnSpPr>
            <p:cNvPr id="16" name="Straight Arrow Connector 15"/>
            <p:cNvCxnSpPr/>
            <p:nvPr/>
          </p:nvCxnSpPr>
          <p:spPr bwMode="auto">
            <a:xfrm flipV="1">
              <a:off x="6328229" y="1368174"/>
              <a:ext cx="225041" cy="230833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 bwMode="auto">
            <a:xfrm flipV="1">
              <a:off x="6553270" y="1368175"/>
              <a:ext cx="1354358" cy="925788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178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 animBg="1"/>
      <p:bldP spid="9" grpId="0"/>
      <p:bldP spid="10" grpId="0"/>
      <p:bldP spid="12" grpId="0"/>
      <p:bldP spid="13" grpId="0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01897" y="327165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2-7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Find current </a:t>
            </a:r>
            <a:r>
              <a:rPr lang="en-ZA" sz="28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voltage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 descr="ale29559_020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69"/>
          <a:stretch>
            <a:fillRect/>
          </a:stretch>
        </p:blipFill>
        <p:spPr bwMode="auto">
          <a:xfrm>
            <a:off x="155616" y="1387697"/>
            <a:ext cx="4445358" cy="149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167646" y="215720"/>
            <a:ext cx="3718776" cy="830997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Observation: 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Voltage across ALL elements is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1140" y="3119032"/>
            <a:ext cx="51603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KCL: +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3200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/4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/8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365936" y="2411047"/>
            <a:ext cx="3361387" cy="475376"/>
            <a:chOff x="4365937" y="2411047"/>
            <a:chExt cx="1635618" cy="475376"/>
          </a:xfrm>
        </p:grpSpPr>
        <p:cxnSp>
          <p:nvCxnSpPr>
            <p:cNvPr id="7" name="Straight Arrow Connector 6"/>
            <p:cNvCxnSpPr/>
            <p:nvPr/>
          </p:nvCxnSpPr>
          <p:spPr bwMode="auto">
            <a:xfrm>
              <a:off x="4365937" y="2422784"/>
              <a:ext cx="0" cy="463639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4456471" y="2411047"/>
              <a:ext cx="15450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400" i="1" baseline="-250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8 </a:t>
              </a:r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= </a:t>
              </a:r>
              <a:r>
                <a:rPr lang="en-ZA" sz="2400" i="1" dirty="0" err="1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err="1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r>
                <a:rPr lang="en-ZA" sz="24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/8 A (ohm’s law)</a:t>
              </a:r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ZA" sz="2400" dirty="0">
                <a:solidFill>
                  <a:srgbClr val="080808"/>
                </a:solidFill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400116" y="3819716"/>
            <a:ext cx="43845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Ohm: </a:t>
            </a:r>
            <a:r>
              <a:rPr lang="en-ZA" sz="3200" i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i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/2 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3200" i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3200" i="1" baseline="-25000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o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2</a:t>
            </a:r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32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o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endParaRPr lang="en-ZA" sz="3200" i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2006" y="4584240"/>
            <a:ext cx="428194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3200" i="1" dirty="0" err="1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err="1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3200" i="1" dirty="0" err="1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err="1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/4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/8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1.5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</a:p>
          <a:p>
            <a:r>
              <a:rPr lang="en-ZA" sz="3200" i="1" u="sng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u="sng" baseline="-25000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i="1" u="sng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u="sng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4 A</a:t>
            </a:r>
            <a:endParaRPr lang="en-ZA" sz="3200" u="sng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1140" y="6167993"/>
            <a:ext cx="35184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i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3200" i="1" baseline="-25000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o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2</a:t>
            </a:r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32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o</a:t>
            </a:r>
            <a:r>
              <a:rPr lang="en-ZA" sz="32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</a:t>
            </a:r>
            <a:r>
              <a:rPr lang="en-ZA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24 = </a:t>
            </a:r>
            <a:r>
              <a:rPr lang="en-ZA" sz="3200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8 V </a:t>
            </a:r>
            <a:endParaRPr lang="en-ZA" sz="3200" i="1" u="sng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77434" y="4584240"/>
            <a:ext cx="4099199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ZA" sz="3200" dirty="0" smtClean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The Test:…</a:t>
            </a:r>
          </a:p>
          <a:p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+ 6 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i="1" dirty="0" err="1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err="1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3200" i="1" dirty="0" err="1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err="1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/4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3200" i="1" dirty="0" err="1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err="1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/8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+ 6 –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4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4/4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8/8 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6 – 4 – 1 – 1 = 0</a:t>
            </a:r>
            <a:endParaRPr lang="en-ZA" sz="32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676139" y="1336181"/>
            <a:ext cx="3664039" cy="119131"/>
          </a:xfrm>
          <a:prstGeom prst="roundRect">
            <a:avLst/>
          </a:prstGeom>
          <a:solidFill>
            <a:srgbClr val="FF33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75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0" grpId="0"/>
      <p:bldP spid="11" grpId="0"/>
      <p:bldP spid="12" grpId="0"/>
      <p:bldP spid="13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01897" y="327165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 2-11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Calculate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207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55"/>
          <a:stretch>
            <a:fillRect/>
          </a:stretch>
        </p:blipFill>
        <p:spPr bwMode="auto">
          <a:xfrm>
            <a:off x="461491" y="1281272"/>
            <a:ext cx="4873245" cy="211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rc 4"/>
          <p:cNvSpPr/>
          <p:nvPr/>
        </p:nvSpPr>
        <p:spPr bwMode="auto">
          <a:xfrm>
            <a:off x="1287885" y="2137893"/>
            <a:ext cx="1378042" cy="1107583"/>
          </a:xfrm>
          <a:prstGeom prst="arc">
            <a:avLst>
              <a:gd name="adj1" fmla="val 16288499"/>
              <a:gd name="adj2" fmla="val 13011368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6" name="Arc 5"/>
          <p:cNvSpPr/>
          <p:nvPr/>
        </p:nvSpPr>
        <p:spPr bwMode="auto">
          <a:xfrm>
            <a:off x="3554567" y="2137891"/>
            <a:ext cx="925133" cy="1107583"/>
          </a:xfrm>
          <a:prstGeom prst="arc">
            <a:avLst>
              <a:gd name="adj1" fmla="val 16180646"/>
              <a:gd name="adj2" fmla="val 13011368"/>
            </a:avLst>
          </a:prstGeom>
          <a:ln>
            <a:solidFill>
              <a:srgbClr val="0066CC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674" y="3647066"/>
            <a:ext cx="413767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KVL1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: – 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 + 5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6 V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235" y="5010080"/>
            <a:ext cx="434285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b="1" i="1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KVL2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: + 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 –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5 + 2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3 V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77433" y="3979028"/>
            <a:ext cx="3717684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ZA" sz="3200" dirty="0" smtClean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The Test:…</a:t>
            </a:r>
          </a:p>
          <a:p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V</a:t>
            </a:r>
            <a:r>
              <a:rPr lang="en-ZA" sz="3200" i="1" baseline="-250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 +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 +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6 + 1 + 2 + 3 = 0</a:t>
            </a:r>
          </a:p>
          <a:p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6 + 6 = 0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Arc 9"/>
          <p:cNvSpPr/>
          <p:nvPr/>
        </p:nvSpPr>
        <p:spPr bwMode="auto">
          <a:xfrm>
            <a:off x="409975" y="1401645"/>
            <a:ext cx="5153698" cy="2435714"/>
          </a:xfrm>
          <a:prstGeom prst="arc">
            <a:avLst>
              <a:gd name="adj1" fmla="val 16180646"/>
              <a:gd name="adj2" fmla="val 13011368"/>
            </a:avLst>
          </a:prstGeom>
          <a:ln>
            <a:solidFill>
              <a:srgbClr val="00B050"/>
            </a:solidFill>
            <a:prstDash val="sysDot"/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02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3" name="Picture 3" descr="ale29559_020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8"/>
          <a:stretch>
            <a:fillRect/>
          </a:stretch>
        </p:blipFill>
        <p:spPr bwMode="auto">
          <a:xfrm>
            <a:off x="229673" y="1281272"/>
            <a:ext cx="5679367" cy="2402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701897" y="327165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 2-18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1983" y="692478"/>
            <a:ext cx="2744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>
                <a:solidFill>
                  <a:srgbClr val="0066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ZA" dirty="0"/>
          </a:p>
        </p:txBody>
      </p:sp>
      <p:sp>
        <p:nvSpPr>
          <p:cNvPr id="6" name="Rectangle 5"/>
          <p:cNvSpPr/>
          <p:nvPr/>
        </p:nvSpPr>
        <p:spPr>
          <a:xfrm>
            <a:off x="267674" y="3647066"/>
            <a:ext cx="580319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KVL1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30 + 3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– 10 + 5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+ 8 = 0</a:t>
            </a:r>
          </a:p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      8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32</a:t>
            </a:r>
          </a:p>
          <a:p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	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 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4 A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23930" y="1891585"/>
            <a:ext cx="3768331" cy="385499"/>
            <a:chOff x="1223930" y="1891585"/>
            <a:chExt cx="3768331" cy="385499"/>
          </a:xfrm>
        </p:grpSpPr>
        <p:sp>
          <p:nvSpPr>
            <p:cNvPr id="8" name="Rectangle 7"/>
            <p:cNvSpPr/>
            <p:nvPr/>
          </p:nvSpPr>
          <p:spPr>
            <a:xfrm>
              <a:off x="1223930" y="1907752"/>
              <a:ext cx="10983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i="1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+ v</a:t>
              </a:r>
              <a:r>
                <a:rPr lang="en-ZA" i="1" baseline="-25000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ZA" i="1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=</a:t>
              </a:r>
              <a:r>
                <a:rPr lang="en-ZA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ZA" i="1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I </a:t>
              </a:r>
              <a:r>
                <a:rPr lang="en-ZA" dirty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–</a:t>
              </a:r>
              <a:endParaRPr lang="en-ZA" dirty="0">
                <a:solidFill>
                  <a:srgbClr val="000099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893883" y="1891585"/>
              <a:ext cx="10983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i="1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+ v</a:t>
              </a:r>
              <a:r>
                <a:rPr lang="en-ZA" i="1" baseline="-25000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ZA" i="1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=</a:t>
              </a:r>
              <a:r>
                <a:rPr lang="en-ZA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ZA" i="1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I </a:t>
              </a:r>
              <a:r>
                <a:rPr lang="en-ZA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–</a:t>
              </a:r>
              <a:endParaRPr lang="en-ZA" dirty="0">
                <a:solidFill>
                  <a:srgbClr val="000099"/>
                </a:solidFill>
              </a:endParaRPr>
            </a:p>
          </p:txBody>
        </p:sp>
      </p:grpSp>
      <p:sp>
        <p:nvSpPr>
          <p:cNvPr id="11" name="Arc 10"/>
          <p:cNvSpPr/>
          <p:nvPr/>
        </p:nvSpPr>
        <p:spPr bwMode="auto">
          <a:xfrm>
            <a:off x="701897" y="1532580"/>
            <a:ext cx="5349733" cy="2047745"/>
          </a:xfrm>
          <a:prstGeom prst="arc">
            <a:avLst>
              <a:gd name="adj1" fmla="val 16288499"/>
              <a:gd name="adj2" fmla="val 14753268"/>
            </a:avLst>
          </a:prstGeom>
          <a:ln>
            <a:solidFill>
              <a:srgbClr val="FF0000"/>
            </a:solidFill>
            <a:prstDash val="sysDot"/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2" name="Arc 11"/>
          <p:cNvSpPr/>
          <p:nvPr/>
        </p:nvSpPr>
        <p:spPr bwMode="auto">
          <a:xfrm>
            <a:off x="3696237" y="2073721"/>
            <a:ext cx="1174126" cy="1023873"/>
          </a:xfrm>
          <a:prstGeom prst="arc">
            <a:avLst>
              <a:gd name="adj1" fmla="val 17955579"/>
              <a:gd name="adj2" fmla="val 14753268"/>
            </a:avLst>
          </a:prstGeom>
          <a:ln>
            <a:solidFill>
              <a:srgbClr val="00B050"/>
            </a:solidFill>
            <a:prstDash val="sysDot"/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8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0347" y="4322859"/>
            <a:ext cx="5135317" cy="1077218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r>
              <a:rPr lang="en-ZA" sz="3200" b="1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KVL2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+ 5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+ 8 = 0</a:t>
            </a:r>
          </a:p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      </a:t>
            </a:r>
            <a:r>
              <a:rPr lang="en-ZA" sz="3200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3200" i="1" baseline="-25000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ab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5(4) + 8 = 28 V 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Arc 13"/>
          <p:cNvSpPr/>
          <p:nvPr/>
        </p:nvSpPr>
        <p:spPr bwMode="auto">
          <a:xfrm>
            <a:off x="1437064" y="2220687"/>
            <a:ext cx="1790261" cy="889765"/>
          </a:xfrm>
          <a:prstGeom prst="arc">
            <a:avLst>
              <a:gd name="adj1" fmla="val 17955579"/>
              <a:gd name="adj2" fmla="val 14753268"/>
            </a:avLst>
          </a:prstGeom>
          <a:ln>
            <a:solidFill>
              <a:srgbClr val="000099"/>
            </a:solidFill>
            <a:prstDash val="sysDot"/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800" b="0" i="0" u="none" strike="noStrike" cap="none" normalizeH="0" baseline="0" dirty="0" smtClean="0">
                <a:ln>
                  <a:noFill/>
                </a:ln>
                <a:solidFill>
                  <a:srgbClr val="000099"/>
                </a:solidFill>
                <a:effectLst/>
                <a:latin typeface="Verdana" pitchFamily="34" charset="0"/>
              </a:rPr>
              <a:t>3</a:t>
            </a:r>
          </a:p>
        </p:txBody>
      </p:sp>
      <p:graphicFrame>
        <p:nvGraphicFramePr>
          <p:cNvPr id="15" name="Object 1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40175168"/>
              </p:ext>
            </p:extLst>
          </p:nvPr>
        </p:nvGraphicFramePr>
        <p:xfrm>
          <a:off x="7913294" y="327165"/>
          <a:ext cx="973128" cy="265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0" name="Bitmap Image" r:id="rId4" imgW="1467055" imgH="4009524" progId="PBrush">
                  <p:embed/>
                </p:oleObj>
              </mc:Choice>
              <mc:Fallback>
                <p:oleObj name="Bitmap Image" r:id="rId4" imgW="1467055" imgH="4009524" progId="PBrush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3294" y="327165"/>
                        <a:ext cx="973128" cy="2657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6448006" y="707700"/>
            <a:ext cx="15311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3200" b="1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3200" b="1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iR</a:t>
            </a:r>
            <a:endParaRPr lang="en-US" sz="3200" b="1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9673" y="5632306"/>
            <a:ext cx="5400261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ZA" sz="32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KVL3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30 + 3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10 + </a:t>
            </a:r>
            <a:r>
              <a:rPr lang="en-ZA" sz="3200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      </a:t>
            </a:r>
            <a:r>
              <a:rPr lang="en-ZA" sz="3200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3200" i="1" baseline="-25000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ab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40 – 3(4) = 28 V 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3579918" y="1256061"/>
            <a:ext cx="4399277" cy="2749743"/>
            <a:chOff x="3579918" y="1256061"/>
            <a:chExt cx="4399277" cy="2749743"/>
          </a:xfrm>
        </p:grpSpPr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0579" y="1281272"/>
              <a:ext cx="1368616" cy="2244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Freeform 18"/>
            <p:cNvSpPr/>
            <p:nvPr/>
          </p:nvSpPr>
          <p:spPr>
            <a:xfrm>
              <a:off x="3579918" y="1256061"/>
              <a:ext cx="3758795" cy="2749743"/>
            </a:xfrm>
            <a:custGeom>
              <a:avLst/>
              <a:gdLst>
                <a:gd name="connsiteX0" fmla="*/ 1463040 w 2532185"/>
                <a:gd name="connsiteY0" fmla="*/ 2377440 h 2771336"/>
                <a:gd name="connsiteX1" fmla="*/ 1477108 w 2532185"/>
                <a:gd name="connsiteY1" fmla="*/ 2771336 h 2771336"/>
                <a:gd name="connsiteX2" fmla="*/ 2532185 w 2532185"/>
                <a:gd name="connsiteY2" fmla="*/ 2700997 h 2771336"/>
                <a:gd name="connsiteX3" fmla="*/ 2461846 w 2532185"/>
                <a:gd name="connsiteY3" fmla="*/ 42203 h 2771336"/>
                <a:gd name="connsiteX4" fmla="*/ 0 w 2532185"/>
                <a:gd name="connsiteY4" fmla="*/ 0 h 2771336"/>
                <a:gd name="connsiteX0" fmla="*/ 1463040 w 2475915"/>
                <a:gd name="connsiteY0" fmla="*/ 2377440 h 2771336"/>
                <a:gd name="connsiteX1" fmla="*/ 1477108 w 2475915"/>
                <a:gd name="connsiteY1" fmla="*/ 2771336 h 2771336"/>
                <a:gd name="connsiteX2" fmla="*/ 2475915 w 2475915"/>
                <a:gd name="connsiteY2" fmla="*/ 2757268 h 2771336"/>
                <a:gd name="connsiteX3" fmla="*/ 2461846 w 2475915"/>
                <a:gd name="connsiteY3" fmla="*/ 42203 h 2771336"/>
                <a:gd name="connsiteX4" fmla="*/ 0 w 2475915"/>
                <a:gd name="connsiteY4" fmla="*/ 0 h 2771336"/>
                <a:gd name="connsiteX0" fmla="*/ 1463040 w 2475915"/>
                <a:gd name="connsiteY0" fmla="*/ 2377440 h 2771336"/>
                <a:gd name="connsiteX1" fmla="*/ 1463040 w 2475915"/>
                <a:gd name="connsiteY1" fmla="*/ 2771336 h 2771336"/>
                <a:gd name="connsiteX2" fmla="*/ 2475915 w 2475915"/>
                <a:gd name="connsiteY2" fmla="*/ 2757268 h 2771336"/>
                <a:gd name="connsiteX3" fmla="*/ 2461846 w 2475915"/>
                <a:gd name="connsiteY3" fmla="*/ 42203 h 2771336"/>
                <a:gd name="connsiteX4" fmla="*/ 0 w 2475915"/>
                <a:gd name="connsiteY4" fmla="*/ 0 h 2771336"/>
                <a:gd name="connsiteX0" fmla="*/ 1463040 w 2477268"/>
                <a:gd name="connsiteY0" fmla="*/ 2377440 h 2771336"/>
                <a:gd name="connsiteX1" fmla="*/ 1463040 w 2477268"/>
                <a:gd name="connsiteY1" fmla="*/ 2771336 h 2771336"/>
                <a:gd name="connsiteX2" fmla="*/ 2475915 w 2477268"/>
                <a:gd name="connsiteY2" fmla="*/ 2757268 h 2771336"/>
                <a:gd name="connsiteX3" fmla="*/ 2475914 w 2477268"/>
                <a:gd name="connsiteY3" fmla="*/ 0 h 2771336"/>
                <a:gd name="connsiteX4" fmla="*/ 0 w 2477268"/>
                <a:gd name="connsiteY4" fmla="*/ 0 h 2771336"/>
                <a:gd name="connsiteX0" fmla="*/ 1506924 w 2477268"/>
                <a:gd name="connsiteY0" fmla="*/ 2362200 h 2771336"/>
                <a:gd name="connsiteX1" fmla="*/ 1463040 w 2477268"/>
                <a:gd name="connsiteY1" fmla="*/ 2771336 h 2771336"/>
                <a:gd name="connsiteX2" fmla="*/ 2475915 w 2477268"/>
                <a:gd name="connsiteY2" fmla="*/ 2757268 h 2771336"/>
                <a:gd name="connsiteX3" fmla="*/ 2475914 w 2477268"/>
                <a:gd name="connsiteY3" fmla="*/ 0 h 2771336"/>
                <a:gd name="connsiteX4" fmla="*/ 0 w 2477268"/>
                <a:gd name="connsiteY4" fmla="*/ 0 h 2771336"/>
                <a:gd name="connsiteX0" fmla="*/ 1441097 w 2411441"/>
                <a:gd name="connsiteY0" fmla="*/ 2362200 h 2771336"/>
                <a:gd name="connsiteX1" fmla="*/ 1397213 w 2411441"/>
                <a:gd name="connsiteY1" fmla="*/ 2771336 h 2771336"/>
                <a:gd name="connsiteX2" fmla="*/ 2410088 w 2411441"/>
                <a:gd name="connsiteY2" fmla="*/ 2757268 h 2771336"/>
                <a:gd name="connsiteX3" fmla="*/ 2410087 w 2411441"/>
                <a:gd name="connsiteY3" fmla="*/ 0 h 2771336"/>
                <a:gd name="connsiteX4" fmla="*/ 0 w 2411441"/>
                <a:gd name="connsiteY4" fmla="*/ 0 h 2771336"/>
                <a:gd name="connsiteX0" fmla="*/ 1441097 w 2411441"/>
                <a:gd name="connsiteY0" fmla="*/ 2362200 h 2771336"/>
                <a:gd name="connsiteX1" fmla="*/ 1397213 w 2411441"/>
                <a:gd name="connsiteY1" fmla="*/ 2771336 h 2771336"/>
                <a:gd name="connsiteX2" fmla="*/ 2410088 w 2411441"/>
                <a:gd name="connsiteY2" fmla="*/ 2757268 h 2771336"/>
                <a:gd name="connsiteX3" fmla="*/ 2410087 w 2411441"/>
                <a:gd name="connsiteY3" fmla="*/ 0 h 2771336"/>
                <a:gd name="connsiteX4" fmla="*/ 0 w 2411441"/>
                <a:gd name="connsiteY4" fmla="*/ 0 h 2771336"/>
                <a:gd name="connsiteX0" fmla="*/ 1441097 w 2411441"/>
                <a:gd name="connsiteY0" fmla="*/ 2362200 h 2982172"/>
                <a:gd name="connsiteX1" fmla="*/ 1397213 w 2411441"/>
                <a:gd name="connsiteY1" fmla="*/ 2771336 h 2982172"/>
                <a:gd name="connsiteX2" fmla="*/ 2410088 w 2411441"/>
                <a:gd name="connsiteY2" fmla="*/ 2757268 h 2982172"/>
                <a:gd name="connsiteX3" fmla="*/ 2410087 w 2411441"/>
                <a:gd name="connsiteY3" fmla="*/ 0 h 2982172"/>
                <a:gd name="connsiteX4" fmla="*/ 0 w 2411441"/>
                <a:gd name="connsiteY4" fmla="*/ 0 h 2982172"/>
                <a:gd name="connsiteX0" fmla="*/ 1441097 w 2410088"/>
                <a:gd name="connsiteY0" fmla="*/ 2362200 h 2982172"/>
                <a:gd name="connsiteX1" fmla="*/ 1397213 w 2410088"/>
                <a:gd name="connsiteY1" fmla="*/ 2771336 h 2982172"/>
                <a:gd name="connsiteX2" fmla="*/ 2410088 w 2410088"/>
                <a:gd name="connsiteY2" fmla="*/ 2757268 h 2982172"/>
                <a:gd name="connsiteX3" fmla="*/ 2410087 w 2410088"/>
                <a:gd name="connsiteY3" fmla="*/ 0 h 2982172"/>
                <a:gd name="connsiteX4" fmla="*/ 0 w 2410088"/>
                <a:gd name="connsiteY4" fmla="*/ 0 h 2982172"/>
                <a:gd name="connsiteX0" fmla="*/ 1441097 w 2410088"/>
                <a:gd name="connsiteY0" fmla="*/ 2566442 h 3186414"/>
                <a:gd name="connsiteX1" fmla="*/ 1397213 w 2410088"/>
                <a:gd name="connsiteY1" fmla="*/ 2975578 h 3186414"/>
                <a:gd name="connsiteX2" fmla="*/ 2410088 w 2410088"/>
                <a:gd name="connsiteY2" fmla="*/ 2961510 h 3186414"/>
                <a:gd name="connsiteX3" fmla="*/ 2410087 w 2410088"/>
                <a:gd name="connsiteY3" fmla="*/ 204242 h 3186414"/>
                <a:gd name="connsiteX4" fmla="*/ 0 w 2410088"/>
                <a:gd name="connsiteY4" fmla="*/ 204242 h 3186414"/>
                <a:gd name="connsiteX0" fmla="*/ 1441097 w 2422111"/>
                <a:gd name="connsiteY0" fmla="*/ 2566442 h 2980162"/>
                <a:gd name="connsiteX1" fmla="*/ 1397213 w 2422111"/>
                <a:gd name="connsiteY1" fmla="*/ 2975578 h 2980162"/>
                <a:gd name="connsiteX2" fmla="*/ 2422111 w 2422111"/>
                <a:gd name="connsiteY2" fmla="*/ 1921850 h 2980162"/>
                <a:gd name="connsiteX3" fmla="*/ 2410087 w 2422111"/>
                <a:gd name="connsiteY3" fmla="*/ 204242 h 2980162"/>
                <a:gd name="connsiteX4" fmla="*/ 0 w 2422111"/>
                <a:gd name="connsiteY4" fmla="*/ 204242 h 2980162"/>
                <a:gd name="connsiteX0" fmla="*/ 1441097 w 2422111"/>
                <a:gd name="connsiteY0" fmla="*/ 2566442 h 2905542"/>
                <a:gd name="connsiteX1" fmla="*/ 2082533 w 2422111"/>
                <a:gd name="connsiteY1" fmla="*/ 2900422 h 2905542"/>
                <a:gd name="connsiteX2" fmla="*/ 2422111 w 2422111"/>
                <a:gd name="connsiteY2" fmla="*/ 1921850 h 2905542"/>
                <a:gd name="connsiteX3" fmla="*/ 2410087 w 2422111"/>
                <a:gd name="connsiteY3" fmla="*/ 204242 h 2905542"/>
                <a:gd name="connsiteX4" fmla="*/ 0 w 2422111"/>
                <a:gd name="connsiteY4" fmla="*/ 204242 h 2905542"/>
                <a:gd name="connsiteX0" fmla="*/ 1441097 w 2662575"/>
                <a:gd name="connsiteY0" fmla="*/ 2566442 h 2903294"/>
                <a:gd name="connsiteX1" fmla="*/ 2082533 w 2662575"/>
                <a:gd name="connsiteY1" fmla="*/ 2900422 h 2903294"/>
                <a:gd name="connsiteX2" fmla="*/ 2662575 w 2662575"/>
                <a:gd name="connsiteY2" fmla="*/ 1420808 h 2903294"/>
                <a:gd name="connsiteX3" fmla="*/ 2410087 w 2662575"/>
                <a:gd name="connsiteY3" fmla="*/ 204242 h 2903294"/>
                <a:gd name="connsiteX4" fmla="*/ 0 w 2662575"/>
                <a:gd name="connsiteY4" fmla="*/ 204242 h 2903294"/>
                <a:gd name="connsiteX0" fmla="*/ 1441097 w 2662575"/>
                <a:gd name="connsiteY0" fmla="*/ 2548094 h 2884946"/>
                <a:gd name="connsiteX1" fmla="*/ 2082533 w 2662575"/>
                <a:gd name="connsiteY1" fmla="*/ 2882074 h 2884946"/>
                <a:gd name="connsiteX2" fmla="*/ 2662575 w 2662575"/>
                <a:gd name="connsiteY2" fmla="*/ 1402460 h 2884946"/>
                <a:gd name="connsiteX3" fmla="*/ 2614481 w 2662575"/>
                <a:gd name="connsiteY3" fmla="*/ 210946 h 2884946"/>
                <a:gd name="connsiteX4" fmla="*/ 0 w 2662575"/>
                <a:gd name="connsiteY4" fmla="*/ 185894 h 2884946"/>
                <a:gd name="connsiteX0" fmla="*/ 1441097 w 2856523"/>
                <a:gd name="connsiteY0" fmla="*/ 2548094 h 2884885"/>
                <a:gd name="connsiteX1" fmla="*/ 2082533 w 2856523"/>
                <a:gd name="connsiteY1" fmla="*/ 2882074 h 2884885"/>
                <a:gd name="connsiteX2" fmla="*/ 2662575 w 2856523"/>
                <a:gd name="connsiteY2" fmla="*/ 1402460 h 2884885"/>
                <a:gd name="connsiteX3" fmla="*/ 2770968 w 2856523"/>
                <a:gd name="connsiteY3" fmla="*/ 886388 h 2884885"/>
                <a:gd name="connsiteX4" fmla="*/ 2614481 w 2856523"/>
                <a:gd name="connsiteY4" fmla="*/ 210946 h 2884885"/>
                <a:gd name="connsiteX5" fmla="*/ 0 w 2856523"/>
                <a:gd name="connsiteY5" fmla="*/ 185894 h 2884885"/>
                <a:gd name="connsiteX0" fmla="*/ 1441097 w 2829344"/>
                <a:gd name="connsiteY0" fmla="*/ 2363494 h 2700285"/>
                <a:gd name="connsiteX1" fmla="*/ 2082533 w 2829344"/>
                <a:gd name="connsiteY1" fmla="*/ 2697474 h 2700285"/>
                <a:gd name="connsiteX2" fmla="*/ 2662575 w 2829344"/>
                <a:gd name="connsiteY2" fmla="*/ 1217860 h 2700285"/>
                <a:gd name="connsiteX3" fmla="*/ 2770968 w 2829344"/>
                <a:gd name="connsiteY3" fmla="*/ 701788 h 2700285"/>
                <a:gd name="connsiteX4" fmla="*/ 2566388 w 2829344"/>
                <a:gd name="connsiteY4" fmla="*/ 414653 h 2700285"/>
                <a:gd name="connsiteX5" fmla="*/ 0 w 2829344"/>
                <a:gd name="connsiteY5" fmla="*/ 1294 h 2700285"/>
                <a:gd name="connsiteX0" fmla="*/ 1441097 w 2829344"/>
                <a:gd name="connsiteY0" fmla="*/ 2363494 h 2700285"/>
                <a:gd name="connsiteX1" fmla="*/ 2082533 w 2829344"/>
                <a:gd name="connsiteY1" fmla="*/ 2697474 h 2700285"/>
                <a:gd name="connsiteX2" fmla="*/ 2662575 w 2829344"/>
                <a:gd name="connsiteY2" fmla="*/ 1217860 h 2700285"/>
                <a:gd name="connsiteX3" fmla="*/ 2770969 w 2829344"/>
                <a:gd name="connsiteY3" fmla="*/ 1190303 h 2700285"/>
                <a:gd name="connsiteX4" fmla="*/ 2566388 w 2829344"/>
                <a:gd name="connsiteY4" fmla="*/ 414653 h 2700285"/>
                <a:gd name="connsiteX5" fmla="*/ 0 w 2829344"/>
                <a:gd name="connsiteY5" fmla="*/ 1294 h 2700285"/>
                <a:gd name="connsiteX0" fmla="*/ 1441097 w 2871275"/>
                <a:gd name="connsiteY0" fmla="*/ 2456436 h 2793227"/>
                <a:gd name="connsiteX1" fmla="*/ 2082533 w 2871275"/>
                <a:gd name="connsiteY1" fmla="*/ 2790416 h 2793227"/>
                <a:gd name="connsiteX2" fmla="*/ 2662575 w 2871275"/>
                <a:gd name="connsiteY2" fmla="*/ 1310802 h 2793227"/>
                <a:gd name="connsiteX3" fmla="*/ 2770969 w 2871275"/>
                <a:gd name="connsiteY3" fmla="*/ 1283245 h 2793227"/>
                <a:gd name="connsiteX4" fmla="*/ 2638528 w 2871275"/>
                <a:gd name="connsiteY4" fmla="*/ 257074 h 2793227"/>
                <a:gd name="connsiteX5" fmla="*/ 0 w 2871275"/>
                <a:gd name="connsiteY5" fmla="*/ 94236 h 2793227"/>
                <a:gd name="connsiteX0" fmla="*/ 1441097 w 2865677"/>
                <a:gd name="connsiteY0" fmla="*/ 2456436 h 2793192"/>
                <a:gd name="connsiteX1" fmla="*/ 2082533 w 2865677"/>
                <a:gd name="connsiteY1" fmla="*/ 2790416 h 2793192"/>
                <a:gd name="connsiteX2" fmla="*/ 2662575 w 2865677"/>
                <a:gd name="connsiteY2" fmla="*/ 1310802 h 2793192"/>
                <a:gd name="connsiteX3" fmla="*/ 2638528 w 2865677"/>
                <a:gd name="connsiteY3" fmla="*/ 257074 h 2793192"/>
                <a:gd name="connsiteX4" fmla="*/ 0 w 2865677"/>
                <a:gd name="connsiteY4" fmla="*/ 94236 h 2793192"/>
                <a:gd name="connsiteX0" fmla="*/ 1441097 w 2878140"/>
                <a:gd name="connsiteY0" fmla="*/ 2456436 h 2795244"/>
                <a:gd name="connsiteX1" fmla="*/ 2082533 w 2878140"/>
                <a:gd name="connsiteY1" fmla="*/ 2790416 h 2795244"/>
                <a:gd name="connsiteX2" fmla="*/ 2698645 w 2878140"/>
                <a:gd name="connsiteY2" fmla="*/ 1811844 h 2795244"/>
                <a:gd name="connsiteX3" fmla="*/ 2638528 w 2878140"/>
                <a:gd name="connsiteY3" fmla="*/ 257074 h 2795244"/>
                <a:gd name="connsiteX4" fmla="*/ 0 w 2878140"/>
                <a:gd name="connsiteY4" fmla="*/ 94236 h 2795244"/>
                <a:gd name="connsiteX0" fmla="*/ 1441097 w 2718477"/>
                <a:gd name="connsiteY0" fmla="*/ 2487674 h 2826482"/>
                <a:gd name="connsiteX1" fmla="*/ 2082533 w 2718477"/>
                <a:gd name="connsiteY1" fmla="*/ 2821654 h 2826482"/>
                <a:gd name="connsiteX2" fmla="*/ 2698645 w 2718477"/>
                <a:gd name="connsiteY2" fmla="*/ 1843082 h 2826482"/>
                <a:gd name="connsiteX3" fmla="*/ 2109508 w 2718477"/>
                <a:gd name="connsiteY3" fmla="*/ 238208 h 2826482"/>
                <a:gd name="connsiteX4" fmla="*/ 0 w 2718477"/>
                <a:gd name="connsiteY4" fmla="*/ 125474 h 2826482"/>
                <a:gd name="connsiteX0" fmla="*/ 1441097 w 2566077"/>
                <a:gd name="connsiteY0" fmla="*/ 2487674 h 2824237"/>
                <a:gd name="connsiteX1" fmla="*/ 2082533 w 2566077"/>
                <a:gd name="connsiteY1" fmla="*/ 2821654 h 2824237"/>
                <a:gd name="connsiteX2" fmla="*/ 2530321 w 2566077"/>
                <a:gd name="connsiteY2" fmla="*/ 1254359 h 2824237"/>
                <a:gd name="connsiteX3" fmla="*/ 2109508 w 2566077"/>
                <a:gd name="connsiteY3" fmla="*/ 238208 h 2824237"/>
                <a:gd name="connsiteX4" fmla="*/ 0 w 2566077"/>
                <a:gd name="connsiteY4" fmla="*/ 125474 h 2824237"/>
                <a:gd name="connsiteX0" fmla="*/ 1441097 w 2566077"/>
                <a:gd name="connsiteY0" fmla="*/ 2487674 h 2911751"/>
                <a:gd name="connsiteX1" fmla="*/ 1745885 w 2566077"/>
                <a:gd name="connsiteY1" fmla="*/ 2909336 h 2911751"/>
                <a:gd name="connsiteX2" fmla="*/ 2530321 w 2566077"/>
                <a:gd name="connsiteY2" fmla="*/ 1254359 h 2911751"/>
                <a:gd name="connsiteX3" fmla="*/ 2109508 w 2566077"/>
                <a:gd name="connsiteY3" fmla="*/ 238208 h 2911751"/>
                <a:gd name="connsiteX4" fmla="*/ 0 w 2566077"/>
                <a:gd name="connsiteY4" fmla="*/ 125474 h 2911751"/>
                <a:gd name="connsiteX0" fmla="*/ 1441097 w 2517039"/>
                <a:gd name="connsiteY0" fmla="*/ 2487674 h 2926147"/>
                <a:gd name="connsiteX1" fmla="*/ 1745885 w 2517039"/>
                <a:gd name="connsiteY1" fmla="*/ 2909336 h 2926147"/>
                <a:gd name="connsiteX2" fmla="*/ 2470206 w 2517039"/>
                <a:gd name="connsiteY2" fmla="*/ 2431806 h 2926147"/>
                <a:gd name="connsiteX3" fmla="*/ 2109508 w 2517039"/>
                <a:gd name="connsiteY3" fmla="*/ 238208 h 2926147"/>
                <a:gd name="connsiteX4" fmla="*/ 0 w 2517039"/>
                <a:gd name="connsiteY4" fmla="*/ 125474 h 2926147"/>
                <a:gd name="connsiteX0" fmla="*/ 1441097 w 2599891"/>
                <a:gd name="connsiteY0" fmla="*/ 2409632 h 2848105"/>
                <a:gd name="connsiteX1" fmla="*/ 1745885 w 2599891"/>
                <a:gd name="connsiteY1" fmla="*/ 2831294 h 2848105"/>
                <a:gd name="connsiteX2" fmla="*/ 2470206 w 2599891"/>
                <a:gd name="connsiteY2" fmla="*/ 2353764 h 2848105"/>
                <a:gd name="connsiteX3" fmla="*/ 2325925 w 2599891"/>
                <a:gd name="connsiteY3" fmla="*/ 297952 h 2848105"/>
                <a:gd name="connsiteX4" fmla="*/ 0 w 2599891"/>
                <a:gd name="connsiteY4" fmla="*/ 47432 h 2848105"/>
                <a:gd name="connsiteX0" fmla="*/ 3607897 w 4766691"/>
                <a:gd name="connsiteY0" fmla="*/ 2232489 h 2670962"/>
                <a:gd name="connsiteX1" fmla="*/ 3912685 w 4766691"/>
                <a:gd name="connsiteY1" fmla="*/ 2654151 h 2670962"/>
                <a:gd name="connsiteX2" fmla="*/ 4637006 w 4766691"/>
                <a:gd name="connsiteY2" fmla="*/ 2176621 h 2670962"/>
                <a:gd name="connsiteX3" fmla="*/ 4492725 w 4766691"/>
                <a:gd name="connsiteY3" fmla="*/ 120809 h 2670962"/>
                <a:gd name="connsiteX4" fmla="*/ 0 w 4766691"/>
                <a:gd name="connsiteY4" fmla="*/ 660864 h 2670962"/>
                <a:gd name="connsiteX0" fmla="*/ 3607897 w 4737265"/>
                <a:gd name="connsiteY0" fmla="*/ 2241145 h 2679730"/>
                <a:gd name="connsiteX1" fmla="*/ 3912685 w 4737265"/>
                <a:gd name="connsiteY1" fmla="*/ 2662807 h 2679730"/>
                <a:gd name="connsiteX2" fmla="*/ 4637006 w 4737265"/>
                <a:gd name="connsiteY2" fmla="*/ 2185277 h 2679730"/>
                <a:gd name="connsiteX3" fmla="*/ 1448234 w 4737265"/>
                <a:gd name="connsiteY3" fmla="*/ 119940 h 2679730"/>
                <a:gd name="connsiteX4" fmla="*/ 0 w 4737265"/>
                <a:gd name="connsiteY4" fmla="*/ 669520 h 2679730"/>
                <a:gd name="connsiteX0" fmla="*/ 3607897 w 3935930"/>
                <a:gd name="connsiteY0" fmla="*/ 2241145 h 2756861"/>
                <a:gd name="connsiteX1" fmla="*/ 3912685 w 3935930"/>
                <a:gd name="connsiteY1" fmla="*/ 2662807 h 2756861"/>
                <a:gd name="connsiteX2" fmla="*/ 2835911 w 3935930"/>
                <a:gd name="connsiteY2" fmla="*/ 2499602 h 2756861"/>
                <a:gd name="connsiteX3" fmla="*/ 1448234 w 3935930"/>
                <a:gd name="connsiteY3" fmla="*/ 119940 h 2756861"/>
                <a:gd name="connsiteX4" fmla="*/ 0 w 3935930"/>
                <a:gd name="connsiteY4" fmla="*/ 669520 h 2756861"/>
                <a:gd name="connsiteX0" fmla="*/ 3607897 w 3607897"/>
                <a:gd name="connsiteY0" fmla="*/ 2241145 h 2761911"/>
                <a:gd name="connsiteX1" fmla="*/ 3464697 w 3607897"/>
                <a:gd name="connsiteY1" fmla="*/ 2672332 h 2761911"/>
                <a:gd name="connsiteX2" fmla="*/ 2835911 w 3607897"/>
                <a:gd name="connsiteY2" fmla="*/ 2499602 h 2761911"/>
                <a:gd name="connsiteX3" fmla="*/ 1448234 w 3607897"/>
                <a:gd name="connsiteY3" fmla="*/ 119940 h 2761911"/>
                <a:gd name="connsiteX4" fmla="*/ 0 w 3607897"/>
                <a:gd name="connsiteY4" fmla="*/ 669520 h 2761911"/>
                <a:gd name="connsiteX0" fmla="*/ 3607897 w 3607897"/>
                <a:gd name="connsiteY0" fmla="*/ 2209692 h 2730458"/>
                <a:gd name="connsiteX1" fmla="*/ 3464697 w 3607897"/>
                <a:gd name="connsiteY1" fmla="*/ 2640879 h 2730458"/>
                <a:gd name="connsiteX2" fmla="*/ 2835911 w 3607897"/>
                <a:gd name="connsiteY2" fmla="*/ 2468149 h 2730458"/>
                <a:gd name="connsiteX3" fmla="*/ 1448234 w 3607897"/>
                <a:gd name="connsiteY3" fmla="*/ 88487 h 2730458"/>
                <a:gd name="connsiteX4" fmla="*/ 449411 w 3607897"/>
                <a:gd name="connsiteY4" fmla="*/ 521191 h 2730458"/>
                <a:gd name="connsiteX5" fmla="*/ 0 w 3607897"/>
                <a:gd name="connsiteY5" fmla="*/ 638067 h 2730458"/>
                <a:gd name="connsiteX0" fmla="*/ 3607897 w 3607897"/>
                <a:gd name="connsiteY0" fmla="*/ 2277897 h 2798663"/>
                <a:gd name="connsiteX1" fmla="*/ 3464697 w 3607897"/>
                <a:gd name="connsiteY1" fmla="*/ 2709084 h 2798663"/>
                <a:gd name="connsiteX2" fmla="*/ 2835911 w 3607897"/>
                <a:gd name="connsiteY2" fmla="*/ 2536354 h 2798663"/>
                <a:gd name="connsiteX3" fmla="*/ 1448234 w 3607897"/>
                <a:gd name="connsiteY3" fmla="*/ 156692 h 2798663"/>
                <a:gd name="connsiteX4" fmla="*/ 339699 w 3607897"/>
                <a:gd name="connsiteY4" fmla="*/ 189346 h 2798663"/>
                <a:gd name="connsiteX5" fmla="*/ 0 w 3607897"/>
                <a:gd name="connsiteY5" fmla="*/ 706272 h 2798663"/>
                <a:gd name="connsiteX0" fmla="*/ 3607897 w 3607897"/>
                <a:gd name="connsiteY0" fmla="*/ 2272501 h 2793267"/>
                <a:gd name="connsiteX1" fmla="*/ 3464697 w 3607897"/>
                <a:gd name="connsiteY1" fmla="*/ 2703688 h 2793267"/>
                <a:gd name="connsiteX2" fmla="*/ 2835911 w 3607897"/>
                <a:gd name="connsiteY2" fmla="*/ 2530958 h 2793267"/>
                <a:gd name="connsiteX3" fmla="*/ 1448234 w 3607897"/>
                <a:gd name="connsiteY3" fmla="*/ 151296 h 2793267"/>
                <a:gd name="connsiteX4" fmla="*/ 431125 w 3607897"/>
                <a:gd name="connsiteY4" fmla="*/ 203000 h 2793267"/>
                <a:gd name="connsiteX5" fmla="*/ 0 w 3607897"/>
                <a:gd name="connsiteY5" fmla="*/ 700876 h 2793267"/>
                <a:gd name="connsiteX0" fmla="*/ 3607897 w 3607897"/>
                <a:gd name="connsiteY0" fmla="*/ 2232665 h 2749743"/>
                <a:gd name="connsiteX1" fmla="*/ 3464697 w 3607897"/>
                <a:gd name="connsiteY1" fmla="*/ 2663852 h 2749743"/>
                <a:gd name="connsiteX2" fmla="*/ 2835911 w 3607897"/>
                <a:gd name="connsiteY2" fmla="*/ 2491122 h 2749743"/>
                <a:gd name="connsiteX3" fmla="*/ 1941935 w 3607897"/>
                <a:gd name="connsiteY3" fmla="*/ 168610 h 2749743"/>
                <a:gd name="connsiteX4" fmla="*/ 431125 w 3607897"/>
                <a:gd name="connsiteY4" fmla="*/ 163164 h 2749743"/>
                <a:gd name="connsiteX5" fmla="*/ 0 w 3607897"/>
                <a:gd name="connsiteY5" fmla="*/ 661040 h 2749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7897" h="2749743">
                  <a:moveTo>
                    <a:pt x="3607897" y="2232665"/>
                  </a:moveTo>
                  <a:cubicBezTo>
                    <a:pt x="3593269" y="2369044"/>
                    <a:pt x="3593361" y="2620776"/>
                    <a:pt x="3464697" y="2663852"/>
                  </a:cubicBezTo>
                  <a:cubicBezTo>
                    <a:pt x="3336033" y="2706928"/>
                    <a:pt x="3089705" y="2906996"/>
                    <a:pt x="2835911" y="2491122"/>
                  </a:cubicBezTo>
                  <a:cubicBezTo>
                    <a:pt x="2582117" y="2075248"/>
                    <a:pt x="2339685" y="493103"/>
                    <a:pt x="1941935" y="168610"/>
                  </a:cubicBezTo>
                  <a:cubicBezTo>
                    <a:pt x="1544185" y="-155883"/>
                    <a:pt x="672497" y="71567"/>
                    <a:pt x="431125" y="163164"/>
                  </a:cubicBezTo>
                  <a:cubicBezTo>
                    <a:pt x="189753" y="254761"/>
                    <a:pt x="74902" y="641561"/>
                    <a:pt x="0" y="661040"/>
                  </a:cubicBezTo>
                </a:path>
              </a:pathLst>
            </a:custGeom>
            <a:ln w="38100">
              <a:solidFill>
                <a:srgbClr val="FF0000"/>
              </a:solidFill>
              <a:tailEnd type="oval" w="lg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0" name="Freeform 19"/>
            <p:cNvSpPr/>
            <p:nvPr/>
          </p:nvSpPr>
          <p:spPr>
            <a:xfrm>
              <a:off x="3592450" y="3265479"/>
              <a:ext cx="3447591" cy="392896"/>
            </a:xfrm>
            <a:custGeom>
              <a:avLst/>
              <a:gdLst>
                <a:gd name="connsiteX0" fmla="*/ 1104900 w 1188720"/>
                <a:gd name="connsiteY0" fmla="*/ 0 h 266700"/>
                <a:gd name="connsiteX1" fmla="*/ 1188720 w 1188720"/>
                <a:gd name="connsiteY1" fmla="*/ 266700 h 266700"/>
                <a:gd name="connsiteX2" fmla="*/ 0 w 1188720"/>
                <a:gd name="connsiteY2" fmla="*/ 243840 h 266700"/>
                <a:gd name="connsiteX0" fmla="*/ 1104900 w 1257643"/>
                <a:gd name="connsiteY0" fmla="*/ 0 h 266700"/>
                <a:gd name="connsiteX1" fmla="*/ 1188720 w 1257643"/>
                <a:gd name="connsiteY1" fmla="*/ 266700 h 266700"/>
                <a:gd name="connsiteX2" fmla="*/ 0 w 1257643"/>
                <a:gd name="connsiteY2" fmla="*/ 243840 h 266700"/>
                <a:gd name="connsiteX0" fmla="*/ 3438525 w 3591268"/>
                <a:gd name="connsiteY0" fmla="*/ 241935 h 508635"/>
                <a:gd name="connsiteX1" fmla="*/ 3522345 w 3591268"/>
                <a:gd name="connsiteY1" fmla="*/ 508635 h 508635"/>
                <a:gd name="connsiteX2" fmla="*/ 0 w 3591268"/>
                <a:gd name="connsiteY2" fmla="*/ 0 h 508635"/>
                <a:gd name="connsiteX0" fmla="*/ 3438525 w 3438797"/>
                <a:gd name="connsiteY0" fmla="*/ 241935 h 265311"/>
                <a:gd name="connsiteX1" fmla="*/ 1150620 w 3438797"/>
                <a:gd name="connsiteY1" fmla="*/ 175260 h 265311"/>
                <a:gd name="connsiteX2" fmla="*/ 0 w 3438797"/>
                <a:gd name="connsiteY2" fmla="*/ 0 h 265311"/>
                <a:gd name="connsiteX0" fmla="*/ 3438525 w 3438525"/>
                <a:gd name="connsiteY0" fmla="*/ 241935 h 241935"/>
                <a:gd name="connsiteX1" fmla="*/ 1827276 w 3438525"/>
                <a:gd name="connsiteY1" fmla="*/ 173047 h 241935"/>
                <a:gd name="connsiteX2" fmla="*/ 1150620 w 3438525"/>
                <a:gd name="connsiteY2" fmla="*/ 175260 h 241935"/>
                <a:gd name="connsiteX3" fmla="*/ 0 w 3438525"/>
                <a:gd name="connsiteY3" fmla="*/ 0 h 241935"/>
                <a:gd name="connsiteX0" fmla="*/ 3438525 w 3465576"/>
                <a:gd name="connsiteY0" fmla="*/ 241935 h 420697"/>
                <a:gd name="connsiteX1" fmla="*/ 3465576 w 3465576"/>
                <a:gd name="connsiteY1" fmla="*/ 420697 h 420697"/>
                <a:gd name="connsiteX2" fmla="*/ 1150620 w 3465576"/>
                <a:gd name="connsiteY2" fmla="*/ 175260 h 420697"/>
                <a:gd name="connsiteX3" fmla="*/ 0 w 3465576"/>
                <a:gd name="connsiteY3" fmla="*/ 0 h 420697"/>
                <a:gd name="connsiteX0" fmla="*/ 3438525 w 3630195"/>
                <a:gd name="connsiteY0" fmla="*/ 241935 h 421365"/>
                <a:gd name="connsiteX1" fmla="*/ 3465576 w 3630195"/>
                <a:gd name="connsiteY1" fmla="*/ 420697 h 421365"/>
                <a:gd name="connsiteX2" fmla="*/ 1150620 w 3630195"/>
                <a:gd name="connsiteY2" fmla="*/ 175260 h 421365"/>
                <a:gd name="connsiteX3" fmla="*/ 0 w 3630195"/>
                <a:gd name="connsiteY3" fmla="*/ 0 h 421365"/>
                <a:gd name="connsiteX0" fmla="*/ 3438525 w 3514266"/>
                <a:gd name="connsiteY0" fmla="*/ 241935 h 402421"/>
                <a:gd name="connsiteX1" fmla="*/ 3294126 w 3514266"/>
                <a:gd name="connsiteY1" fmla="*/ 401647 h 402421"/>
                <a:gd name="connsiteX2" fmla="*/ 1150620 w 3514266"/>
                <a:gd name="connsiteY2" fmla="*/ 175260 h 402421"/>
                <a:gd name="connsiteX3" fmla="*/ 0 w 3514266"/>
                <a:gd name="connsiteY3" fmla="*/ 0 h 402421"/>
                <a:gd name="connsiteX0" fmla="*/ 3371850 w 3447591"/>
                <a:gd name="connsiteY0" fmla="*/ 232410 h 392896"/>
                <a:gd name="connsiteX1" fmla="*/ 3227451 w 3447591"/>
                <a:gd name="connsiteY1" fmla="*/ 392122 h 392896"/>
                <a:gd name="connsiteX2" fmla="*/ 1083945 w 3447591"/>
                <a:gd name="connsiteY2" fmla="*/ 165735 h 392896"/>
                <a:gd name="connsiteX3" fmla="*/ 0 w 3447591"/>
                <a:gd name="connsiteY3" fmla="*/ 0 h 39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7591" h="392896">
                  <a:moveTo>
                    <a:pt x="3371850" y="232410"/>
                  </a:moveTo>
                  <a:cubicBezTo>
                    <a:pt x="3380867" y="291997"/>
                    <a:pt x="3608768" y="403234"/>
                    <a:pt x="3227451" y="392122"/>
                  </a:cubicBezTo>
                  <a:cubicBezTo>
                    <a:pt x="2846134" y="381010"/>
                    <a:pt x="1388491" y="194576"/>
                    <a:pt x="1083945" y="165735"/>
                  </a:cubicBezTo>
                  <a:cubicBezTo>
                    <a:pt x="687705" y="158115"/>
                    <a:pt x="396240" y="7620"/>
                    <a:pt x="0" y="0"/>
                  </a:cubicBezTo>
                </a:path>
              </a:pathLst>
            </a:custGeom>
            <a:ln w="38100">
              <a:solidFill>
                <a:srgbClr val="080808"/>
              </a:solidFill>
              <a:tailEnd type="oval" w="lg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76975" y="1411961"/>
              <a:ext cx="952191" cy="369332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ZA" sz="2400" dirty="0" err="1" smtClean="0">
                  <a:solidFill>
                    <a:srgbClr val="080808"/>
                  </a:solidFill>
                </a:rPr>
                <a:t>V</a:t>
              </a:r>
              <a:r>
                <a:rPr lang="en-ZA" sz="2400" baseline="-25000" dirty="0" err="1" smtClean="0">
                  <a:solidFill>
                    <a:srgbClr val="080808"/>
                  </a:solidFill>
                </a:rPr>
                <a:t>ab</a:t>
              </a:r>
              <a:endParaRPr lang="en-ZA" sz="2400" dirty="0">
                <a:solidFill>
                  <a:srgbClr val="08080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672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2" grpId="0" animBg="1"/>
      <p:bldP spid="13" grpId="0" animBg="1"/>
      <p:bldP spid="14" grpId="0" animBg="1"/>
      <p:bldP spid="16" grpId="0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2D7A-390F-4B01-92C0-3DA669F317B3}" type="slidenum">
              <a:rPr lang="en-US"/>
              <a:pPr/>
              <a:t>35</a:t>
            </a:fld>
            <a:endParaRPr lang="en-US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-72570" y="112488"/>
            <a:ext cx="9332686" cy="1066800"/>
          </a:xfrm>
        </p:spPr>
        <p:txBody>
          <a:bodyPr/>
          <a:lstStyle/>
          <a:p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b="1" dirty="0"/>
              <a:t>Chapter 2: Lecture </a:t>
            </a:r>
            <a:r>
              <a:rPr lang="en-US" sz="3600" b="1" dirty="0" smtClean="0"/>
              <a:t>#3 </a:t>
            </a:r>
            <a:br>
              <a:rPr lang="en-US" sz="3600" b="1" dirty="0" smtClean="0"/>
            </a:br>
            <a:r>
              <a:rPr lang="en-US" sz="3600" dirty="0" smtClean="0"/>
              <a:t>2.5 </a:t>
            </a:r>
            <a:r>
              <a:rPr lang="en-US" sz="3600" u="sng" dirty="0"/>
              <a:t>Series</a:t>
            </a:r>
            <a:r>
              <a:rPr lang="en-US" sz="3600" dirty="0"/>
              <a:t> Resistors </a:t>
            </a:r>
            <a:r>
              <a:rPr lang="en-US" sz="3600" dirty="0" smtClean="0"/>
              <a:t>&amp; </a:t>
            </a:r>
            <a:r>
              <a:rPr lang="en-US" sz="3600" u="sng" dirty="0"/>
              <a:t>Voltage</a:t>
            </a:r>
            <a:r>
              <a:rPr lang="en-US" sz="3600" dirty="0"/>
              <a:t> </a:t>
            </a:r>
            <a:r>
              <a:rPr lang="en-US" sz="3600" dirty="0" smtClean="0"/>
              <a:t>Division</a:t>
            </a:r>
            <a:endParaRPr lang="en-US" sz="3600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151313"/>
          </a:xfrm>
        </p:spPr>
        <p:txBody>
          <a:bodyPr/>
          <a:lstStyle/>
          <a:p>
            <a:r>
              <a:rPr lang="en-US" sz="2400" u="sng" dirty="0" smtClean="0">
                <a:solidFill>
                  <a:srgbClr val="FF0000"/>
                </a:solidFill>
              </a:rPr>
              <a:t>Series: </a:t>
            </a:r>
            <a:r>
              <a:rPr lang="en-US" sz="2400" dirty="0" smtClean="0"/>
              <a:t>Two or more elements are in series if they are cascaded or connected sequentially                     and consequently </a:t>
            </a:r>
            <a:r>
              <a:rPr lang="en-US" sz="2400" u="sng" dirty="0" smtClean="0">
                <a:solidFill>
                  <a:srgbClr val="FF0000"/>
                </a:solidFill>
              </a:rPr>
              <a:t>carry the same current</a:t>
            </a:r>
            <a:r>
              <a:rPr lang="en-US" sz="2400" dirty="0" smtClean="0"/>
              <a:t>.</a:t>
            </a:r>
            <a:r>
              <a:rPr lang="en-US" sz="2400" i="1" dirty="0" smtClean="0"/>
              <a:t> </a:t>
            </a:r>
            <a:endParaRPr lang="en-US" sz="2400" i="1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72711" name="Rectangle 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9" name="Picture 3" descr="ale29559_020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3" t="8499" r="9126" b="9911"/>
          <a:stretch>
            <a:fillRect/>
          </a:stretch>
        </p:blipFill>
        <p:spPr bwMode="auto">
          <a:xfrm>
            <a:off x="732971" y="2685142"/>
            <a:ext cx="4038600" cy="245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270505" y="2709579"/>
                <a:ext cx="3423552" cy="8097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= iR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ZA" sz="32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ZA" sz="3200" i="1">
                        <a:solidFill>
                          <a:srgbClr val="080808"/>
                        </a:solidFill>
                        <a:latin typeface="Cambria Math"/>
                      </a:rPr>
                      <m:t>𝑖</m:t>
                    </m:r>
                    <m:r>
                      <a:rPr lang="en-ZA" sz="3200" i="1">
                        <a:solidFill>
                          <a:srgbClr val="080808"/>
                        </a:solidFill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ZA" sz="3200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ZA" sz="3200" i="1" smtClean="0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ZA" sz="3200" b="0" i="1" smtClean="0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3200" b="0" i="1" smtClean="0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ZA" sz="3200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ZA" sz="3200" i="1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ZA" sz="3200" i="1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ZA" sz="32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ZA" sz="3200" i="1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505" y="2709579"/>
                <a:ext cx="3423552" cy="809773"/>
              </a:xfrm>
              <a:prstGeom prst="rect">
                <a:avLst/>
              </a:prstGeom>
              <a:blipFill rotWithShape="1">
                <a:blip r:embed="rId3"/>
                <a:stretch>
                  <a:fillRect l="-4635" t="-3759" b="-225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270505" y="3649713"/>
                <a:ext cx="3218317" cy="8097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= iR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ZA" sz="32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or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ZA" sz="3200" i="1">
                        <a:solidFill>
                          <a:srgbClr val="080808"/>
                        </a:solidFill>
                        <a:latin typeface="Cambria Math"/>
                      </a:rPr>
                      <m:t>𝑖</m:t>
                    </m:r>
                    <m:r>
                      <a:rPr lang="en-ZA" sz="3200" i="1">
                        <a:solidFill>
                          <a:srgbClr val="080808"/>
                        </a:solidFill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ZA" sz="3200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ZA" sz="3200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ZA" sz="3200" i="1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ZA" sz="3200" b="0" i="1" smtClean="0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ZA" sz="3200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ZA" sz="3200" i="1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ZA" sz="3200" b="0" i="1" smtClean="0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ZA" sz="3200" i="1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505" y="3649713"/>
                <a:ext cx="3218317" cy="809773"/>
              </a:xfrm>
              <a:prstGeom prst="rect">
                <a:avLst/>
              </a:prstGeom>
              <a:blipFill rotWithShape="1">
                <a:blip r:embed="rId4"/>
                <a:stretch>
                  <a:fillRect l="-4924" t="-3759" b="-225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802419" y="4633626"/>
            <a:ext cx="4128053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KVL:  –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v + 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+ v</a:t>
            </a:r>
            <a:r>
              <a:rPr lang="en-ZA" sz="3200" i="1" baseline="-250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	v = 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3200" i="1" baseline="-250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ZA" sz="3200" i="1" baseline="-250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 	   = i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R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  	   = </a:t>
            </a:r>
            <a:r>
              <a:rPr lang="en-ZA" sz="3200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ZA" sz="3200" i="1" baseline="-25000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eq</a:t>
            </a:r>
            <a:endParaRPr lang="en-ZA" sz="3200" i="1" baseline="-25000" dirty="0" smtClean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65347" y="5682225"/>
                <a:ext cx="2422073" cy="1017073"/>
              </a:xfrm>
              <a:prstGeom prst="rect">
                <a:avLst/>
              </a:prstGeom>
              <a:noFill/>
              <a:ln>
                <a:solidFill>
                  <a:srgbClr val="080808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3200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347" y="5682225"/>
                <a:ext cx="2422073" cy="101707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 bwMode="auto">
          <a:xfrm flipH="1">
            <a:off x="4802419" y="5936343"/>
            <a:ext cx="1235524" cy="254418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2342" y="261035"/>
            <a:ext cx="78304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2.5 Series Resistors &amp; Voltage </a:t>
            </a:r>
            <a:r>
              <a:rPr lang="en-US" sz="2800" dirty="0" smtClean="0"/>
              <a:t>Division</a:t>
            </a:r>
          </a:p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VOLTAGE DIVISION</a:t>
            </a:r>
            <a:endParaRPr lang="en-ZA" sz="3600" b="1" dirty="0">
              <a:solidFill>
                <a:srgbClr val="FF0000"/>
              </a:solidFill>
            </a:endParaRPr>
          </a:p>
        </p:txBody>
      </p:sp>
      <p:pic>
        <p:nvPicPr>
          <p:cNvPr id="7" name="Picture 3" descr="ale29559_020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3" t="8499" r="9126" b="9911"/>
          <a:stretch>
            <a:fillRect/>
          </a:stretch>
        </p:blipFill>
        <p:spPr bwMode="auto">
          <a:xfrm>
            <a:off x="108856" y="1306281"/>
            <a:ext cx="4038600" cy="245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60080" y="1226401"/>
            <a:ext cx="15221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iR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ZA" sz="32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71844" y="1963577"/>
            <a:ext cx="15221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iR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32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01078" y="2570006"/>
                <a:ext cx="2422073" cy="1017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3200" dirty="0">
                  <a:solidFill>
                    <a:srgbClr val="080808"/>
                  </a:solidFill>
                  <a:latin typeface="Bodoni MT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078" y="2570006"/>
                <a:ext cx="2422073" cy="101707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24497" y="4229472"/>
                <a:ext cx="6845335" cy="11515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200" b="1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b="1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ZA" sz="3200" b="1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ZA" sz="32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3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ZA" sz="3200" i="1">
                          <a:solidFill>
                            <a:srgbClr val="FF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32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320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ZA" sz="3200" i="1">
                          <a:solidFill>
                            <a:srgbClr val="080808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en-ZA" sz="3200" dirty="0">
                  <a:solidFill>
                    <a:srgbClr val="080808"/>
                  </a:solidFill>
                  <a:latin typeface="Bodoni MT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497" y="4229472"/>
                <a:ext cx="6845335" cy="115159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694537" y="5396894"/>
                <a:ext cx="6947671" cy="1644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200" b="1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b="1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ZA" sz="3200" b="1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ZA" sz="32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3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ZA" sz="3200" i="1">
                          <a:solidFill>
                            <a:srgbClr val="FF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320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32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ZA" sz="3200" i="1">
                          <a:solidFill>
                            <a:srgbClr val="080808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en-ZA" sz="3200" dirty="0">
                  <a:solidFill>
                    <a:srgbClr val="080808"/>
                  </a:solidFill>
                  <a:latin typeface="Bodoni MT" pitchFamily="18" charset="0"/>
                  <a:cs typeface="Times New Roman" pitchFamily="18" charset="0"/>
                </a:endParaRPr>
              </a:p>
              <a:p>
                <a:endParaRPr lang="en-ZA" sz="3200" dirty="0">
                  <a:solidFill>
                    <a:srgbClr val="FF0000"/>
                  </a:solidFill>
                  <a:latin typeface="Bodoni MT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537" y="5396894"/>
                <a:ext cx="6947671" cy="164404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843664" y="3634336"/>
            <a:ext cx="46572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Substitute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into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18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8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6"/>
          <a:stretch/>
        </p:blipFill>
        <p:spPr bwMode="auto">
          <a:xfrm>
            <a:off x="1333468" y="1896064"/>
            <a:ext cx="6914332" cy="1819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02342" y="261035"/>
            <a:ext cx="78304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2.5 Series Resistors &amp; Voltage </a:t>
            </a:r>
            <a:r>
              <a:rPr lang="en-US" sz="2800" dirty="0" smtClean="0"/>
              <a:t>Division</a:t>
            </a:r>
          </a:p>
          <a:p>
            <a:pPr algn="ctr"/>
            <a:r>
              <a:rPr lang="en-US" sz="3600" b="1" dirty="0" err="1" smtClean="0">
                <a:solidFill>
                  <a:srgbClr val="FF0000"/>
                </a:solidFill>
              </a:rPr>
              <a:t>R</a:t>
            </a:r>
            <a:r>
              <a:rPr lang="en-US" sz="3600" b="1" baseline="-25000" dirty="0" err="1" smtClean="0">
                <a:solidFill>
                  <a:srgbClr val="FF0000"/>
                </a:solidFill>
              </a:rPr>
              <a:t>eq</a:t>
            </a:r>
            <a:r>
              <a:rPr lang="en-US" sz="3600" b="1" dirty="0" smtClean="0">
                <a:solidFill>
                  <a:srgbClr val="FF0000"/>
                </a:solidFill>
              </a:rPr>
              <a:t> for more than 2 R’s</a:t>
            </a:r>
            <a:endParaRPr lang="en-ZA" sz="36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02842" y="3458367"/>
                <a:ext cx="7258975" cy="1477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2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32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32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32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32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…+</m:t>
                      </m:r>
                      <m:sSub>
                        <m:sSubPr>
                          <m:ctrlPr>
                            <a:rPr lang="en-ZA" sz="32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𝑁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ZA" sz="3200" dirty="0">
                  <a:solidFill>
                    <a:srgbClr val="080808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842" y="3458367"/>
                <a:ext cx="7258975" cy="147707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939508" y="1354831"/>
            <a:ext cx="629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ZA" sz="32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64365" y="1333173"/>
            <a:ext cx="629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32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02810" y="1333116"/>
            <a:ext cx="629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sz="32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25167" y="1304145"/>
            <a:ext cx="629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endParaRPr lang="en-ZA" sz="32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73913"/>
              </p:ext>
            </p:extLst>
          </p:nvPr>
        </p:nvGraphicFramePr>
        <p:xfrm>
          <a:off x="1951885" y="4778374"/>
          <a:ext cx="4973282" cy="1433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79" name="Equation" r:id="rId5" imgW="1548728" imgH="444307" progId="Equation.3">
                  <p:embed/>
                </p:oleObj>
              </mc:Choice>
              <mc:Fallback>
                <p:oleObj name="Equation" r:id="rId5" imgW="1548728" imgH="4443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885" y="4778374"/>
                        <a:ext cx="4973282" cy="1433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5125406" y="2747804"/>
            <a:ext cx="3674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endParaRPr lang="en-ZA" sz="32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12550" y="2208504"/>
            <a:ext cx="10695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+   v</a:t>
            </a:r>
            <a:r>
              <a:rPr lang="en-ZA" sz="20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ZA" sz="2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ZA" sz="2000" dirty="0">
              <a:solidFill>
                <a:srgbClr val="080808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58108" y="2208504"/>
            <a:ext cx="10695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+   v</a:t>
            </a:r>
            <a:r>
              <a:rPr lang="en-ZA" sz="20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0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ZA" sz="2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ZA" sz="2000" dirty="0">
              <a:solidFill>
                <a:srgbClr val="080808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55882" y="2208504"/>
            <a:ext cx="10695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+   v</a:t>
            </a:r>
            <a:r>
              <a:rPr lang="en-ZA" sz="20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0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ZA" sz="2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ZA" sz="2000" dirty="0">
              <a:solidFill>
                <a:srgbClr val="08080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25283" y="2208504"/>
            <a:ext cx="1098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+   </a:t>
            </a:r>
            <a:r>
              <a:rPr lang="en-ZA" sz="2000" i="1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err="1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ZA" sz="20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ZA" sz="2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ZA" sz="20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13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02342" y="261035"/>
            <a:ext cx="78304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2.5 Series Resistors &amp; Voltage </a:t>
            </a:r>
            <a:r>
              <a:rPr lang="en-US" sz="2800" dirty="0" smtClean="0"/>
              <a:t>Division</a:t>
            </a:r>
          </a:p>
          <a:p>
            <a:pPr algn="ctr"/>
            <a:r>
              <a:rPr lang="en-US" sz="3600" b="1" dirty="0" err="1" smtClean="0">
                <a:solidFill>
                  <a:srgbClr val="FF0000"/>
                </a:solidFill>
              </a:rPr>
              <a:t>R</a:t>
            </a:r>
            <a:r>
              <a:rPr lang="en-US" sz="3600" b="1" baseline="-25000" dirty="0" err="1" smtClean="0">
                <a:solidFill>
                  <a:srgbClr val="FF0000"/>
                </a:solidFill>
              </a:rPr>
              <a:t>eq</a:t>
            </a:r>
            <a:r>
              <a:rPr lang="en-US" sz="3600" b="1" dirty="0" smtClean="0">
                <a:solidFill>
                  <a:srgbClr val="FF0000"/>
                </a:solidFill>
              </a:rPr>
              <a:t> for more than 2 R’s</a:t>
            </a:r>
            <a:endParaRPr lang="en-ZA" sz="3600" b="1" dirty="0">
              <a:solidFill>
                <a:srgbClr val="FF00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40897" y="3038788"/>
            <a:ext cx="3784607" cy="3216663"/>
            <a:chOff x="447231" y="1342979"/>
            <a:chExt cx="3784607" cy="3216663"/>
          </a:xfrm>
        </p:grpSpPr>
        <p:pic>
          <p:nvPicPr>
            <p:cNvPr id="9113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830" y="1782289"/>
              <a:ext cx="2830286" cy="2315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1605677" y="1342979"/>
              <a:ext cx="629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ZA" sz="2400" i="1" baseline="-250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ZA" sz="24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2449359" y="1355295"/>
              <a:ext cx="629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ZA" sz="2400" i="1" baseline="-250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ZA" sz="24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602318" y="2174945"/>
              <a:ext cx="629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ZA" sz="2400" i="1" baseline="-250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ZA" sz="24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95984" y="3067574"/>
              <a:ext cx="629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ZA" sz="2400" i="1" baseline="-250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ZA" sz="24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449359" y="4097977"/>
              <a:ext cx="629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ZA" sz="2400" i="1" baseline="-25000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ZA" sz="24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05677" y="4095780"/>
              <a:ext cx="629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ZA" sz="2400" i="1" baseline="-25000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en-ZA" sz="24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9806" y="3338002"/>
              <a:ext cx="629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ZA" sz="2400" i="1" baseline="-250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en-ZA" sz="24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47231" y="2362235"/>
              <a:ext cx="629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endParaRPr lang="en-ZA" sz="24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888048" y="2702266"/>
              <a:ext cx="6295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</a:p>
            <a:p>
              <a:pPr algn="ctr"/>
              <a:r>
                <a:rPr lang="en-ZA" sz="24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ZA" sz="2400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rPr>
                <a:t>–</a:t>
              </a:r>
              <a:endParaRPr lang="en-ZA" sz="2400" i="1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19806" y="1618196"/>
                <a:ext cx="8067850" cy="13038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7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ZA" sz="2800" dirty="0">
                  <a:solidFill>
                    <a:srgbClr val="080808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06" y="1618196"/>
                <a:ext cx="8067850" cy="130388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646358" y="3051104"/>
                <a:ext cx="2243948" cy="11515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2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ZA" sz="32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en-ZA" sz="3200" dirty="0">
                  <a:solidFill>
                    <a:srgbClr val="FF0000"/>
                  </a:solidFill>
                  <a:latin typeface="Bodoni MT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358" y="3051104"/>
                <a:ext cx="2243948" cy="115159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5794090" y="3102620"/>
            <a:ext cx="61958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ZA" sz="2400" dirty="0" smtClean="0"/>
              <a:t>??</a:t>
            </a:r>
            <a:endParaRPr lang="en-Z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672116" y="4458012"/>
                <a:ext cx="2278381" cy="11515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2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ZA" sz="32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2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ZA" sz="32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en-ZA" sz="3200" dirty="0">
                  <a:solidFill>
                    <a:srgbClr val="FF0000"/>
                  </a:solidFill>
                  <a:latin typeface="Bodoni MT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116" y="4458012"/>
                <a:ext cx="2278381" cy="115159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794090" y="4512934"/>
            <a:ext cx="61958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ZA" sz="2400" dirty="0" smtClean="0"/>
              <a:t>??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15440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5" grpId="0" animBg="1"/>
      <p:bldP spid="18" grpId="0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3E112-CE7B-41C9-800D-F5DB466E09AF}" type="slidenum">
              <a:rPr lang="en-US"/>
              <a:pPr/>
              <a:t>39</a:t>
            </a:fld>
            <a:endParaRPr lang="en-US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-188686" y="43554"/>
            <a:ext cx="9485086" cy="747486"/>
          </a:xfrm>
        </p:spPr>
        <p:txBody>
          <a:bodyPr/>
          <a:lstStyle/>
          <a:p>
            <a:r>
              <a:rPr lang="en-US" sz="3500" dirty="0" smtClean="0"/>
              <a:t>2.6 </a:t>
            </a:r>
            <a:r>
              <a:rPr lang="en-US" sz="3500" u="sng" dirty="0"/>
              <a:t>Parallel</a:t>
            </a:r>
            <a:r>
              <a:rPr lang="en-US" sz="3500" dirty="0"/>
              <a:t> Resistors </a:t>
            </a:r>
            <a:r>
              <a:rPr lang="en-US" sz="3500" dirty="0" smtClean="0"/>
              <a:t>&amp; </a:t>
            </a:r>
            <a:r>
              <a:rPr lang="en-US" sz="3500" u="sng" dirty="0"/>
              <a:t>Current</a:t>
            </a:r>
            <a:r>
              <a:rPr lang="en-US" sz="3500" dirty="0"/>
              <a:t> </a:t>
            </a:r>
            <a:r>
              <a:rPr lang="en-US" sz="3500" dirty="0" smtClean="0"/>
              <a:t>Division</a:t>
            </a:r>
            <a:endParaRPr lang="en-US" sz="3500" dirty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5800" cy="1255690"/>
          </a:xfrm>
        </p:spPr>
        <p:txBody>
          <a:bodyPr/>
          <a:lstStyle/>
          <a:p>
            <a:r>
              <a:rPr lang="en-US" sz="2400" u="sng" dirty="0">
                <a:solidFill>
                  <a:srgbClr val="FF0000"/>
                </a:solidFill>
              </a:rPr>
              <a:t>Parallel: </a:t>
            </a:r>
            <a:r>
              <a:rPr lang="en-US" sz="2400" dirty="0"/>
              <a:t>Two or more elements are in parallel if they are connected to the same two nodes and consequently </a:t>
            </a:r>
            <a:r>
              <a:rPr lang="en-US" sz="2400" dirty="0">
                <a:solidFill>
                  <a:srgbClr val="FF0000"/>
                </a:solidFill>
              </a:rPr>
              <a:t>have the </a:t>
            </a:r>
            <a:r>
              <a:rPr lang="en-US" sz="2400" dirty="0" smtClean="0">
                <a:solidFill>
                  <a:srgbClr val="FF0000"/>
                </a:solidFill>
              </a:rPr>
              <a:t>same voltage </a:t>
            </a:r>
            <a:r>
              <a:rPr lang="en-US" sz="2400" dirty="0">
                <a:solidFill>
                  <a:srgbClr val="FF0000"/>
                </a:solidFill>
              </a:rPr>
              <a:t>across them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3977" name="Rectangle 9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11" name="Picture 3" descr="ale29559_020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7" t="7735" r="5887"/>
          <a:stretch>
            <a:fillRect/>
          </a:stretch>
        </p:blipFill>
        <p:spPr bwMode="auto">
          <a:xfrm>
            <a:off x="121276" y="2596798"/>
            <a:ext cx="3858296" cy="258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4207990" y="4105593"/>
            <a:ext cx="344677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KCL: 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–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dirty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–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	  i = i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3200" i="1" baseline="-250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153966" y="5632386"/>
                <a:ext cx="5766707" cy="10683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𝑣</m:t>
                      </m:r>
                      <m:d>
                        <m:dPr>
                          <m:ctrlP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𝑣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FF0000"/>
                  </a:solidFill>
                  <a:latin typeface="Bodoni MT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966" y="5632386"/>
                <a:ext cx="5766707" cy="106836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568930" y="5182811"/>
            <a:ext cx="53624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Substitute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into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KCL: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163559" y="2774774"/>
            <a:ext cx="5164198" cy="1183086"/>
            <a:chOff x="4163559" y="2774774"/>
            <a:chExt cx="5164198" cy="1183086"/>
          </a:xfrm>
        </p:grpSpPr>
        <p:grpSp>
          <p:nvGrpSpPr>
            <p:cNvPr id="2" name="Group 1"/>
            <p:cNvGrpSpPr/>
            <p:nvPr/>
          </p:nvGrpSpPr>
          <p:grpSpPr>
            <a:xfrm>
              <a:off x="5310239" y="2774774"/>
              <a:ext cx="4017518" cy="1183086"/>
              <a:chOff x="4250717" y="2774774"/>
              <a:chExt cx="4017518" cy="1183086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4272486" y="2774774"/>
                <a:ext cx="1907391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ZA" sz="3200" i="1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v/R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ZA" sz="3200" i="1" baseline="-25000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250717" y="3373085"/>
                <a:ext cx="2666692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v = i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= i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ZA" sz="3200" i="1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6360844" y="2774774"/>
                <a:ext cx="1907391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ZA" sz="3200" i="1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ZA" sz="3200" i="1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v/R</a:t>
                </a:r>
                <a:r>
                  <a:rPr lang="en-ZA" sz="3200" i="1" baseline="-250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ZA" sz="3200" i="1" baseline="-25000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4163559" y="2796232"/>
              <a:ext cx="111921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32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Ohm:</a:t>
              </a:r>
              <a:endParaRPr lang="en-ZA" sz="3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-188686" y="133707"/>
            <a:ext cx="9485086" cy="116706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2.6 Parallel Resistors &amp; Current Division</a:t>
            </a:r>
          </a:p>
          <a:p>
            <a:r>
              <a:rPr lang="en-US" sz="2800" b="1" dirty="0" err="1">
                <a:solidFill>
                  <a:srgbClr val="FF0000"/>
                </a:solidFill>
              </a:rPr>
              <a:t>R</a:t>
            </a:r>
            <a:r>
              <a:rPr lang="en-US" sz="2800" b="1" baseline="-25000" dirty="0" err="1">
                <a:solidFill>
                  <a:srgbClr val="FF0000"/>
                </a:solidFill>
              </a:rPr>
              <a:t>eq</a:t>
            </a:r>
            <a:r>
              <a:rPr lang="en-US" sz="2800" b="1" dirty="0">
                <a:solidFill>
                  <a:srgbClr val="FF0000"/>
                </a:solidFill>
              </a:rPr>
              <a:t> for </a:t>
            </a:r>
            <a:r>
              <a:rPr lang="en-US" sz="2800" b="1" dirty="0" smtClean="0">
                <a:solidFill>
                  <a:srgbClr val="FF0000"/>
                </a:solidFill>
              </a:rPr>
              <a:t>2 </a:t>
            </a:r>
            <a:r>
              <a:rPr lang="en-US" sz="2800" b="1" dirty="0">
                <a:solidFill>
                  <a:srgbClr val="FF0000"/>
                </a:solidFill>
              </a:rPr>
              <a:t>R’s</a:t>
            </a:r>
            <a:endParaRPr lang="en-ZA" sz="2800" b="1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53857" y="1395236"/>
                <a:ext cx="4021486" cy="10683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𝑣</m:t>
                      </m:r>
                      <m:d>
                        <m:dPr>
                          <m:ctrlP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ZA" sz="2800" i="1">
                                      <a:solidFill>
                                        <a:srgbClr val="080808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𝑣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FF0000"/>
                  </a:solidFill>
                  <a:latin typeface="Bodoni MT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857" y="1395236"/>
                <a:ext cx="4021486" cy="106836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3" descr="ale29559_020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7" t="7735" r="5887"/>
          <a:stretch>
            <a:fillRect/>
          </a:stretch>
        </p:blipFill>
        <p:spPr bwMode="auto">
          <a:xfrm>
            <a:off x="224818" y="974060"/>
            <a:ext cx="3858296" cy="258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63705" y="2643356"/>
                <a:ext cx="2475549" cy="10218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i="1" dirty="0" smtClean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705" y="2643356"/>
                <a:ext cx="2475549" cy="102188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073927" y="3842634"/>
                <a:ext cx="1878206" cy="9694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27" y="3842634"/>
                <a:ext cx="1878206" cy="96943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555283" y="5080345"/>
                <a:ext cx="4768677" cy="1345497"/>
              </a:xfrm>
              <a:prstGeom prst="rect">
                <a:avLst/>
              </a:prstGeom>
              <a:ln>
                <a:solidFill>
                  <a:srgbClr val="080808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40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40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40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n-ZA" sz="400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40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40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40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ZA" sz="40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40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40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40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||</m:t>
                          </m:r>
                        </m:sub>
                      </m:sSub>
                    </m:oMath>
                  </m:oMathPara>
                </a14:m>
                <a:endParaRPr lang="en-ZA" sz="40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283" y="5080345"/>
                <a:ext cx="4768677" cy="134549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100207" y="5214484"/>
            <a:ext cx="25226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ZA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TWO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// resistors: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27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-188686" y="133707"/>
            <a:ext cx="9485086" cy="116706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2.6 Parallel Resistors &amp; Current Division</a:t>
            </a:r>
          </a:p>
          <a:p>
            <a:r>
              <a:rPr lang="en-US" sz="2800" b="1" dirty="0" err="1">
                <a:solidFill>
                  <a:srgbClr val="FF0000"/>
                </a:solidFill>
              </a:rPr>
              <a:t>R</a:t>
            </a:r>
            <a:r>
              <a:rPr lang="en-US" sz="2800" b="1" baseline="-25000" dirty="0" err="1">
                <a:solidFill>
                  <a:srgbClr val="FF0000"/>
                </a:solidFill>
              </a:rPr>
              <a:t>eq</a:t>
            </a:r>
            <a:r>
              <a:rPr lang="en-US" sz="2800" b="1" dirty="0">
                <a:solidFill>
                  <a:srgbClr val="FF0000"/>
                </a:solidFill>
              </a:rPr>
              <a:t> for </a:t>
            </a:r>
            <a:r>
              <a:rPr lang="en-US" sz="2800" b="1" dirty="0" smtClean="0">
                <a:solidFill>
                  <a:srgbClr val="FF0000"/>
                </a:solidFill>
              </a:rPr>
              <a:t>more than 2 </a:t>
            </a:r>
            <a:r>
              <a:rPr lang="en-US" sz="2800" b="1" dirty="0">
                <a:solidFill>
                  <a:srgbClr val="FF0000"/>
                </a:solidFill>
              </a:rPr>
              <a:t>R’s</a:t>
            </a:r>
            <a:endParaRPr lang="en-ZA" sz="2800" b="1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13994" y="4926080"/>
                <a:ext cx="4878194" cy="10218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…+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i="1" dirty="0" smtClean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94" y="4926080"/>
                <a:ext cx="4878194" cy="102188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153155" y="3255417"/>
                <a:ext cx="4887813" cy="971613"/>
              </a:xfrm>
              <a:prstGeom prst="rect">
                <a:avLst/>
              </a:prstGeom>
              <a:ln>
                <a:solidFill>
                  <a:srgbClr val="080808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  <a:sym typeface="Symbol"/>
                                </a:rPr>
                                <m:t></m:t>
                              </m:r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  <a:sym typeface="Symbol"/>
                                </a:rPr>
                                <m:t>…</m:t>
                              </m:r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  <a:sym typeface="Symbol"/>
                                </a:rPr>
                                <m:t></m:t>
                              </m:r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80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…+</m:t>
                              </m:r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155" y="3255417"/>
                <a:ext cx="4887813" cy="97161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25" y="1100305"/>
            <a:ext cx="3922943" cy="174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1187219" y="1742434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85514" y="1767003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83816" y="1767003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50500" y="1753513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225305" y="1513118"/>
                <a:ext cx="2523640" cy="969433"/>
              </a:xfrm>
              <a:prstGeom prst="rect">
                <a:avLst/>
              </a:prstGeom>
              <a:ln>
                <a:solidFill>
                  <a:srgbClr val="080808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305" y="1513118"/>
                <a:ext cx="2523640" cy="96943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4757763" y="2553842"/>
            <a:ext cx="43862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Then does it mean that:</a:t>
            </a:r>
            <a:endParaRPr lang="en-ZA" sz="3200" baseline="-250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64240" y="1833278"/>
            <a:ext cx="7798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endParaRPr lang="en-ZA" sz="3200" baseline="-250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Multiply 1"/>
          <p:cNvSpPr/>
          <p:nvPr/>
        </p:nvSpPr>
        <p:spPr bwMode="auto">
          <a:xfrm>
            <a:off x="1756710" y="2916975"/>
            <a:ext cx="9555191" cy="1648496"/>
          </a:xfrm>
          <a:prstGeom prst="mathMultiply">
            <a:avLst>
              <a:gd name="adj1" fmla="val 18448"/>
            </a:avLst>
          </a:prstGeom>
          <a:solidFill>
            <a:srgbClr val="FF330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581088" y="3017948"/>
            <a:ext cx="254710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NO!</a:t>
            </a:r>
            <a:endParaRPr lang="en-ZA" sz="8800" b="1" cap="all" baseline="-2500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64" name="Picture 4" descr="http://www.lookseeedit.com/resources/tick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66"/>
          <a:stretch/>
        </p:blipFill>
        <p:spPr bwMode="auto">
          <a:xfrm>
            <a:off x="5771594" y="4664627"/>
            <a:ext cx="1525421" cy="1283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73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4" name="Picture 3" descr="ale29559_020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7" t="7735" r="5887"/>
          <a:stretch>
            <a:fillRect/>
          </a:stretch>
        </p:blipFill>
        <p:spPr bwMode="auto">
          <a:xfrm>
            <a:off x="224818" y="974060"/>
            <a:ext cx="3858296" cy="258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712495" y="1329490"/>
                <a:ext cx="3536994" cy="969433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495" y="1329490"/>
                <a:ext cx="3536994" cy="96943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-188686" y="133707"/>
            <a:ext cx="9485086" cy="116706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2.6 Parallel Resistors &amp; Current Division</a:t>
            </a:r>
            <a:endParaRPr lang="en-US" sz="3600" dirty="0" smtClean="0"/>
          </a:p>
          <a:p>
            <a:r>
              <a:rPr lang="en-ZA" sz="3600" b="1" dirty="0" smtClean="0">
                <a:solidFill>
                  <a:srgbClr val="FF0000"/>
                </a:solidFill>
              </a:rPr>
              <a:t>Current Division</a:t>
            </a:r>
            <a:endParaRPr lang="en-ZA" sz="2800" b="1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4818446" y="2420048"/>
            <a:ext cx="2666692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 = i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32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32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75020" y="3663104"/>
            <a:ext cx="46572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Substituting </a:t>
            </a:r>
            <a:r>
              <a:rPr lang="en-ZA" sz="32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ZA" sz="32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475020" y="4199329"/>
                <a:ext cx="2817694" cy="969433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020" y="4199329"/>
                <a:ext cx="2817694" cy="96943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 bwMode="auto">
          <a:xfrm flipH="1">
            <a:off x="4186232" y="4247879"/>
            <a:ext cx="335042" cy="33403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 flipH="1">
            <a:off x="2894511" y="4529908"/>
            <a:ext cx="335042" cy="33403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93985" y="5421635"/>
                <a:ext cx="2468047" cy="969433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b="1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1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𝒊</m:t>
                          </m:r>
                        </m:e>
                        <m:sub>
                          <m:r>
                            <a:rPr lang="en-ZA" sz="2800" b="1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1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1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ZA" sz="2800" b="1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85" y="5421635"/>
                <a:ext cx="2468047" cy="96943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 bwMode="auto">
          <a:xfrm flipH="1" flipV="1">
            <a:off x="5138687" y="1983346"/>
            <a:ext cx="643927" cy="553792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 rot="16200000">
            <a:off x="3794145" y="2006535"/>
            <a:ext cx="11192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Ohm:</a:t>
            </a:r>
            <a:endParaRPr lang="en-ZA" sz="3200" dirty="0"/>
          </a:p>
        </p:txBody>
      </p:sp>
      <p:grpSp>
        <p:nvGrpSpPr>
          <p:cNvPr id="3" name="Group 2"/>
          <p:cNvGrpSpPr/>
          <p:nvPr/>
        </p:nvGrpSpPr>
        <p:grpSpPr>
          <a:xfrm>
            <a:off x="4506153" y="5400577"/>
            <a:ext cx="3911155" cy="969433"/>
            <a:chOff x="4506153" y="5400577"/>
            <a:chExt cx="3911155" cy="9694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5949261" y="5400577"/>
                  <a:ext cx="2468047" cy="969433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800" b="1" i="1" smtClean="0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ZA" sz="2800" b="1" i="1" smtClean="0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𝒊</m:t>
                            </m:r>
                          </m:e>
                          <m:sub>
                            <m:r>
                              <a:rPr lang="en-ZA" sz="2800" b="1" i="1" smtClean="0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ZA" sz="2800" i="1">
                            <a:solidFill>
                              <a:srgbClr val="080808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ZA" sz="2800" b="0" i="1" smtClean="0">
                            <a:solidFill>
                              <a:srgbClr val="080808"/>
                            </a:solidFill>
                            <a:latin typeface="Cambria Math"/>
                          </a:rPr>
                          <m:t>𝑖</m:t>
                        </m:r>
                        <m:f>
                          <m:fPr>
                            <m:ctrlPr>
                              <a:rPr lang="en-ZA" sz="2800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800" b="1" i="1">
                                    <a:solidFill>
                                      <a:srgbClr val="08080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ZA" sz="2800" b="1" i="1">
                                    <a:solidFill>
                                      <a:srgbClr val="080808"/>
                                    </a:solidFill>
                                    <a:latin typeface="Cambria Math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ZA" sz="2800" b="1" i="1" smtClean="0">
                                    <a:solidFill>
                                      <a:srgbClr val="08080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ZA" sz="2800" i="1">
                                    <a:solidFill>
                                      <a:srgbClr val="08080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ZA" sz="2800" i="1">
                                    <a:solidFill>
                                      <a:srgbClr val="080808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ZA" sz="2800" i="1">
                                    <a:solidFill>
                                      <a:srgbClr val="080808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800" i="1">
                                <a:solidFill>
                                  <a:srgbClr val="080808"/>
                                </a:solidFill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ZA" sz="2800" i="1">
                                    <a:solidFill>
                                      <a:srgbClr val="08080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ZA" sz="2800" i="1">
                                    <a:solidFill>
                                      <a:srgbClr val="080808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ZA" sz="2800" i="1">
                                    <a:solidFill>
                                      <a:srgbClr val="080808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ZA" sz="28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9261" y="5400577"/>
                  <a:ext cx="2468047" cy="96943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/>
            <p:cNvSpPr/>
            <p:nvPr/>
          </p:nvSpPr>
          <p:spPr>
            <a:xfrm>
              <a:off x="4506153" y="5613963"/>
              <a:ext cx="110639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32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Ito </a:t>
              </a:r>
              <a:r>
                <a:rPr lang="en-ZA" sz="3200" i="1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i</a:t>
              </a:r>
              <a:r>
                <a:rPr lang="en-ZA" sz="3200" i="1" baseline="-250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2</a:t>
              </a:r>
              <a:r>
                <a:rPr lang="en-ZA" sz="3200" dirty="0" smtClean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:</a:t>
              </a:r>
              <a:endParaRPr lang="en-ZA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5471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-188686" y="133707"/>
            <a:ext cx="9485086" cy="116706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2.6 Parallel Resistors &amp; Current Division</a:t>
            </a:r>
            <a:endParaRPr lang="en-US" sz="3600" dirty="0" smtClean="0"/>
          </a:p>
          <a:p>
            <a:r>
              <a:rPr lang="en-ZA" sz="3600" b="1" dirty="0" smtClean="0">
                <a:solidFill>
                  <a:srgbClr val="FF0000"/>
                </a:solidFill>
              </a:rPr>
              <a:t>Current Division – more than 2 R’s</a:t>
            </a:r>
            <a:endParaRPr lang="en-ZA" sz="2800" b="1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25" y="1100305"/>
            <a:ext cx="3922943" cy="174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99123" y="3874942"/>
                <a:ext cx="6621685" cy="13038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i="1" smtClean="0">
                          <a:solidFill>
                            <a:srgbClr val="080808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…+</m:t>
                      </m:r>
                      <m:sSub>
                        <m:sSub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𝑁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ZA" sz="2800" dirty="0">
                  <a:solidFill>
                    <a:srgbClr val="080808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23" y="3874942"/>
                <a:ext cx="6621685" cy="130388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187219" y="1742434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85514" y="1767003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83816" y="1767003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50500" y="1753513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543659" y="1485985"/>
                <a:ext cx="1585178" cy="97456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659" y="1485985"/>
                <a:ext cx="1585178" cy="97456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354867"/>
              </p:ext>
            </p:extLst>
          </p:nvPr>
        </p:nvGraphicFramePr>
        <p:xfrm>
          <a:off x="738663" y="5338479"/>
          <a:ext cx="5543550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60" name="Equation" r:id="rId6" imgW="1726920" imgH="431640" progId="Equation.3">
                  <p:embed/>
                </p:oleObj>
              </mc:Choice>
              <mc:Fallback>
                <p:oleObj name="Equation" r:id="rId6" imgW="172692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663" y="5338479"/>
                        <a:ext cx="5543550" cy="139223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80808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114649" y="2957608"/>
                <a:ext cx="4878194" cy="10218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ZA" sz="2800" i="1">
                          <a:solidFill>
                            <a:srgbClr val="080808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…+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280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i="1" dirty="0" smtClean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649" y="2957608"/>
                <a:ext cx="4878194" cy="1021883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810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-188686" y="133707"/>
            <a:ext cx="9485086" cy="116706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2.6 Parallel Resistors &amp; Current Division</a:t>
            </a:r>
            <a:endParaRPr lang="en-US" sz="3600" dirty="0" smtClean="0"/>
          </a:p>
          <a:p>
            <a:r>
              <a:rPr lang="en-ZA" sz="3600" b="1" dirty="0" smtClean="0">
                <a:solidFill>
                  <a:srgbClr val="FF0000"/>
                </a:solidFill>
              </a:rPr>
              <a:t>Voltage Division - Summary</a:t>
            </a:r>
            <a:endParaRPr lang="en-ZA" sz="2800" b="1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78" y="1767492"/>
            <a:ext cx="1145616" cy="362071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779" y="1300767"/>
            <a:ext cx="1145616" cy="500676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509638" y="2201261"/>
            <a:ext cx="536014" cy="1260556"/>
            <a:chOff x="1803918" y="2148711"/>
            <a:chExt cx="536014" cy="1260556"/>
          </a:xfrm>
        </p:grpSpPr>
        <p:sp>
          <p:nvSpPr>
            <p:cNvPr id="6" name="TextBox 5"/>
            <p:cNvSpPr txBox="1"/>
            <p:nvPr/>
          </p:nvSpPr>
          <p:spPr>
            <a:xfrm>
              <a:off x="1803918" y="2148711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FF000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ZA" sz="2400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03918" y="303993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b="1" dirty="0" smtClean="0">
                  <a:solidFill>
                    <a:srgbClr val="FF000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_ </a:t>
              </a:r>
              <a:endParaRPr lang="en-ZA" sz="2400" b="1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06532" y="2636231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i="1" dirty="0" smtClean="0">
                  <a:solidFill>
                    <a:srgbClr val="FF000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smtClean="0">
                  <a:solidFill>
                    <a:srgbClr val="FF000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ZA" sz="2400" i="1" dirty="0" smtClean="0">
                  <a:solidFill>
                    <a:srgbClr val="FF000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ZA" sz="2400" i="1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512252" y="3715031"/>
            <a:ext cx="551806" cy="1260556"/>
            <a:chOff x="1785512" y="3662481"/>
            <a:chExt cx="551806" cy="1260556"/>
          </a:xfrm>
        </p:grpSpPr>
        <p:sp>
          <p:nvSpPr>
            <p:cNvPr id="9" name="TextBox 8"/>
            <p:cNvSpPr txBox="1"/>
            <p:nvPr/>
          </p:nvSpPr>
          <p:spPr>
            <a:xfrm>
              <a:off x="1803918" y="3662481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99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ZA" sz="2400" dirty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03918" y="455370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b="1" dirty="0" smtClean="0">
                  <a:solidFill>
                    <a:srgbClr val="000099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_ </a:t>
              </a:r>
              <a:endParaRPr lang="en-ZA" sz="2400" b="1" dirty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85512" y="4150001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i="1" dirty="0" smtClean="0">
                  <a:solidFill>
                    <a:srgbClr val="000099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smtClean="0">
                  <a:solidFill>
                    <a:srgbClr val="000099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ZA" sz="2400" i="1" dirty="0" smtClean="0">
                  <a:solidFill>
                    <a:srgbClr val="000099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ZA" sz="2400" i="1" dirty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14258" y="1782114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ZA" sz="24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4258" y="4923037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b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_ </a:t>
            </a:r>
            <a:endParaRPr lang="en-ZA" sz="2400" b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4258" y="3296101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411335" y="1824022"/>
            <a:ext cx="536014" cy="1260556"/>
            <a:chOff x="1803918" y="2148711"/>
            <a:chExt cx="536014" cy="1260556"/>
          </a:xfrm>
        </p:grpSpPr>
        <p:sp>
          <p:nvSpPr>
            <p:cNvPr id="17" name="TextBox 16"/>
            <p:cNvSpPr txBox="1"/>
            <p:nvPr/>
          </p:nvSpPr>
          <p:spPr>
            <a:xfrm>
              <a:off x="1803918" y="2148711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FF000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ZA" sz="2400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03918" y="303993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b="1" dirty="0" smtClean="0">
                  <a:solidFill>
                    <a:srgbClr val="FF000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_ </a:t>
              </a:r>
              <a:endParaRPr lang="en-ZA" sz="2400" b="1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06532" y="2636231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i="1" dirty="0" smtClean="0">
                  <a:solidFill>
                    <a:srgbClr val="FF000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smtClean="0">
                  <a:solidFill>
                    <a:srgbClr val="FF000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ZA" sz="2400" i="1" dirty="0" smtClean="0">
                  <a:solidFill>
                    <a:srgbClr val="FF000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ZA" sz="2400" i="1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413949" y="3266509"/>
            <a:ext cx="536014" cy="1260556"/>
            <a:chOff x="1803918" y="2148711"/>
            <a:chExt cx="536014" cy="1260556"/>
          </a:xfrm>
        </p:grpSpPr>
        <p:sp>
          <p:nvSpPr>
            <p:cNvPr id="21" name="TextBox 20"/>
            <p:cNvSpPr txBox="1"/>
            <p:nvPr/>
          </p:nvSpPr>
          <p:spPr>
            <a:xfrm>
              <a:off x="1803918" y="2148711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99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ZA" sz="2400" dirty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03918" y="303993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b="1" dirty="0" smtClean="0">
                  <a:solidFill>
                    <a:srgbClr val="000099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_ </a:t>
              </a:r>
              <a:endParaRPr lang="en-ZA" sz="2400" b="1" dirty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06532" y="2636231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i="1" dirty="0" smtClean="0">
                  <a:solidFill>
                    <a:srgbClr val="000099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smtClean="0">
                  <a:solidFill>
                    <a:srgbClr val="000099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ZA" sz="2400" i="1" dirty="0" smtClean="0">
                  <a:solidFill>
                    <a:srgbClr val="000099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ZA" sz="2400" i="1" dirty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416563" y="4595613"/>
            <a:ext cx="536014" cy="1260556"/>
            <a:chOff x="1803918" y="2148711"/>
            <a:chExt cx="536014" cy="1260556"/>
          </a:xfrm>
        </p:grpSpPr>
        <p:sp>
          <p:nvSpPr>
            <p:cNvPr id="25" name="TextBox 24"/>
            <p:cNvSpPr txBox="1"/>
            <p:nvPr/>
          </p:nvSpPr>
          <p:spPr>
            <a:xfrm>
              <a:off x="1803918" y="2148711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B05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ZA" sz="2400" dirty="0">
                <a:solidFill>
                  <a:srgbClr val="00B05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803918" y="303993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b="1" dirty="0" smtClean="0">
                  <a:solidFill>
                    <a:srgbClr val="00B05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_ </a:t>
              </a:r>
              <a:endParaRPr lang="en-ZA" sz="2400" b="1" dirty="0">
                <a:solidFill>
                  <a:srgbClr val="00B05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06532" y="2636231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i="1" dirty="0" smtClean="0">
                  <a:solidFill>
                    <a:srgbClr val="00B05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smtClean="0">
                  <a:solidFill>
                    <a:srgbClr val="00B05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ZA" sz="2400" i="1" dirty="0" smtClean="0">
                  <a:solidFill>
                    <a:srgbClr val="00B050"/>
                  </a:solidFill>
                  <a:effectLst>
                    <a:glow rad="2286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ZA" sz="2400" i="1" dirty="0">
                <a:solidFill>
                  <a:srgbClr val="00B05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120100" y="1297730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ZA" sz="2400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120100" y="5814261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b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_ </a:t>
            </a:r>
            <a:endParaRPr lang="en-ZA" sz="2400" b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20100" y="3636692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815706" y="2485496"/>
                <a:ext cx="2225353" cy="844205"/>
              </a:xfrm>
              <a:prstGeom prst="rect">
                <a:avLst/>
              </a:prstGeom>
              <a:noFill/>
              <a:ln>
                <a:solidFill>
                  <a:srgbClr val="080808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scene3d>
                <a:camera prst="perspectiveHeroicExtremeLeftFacing"/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4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4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4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4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400" b="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4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4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ZA" sz="24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400" i="1" dirty="0">
                  <a:solidFill>
                    <a:srgbClr val="080808"/>
                  </a:solidFill>
                  <a:latin typeface="Bodoni MT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706" y="2485496"/>
                <a:ext cx="2225353" cy="8442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633566" y="2368456"/>
                <a:ext cx="3388235" cy="971613"/>
              </a:xfrm>
              <a:prstGeom prst="rect">
                <a:avLst/>
              </a:prstGeom>
              <a:noFill/>
              <a:ln>
                <a:solidFill>
                  <a:srgbClr val="080808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scene3d>
                <a:camera prst="perspectiveHeroicExtremeLeftFacing"/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800" b="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800" i="1" dirty="0">
                  <a:solidFill>
                    <a:srgbClr val="080808"/>
                  </a:solidFill>
                  <a:latin typeface="Bodoni MT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566" y="2368456"/>
                <a:ext cx="3388235" cy="97161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715626" y="2570593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80958" y="4089192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67106" y="4964271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647836" y="2103780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613168" y="3622379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41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4" descr="http://www.lookseeedit.com/resources/tick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66"/>
          <a:stretch/>
        </p:blipFill>
        <p:spPr bwMode="auto">
          <a:xfrm>
            <a:off x="7618580" y="5557168"/>
            <a:ext cx="1155132" cy="97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8" y="1133197"/>
            <a:ext cx="2497217" cy="2408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188686" y="133707"/>
            <a:ext cx="9485086" cy="116706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2.6 Parallel Resistors &amp; Current Division</a:t>
            </a:r>
            <a:endParaRPr lang="en-US" sz="3600" dirty="0" smtClean="0"/>
          </a:p>
          <a:p>
            <a:r>
              <a:rPr lang="en-ZA" sz="3600" b="1" dirty="0" smtClean="0">
                <a:solidFill>
                  <a:srgbClr val="FF0000"/>
                </a:solidFill>
              </a:rPr>
              <a:t>Current Division - Summary</a:t>
            </a:r>
            <a:endParaRPr lang="en-ZA" sz="2800" b="1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1674249" y="1210403"/>
            <a:ext cx="0" cy="463774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>
            <a:off x="2741049" y="1210403"/>
            <a:ext cx="0" cy="463774"/>
          </a:xfrm>
          <a:prstGeom prst="straightConnector1">
            <a:avLst/>
          </a:prstGeom>
          <a:ln>
            <a:solidFill>
              <a:srgbClr val="000099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10798" y="1257624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i="1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ZA" sz="2400" i="1" dirty="0">
              <a:solidFill>
                <a:srgbClr val="FF0000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1049" y="1231732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i="1" dirty="0" smtClean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ZA" sz="2400" i="1" dirty="0">
              <a:solidFill>
                <a:srgbClr val="000099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197175" y="1751451"/>
                <a:ext cx="2468047" cy="969433"/>
              </a:xfrm>
              <a:prstGeom prst="rect">
                <a:avLst/>
              </a:prstGeom>
              <a:ln>
                <a:solidFill>
                  <a:srgbClr val="080808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800" b="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175" y="1751451"/>
                <a:ext cx="2468047" cy="96943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0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22" y="4159741"/>
            <a:ext cx="3503531" cy="2279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Straight Arrow Connector 12"/>
          <p:cNvCxnSpPr/>
          <p:nvPr/>
        </p:nvCxnSpPr>
        <p:spPr bwMode="auto">
          <a:xfrm>
            <a:off x="1342677" y="4200449"/>
            <a:ext cx="0" cy="463774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 bwMode="auto">
          <a:xfrm>
            <a:off x="2499630" y="4200449"/>
            <a:ext cx="0" cy="463774"/>
          </a:xfrm>
          <a:prstGeom prst="straightConnector1">
            <a:avLst/>
          </a:prstGeom>
          <a:ln>
            <a:solidFill>
              <a:srgbClr val="000099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79226" y="4247670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i="1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ZA" sz="2400" i="1" dirty="0">
              <a:solidFill>
                <a:srgbClr val="FF0000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99630" y="4221778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i="1" dirty="0" smtClean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99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ZA" sz="2400" i="1" dirty="0">
              <a:solidFill>
                <a:srgbClr val="000099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3691132" y="4200449"/>
            <a:ext cx="0" cy="463774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91132" y="4221778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i="1" dirty="0" smtClean="0">
                <a:solidFill>
                  <a:srgbClr val="00B05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B05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B05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ZA" sz="2400" i="1" dirty="0">
              <a:solidFill>
                <a:srgbClr val="00B050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 bwMode="auto">
          <a:xfrm>
            <a:off x="184381" y="4286096"/>
            <a:ext cx="900719" cy="0"/>
          </a:xfrm>
          <a:prstGeom prst="straightConnector1">
            <a:avLst/>
          </a:prstGeom>
          <a:ln w="76200">
            <a:solidFill>
              <a:srgbClr val="080808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 bwMode="auto">
          <a:xfrm>
            <a:off x="388308" y="1298410"/>
            <a:ext cx="900719" cy="0"/>
          </a:xfrm>
          <a:prstGeom prst="straightConnector1">
            <a:avLst/>
          </a:prstGeom>
          <a:ln w="76200">
            <a:solidFill>
              <a:srgbClr val="080808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51700" y="1416398"/>
            <a:ext cx="53340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800" b="1" i="1" dirty="0" smtClean="0">
                <a:solidFill>
                  <a:srgbClr val="080808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endParaRPr lang="en-ZA" sz="2800" b="1" i="1" dirty="0">
              <a:solidFill>
                <a:srgbClr val="080808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5396" y="4448779"/>
            <a:ext cx="53340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800" b="1" i="1" dirty="0" smtClean="0">
                <a:solidFill>
                  <a:srgbClr val="080808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endParaRPr lang="en-ZA" sz="2800" b="1" i="1" dirty="0">
              <a:solidFill>
                <a:srgbClr val="080808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224532" y="3537650"/>
                <a:ext cx="1103764" cy="523220"/>
              </a:xfrm>
              <a:prstGeom prst="rect">
                <a:avLst/>
              </a:prstGeom>
              <a:ln>
                <a:solidFill>
                  <a:srgbClr val="080808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?</m:t>
                      </m:r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532" y="3537650"/>
                <a:ext cx="1103764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4224532" y="4231209"/>
                <a:ext cx="3253198" cy="971613"/>
              </a:xfrm>
              <a:prstGeom prst="rect">
                <a:avLst/>
              </a:prstGeom>
              <a:ln>
                <a:solidFill>
                  <a:srgbClr val="080808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280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800" b="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532" y="4231209"/>
                <a:ext cx="3253198" cy="97161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05" name="Picture 5" descr="http://t0.gstatic.com/images?q=tbn:ANd9GcQLYCw8vDtH3u7w4oxRCyg3FyQgTZxaWheQr7A-iBIWnHxx9mjm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80" y="4212711"/>
            <a:ext cx="974958" cy="97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4235929" y="5557168"/>
                <a:ext cx="3253198" cy="971613"/>
              </a:xfrm>
              <a:prstGeom prst="rect">
                <a:avLst/>
              </a:prstGeom>
              <a:ln>
                <a:solidFill>
                  <a:srgbClr val="080808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>
                          <a:solidFill>
                            <a:srgbClr val="080808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𝑖</m:t>
                      </m:r>
                      <m:f>
                        <m:fPr>
                          <m:ctrlPr>
                            <a:rPr lang="en-ZA" sz="2800" i="1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800" b="0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i="1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ZA" sz="2800" b="0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800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929" y="5557168"/>
                <a:ext cx="3253198" cy="971613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2834009" y="5052335"/>
            <a:ext cx="53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8667" y="2005334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929438" y="2001563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86154" y="5068405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715562" y="5064634"/>
            <a:ext cx="6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2400" i="1" dirty="0">
              <a:solidFill>
                <a:srgbClr val="080808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11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2804" y="327164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2-9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800" baseline="-25000" dirty="0" err="1" smtClean="0">
                <a:latin typeface="Times New Roman" pitchFamily="18" charset="0"/>
                <a:cs typeface="Times New Roman" pitchFamily="18" charset="0"/>
              </a:rPr>
              <a:t>eq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20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0"/>
          <a:stretch>
            <a:fillRect/>
          </a:stretch>
        </p:blipFill>
        <p:spPr bwMode="auto">
          <a:xfrm>
            <a:off x="392804" y="1371425"/>
            <a:ext cx="3870103" cy="1611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150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2804" y="327164"/>
            <a:ext cx="818452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2-12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in the circuit.  Also calculate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the power dissipated in the 12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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and 40 </a:t>
            </a:r>
            <a:r>
              <a:rPr lang="en-ZA" sz="2800" dirty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resistors.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 descr="ale29559_0204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" t="7613"/>
          <a:stretch>
            <a:fillRect/>
          </a:stretch>
        </p:blipFill>
        <p:spPr bwMode="auto">
          <a:xfrm>
            <a:off x="302652" y="1712159"/>
            <a:ext cx="3522373" cy="2429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903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2804" y="327164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2-31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3" descr="ale29559_0209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7"/>
          <a:stretch>
            <a:fillRect/>
          </a:stretch>
        </p:blipFill>
        <p:spPr bwMode="auto">
          <a:xfrm>
            <a:off x="226453" y="1281271"/>
            <a:ext cx="4258613" cy="2108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786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07711-0FD3-497A-81AB-0F3CCE1052CE}" type="slidenum">
              <a:rPr lang="en-US"/>
              <a:pPr/>
              <a:t>49</a:t>
            </a:fld>
            <a:endParaRPr lang="en-US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103188"/>
            <a:ext cx="8243887" cy="1790006"/>
          </a:xfrm>
        </p:spPr>
        <p:txBody>
          <a:bodyPr/>
          <a:lstStyle/>
          <a:p>
            <a:r>
              <a:rPr lang="en-US" sz="4000" dirty="0"/>
              <a:t/>
            </a:r>
            <a:br>
              <a:rPr lang="en-US" sz="4000" dirty="0"/>
            </a:br>
            <a:r>
              <a:rPr lang="en-US" sz="4000" b="1" dirty="0"/>
              <a:t>Chapter 2: Lecture </a:t>
            </a:r>
            <a:r>
              <a:rPr lang="en-US" sz="4000" b="1" dirty="0" smtClean="0"/>
              <a:t>#4 </a:t>
            </a:r>
            <a:br>
              <a:rPr lang="en-US" sz="4000" b="1" dirty="0" smtClean="0"/>
            </a:br>
            <a:r>
              <a:rPr lang="en-US" sz="4000" dirty="0" smtClean="0"/>
              <a:t>2.7 </a:t>
            </a:r>
            <a:r>
              <a:rPr lang="en-US" sz="4000" dirty="0"/>
              <a:t>Wye-Delta </a:t>
            </a:r>
            <a:r>
              <a:rPr lang="en-US" sz="4000" dirty="0" smtClean="0"/>
              <a:t>Transformations</a:t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WYE / Y or T or Star Network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31" name="Rectangle 15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33" name="Rectangle 1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21" name="Picture 3" descr="ale29559_0204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9"/>
          <a:stretch>
            <a:fillRect/>
          </a:stretch>
        </p:blipFill>
        <p:spPr bwMode="auto">
          <a:xfrm>
            <a:off x="368265" y="2711003"/>
            <a:ext cx="8407469" cy="3136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07711-0FD3-497A-81AB-0F3CCE1052CE}" type="slidenum">
              <a:rPr lang="en-US"/>
              <a:pPr/>
              <a:t>50</a:t>
            </a:fld>
            <a:endParaRPr lang="en-US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128789"/>
            <a:ext cx="8243887" cy="1210614"/>
          </a:xfrm>
        </p:spPr>
        <p:txBody>
          <a:bodyPr/>
          <a:lstStyle/>
          <a:p>
            <a:r>
              <a:rPr lang="en-US" sz="2800" dirty="0" smtClean="0"/>
              <a:t>2.7 </a:t>
            </a:r>
            <a:r>
              <a:rPr lang="en-US" sz="2800" dirty="0"/>
              <a:t>Wye-Delta </a:t>
            </a:r>
            <a:r>
              <a:rPr lang="en-US" sz="2800" dirty="0" smtClean="0"/>
              <a:t>Transformations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l-GR" sz="4000" dirty="0" smtClean="0">
                <a:solidFill>
                  <a:srgbClr val="FF0000"/>
                </a:solidFill>
              </a:rPr>
              <a:t>Δ</a:t>
            </a:r>
            <a:r>
              <a:rPr lang="en-ZA" sz="4000" dirty="0" smtClean="0">
                <a:solidFill>
                  <a:srgbClr val="FF0000"/>
                </a:solidFill>
              </a:rPr>
              <a:t> </a:t>
            </a:r>
            <a:r>
              <a:rPr lang="en-US" sz="4000" dirty="0" smtClean="0">
                <a:solidFill>
                  <a:srgbClr val="FF0000"/>
                </a:solidFill>
              </a:rPr>
              <a:t>or </a:t>
            </a:r>
            <a:r>
              <a:rPr lang="en-US" sz="4000" dirty="0" smtClean="0">
                <a:solidFill>
                  <a:srgbClr val="FF0000"/>
                </a:solidFill>
                <a:sym typeface="Symbol"/>
              </a:rPr>
              <a:t></a:t>
            </a:r>
            <a:r>
              <a:rPr lang="en-US" sz="4000" dirty="0" smtClean="0">
                <a:solidFill>
                  <a:srgbClr val="FF0000"/>
                </a:solidFill>
              </a:rPr>
              <a:t> Network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31" name="Rectangle 15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33" name="Rectangle 1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11" name="Picture 3" descr="ale29559_020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 t="4402" r="12369"/>
          <a:stretch>
            <a:fillRect/>
          </a:stretch>
        </p:blipFill>
        <p:spPr bwMode="auto">
          <a:xfrm>
            <a:off x="2044536" y="1864103"/>
            <a:ext cx="2956847" cy="479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365355" y="2548875"/>
            <a:ext cx="61747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Δ</a:t>
            </a:r>
            <a:endParaRPr lang="en-ZA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59932" y="5073134"/>
            <a:ext cx="52290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</a:t>
            </a:r>
            <a:endParaRPr lang="en-ZA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686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07711-0FD3-497A-81AB-0F3CCE1052CE}" type="slidenum">
              <a:rPr lang="en-US"/>
              <a:pPr/>
              <a:t>51</a:t>
            </a:fld>
            <a:endParaRPr lang="en-US"/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31" name="Rectangle 15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33" name="Rectangle 1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128789"/>
            <a:ext cx="8243887" cy="1210614"/>
          </a:xfrm>
        </p:spPr>
        <p:txBody>
          <a:bodyPr/>
          <a:lstStyle/>
          <a:p>
            <a:r>
              <a:rPr lang="en-US" sz="2800" dirty="0" smtClean="0"/>
              <a:t>2.7 </a:t>
            </a:r>
            <a:r>
              <a:rPr lang="en-US" sz="2800" dirty="0"/>
              <a:t>Wye-Delta </a:t>
            </a:r>
            <a:r>
              <a:rPr lang="en-US" sz="2800" dirty="0" smtClean="0"/>
              <a:t>Transformations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Y inside a </a:t>
            </a:r>
            <a:r>
              <a:rPr lang="el-GR" sz="4000" dirty="0" smtClean="0">
                <a:solidFill>
                  <a:srgbClr val="FF0000"/>
                </a:solidFill>
              </a:rPr>
              <a:t>Δ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10036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893" y="1712153"/>
            <a:ext cx="4891234" cy="372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73039" y="2605028"/>
            <a:ext cx="39308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Delta </a:t>
            </a:r>
            <a:r>
              <a:rPr lang="el-G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ZA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ZA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Name the nodes 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ZA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ZA" sz="24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opposite 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node 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ZA" sz="24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 opposite node 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ZA" sz="2400" b="1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ZA" sz="24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 opposite node 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endParaRPr lang="en-ZA" sz="2400" b="1" dirty="0">
              <a:solidFill>
                <a:srgbClr val="FF0000"/>
              </a:solidFill>
            </a:endParaRPr>
          </a:p>
          <a:p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5763" y="3449829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ZA" sz="2400" b="1" i="1" dirty="0">
              <a:solidFill>
                <a:srgbClr val="FF00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17899" y="1361305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endParaRPr lang="en-ZA" sz="2400" b="1" i="1" dirty="0">
              <a:solidFill>
                <a:srgbClr val="FF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73799" y="344228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ZA" sz="2400" b="1" i="1" dirty="0">
              <a:solidFill>
                <a:srgbClr val="FF0000"/>
              </a:solidFill>
            </a:endParaRPr>
          </a:p>
        </p:txBody>
      </p:sp>
      <p:sp>
        <p:nvSpPr>
          <p:cNvPr id="6" name="Arc 5"/>
          <p:cNvSpPr/>
          <p:nvPr/>
        </p:nvSpPr>
        <p:spPr bwMode="auto">
          <a:xfrm>
            <a:off x="1222765" y="1907495"/>
            <a:ext cx="6562277" cy="2858399"/>
          </a:xfrm>
          <a:prstGeom prst="arc">
            <a:avLst>
              <a:gd name="adj1" fmla="val 15622169"/>
              <a:gd name="adj2" fmla="val 134867"/>
            </a:avLst>
          </a:prstGeom>
          <a:ln>
            <a:solidFill>
              <a:srgbClr val="FF0000"/>
            </a:solidFill>
            <a:headEnd type="none" w="med" len="med"/>
            <a:tailEnd type="triangle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1" name="Arc 30"/>
          <p:cNvSpPr/>
          <p:nvPr/>
        </p:nvSpPr>
        <p:spPr bwMode="auto">
          <a:xfrm flipH="1">
            <a:off x="5020020" y="1907494"/>
            <a:ext cx="6562277" cy="2858399"/>
          </a:xfrm>
          <a:prstGeom prst="arc">
            <a:avLst>
              <a:gd name="adj1" fmla="val 15622169"/>
              <a:gd name="adj2" fmla="val 134867"/>
            </a:avLst>
          </a:prstGeom>
          <a:ln>
            <a:solidFill>
              <a:srgbClr val="FF0000"/>
            </a:solidFill>
            <a:headEnd type="none" w="med" len="med"/>
            <a:tailEnd type="triangle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2" name="Arc 31"/>
          <p:cNvSpPr/>
          <p:nvPr/>
        </p:nvSpPr>
        <p:spPr bwMode="auto">
          <a:xfrm rot="16200000">
            <a:off x="4379235" y="2788724"/>
            <a:ext cx="3737978" cy="1344804"/>
          </a:xfrm>
          <a:prstGeom prst="arc">
            <a:avLst>
              <a:gd name="adj1" fmla="val 10795072"/>
              <a:gd name="adj2" fmla="val 134867"/>
            </a:avLst>
          </a:prstGeom>
          <a:ln>
            <a:solidFill>
              <a:srgbClr val="FF0000"/>
            </a:solidFill>
            <a:headEnd type="none" w="med" len="med"/>
            <a:tailEnd type="triangle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922740" y="1720750"/>
            <a:ext cx="4994266" cy="3796108"/>
            <a:chOff x="3922740" y="1720750"/>
            <a:chExt cx="4994266" cy="3796108"/>
          </a:xfrm>
        </p:grpSpPr>
        <p:sp>
          <p:nvSpPr>
            <p:cNvPr id="2" name="Oval 1"/>
            <p:cNvSpPr/>
            <p:nvPr/>
          </p:nvSpPr>
          <p:spPr bwMode="auto">
            <a:xfrm>
              <a:off x="3922740" y="1720751"/>
              <a:ext cx="373487" cy="373487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8543519" y="1720750"/>
              <a:ext cx="373487" cy="373487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6271766" y="5143371"/>
              <a:ext cx="373487" cy="373487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999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CC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CC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CC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8" grpId="0"/>
      <p:bldP spid="29" grpId="0"/>
      <p:bldP spid="6" grpId="0" animBg="1"/>
      <p:bldP spid="31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07711-0FD3-497A-81AB-0F3CCE1052CE}" type="slidenum">
              <a:rPr lang="en-US"/>
              <a:pPr/>
              <a:t>52</a:t>
            </a:fld>
            <a:endParaRPr lang="en-US"/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31" name="Rectangle 15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86033" name="Rectangle 1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128789"/>
            <a:ext cx="8243887" cy="1210614"/>
          </a:xfrm>
        </p:spPr>
        <p:txBody>
          <a:bodyPr/>
          <a:lstStyle/>
          <a:p>
            <a:r>
              <a:rPr lang="en-US" sz="2800" dirty="0" smtClean="0"/>
              <a:t>2.7 </a:t>
            </a:r>
            <a:r>
              <a:rPr lang="en-US" sz="2800" dirty="0"/>
              <a:t>Wye-Delta </a:t>
            </a:r>
            <a:r>
              <a:rPr lang="en-US" sz="2800" dirty="0" smtClean="0"/>
              <a:t>Transformations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Y inside a </a:t>
            </a:r>
            <a:r>
              <a:rPr lang="el-GR" sz="4000" dirty="0" smtClean="0">
                <a:solidFill>
                  <a:srgbClr val="FF0000"/>
                </a:solidFill>
              </a:rPr>
              <a:t>Δ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10036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08" y="1712152"/>
            <a:ext cx="4891234" cy="372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799398" y="2757331"/>
            <a:ext cx="39308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Delta Y: 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, R</a:t>
            </a:r>
            <a:r>
              <a:rPr lang="en-ZA" sz="2400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, R</a:t>
            </a:r>
            <a:r>
              <a:rPr lang="en-ZA" sz="2400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Name the nodes </a:t>
            </a:r>
            <a:r>
              <a:rPr lang="en-ZA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ZA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ZA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ZA" sz="24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ZA" sz="2400" u="sng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connected to 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node </a:t>
            </a:r>
            <a:r>
              <a:rPr lang="en-ZA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ZA" sz="24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is connected to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node </a:t>
            </a:r>
            <a:r>
              <a:rPr lang="en-ZA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ZA" sz="2400" b="1" dirty="0">
              <a:solidFill>
                <a:srgbClr val="000099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ZA" sz="24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is connected to</a:t>
            </a:r>
            <a:r>
              <a:rPr lang="en-ZA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node </a:t>
            </a:r>
            <a:r>
              <a:rPr lang="en-ZA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endParaRPr lang="en-ZA" sz="2400" b="1" dirty="0">
              <a:solidFill>
                <a:srgbClr val="000099"/>
              </a:solidFill>
            </a:endParaRPr>
          </a:p>
          <a:p>
            <a:endParaRPr lang="en-ZA" sz="2400" dirty="0">
              <a:solidFill>
                <a:srgbClr val="000099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07802" y="1939690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2400" b="1" i="1" dirty="0">
              <a:solidFill>
                <a:srgbClr val="000099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28357" y="1952569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ZA" sz="2400" b="1" i="1" dirty="0">
              <a:solidFill>
                <a:srgbClr val="000099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833504" y="371537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b="1" i="1" baseline="-25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sz="2400" b="1" i="1" dirty="0">
              <a:solidFill>
                <a:srgbClr val="000099"/>
              </a:solidFill>
            </a:endParaRPr>
          </a:p>
        </p:txBody>
      </p:sp>
      <p:sp>
        <p:nvSpPr>
          <p:cNvPr id="6" name="Arc 5"/>
          <p:cNvSpPr/>
          <p:nvPr/>
        </p:nvSpPr>
        <p:spPr bwMode="auto">
          <a:xfrm rot="18737513">
            <a:off x="269903" y="1544926"/>
            <a:ext cx="1620109" cy="1357698"/>
          </a:xfrm>
          <a:prstGeom prst="arc">
            <a:avLst>
              <a:gd name="adj1" fmla="val 16244565"/>
              <a:gd name="adj2" fmla="val 1898679"/>
            </a:avLst>
          </a:prstGeom>
          <a:ln>
            <a:solidFill>
              <a:srgbClr val="000099"/>
            </a:solidFill>
            <a:headEnd type="none" w="med" len="med"/>
            <a:tailEnd type="triangle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1" name="Arc 30"/>
          <p:cNvSpPr/>
          <p:nvPr/>
        </p:nvSpPr>
        <p:spPr bwMode="auto">
          <a:xfrm rot="19410097" flipH="1">
            <a:off x="3511685" y="1562010"/>
            <a:ext cx="1633764" cy="1308523"/>
          </a:xfrm>
          <a:prstGeom prst="arc">
            <a:avLst>
              <a:gd name="adj1" fmla="val 10794701"/>
              <a:gd name="adj2" fmla="val 18362189"/>
            </a:avLst>
          </a:prstGeom>
          <a:ln>
            <a:solidFill>
              <a:srgbClr val="000099"/>
            </a:solidFill>
            <a:headEnd type="none" w="med" len="med"/>
            <a:tailEnd type="triangle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2" name="Arc 31"/>
          <p:cNvSpPr/>
          <p:nvPr/>
        </p:nvSpPr>
        <p:spPr bwMode="auto">
          <a:xfrm rot="16200000" flipV="1">
            <a:off x="2302537" y="3879835"/>
            <a:ext cx="1383903" cy="1516657"/>
          </a:xfrm>
          <a:prstGeom prst="arc">
            <a:avLst>
              <a:gd name="adj1" fmla="val 10795072"/>
              <a:gd name="adj2" fmla="val 20373629"/>
            </a:avLst>
          </a:prstGeom>
          <a:ln>
            <a:solidFill>
              <a:srgbClr val="000099"/>
            </a:solidFill>
            <a:headEnd type="none" w="med" len="med"/>
            <a:tailEnd type="triangle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71976" y="1720751"/>
            <a:ext cx="4994266" cy="3796108"/>
            <a:chOff x="3922740" y="1720750"/>
            <a:chExt cx="4994266" cy="3796108"/>
          </a:xfrm>
        </p:grpSpPr>
        <p:sp>
          <p:nvSpPr>
            <p:cNvPr id="2" name="Oval 1"/>
            <p:cNvSpPr/>
            <p:nvPr/>
          </p:nvSpPr>
          <p:spPr bwMode="auto">
            <a:xfrm>
              <a:off x="3922740" y="1720751"/>
              <a:ext cx="373487" cy="373487"/>
            </a:xfrm>
            <a:prstGeom prst="ellipse">
              <a:avLst/>
            </a:prstGeom>
            <a:noFill/>
            <a:ln w="28575" cap="flat" cmpd="sng" algn="ctr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8543519" y="1720750"/>
              <a:ext cx="373487" cy="373487"/>
            </a:xfrm>
            <a:prstGeom prst="ellipse">
              <a:avLst/>
            </a:prstGeom>
            <a:noFill/>
            <a:ln w="28575" cap="flat" cmpd="sng" algn="ctr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6271766" y="5143371"/>
              <a:ext cx="373487" cy="373487"/>
            </a:xfrm>
            <a:prstGeom prst="ellipse">
              <a:avLst/>
            </a:prstGeom>
            <a:noFill/>
            <a:ln w="28575" cap="flat" cmpd="sng" algn="ctr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241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E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E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E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8" grpId="0"/>
      <p:bldP spid="29" grpId="0"/>
      <p:bldP spid="6" grpId="0" animBg="1"/>
      <p:bldP spid="31" grpId="0" animBg="1"/>
      <p:bldP spid="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3" descr="ale29559_020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" t="5534"/>
          <a:stretch>
            <a:fillRect/>
          </a:stretch>
        </p:blipFill>
        <p:spPr bwMode="auto">
          <a:xfrm>
            <a:off x="2133600" y="1271735"/>
            <a:ext cx="4419600" cy="368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07711-0FD3-497A-81AB-0F3CCE1052CE}" type="slidenum">
              <a:rPr lang="en-US"/>
              <a:pPr/>
              <a:t>53</a:t>
            </a:fld>
            <a:endParaRPr lang="en-US"/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093905"/>
              </p:ext>
            </p:extLst>
          </p:nvPr>
        </p:nvGraphicFramePr>
        <p:xfrm>
          <a:off x="354886" y="3938499"/>
          <a:ext cx="196215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24" name="Equation" r:id="rId4" imgW="1206360" imgH="431640" progId="Equation.3">
                  <p:embed/>
                </p:oleObj>
              </mc:Choice>
              <mc:Fallback>
                <p:oleObj name="Equation" r:id="rId4" imgW="1206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86" y="3938499"/>
                        <a:ext cx="1962150" cy="709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86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443332"/>
              </p:ext>
            </p:extLst>
          </p:nvPr>
        </p:nvGraphicFramePr>
        <p:xfrm>
          <a:off x="304800" y="4954735"/>
          <a:ext cx="21209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25" name="Equation" r:id="rId6" imgW="1294838" imgH="444307" progId="Equation.3">
                  <p:embed/>
                </p:oleObj>
              </mc:Choice>
              <mc:Fallback>
                <p:oleObj name="Equation" r:id="rId6" imgW="1294838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954735"/>
                        <a:ext cx="21209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860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90053"/>
              </p:ext>
            </p:extLst>
          </p:nvPr>
        </p:nvGraphicFramePr>
        <p:xfrm>
          <a:off x="354886" y="5795488"/>
          <a:ext cx="210185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26" name="Equation" r:id="rId8" imgW="1282700" imgH="444500" progId="Equation.3">
                  <p:embed/>
                </p:oleObj>
              </mc:Choice>
              <mc:Fallback>
                <p:oleObj name="Equation" r:id="rId8" imgW="12827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86" y="5795488"/>
                        <a:ext cx="2101850" cy="731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860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951872"/>
              </p:ext>
            </p:extLst>
          </p:nvPr>
        </p:nvGraphicFramePr>
        <p:xfrm>
          <a:off x="5943600" y="3678106"/>
          <a:ext cx="26320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27" name="Equation" r:id="rId10" imgW="1612900" imgH="444500" progId="Equation.3">
                  <p:embed/>
                </p:oleObj>
              </mc:Choice>
              <mc:Fallback>
                <p:oleObj name="Equation" r:id="rId10" imgW="1612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678106"/>
                        <a:ext cx="2632075" cy="73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1" name="Rectangle 15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860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293730"/>
              </p:ext>
            </p:extLst>
          </p:nvPr>
        </p:nvGraphicFramePr>
        <p:xfrm>
          <a:off x="5943600" y="4668706"/>
          <a:ext cx="26320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28" name="Equation" r:id="rId12" imgW="1612900" imgH="444500" progId="Equation.3">
                  <p:embed/>
                </p:oleObj>
              </mc:Choice>
              <mc:Fallback>
                <p:oleObj name="Equation" r:id="rId12" imgW="1612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668706"/>
                        <a:ext cx="2632075" cy="73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3" name="Rectangle 17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860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118625"/>
              </p:ext>
            </p:extLst>
          </p:nvPr>
        </p:nvGraphicFramePr>
        <p:xfrm>
          <a:off x="5902325" y="5735506"/>
          <a:ext cx="26320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29" name="Equation" r:id="rId14" imgW="1612900" imgH="444500" progId="Equation.3">
                  <p:embed/>
                </p:oleObj>
              </mc:Choice>
              <mc:Fallback>
                <p:oleObj name="Equation" r:id="rId14" imgW="1612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2325" y="5735506"/>
                        <a:ext cx="2632075" cy="73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4" name="Text Box 18"/>
          <p:cNvSpPr txBox="1">
            <a:spLocks noChangeArrowheads="1"/>
          </p:cNvSpPr>
          <p:nvPr/>
        </p:nvSpPr>
        <p:spPr bwMode="auto">
          <a:xfrm>
            <a:off x="304800" y="2189403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Delta </a:t>
            </a:r>
            <a:r>
              <a:rPr lang="en-US" b="1" dirty="0" smtClean="0">
                <a:latin typeface="Cambria Math"/>
                <a:ea typeface="Cambria Math"/>
              </a:rPr>
              <a:t>⟶</a:t>
            </a:r>
            <a:r>
              <a:rPr lang="en-US" b="1" dirty="0" smtClean="0"/>
              <a:t> Wye</a:t>
            </a:r>
            <a:endParaRPr lang="en-US" b="1" dirty="0"/>
          </a:p>
        </p:txBody>
      </p:sp>
      <p:sp>
        <p:nvSpPr>
          <p:cNvPr id="86035" name="Text Box 19"/>
          <p:cNvSpPr txBox="1">
            <a:spLocks noChangeArrowheads="1"/>
          </p:cNvSpPr>
          <p:nvPr/>
        </p:nvSpPr>
        <p:spPr bwMode="auto">
          <a:xfrm>
            <a:off x="6384346" y="2159485"/>
            <a:ext cx="1981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 smtClean="0"/>
              <a:t>Wye </a:t>
            </a:r>
            <a:r>
              <a:rPr lang="en-US" b="1" dirty="0">
                <a:latin typeface="Cambria Math"/>
                <a:ea typeface="Cambria Math"/>
              </a:rPr>
              <a:t>⟶</a:t>
            </a:r>
            <a:r>
              <a:rPr lang="en-US" b="1" dirty="0" smtClean="0"/>
              <a:t> </a:t>
            </a:r>
            <a:r>
              <a:rPr lang="en-US" b="1" dirty="0"/>
              <a:t>Delta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128789"/>
            <a:ext cx="8243887" cy="1210614"/>
          </a:xfrm>
        </p:spPr>
        <p:txBody>
          <a:bodyPr/>
          <a:lstStyle/>
          <a:p>
            <a:r>
              <a:rPr lang="en-US" sz="2800" dirty="0" smtClean="0"/>
              <a:t>2.7 </a:t>
            </a:r>
            <a:r>
              <a:rPr lang="en-US" sz="2800" dirty="0"/>
              <a:t>Wye-Delta </a:t>
            </a:r>
            <a:r>
              <a:rPr lang="en-US" sz="2800" dirty="0" smtClean="0"/>
              <a:t>Transformations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Y inside a </a:t>
            </a:r>
            <a:r>
              <a:rPr lang="el-GR" sz="4000" dirty="0" smtClean="0">
                <a:solidFill>
                  <a:srgbClr val="FF0000"/>
                </a:solidFill>
              </a:rPr>
              <a:t>Δ</a:t>
            </a:r>
            <a:endParaRPr lang="en-US" sz="4000" dirty="0">
              <a:solidFill>
                <a:srgbClr val="FF00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90445" y="2743194"/>
            <a:ext cx="1652789" cy="723984"/>
            <a:chOff x="213217" y="3313089"/>
            <a:chExt cx="1652789" cy="723984"/>
          </a:xfrm>
        </p:grpSpPr>
        <p:sp>
          <p:nvSpPr>
            <p:cNvPr id="2" name="Rectangle 1"/>
            <p:cNvSpPr/>
            <p:nvPr/>
          </p:nvSpPr>
          <p:spPr>
            <a:xfrm>
              <a:off x="1320664" y="3313089"/>
              <a:ext cx="545342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sz="4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Δ</a:t>
              </a:r>
              <a:endParaRPr lang="en-ZA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13217" y="3329187"/>
              <a:ext cx="50045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4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Y</a:t>
              </a:r>
              <a:endParaRPr lang="en-ZA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62159" y="3313089"/>
              <a:ext cx="788999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4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/>
                  <a:ea typeface="Cambria Math"/>
                </a:rPr>
                <a:t>⟵</a:t>
              </a:r>
              <a:endParaRPr lang="en-ZA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337745" y="2484942"/>
            <a:ext cx="1902570" cy="727656"/>
            <a:chOff x="5839004" y="2759292"/>
            <a:chExt cx="1902570" cy="727656"/>
          </a:xfrm>
        </p:grpSpPr>
        <p:sp>
          <p:nvSpPr>
            <p:cNvPr id="26" name="Rectangle 25"/>
            <p:cNvSpPr/>
            <p:nvPr/>
          </p:nvSpPr>
          <p:spPr>
            <a:xfrm>
              <a:off x="5839004" y="2759292"/>
              <a:ext cx="545342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sz="4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Δ</a:t>
              </a:r>
              <a:endParaRPr lang="en-ZA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241116" y="2779062"/>
              <a:ext cx="50045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4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Y</a:t>
              </a:r>
              <a:endParaRPr lang="en-ZA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384346" y="2759292"/>
              <a:ext cx="788999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4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/>
                  <a:ea typeface="Cambria Math"/>
                </a:rPr>
                <a:t>⟵</a:t>
              </a:r>
              <a:endParaRPr lang="en-ZA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90949" y="4320861"/>
            <a:ext cx="2962269" cy="933738"/>
            <a:chOff x="790949" y="4320861"/>
            <a:chExt cx="2962269" cy="933738"/>
          </a:xfrm>
        </p:grpSpPr>
        <p:sp>
          <p:nvSpPr>
            <p:cNvPr id="10" name="Rounded Rectangle 9"/>
            <p:cNvSpPr/>
            <p:nvPr/>
          </p:nvSpPr>
          <p:spPr bwMode="auto">
            <a:xfrm>
              <a:off x="790949" y="4320861"/>
              <a:ext cx="1482172" cy="341291"/>
            </a:xfrm>
            <a:prstGeom prst="round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877402" y="4491505"/>
                  <a:ext cx="875816" cy="7630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ZA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ZA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ZA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ZA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ZA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7402" y="4491505"/>
                  <a:ext cx="875816" cy="763094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Elbow Connector 14"/>
            <p:cNvCxnSpPr>
              <a:stCxn id="10" idx="3"/>
              <a:endCxn id="11" idx="1"/>
            </p:cNvCxnSpPr>
            <p:nvPr/>
          </p:nvCxnSpPr>
          <p:spPr bwMode="auto">
            <a:xfrm>
              <a:off x="2273121" y="4491507"/>
              <a:ext cx="604281" cy="381545"/>
            </a:xfrm>
            <a:prstGeom prst="bentConnector3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86016" name="Group 86015"/>
          <p:cNvGrpSpPr/>
          <p:nvPr/>
        </p:nvGrpSpPr>
        <p:grpSpPr>
          <a:xfrm>
            <a:off x="1316840" y="3429825"/>
            <a:ext cx="2425850" cy="816977"/>
            <a:chOff x="1316840" y="3429825"/>
            <a:chExt cx="2425850" cy="816977"/>
          </a:xfrm>
        </p:grpSpPr>
        <p:sp>
          <p:nvSpPr>
            <p:cNvPr id="41" name="Rounded Rectangle 40"/>
            <p:cNvSpPr/>
            <p:nvPr/>
          </p:nvSpPr>
          <p:spPr bwMode="auto">
            <a:xfrm>
              <a:off x="1316840" y="3905511"/>
              <a:ext cx="500458" cy="341291"/>
            </a:xfrm>
            <a:prstGeom prst="roundRect">
              <a:avLst/>
            </a:prstGeom>
            <a:noFill/>
            <a:ln w="9525" cap="flat" cmpd="sng" algn="ctr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94572" y="3429825"/>
              <a:ext cx="18481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dirty="0" smtClean="0"/>
                <a:t>Product of adjacent </a:t>
              </a:r>
              <a:r>
                <a:rPr lang="el-GR" b="1" dirty="0" smtClean="0"/>
                <a:t>Δ</a:t>
              </a:r>
              <a:r>
                <a:rPr lang="en-ZA" dirty="0" smtClean="0"/>
                <a:t> R’s</a:t>
              </a:r>
              <a:endParaRPr lang="en-ZA" dirty="0"/>
            </a:p>
          </p:txBody>
        </p:sp>
        <p:cxnSp>
          <p:nvCxnSpPr>
            <p:cNvPr id="18" name="Elbow Connector 17"/>
            <p:cNvCxnSpPr>
              <a:stCxn id="41" idx="0"/>
              <a:endCxn id="16" idx="1"/>
            </p:cNvCxnSpPr>
            <p:nvPr/>
          </p:nvCxnSpPr>
          <p:spPr bwMode="auto">
            <a:xfrm rot="5400000" flipH="1" flipV="1">
              <a:off x="1654560" y="3665500"/>
              <a:ext cx="152520" cy="327503"/>
            </a:xfrm>
            <a:prstGeom prst="bentConnector2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5924280" y="3852922"/>
            <a:ext cx="1852615" cy="558091"/>
            <a:chOff x="5924280" y="3633979"/>
            <a:chExt cx="1852615" cy="558091"/>
          </a:xfrm>
        </p:grpSpPr>
        <p:sp>
          <p:nvSpPr>
            <p:cNvPr id="39" name="Rounded Rectangle 38"/>
            <p:cNvSpPr/>
            <p:nvPr/>
          </p:nvSpPr>
          <p:spPr bwMode="auto">
            <a:xfrm>
              <a:off x="7276437" y="3850779"/>
              <a:ext cx="500458" cy="341291"/>
            </a:xfrm>
            <a:prstGeom prst="round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0" name="Rounded Rectangle 39"/>
            <p:cNvSpPr/>
            <p:nvPr/>
          </p:nvSpPr>
          <p:spPr bwMode="auto">
            <a:xfrm>
              <a:off x="5924280" y="3633979"/>
              <a:ext cx="355089" cy="341291"/>
            </a:xfrm>
            <a:prstGeom prst="round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29" name="Elbow Connector 28"/>
            <p:cNvCxnSpPr>
              <a:stCxn id="40" idx="2"/>
              <a:endCxn id="39" idx="1"/>
            </p:cNvCxnSpPr>
            <p:nvPr/>
          </p:nvCxnSpPr>
          <p:spPr bwMode="auto">
            <a:xfrm rot="16200000" flipH="1">
              <a:off x="6666054" y="3411041"/>
              <a:ext cx="46155" cy="1174612"/>
            </a:xfrm>
            <a:prstGeom prst="bentConnector2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86037" name="Group 86036"/>
          <p:cNvGrpSpPr/>
          <p:nvPr/>
        </p:nvGrpSpPr>
        <p:grpSpPr>
          <a:xfrm>
            <a:off x="6459160" y="3013874"/>
            <a:ext cx="2684840" cy="987097"/>
            <a:chOff x="6459160" y="3013874"/>
            <a:chExt cx="2684840" cy="987097"/>
          </a:xfrm>
        </p:grpSpPr>
        <p:sp>
          <p:nvSpPr>
            <p:cNvPr id="51" name="Rounded Rectangle 50"/>
            <p:cNvSpPr/>
            <p:nvPr/>
          </p:nvSpPr>
          <p:spPr bwMode="auto">
            <a:xfrm>
              <a:off x="6459161" y="3659680"/>
              <a:ext cx="2079532" cy="341291"/>
            </a:xfrm>
            <a:prstGeom prst="roundRect">
              <a:avLst/>
            </a:prstGeom>
            <a:noFill/>
            <a:ln w="9525" cap="flat" cmpd="sng" algn="ctr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53200" y="3013874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dirty="0" smtClean="0"/>
                <a:t>All possible pro-ducts of </a:t>
              </a:r>
              <a:r>
                <a:rPr lang="en-ZA" b="1" dirty="0" smtClean="0"/>
                <a:t>Y</a:t>
              </a:r>
              <a:r>
                <a:rPr lang="en-ZA" dirty="0" smtClean="0"/>
                <a:t> R’s 2@t</a:t>
              </a:r>
              <a:endParaRPr lang="en-ZA" dirty="0"/>
            </a:p>
          </p:txBody>
        </p:sp>
        <p:cxnSp>
          <p:nvCxnSpPr>
            <p:cNvPr id="53" name="Elbow Connector 52"/>
            <p:cNvCxnSpPr>
              <a:stCxn id="51" idx="1"/>
              <a:endCxn id="52" idx="1"/>
            </p:cNvCxnSpPr>
            <p:nvPr/>
          </p:nvCxnSpPr>
          <p:spPr bwMode="auto">
            <a:xfrm rot="10800000" flipH="1">
              <a:off x="6459160" y="3337040"/>
              <a:ext cx="94039" cy="493286"/>
            </a:xfrm>
            <a:prstGeom prst="bentConnector3">
              <a:avLst>
                <a:gd name="adj1" fmla="val -243091"/>
              </a:avLst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417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6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6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6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6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E175F-A0E8-43CB-8957-0044934BF1F5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7426" y="128789"/>
            <a:ext cx="8860664" cy="1210614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2.7 Wye-Delta Transformations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ZA" sz="4000" dirty="0" smtClean="0">
                <a:solidFill>
                  <a:srgbClr val="FF0000"/>
                </a:solidFill>
              </a:rPr>
              <a:t>Special Case: Balanced Y and </a:t>
            </a:r>
            <a:r>
              <a:rPr lang="el-GR" sz="4000" dirty="0">
                <a:solidFill>
                  <a:srgbClr val="FF0000"/>
                </a:solidFill>
              </a:rPr>
              <a:t>Δ</a:t>
            </a:r>
            <a:r>
              <a:rPr lang="en-ZA" sz="4000" dirty="0" smtClean="0">
                <a:solidFill>
                  <a:srgbClr val="FF0000"/>
                </a:solidFill>
              </a:rPr>
              <a:t> </a:t>
            </a:r>
            <a:endParaRPr lang="en-US" sz="4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877389" y="1339403"/>
                <a:ext cx="4672561" cy="49720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ZA" sz="36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ZA" sz="3600" baseline="-25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ZA" sz="36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ZA" sz="36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ZA" sz="3600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ZA" sz="3600" baseline="-25000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ZA" sz="36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ZA" sz="3600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ZA" sz="3600" baseline="-25000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ZA" sz="3600" baseline="-25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ZA" sz="36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= R</a:t>
                </a:r>
                <a:r>
                  <a:rPr lang="el-GR" sz="3600" baseline="-25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Δ</a:t>
                </a:r>
                <a:endParaRPr lang="en-ZA" sz="36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ZA" sz="36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and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ZA" sz="3600" dirty="0" smtClean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ZA" sz="3600" baseline="-25000" dirty="0" smtClean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ZA" sz="3600" dirty="0" smtClean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ZA" sz="3600" dirty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ZA" sz="3600" dirty="0" smtClean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ZA" sz="3600" baseline="-25000" dirty="0" smtClean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ZA" sz="3600" dirty="0" smtClean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ZA" sz="3600" dirty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ZA" sz="3600" dirty="0" smtClean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ZA" sz="3600" baseline="-25000" dirty="0" smtClean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3 </a:t>
                </a:r>
                <a:r>
                  <a:rPr lang="en-ZA" sz="3600" dirty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ZA" sz="3600" dirty="0" smtClean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ZA" sz="3600" baseline="-25000" dirty="0" smtClean="0">
                    <a:solidFill>
                      <a:srgbClr val="000099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endParaRPr lang="en-ZA" sz="3600" dirty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ZA" sz="3600" dirty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ZA" sz="3600" dirty="0" smtClean="0">
                    <a:solidFill>
                      <a:srgbClr val="080808"/>
                    </a:solidFill>
                    <a:latin typeface="Times New Roman" pitchFamily="18" charset="0"/>
                    <a:cs typeface="Times New Roman" pitchFamily="18" charset="0"/>
                  </a:rPr>
                  <a:t>hen: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60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3600" b="0" i="1" smtClean="0">
                                  <a:solidFill>
                                    <a:srgbClr val="080808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6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3600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∆</m:t>
                              </m:r>
                            </m:sub>
                          </m:sSub>
                        </m:num>
                        <m:den>
                          <m: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/>
                              <a:cs typeface="Times New Roman" pitchFamily="18" charset="0"/>
                            </a:rPr>
                            <m:t>3</m:t>
                          </m:r>
                        </m:den>
                      </m:f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  <a:cs typeface="Times New Roman" pitchFamily="18" charset="0"/>
                        </a:rPr>
                        <m:t>  </m:t>
                      </m:r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  <a:cs typeface="Times New Roman" pitchFamily="18" charset="0"/>
                        </a:rPr>
                        <m:t>𝑜𝑟</m:t>
                      </m:r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  <a:cs typeface="Times New Roman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∆</m:t>
                          </m:r>
                        </m:sub>
                      </m:sSub>
                      <m:r>
                        <a:rPr lang="en-ZA" sz="3600" b="0" i="1" smtClean="0">
                          <a:solidFill>
                            <a:srgbClr val="080808"/>
                          </a:solidFill>
                          <a:latin typeface="Cambria Math"/>
                          <a:cs typeface="Times New Roman" pitchFamily="18" charset="0"/>
                        </a:rPr>
                        <m:t>=3</m:t>
                      </m:r>
                      <m:sSub>
                        <m:sSubPr>
                          <m:ctrlP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ZA" sz="3600" b="0" i="1" smtClean="0">
                              <a:solidFill>
                                <a:srgbClr val="080808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ZA" sz="3600" dirty="0">
                  <a:solidFill>
                    <a:srgbClr val="080808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389" y="1339403"/>
                <a:ext cx="4672561" cy="497206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78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2804" y="43826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2-48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Convert the circuits from Y to 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Δ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ale29559_0211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5" r="-831"/>
          <a:stretch/>
        </p:blipFill>
        <p:spPr bwMode="auto">
          <a:xfrm>
            <a:off x="392803" y="939269"/>
            <a:ext cx="5608751" cy="212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0" y="3436439"/>
            <a:ext cx="2543175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990" y="1236164"/>
            <a:ext cx="2543175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 bwMode="auto">
          <a:xfrm>
            <a:off x="3197178" y="1088086"/>
            <a:ext cx="0" cy="5351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8073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ale29559_021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1"/>
          <a:stretch>
            <a:fillRect/>
          </a:stretch>
        </p:blipFill>
        <p:spPr bwMode="auto">
          <a:xfrm>
            <a:off x="344511" y="947535"/>
            <a:ext cx="5626100" cy="281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2804" y="43826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2-49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Convert the circuits from </a:t>
            </a:r>
            <a:r>
              <a:rPr lang="el-GR" sz="2800" dirty="0" smtClean="0"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to Y</a:t>
            </a:r>
            <a:r>
              <a:rPr lang="el-GR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3197178" y="1088086"/>
            <a:ext cx="0" cy="5351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11" y="3994933"/>
            <a:ext cx="262890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1200217"/>
            <a:ext cx="262890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753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2804" y="43826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2-44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800" baseline="-25000" dirty="0" err="1" smtClean="0">
                <a:latin typeface="Times New Roman" pitchFamily="18" charset="0"/>
                <a:cs typeface="Times New Roman" pitchFamily="18" charset="0"/>
              </a:rPr>
              <a:t>eq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between terminals </a:t>
            </a:r>
            <a:r>
              <a:rPr lang="en-ZA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: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3" descr="ale29559_0210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89"/>
          <a:stretch/>
        </p:blipFill>
        <p:spPr bwMode="auto">
          <a:xfrm>
            <a:off x="606379" y="1079711"/>
            <a:ext cx="4612613" cy="2088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347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107426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600" b="1" dirty="0" smtClean="0"/>
              <a:t>Chapter 2: Lecture #5 </a:t>
            </a:r>
            <a:br>
              <a:rPr lang="en-US" sz="3600" b="1" dirty="0" smtClean="0"/>
            </a:br>
            <a:r>
              <a:rPr lang="en-US" sz="3600" dirty="0" smtClean="0"/>
              <a:t>Additional Problems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2803" y="1003122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2-17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in the circuit.</a:t>
            </a:r>
            <a:endParaRPr lang="en-ZA" sz="28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 descr="ale29559_0208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31"/>
          <a:stretch>
            <a:fillRect/>
          </a:stretch>
        </p:blipFill>
        <p:spPr bwMode="auto">
          <a:xfrm>
            <a:off x="230981" y="1957229"/>
            <a:ext cx="4333875" cy="244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82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2803" y="191752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2-32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,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in the circuit.</a:t>
            </a:r>
            <a:endParaRPr lang="en-ZA" sz="28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209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70"/>
          <a:stretch>
            <a:fillRect/>
          </a:stretch>
        </p:blipFill>
        <p:spPr bwMode="auto">
          <a:xfrm>
            <a:off x="535546" y="1261769"/>
            <a:ext cx="4397062" cy="2351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911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2803" y="294784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2-37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Find R for the circuit.</a:t>
            </a:r>
            <a:endParaRPr lang="en-ZA" sz="28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21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2"/>
          <a:stretch>
            <a:fillRect/>
          </a:stretch>
        </p:blipFill>
        <p:spPr bwMode="auto">
          <a:xfrm>
            <a:off x="289771" y="1248892"/>
            <a:ext cx="5032669" cy="199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885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BD51-663E-4783-84FD-D38F71A4BDCF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2803" y="294784"/>
            <a:ext cx="8184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2-55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Calculate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in the circuit.</a:t>
            </a:r>
            <a:endParaRPr lang="en-ZA" sz="28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21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7758" r="6667"/>
          <a:stretch>
            <a:fillRect/>
          </a:stretch>
        </p:blipFill>
        <p:spPr bwMode="auto">
          <a:xfrm>
            <a:off x="187817" y="1248891"/>
            <a:ext cx="3886200" cy="322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190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3140</TotalTime>
  <Words>1986</Words>
  <Application>Microsoft Office PowerPoint</Application>
  <PresentationFormat>On-screen Show (4:3)</PresentationFormat>
  <Paragraphs>530</Paragraphs>
  <Slides>61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0" baseType="lpstr">
      <vt:lpstr>Arial</vt:lpstr>
      <vt:lpstr>Bodoni MT</vt:lpstr>
      <vt:lpstr>Cambria Math</vt:lpstr>
      <vt:lpstr>Symbol</vt:lpstr>
      <vt:lpstr>Times New Roman</vt:lpstr>
      <vt:lpstr>Verdana</vt:lpstr>
      <vt:lpstr>Balloons</vt:lpstr>
      <vt:lpstr>Bitmap Image</vt:lpstr>
      <vt:lpstr>Equation</vt:lpstr>
      <vt:lpstr>PowerPoint Presentation</vt:lpstr>
      <vt:lpstr>Basic Laws - Chapter 2</vt:lpstr>
      <vt:lpstr>Chapter 2: Lecture #1 2.2 Ohms Law: V = IR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2.3 Nodes, Branches and 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2: Lecture #2 2.4 Kirchhoff’s Laws</vt:lpstr>
      <vt:lpstr>2.4 Kirchhoff’s Laws (KCL) “What goes in, must come out”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Chapter 2: Lecture #3  2.5 Series Resistors &amp; Voltage Division</vt:lpstr>
      <vt:lpstr>PowerPoint Presentation</vt:lpstr>
      <vt:lpstr>PowerPoint Presentation</vt:lpstr>
      <vt:lpstr>PowerPoint Presentation</vt:lpstr>
      <vt:lpstr>2.6 Parallel Resistors &amp; Current Division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Chapter 2: Lecture #4  2.7 Wye-Delta Transformations WYE / Y or T or Star Network</vt:lpstr>
      <vt:lpstr>2.7 Wye-Delta Transformations Δ or  Network</vt:lpstr>
      <vt:lpstr>2.7 Wye-Delta Transformations Y inside a Δ</vt:lpstr>
      <vt:lpstr>2.7 Wye-Delta Transformations Y inside a Δ</vt:lpstr>
      <vt:lpstr>2.7 Wye-Delta Transformations Y inside a 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EE2003  Circuit Theory</dc:title>
  <dc:creator>EE</dc:creator>
  <cp:lastModifiedBy>Dr. X Ye</cp:lastModifiedBy>
  <cp:revision>185</cp:revision>
  <cp:lastPrinted>2011-07-22T05:51:17Z</cp:lastPrinted>
  <dcterms:created xsi:type="dcterms:W3CDTF">2006-09-12T03:52:31Z</dcterms:created>
  <dcterms:modified xsi:type="dcterms:W3CDTF">2018-02-07T21:02:07Z</dcterms:modified>
</cp:coreProperties>
</file>