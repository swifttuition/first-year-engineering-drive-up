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56"/>
  </p:notesMasterIdLst>
  <p:handoutMasterIdLst>
    <p:handoutMasterId r:id="rId57"/>
  </p:handoutMasterIdLst>
  <p:sldIdLst>
    <p:sldId id="256" r:id="rId2"/>
    <p:sldId id="257" r:id="rId3"/>
    <p:sldId id="287" r:id="rId4"/>
    <p:sldId id="305" r:id="rId5"/>
    <p:sldId id="306" r:id="rId6"/>
    <p:sldId id="258" r:id="rId7"/>
    <p:sldId id="309" r:id="rId8"/>
    <p:sldId id="307" r:id="rId9"/>
    <p:sldId id="308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25" r:id="rId26"/>
    <p:sldId id="327" r:id="rId27"/>
    <p:sldId id="328" r:id="rId28"/>
    <p:sldId id="329" r:id="rId29"/>
    <p:sldId id="330" r:id="rId30"/>
    <p:sldId id="331" r:id="rId31"/>
    <p:sldId id="332" r:id="rId32"/>
    <p:sldId id="333" r:id="rId33"/>
    <p:sldId id="334" r:id="rId34"/>
    <p:sldId id="336" r:id="rId35"/>
    <p:sldId id="335" r:id="rId36"/>
    <p:sldId id="300" r:id="rId37"/>
    <p:sldId id="337" r:id="rId38"/>
    <p:sldId id="338" r:id="rId39"/>
    <p:sldId id="339" r:id="rId40"/>
    <p:sldId id="340" r:id="rId41"/>
    <p:sldId id="341" r:id="rId42"/>
    <p:sldId id="342" r:id="rId43"/>
    <p:sldId id="343" r:id="rId44"/>
    <p:sldId id="345" r:id="rId45"/>
    <p:sldId id="346" r:id="rId46"/>
    <p:sldId id="302" r:id="rId47"/>
    <p:sldId id="347" r:id="rId48"/>
    <p:sldId id="348" r:id="rId49"/>
    <p:sldId id="349" r:id="rId50"/>
    <p:sldId id="350" r:id="rId51"/>
    <p:sldId id="351" r:id="rId52"/>
    <p:sldId id="352" r:id="rId53"/>
    <p:sldId id="353" r:id="rId54"/>
    <p:sldId id="354" r:id="rId55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3300"/>
    <a:srgbClr val="0066CC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4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-17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6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575" cy="511175"/>
          </a:xfrm>
          <a:prstGeom prst="rect">
            <a:avLst/>
          </a:prstGeom>
        </p:spPr>
        <p:txBody>
          <a:bodyPr vert="horz" lIns="91432" tIns="45717" rIns="91432" bIns="45717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9" y="1"/>
            <a:ext cx="3076575" cy="511175"/>
          </a:xfrm>
          <a:prstGeom prst="rect">
            <a:avLst/>
          </a:prstGeom>
        </p:spPr>
        <p:txBody>
          <a:bodyPr vert="horz" lIns="91432" tIns="45717" rIns="91432" bIns="45717" rtlCol="0"/>
          <a:lstStyle>
            <a:lvl1pPr algn="r">
              <a:defRPr sz="1200"/>
            </a:lvl1pPr>
          </a:lstStyle>
          <a:p>
            <a:fld id="{E362B337-AC46-48A5-9132-BF1DA57B1F0A}" type="datetimeFigureOut">
              <a:rPr lang="en-ZA" smtClean="0"/>
              <a:t>2012/02/21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1"/>
            <a:ext cx="3076575" cy="511175"/>
          </a:xfrm>
          <a:prstGeom prst="rect">
            <a:avLst/>
          </a:prstGeom>
        </p:spPr>
        <p:txBody>
          <a:bodyPr vert="horz" lIns="91432" tIns="45717" rIns="91432" bIns="45717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9" y="9721851"/>
            <a:ext cx="3076575" cy="511175"/>
          </a:xfrm>
          <a:prstGeom prst="rect">
            <a:avLst/>
          </a:prstGeom>
        </p:spPr>
        <p:txBody>
          <a:bodyPr vert="horz" lIns="91432" tIns="45717" rIns="91432" bIns="45717" rtlCol="0" anchor="b"/>
          <a:lstStyle>
            <a:lvl1pPr algn="r">
              <a:defRPr sz="1200"/>
            </a:lvl1pPr>
          </a:lstStyle>
          <a:p>
            <a:fld id="{B79556D2-0A8B-43B9-8198-B8E0EF6AD8C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10797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60" tIns="47380" rIns="94760" bIns="4738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6" y="1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60" tIns="47380" rIns="94760" bIns="4738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60" tIns="47380" rIns="94760" bIns="473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1107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60" tIns="47380" rIns="94760" bIns="4738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6" y="9721107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60" tIns="47380" rIns="94760" bIns="4738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fld id="{36308C98-2C34-4D3C-9A90-FCDBF26986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485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FA6117-DBF6-4975-99DF-6A7682CDBB76}" type="slidenum">
              <a:rPr lang="en-US"/>
              <a:pPr/>
              <a:t>1</a:t>
            </a:fld>
            <a:endParaRPr lang="en-US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C30605-30F8-4219-854B-3654B3ADDCB8}" type="slidenum">
              <a:rPr lang="en-US"/>
              <a:pPr/>
              <a:t>3</a:t>
            </a:fld>
            <a:endParaRPr 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4ED885-7733-4AC7-9189-7265F0C66E41}" type="slidenum">
              <a:rPr lang="en-US"/>
              <a:pPr/>
              <a:t>4</a:t>
            </a:fld>
            <a:endParaRPr lang="en-US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4ED885-7733-4AC7-9189-7265F0C66E41}" type="slidenum">
              <a:rPr lang="en-US"/>
              <a:pPr/>
              <a:t>5</a:t>
            </a:fld>
            <a:endParaRPr lang="en-US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38915" name="Group 3"/>
            <p:cNvGrpSpPr>
              <a:grpSpLocks/>
            </p:cNvGrpSpPr>
            <p:nvPr userDrawn="1"/>
          </p:nvGrpSpPr>
          <p:grpSpPr bwMode="auto">
            <a:xfrm rot="-215207">
              <a:off x="3690" y="234"/>
              <a:ext cx="1857" cy="3625"/>
              <a:chOff x="3010" y="778"/>
              <a:chExt cx="1857" cy="3625"/>
            </a:xfrm>
          </p:grpSpPr>
          <p:sp>
            <p:nvSpPr>
              <p:cNvPr id="38916" name="Freeform 4"/>
              <p:cNvSpPr>
                <a:spLocks/>
              </p:cNvSpPr>
              <p:nvPr userDrawn="1"/>
            </p:nvSpPr>
            <p:spPr bwMode="ltGray">
              <a:xfrm rot="12185230" flipV="1">
                <a:off x="3534" y="778"/>
                <a:ext cx="1333" cy="1485"/>
              </a:xfrm>
              <a:custGeom>
                <a:avLst/>
                <a:gdLst>
                  <a:gd name="T0" fmla="*/ 16 w 596"/>
                  <a:gd name="T1" fmla="*/ 370 h 666"/>
                  <a:gd name="T2" fmla="*/ 6 w 596"/>
                  <a:gd name="T3" fmla="*/ 341 h 666"/>
                  <a:gd name="T4" fmla="*/ 0 w 596"/>
                  <a:gd name="T5" fmla="*/ 289 h 666"/>
                  <a:gd name="T6" fmla="*/ 4 w 596"/>
                  <a:gd name="T7" fmla="*/ 222 h 666"/>
                  <a:gd name="T8" fmla="*/ 25 w 596"/>
                  <a:gd name="T9" fmla="*/ 151 h 666"/>
                  <a:gd name="T10" fmla="*/ 69 w 596"/>
                  <a:gd name="T11" fmla="*/ 84 h 666"/>
                  <a:gd name="T12" fmla="*/ 142 w 596"/>
                  <a:gd name="T13" fmla="*/ 31 h 666"/>
                  <a:gd name="T14" fmla="*/ 247 w 596"/>
                  <a:gd name="T15" fmla="*/ 2 h 666"/>
                  <a:gd name="T16" fmla="*/ 380 w 596"/>
                  <a:gd name="T17" fmla="*/ 9 h 666"/>
                  <a:gd name="T18" fmla="*/ 484 w 596"/>
                  <a:gd name="T19" fmla="*/ 68 h 666"/>
                  <a:gd name="T20" fmla="*/ 554 w 596"/>
                  <a:gd name="T21" fmla="*/ 165 h 666"/>
                  <a:gd name="T22" fmla="*/ 591 w 596"/>
                  <a:gd name="T23" fmla="*/ 284 h 666"/>
                  <a:gd name="T24" fmla="*/ 595 w 596"/>
                  <a:gd name="T25" fmla="*/ 409 h 666"/>
                  <a:gd name="T26" fmla="*/ 566 w 596"/>
                  <a:gd name="T27" fmla="*/ 525 h 666"/>
                  <a:gd name="T28" fmla="*/ 507 w 596"/>
                  <a:gd name="T29" fmla="*/ 615 h 666"/>
                  <a:gd name="T30" fmla="*/ 417 w 596"/>
                  <a:gd name="T31" fmla="*/ 663 h 666"/>
                  <a:gd name="T32" fmla="*/ 389 w 596"/>
                  <a:gd name="T33" fmla="*/ 659 h 666"/>
                  <a:gd name="T34" fmla="*/ 441 w 596"/>
                  <a:gd name="T35" fmla="*/ 617 h 666"/>
                  <a:gd name="T36" fmla="*/ 482 w 596"/>
                  <a:gd name="T37" fmla="*/ 544 h 666"/>
                  <a:gd name="T38" fmla="*/ 509 w 596"/>
                  <a:gd name="T39" fmla="*/ 454 h 666"/>
                  <a:gd name="T40" fmla="*/ 520 w 596"/>
                  <a:gd name="T41" fmla="*/ 355 h 666"/>
                  <a:gd name="T42" fmla="*/ 514 w 596"/>
                  <a:gd name="T43" fmla="*/ 258 h 666"/>
                  <a:gd name="T44" fmla="*/ 485 w 596"/>
                  <a:gd name="T45" fmla="*/ 174 h 666"/>
                  <a:gd name="T46" fmla="*/ 433 w 596"/>
                  <a:gd name="T47" fmla="*/ 112 h 666"/>
                  <a:gd name="T48" fmla="*/ 341 w 596"/>
                  <a:gd name="T49" fmla="*/ 75 h 666"/>
                  <a:gd name="T50" fmla="*/ 246 w 596"/>
                  <a:gd name="T51" fmla="*/ 61 h 666"/>
                  <a:gd name="T52" fmla="*/ 174 w 596"/>
                  <a:gd name="T53" fmla="*/ 71 h 666"/>
                  <a:gd name="T54" fmla="*/ 121 w 596"/>
                  <a:gd name="T55" fmla="*/ 101 h 666"/>
                  <a:gd name="T56" fmla="*/ 84 w 596"/>
                  <a:gd name="T57" fmla="*/ 149 h 666"/>
                  <a:gd name="T58" fmla="*/ 57 w 596"/>
                  <a:gd name="T59" fmla="*/ 206 h 666"/>
                  <a:gd name="T60" fmla="*/ 40 w 596"/>
                  <a:gd name="T61" fmla="*/ 272 h 666"/>
                  <a:gd name="T62" fmla="*/ 28 w 596"/>
                  <a:gd name="T63" fmla="*/ 339 h 6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17" name="Freeform 5"/>
              <p:cNvSpPr>
                <a:spLocks/>
              </p:cNvSpPr>
              <p:nvPr userDrawn="1"/>
            </p:nvSpPr>
            <p:spPr bwMode="ltGray">
              <a:xfrm rot="12185230" flipV="1">
                <a:off x="4029" y="1802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25 h 237"/>
                  <a:gd name="T4" fmla="*/ 3 w 257"/>
                  <a:gd name="T5" fmla="*/ 50 h 237"/>
                  <a:gd name="T6" fmla="*/ 6 w 257"/>
                  <a:gd name="T7" fmla="*/ 75 h 237"/>
                  <a:gd name="T8" fmla="*/ 11 w 257"/>
                  <a:gd name="T9" fmla="*/ 98 h 237"/>
                  <a:gd name="T10" fmla="*/ 18 w 257"/>
                  <a:gd name="T11" fmla="*/ 119 h 237"/>
                  <a:gd name="T12" fmla="*/ 27 w 257"/>
                  <a:gd name="T13" fmla="*/ 141 h 237"/>
                  <a:gd name="T14" fmla="*/ 38 w 257"/>
                  <a:gd name="T15" fmla="*/ 161 h 237"/>
                  <a:gd name="T16" fmla="*/ 51 w 257"/>
                  <a:gd name="T17" fmla="*/ 178 h 237"/>
                  <a:gd name="T18" fmla="*/ 67 w 257"/>
                  <a:gd name="T19" fmla="*/ 194 h 237"/>
                  <a:gd name="T20" fmla="*/ 86 w 257"/>
                  <a:gd name="T21" fmla="*/ 208 h 237"/>
                  <a:gd name="T22" fmla="*/ 106 w 257"/>
                  <a:gd name="T23" fmla="*/ 219 h 237"/>
                  <a:gd name="T24" fmla="*/ 131 w 257"/>
                  <a:gd name="T25" fmla="*/ 228 h 237"/>
                  <a:gd name="T26" fmla="*/ 158 w 257"/>
                  <a:gd name="T27" fmla="*/ 234 h 237"/>
                  <a:gd name="T28" fmla="*/ 188 w 257"/>
                  <a:gd name="T29" fmla="*/ 237 h 237"/>
                  <a:gd name="T30" fmla="*/ 220 w 257"/>
                  <a:gd name="T31" fmla="*/ 236 h 237"/>
                  <a:gd name="T32" fmla="*/ 257 w 257"/>
                  <a:gd name="T33" fmla="*/ 232 h 237"/>
                  <a:gd name="T34" fmla="*/ 224 w 257"/>
                  <a:gd name="T35" fmla="*/ 227 h 237"/>
                  <a:gd name="T36" fmla="*/ 195 w 257"/>
                  <a:gd name="T37" fmla="*/ 220 h 237"/>
                  <a:gd name="T38" fmla="*/ 170 w 257"/>
                  <a:gd name="T39" fmla="*/ 212 h 237"/>
                  <a:gd name="T40" fmla="*/ 148 w 257"/>
                  <a:gd name="T41" fmla="*/ 204 h 237"/>
                  <a:gd name="T42" fmla="*/ 128 w 257"/>
                  <a:gd name="T43" fmla="*/ 193 h 237"/>
                  <a:gd name="T44" fmla="*/ 112 w 257"/>
                  <a:gd name="T45" fmla="*/ 182 h 237"/>
                  <a:gd name="T46" fmla="*/ 97 w 257"/>
                  <a:gd name="T47" fmla="*/ 169 h 237"/>
                  <a:gd name="T48" fmla="*/ 84 w 257"/>
                  <a:gd name="T49" fmla="*/ 155 h 237"/>
                  <a:gd name="T50" fmla="*/ 72 w 257"/>
                  <a:gd name="T51" fmla="*/ 141 h 237"/>
                  <a:gd name="T52" fmla="*/ 61 w 257"/>
                  <a:gd name="T53" fmla="*/ 125 h 237"/>
                  <a:gd name="T54" fmla="*/ 52 w 257"/>
                  <a:gd name="T55" fmla="*/ 107 h 237"/>
                  <a:gd name="T56" fmla="*/ 43 w 257"/>
                  <a:gd name="T57" fmla="*/ 88 h 237"/>
                  <a:gd name="T58" fmla="*/ 33 w 257"/>
                  <a:gd name="T59" fmla="*/ 69 h 237"/>
                  <a:gd name="T60" fmla="*/ 23 w 257"/>
                  <a:gd name="T61" fmla="*/ 47 h 237"/>
                  <a:gd name="T62" fmla="*/ 12 w 257"/>
                  <a:gd name="T63" fmla="*/ 24 h 237"/>
                  <a:gd name="T64" fmla="*/ 0 w 257"/>
                  <a:gd name="T65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18" name="Freeform 6"/>
              <p:cNvSpPr>
                <a:spLocks/>
              </p:cNvSpPr>
              <p:nvPr userDrawn="1"/>
            </p:nvSpPr>
            <p:spPr bwMode="ltGray">
              <a:xfrm rot="12185230" flipV="1">
                <a:off x="3639" y="2167"/>
                <a:ext cx="277" cy="249"/>
              </a:xfrm>
              <a:custGeom>
                <a:avLst/>
                <a:gdLst>
                  <a:gd name="T0" fmla="*/ 77 w 124"/>
                  <a:gd name="T1" fmla="*/ 0 h 110"/>
                  <a:gd name="T2" fmla="*/ 124 w 124"/>
                  <a:gd name="T3" fmla="*/ 108 h 110"/>
                  <a:gd name="T4" fmla="*/ 120 w 124"/>
                  <a:gd name="T5" fmla="*/ 107 h 110"/>
                  <a:gd name="T6" fmla="*/ 107 w 124"/>
                  <a:gd name="T7" fmla="*/ 105 h 110"/>
                  <a:gd name="T8" fmla="*/ 89 w 124"/>
                  <a:gd name="T9" fmla="*/ 101 h 110"/>
                  <a:gd name="T10" fmla="*/ 68 w 124"/>
                  <a:gd name="T11" fmla="*/ 99 h 110"/>
                  <a:gd name="T12" fmla="*/ 45 w 124"/>
                  <a:gd name="T13" fmla="*/ 97 h 110"/>
                  <a:gd name="T14" fmla="*/ 25 w 124"/>
                  <a:gd name="T15" fmla="*/ 98 h 110"/>
                  <a:gd name="T16" fmla="*/ 9 w 124"/>
                  <a:gd name="T17" fmla="*/ 102 h 110"/>
                  <a:gd name="T18" fmla="*/ 0 w 124"/>
                  <a:gd name="T19" fmla="*/ 110 h 110"/>
                  <a:gd name="T20" fmla="*/ 4 w 124"/>
                  <a:gd name="T21" fmla="*/ 98 h 110"/>
                  <a:gd name="T22" fmla="*/ 8 w 124"/>
                  <a:gd name="T23" fmla="*/ 89 h 110"/>
                  <a:gd name="T24" fmla="*/ 16 w 124"/>
                  <a:gd name="T25" fmla="*/ 82 h 110"/>
                  <a:gd name="T26" fmla="*/ 25 w 124"/>
                  <a:gd name="T27" fmla="*/ 76 h 110"/>
                  <a:gd name="T28" fmla="*/ 36 w 124"/>
                  <a:gd name="T29" fmla="*/ 72 h 110"/>
                  <a:gd name="T30" fmla="*/ 47 w 124"/>
                  <a:gd name="T31" fmla="*/ 71 h 110"/>
                  <a:gd name="T32" fmla="*/ 59 w 124"/>
                  <a:gd name="T33" fmla="*/ 71 h 110"/>
                  <a:gd name="T34" fmla="*/ 72 w 124"/>
                  <a:gd name="T35" fmla="*/ 74 h 110"/>
                  <a:gd name="T36" fmla="*/ 73 w 124"/>
                  <a:gd name="T37" fmla="*/ 71 h 110"/>
                  <a:gd name="T38" fmla="*/ 70 w 124"/>
                  <a:gd name="T39" fmla="*/ 56 h 110"/>
                  <a:gd name="T40" fmla="*/ 67 w 124"/>
                  <a:gd name="T41" fmla="*/ 38 h 110"/>
                  <a:gd name="T42" fmla="*/ 65 w 124"/>
                  <a:gd name="T43" fmla="*/ 30 h 110"/>
                  <a:gd name="T44" fmla="*/ 63 w 124"/>
                  <a:gd name="T45" fmla="*/ 30 h 110"/>
                  <a:gd name="T46" fmla="*/ 61 w 124"/>
                  <a:gd name="T47" fmla="*/ 29 h 110"/>
                  <a:gd name="T48" fmla="*/ 59 w 124"/>
                  <a:gd name="T49" fmla="*/ 26 h 110"/>
                  <a:gd name="T50" fmla="*/ 57 w 124"/>
                  <a:gd name="T51" fmla="*/ 23 h 110"/>
                  <a:gd name="T52" fmla="*/ 57 w 124"/>
                  <a:gd name="T53" fmla="*/ 19 h 110"/>
                  <a:gd name="T54" fmla="*/ 59 w 124"/>
                  <a:gd name="T55" fmla="*/ 14 h 110"/>
                  <a:gd name="T56" fmla="*/ 66 w 124"/>
                  <a:gd name="T57" fmla="*/ 8 h 110"/>
                  <a:gd name="T58" fmla="*/ 77 w 124"/>
                  <a:gd name="T5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19" name="Freeform 7"/>
              <p:cNvSpPr>
                <a:spLocks/>
              </p:cNvSpPr>
              <p:nvPr userDrawn="1"/>
            </p:nvSpPr>
            <p:spPr bwMode="ltGray">
              <a:xfrm rot="12185230" flipV="1">
                <a:off x="3979" y="977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5 w 109"/>
                  <a:gd name="T3" fmla="*/ 1 h 156"/>
                  <a:gd name="T4" fmla="*/ 18 w 109"/>
                  <a:gd name="T5" fmla="*/ 5 h 156"/>
                  <a:gd name="T6" fmla="*/ 37 w 109"/>
                  <a:gd name="T7" fmla="*/ 12 h 156"/>
                  <a:gd name="T8" fmla="*/ 58 w 109"/>
                  <a:gd name="T9" fmla="*/ 24 h 156"/>
                  <a:gd name="T10" fmla="*/ 78 w 109"/>
                  <a:gd name="T11" fmla="*/ 44 h 156"/>
                  <a:gd name="T12" fmla="*/ 96 w 109"/>
                  <a:gd name="T13" fmla="*/ 71 h 156"/>
                  <a:gd name="T14" fmla="*/ 107 w 109"/>
                  <a:gd name="T15" fmla="*/ 108 h 156"/>
                  <a:gd name="T16" fmla="*/ 109 w 109"/>
                  <a:gd name="T17" fmla="*/ 156 h 156"/>
                  <a:gd name="T18" fmla="*/ 105 w 109"/>
                  <a:gd name="T19" fmla="*/ 156 h 156"/>
                  <a:gd name="T20" fmla="*/ 99 w 109"/>
                  <a:gd name="T21" fmla="*/ 156 h 156"/>
                  <a:gd name="T22" fmla="*/ 93 w 109"/>
                  <a:gd name="T23" fmla="*/ 156 h 156"/>
                  <a:gd name="T24" fmla="*/ 87 w 109"/>
                  <a:gd name="T25" fmla="*/ 154 h 156"/>
                  <a:gd name="T26" fmla="*/ 81 w 109"/>
                  <a:gd name="T27" fmla="*/ 153 h 156"/>
                  <a:gd name="T28" fmla="*/ 74 w 109"/>
                  <a:gd name="T29" fmla="*/ 150 h 156"/>
                  <a:gd name="T30" fmla="*/ 66 w 109"/>
                  <a:gd name="T31" fmla="*/ 145 h 156"/>
                  <a:gd name="T32" fmla="*/ 58 w 109"/>
                  <a:gd name="T33" fmla="*/ 139 h 156"/>
                  <a:gd name="T34" fmla="*/ 53 w 109"/>
                  <a:gd name="T35" fmla="*/ 126 h 156"/>
                  <a:gd name="T36" fmla="*/ 53 w 109"/>
                  <a:gd name="T37" fmla="*/ 111 h 156"/>
                  <a:gd name="T38" fmla="*/ 56 w 109"/>
                  <a:gd name="T39" fmla="*/ 96 h 156"/>
                  <a:gd name="T40" fmla="*/ 59 w 109"/>
                  <a:gd name="T41" fmla="*/ 80 h 156"/>
                  <a:gd name="T42" fmla="*/ 56 w 109"/>
                  <a:gd name="T43" fmla="*/ 62 h 156"/>
                  <a:gd name="T44" fmla="*/ 48 w 109"/>
                  <a:gd name="T45" fmla="*/ 43 h 156"/>
                  <a:gd name="T46" fmla="*/ 31 w 109"/>
                  <a:gd name="T47" fmla="*/ 23 h 156"/>
                  <a:gd name="T48" fmla="*/ 0 w 109"/>
                  <a:gd name="T49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20" name="Freeform 8"/>
              <p:cNvSpPr>
                <a:spLocks/>
              </p:cNvSpPr>
              <p:nvPr userDrawn="1"/>
            </p:nvSpPr>
            <p:spPr bwMode="ltGray">
              <a:xfrm rot="12185230" flipV="1">
                <a:off x="3845" y="2207"/>
                <a:ext cx="103" cy="209"/>
              </a:xfrm>
              <a:custGeom>
                <a:avLst/>
                <a:gdLst>
                  <a:gd name="T0" fmla="*/ 31 w 46"/>
                  <a:gd name="T1" fmla="*/ 0 h 94"/>
                  <a:gd name="T2" fmla="*/ 20 w 46"/>
                  <a:gd name="T3" fmla="*/ 38 h 94"/>
                  <a:gd name="T4" fmla="*/ 15 w 46"/>
                  <a:gd name="T5" fmla="*/ 62 h 94"/>
                  <a:gd name="T6" fmla="*/ 11 w 46"/>
                  <a:gd name="T7" fmla="*/ 79 h 94"/>
                  <a:gd name="T8" fmla="*/ 0 w 46"/>
                  <a:gd name="T9" fmla="*/ 94 h 94"/>
                  <a:gd name="T10" fmla="*/ 12 w 46"/>
                  <a:gd name="T11" fmla="*/ 88 h 94"/>
                  <a:gd name="T12" fmla="*/ 23 w 46"/>
                  <a:gd name="T13" fmla="*/ 80 h 94"/>
                  <a:gd name="T14" fmla="*/ 32 w 46"/>
                  <a:gd name="T15" fmla="*/ 69 h 94"/>
                  <a:gd name="T16" fmla="*/ 40 w 46"/>
                  <a:gd name="T17" fmla="*/ 57 h 94"/>
                  <a:gd name="T18" fmla="*/ 45 w 46"/>
                  <a:gd name="T19" fmla="*/ 44 h 94"/>
                  <a:gd name="T20" fmla="*/ 46 w 46"/>
                  <a:gd name="T21" fmla="*/ 30 h 94"/>
                  <a:gd name="T22" fmla="*/ 42 w 46"/>
                  <a:gd name="T23" fmla="*/ 15 h 94"/>
                  <a:gd name="T24" fmla="*/ 31 w 46"/>
                  <a:gd name="T2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21" name="Freeform 9"/>
              <p:cNvSpPr>
                <a:spLocks/>
              </p:cNvSpPr>
              <p:nvPr userDrawn="1"/>
            </p:nvSpPr>
            <p:spPr bwMode="ltGray">
              <a:xfrm rot="12185230" flipV="1">
                <a:off x="3895" y="1325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1 w 54"/>
                  <a:gd name="T3" fmla="*/ 1 h 40"/>
                  <a:gd name="T4" fmla="*/ 6 w 54"/>
                  <a:gd name="T5" fmla="*/ 3 h 40"/>
                  <a:gd name="T6" fmla="*/ 13 w 54"/>
                  <a:gd name="T7" fmla="*/ 8 h 40"/>
                  <a:gd name="T8" fmla="*/ 21 w 54"/>
                  <a:gd name="T9" fmla="*/ 12 h 40"/>
                  <a:gd name="T10" fmla="*/ 29 w 54"/>
                  <a:gd name="T11" fmla="*/ 15 h 40"/>
                  <a:gd name="T12" fmla="*/ 38 w 54"/>
                  <a:gd name="T13" fmla="*/ 17 h 40"/>
                  <a:gd name="T14" fmla="*/ 46 w 54"/>
                  <a:gd name="T15" fmla="*/ 18 h 40"/>
                  <a:gd name="T16" fmla="*/ 54 w 54"/>
                  <a:gd name="T17" fmla="*/ 16 h 40"/>
                  <a:gd name="T18" fmla="*/ 53 w 54"/>
                  <a:gd name="T19" fmla="*/ 25 h 40"/>
                  <a:gd name="T20" fmla="*/ 50 w 54"/>
                  <a:gd name="T21" fmla="*/ 33 h 40"/>
                  <a:gd name="T22" fmla="*/ 44 w 54"/>
                  <a:gd name="T23" fmla="*/ 38 h 40"/>
                  <a:gd name="T24" fmla="*/ 37 w 54"/>
                  <a:gd name="T25" fmla="*/ 40 h 40"/>
                  <a:gd name="T26" fmla="*/ 28 w 54"/>
                  <a:gd name="T27" fmla="*/ 39 h 40"/>
                  <a:gd name="T28" fmla="*/ 19 w 54"/>
                  <a:gd name="T29" fmla="*/ 32 h 40"/>
                  <a:gd name="T30" fmla="*/ 10 w 54"/>
                  <a:gd name="T31" fmla="*/ 20 h 40"/>
                  <a:gd name="T32" fmla="*/ 0 w 54"/>
                  <a:gd name="T3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22" name="Freeform 10"/>
              <p:cNvSpPr>
                <a:spLocks/>
              </p:cNvSpPr>
              <p:nvPr userDrawn="1"/>
            </p:nvSpPr>
            <p:spPr bwMode="ltGray">
              <a:xfrm rot="12185230" flipV="1">
                <a:off x="3010" y="2344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6 w 149"/>
                  <a:gd name="T3" fmla="*/ 6 h 704"/>
                  <a:gd name="T4" fmla="*/ 16 w 149"/>
                  <a:gd name="T5" fmla="*/ 14 h 704"/>
                  <a:gd name="T6" fmla="*/ 28 w 149"/>
                  <a:gd name="T7" fmla="*/ 24 h 704"/>
                  <a:gd name="T8" fmla="*/ 41 w 149"/>
                  <a:gd name="T9" fmla="*/ 37 h 704"/>
                  <a:gd name="T10" fmla="*/ 58 w 149"/>
                  <a:gd name="T11" fmla="*/ 53 h 704"/>
                  <a:gd name="T12" fmla="*/ 73 w 149"/>
                  <a:gd name="T13" fmla="*/ 70 h 704"/>
                  <a:gd name="T14" fmla="*/ 88 w 149"/>
                  <a:gd name="T15" fmla="*/ 90 h 704"/>
                  <a:gd name="T16" fmla="*/ 100 w 149"/>
                  <a:gd name="T17" fmla="*/ 113 h 704"/>
                  <a:gd name="T18" fmla="*/ 112 w 149"/>
                  <a:gd name="T19" fmla="*/ 137 h 704"/>
                  <a:gd name="T20" fmla="*/ 120 w 149"/>
                  <a:gd name="T21" fmla="*/ 165 h 704"/>
                  <a:gd name="T22" fmla="*/ 124 w 149"/>
                  <a:gd name="T23" fmla="*/ 196 h 704"/>
                  <a:gd name="T24" fmla="*/ 126 w 149"/>
                  <a:gd name="T25" fmla="*/ 228 h 704"/>
                  <a:gd name="T26" fmla="*/ 120 w 149"/>
                  <a:gd name="T27" fmla="*/ 264 h 704"/>
                  <a:gd name="T28" fmla="*/ 109 w 149"/>
                  <a:gd name="T29" fmla="*/ 302 h 704"/>
                  <a:gd name="T30" fmla="*/ 92 w 149"/>
                  <a:gd name="T31" fmla="*/ 342 h 704"/>
                  <a:gd name="T32" fmla="*/ 67 w 149"/>
                  <a:gd name="T33" fmla="*/ 386 h 704"/>
                  <a:gd name="T34" fmla="*/ 39 w 149"/>
                  <a:gd name="T35" fmla="*/ 436 h 704"/>
                  <a:gd name="T36" fmla="*/ 21 w 149"/>
                  <a:gd name="T37" fmla="*/ 482 h 704"/>
                  <a:gd name="T38" fmla="*/ 10 w 149"/>
                  <a:gd name="T39" fmla="*/ 525 h 704"/>
                  <a:gd name="T40" fmla="*/ 6 w 149"/>
                  <a:gd name="T41" fmla="*/ 566 h 704"/>
                  <a:gd name="T42" fmla="*/ 6 w 149"/>
                  <a:gd name="T43" fmla="*/ 605 h 704"/>
                  <a:gd name="T44" fmla="*/ 8 w 149"/>
                  <a:gd name="T45" fmla="*/ 641 h 704"/>
                  <a:gd name="T46" fmla="*/ 12 w 149"/>
                  <a:gd name="T47" fmla="*/ 673 h 704"/>
                  <a:gd name="T48" fmla="*/ 14 w 149"/>
                  <a:gd name="T49" fmla="*/ 704 h 704"/>
                  <a:gd name="T50" fmla="*/ 41 w 149"/>
                  <a:gd name="T51" fmla="*/ 688 h 704"/>
                  <a:gd name="T52" fmla="*/ 39 w 149"/>
                  <a:gd name="T53" fmla="*/ 680 h 704"/>
                  <a:gd name="T54" fmla="*/ 36 w 149"/>
                  <a:gd name="T55" fmla="*/ 657 h 704"/>
                  <a:gd name="T56" fmla="*/ 33 w 149"/>
                  <a:gd name="T57" fmla="*/ 622 h 704"/>
                  <a:gd name="T58" fmla="*/ 35 w 149"/>
                  <a:gd name="T59" fmla="*/ 575 h 704"/>
                  <a:gd name="T60" fmla="*/ 41 w 149"/>
                  <a:gd name="T61" fmla="*/ 519 h 704"/>
                  <a:gd name="T62" fmla="*/ 58 w 149"/>
                  <a:gd name="T63" fmla="*/ 455 h 704"/>
                  <a:gd name="T64" fmla="*/ 86 w 149"/>
                  <a:gd name="T65" fmla="*/ 386 h 704"/>
                  <a:gd name="T66" fmla="*/ 129 w 149"/>
                  <a:gd name="T67" fmla="*/ 313 h 704"/>
                  <a:gd name="T68" fmla="*/ 143 w 149"/>
                  <a:gd name="T69" fmla="*/ 279 h 704"/>
                  <a:gd name="T70" fmla="*/ 149 w 149"/>
                  <a:gd name="T71" fmla="*/ 235 h 704"/>
                  <a:gd name="T72" fmla="*/ 144 w 149"/>
                  <a:gd name="T73" fmla="*/ 184 h 704"/>
                  <a:gd name="T74" fmla="*/ 131 w 149"/>
                  <a:gd name="T75" fmla="*/ 134 h 704"/>
                  <a:gd name="T76" fmla="*/ 109 w 149"/>
                  <a:gd name="T77" fmla="*/ 85 h 704"/>
                  <a:gd name="T78" fmla="*/ 81 w 149"/>
                  <a:gd name="T79" fmla="*/ 44 h 704"/>
                  <a:gd name="T80" fmla="*/ 44 w 149"/>
                  <a:gd name="T81" fmla="*/ 14 h 704"/>
                  <a:gd name="T82" fmla="*/ 0 w 149"/>
                  <a:gd name="T83" fmla="*/ 0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8923" name="Freeform 11"/>
            <p:cNvSpPr>
              <a:spLocks/>
            </p:cNvSpPr>
            <p:nvPr userDrawn="1"/>
          </p:nvSpPr>
          <p:spPr bwMode="ltGray">
            <a:xfrm rot="373331" flipH="1">
              <a:off x="22" y="1957"/>
              <a:ext cx="323" cy="649"/>
            </a:xfrm>
            <a:custGeom>
              <a:avLst/>
              <a:gdLst>
                <a:gd name="T0" fmla="*/ 94 w 128"/>
                <a:gd name="T1" fmla="*/ 0 h 217"/>
                <a:gd name="T2" fmla="*/ 105 w 128"/>
                <a:gd name="T3" fmla="*/ 9 h 217"/>
                <a:gd name="T4" fmla="*/ 115 w 128"/>
                <a:gd name="T5" fmla="*/ 27 h 217"/>
                <a:gd name="T6" fmla="*/ 123 w 128"/>
                <a:gd name="T7" fmla="*/ 50 h 217"/>
                <a:gd name="T8" fmla="*/ 128 w 128"/>
                <a:gd name="T9" fmla="*/ 78 h 217"/>
                <a:gd name="T10" fmla="*/ 127 w 128"/>
                <a:gd name="T11" fmla="*/ 111 h 217"/>
                <a:gd name="T12" fmla="*/ 116 w 128"/>
                <a:gd name="T13" fmla="*/ 145 h 217"/>
                <a:gd name="T14" fmla="*/ 94 w 128"/>
                <a:gd name="T15" fmla="*/ 181 h 217"/>
                <a:gd name="T16" fmla="*/ 60 w 128"/>
                <a:gd name="T17" fmla="*/ 217 h 217"/>
                <a:gd name="T18" fmla="*/ 49 w 128"/>
                <a:gd name="T19" fmla="*/ 213 h 217"/>
                <a:gd name="T20" fmla="*/ 38 w 128"/>
                <a:gd name="T21" fmla="*/ 210 h 217"/>
                <a:gd name="T22" fmla="*/ 26 w 128"/>
                <a:gd name="T23" fmla="*/ 205 h 217"/>
                <a:gd name="T24" fmla="*/ 16 w 128"/>
                <a:gd name="T25" fmla="*/ 201 h 217"/>
                <a:gd name="T26" fmla="*/ 8 w 128"/>
                <a:gd name="T27" fmla="*/ 196 h 217"/>
                <a:gd name="T28" fmla="*/ 2 w 128"/>
                <a:gd name="T29" fmla="*/ 190 h 217"/>
                <a:gd name="T30" fmla="*/ 0 w 128"/>
                <a:gd name="T31" fmla="*/ 183 h 217"/>
                <a:gd name="T32" fmla="*/ 1 w 128"/>
                <a:gd name="T33" fmla="*/ 178 h 217"/>
                <a:gd name="T34" fmla="*/ 13 w 128"/>
                <a:gd name="T35" fmla="*/ 171 h 217"/>
                <a:gd name="T36" fmla="*/ 29 w 128"/>
                <a:gd name="T37" fmla="*/ 161 h 217"/>
                <a:gd name="T38" fmla="*/ 46 w 128"/>
                <a:gd name="T39" fmla="*/ 150 h 217"/>
                <a:gd name="T40" fmla="*/ 63 w 128"/>
                <a:gd name="T41" fmla="*/ 134 h 217"/>
                <a:gd name="T42" fmla="*/ 79 w 128"/>
                <a:gd name="T43" fmla="*/ 112 h 217"/>
                <a:gd name="T44" fmla="*/ 91 w 128"/>
                <a:gd name="T45" fmla="*/ 83 h 217"/>
                <a:gd name="T46" fmla="*/ 97 w 128"/>
                <a:gd name="T47" fmla="*/ 46 h 217"/>
                <a:gd name="T48" fmla="*/ 94 w 128"/>
                <a:gd name="T4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4" name="Freeform 12"/>
            <p:cNvSpPr>
              <a:spLocks/>
            </p:cNvSpPr>
            <p:nvPr userDrawn="1"/>
          </p:nvSpPr>
          <p:spPr bwMode="ltGray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5" name="Freeform 13"/>
            <p:cNvSpPr>
              <a:spLocks/>
            </p:cNvSpPr>
            <p:nvPr userDrawn="1"/>
          </p:nvSpPr>
          <p:spPr bwMode="ltGray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6" name="Freeform 14"/>
            <p:cNvSpPr>
              <a:spLocks/>
            </p:cNvSpPr>
            <p:nvPr userDrawn="1"/>
          </p:nvSpPr>
          <p:spPr bwMode="ltGray">
            <a:xfrm rot="373331" flipH="1">
              <a:off x="898" y="2855"/>
              <a:ext cx="354" cy="464"/>
            </a:xfrm>
            <a:custGeom>
              <a:avLst/>
              <a:gdLst>
                <a:gd name="T0" fmla="*/ 75 w 117"/>
                <a:gd name="T1" fmla="*/ 0 h 132"/>
                <a:gd name="T2" fmla="*/ 0 w 117"/>
                <a:gd name="T3" fmla="*/ 25 h 132"/>
                <a:gd name="T4" fmla="*/ 3 w 117"/>
                <a:gd name="T5" fmla="*/ 26 h 132"/>
                <a:gd name="T6" fmla="*/ 14 w 117"/>
                <a:gd name="T7" fmla="*/ 29 h 132"/>
                <a:gd name="T8" fmla="*/ 29 w 117"/>
                <a:gd name="T9" fmla="*/ 36 h 132"/>
                <a:gd name="T10" fmla="*/ 46 w 117"/>
                <a:gd name="T11" fmla="*/ 47 h 132"/>
                <a:gd name="T12" fmla="*/ 66 w 117"/>
                <a:gd name="T13" fmla="*/ 62 h 132"/>
                <a:gd name="T14" fmla="*/ 84 w 117"/>
                <a:gd name="T15" fmla="*/ 80 h 132"/>
                <a:gd name="T16" fmla="*/ 102 w 117"/>
                <a:gd name="T17" fmla="*/ 103 h 132"/>
                <a:gd name="T18" fmla="*/ 116 w 117"/>
                <a:gd name="T19" fmla="*/ 132 h 132"/>
                <a:gd name="T20" fmla="*/ 117 w 117"/>
                <a:gd name="T21" fmla="*/ 120 h 132"/>
                <a:gd name="T22" fmla="*/ 115 w 117"/>
                <a:gd name="T23" fmla="*/ 107 h 132"/>
                <a:gd name="T24" fmla="*/ 108 w 117"/>
                <a:gd name="T25" fmla="*/ 90 h 132"/>
                <a:gd name="T26" fmla="*/ 99 w 117"/>
                <a:gd name="T27" fmla="*/ 74 h 132"/>
                <a:gd name="T28" fmla="*/ 89 w 117"/>
                <a:gd name="T29" fmla="*/ 58 h 132"/>
                <a:gd name="T30" fmla="*/ 78 w 117"/>
                <a:gd name="T31" fmla="*/ 45 h 132"/>
                <a:gd name="T32" fmla="*/ 67 w 117"/>
                <a:gd name="T33" fmla="*/ 36 h 132"/>
                <a:gd name="T34" fmla="*/ 58 w 117"/>
                <a:gd name="T35" fmla="*/ 32 h 132"/>
                <a:gd name="T36" fmla="*/ 69 w 117"/>
                <a:gd name="T37" fmla="*/ 29 h 132"/>
                <a:gd name="T38" fmla="*/ 79 w 117"/>
                <a:gd name="T39" fmla="*/ 28 h 132"/>
                <a:gd name="T40" fmla="*/ 89 w 117"/>
                <a:gd name="T41" fmla="*/ 26 h 132"/>
                <a:gd name="T42" fmla="*/ 98 w 117"/>
                <a:gd name="T43" fmla="*/ 25 h 132"/>
                <a:gd name="T44" fmla="*/ 105 w 117"/>
                <a:gd name="T45" fmla="*/ 24 h 132"/>
                <a:gd name="T46" fmla="*/ 109 w 117"/>
                <a:gd name="T47" fmla="*/ 22 h 132"/>
                <a:gd name="T48" fmla="*/ 113 w 117"/>
                <a:gd name="T49" fmla="*/ 21 h 132"/>
                <a:gd name="T50" fmla="*/ 114 w 117"/>
                <a:gd name="T51" fmla="*/ 21 h 132"/>
                <a:gd name="T52" fmla="*/ 75 w 117"/>
                <a:gd name="T5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7" name="Freeform 15"/>
            <p:cNvSpPr>
              <a:spLocks/>
            </p:cNvSpPr>
            <p:nvPr userDrawn="1"/>
          </p:nvSpPr>
          <p:spPr bwMode="ltGray">
            <a:xfrm rot="373331" flipH="1">
              <a:off x="799" y="2979"/>
              <a:ext cx="87" cy="274"/>
            </a:xfrm>
            <a:custGeom>
              <a:avLst/>
              <a:gdLst>
                <a:gd name="T0" fmla="*/ 29 w 29"/>
                <a:gd name="T1" fmla="*/ 0 h 77"/>
                <a:gd name="T2" fmla="*/ 23 w 29"/>
                <a:gd name="T3" fmla="*/ 0 h 77"/>
                <a:gd name="T4" fmla="*/ 16 w 29"/>
                <a:gd name="T5" fmla="*/ 4 h 77"/>
                <a:gd name="T6" fmla="*/ 9 w 29"/>
                <a:gd name="T7" fmla="*/ 9 h 77"/>
                <a:gd name="T8" fmla="*/ 4 w 29"/>
                <a:gd name="T9" fmla="*/ 19 h 77"/>
                <a:gd name="T10" fmla="*/ 1 w 29"/>
                <a:gd name="T11" fmla="*/ 30 h 77"/>
                <a:gd name="T12" fmla="*/ 0 w 29"/>
                <a:gd name="T13" fmla="*/ 44 h 77"/>
                <a:gd name="T14" fmla="*/ 3 w 29"/>
                <a:gd name="T15" fmla="*/ 60 h 77"/>
                <a:gd name="T16" fmla="*/ 11 w 29"/>
                <a:gd name="T17" fmla="*/ 77 h 77"/>
                <a:gd name="T18" fmla="*/ 15 w 29"/>
                <a:gd name="T19" fmla="*/ 53 h 77"/>
                <a:gd name="T20" fmla="*/ 19 w 29"/>
                <a:gd name="T21" fmla="*/ 37 h 77"/>
                <a:gd name="T22" fmla="*/ 23 w 29"/>
                <a:gd name="T23" fmla="*/ 22 h 77"/>
                <a:gd name="T24" fmla="*/ 29 w 29"/>
                <a:gd name="T2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8" name="Freeform 16"/>
            <p:cNvSpPr>
              <a:spLocks/>
            </p:cNvSpPr>
            <p:nvPr userDrawn="1"/>
          </p:nvSpPr>
          <p:spPr bwMode="ltGray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8929" name="Group 17"/>
            <p:cNvGrpSpPr>
              <a:grpSpLocks/>
            </p:cNvGrpSpPr>
            <p:nvPr userDrawn="1"/>
          </p:nvGrpSpPr>
          <p:grpSpPr bwMode="auto">
            <a:xfrm rot="3220060">
              <a:off x="2631" y="754"/>
              <a:ext cx="569" cy="637"/>
              <a:chOff x="1727" y="866"/>
              <a:chExt cx="129" cy="157"/>
            </a:xfrm>
          </p:grpSpPr>
          <p:sp>
            <p:nvSpPr>
              <p:cNvPr id="38930" name="Freeform 1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1" name="Freeform 1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2" name="Freeform 2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33" name="Group 21"/>
            <p:cNvGrpSpPr>
              <a:grpSpLocks/>
            </p:cNvGrpSpPr>
            <p:nvPr userDrawn="1"/>
          </p:nvGrpSpPr>
          <p:grpSpPr bwMode="auto">
            <a:xfrm rot="-6691250">
              <a:off x="3637" y="132"/>
              <a:ext cx="356" cy="607"/>
              <a:chOff x="1727" y="866"/>
              <a:chExt cx="129" cy="157"/>
            </a:xfrm>
          </p:grpSpPr>
          <p:sp>
            <p:nvSpPr>
              <p:cNvPr id="38934" name="Freeform 22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5" name="Freeform 23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6" name="Freeform 24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37" name="Group 25"/>
            <p:cNvGrpSpPr>
              <a:grpSpLocks/>
            </p:cNvGrpSpPr>
            <p:nvPr userDrawn="1"/>
          </p:nvGrpSpPr>
          <p:grpSpPr bwMode="auto">
            <a:xfrm rot="-13075160">
              <a:off x="668" y="3321"/>
              <a:ext cx="501" cy="502"/>
              <a:chOff x="1727" y="866"/>
              <a:chExt cx="129" cy="157"/>
            </a:xfrm>
          </p:grpSpPr>
          <p:sp>
            <p:nvSpPr>
              <p:cNvPr id="38938" name="Freeform 26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9" name="Freeform 27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0" name="Freeform 28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41" name="Group 29"/>
            <p:cNvGrpSpPr>
              <a:grpSpLocks/>
            </p:cNvGrpSpPr>
            <p:nvPr userDrawn="1"/>
          </p:nvGrpSpPr>
          <p:grpSpPr bwMode="auto">
            <a:xfrm rot="4106450" flipH="1">
              <a:off x="393" y="262"/>
              <a:ext cx="709" cy="892"/>
              <a:chOff x="1727" y="866"/>
              <a:chExt cx="129" cy="157"/>
            </a:xfrm>
          </p:grpSpPr>
          <p:sp>
            <p:nvSpPr>
              <p:cNvPr id="38942" name="Freeform 3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3" name="Freeform 3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4" name="Freeform 3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45" name="Group 33"/>
            <p:cNvGrpSpPr>
              <a:grpSpLocks/>
            </p:cNvGrpSpPr>
            <p:nvPr userDrawn="1"/>
          </p:nvGrpSpPr>
          <p:grpSpPr bwMode="auto">
            <a:xfrm rot="10015322" flipH="1">
              <a:off x="4625" y="2382"/>
              <a:ext cx="709" cy="892"/>
              <a:chOff x="1727" y="866"/>
              <a:chExt cx="129" cy="157"/>
            </a:xfrm>
          </p:grpSpPr>
          <p:sp>
            <p:nvSpPr>
              <p:cNvPr id="38946" name="Freeform 3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7" name="Freeform 3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8" name="Freeform 3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8949" name="Freeform 37"/>
            <p:cNvSpPr>
              <a:spLocks/>
            </p:cNvSpPr>
            <p:nvPr userDrawn="1"/>
          </p:nvSpPr>
          <p:spPr bwMode="ltGray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0" name="Freeform 38"/>
            <p:cNvSpPr>
              <a:spLocks/>
            </p:cNvSpPr>
            <p:nvPr userDrawn="1"/>
          </p:nvSpPr>
          <p:spPr bwMode="ltGray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1" name="Freeform 39"/>
            <p:cNvSpPr>
              <a:spLocks/>
            </p:cNvSpPr>
            <p:nvPr userDrawn="1"/>
          </p:nvSpPr>
          <p:spPr bwMode="ltGray">
            <a:xfrm rot="9832527" flipV="1">
              <a:off x="1997" y="858"/>
              <a:ext cx="330" cy="278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2" name="Freeform 40"/>
            <p:cNvSpPr>
              <a:spLocks/>
            </p:cNvSpPr>
            <p:nvPr userDrawn="1"/>
          </p:nvSpPr>
          <p:spPr bwMode="ltGray">
            <a:xfrm rot="9832527" flipV="1">
              <a:off x="2224" y="808"/>
              <a:ext cx="123" cy="233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3" name="Freeform 41"/>
            <p:cNvSpPr>
              <a:spLocks/>
            </p:cNvSpPr>
            <p:nvPr userDrawn="1"/>
          </p:nvSpPr>
          <p:spPr bwMode="ltGray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4" name="Freeform 42"/>
            <p:cNvSpPr>
              <a:spLocks/>
            </p:cNvSpPr>
            <p:nvPr userDrawn="1"/>
          </p:nvSpPr>
          <p:spPr bwMode="ltGray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6 w 149"/>
                <a:gd name="T3" fmla="*/ 6 h 704"/>
                <a:gd name="T4" fmla="*/ 16 w 149"/>
                <a:gd name="T5" fmla="*/ 14 h 704"/>
                <a:gd name="T6" fmla="*/ 28 w 149"/>
                <a:gd name="T7" fmla="*/ 24 h 704"/>
                <a:gd name="T8" fmla="*/ 41 w 149"/>
                <a:gd name="T9" fmla="*/ 37 h 704"/>
                <a:gd name="T10" fmla="*/ 58 w 149"/>
                <a:gd name="T11" fmla="*/ 53 h 704"/>
                <a:gd name="T12" fmla="*/ 73 w 149"/>
                <a:gd name="T13" fmla="*/ 70 h 704"/>
                <a:gd name="T14" fmla="*/ 88 w 149"/>
                <a:gd name="T15" fmla="*/ 90 h 704"/>
                <a:gd name="T16" fmla="*/ 100 w 149"/>
                <a:gd name="T17" fmla="*/ 113 h 704"/>
                <a:gd name="T18" fmla="*/ 112 w 149"/>
                <a:gd name="T19" fmla="*/ 137 h 704"/>
                <a:gd name="T20" fmla="*/ 120 w 149"/>
                <a:gd name="T21" fmla="*/ 165 h 704"/>
                <a:gd name="T22" fmla="*/ 124 w 149"/>
                <a:gd name="T23" fmla="*/ 196 h 704"/>
                <a:gd name="T24" fmla="*/ 126 w 149"/>
                <a:gd name="T25" fmla="*/ 228 h 704"/>
                <a:gd name="T26" fmla="*/ 120 w 149"/>
                <a:gd name="T27" fmla="*/ 264 h 704"/>
                <a:gd name="T28" fmla="*/ 109 w 149"/>
                <a:gd name="T29" fmla="*/ 302 h 704"/>
                <a:gd name="T30" fmla="*/ 92 w 149"/>
                <a:gd name="T31" fmla="*/ 342 h 704"/>
                <a:gd name="T32" fmla="*/ 67 w 149"/>
                <a:gd name="T33" fmla="*/ 386 h 704"/>
                <a:gd name="T34" fmla="*/ 39 w 149"/>
                <a:gd name="T35" fmla="*/ 436 h 704"/>
                <a:gd name="T36" fmla="*/ 21 w 149"/>
                <a:gd name="T37" fmla="*/ 482 h 704"/>
                <a:gd name="T38" fmla="*/ 10 w 149"/>
                <a:gd name="T39" fmla="*/ 525 h 704"/>
                <a:gd name="T40" fmla="*/ 6 w 149"/>
                <a:gd name="T41" fmla="*/ 566 h 704"/>
                <a:gd name="T42" fmla="*/ 6 w 149"/>
                <a:gd name="T43" fmla="*/ 605 h 704"/>
                <a:gd name="T44" fmla="*/ 8 w 149"/>
                <a:gd name="T45" fmla="*/ 641 h 704"/>
                <a:gd name="T46" fmla="*/ 12 w 149"/>
                <a:gd name="T47" fmla="*/ 673 h 704"/>
                <a:gd name="T48" fmla="*/ 14 w 149"/>
                <a:gd name="T49" fmla="*/ 704 h 704"/>
                <a:gd name="T50" fmla="*/ 41 w 149"/>
                <a:gd name="T51" fmla="*/ 688 h 704"/>
                <a:gd name="T52" fmla="*/ 39 w 149"/>
                <a:gd name="T53" fmla="*/ 680 h 704"/>
                <a:gd name="T54" fmla="*/ 36 w 149"/>
                <a:gd name="T55" fmla="*/ 657 h 704"/>
                <a:gd name="T56" fmla="*/ 33 w 149"/>
                <a:gd name="T57" fmla="*/ 622 h 704"/>
                <a:gd name="T58" fmla="*/ 35 w 149"/>
                <a:gd name="T59" fmla="*/ 575 h 704"/>
                <a:gd name="T60" fmla="*/ 41 w 149"/>
                <a:gd name="T61" fmla="*/ 519 h 704"/>
                <a:gd name="T62" fmla="*/ 58 w 149"/>
                <a:gd name="T63" fmla="*/ 455 h 704"/>
                <a:gd name="T64" fmla="*/ 86 w 149"/>
                <a:gd name="T65" fmla="*/ 386 h 704"/>
                <a:gd name="T66" fmla="*/ 129 w 149"/>
                <a:gd name="T67" fmla="*/ 313 h 704"/>
                <a:gd name="T68" fmla="*/ 143 w 149"/>
                <a:gd name="T69" fmla="*/ 279 h 704"/>
                <a:gd name="T70" fmla="*/ 149 w 149"/>
                <a:gd name="T71" fmla="*/ 235 h 704"/>
                <a:gd name="T72" fmla="*/ 144 w 149"/>
                <a:gd name="T73" fmla="*/ 184 h 704"/>
                <a:gd name="T74" fmla="*/ 131 w 149"/>
                <a:gd name="T75" fmla="*/ 134 h 704"/>
                <a:gd name="T76" fmla="*/ 109 w 149"/>
                <a:gd name="T77" fmla="*/ 85 h 704"/>
                <a:gd name="T78" fmla="*/ 81 w 149"/>
                <a:gd name="T79" fmla="*/ 44 h 704"/>
                <a:gd name="T80" fmla="*/ 44 w 149"/>
                <a:gd name="T81" fmla="*/ 14 h 704"/>
                <a:gd name="T82" fmla="*/ 0 w 149"/>
                <a:gd name="T83" fmla="*/ 0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5" name="Freeform 43"/>
            <p:cNvSpPr>
              <a:spLocks/>
            </p:cNvSpPr>
            <p:nvPr userDrawn="1"/>
          </p:nvSpPr>
          <p:spPr bwMode="ltGray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8956" name="Rectangle 4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8957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8958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DFD4EE3-756C-422C-8EBB-FA4599F21E0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8959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200" b="1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8960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5C0CEE-FF74-4A70-BBF5-3E9C3E59A7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7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249459-A8FE-4A8F-AB1F-31A036388D1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07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871590-7C2A-4F7A-8CFD-F276683E5D4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38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A9F061-BCCF-4696-9C7A-922C4FE2665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99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1C32FD-73DE-4B7D-ACE8-8042929788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23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C98872-F7C8-46E3-B5CF-577A7F23C2F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7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4CD9CE-A491-417B-ACFC-3E91B4D30C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528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2B84E1-8C1F-43F4-8922-9F4A110A6D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28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A65A84-34A4-4D9A-A5AD-9507BAC7C8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7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483F47-0517-4779-9C30-1B8EFB636E8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98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>
            <a:grpSpLocks/>
          </p:cNvGrpSpPr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37891" name="Freeform 3"/>
            <p:cNvSpPr>
              <a:spLocks/>
            </p:cNvSpPr>
            <p:nvPr/>
          </p:nvSpPr>
          <p:spPr bwMode="ltGray">
            <a:xfrm>
              <a:off x="-5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7892" name="Group 4"/>
            <p:cNvGrpSpPr>
              <a:grpSpLocks/>
            </p:cNvGrpSpPr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37893" name="Freeform 5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894" name="Freeform 6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895" name="Freeform 7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7896" name="Freeform 8"/>
            <p:cNvSpPr>
              <a:spLocks/>
            </p:cNvSpPr>
            <p:nvPr/>
          </p:nvSpPr>
          <p:spPr bwMode="ltGray">
            <a:xfrm>
              <a:off x="90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7897" name="Group 9"/>
            <p:cNvGrpSpPr>
              <a:grpSpLocks/>
            </p:cNvGrpSpPr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37898" name="Freeform 10"/>
              <p:cNvSpPr>
                <a:spLocks/>
              </p:cNvSpPr>
              <p:nvPr userDrawn="1"/>
            </p:nvSpPr>
            <p:spPr bwMode="ltGray">
              <a:xfrm rot="373331" flipH="1">
                <a:off x="125" y="2787"/>
                <a:ext cx="313" cy="303"/>
              </a:xfrm>
              <a:custGeom>
                <a:avLst/>
                <a:gdLst>
                  <a:gd name="T0" fmla="*/ 46 w 217"/>
                  <a:gd name="T1" fmla="*/ 210 h 210"/>
                  <a:gd name="T2" fmla="*/ 37 w 217"/>
                  <a:gd name="T3" fmla="*/ 198 h 210"/>
                  <a:gd name="T4" fmla="*/ 26 w 217"/>
                  <a:gd name="T5" fmla="*/ 181 h 210"/>
                  <a:gd name="T6" fmla="*/ 15 w 217"/>
                  <a:gd name="T7" fmla="*/ 159 h 210"/>
                  <a:gd name="T8" fmla="*/ 5 w 217"/>
                  <a:gd name="T9" fmla="*/ 135 h 210"/>
                  <a:gd name="T10" fmla="*/ 0 w 217"/>
                  <a:gd name="T11" fmla="*/ 109 h 210"/>
                  <a:gd name="T12" fmla="*/ 1 w 217"/>
                  <a:gd name="T13" fmla="*/ 82 h 210"/>
                  <a:gd name="T14" fmla="*/ 9 w 217"/>
                  <a:gd name="T15" fmla="*/ 57 h 210"/>
                  <a:gd name="T16" fmla="*/ 27 w 217"/>
                  <a:gd name="T17" fmla="*/ 35 h 210"/>
                  <a:gd name="T18" fmla="*/ 45 w 217"/>
                  <a:gd name="T19" fmla="*/ 22 h 210"/>
                  <a:gd name="T20" fmla="*/ 60 w 217"/>
                  <a:gd name="T21" fmla="*/ 12 h 210"/>
                  <a:gd name="T22" fmla="*/ 72 w 217"/>
                  <a:gd name="T23" fmla="*/ 7 h 210"/>
                  <a:gd name="T24" fmla="*/ 81 w 217"/>
                  <a:gd name="T25" fmla="*/ 5 h 210"/>
                  <a:gd name="T26" fmla="*/ 88 w 217"/>
                  <a:gd name="T27" fmla="*/ 5 h 210"/>
                  <a:gd name="T28" fmla="*/ 104 w 217"/>
                  <a:gd name="T29" fmla="*/ 0 h 210"/>
                  <a:gd name="T30" fmla="*/ 148 w 217"/>
                  <a:gd name="T31" fmla="*/ 8 h 210"/>
                  <a:gd name="T32" fmla="*/ 160 w 217"/>
                  <a:gd name="T33" fmla="*/ 12 h 210"/>
                  <a:gd name="T34" fmla="*/ 172 w 217"/>
                  <a:gd name="T35" fmla="*/ 15 h 210"/>
                  <a:gd name="T36" fmla="*/ 182 w 217"/>
                  <a:gd name="T37" fmla="*/ 19 h 210"/>
                  <a:gd name="T38" fmla="*/ 190 w 217"/>
                  <a:gd name="T39" fmla="*/ 23 h 210"/>
                  <a:gd name="T40" fmla="*/ 198 w 217"/>
                  <a:gd name="T41" fmla="*/ 27 h 210"/>
                  <a:gd name="T42" fmla="*/ 205 w 217"/>
                  <a:gd name="T43" fmla="*/ 32 h 210"/>
                  <a:gd name="T44" fmla="*/ 211 w 217"/>
                  <a:gd name="T45" fmla="*/ 38 h 210"/>
                  <a:gd name="T46" fmla="*/ 217 w 217"/>
                  <a:gd name="T47" fmla="*/ 45 h 210"/>
                  <a:gd name="T48" fmla="*/ 205 w 217"/>
                  <a:gd name="T49" fmla="*/ 40 h 210"/>
                  <a:gd name="T50" fmla="*/ 194 w 217"/>
                  <a:gd name="T51" fmla="*/ 36 h 210"/>
                  <a:gd name="T52" fmla="*/ 183 w 217"/>
                  <a:gd name="T53" fmla="*/ 33 h 210"/>
                  <a:gd name="T54" fmla="*/ 172 w 217"/>
                  <a:gd name="T55" fmla="*/ 30 h 210"/>
                  <a:gd name="T56" fmla="*/ 163 w 217"/>
                  <a:gd name="T57" fmla="*/ 27 h 210"/>
                  <a:gd name="T58" fmla="*/ 153 w 217"/>
                  <a:gd name="T59" fmla="*/ 26 h 210"/>
                  <a:gd name="T60" fmla="*/ 143 w 217"/>
                  <a:gd name="T61" fmla="*/ 24 h 210"/>
                  <a:gd name="T62" fmla="*/ 134 w 217"/>
                  <a:gd name="T63" fmla="*/ 24 h 210"/>
                  <a:gd name="T64" fmla="*/ 125 w 217"/>
                  <a:gd name="T65" fmla="*/ 24 h 210"/>
                  <a:gd name="T66" fmla="*/ 116 w 217"/>
                  <a:gd name="T67" fmla="*/ 25 h 210"/>
                  <a:gd name="T68" fmla="*/ 107 w 217"/>
                  <a:gd name="T69" fmla="*/ 27 h 210"/>
                  <a:gd name="T70" fmla="*/ 99 w 217"/>
                  <a:gd name="T71" fmla="*/ 29 h 210"/>
                  <a:gd name="T72" fmla="*/ 91 w 217"/>
                  <a:gd name="T73" fmla="*/ 33 h 210"/>
                  <a:gd name="T74" fmla="*/ 82 w 217"/>
                  <a:gd name="T75" fmla="*/ 36 h 210"/>
                  <a:gd name="T76" fmla="*/ 74 w 217"/>
                  <a:gd name="T77" fmla="*/ 41 h 210"/>
                  <a:gd name="T78" fmla="*/ 66 w 217"/>
                  <a:gd name="T79" fmla="*/ 46 h 210"/>
                  <a:gd name="T80" fmla="*/ 52 w 217"/>
                  <a:gd name="T81" fmla="*/ 61 h 210"/>
                  <a:gd name="T82" fmla="*/ 42 w 217"/>
                  <a:gd name="T83" fmla="*/ 80 h 210"/>
                  <a:gd name="T84" fmla="*/ 37 w 217"/>
                  <a:gd name="T85" fmla="*/ 103 h 210"/>
                  <a:gd name="T86" fmla="*/ 35 w 217"/>
                  <a:gd name="T87" fmla="*/ 126 h 210"/>
                  <a:gd name="T88" fmla="*/ 35 w 217"/>
                  <a:gd name="T89" fmla="*/ 151 h 210"/>
                  <a:gd name="T90" fmla="*/ 38 w 217"/>
                  <a:gd name="T91" fmla="*/ 174 h 210"/>
                  <a:gd name="T92" fmla="*/ 41 w 217"/>
                  <a:gd name="T93" fmla="*/ 194 h 210"/>
                  <a:gd name="T94" fmla="*/ 46 w 217"/>
                  <a:gd name="T9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899" name="Freeform 11"/>
              <p:cNvSpPr>
                <a:spLocks/>
              </p:cNvSpPr>
              <p:nvPr userDrawn="1"/>
            </p:nvSpPr>
            <p:spPr bwMode="ltGray">
              <a:xfrm rot="373331" flipH="1">
                <a:off x="41" y="2843"/>
                <a:ext cx="262" cy="308"/>
              </a:xfrm>
              <a:custGeom>
                <a:avLst/>
                <a:gdLst>
                  <a:gd name="T0" fmla="*/ 109 w 182"/>
                  <a:gd name="T1" fmla="*/ 0 h 213"/>
                  <a:gd name="T2" fmla="*/ 112 w 182"/>
                  <a:gd name="T3" fmla="*/ 2 h 213"/>
                  <a:gd name="T4" fmla="*/ 118 w 182"/>
                  <a:gd name="T5" fmla="*/ 8 h 213"/>
                  <a:gd name="T6" fmla="*/ 127 w 182"/>
                  <a:gd name="T7" fmla="*/ 18 h 213"/>
                  <a:gd name="T8" fmla="*/ 137 w 182"/>
                  <a:gd name="T9" fmla="*/ 33 h 213"/>
                  <a:gd name="T10" fmla="*/ 145 w 182"/>
                  <a:gd name="T11" fmla="*/ 52 h 213"/>
                  <a:gd name="T12" fmla="*/ 150 w 182"/>
                  <a:gd name="T13" fmla="*/ 76 h 213"/>
                  <a:gd name="T14" fmla="*/ 150 w 182"/>
                  <a:gd name="T15" fmla="*/ 105 h 213"/>
                  <a:gd name="T16" fmla="*/ 144 w 182"/>
                  <a:gd name="T17" fmla="*/ 139 h 213"/>
                  <a:gd name="T18" fmla="*/ 140 w 182"/>
                  <a:gd name="T19" fmla="*/ 149 h 213"/>
                  <a:gd name="T20" fmla="*/ 136 w 182"/>
                  <a:gd name="T21" fmla="*/ 157 h 213"/>
                  <a:gd name="T22" fmla="*/ 131 w 182"/>
                  <a:gd name="T23" fmla="*/ 165 h 213"/>
                  <a:gd name="T24" fmla="*/ 125 w 182"/>
                  <a:gd name="T25" fmla="*/ 173 h 213"/>
                  <a:gd name="T26" fmla="*/ 117 w 182"/>
                  <a:gd name="T27" fmla="*/ 180 h 213"/>
                  <a:gd name="T28" fmla="*/ 110 w 182"/>
                  <a:gd name="T29" fmla="*/ 185 h 213"/>
                  <a:gd name="T30" fmla="*/ 102 w 182"/>
                  <a:gd name="T31" fmla="*/ 191 h 213"/>
                  <a:gd name="T32" fmla="*/ 92 w 182"/>
                  <a:gd name="T33" fmla="*/ 195 h 213"/>
                  <a:gd name="T34" fmla="*/ 82 w 182"/>
                  <a:gd name="T35" fmla="*/ 197 h 213"/>
                  <a:gd name="T36" fmla="*/ 72 w 182"/>
                  <a:gd name="T37" fmla="*/ 200 h 213"/>
                  <a:gd name="T38" fmla="*/ 61 w 182"/>
                  <a:gd name="T39" fmla="*/ 201 h 213"/>
                  <a:gd name="T40" fmla="*/ 49 w 182"/>
                  <a:gd name="T41" fmla="*/ 201 h 213"/>
                  <a:gd name="T42" fmla="*/ 37 w 182"/>
                  <a:gd name="T43" fmla="*/ 200 h 213"/>
                  <a:gd name="T44" fmla="*/ 25 w 182"/>
                  <a:gd name="T45" fmla="*/ 197 h 213"/>
                  <a:gd name="T46" fmla="*/ 12 w 182"/>
                  <a:gd name="T47" fmla="*/ 193 h 213"/>
                  <a:gd name="T48" fmla="*/ 0 w 182"/>
                  <a:gd name="T49" fmla="*/ 188 h 213"/>
                  <a:gd name="T50" fmla="*/ 11 w 182"/>
                  <a:gd name="T51" fmla="*/ 195 h 213"/>
                  <a:gd name="T52" fmla="*/ 22 w 182"/>
                  <a:gd name="T53" fmla="*/ 200 h 213"/>
                  <a:gd name="T54" fmla="*/ 33 w 182"/>
                  <a:gd name="T55" fmla="*/ 205 h 213"/>
                  <a:gd name="T56" fmla="*/ 43 w 182"/>
                  <a:gd name="T57" fmla="*/ 208 h 213"/>
                  <a:gd name="T58" fmla="*/ 53 w 182"/>
                  <a:gd name="T59" fmla="*/ 211 h 213"/>
                  <a:gd name="T60" fmla="*/ 63 w 182"/>
                  <a:gd name="T61" fmla="*/ 212 h 213"/>
                  <a:gd name="T62" fmla="*/ 73 w 182"/>
                  <a:gd name="T63" fmla="*/ 213 h 213"/>
                  <a:gd name="T64" fmla="*/ 83 w 182"/>
                  <a:gd name="T65" fmla="*/ 213 h 213"/>
                  <a:gd name="T66" fmla="*/ 91 w 182"/>
                  <a:gd name="T67" fmla="*/ 212 h 213"/>
                  <a:gd name="T68" fmla="*/ 100 w 182"/>
                  <a:gd name="T69" fmla="*/ 210 h 213"/>
                  <a:gd name="T70" fmla="*/ 108 w 182"/>
                  <a:gd name="T71" fmla="*/ 208 h 213"/>
                  <a:gd name="T72" fmla="*/ 116 w 182"/>
                  <a:gd name="T73" fmla="*/ 206 h 213"/>
                  <a:gd name="T74" fmla="*/ 123 w 182"/>
                  <a:gd name="T75" fmla="*/ 203 h 213"/>
                  <a:gd name="T76" fmla="*/ 130 w 182"/>
                  <a:gd name="T77" fmla="*/ 199 h 213"/>
                  <a:gd name="T78" fmla="*/ 136 w 182"/>
                  <a:gd name="T79" fmla="*/ 195 h 213"/>
                  <a:gd name="T80" fmla="*/ 142 w 182"/>
                  <a:gd name="T81" fmla="*/ 191 h 213"/>
                  <a:gd name="T82" fmla="*/ 158 w 182"/>
                  <a:gd name="T83" fmla="*/ 176 h 213"/>
                  <a:gd name="T84" fmla="*/ 169 w 182"/>
                  <a:gd name="T85" fmla="*/ 161 h 213"/>
                  <a:gd name="T86" fmla="*/ 176 w 182"/>
                  <a:gd name="T87" fmla="*/ 144 h 213"/>
                  <a:gd name="T88" fmla="*/ 179 w 182"/>
                  <a:gd name="T89" fmla="*/ 128 h 213"/>
                  <a:gd name="T90" fmla="*/ 181 w 182"/>
                  <a:gd name="T91" fmla="*/ 111 h 213"/>
                  <a:gd name="T92" fmla="*/ 181 w 182"/>
                  <a:gd name="T93" fmla="*/ 95 h 213"/>
                  <a:gd name="T94" fmla="*/ 182 w 182"/>
                  <a:gd name="T95" fmla="*/ 79 h 213"/>
                  <a:gd name="T96" fmla="*/ 173 w 182"/>
                  <a:gd name="T97" fmla="*/ 46 h 213"/>
                  <a:gd name="T98" fmla="*/ 156 w 182"/>
                  <a:gd name="T99" fmla="*/ 21 h 213"/>
                  <a:gd name="T100" fmla="*/ 151 w 182"/>
                  <a:gd name="T101" fmla="*/ 18 h 213"/>
                  <a:gd name="T102" fmla="*/ 147 w 182"/>
                  <a:gd name="T103" fmla="*/ 15 h 213"/>
                  <a:gd name="T104" fmla="*/ 142 w 182"/>
                  <a:gd name="T105" fmla="*/ 13 h 213"/>
                  <a:gd name="T106" fmla="*/ 138 w 182"/>
                  <a:gd name="T107" fmla="*/ 11 h 213"/>
                  <a:gd name="T108" fmla="*/ 132 w 182"/>
                  <a:gd name="T109" fmla="*/ 9 h 213"/>
                  <a:gd name="T110" fmla="*/ 126 w 182"/>
                  <a:gd name="T111" fmla="*/ 6 h 213"/>
                  <a:gd name="T112" fmla="*/ 119 w 182"/>
                  <a:gd name="T113" fmla="*/ 3 h 213"/>
                  <a:gd name="T114" fmla="*/ 109 w 182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0" name="Freeform 12"/>
              <p:cNvSpPr>
                <a:spLocks/>
              </p:cNvSpPr>
              <p:nvPr userDrawn="1"/>
            </p:nvSpPr>
            <p:spPr bwMode="ltGray">
              <a:xfrm rot="373331" flipH="1">
                <a:off x="121" y="2907"/>
                <a:ext cx="93" cy="156"/>
              </a:xfrm>
              <a:custGeom>
                <a:avLst/>
                <a:gdLst>
                  <a:gd name="T0" fmla="*/ 94 w 128"/>
                  <a:gd name="T1" fmla="*/ 0 h 217"/>
                  <a:gd name="T2" fmla="*/ 105 w 128"/>
                  <a:gd name="T3" fmla="*/ 9 h 217"/>
                  <a:gd name="T4" fmla="*/ 115 w 128"/>
                  <a:gd name="T5" fmla="*/ 27 h 217"/>
                  <a:gd name="T6" fmla="*/ 123 w 128"/>
                  <a:gd name="T7" fmla="*/ 50 h 217"/>
                  <a:gd name="T8" fmla="*/ 128 w 128"/>
                  <a:gd name="T9" fmla="*/ 78 h 217"/>
                  <a:gd name="T10" fmla="*/ 127 w 128"/>
                  <a:gd name="T11" fmla="*/ 111 h 217"/>
                  <a:gd name="T12" fmla="*/ 116 w 128"/>
                  <a:gd name="T13" fmla="*/ 145 h 217"/>
                  <a:gd name="T14" fmla="*/ 94 w 128"/>
                  <a:gd name="T15" fmla="*/ 181 h 217"/>
                  <a:gd name="T16" fmla="*/ 60 w 128"/>
                  <a:gd name="T17" fmla="*/ 217 h 217"/>
                  <a:gd name="T18" fmla="*/ 49 w 128"/>
                  <a:gd name="T19" fmla="*/ 213 h 217"/>
                  <a:gd name="T20" fmla="*/ 38 w 128"/>
                  <a:gd name="T21" fmla="*/ 210 h 217"/>
                  <a:gd name="T22" fmla="*/ 26 w 128"/>
                  <a:gd name="T23" fmla="*/ 205 h 217"/>
                  <a:gd name="T24" fmla="*/ 16 w 128"/>
                  <a:gd name="T25" fmla="*/ 201 h 217"/>
                  <a:gd name="T26" fmla="*/ 8 w 128"/>
                  <a:gd name="T27" fmla="*/ 196 h 217"/>
                  <a:gd name="T28" fmla="*/ 2 w 128"/>
                  <a:gd name="T29" fmla="*/ 190 h 217"/>
                  <a:gd name="T30" fmla="*/ 0 w 128"/>
                  <a:gd name="T31" fmla="*/ 183 h 217"/>
                  <a:gd name="T32" fmla="*/ 1 w 128"/>
                  <a:gd name="T33" fmla="*/ 178 h 217"/>
                  <a:gd name="T34" fmla="*/ 13 w 128"/>
                  <a:gd name="T35" fmla="*/ 171 h 217"/>
                  <a:gd name="T36" fmla="*/ 29 w 128"/>
                  <a:gd name="T37" fmla="*/ 161 h 217"/>
                  <a:gd name="T38" fmla="*/ 46 w 128"/>
                  <a:gd name="T39" fmla="*/ 150 h 217"/>
                  <a:gd name="T40" fmla="*/ 63 w 128"/>
                  <a:gd name="T41" fmla="*/ 134 h 217"/>
                  <a:gd name="T42" fmla="*/ 79 w 128"/>
                  <a:gd name="T43" fmla="*/ 112 h 217"/>
                  <a:gd name="T44" fmla="*/ 91 w 128"/>
                  <a:gd name="T45" fmla="*/ 83 h 217"/>
                  <a:gd name="T46" fmla="*/ 97 w 128"/>
                  <a:gd name="T47" fmla="*/ 46 h 217"/>
                  <a:gd name="T48" fmla="*/ 94 w 128"/>
                  <a:gd name="T49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1" name="Freeform 13"/>
              <p:cNvSpPr>
                <a:spLocks/>
              </p:cNvSpPr>
              <p:nvPr userDrawn="1"/>
            </p:nvSpPr>
            <p:spPr bwMode="ltGray">
              <a:xfrm rot="373331" flipH="1">
                <a:off x="313" y="3110"/>
                <a:ext cx="85" cy="93"/>
              </a:xfrm>
              <a:custGeom>
                <a:avLst/>
                <a:gdLst>
                  <a:gd name="T0" fmla="*/ 75 w 117"/>
                  <a:gd name="T1" fmla="*/ 0 h 132"/>
                  <a:gd name="T2" fmla="*/ 0 w 117"/>
                  <a:gd name="T3" fmla="*/ 25 h 132"/>
                  <a:gd name="T4" fmla="*/ 3 w 117"/>
                  <a:gd name="T5" fmla="*/ 26 h 132"/>
                  <a:gd name="T6" fmla="*/ 14 w 117"/>
                  <a:gd name="T7" fmla="*/ 29 h 132"/>
                  <a:gd name="T8" fmla="*/ 29 w 117"/>
                  <a:gd name="T9" fmla="*/ 36 h 132"/>
                  <a:gd name="T10" fmla="*/ 46 w 117"/>
                  <a:gd name="T11" fmla="*/ 47 h 132"/>
                  <a:gd name="T12" fmla="*/ 66 w 117"/>
                  <a:gd name="T13" fmla="*/ 62 h 132"/>
                  <a:gd name="T14" fmla="*/ 84 w 117"/>
                  <a:gd name="T15" fmla="*/ 80 h 132"/>
                  <a:gd name="T16" fmla="*/ 102 w 117"/>
                  <a:gd name="T17" fmla="*/ 103 h 132"/>
                  <a:gd name="T18" fmla="*/ 116 w 117"/>
                  <a:gd name="T19" fmla="*/ 132 h 132"/>
                  <a:gd name="T20" fmla="*/ 117 w 117"/>
                  <a:gd name="T21" fmla="*/ 120 h 132"/>
                  <a:gd name="T22" fmla="*/ 115 w 117"/>
                  <a:gd name="T23" fmla="*/ 107 h 132"/>
                  <a:gd name="T24" fmla="*/ 108 w 117"/>
                  <a:gd name="T25" fmla="*/ 90 h 132"/>
                  <a:gd name="T26" fmla="*/ 99 w 117"/>
                  <a:gd name="T27" fmla="*/ 74 h 132"/>
                  <a:gd name="T28" fmla="*/ 89 w 117"/>
                  <a:gd name="T29" fmla="*/ 58 h 132"/>
                  <a:gd name="T30" fmla="*/ 78 w 117"/>
                  <a:gd name="T31" fmla="*/ 45 h 132"/>
                  <a:gd name="T32" fmla="*/ 67 w 117"/>
                  <a:gd name="T33" fmla="*/ 36 h 132"/>
                  <a:gd name="T34" fmla="*/ 58 w 117"/>
                  <a:gd name="T35" fmla="*/ 32 h 132"/>
                  <a:gd name="T36" fmla="*/ 69 w 117"/>
                  <a:gd name="T37" fmla="*/ 29 h 132"/>
                  <a:gd name="T38" fmla="*/ 79 w 117"/>
                  <a:gd name="T39" fmla="*/ 28 h 132"/>
                  <a:gd name="T40" fmla="*/ 89 w 117"/>
                  <a:gd name="T41" fmla="*/ 26 h 132"/>
                  <a:gd name="T42" fmla="*/ 98 w 117"/>
                  <a:gd name="T43" fmla="*/ 25 h 132"/>
                  <a:gd name="T44" fmla="*/ 105 w 117"/>
                  <a:gd name="T45" fmla="*/ 24 h 132"/>
                  <a:gd name="T46" fmla="*/ 109 w 117"/>
                  <a:gd name="T47" fmla="*/ 22 h 132"/>
                  <a:gd name="T48" fmla="*/ 113 w 117"/>
                  <a:gd name="T49" fmla="*/ 21 h 132"/>
                  <a:gd name="T50" fmla="*/ 114 w 117"/>
                  <a:gd name="T51" fmla="*/ 21 h 132"/>
                  <a:gd name="T52" fmla="*/ 75 w 117"/>
                  <a:gd name="T53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2" name="Freeform 14"/>
              <p:cNvSpPr>
                <a:spLocks/>
              </p:cNvSpPr>
              <p:nvPr userDrawn="1"/>
            </p:nvSpPr>
            <p:spPr bwMode="ltGray">
              <a:xfrm rot="373331" flipH="1">
                <a:off x="289" y="3135"/>
                <a:ext cx="21" cy="55"/>
              </a:xfrm>
              <a:custGeom>
                <a:avLst/>
                <a:gdLst>
                  <a:gd name="T0" fmla="*/ 29 w 29"/>
                  <a:gd name="T1" fmla="*/ 0 h 77"/>
                  <a:gd name="T2" fmla="*/ 23 w 29"/>
                  <a:gd name="T3" fmla="*/ 0 h 77"/>
                  <a:gd name="T4" fmla="*/ 16 w 29"/>
                  <a:gd name="T5" fmla="*/ 4 h 77"/>
                  <a:gd name="T6" fmla="*/ 9 w 29"/>
                  <a:gd name="T7" fmla="*/ 9 h 77"/>
                  <a:gd name="T8" fmla="*/ 4 w 29"/>
                  <a:gd name="T9" fmla="*/ 19 h 77"/>
                  <a:gd name="T10" fmla="*/ 1 w 29"/>
                  <a:gd name="T11" fmla="*/ 30 h 77"/>
                  <a:gd name="T12" fmla="*/ 0 w 29"/>
                  <a:gd name="T13" fmla="*/ 44 h 77"/>
                  <a:gd name="T14" fmla="*/ 3 w 29"/>
                  <a:gd name="T15" fmla="*/ 60 h 77"/>
                  <a:gd name="T16" fmla="*/ 11 w 29"/>
                  <a:gd name="T17" fmla="*/ 77 h 77"/>
                  <a:gd name="T18" fmla="*/ 15 w 29"/>
                  <a:gd name="T19" fmla="*/ 53 h 77"/>
                  <a:gd name="T20" fmla="*/ 19 w 29"/>
                  <a:gd name="T21" fmla="*/ 37 h 77"/>
                  <a:gd name="T22" fmla="*/ 23 w 29"/>
                  <a:gd name="T23" fmla="*/ 22 h 77"/>
                  <a:gd name="T24" fmla="*/ 29 w 29"/>
                  <a:gd name="T2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grpSp>
            <p:nvGrpSpPr>
              <p:cNvPr id="37903" name="Group 15"/>
              <p:cNvGrpSpPr>
                <a:grpSpLocks/>
              </p:cNvGrpSpPr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37904" name="Freeform 16"/>
                <p:cNvSpPr>
                  <a:spLocks/>
                </p:cNvSpPr>
                <p:nvPr userDrawn="1"/>
              </p:nvSpPr>
              <p:spPr bwMode="ltGray">
                <a:xfrm rot="4200091">
                  <a:off x="-243" y="1807"/>
                  <a:ext cx="143" cy="390"/>
                </a:xfrm>
                <a:custGeom>
                  <a:avLst/>
                  <a:gdLst>
                    <a:gd name="T0" fmla="*/ 12 w 207"/>
                    <a:gd name="T1" fmla="*/ 44 h 564"/>
                    <a:gd name="T2" fmla="*/ 6 w 207"/>
                    <a:gd name="T3" fmla="*/ 72 h 564"/>
                    <a:gd name="T4" fmla="*/ 3 w 207"/>
                    <a:gd name="T5" fmla="*/ 99 h 564"/>
                    <a:gd name="T6" fmla="*/ 0 w 207"/>
                    <a:gd name="T7" fmla="*/ 125 h 564"/>
                    <a:gd name="T8" fmla="*/ 0 w 207"/>
                    <a:gd name="T9" fmla="*/ 151 h 564"/>
                    <a:gd name="T10" fmla="*/ 3 w 207"/>
                    <a:gd name="T11" fmla="*/ 180 h 564"/>
                    <a:gd name="T12" fmla="*/ 7 w 207"/>
                    <a:gd name="T13" fmla="*/ 211 h 564"/>
                    <a:gd name="T14" fmla="*/ 16 w 207"/>
                    <a:gd name="T15" fmla="*/ 247 h 564"/>
                    <a:gd name="T16" fmla="*/ 29 w 207"/>
                    <a:gd name="T17" fmla="*/ 287 h 564"/>
                    <a:gd name="T18" fmla="*/ 43 w 207"/>
                    <a:gd name="T19" fmla="*/ 325 h 564"/>
                    <a:gd name="T20" fmla="*/ 61 w 207"/>
                    <a:gd name="T21" fmla="*/ 364 h 564"/>
                    <a:gd name="T22" fmla="*/ 83 w 207"/>
                    <a:gd name="T23" fmla="*/ 406 h 564"/>
                    <a:gd name="T24" fmla="*/ 106 w 207"/>
                    <a:gd name="T25" fmla="*/ 446 h 564"/>
                    <a:gd name="T26" fmla="*/ 132 w 207"/>
                    <a:gd name="T27" fmla="*/ 483 h 564"/>
                    <a:gd name="T28" fmla="*/ 157 w 207"/>
                    <a:gd name="T29" fmla="*/ 516 h 564"/>
                    <a:gd name="T30" fmla="*/ 182 w 207"/>
                    <a:gd name="T31" fmla="*/ 544 h 564"/>
                    <a:gd name="T32" fmla="*/ 207 w 207"/>
                    <a:gd name="T33" fmla="*/ 564 h 564"/>
                    <a:gd name="T34" fmla="*/ 160 w 207"/>
                    <a:gd name="T35" fmla="*/ 501 h 564"/>
                    <a:gd name="T36" fmla="*/ 127 w 207"/>
                    <a:gd name="T37" fmla="*/ 448 h 564"/>
                    <a:gd name="T38" fmla="*/ 103 w 207"/>
                    <a:gd name="T39" fmla="*/ 405 h 564"/>
                    <a:gd name="T40" fmla="*/ 87 w 207"/>
                    <a:gd name="T41" fmla="*/ 368 h 564"/>
                    <a:gd name="T42" fmla="*/ 75 w 207"/>
                    <a:gd name="T43" fmla="*/ 337 h 564"/>
                    <a:gd name="T44" fmla="*/ 68 w 207"/>
                    <a:gd name="T45" fmla="*/ 309 h 564"/>
                    <a:gd name="T46" fmla="*/ 63 w 207"/>
                    <a:gd name="T47" fmla="*/ 285 h 564"/>
                    <a:gd name="T48" fmla="*/ 56 w 207"/>
                    <a:gd name="T49" fmla="*/ 261 h 564"/>
                    <a:gd name="T50" fmla="*/ 44 w 207"/>
                    <a:gd name="T51" fmla="*/ 205 h 564"/>
                    <a:gd name="T52" fmla="*/ 41 w 207"/>
                    <a:gd name="T53" fmla="*/ 140 h 564"/>
                    <a:gd name="T54" fmla="*/ 43 w 207"/>
                    <a:gd name="T55" fmla="*/ 68 h 564"/>
                    <a:gd name="T56" fmla="*/ 50 w 207"/>
                    <a:gd name="T57" fmla="*/ 0 h 564"/>
                    <a:gd name="T58" fmla="*/ 12 w 207"/>
                    <a:gd name="T59" fmla="*/ 44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37905" name="Freeform 17"/>
                <p:cNvSpPr>
                  <a:spLocks/>
                </p:cNvSpPr>
                <p:nvPr userDrawn="1"/>
              </p:nvSpPr>
              <p:spPr bwMode="ltGray">
                <a:xfrm rot="4200091">
                  <a:off x="124" y="1761"/>
                  <a:ext cx="33" cy="160"/>
                </a:xfrm>
                <a:custGeom>
                  <a:avLst/>
                  <a:gdLst>
                    <a:gd name="T0" fmla="*/ 0 w 47"/>
                    <a:gd name="T1" fmla="*/ 19 h 232"/>
                    <a:gd name="T2" fmla="*/ 14 w 47"/>
                    <a:gd name="T3" fmla="*/ 55 h 232"/>
                    <a:gd name="T4" fmla="*/ 22 w 47"/>
                    <a:gd name="T5" fmla="*/ 101 h 232"/>
                    <a:gd name="T6" fmla="*/ 24 w 47"/>
                    <a:gd name="T7" fmla="*/ 159 h 232"/>
                    <a:gd name="T8" fmla="*/ 19 w 47"/>
                    <a:gd name="T9" fmla="*/ 232 h 232"/>
                    <a:gd name="T10" fmla="*/ 45 w 47"/>
                    <a:gd name="T11" fmla="*/ 217 h 232"/>
                    <a:gd name="T12" fmla="*/ 47 w 47"/>
                    <a:gd name="T13" fmla="*/ 178 h 232"/>
                    <a:gd name="T14" fmla="*/ 47 w 47"/>
                    <a:gd name="T15" fmla="*/ 140 h 232"/>
                    <a:gd name="T16" fmla="*/ 45 w 47"/>
                    <a:gd name="T17" fmla="*/ 103 h 232"/>
                    <a:gd name="T18" fmla="*/ 41 w 47"/>
                    <a:gd name="T19" fmla="*/ 71 h 232"/>
                    <a:gd name="T20" fmla="*/ 36 w 47"/>
                    <a:gd name="T21" fmla="*/ 52 h 232"/>
                    <a:gd name="T22" fmla="*/ 29 w 47"/>
                    <a:gd name="T23" fmla="*/ 34 h 232"/>
                    <a:gd name="T24" fmla="*/ 22 w 47"/>
                    <a:gd name="T25" fmla="*/ 17 h 232"/>
                    <a:gd name="T26" fmla="*/ 13 w 47"/>
                    <a:gd name="T27" fmla="*/ 0 h 232"/>
                    <a:gd name="T28" fmla="*/ 0 w 47"/>
                    <a:gd name="T29" fmla="*/ 19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37906" name="Freeform 18"/>
                <p:cNvSpPr>
                  <a:spLocks/>
                </p:cNvSpPr>
                <p:nvPr userDrawn="1"/>
              </p:nvSpPr>
              <p:spPr bwMode="ltGray">
                <a:xfrm rot="4200091">
                  <a:off x="199" y="1720"/>
                  <a:ext cx="60" cy="27"/>
                </a:xfrm>
                <a:custGeom>
                  <a:avLst/>
                  <a:gdLst>
                    <a:gd name="T0" fmla="*/ 87 w 87"/>
                    <a:gd name="T1" fmla="*/ 22 h 40"/>
                    <a:gd name="T2" fmla="*/ 77 w 87"/>
                    <a:gd name="T3" fmla="*/ 17 h 40"/>
                    <a:gd name="T4" fmla="*/ 68 w 87"/>
                    <a:gd name="T5" fmla="*/ 12 h 40"/>
                    <a:gd name="T6" fmla="*/ 58 w 87"/>
                    <a:gd name="T7" fmla="*/ 7 h 40"/>
                    <a:gd name="T8" fmla="*/ 47 w 87"/>
                    <a:gd name="T9" fmla="*/ 5 h 40"/>
                    <a:gd name="T10" fmla="*/ 37 w 87"/>
                    <a:gd name="T11" fmla="*/ 3 h 40"/>
                    <a:gd name="T12" fmla="*/ 26 w 87"/>
                    <a:gd name="T13" fmla="*/ 2 h 40"/>
                    <a:gd name="T14" fmla="*/ 13 w 87"/>
                    <a:gd name="T15" fmla="*/ 0 h 40"/>
                    <a:gd name="T16" fmla="*/ 0 w 87"/>
                    <a:gd name="T17" fmla="*/ 2 h 40"/>
                    <a:gd name="T18" fmla="*/ 6 w 87"/>
                    <a:gd name="T19" fmla="*/ 6 h 40"/>
                    <a:gd name="T20" fmla="*/ 14 w 87"/>
                    <a:gd name="T21" fmla="*/ 10 h 40"/>
                    <a:gd name="T22" fmla="*/ 22 w 87"/>
                    <a:gd name="T23" fmla="*/ 14 h 40"/>
                    <a:gd name="T24" fmla="*/ 33 w 87"/>
                    <a:gd name="T25" fmla="*/ 18 h 40"/>
                    <a:gd name="T26" fmla="*/ 42 w 87"/>
                    <a:gd name="T27" fmla="*/ 22 h 40"/>
                    <a:gd name="T28" fmla="*/ 52 w 87"/>
                    <a:gd name="T29" fmla="*/ 27 h 40"/>
                    <a:gd name="T30" fmla="*/ 64 w 87"/>
                    <a:gd name="T31" fmla="*/ 33 h 40"/>
                    <a:gd name="T32" fmla="*/ 74 w 87"/>
                    <a:gd name="T33" fmla="*/ 40 h 40"/>
                    <a:gd name="T34" fmla="*/ 87 w 87"/>
                    <a:gd name="T35" fmla="*/ 2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</p:grpSp>
        <p:grpSp>
          <p:nvGrpSpPr>
            <p:cNvPr id="37907" name="Group 19"/>
            <p:cNvGrpSpPr>
              <a:grpSpLocks/>
            </p:cNvGrpSpPr>
            <p:nvPr/>
          </p:nvGrpSpPr>
          <p:grpSpPr bwMode="auto">
            <a:xfrm rot="-15351438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37908" name="Freeform 2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9" name="Freeform 2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0" name="Freeform 2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7911" name="Group 23"/>
            <p:cNvGrpSpPr>
              <a:grpSpLocks/>
            </p:cNvGrpSpPr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37912" name="Freeform 2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3" name="Freeform 2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4" name="Freeform 2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7915" name="Group 27"/>
            <p:cNvGrpSpPr>
              <a:grpSpLocks/>
            </p:cNvGrpSpPr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37916" name="Freeform 2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7" name="Freeform 2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8" name="Freeform 3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7919" name="Freeform 31"/>
            <p:cNvSpPr>
              <a:spLocks/>
            </p:cNvSpPr>
            <p:nvPr/>
          </p:nvSpPr>
          <p:spPr bwMode="ltGray">
            <a:xfrm>
              <a:off x="87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0" name="Freeform 32"/>
            <p:cNvSpPr>
              <a:spLocks/>
            </p:cNvSpPr>
            <p:nvPr/>
          </p:nvSpPr>
          <p:spPr bwMode="ltGray">
            <a:xfrm rot="828663">
              <a:off x="242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1" name="Freeform 33"/>
            <p:cNvSpPr>
              <a:spLocks/>
            </p:cNvSpPr>
            <p:nvPr/>
          </p:nvSpPr>
          <p:spPr bwMode="ltGray">
            <a:xfrm rot="828663">
              <a:off x="266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2" name="Freeform 34"/>
            <p:cNvSpPr>
              <a:spLocks/>
            </p:cNvSpPr>
            <p:nvPr/>
          </p:nvSpPr>
          <p:spPr bwMode="ltGray">
            <a:xfrm>
              <a:off x="11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3" name="Freeform 35"/>
            <p:cNvSpPr>
              <a:spLocks/>
            </p:cNvSpPr>
            <p:nvPr/>
          </p:nvSpPr>
          <p:spPr bwMode="ltGray">
            <a:xfrm>
              <a:off x="0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4" name="Freeform 36"/>
            <p:cNvSpPr>
              <a:spLocks/>
            </p:cNvSpPr>
            <p:nvPr/>
          </p:nvSpPr>
          <p:spPr bwMode="ltGray">
            <a:xfrm>
              <a:off x="0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5" name="Freeform 37"/>
            <p:cNvSpPr>
              <a:spLocks/>
            </p:cNvSpPr>
            <p:nvPr/>
          </p:nvSpPr>
          <p:spPr bwMode="ltGray">
            <a:xfrm>
              <a:off x="0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6" name="Freeform 38"/>
            <p:cNvSpPr>
              <a:spLocks/>
            </p:cNvSpPr>
            <p:nvPr/>
          </p:nvSpPr>
          <p:spPr bwMode="ltGray">
            <a:xfrm rot="1584153">
              <a:off x="20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7" name="Freeform 39"/>
            <p:cNvSpPr>
              <a:spLocks/>
            </p:cNvSpPr>
            <p:nvPr/>
          </p:nvSpPr>
          <p:spPr bwMode="ltGray">
            <a:xfrm rot="1584153">
              <a:off x="242" y="756"/>
              <a:ext cx="167" cy="115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8" name="Freeform 40"/>
            <p:cNvSpPr>
              <a:spLocks/>
            </p:cNvSpPr>
            <p:nvPr/>
          </p:nvSpPr>
          <p:spPr bwMode="ltGray">
            <a:xfrm rot="1584153">
              <a:off x="574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9" name="Freeform 41"/>
            <p:cNvSpPr>
              <a:spLocks/>
            </p:cNvSpPr>
            <p:nvPr/>
          </p:nvSpPr>
          <p:spPr bwMode="ltGray">
            <a:xfrm rot="1584153">
              <a:off x="236" y="721"/>
              <a:ext cx="62" cy="97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30" name="Freeform 42"/>
            <p:cNvSpPr>
              <a:spLocks/>
            </p:cNvSpPr>
            <p:nvPr/>
          </p:nvSpPr>
          <p:spPr bwMode="ltGray">
            <a:xfrm rot="1584153">
              <a:off x="585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31" name="Freeform 43"/>
            <p:cNvSpPr>
              <a:spLocks/>
            </p:cNvSpPr>
            <p:nvPr/>
          </p:nvSpPr>
          <p:spPr bwMode="ltGray">
            <a:xfrm>
              <a:off x="0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32" name="Freeform 44"/>
            <p:cNvSpPr>
              <a:spLocks/>
            </p:cNvSpPr>
            <p:nvPr/>
          </p:nvSpPr>
          <p:spPr bwMode="ltGray">
            <a:xfrm rot="1584153">
              <a:off x="56" y="84"/>
              <a:ext cx="804" cy="686"/>
            </a:xfrm>
            <a:custGeom>
              <a:avLst/>
              <a:gdLst>
                <a:gd name="T0" fmla="*/ 16 w 596"/>
                <a:gd name="T1" fmla="*/ 370 h 666"/>
                <a:gd name="T2" fmla="*/ 6 w 596"/>
                <a:gd name="T3" fmla="*/ 341 h 666"/>
                <a:gd name="T4" fmla="*/ 0 w 596"/>
                <a:gd name="T5" fmla="*/ 289 h 666"/>
                <a:gd name="T6" fmla="*/ 4 w 596"/>
                <a:gd name="T7" fmla="*/ 222 h 666"/>
                <a:gd name="T8" fmla="*/ 25 w 596"/>
                <a:gd name="T9" fmla="*/ 151 h 666"/>
                <a:gd name="T10" fmla="*/ 69 w 596"/>
                <a:gd name="T11" fmla="*/ 84 h 666"/>
                <a:gd name="T12" fmla="*/ 142 w 596"/>
                <a:gd name="T13" fmla="*/ 31 h 666"/>
                <a:gd name="T14" fmla="*/ 247 w 596"/>
                <a:gd name="T15" fmla="*/ 2 h 666"/>
                <a:gd name="T16" fmla="*/ 380 w 596"/>
                <a:gd name="T17" fmla="*/ 9 h 666"/>
                <a:gd name="T18" fmla="*/ 484 w 596"/>
                <a:gd name="T19" fmla="*/ 68 h 666"/>
                <a:gd name="T20" fmla="*/ 554 w 596"/>
                <a:gd name="T21" fmla="*/ 165 h 666"/>
                <a:gd name="T22" fmla="*/ 591 w 596"/>
                <a:gd name="T23" fmla="*/ 284 h 666"/>
                <a:gd name="T24" fmla="*/ 595 w 596"/>
                <a:gd name="T25" fmla="*/ 409 h 666"/>
                <a:gd name="T26" fmla="*/ 566 w 596"/>
                <a:gd name="T27" fmla="*/ 525 h 666"/>
                <a:gd name="T28" fmla="*/ 507 w 596"/>
                <a:gd name="T29" fmla="*/ 615 h 666"/>
                <a:gd name="T30" fmla="*/ 417 w 596"/>
                <a:gd name="T31" fmla="*/ 663 h 666"/>
                <a:gd name="T32" fmla="*/ 389 w 596"/>
                <a:gd name="T33" fmla="*/ 659 h 666"/>
                <a:gd name="T34" fmla="*/ 441 w 596"/>
                <a:gd name="T35" fmla="*/ 617 h 666"/>
                <a:gd name="T36" fmla="*/ 482 w 596"/>
                <a:gd name="T37" fmla="*/ 544 h 666"/>
                <a:gd name="T38" fmla="*/ 509 w 596"/>
                <a:gd name="T39" fmla="*/ 454 h 666"/>
                <a:gd name="T40" fmla="*/ 520 w 596"/>
                <a:gd name="T41" fmla="*/ 355 h 666"/>
                <a:gd name="T42" fmla="*/ 514 w 596"/>
                <a:gd name="T43" fmla="*/ 258 h 666"/>
                <a:gd name="T44" fmla="*/ 485 w 596"/>
                <a:gd name="T45" fmla="*/ 174 h 666"/>
                <a:gd name="T46" fmla="*/ 433 w 596"/>
                <a:gd name="T47" fmla="*/ 112 h 666"/>
                <a:gd name="T48" fmla="*/ 341 w 596"/>
                <a:gd name="T49" fmla="*/ 75 h 666"/>
                <a:gd name="T50" fmla="*/ 246 w 596"/>
                <a:gd name="T51" fmla="*/ 61 h 666"/>
                <a:gd name="T52" fmla="*/ 174 w 596"/>
                <a:gd name="T53" fmla="*/ 71 h 666"/>
                <a:gd name="T54" fmla="*/ 121 w 596"/>
                <a:gd name="T55" fmla="*/ 101 h 666"/>
                <a:gd name="T56" fmla="*/ 84 w 596"/>
                <a:gd name="T57" fmla="*/ 149 h 666"/>
                <a:gd name="T58" fmla="*/ 57 w 596"/>
                <a:gd name="T59" fmla="*/ 206 h 666"/>
                <a:gd name="T60" fmla="*/ 40 w 596"/>
                <a:gd name="T61" fmla="*/ 272 h 666"/>
                <a:gd name="T62" fmla="*/ 28 w 596"/>
                <a:gd name="T63" fmla="*/ 339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7933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7934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7935" name="Rectangle 4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7936" name="Rectangle 4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7937" name="Rectangle 4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ABCC3468-9F27-4C90-B16C-F77020D81CD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2pPr>
      <a:lvl3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3pPr>
      <a:lvl4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4pPr>
      <a:lvl5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2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image" Target="../media/image6.jpe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1210.png"/><Relationship Id="rId1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20.png"/><Relationship Id="rId7" Type="http://schemas.openxmlformats.org/officeDocument/2006/relationships/image" Target="../media/image39.png"/><Relationship Id="rId12" Type="http://schemas.openxmlformats.org/officeDocument/2006/relationships/image" Target="../media/image5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1.png"/><Relationship Id="rId4" Type="http://schemas.openxmlformats.org/officeDocument/2006/relationships/image" Target="../media/image32.png"/><Relationship Id="rId9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0.png"/><Relationship Id="rId11" Type="http://schemas.openxmlformats.org/officeDocument/2006/relationships/image" Target="../media/image66.png"/><Relationship Id="rId5" Type="http://schemas.openxmlformats.org/officeDocument/2006/relationships/image" Target="../media/image50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58.png"/><Relationship Id="rId7" Type="http://schemas.openxmlformats.org/officeDocument/2006/relationships/image" Target="../media/image69.png"/><Relationship Id="rId12" Type="http://schemas.openxmlformats.org/officeDocument/2006/relationships/image" Target="../media/image66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59.png"/><Relationship Id="rId9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66.png"/><Relationship Id="rId3" Type="http://schemas.openxmlformats.org/officeDocument/2006/relationships/image" Target="../media/image58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59.png"/><Relationship Id="rId9" Type="http://schemas.openxmlformats.org/officeDocument/2006/relationships/image" Target="../media/image7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80.png"/><Relationship Id="rId3" Type="http://schemas.openxmlformats.org/officeDocument/2006/relationships/image" Target="../media/image57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59.png"/><Relationship Id="rId15" Type="http://schemas.openxmlformats.org/officeDocument/2006/relationships/image" Target="../media/image82.png"/><Relationship Id="rId10" Type="http://schemas.openxmlformats.org/officeDocument/2006/relationships/image" Target="../media/image60.png"/><Relationship Id="rId4" Type="http://schemas.openxmlformats.org/officeDocument/2006/relationships/image" Target="../media/image58.png"/><Relationship Id="rId9" Type="http://schemas.openxmlformats.org/officeDocument/2006/relationships/image" Target="../media/image86.png"/><Relationship Id="rId14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0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0.png"/><Relationship Id="rId5" Type="http://schemas.openxmlformats.org/officeDocument/2006/relationships/image" Target="../media/image1020.png"/><Relationship Id="rId4" Type="http://schemas.openxmlformats.org/officeDocument/2006/relationships/image" Target="../media/image10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30.png"/><Relationship Id="rId3" Type="http://schemas.openxmlformats.org/officeDocument/2006/relationships/image" Target="../media/image1211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0" Type="http://schemas.openxmlformats.org/officeDocument/2006/relationships/image" Target="../media/image127.png"/><Relationship Id="rId4" Type="http://schemas.openxmlformats.org/officeDocument/2006/relationships/image" Target="../media/image3.png"/><Relationship Id="rId9" Type="http://schemas.openxmlformats.org/officeDocument/2006/relationships/image" Target="../media/image12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0.png"/><Relationship Id="rId3" Type="http://schemas.openxmlformats.org/officeDocument/2006/relationships/image" Target="../media/image1220.png"/><Relationship Id="rId7" Type="http://schemas.openxmlformats.org/officeDocument/2006/relationships/image" Target="../media/image1250.png"/><Relationship Id="rId12" Type="http://schemas.openxmlformats.org/officeDocument/2006/relationships/image" Target="../media/image1300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0.png"/><Relationship Id="rId11" Type="http://schemas.openxmlformats.org/officeDocument/2006/relationships/image" Target="../media/image1290.png"/><Relationship Id="rId5" Type="http://schemas.openxmlformats.org/officeDocument/2006/relationships/image" Target="../media/image1230.png"/><Relationship Id="rId10" Type="http://schemas.openxmlformats.org/officeDocument/2006/relationships/image" Target="../media/image1280.png"/><Relationship Id="rId4" Type="http://schemas.openxmlformats.org/officeDocument/2006/relationships/image" Target="../media/image3.png"/><Relationship Id="rId9" Type="http://schemas.openxmlformats.org/officeDocument/2006/relationships/image" Target="../media/image127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2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2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jpe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jpe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jpe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jpe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3FA532C9-1E17-46DF-BC09-E32C9D016521}" type="slidenum">
              <a:rPr lang="en-US"/>
              <a:pPr/>
              <a:t>1</a:t>
            </a:fld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438400"/>
            <a:ext cx="7848600" cy="2019300"/>
          </a:xfrm>
        </p:spPr>
        <p:txBody>
          <a:bodyPr/>
          <a:lstStyle/>
          <a:p>
            <a:r>
              <a:rPr lang="en-US" sz="4400" dirty="0"/>
              <a:t>Chapter 3</a:t>
            </a:r>
          </a:p>
          <a:p>
            <a:r>
              <a:rPr lang="en-US" sz="4400" dirty="0"/>
              <a:t>Methods of Analysis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762000" y="381000"/>
            <a:ext cx="770255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sz="3200" dirty="0" err="1" smtClean="0"/>
              <a:t>EBN</a:t>
            </a:r>
            <a:r>
              <a:rPr lang="en-US" sz="3200" dirty="0" smtClean="0"/>
              <a:t> </a:t>
            </a:r>
            <a:r>
              <a:rPr lang="en-US" sz="3200" dirty="0" smtClean="0"/>
              <a:t>111/122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ELECTRICITY AND ELECTRONICS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22A8-99FD-4C53-AABF-59E10C450734}" type="slidenum">
              <a:rPr lang="en-US"/>
              <a:pPr/>
              <a:t>2</a:t>
            </a:fld>
            <a:endParaRPr lang="en-US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03188"/>
            <a:ext cx="8915400" cy="1314450"/>
          </a:xfrm>
        </p:spPr>
        <p:txBody>
          <a:bodyPr/>
          <a:lstStyle/>
          <a:p>
            <a:r>
              <a:rPr lang="en-US" sz="4000"/>
              <a:t>Methods of Analysis - Chapter 3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2057401"/>
            <a:ext cx="7315200" cy="28956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/>
              <a:t>3.1		Motivation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/>
              <a:t>3.2		Nodal analysis.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/>
              <a:t>3.3		Nodal analysis with voltage sources.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/>
              <a:t>3.4		Mesh analysis.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/>
              <a:t>3.5		Mesh analysis with current sources.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/>
              <a:t>3.6		Nodal and mesh analysis by inspection.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/>
              <a:t>3.7		Nodal versus mesh analysis.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15B40-CC1D-4E66-8291-C48A70A630B0}" type="slidenum">
              <a:rPr lang="en-US"/>
              <a:pPr/>
              <a:t>3</a:t>
            </a:fld>
            <a:endParaRPr lang="en-US"/>
          </a:p>
        </p:txBody>
      </p:sp>
      <p:grpSp>
        <p:nvGrpSpPr>
          <p:cNvPr id="92170" name="Group 10"/>
          <p:cNvGrpSpPr>
            <a:grpSpLocks/>
          </p:cNvGrpSpPr>
          <p:nvPr/>
        </p:nvGrpSpPr>
        <p:grpSpPr bwMode="auto">
          <a:xfrm>
            <a:off x="1752600" y="3124200"/>
            <a:ext cx="5867400" cy="2590800"/>
            <a:chOff x="432" y="1440"/>
            <a:chExt cx="4704" cy="2496"/>
          </a:xfrm>
        </p:grpSpPr>
        <p:pic>
          <p:nvPicPr>
            <p:cNvPr id="92164" name="Picture 4" descr="03-00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440"/>
              <a:ext cx="4704" cy="235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167" name="Rectangle 7"/>
            <p:cNvSpPr>
              <a:spLocks noChangeArrowheads="1"/>
            </p:cNvSpPr>
            <p:nvPr/>
          </p:nvSpPr>
          <p:spPr bwMode="auto">
            <a:xfrm>
              <a:off x="1728" y="1440"/>
              <a:ext cx="384" cy="3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92168" name="Rectangle 8"/>
            <p:cNvSpPr>
              <a:spLocks noChangeArrowheads="1"/>
            </p:cNvSpPr>
            <p:nvPr/>
          </p:nvSpPr>
          <p:spPr bwMode="auto">
            <a:xfrm>
              <a:off x="3408" y="1440"/>
              <a:ext cx="384" cy="3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92169" name="Rectangle 9"/>
            <p:cNvSpPr>
              <a:spLocks noChangeArrowheads="1"/>
            </p:cNvSpPr>
            <p:nvPr/>
          </p:nvSpPr>
          <p:spPr bwMode="auto">
            <a:xfrm>
              <a:off x="2496" y="3408"/>
              <a:ext cx="576" cy="5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A"/>
            </a:p>
          </p:txBody>
        </p:sp>
      </p:grpSp>
      <p:sp>
        <p:nvSpPr>
          <p:cNvPr id="92171" name="Text Box 11"/>
          <p:cNvSpPr txBox="1">
            <a:spLocks noChangeArrowheads="1"/>
          </p:cNvSpPr>
          <p:nvPr/>
        </p:nvSpPr>
        <p:spPr bwMode="auto">
          <a:xfrm>
            <a:off x="457200" y="5638800"/>
            <a:ext cx="7924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>
                <a:solidFill>
                  <a:srgbClr val="FF3300"/>
                </a:solidFill>
              </a:rPr>
              <a:t>What are the things which we need to know in order to determine the answers?</a:t>
            </a:r>
          </a:p>
        </p:txBody>
      </p:sp>
      <p:sp>
        <p:nvSpPr>
          <p:cNvPr id="92172" name="Rectangle 12"/>
          <p:cNvSpPr>
            <a:spLocks noChangeArrowheads="1"/>
          </p:cNvSpPr>
          <p:nvPr/>
        </p:nvSpPr>
        <p:spPr bwMode="auto">
          <a:xfrm>
            <a:off x="228600" y="407988"/>
            <a:ext cx="8915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 eaLnBrk="1" hangingPunct="1">
              <a:lnSpc>
                <a:spcPct val="90000"/>
              </a:lnSpc>
            </a:pPr>
            <a:r>
              <a:rPr lang="en-US" sz="4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3.1 Motivation (1)</a:t>
            </a:r>
          </a:p>
        </p:txBody>
      </p:sp>
      <p:sp>
        <p:nvSpPr>
          <p:cNvPr id="92173" name="Text Box 13"/>
          <p:cNvSpPr txBox="1">
            <a:spLocks noChangeArrowheads="1"/>
          </p:cNvSpPr>
          <p:nvPr/>
        </p:nvSpPr>
        <p:spPr bwMode="auto">
          <a:xfrm>
            <a:off x="304800" y="1143000"/>
            <a:ext cx="86106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If you are given the following circuit, how can we determine (1) the voltage across each resistor, (2) current through each resistor. (3) power generated by each current source,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945F1-1AD3-45B1-95EA-9F801DA2602E}" type="slidenum">
              <a:rPr lang="en-US"/>
              <a:pPr/>
              <a:t>4</a:t>
            </a:fld>
            <a:endParaRPr lang="en-US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95400"/>
            <a:ext cx="8458200" cy="1219200"/>
          </a:xfrm>
        </p:spPr>
        <p:txBody>
          <a:bodyPr/>
          <a:lstStyle/>
          <a:p>
            <a:pPr algn="l">
              <a:spcBef>
                <a:spcPct val="10000"/>
              </a:spcBef>
            </a:pPr>
            <a:r>
              <a:rPr lang="en-US" sz="2800" dirty="0"/>
              <a:t>Things we need to know in solving any resistive circuit with current and voltage sources only:</a:t>
            </a:r>
            <a:endParaRPr lang="en-US" dirty="0"/>
          </a:p>
        </p:txBody>
      </p:sp>
      <p:sp>
        <p:nvSpPr>
          <p:cNvPr id="114696" name="Text Box 8"/>
          <p:cNvSpPr txBox="1">
            <a:spLocks noChangeArrowheads="1"/>
          </p:cNvSpPr>
          <p:nvPr/>
        </p:nvSpPr>
        <p:spPr bwMode="auto">
          <a:xfrm>
            <a:off x="990600" y="5073650"/>
            <a:ext cx="6858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>
                <a:solidFill>
                  <a:srgbClr val="FF3300"/>
                </a:solidFill>
              </a:rPr>
              <a:t>How should we apply these laws to determine the answers?</a:t>
            </a:r>
          </a:p>
        </p:txBody>
      </p:sp>
      <p:sp>
        <p:nvSpPr>
          <p:cNvPr id="114697" name="Text Box 9"/>
          <p:cNvSpPr txBox="1">
            <a:spLocks noChangeArrowheads="1"/>
          </p:cNvSpPr>
          <p:nvPr/>
        </p:nvSpPr>
        <p:spPr bwMode="auto">
          <a:xfrm>
            <a:off x="457200" y="2846388"/>
            <a:ext cx="7239000" cy="180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  <a:buFontTx/>
              <a:buChar char="•"/>
            </a:pPr>
            <a:r>
              <a:rPr lang="en-US" sz="2800">
                <a:solidFill>
                  <a:srgbClr val="000000"/>
                </a:solidFill>
              </a:rPr>
              <a:t> Kirchhoff’s Current Laws  (KCL)</a:t>
            </a:r>
          </a:p>
          <a:p>
            <a:pPr>
              <a:spcBef>
                <a:spcPct val="50000"/>
              </a:spcBef>
              <a:buClr>
                <a:schemeClr val="tx1"/>
              </a:buClr>
              <a:buFontTx/>
              <a:buChar char="•"/>
            </a:pPr>
            <a:r>
              <a:rPr lang="en-US" sz="2800">
                <a:solidFill>
                  <a:srgbClr val="000000"/>
                </a:solidFill>
              </a:rPr>
              <a:t> Kirchhoff’s Voltage Laws  (KVL)</a:t>
            </a:r>
          </a:p>
          <a:p>
            <a:pPr>
              <a:spcBef>
                <a:spcPct val="50000"/>
              </a:spcBef>
              <a:buClr>
                <a:schemeClr val="tx1"/>
              </a:buClr>
              <a:buFontTx/>
              <a:buChar char="•"/>
            </a:pPr>
            <a:r>
              <a:rPr lang="en-US" sz="2800">
                <a:solidFill>
                  <a:srgbClr val="000000"/>
                </a:solidFill>
              </a:rPr>
              <a:t> Ohm’s Law</a:t>
            </a:r>
          </a:p>
        </p:txBody>
      </p:sp>
      <p:sp>
        <p:nvSpPr>
          <p:cNvPr id="114698" name="Rectangle 10"/>
          <p:cNvSpPr>
            <a:spLocks noChangeArrowheads="1"/>
          </p:cNvSpPr>
          <p:nvPr/>
        </p:nvSpPr>
        <p:spPr bwMode="auto">
          <a:xfrm>
            <a:off x="228600" y="304800"/>
            <a:ext cx="8915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 eaLnBrk="1" hangingPunct="1">
              <a:lnSpc>
                <a:spcPct val="90000"/>
              </a:lnSpc>
            </a:pPr>
            <a:r>
              <a:rPr 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3.1 Motivation (2</a:t>
            </a:r>
            <a:r>
              <a:rPr lang="en-US" sz="32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algn="ctr" eaLnBrk="1" hangingPunct="1">
              <a:lnSpc>
                <a:spcPct val="90000"/>
              </a:lnSpc>
            </a:pPr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 LAWS</a:t>
            </a: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945F1-1AD3-45B1-95EA-9F801DA2602E}" type="slidenum">
              <a:rPr lang="en-US"/>
              <a:pPr/>
              <a:t>5</a:t>
            </a:fld>
            <a:endParaRPr lang="en-US"/>
          </a:p>
        </p:txBody>
      </p:sp>
      <p:sp>
        <p:nvSpPr>
          <p:cNvPr id="114697" name="Text Box 9"/>
          <p:cNvSpPr txBox="1">
            <a:spLocks noChangeArrowheads="1"/>
          </p:cNvSpPr>
          <p:nvPr/>
        </p:nvSpPr>
        <p:spPr bwMode="auto">
          <a:xfrm>
            <a:off x="628650" y="1828800"/>
            <a:ext cx="7886700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chemeClr val="tx1"/>
              </a:buClr>
            </a:pPr>
            <a:r>
              <a:rPr lang="en-US" sz="3600" b="1" dirty="0" smtClean="0">
                <a:solidFill>
                  <a:srgbClr val="000000"/>
                </a:solidFill>
              </a:rPr>
              <a:t>KCL</a:t>
            </a:r>
            <a:r>
              <a:rPr lang="en-US" sz="3600" dirty="0" smtClean="0">
                <a:solidFill>
                  <a:srgbClr val="000000"/>
                </a:solidFill>
              </a:rPr>
              <a:t> </a:t>
            </a:r>
            <a:r>
              <a:rPr lang="en-US" sz="3600" dirty="0" smtClean="0">
                <a:solidFill>
                  <a:srgbClr val="000000"/>
                </a:solidFill>
                <a:latin typeface="Cambria Math"/>
                <a:ea typeface="Cambria Math"/>
              </a:rPr>
              <a:t>⟶ </a:t>
            </a:r>
            <a:r>
              <a:rPr lang="en-US" sz="3600" b="1" dirty="0" smtClean="0">
                <a:solidFill>
                  <a:srgbClr val="000000"/>
                </a:solidFill>
                <a:latin typeface="Cambria Math"/>
                <a:ea typeface="Cambria Math"/>
              </a:rPr>
              <a:t>Nodal</a:t>
            </a:r>
            <a:r>
              <a:rPr lang="en-US" sz="3600" dirty="0" smtClean="0">
                <a:solidFill>
                  <a:srgbClr val="000000"/>
                </a:solidFill>
                <a:latin typeface="Cambria Math"/>
                <a:ea typeface="Cambria Math"/>
              </a:rPr>
              <a:t> Analysis </a:t>
            </a:r>
          </a:p>
          <a:p>
            <a:pPr>
              <a:spcBef>
                <a:spcPts val="0"/>
              </a:spcBef>
              <a:buClr>
                <a:schemeClr val="tx1"/>
              </a:buClr>
            </a:pPr>
            <a:r>
              <a:rPr lang="en-US" sz="3600" dirty="0">
                <a:solidFill>
                  <a:srgbClr val="000000"/>
                </a:solidFill>
                <a:latin typeface="Cambria Math"/>
                <a:ea typeface="Cambria Math"/>
              </a:rPr>
              <a:t>	</a:t>
            </a:r>
            <a:r>
              <a:rPr lang="en-US" sz="3600" dirty="0" smtClean="0">
                <a:solidFill>
                  <a:srgbClr val="000000"/>
                </a:solidFill>
                <a:latin typeface="Cambria Math"/>
                <a:ea typeface="Cambria Math"/>
              </a:rPr>
              <a:t>	</a:t>
            </a:r>
            <a:r>
              <a:rPr lang="en-US" sz="3600" i="1" dirty="0" smtClean="0">
                <a:solidFill>
                  <a:srgbClr val="000000"/>
                </a:solidFill>
                <a:latin typeface="Cambria Math"/>
                <a:ea typeface="Cambria Math"/>
              </a:rPr>
              <a:t>aka</a:t>
            </a:r>
            <a:r>
              <a:rPr lang="en-US" sz="3600" dirty="0" smtClean="0">
                <a:solidFill>
                  <a:srgbClr val="000000"/>
                </a:solidFill>
                <a:latin typeface="Cambria Math"/>
                <a:ea typeface="Cambria Math"/>
              </a:rPr>
              <a:t>  (Voltage Node Analysis)</a:t>
            </a:r>
          </a:p>
          <a:p>
            <a:pPr>
              <a:spcBef>
                <a:spcPts val="0"/>
              </a:spcBef>
              <a:buClr>
                <a:schemeClr val="tx1"/>
              </a:buClr>
            </a:pPr>
            <a:endParaRPr lang="en-US" sz="360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</a:pPr>
            <a:r>
              <a:rPr lang="en-US" sz="3600" b="1" dirty="0" smtClean="0">
                <a:solidFill>
                  <a:srgbClr val="000000"/>
                </a:solidFill>
              </a:rPr>
              <a:t>KVL</a:t>
            </a:r>
            <a:r>
              <a:rPr lang="en-US" sz="3600" dirty="0" smtClean="0">
                <a:solidFill>
                  <a:srgbClr val="000000"/>
                </a:solidFill>
              </a:rPr>
              <a:t> </a:t>
            </a:r>
            <a:r>
              <a:rPr lang="en-US" sz="3600" dirty="0" smtClean="0">
                <a:solidFill>
                  <a:srgbClr val="000000"/>
                </a:solidFill>
                <a:latin typeface="Cambria Math"/>
                <a:ea typeface="Cambria Math"/>
              </a:rPr>
              <a:t>⟶ </a:t>
            </a:r>
            <a:r>
              <a:rPr lang="en-US" sz="3600" b="1" dirty="0" smtClean="0">
                <a:solidFill>
                  <a:srgbClr val="000000"/>
                </a:solidFill>
                <a:latin typeface="Cambria Math"/>
                <a:ea typeface="Cambria Math"/>
              </a:rPr>
              <a:t>Mesh</a:t>
            </a:r>
            <a:r>
              <a:rPr lang="en-US" sz="3600" dirty="0" smtClean="0">
                <a:solidFill>
                  <a:srgbClr val="000000"/>
                </a:solidFill>
                <a:latin typeface="Cambria Math"/>
                <a:ea typeface="Cambria Math"/>
              </a:rPr>
              <a:t> (Current) Analysis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114698" name="Rectangle 10"/>
          <p:cNvSpPr>
            <a:spLocks noChangeArrowheads="1"/>
          </p:cNvSpPr>
          <p:nvPr/>
        </p:nvSpPr>
        <p:spPr bwMode="auto">
          <a:xfrm>
            <a:off x="0" y="228600"/>
            <a:ext cx="9144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 eaLnBrk="1" hangingPunct="1">
              <a:lnSpc>
                <a:spcPct val="90000"/>
              </a:lnSpc>
            </a:pPr>
            <a:r>
              <a:rPr 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3.1 Motivation </a:t>
            </a:r>
            <a:r>
              <a:rPr 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(3)</a:t>
            </a:r>
          </a:p>
          <a:p>
            <a:pPr algn="ctr" eaLnBrk="1" hangingPunct="1">
              <a:lnSpc>
                <a:spcPct val="90000"/>
              </a:lnSpc>
            </a:pPr>
            <a:r>
              <a:rPr 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THESE TWO TECHNIQUES</a:t>
            </a:r>
            <a:endParaRPr lang="en-US" sz="32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440565" y="4419600"/>
            <a:ext cx="826287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/>
          <a:lstStyle/>
          <a:p>
            <a:pPr marL="457200" indent="-457200"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Can be used in any linear circuit</a:t>
            </a:r>
          </a:p>
          <a:p>
            <a:pPr marL="457200" indent="-457200"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 obtain a set of simultaneous equations</a:t>
            </a:r>
          </a:p>
          <a:p>
            <a:pPr marL="457200" indent="-457200"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Equations solved using: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Substitution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Cramer’s rule (Appendix A)</a:t>
            </a:r>
            <a:endParaRPr lang="en-US" sz="24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4102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3B2F-15CF-4A1A-8DAC-B185C574C532}" type="slidenum">
              <a:rPr lang="en-US"/>
              <a:pPr/>
              <a:t>6</a:t>
            </a:fld>
            <a:endParaRPr lang="en-US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599"/>
            <a:ext cx="8243887" cy="1345044"/>
          </a:xfrm>
        </p:spPr>
        <p:txBody>
          <a:bodyPr/>
          <a:lstStyle/>
          <a:p>
            <a:r>
              <a:rPr lang="en-US" sz="4000" dirty="0"/>
              <a:t>3.2 Nodal </a:t>
            </a:r>
            <a:r>
              <a:rPr lang="en-US" sz="4000" dirty="0" smtClean="0"/>
              <a:t>Analysis</a:t>
            </a:r>
            <a:br>
              <a:rPr lang="en-US" sz="4000" dirty="0" smtClean="0"/>
            </a:br>
            <a:r>
              <a:rPr lang="en-US" sz="4800" dirty="0" smtClean="0">
                <a:solidFill>
                  <a:srgbClr val="FF0000"/>
                </a:solidFill>
              </a:rPr>
              <a:t>Why?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42128" name="Text Box 144"/>
          <p:cNvSpPr txBox="1">
            <a:spLocks noChangeArrowheads="1"/>
          </p:cNvSpPr>
          <p:nvPr/>
        </p:nvSpPr>
        <p:spPr bwMode="auto">
          <a:xfrm>
            <a:off x="457200" y="1573643"/>
            <a:ext cx="807720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800" dirty="0"/>
              <a:t>It provides a general procedure for analyzing circuits using </a:t>
            </a:r>
            <a:r>
              <a:rPr lang="en-US" sz="2800" u="sng" dirty="0">
                <a:solidFill>
                  <a:srgbClr val="FF3300"/>
                </a:solidFill>
              </a:rPr>
              <a:t>node voltages</a:t>
            </a:r>
            <a:r>
              <a:rPr lang="en-US" sz="2800" dirty="0"/>
              <a:t> </a:t>
            </a:r>
            <a:r>
              <a:rPr lang="en-US" sz="2800" dirty="0" smtClean="0"/>
              <a:t>as opposed to </a:t>
            </a:r>
            <a:r>
              <a:rPr lang="en-US" sz="2800" u="sng" dirty="0" smtClean="0">
                <a:solidFill>
                  <a:srgbClr val="FF0000"/>
                </a:solidFill>
              </a:rPr>
              <a:t>element voltages</a:t>
            </a:r>
            <a:r>
              <a:rPr lang="en-US" sz="2800" dirty="0" smtClean="0"/>
              <a:t> as </a:t>
            </a:r>
            <a:r>
              <a:rPr lang="en-US" sz="2800" dirty="0"/>
              <a:t>the circuit variables. </a:t>
            </a:r>
          </a:p>
          <a:p>
            <a:pPr marL="342900" indent="-342900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800" dirty="0" smtClean="0"/>
              <a:t>Reduces the number of equations required to solve a circuit.</a:t>
            </a:r>
            <a:endParaRPr lang="en-US" sz="2800" dirty="0"/>
          </a:p>
        </p:txBody>
      </p:sp>
      <p:pic>
        <p:nvPicPr>
          <p:cNvPr id="10" name="Picture 4" descr="03-0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785" y="4466743"/>
            <a:ext cx="5236029" cy="218418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3B2F-15CF-4A1A-8DAC-B185C574C532}" type="slidenum">
              <a:rPr lang="en-US"/>
              <a:pPr/>
              <a:t>7</a:t>
            </a:fld>
            <a:endParaRPr lang="en-US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4205"/>
            <a:ext cx="8243887" cy="1239592"/>
          </a:xfrm>
        </p:spPr>
        <p:txBody>
          <a:bodyPr/>
          <a:lstStyle/>
          <a:p>
            <a:r>
              <a:rPr lang="en-US" sz="3200" dirty="0"/>
              <a:t>3.2 Nodal </a:t>
            </a:r>
            <a:r>
              <a:rPr lang="en-US" sz="3200" dirty="0" smtClean="0"/>
              <a:t>Analysis</a:t>
            </a:r>
            <a:br>
              <a:rPr lang="en-US" sz="32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STEPS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93182" y="1547611"/>
            <a:ext cx="8798417" cy="475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3716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8288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2860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7432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2004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6576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1148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 u="sng" dirty="0">
                <a:latin typeface="Verdana" pitchFamily="34" charset="0"/>
              </a:rPr>
              <a:t>Steps to determine the </a:t>
            </a:r>
            <a:r>
              <a:rPr lang="en-US" sz="2400" u="sng" dirty="0">
                <a:solidFill>
                  <a:srgbClr val="FF0000"/>
                </a:solidFill>
                <a:latin typeface="Verdana" pitchFamily="34" charset="0"/>
              </a:rPr>
              <a:t>node</a:t>
            </a:r>
            <a:r>
              <a:rPr lang="en-US" sz="2400" u="sng" dirty="0">
                <a:latin typeface="Verdana" pitchFamily="34" charset="0"/>
              </a:rPr>
              <a:t> voltages:</a:t>
            </a:r>
          </a:p>
          <a:p>
            <a:pPr>
              <a:spcBef>
                <a:spcPct val="20000"/>
              </a:spcBef>
              <a:buClr>
                <a:schemeClr val="tx1"/>
              </a:buClr>
              <a:buFontTx/>
              <a:buAutoNum type="arabicPeriod"/>
            </a:pPr>
            <a:r>
              <a:rPr lang="en-US" sz="2400" u="sng" dirty="0" smtClean="0">
                <a:solidFill>
                  <a:srgbClr val="0066CC"/>
                </a:solidFill>
                <a:latin typeface="Verdana" pitchFamily="34" charset="0"/>
              </a:rPr>
              <a:t>Select</a:t>
            </a:r>
            <a:r>
              <a:rPr lang="en-US" sz="2400" dirty="0" smtClean="0">
                <a:solidFill>
                  <a:srgbClr val="0066CC"/>
                </a:solidFill>
                <a:latin typeface="Verdana" pitchFamily="34" charset="0"/>
              </a:rPr>
              <a:t> </a:t>
            </a:r>
            <a:r>
              <a:rPr lang="en-US" sz="2400" dirty="0">
                <a:solidFill>
                  <a:srgbClr val="0066CC"/>
                </a:solidFill>
                <a:latin typeface="Verdana" pitchFamily="34" charset="0"/>
              </a:rPr>
              <a:t>a node as the reference node </a:t>
            </a:r>
            <a:r>
              <a:rPr lang="en-US" sz="2400" i="1" dirty="0">
                <a:solidFill>
                  <a:srgbClr val="0066CC"/>
                </a:solidFill>
                <a:latin typeface="Verdana" pitchFamily="34" charset="0"/>
              </a:rPr>
              <a:t>(ground)</a:t>
            </a:r>
            <a:r>
              <a:rPr lang="en-US" sz="2400" dirty="0">
                <a:solidFill>
                  <a:srgbClr val="0066CC"/>
                </a:solidFill>
                <a:latin typeface="Verdana" pitchFamily="34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tx1"/>
              </a:buClr>
              <a:buFontTx/>
              <a:buAutoNum type="arabicPeriod"/>
            </a:pPr>
            <a:r>
              <a:rPr lang="en-US" sz="2400" u="sng" dirty="0">
                <a:solidFill>
                  <a:srgbClr val="FF3300"/>
                </a:solidFill>
                <a:latin typeface="Verdana" pitchFamily="34" charset="0"/>
              </a:rPr>
              <a:t>Assign</a:t>
            </a:r>
            <a:r>
              <a:rPr lang="en-US" sz="2400" dirty="0">
                <a:solidFill>
                  <a:srgbClr val="FF3300"/>
                </a:solidFill>
                <a:latin typeface="Verdana" pitchFamily="34" charset="0"/>
              </a:rPr>
              <a:t> voltages </a:t>
            </a:r>
            <a:r>
              <a:rPr lang="en-US" sz="2400" dirty="0" smtClean="0">
                <a:solidFill>
                  <a:srgbClr val="FF3300"/>
                </a:solidFill>
                <a:latin typeface="Verdana" pitchFamily="34" charset="0"/>
              </a:rPr>
              <a:t>V</a:t>
            </a:r>
            <a:r>
              <a:rPr lang="en-US" sz="2400" baseline="-25000" dirty="0" smtClean="0">
                <a:solidFill>
                  <a:srgbClr val="FF3300"/>
                </a:solidFill>
                <a:latin typeface="Verdana" pitchFamily="34" charset="0"/>
              </a:rPr>
              <a:t>1</a:t>
            </a:r>
            <a:r>
              <a:rPr lang="en-US" sz="2400" dirty="0" smtClean="0">
                <a:solidFill>
                  <a:srgbClr val="FF3300"/>
                </a:solidFill>
                <a:latin typeface="Verdana" pitchFamily="34" charset="0"/>
              </a:rPr>
              <a:t>,V</a:t>
            </a:r>
            <a:r>
              <a:rPr lang="en-US" sz="2400" baseline="-25000" dirty="0" smtClean="0">
                <a:solidFill>
                  <a:srgbClr val="FF3300"/>
                </a:solidFill>
                <a:latin typeface="Verdana" pitchFamily="34" charset="0"/>
              </a:rPr>
              <a:t>2</a:t>
            </a:r>
            <a:r>
              <a:rPr lang="en-US" sz="2400" dirty="0" smtClean="0">
                <a:solidFill>
                  <a:srgbClr val="FF3300"/>
                </a:solidFill>
                <a:latin typeface="Verdana" pitchFamily="34" charset="0"/>
              </a:rPr>
              <a:t>,…,V</a:t>
            </a:r>
            <a:r>
              <a:rPr lang="en-US" sz="2400" baseline="-25000" dirty="0" smtClean="0">
                <a:solidFill>
                  <a:srgbClr val="FF3300"/>
                </a:solidFill>
                <a:latin typeface="Verdana" pitchFamily="34" charset="0"/>
              </a:rPr>
              <a:t>n-1</a:t>
            </a:r>
            <a:r>
              <a:rPr lang="en-US" sz="2400" dirty="0" smtClean="0">
                <a:solidFill>
                  <a:srgbClr val="FF3300"/>
                </a:solidFill>
                <a:latin typeface="Verdana" pitchFamily="34" charset="0"/>
              </a:rPr>
              <a:t> </a:t>
            </a:r>
            <a:r>
              <a:rPr lang="en-US" sz="2400" dirty="0">
                <a:solidFill>
                  <a:srgbClr val="FF3300"/>
                </a:solidFill>
                <a:latin typeface="Verdana" pitchFamily="34" charset="0"/>
              </a:rPr>
              <a:t>to the remaining </a:t>
            </a:r>
            <a:r>
              <a:rPr lang="en-US" sz="2400" dirty="0" smtClean="0">
                <a:solidFill>
                  <a:srgbClr val="FF3300"/>
                </a:solidFill>
                <a:latin typeface="Verdana" pitchFamily="34" charset="0"/>
              </a:rPr>
              <a:t>“critical” nodes</a:t>
            </a:r>
            <a:r>
              <a:rPr lang="en-US" sz="2400" dirty="0">
                <a:solidFill>
                  <a:srgbClr val="FF3300"/>
                </a:solidFill>
                <a:latin typeface="Verdana" pitchFamily="34" charset="0"/>
              </a:rPr>
              <a:t>. </a:t>
            </a:r>
            <a:endParaRPr lang="en-US" sz="2400" dirty="0" smtClean="0">
              <a:solidFill>
                <a:srgbClr val="FF3300"/>
              </a:solidFill>
              <a:latin typeface="Verdana" pitchFamily="34" charset="0"/>
            </a:endParaRPr>
          </a:p>
          <a:p>
            <a:pPr lvl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3300"/>
                </a:solidFill>
                <a:latin typeface="Verdana" pitchFamily="34" charset="0"/>
              </a:rPr>
              <a:t>“Critical node” = node with more than 2 branches attached.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3300"/>
                </a:solidFill>
                <a:latin typeface="Verdana" pitchFamily="34" charset="0"/>
              </a:rPr>
              <a:t>The </a:t>
            </a:r>
            <a:r>
              <a:rPr lang="en-US" sz="2000" dirty="0">
                <a:solidFill>
                  <a:srgbClr val="FF3300"/>
                </a:solidFill>
                <a:latin typeface="Verdana" pitchFamily="34" charset="0"/>
              </a:rPr>
              <a:t>voltages are referenced with respect to the </a:t>
            </a:r>
            <a:r>
              <a:rPr lang="en-US" sz="2000" dirty="0" smtClean="0">
                <a:solidFill>
                  <a:srgbClr val="FF3300"/>
                </a:solidFill>
                <a:latin typeface="Verdana" pitchFamily="34" charset="0"/>
              </a:rPr>
              <a:t>reference </a:t>
            </a:r>
            <a:r>
              <a:rPr lang="en-US" sz="2000" dirty="0">
                <a:solidFill>
                  <a:srgbClr val="FF3300"/>
                </a:solidFill>
                <a:latin typeface="Verdana" pitchFamily="34" charset="0"/>
              </a:rPr>
              <a:t>node. </a:t>
            </a:r>
            <a:r>
              <a:rPr lang="en-US" sz="2000" dirty="0" smtClean="0">
                <a:solidFill>
                  <a:srgbClr val="FF3300"/>
                </a:solidFill>
                <a:latin typeface="Verdana" pitchFamily="34" charset="0"/>
              </a:rPr>
              <a:t>I.e.  Measured between Node and Ground.</a:t>
            </a:r>
            <a:endParaRPr lang="en-US" sz="2400" dirty="0">
              <a:solidFill>
                <a:srgbClr val="FF3300"/>
              </a:solidFill>
              <a:latin typeface="Verdana" pitchFamily="34" charset="0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FontTx/>
              <a:buAutoNum type="arabicPeriod"/>
            </a:pPr>
            <a:r>
              <a:rPr lang="en-US" sz="2400" u="sng" dirty="0">
                <a:solidFill>
                  <a:srgbClr val="0066CC"/>
                </a:solidFill>
                <a:latin typeface="Verdana" pitchFamily="34" charset="0"/>
              </a:rPr>
              <a:t>Apply</a:t>
            </a:r>
            <a:r>
              <a:rPr lang="en-US" sz="2400" dirty="0">
                <a:solidFill>
                  <a:srgbClr val="0066CC"/>
                </a:solidFill>
                <a:latin typeface="Verdana" pitchFamily="34" charset="0"/>
              </a:rPr>
              <a:t> KCL to each of the </a:t>
            </a:r>
            <a:r>
              <a:rPr lang="en-US" sz="2400" dirty="0" smtClean="0">
                <a:solidFill>
                  <a:srgbClr val="0066CC"/>
                </a:solidFill>
                <a:latin typeface="Verdana" pitchFamily="34" charset="0"/>
              </a:rPr>
              <a:t>non-reference </a:t>
            </a:r>
            <a:r>
              <a:rPr lang="en-US" sz="2400" dirty="0">
                <a:solidFill>
                  <a:srgbClr val="0066CC"/>
                </a:solidFill>
                <a:latin typeface="Verdana" pitchFamily="34" charset="0"/>
              </a:rPr>
              <a:t>nodes. Use Ohm’s law to express the branch currents in terms of node voltages.</a:t>
            </a:r>
            <a:r>
              <a:rPr lang="en-US" sz="2400" dirty="0">
                <a:latin typeface="Verdana" pitchFamily="34" charset="0"/>
              </a:rPr>
              <a:t> </a:t>
            </a:r>
          </a:p>
          <a:p>
            <a:pPr>
              <a:spcBef>
                <a:spcPct val="20000"/>
              </a:spcBef>
              <a:buClr>
                <a:schemeClr val="tx1"/>
              </a:buClr>
              <a:buFontTx/>
              <a:buAutoNum type="arabicPeriod"/>
            </a:pPr>
            <a:r>
              <a:rPr lang="en-US" sz="2400" u="sng" dirty="0">
                <a:solidFill>
                  <a:srgbClr val="FF3300"/>
                </a:solidFill>
                <a:latin typeface="Verdana" pitchFamily="34" charset="0"/>
              </a:rPr>
              <a:t>Solve</a:t>
            </a:r>
            <a:r>
              <a:rPr lang="en-US" sz="2400" dirty="0">
                <a:solidFill>
                  <a:srgbClr val="FF3300"/>
                </a:solidFill>
                <a:latin typeface="Verdana" pitchFamily="34" charset="0"/>
              </a:rPr>
              <a:t> the resulting simultaneous equations  to obtain the unknown node voltages.</a:t>
            </a:r>
            <a:r>
              <a:rPr lang="en-US" dirty="0">
                <a:latin typeface="Verdan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888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C0CEE-FF74-4A70-BBF5-3E9C3E59A76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3" y="959558"/>
            <a:ext cx="4232362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644900" y="1447800"/>
            <a:ext cx="543602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</a:rPr>
              <a:t>STEP 1:  </a:t>
            </a:r>
            <a:r>
              <a:rPr lang="en-ZA" sz="2400" dirty="0" smtClean="0"/>
              <a:t>Select a Reference Node</a:t>
            </a:r>
          </a:p>
          <a:p>
            <a:r>
              <a:rPr lang="en-ZA" sz="2000" dirty="0" smtClean="0"/>
              <a:t>	WHERE??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ZA" sz="2000" dirty="0" smtClean="0"/>
              <a:t>Negative terminal of V-source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ZA" sz="2000" dirty="0" smtClean="0"/>
              <a:t>Entry terminal of I-source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ZA" sz="2000" dirty="0" smtClean="0"/>
              <a:t>Node with many branches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ZA" sz="2000" dirty="0" smtClean="0"/>
              <a:t>Bottom node (many cases)</a:t>
            </a:r>
            <a:endParaRPr lang="en-ZA" sz="20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134605" y="4508956"/>
            <a:ext cx="1305610" cy="369332"/>
            <a:chOff x="134605" y="4508956"/>
            <a:chExt cx="1305610" cy="369332"/>
          </a:xfrm>
        </p:grpSpPr>
        <p:sp>
          <p:nvSpPr>
            <p:cNvPr id="12" name="Rectangle 11"/>
            <p:cNvSpPr/>
            <p:nvPr/>
          </p:nvSpPr>
          <p:spPr>
            <a:xfrm>
              <a:off x="134605" y="4508956"/>
              <a:ext cx="99899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FF0000"/>
                  </a:solidFill>
                </a:rPr>
                <a:t>STEP 1</a:t>
              </a:r>
              <a:endParaRPr lang="en-ZA" dirty="0"/>
            </a:p>
          </p:txBody>
        </p:sp>
        <p:cxnSp>
          <p:nvCxnSpPr>
            <p:cNvPr id="14" name="Straight Arrow Connector 13"/>
            <p:cNvCxnSpPr>
              <a:stCxn id="12" idx="3"/>
              <a:endCxn id="121862" idx="1"/>
            </p:cNvCxnSpPr>
            <p:nvPr/>
          </p:nvCxnSpPr>
          <p:spPr bwMode="auto">
            <a:xfrm>
              <a:off x="1133596" y="4693622"/>
              <a:ext cx="306619" cy="107610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12186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215" y="4486553"/>
            <a:ext cx="784654" cy="629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457200" y="1842592"/>
            <a:ext cx="3599334" cy="1055200"/>
            <a:chOff x="457200" y="1842592"/>
            <a:chExt cx="3599334" cy="1055200"/>
          </a:xfrm>
        </p:grpSpPr>
        <p:sp>
          <p:nvSpPr>
            <p:cNvPr id="16" name="Rectangle 15"/>
            <p:cNvSpPr/>
            <p:nvPr/>
          </p:nvSpPr>
          <p:spPr>
            <a:xfrm>
              <a:off x="1383473" y="2354716"/>
              <a:ext cx="4395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3300"/>
                  </a:solidFill>
                </a:rPr>
                <a:t>V</a:t>
              </a:r>
              <a:r>
                <a:rPr lang="en-US" baseline="-25000" dirty="0">
                  <a:solidFill>
                    <a:srgbClr val="FF3300"/>
                  </a:solidFill>
                </a:rPr>
                <a:t>1</a:t>
              </a:r>
              <a:endParaRPr lang="en-ZA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616990" y="2528460"/>
              <a:ext cx="4395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3300"/>
                  </a:solidFill>
                </a:rPr>
                <a:t>V</a:t>
              </a:r>
              <a:r>
                <a:rPr lang="en-US" baseline="-25000" dirty="0" smtClean="0">
                  <a:solidFill>
                    <a:srgbClr val="FF3300"/>
                  </a:solidFill>
                </a:rPr>
                <a:t>2</a:t>
              </a:r>
              <a:endParaRPr lang="en-ZA" dirty="0"/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1768710" y="2677639"/>
              <a:ext cx="108615" cy="10861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3508375" y="2678487"/>
              <a:ext cx="108615" cy="10861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457200" y="1842592"/>
              <a:ext cx="3051175" cy="835047"/>
              <a:chOff x="457200" y="1842592"/>
              <a:chExt cx="3051175" cy="835047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457200" y="1842592"/>
                <a:ext cx="9989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dirty="0" smtClean="0">
                    <a:solidFill>
                      <a:srgbClr val="FF0000"/>
                    </a:solidFill>
                  </a:rPr>
                  <a:t>STEP 2</a:t>
                </a:r>
                <a:endParaRPr lang="en-ZA" dirty="0"/>
              </a:p>
            </p:txBody>
          </p:sp>
          <p:cxnSp>
            <p:nvCxnSpPr>
              <p:cNvPr id="27" name="Straight Arrow Connector 26"/>
              <p:cNvCxnSpPr>
                <a:stCxn id="26" idx="3"/>
              </p:cNvCxnSpPr>
              <p:nvPr/>
            </p:nvCxnSpPr>
            <p:spPr bwMode="auto">
              <a:xfrm>
                <a:off x="1456191" y="2027258"/>
                <a:ext cx="124541" cy="345254"/>
              </a:xfrm>
              <a:prstGeom prst="straightConnector1">
                <a:avLst/>
              </a:prstGeom>
              <a:ln>
                <a:solidFill>
                  <a:srgbClr val="FF3300"/>
                </a:solidFill>
                <a:headEnd type="none" w="med" len="med"/>
                <a:tailEnd type="arrow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 bwMode="auto">
              <a:xfrm>
                <a:off x="1456191" y="2027258"/>
                <a:ext cx="2052184" cy="650381"/>
              </a:xfrm>
              <a:prstGeom prst="straightConnector1">
                <a:avLst/>
              </a:prstGeom>
              <a:ln>
                <a:solidFill>
                  <a:srgbClr val="FF3300"/>
                </a:solidFill>
                <a:headEnd type="none" w="med" len="med"/>
                <a:tailEnd type="arrow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TextBox 32"/>
          <p:cNvSpPr txBox="1"/>
          <p:nvPr/>
        </p:nvSpPr>
        <p:spPr>
          <a:xfrm>
            <a:off x="4056534" y="4878288"/>
            <a:ext cx="4832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</a:rPr>
              <a:t>STEP 2:  </a:t>
            </a:r>
            <a:r>
              <a:rPr lang="en-ZA" sz="2400" dirty="0" smtClean="0"/>
              <a:t>Name critical nodes: V</a:t>
            </a:r>
            <a:r>
              <a:rPr lang="en-ZA" sz="2400" baseline="-25000" dirty="0" smtClean="0"/>
              <a:t>1</a:t>
            </a:r>
            <a:r>
              <a:rPr lang="en-ZA" sz="2400" dirty="0" smtClean="0"/>
              <a:t>, V</a:t>
            </a:r>
            <a:r>
              <a:rPr lang="en-ZA" sz="2400" baseline="-25000" dirty="0" smtClean="0"/>
              <a:t>2</a:t>
            </a:r>
            <a:r>
              <a:rPr lang="en-ZA" sz="2400" dirty="0" smtClean="0"/>
              <a:t>, …, </a:t>
            </a:r>
            <a:r>
              <a:rPr lang="en-ZA" sz="2400" dirty="0" err="1" smtClean="0"/>
              <a:t>V</a:t>
            </a:r>
            <a:r>
              <a:rPr lang="en-ZA" sz="2400" baseline="-25000" dirty="0" err="1" smtClean="0"/>
              <a:t>n</a:t>
            </a:r>
            <a:endParaRPr lang="en-ZA" sz="2400" dirty="0" smtClean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714499" y="101600"/>
            <a:ext cx="5805487" cy="12192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3.2 Nodal Analysis</a:t>
            </a:r>
          </a:p>
          <a:p>
            <a:r>
              <a:rPr lang="en-US" sz="4000" dirty="0" smtClean="0">
                <a:solidFill>
                  <a:srgbClr val="FF0000"/>
                </a:solidFill>
              </a:rPr>
              <a:t>EXAMPLE 1</a:t>
            </a: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35" name="Picture 3" descr="ale29559_03001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3" t="13071" r="11629" b="20995"/>
          <a:stretch/>
        </p:blipFill>
        <p:spPr bwMode="auto">
          <a:xfrm>
            <a:off x="5480842" y="3448348"/>
            <a:ext cx="2570958" cy="83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 bwMode="auto">
          <a:xfrm>
            <a:off x="1877325" y="4069724"/>
            <a:ext cx="338020" cy="30909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90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C0CEE-FF74-4A70-BBF5-3E9C3E59A76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3" y="959558"/>
            <a:ext cx="4232362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1383473" y="2354716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00"/>
                </a:solidFill>
              </a:rPr>
              <a:t>V</a:t>
            </a:r>
            <a:r>
              <a:rPr lang="en-US" baseline="-25000" dirty="0">
                <a:solidFill>
                  <a:srgbClr val="FF3300"/>
                </a:solidFill>
              </a:rPr>
              <a:t>1</a:t>
            </a:r>
            <a:endParaRPr lang="en-ZA" dirty="0"/>
          </a:p>
        </p:txBody>
      </p:sp>
      <p:sp>
        <p:nvSpPr>
          <p:cNvPr id="17" name="Rectangle 16"/>
          <p:cNvSpPr/>
          <p:nvPr/>
        </p:nvSpPr>
        <p:spPr>
          <a:xfrm>
            <a:off x="3616990" y="252846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3300"/>
                </a:solidFill>
              </a:rPr>
              <a:t>V</a:t>
            </a:r>
            <a:r>
              <a:rPr lang="en-US" baseline="-25000" dirty="0" smtClean="0">
                <a:solidFill>
                  <a:srgbClr val="FF3300"/>
                </a:solidFill>
              </a:rPr>
              <a:t>2</a:t>
            </a:r>
            <a:endParaRPr lang="en-ZA" dirty="0"/>
          </a:p>
        </p:txBody>
      </p:sp>
      <p:sp>
        <p:nvSpPr>
          <p:cNvPr id="18" name="Oval 17"/>
          <p:cNvSpPr/>
          <p:nvPr/>
        </p:nvSpPr>
        <p:spPr bwMode="auto">
          <a:xfrm>
            <a:off x="1768710" y="2677639"/>
            <a:ext cx="108615" cy="108615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3508375" y="2678487"/>
            <a:ext cx="108615" cy="108615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12186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217" y="4481788"/>
            <a:ext cx="784654" cy="629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3622675" y="1308100"/>
            <a:ext cx="557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</a:rPr>
              <a:t>STEP 3:  </a:t>
            </a:r>
            <a:r>
              <a:rPr lang="en-ZA" sz="2400" dirty="0" smtClean="0"/>
              <a:t>Apply KCL to each node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468924" y="2367032"/>
            <a:ext cx="700030" cy="740693"/>
            <a:chOff x="1468924" y="2367032"/>
            <a:chExt cx="700030" cy="740693"/>
          </a:xfrm>
        </p:grpSpPr>
        <p:cxnSp>
          <p:nvCxnSpPr>
            <p:cNvPr id="3" name="Straight Arrow Connector 2"/>
            <p:cNvCxnSpPr/>
            <p:nvPr/>
          </p:nvCxnSpPr>
          <p:spPr bwMode="auto">
            <a:xfrm>
              <a:off x="1900313" y="2731946"/>
              <a:ext cx="268641" cy="0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 bwMode="auto">
            <a:xfrm>
              <a:off x="1819156" y="2839629"/>
              <a:ext cx="0" cy="268096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 bwMode="auto">
            <a:xfrm flipH="1">
              <a:off x="1468924" y="2732794"/>
              <a:ext cx="268641" cy="0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 bwMode="auto">
            <a:xfrm flipV="1">
              <a:off x="1820175" y="2367032"/>
              <a:ext cx="0" cy="268096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3199642" y="2376557"/>
            <a:ext cx="363040" cy="728887"/>
            <a:chOff x="3199642" y="2376557"/>
            <a:chExt cx="363040" cy="728887"/>
          </a:xfrm>
        </p:grpSpPr>
        <p:cxnSp>
          <p:nvCxnSpPr>
            <p:cNvPr id="32" name="Straight Arrow Connector 31"/>
            <p:cNvCxnSpPr/>
            <p:nvPr/>
          </p:nvCxnSpPr>
          <p:spPr bwMode="auto">
            <a:xfrm>
              <a:off x="3562682" y="2837348"/>
              <a:ext cx="0" cy="268096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 bwMode="auto">
            <a:xfrm flipH="1">
              <a:off x="3199642" y="2732712"/>
              <a:ext cx="268641" cy="0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 bwMode="auto">
            <a:xfrm flipV="1">
              <a:off x="3562682" y="2376557"/>
              <a:ext cx="0" cy="268096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457200" y="228600"/>
            <a:ext cx="8243887" cy="12192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3.2 Nodal Analysis</a:t>
            </a:r>
          </a:p>
          <a:p>
            <a:r>
              <a:rPr lang="en-US" sz="4000" dirty="0" smtClean="0">
                <a:solidFill>
                  <a:srgbClr val="FF0000"/>
                </a:solidFill>
              </a:rPr>
              <a:t>EXAMPLE 1</a:t>
            </a:r>
            <a:endParaRPr lang="en-US" sz="4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165600" y="1846289"/>
                <a:ext cx="4864286" cy="4789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romanLcPeriod"/>
                </a:pPr>
                <a:r>
                  <a:rPr lang="en-ZA" sz="2000" dirty="0" smtClean="0">
                    <a:solidFill>
                      <a:srgbClr val="00B050"/>
                    </a:solidFill>
                  </a:rPr>
                  <a:t>Assign a current to each branch at each critical node.</a:t>
                </a:r>
              </a:p>
              <a:p>
                <a:pPr marL="514350" indent="-514350">
                  <a:buFont typeface="+mj-lt"/>
                  <a:buAutoNum type="romanLcPeriod"/>
                </a:pPr>
                <a:r>
                  <a:rPr lang="en-ZA" sz="2000" dirty="0" smtClean="0">
                    <a:solidFill>
                      <a:srgbClr val="00B050"/>
                    </a:solidFill>
                  </a:rPr>
                  <a:t>All currents to point </a:t>
                </a:r>
                <a:r>
                  <a:rPr lang="en-ZA" sz="2000" b="1" u="sng" dirty="0" smtClean="0">
                    <a:solidFill>
                      <a:srgbClr val="FF0000"/>
                    </a:solidFill>
                  </a:rPr>
                  <a:t>OUT</a:t>
                </a:r>
                <a:r>
                  <a:rPr lang="en-ZA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ZA" sz="2000" dirty="0" smtClean="0">
                    <a:solidFill>
                      <a:srgbClr val="00B050"/>
                    </a:solidFill>
                  </a:rPr>
                  <a:t>of the node. </a:t>
                </a:r>
              </a:p>
              <a:p>
                <a:pPr marL="514350" indent="-514350">
                  <a:buFont typeface="+mj-lt"/>
                  <a:buAutoNum type="romanLcPeriod"/>
                </a:pPr>
                <a:endParaRPr lang="en-ZA" sz="2000" dirty="0" smtClean="0">
                  <a:solidFill>
                    <a:srgbClr val="00B050"/>
                  </a:solidFill>
                </a:endParaRPr>
              </a:p>
              <a:p>
                <a:pPr marL="514350" indent="-514350">
                  <a:buFont typeface="+mj-lt"/>
                  <a:buAutoNum type="romanLcPeriod"/>
                </a:pPr>
                <a:r>
                  <a:rPr lang="en-ZA" sz="2000" dirty="0" smtClean="0">
                    <a:solidFill>
                      <a:srgbClr val="00B050"/>
                    </a:solidFill>
                  </a:rPr>
                  <a:t>Remember: Current flows from </a:t>
                </a:r>
                <a:r>
                  <a:rPr lang="en-ZA" sz="2000" dirty="0" smtClean="0">
                    <a:solidFill>
                      <a:srgbClr val="FF0000"/>
                    </a:solidFill>
                  </a:rPr>
                  <a:t>HIGH to LOW </a:t>
                </a:r>
                <a:r>
                  <a:rPr lang="en-ZA" sz="2000" dirty="0" smtClean="0">
                    <a:solidFill>
                      <a:srgbClr val="00B050"/>
                    </a:solidFill>
                  </a:rPr>
                  <a:t>voltage </a:t>
                </a:r>
                <a:r>
                  <a:rPr lang="en-ZA" sz="2000" dirty="0" smtClean="0">
                    <a:solidFill>
                      <a:srgbClr val="00B050"/>
                    </a:solidFill>
                    <a:sym typeface="Symbol"/>
                  </a:rPr>
                  <a:t></a:t>
                </a:r>
                <a:endParaRPr lang="en-ZA" sz="2000" dirty="0" smtClean="0">
                  <a:solidFill>
                    <a:srgbClr val="00B050"/>
                  </a:solidFill>
                </a:endParaRPr>
              </a:p>
              <a:p>
                <a:pPr marL="514350" indent="-514350">
                  <a:buFont typeface="+mj-lt"/>
                  <a:buAutoNum type="romanLcPeriod"/>
                </a:pPr>
                <a:r>
                  <a:rPr lang="en-ZA" sz="2000" dirty="0" smtClean="0">
                    <a:solidFill>
                      <a:srgbClr val="00B050"/>
                    </a:solidFill>
                  </a:rPr>
                  <a:t>All branch currents to be written </a:t>
                </a:r>
                <a:r>
                  <a:rPr lang="en-ZA" sz="2000" dirty="0" err="1" smtClean="0">
                    <a:solidFill>
                      <a:srgbClr val="00B050"/>
                    </a:solidFill>
                  </a:rPr>
                  <a:t>ito</a:t>
                </a:r>
                <a:r>
                  <a:rPr lang="en-ZA" sz="2000" dirty="0" smtClean="0">
                    <a:solidFill>
                      <a:srgbClr val="00B050"/>
                    </a:solidFill>
                  </a:rPr>
                  <a:t> Ohm’s law:  </a:t>
                </a:r>
                <a14:m>
                  <m:oMath xmlns:m="http://schemas.openxmlformats.org/officeDocument/2006/math">
                    <m:r>
                      <a:rPr lang="en-ZA" sz="2800" b="0" i="1" smtClean="0">
                        <a:solidFill>
                          <a:srgbClr val="FF0000"/>
                        </a:solidFill>
                        <a:latin typeface="Cambria Math"/>
                      </a:rPr>
                      <m:t>𝑖</m:t>
                    </m:r>
                    <m:r>
                      <a:rPr lang="en-ZA" sz="28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ZA" sz="28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ZA" sz="28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8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8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𝐻𝑖𝑔h</m:t>
                            </m:r>
                          </m:sub>
                        </m:sSub>
                        <m:r>
                          <a:rPr lang="en-ZA" sz="28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ZA" sz="28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8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8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𝐿𝑜𝑤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ZA" sz="28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8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ZA" sz="28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𝐵𝑟𝑎𝑛𝑐h</m:t>
                            </m:r>
                          </m:sub>
                        </m:sSub>
                      </m:den>
                    </m:f>
                  </m:oMath>
                </a14:m>
                <a:endParaRPr lang="en-ZA" sz="2000" dirty="0" smtClean="0">
                  <a:solidFill>
                    <a:srgbClr val="00B050"/>
                  </a:solidFill>
                </a:endParaRPr>
              </a:p>
              <a:p>
                <a:pPr marL="514350" indent="-514350">
                  <a:buFont typeface="+mj-lt"/>
                  <a:buAutoNum type="romanLcPeriod"/>
                </a:pPr>
                <a:endParaRPr lang="en-ZA" sz="2000" dirty="0" smtClean="0">
                  <a:solidFill>
                    <a:srgbClr val="00B050"/>
                  </a:solidFill>
                </a:endParaRPr>
              </a:p>
              <a:p>
                <a:pPr marL="514350" indent="-514350">
                  <a:buFont typeface="+mj-lt"/>
                  <a:buAutoNum type="romanLcPeriod"/>
                </a:pPr>
                <a:r>
                  <a:rPr lang="en-ZA" sz="2000" dirty="0" smtClean="0">
                    <a:solidFill>
                      <a:srgbClr val="00B050"/>
                    </a:solidFill>
                  </a:rPr>
                  <a:t>Number of critical </a:t>
                </a:r>
                <a:r>
                  <a:rPr lang="en-ZA" sz="2000" dirty="0" smtClean="0">
                    <a:solidFill>
                      <a:srgbClr val="FF0000"/>
                    </a:solidFill>
                  </a:rPr>
                  <a:t>nodes</a:t>
                </a:r>
                <a:r>
                  <a:rPr lang="en-ZA" sz="2000" dirty="0" smtClean="0">
                    <a:solidFill>
                      <a:srgbClr val="00B050"/>
                    </a:solidFill>
                  </a:rPr>
                  <a:t> = number of </a:t>
                </a:r>
                <a:r>
                  <a:rPr lang="en-ZA" sz="2000" dirty="0" smtClean="0">
                    <a:solidFill>
                      <a:srgbClr val="FF0000"/>
                    </a:solidFill>
                  </a:rPr>
                  <a:t>equations</a:t>
                </a:r>
                <a:r>
                  <a:rPr lang="en-ZA" sz="2000" dirty="0" smtClean="0">
                    <a:solidFill>
                      <a:srgbClr val="00B050"/>
                    </a:solidFill>
                  </a:rPr>
                  <a:t>.</a:t>
                </a:r>
              </a:p>
              <a:p>
                <a:pPr marL="514350" indent="-514350">
                  <a:buFont typeface="+mj-lt"/>
                  <a:buAutoNum type="romanLcPeriod"/>
                </a:pPr>
                <a:r>
                  <a:rPr lang="en-ZA" sz="2000" dirty="0" smtClean="0">
                    <a:solidFill>
                      <a:srgbClr val="00B050"/>
                    </a:solidFill>
                  </a:rPr>
                  <a:t>Number of </a:t>
                </a:r>
                <a:r>
                  <a:rPr lang="en-ZA" sz="2000" dirty="0" smtClean="0">
                    <a:solidFill>
                      <a:srgbClr val="FF0000"/>
                    </a:solidFill>
                  </a:rPr>
                  <a:t>branches</a:t>
                </a:r>
                <a:r>
                  <a:rPr lang="en-ZA" sz="2000" dirty="0" smtClean="0">
                    <a:solidFill>
                      <a:srgbClr val="00B050"/>
                    </a:solidFill>
                  </a:rPr>
                  <a:t> = number of </a:t>
                </a:r>
                <a:r>
                  <a:rPr lang="en-ZA" sz="2000" dirty="0" smtClean="0">
                    <a:solidFill>
                      <a:srgbClr val="FF0000"/>
                    </a:solidFill>
                  </a:rPr>
                  <a:t>terms</a:t>
                </a:r>
                <a:r>
                  <a:rPr lang="en-ZA" sz="2000" dirty="0" smtClean="0">
                    <a:solidFill>
                      <a:srgbClr val="00B05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600" y="1846289"/>
                <a:ext cx="4864286" cy="4789645"/>
              </a:xfrm>
              <a:prstGeom prst="rect">
                <a:avLst/>
              </a:prstGeom>
              <a:blipFill rotWithShape="1">
                <a:blip r:embed="rId4"/>
                <a:stretch>
                  <a:fillRect l="-1253" t="-763" r="-2506" b="-1272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8480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C0CEE-FF74-4A70-BBF5-3E9C3E59A76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3" y="959558"/>
            <a:ext cx="4232362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1383473" y="2354716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00"/>
                </a:solidFill>
              </a:rPr>
              <a:t>V</a:t>
            </a:r>
            <a:r>
              <a:rPr lang="en-US" baseline="-25000" dirty="0">
                <a:solidFill>
                  <a:srgbClr val="FF3300"/>
                </a:solidFill>
              </a:rPr>
              <a:t>1</a:t>
            </a:r>
            <a:endParaRPr lang="en-ZA" dirty="0"/>
          </a:p>
        </p:txBody>
      </p:sp>
      <p:sp>
        <p:nvSpPr>
          <p:cNvPr id="17" name="Rectangle 16"/>
          <p:cNvSpPr/>
          <p:nvPr/>
        </p:nvSpPr>
        <p:spPr>
          <a:xfrm>
            <a:off x="3616990" y="252846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3300"/>
                </a:solidFill>
              </a:rPr>
              <a:t>V</a:t>
            </a:r>
            <a:r>
              <a:rPr lang="en-US" baseline="-25000" dirty="0" smtClean="0">
                <a:solidFill>
                  <a:srgbClr val="FF3300"/>
                </a:solidFill>
              </a:rPr>
              <a:t>2</a:t>
            </a:r>
            <a:endParaRPr lang="en-ZA" dirty="0"/>
          </a:p>
        </p:txBody>
      </p:sp>
      <p:sp>
        <p:nvSpPr>
          <p:cNvPr id="18" name="Oval 17"/>
          <p:cNvSpPr/>
          <p:nvPr/>
        </p:nvSpPr>
        <p:spPr bwMode="auto">
          <a:xfrm>
            <a:off x="1768710" y="2677639"/>
            <a:ext cx="108615" cy="108615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3508375" y="2678487"/>
            <a:ext cx="108615" cy="108615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12186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217" y="4481788"/>
            <a:ext cx="784654" cy="629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3622675" y="1282700"/>
            <a:ext cx="557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</a:rPr>
              <a:t>STEP 3:  </a:t>
            </a:r>
            <a:r>
              <a:rPr lang="en-ZA" sz="2400" dirty="0" smtClean="0"/>
              <a:t>Apply KCL to each node</a:t>
            </a:r>
          </a:p>
        </p:txBody>
      </p:sp>
      <p:grpSp>
        <p:nvGrpSpPr>
          <p:cNvPr id="121857" name="Group 121856"/>
          <p:cNvGrpSpPr/>
          <p:nvPr/>
        </p:nvGrpSpPr>
        <p:grpSpPr>
          <a:xfrm>
            <a:off x="1468924" y="2367032"/>
            <a:ext cx="700030" cy="740693"/>
            <a:chOff x="1468924" y="2367032"/>
            <a:chExt cx="700030" cy="740693"/>
          </a:xfrm>
        </p:grpSpPr>
        <p:cxnSp>
          <p:nvCxnSpPr>
            <p:cNvPr id="3" name="Straight Arrow Connector 2"/>
            <p:cNvCxnSpPr/>
            <p:nvPr/>
          </p:nvCxnSpPr>
          <p:spPr bwMode="auto">
            <a:xfrm>
              <a:off x="1900313" y="2731946"/>
              <a:ext cx="268641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 bwMode="auto">
            <a:xfrm>
              <a:off x="1819156" y="2839629"/>
              <a:ext cx="0" cy="268096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 bwMode="auto">
            <a:xfrm flipH="1">
              <a:off x="1468924" y="2732794"/>
              <a:ext cx="268641" cy="0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 bwMode="auto">
            <a:xfrm flipV="1">
              <a:off x="1820175" y="2367032"/>
              <a:ext cx="0" cy="268096"/>
            </a:xfrm>
            <a:prstGeom prst="straightConnector1">
              <a:avLst/>
            </a:prstGeom>
            <a:ln>
              <a:solidFill>
                <a:srgbClr val="7030A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1859" name="Group 121858"/>
          <p:cNvGrpSpPr/>
          <p:nvPr/>
        </p:nvGrpSpPr>
        <p:grpSpPr>
          <a:xfrm>
            <a:off x="3199642" y="2376557"/>
            <a:ext cx="363040" cy="728887"/>
            <a:chOff x="3199642" y="2376557"/>
            <a:chExt cx="363040" cy="728887"/>
          </a:xfrm>
        </p:grpSpPr>
        <p:cxnSp>
          <p:nvCxnSpPr>
            <p:cNvPr id="32" name="Straight Arrow Connector 31"/>
            <p:cNvCxnSpPr/>
            <p:nvPr/>
          </p:nvCxnSpPr>
          <p:spPr bwMode="auto">
            <a:xfrm>
              <a:off x="3562682" y="2837348"/>
              <a:ext cx="0" cy="268096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 bwMode="auto">
            <a:xfrm flipH="1">
              <a:off x="3199642" y="2732712"/>
              <a:ext cx="268641" cy="0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 bwMode="auto">
            <a:xfrm flipV="1">
              <a:off x="3562682" y="2376557"/>
              <a:ext cx="0" cy="268096"/>
            </a:xfrm>
            <a:prstGeom prst="straightConnector1">
              <a:avLst/>
            </a:prstGeom>
            <a:ln>
              <a:solidFill>
                <a:srgbClr val="7030A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457200" y="228600"/>
            <a:ext cx="8243887" cy="12192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3.2 Nodal Analysis</a:t>
            </a:r>
          </a:p>
          <a:p>
            <a:r>
              <a:rPr lang="en-US" sz="4000" dirty="0" smtClean="0">
                <a:solidFill>
                  <a:srgbClr val="FF0000"/>
                </a:solidFill>
              </a:rPr>
              <a:t>EXAMPLE 1</a:t>
            </a:r>
            <a:endParaRPr lang="en-US" sz="4000" dirty="0">
              <a:solidFill>
                <a:srgbClr val="FF0000"/>
              </a:solidFill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354875" y="5789055"/>
            <a:ext cx="7020181" cy="720838"/>
            <a:chOff x="354875" y="5789055"/>
            <a:chExt cx="7020181" cy="7208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3149732" y="5789055"/>
                  <a:ext cx="4225324" cy="7208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ZA" sz="200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0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ZA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−0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ZA" sz="200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ZA" sz="20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ZA" sz="2000" b="0" i="1" smtClean="0">
                            <a:latin typeface="Cambria Math"/>
                          </a:rPr>
                          <m:t>+ </m:t>
                        </m:r>
                        <m:f>
                          <m:fPr>
                            <m:ctrlPr>
                              <a:rPr lang="en-ZA" sz="20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0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ZA" sz="20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ZA" sz="20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0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ZA" sz="20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ZA" sz="20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ZA" sz="2000" b="0" i="1" smtClean="0">
                            <a:latin typeface="Cambria Math"/>
                          </a:rPr>
                          <m:t>+</m:t>
                        </m:r>
                        <m:d>
                          <m:dPr>
                            <m:ctrlPr>
                              <a:rPr lang="en-ZA" sz="2000" b="0" i="1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ZA" sz="20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ZA" sz="20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ZA" sz="2000" b="0" i="1" smtClean="0">
                            <a:latin typeface="Cambria Math"/>
                          </a:rPr>
                          <m:t>+</m:t>
                        </m:r>
                        <m:d>
                          <m:dPr>
                            <m:ctrlP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ZA" sz="20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ZA" sz="20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ZA" sz="20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ZA" sz="2000" b="0" i="1" smtClean="0">
                            <a:latin typeface="Cambria Math"/>
                          </a:rPr>
                          <m:t>=0</m:t>
                        </m:r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9732" y="5789055"/>
                  <a:ext cx="4225324" cy="720838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/>
            <p:cNvSpPr/>
            <p:nvPr/>
          </p:nvSpPr>
          <p:spPr>
            <a:xfrm>
              <a:off x="354875" y="5964808"/>
              <a:ext cx="26925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Node 1 (4 Branches):</a:t>
              </a:r>
              <a:endParaRPr lang="en-ZA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96765" y="4913294"/>
            <a:ext cx="6368545" cy="722442"/>
            <a:chOff x="296765" y="4913294"/>
            <a:chExt cx="6368545" cy="7224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3149732" y="4913294"/>
                  <a:ext cx="3515578" cy="7224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ZA" sz="200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0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ZA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−0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ZA" sz="200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ZA" sz="20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  <m:r>
                          <a:rPr lang="en-ZA" sz="2000" b="0" i="1" smtClean="0">
                            <a:latin typeface="Cambria Math"/>
                          </a:rPr>
                          <m:t>+ </m:t>
                        </m:r>
                        <m:f>
                          <m:fPr>
                            <m:ctrlP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ZA" sz="2000" b="0" i="1" smtClean="0">
                            <a:latin typeface="Cambria Math"/>
                          </a:rPr>
                          <m:t>+</m:t>
                        </m:r>
                        <m:d>
                          <m:dPr>
                            <m:ctrlPr>
                              <a:rPr lang="en-ZA" sz="2000" b="0" i="1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ZA" sz="20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b="0" i="1" smtClean="0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ZA" sz="20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ZA" sz="20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ZA" sz="2000" b="0" i="1" smtClean="0">
                            <a:latin typeface="Cambria Math"/>
                          </a:rPr>
                          <m:t>=0</m:t>
                        </m:r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9732" y="4913294"/>
                  <a:ext cx="3515578" cy="72244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Rectangle 26"/>
            <p:cNvSpPr/>
            <p:nvPr/>
          </p:nvSpPr>
          <p:spPr>
            <a:xfrm>
              <a:off x="296765" y="5089849"/>
              <a:ext cx="26925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Node 2 (3 Branches):</a:t>
              </a:r>
              <a:endParaRPr lang="en-ZA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503833" y="5193898"/>
            <a:ext cx="3481812" cy="730439"/>
            <a:chOff x="5526693" y="5193898"/>
            <a:chExt cx="3481812" cy="730439"/>
          </a:xfrm>
        </p:grpSpPr>
        <p:sp>
          <p:nvSpPr>
            <p:cNvPr id="8" name="Oval 7"/>
            <p:cNvSpPr/>
            <p:nvPr/>
          </p:nvSpPr>
          <p:spPr bwMode="auto">
            <a:xfrm>
              <a:off x="5526693" y="5193898"/>
              <a:ext cx="224441" cy="194669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715220" y="5278006"/>
              <a:ext cx="2293285" cy="64633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ZA" sz="1200" dirty="0" smtClean="0">
                  <a:solidFill>
                    <a:srgbClr val="00B050"/>
                  </a:solidFill>
                </a:rPr>
                <a:t>Negative because outgoing branch current is opposite to the source’s current</a:t>
              </a:r>
              <a:endParaRPr lang="en-ZA" sz="1200" dirty="0">
                <a:solidFill>
                  <a:srgbClr val="00B050"/>
                </a:solidFill>
              </a:endParaRPr>
            </a:p>
          </p:txBody>
        </p:sp>
        <p:cxnSp>
          <p:nvCxnSpPr>
            <p:cNvPr id="11" name="Straight Arrow Connector 10"/>
            <p:cNvCxnSpPr>
              <a:stCxn id="8" idx="4"/>
              <a:endCxn id="33" idx="1"/>
            </p:cNvCxnSpPr>
            <p:nvPr/>
          </p:nvCxnSpPr>
          <p:spPr bwMode="auto">
            <a:xfrm>
              <a:off x="5638914" y="5388567"/>
              <a:ext cx="1076306" cy="212605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/>
          <p:nvPr/>
        </p:nvGrpSpPr>
        <p:grpSpPr>
          <a:xfrm>
            <a:off x="6229664" y="5601172"/>
            <a:ext cx="462696" cy="653256"/>
            <a:chOff x="6229664" y="5601172"/>
            <a:chExt cx="462696" cy="653256"/>
          </a:xfrm>
        </p:grpSpPr>
        <p:sp>
          <p:nvSpPr>
            <p:cNvPr id="29" name="Oval 28"/>
            <p:cNvSpPr/>
            <p:nvPr/>
          </p:nvSpPr>
          <p:spPr bwMode="auto">
            <a:xfrm>
              <a:off x="6229664" y="6059759"/>
              <a:ext cx="224441" cy="194669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cxnSp>
          <p:nvCxnSpPr>
            <p:cNvPr id="38" name="Straight Arrow Connector 37"/>
            <p:cNvCxnSpPr>
              <a:stCxn id="29" idx="0"/>
              <a:endCxn id="33" idx="1"/>
            </p:cNvCxnSpPr>
            <p:nvPr/>
          </p:nvCxnSpPr>
          <p:spPr bwMode="auto">
            <a:xfrm flipV="1">
              <a:off x="6341885" y="5601172"/>
              <a:ext cx="350475" cy="458587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1870" name="Rectangle 121869"/>
              <p:cNvSpPr/>
              <p:nvPr/>
            </p:nvSpPr>
            <p:spPr>
              <a:xfrm>
                <a:off x="3895516" y="1873494"/>
                <a:ext cx="1908856" cy="665888"/>
              </a:xfrm>
              <a:prstGeom prst="rect">
                <a:avLst/>
              </a:prstGeom>
              <a:ln>
                <a:solidFill>
                  <a:srgbClr val="00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𝑖</m:t>
                      </m:r>
                      <m:r>
                        <a:rPr lang="en-ZA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𝐻𝑖𝑔h</m:t>
                              </m:r>
                            </m:sub>
                          </m:s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𝐿𝑜𝑤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𝐵𝑟𝑎𝑛𝑐h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21870" name="Rectangle 1218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516" y="1873494"/>
                <a:ext cx="1908856" cy="66588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6206505" y="1880584"/>
                <a:ext cx="2747932" cy="665567"/>
              </a:xfrm>
              <a:prstGeom prst="rect">
                <a:avLst/>
              </a:prstGeom>
              <a:ln>
                <a:solidFill>
                  <a:srgbClr val="00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𝑏𝑟𝑎𝑛𝑐h</m:t>
                          </m:r>
                        </m:sub>
                      </m:sSub>
                      <m:r>
                        <a:rPr lang="en-ZA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ZA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a:rPr lang="en-ZA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𝑓𝑟𝑜𝑚</m:t>
                              </m:r>
                            </m:sub>
                          </m:s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ZA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a:rPr lang="en-ZA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𝑟𝑎𝑛𝑐h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505" y="1880584"/>
                <a:ext cx="2747932" cy="66556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Oval 54"/>
          <p:cNvSpPr/>
          <p:nvPr/>
        </p:nvSpPr>
        <p:spPr bwMode="auto">
          <a:xfrm>
            <a:off x="3405988" y="2783687"/>
            <a:ext cx="313387" cy="422993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1871" name="Rectangle 121870"/>
          <p:cNvSpPr/>
          <p:nvPr/>
        </p:nvSpPr>
        <p:spPr>
          <a:xfrm>
            <a:off x="4285135" y="2732794"/>
            <a:ext cx="242887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chemeClr val="accent6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Flows from?  	</a:t>
            </a:r>
            <a:r>
              <a:rPr lang="en-ZA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r>
              <a:rPr lang="en-ZA" dirty="0" smtClean="0">
                <a:solidFill>
                  <a:schemeClr val="accent6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Flows to?		</a:t>
            </a:r>
            <a:r>
              <a:rPr lang="en-ZA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Gnd</a:t>
            </a:r>
            <a:endParaRPr lang="en-ZA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ZA" dirty="0" smtClean="0">
                <a:solidFill>
                  <a:schemeClr val="accent6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Flows through?	</a:t>
            </a:r>
            <a:r>
              <a:rPr lang="en-ZA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ZA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21879" name="Group 121878"/>
          <p:cNvGrpSpPr/>
          <p:nvPr/>
        </p:nvGrpSpPr>
        <p:grpSpPr>
          <a:xfrm>
            <a:off x="3673482" y="3144733"/>
            <a:ext cx="3314345" cy="1199170"/>
            <a:chOff x="3673482" y="3144733"/>
            <a:chExt cx="3314345" cy="11991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/>
                <p:cNvSpPr/>
                <p:nvPr/>
              </p:nvSpPr>
              <p:spPr>
                <a:xfrm>
                  <a:off x="5638913" y="3687698"/>
                  <a:ext cx="1348914" cy="656205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ZA" i="1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ZA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ZA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0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ZA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ZA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ZA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913" y="3687698"/>
                  <a:ext cx="1348914" cy="656205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877" name="Curved Connector 121876"/>
            <p:cNvCxnSpPr>
              <a:stCxn id="55" idx="5"/>
              <a:endCxn id="57" idx="1"/>
            </p:cNvCxnSpPr>
            <p:nvPr/>
          </p:nvCxnSpPr>
          <p:spPr bwMode="auto">
            <a:xfrm rot="16200000" flipH="1">
              <a:off x="4220664" y="2597551"/>
              <a:ext cx="871067" cy="1965432"/>
            </a:xfrm>
            <a:prstGeom prst="curvedConnector2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21885" name="Group 121884"/>
          <p:cNvGrpSpPr/>
          <p:nvPr/>
        </p:nvGrpSpPr>
        <p:grpSpPr>
          <a:xfrm>
            <a:off x="3105148" y="2584405"/>
            <a:ext cx="5721842" cy="1759498"/>
            <a:chOff x="3105148" y="2584405"/>
            <a:chExt cx="5721842" cy="1759498"/>
          </a:xfrm>
        </p:grpSpPr>
        <p:grpSp>
          <p:nvGrpSpPr>
            <p:cNvPr id="121874" name="Group 121873"/>
            <p:cNvGrpSpPr/>
            <p:nvPr/>
          </p:nvGrpSpPr>
          <p:grpSpPr>
            <a:xfrm>
              <a:off x="3105148" y="2584405"/>
              <a:ext cx="5721842" cy="1759498"/>
              <a:chOff x="3105148" y="2584405"/>
              <a:chExt cx="5721842" cy="1759498"/>
            </a:xfrm>
          </p:grpSpPr>
          <p:grpSp>
            <p:nvGrpSpPr>
              <p:cNvPr id="121873" name="Group 121872"/>
              <p:cNvGrpSpPr/>
              <p:nvPr/>
            </p:nvGrpSpPr>
            <p:grpSpPr>
              <a:xfrm>
                <a:off x="7478076" y="2764368"/>
                <a:ext cx="1348914" cy="1579535"/>
                <a:chOff x="7478076" y="2764368"/>
                <a:chExt cx="1348914" cy="157953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Rectangle 58"/>
                    <p:cNvSpPr/>
                    <p:nvPr/>
                  </p:nvSpPr>
                  <p:spPr>
                    <a:xfrm>
                      <a:off x="7478076" y="3687698"/>
                      <a:ext cx="1348914" cy="656205"/>
                    </a:xfrm>
                    <a:prstGeom prst="rect">
                      <a:avLst/>
                    </a:prstGeom>
                    <a:ln>
                      <a:solidFill>
                        <a:srgbClr val="000000"/>
                      </a:solidFill>
                    </a:ln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ZA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ZA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ZA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ZA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ZA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ZA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ZA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oMath>
                        </m:oMathPara>
                      </a14:m>
                      <a:endParaRPr lang="en-ZA" dirty="0">
                        <a:solidFill>
                          <a:srgbClr val="00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9" name="Rectangle 5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78076" y="3687698"/>
                      <a:ext cx="1348914" cy="656205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/>
                      </a:stretch>
                    </a:blipFill>
                    <a:ln>
                      <a:solidFill>
                        <a:srgbClr val="000000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Z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0" name="Rectangle 59"/>
                <p:cNvSpPr/>
                <p:nvPr/>
              </p:nvSpPr>
              <p:spPr>
                <a:xfrm>
                  <a:off x="7987271" y="2764368"/>
                  <a:ext cx="460382" cy="9233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ZA" i="1" dirty="0" smtClean="0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rPr>
                    <a:t>V</a:t>
                  </a:r>
                  <a:r>
                    <a:rPr lang="en-ZA" i="1" baseline="-25000" dirty="0" smtClean="0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en-ZA" i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  <a:p>
                  <a:r>
                    <a:rPr lang="en-ZA" i="1" dirty="0" smtClean="0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rPr>
                    <a:t>V</a:t>
                  </a:r>
                  <a:r>
                    <a:rPr lang="en-ZA" i="1" baseline="-25000" dirty="0" smtClean="0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rPr>
                    <a:t>1</a:t>
                  </a:r>
                  <a:r>
                    <a:rPr lang="en-ZA" dirty="0" smtClean="0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</a:p>
                <a:p>
                  <a:r>
                    <a:rPr lang="en-ZA" i="1" dirty="0" smtClean="0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rPr>
                    <a:t>R</a:t>
                  </a:r>
                  <a:r>
                    <a:rPr lang="en-ZA" i="1" baseline="-25000" dirty="0" smtClean="0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endParaRPr lang="en-ZA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62" name="Oval 61"/>
              <p:cNvSpPr/>
              <p:nvPr/>
            </p:nvSpPr>
            <p:spPr bwMode="auto">
              <a:xfrm rot="5400000">
                <a:off x="3159951" y="2529602"/>
                <a:ext cx="313387" cy="422993"/>
              </a:xfrm>
              <a:prstGeom prst="ellips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</p:grpSp>
        <p:cxnSp>
          <p:nvCxnSpPr>
            <p:cNvPr id="69" name="Curved Connector 68"/>
            <p:cNvCxnSpPr>
              <a:stCxn id="62" idx="6"/>
              <a:endCxn id="59" idx="2"/>
            </p:cNvCxnSpPr>
            <p:nvPr/>
          </p:nvCxnSpPr>
          <p:spPr bwMode="auto">
            <a:xfrm rot="16200000" flipH="1">
              <a:off x="5011533" y="1202902"/>
              <a:ext cx="1446111" cy="4835889"/>
            </a:xfrm>
            <a:prstGeom prst="curvedConnector3">
              <a:avLst>
                <a:gd name="adj1" fmla="val 115808"/>
              </a:avLst>
            </a:prstGeom>
            <a:ln>
              <a:solidFill>
                <a:srgbClr val="00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755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1218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Picture 3" descr="ale29559_030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5"/>
          <a:stretch>
            <a:fillRect/>
          </a:stretch>
        </p:blipFill>
        <p:spPr bwMode="auto">
          <a:xfrm>
            <a:off x="150813" y="1106488"/>
            <a:ext cx="4416806" cy="2246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165100"/>
            <a:ext cx="8243887" cy="12192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3.2 Nodal Analysis</a:t>
            </a:r>
          </a:p>
          <a:p>
            <a:r>
              <a:rPr lang="en-US" sz="4000" dirty="0" smtClean="0">
                <a:solidFill>
                  <a:srgbClr val="FF0000"/>
                </a:solidFill>
              </a:rPr>
              <a:t>EXAMPLE 2</a:t>
            </a:r>
            <a:endParaRPr lang="en-US" sz="4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680424" y="1256231"/>
                <a:ext cx="323697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mbria Math"/>
                        </a:rPr>
                        <m:t>−1+</m:t>
                      </m:r>
                      <m:f>
                        <m:fPr>
                          <m:ctrlPr>
                            <a:rPr lang="en-ZA" sz="2000" i="1" smtClean="0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−0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mbria Math"/>
                        </a:rPr>
                        <m:t>+ </m:t>
                      </m:r>
                      <m:f>
                        <m:fPr>
                          <m:ctrlPr>
                            <a:rPr lang="en-ZA" sz="2000" b="0" i="1" smtClean="0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b="0" i="1" smtClean="0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000" b="0" i="1" smtClean="0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chemeClr val="accent5">
                      <a:lumMod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424" y="1256231"/>
                <a:ext cx="3236975" cy="67056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567619" y="1419549"/>
            <a:ext cx="1189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Node 1:</a:t>
            </a:r>
            <a:endParaRPr lang="en-ZA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55623" y="1926799"/>
            <a:ext cx="468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x6</a:t>
            </a:r>
            <a:endParaRPr lang="en-ZA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043648" y="1910498"/>
                <a:ext cx="287450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mbria Math"/>
                        </a:rPr>
                        <m:t>−6+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chemeClr val="accent5">
                      <a:lumMod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648" y="1910498"/>
                <a:ext cx="2874505" cy="400110"/>
              </a:xfrm>
              <a:prstGeom prst="rect">
                <a:avLst/>
              </a:prstGeom>
              <a:blipFill rotWithShape="1"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579143" y="2511575"/>
            <a:ext cx="1277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Write </a:t>
            </a:r>
            <a:r>
              <a:rPr lang="en-ZA" dirty="0" err="1" smtClean="0">
                <a:solidFill>
                  <a:srgbClr val="000000"/>
                </a:solidFill>
              </a:rPr>
              <a:t>ito</a:t>
            </a:r>
            <a:r>
              <a:rPr lang="en-ZA" dirty="0">
                <a:solidFill>
                  <a:srgbClr val="000000"/>
                </a:solidFill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903948" y="2480797"/>
                <a:ext cx="25122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ZA" sz="2400" b="0" i="1" baseline="-2500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ZA" sz="2400" b="0" i="1" baseline="-25000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ZA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948" y="2480797"/>
                <a:ext cx="2512291" cy="461665"/>
              </a:xfrm>
              <a:prstGeom prst="rect">
                <a:avLst/>
              </a:prstGeom>
              <a:blipFill rotWithShape="1">
                <a:blip r:embed="rId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/>
          <p:cNvGrpSpPr/>
          <p:nvPr/>
        </p:nvGrpSpPr>
        <p:grpSpPr>
          <a:xfrm>
            <a:off x="5903948" y="2936004"/>
            <a:ext cx="3013451" cy="478233"/>
            <a:chOff x="5903948" y="2936004"/>
            <a:chExt cx="3013451" cy="478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5903948" y="2936004"/>
                  <a:ext cx="255101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4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(−1)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=6</m:t>
                        </m:r>
                      </m:oMath>
                    </m:oMathPara>
                  </a14:m>
                  <a:endParaRPr lang="en-ZA" sz="24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3948" y="2936004"/>
                  <a:ext cx="2551019" cy="461665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21333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/>
            <p:cNvSpPr/>
            <p:nvPr/>
          </p:nvSpPr>
          <p:spPr bwMode="auto">
            <a:xfrm>
              <a:off x="8532386" y="3029487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1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4691009" y="4103441"/>
            <a:ext cx="1189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Node 2:</a:t>
            </a:r>
            <a:endParaRPr lang="en-ZA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930515" y="3952823"/>
                <a:ext cx="2994474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000" i="1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 smtClean="0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chemeClr val="accent5">
                                      <a:lumMod val="2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−0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mbria Math"/>
                        </a:rPr>
                        <m:t>+4=0</m:t>
                      </m:r>
                    </m:oMath>
                  </m:oMathPara>
                </a14:m>
                <a:endParaRPr lang="en-ZA" sz="2000" dirty="0">
                  <a:solidFill>
                    <a:schemeClr val="accent5">
                      <a:lumMod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515" y="3952823"/>
                <a:ext cx="2994474" cy="670568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4716459" y="4628889"/>
            <a:ext cx="615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x42</a:t>
            </a:r>
            <a:endParaRPr lang="en-ZA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748883" y="4587899"/>
                <a:ext cx="32587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7</m:t>
                          </m:r>
                          <m: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000" i="1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7</m:t>
                          </m:r>
                          <m: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000" i="1" smtClean="0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6</m:t>
                          </m:r>
                          <m: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chemeClr val="accent5">
                                  <a:lumMod val="25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mbria Math"/>
                        </a:rPr>
                        <m:t>+168=0</m:t>
                      </m:r>
                    </m:oMath>
                  </m:oMathPara>
                </a14:m>
                <a:endParaRPr lang="en-ZA" sz="2000" dirty="0">
                  <a:solidFill>
                    <a:schemeClr val="accent5">
                      <a:lumMod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8883" y="4587899"/>
                <a:ext cx="3258777" cy="400110"/>
              </a:xfrm>
              <a:prstGeom prst="rect">
                <a:avLst/>
              </a:prstGeom>
              <a:blipFill rotWithShape="1">
                <a:blip r:embed="rId8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/>
          <p:cNvSpPr/>
          <p:nvPr/>
        </p:nvSpPr>
        <p:spPr bwMode="auto">
          <a:xfrm>
            <a:off x="8577862" y="5517679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160952" y="3534935"/>
            <a:ext cx="4418191" cy="1453074"/>
            <a:chOff x="149428" y="3435769"/>
            <a:chExt cx="4418191" cy="1453074"/>
          </a:xfrm>
          <a:solidFill>
            <a:schemeClr val="bg2"/>
          </a:solidFill>
        </p:grpSpPr>
        <p:sp>
          <p:nvSpPr>
            <p:cNvPr id="27" name="Rounded Rectangle 26"/>
            <p:cNvSpPr/>
            <p:nvPr/>
          </p:nvSpPr>
          <p:spPr bwMode="auto">
            <a:xfrm>
              <a:off x="149428" y="3435769"/>
              <a:ext cx="4418191" cy="1453074"/>
            </a:xfrm>
            <a:prstGeom prst="round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700267" y="3641776"/>
                  <a:ext cx="2618345" cy="461665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4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(−1)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=</m:t>
                        </m:r>
                        <m:r>
                          <a:rPr lang="en-ZA" sz="2400" b="0" i="1" smtClean="0">
                            <a:solidFill>
                              <a:srgbClr val="003300"/>
                            </a:solidFill>
                            <a:latin typeface="Cambria Math"/>
                          </a:rPr>
                          <m:t>6</m:t>
                        </m:r>
                      </m:oMath>
                    </m:oMathPara>
                  </a14:m>
                  <a:endParaRPr lang="en-ZA" sz="24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267" y="3641776"/>
                  <a:ext cx="2618345" cy="46166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21333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Oval 23"/>
            <p:cNvSpPr/>
            <p:nvPr/>
          </p:nvSpPr>
          <p:spPr bwMode="auto">
            <a:xfrm>
              <a:off x="3907535" y="3735259"/>
              <a:ext cx="385013" cy="384750"/>
            </a:xfrm>
            <a:prstGeom prst="ellips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200228" y="4140340"/>
                  <a:ext cx="3691780" cy="461665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(−</m:t>
                            </m:r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7</m:t>
                            </m:r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)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+</m:t>
                        </m:r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     </m:t>
                            </m:r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13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=</m:t>
                        </m:r>
                        <m:r>
                          <a:rPr lang="en-ZA" sz="2400" b="0" i="1" smtClean="0">
                            <a:solidFill>
                              <a:srgbClr val="003300"/>
                            </a:solidFill>
                            <a:latin typeface="Cambria Math"/>
                          </a:rPr>
                          <m:t>−168</m:t>
                        </m:r>
                      </m:oMath>
                    </m:oMathPara>
                  </a14:m>
                  <a:endParaRPr lang="en-ZA" sz="2400" dirty="0">
                    <a:solidFill>
                      <a:srgbClr val="0033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228" y="4140340"/>
                  <a:ext cx="3691780" cy="461665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b="-19737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Oval 25"/>
            <p:cNvSpPr/>
            <p:nvPr/>
          </p:nvSpPr>
          <p:spPr bwMode="auto">
            <a:xfrm>
              <a:off x="3918176" y="4238641"/>
              <a:ext cx="385013" cy="384750"/>
            </a:xfrm>
            <a:prstGeom prst="ellipse">
              <a:avLst/>
            </a:prstGeom>
            <a:grp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2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087039" y="1136134"/>
            <a:ext cx="2134457" cy="424766"/>
            <a:chOff x="1087039" y="1136134"/>
            <a:chExt cx="2134457" cy="424766"/>
          </a:xfrm>
        </p:grpSpPr>
        <p:sp>
          <p:nvSpPr>
            <p:cNvPr id="28" name="Rectangle 27"/>
            <p:cNvSpPr/>
            <p:nvPr/>
          </p:nvSpPr>
          <p:spPr>
            <a:xfrm>
              <a:off x="1087039" y="1136134"/>
              <a:ext cx="4395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3300"/>
                  </a:solidFill>
                </a:rPr>
                <a:t>V</a:t>
              </a:r>
              <a:r>
                <a:rPr lang="en-US" baseline="-25000" dirty="0">
                  <a:solidFill>
                    <a:srgbClr val="FF3300"/>
                  </a:solidFill>
                </a:rPr>
                <a:t>1</a:t>
              </a:r>
              <a:endParaRPr lang="en-ZA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27644" y="1139587"/>
              <a:ext cx="4395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3300"/>
                  </a:solidFill>
                </a:rPr>
                <a:t>V</a:t>
              </a:r>
              <a:r>
                <a:rPr lang="en-US" baseline="-25000" dirty="0" smtClean="0">
                  <a:solidFill>
                    <a:srgbClr val="FF3300"/>
                  </a:solidFill>
                </a:rPr>
                <a:t>2</a:t>
              </a:r>
              <a:endParaRPr lang="en-ZA" dirty="0"/>
            </a:p>
          </p:txBody>
        </p:sp>
        <p:sp>
          <p:nvSpPr>
            <p:cNvPr id="30" name="Oval 29"/>
            <p:cNvSpPr/>
            <p:nvPr/>
          </p:nvSpPr>
          <p:spPr bwMode="auto">
            <a:xfrm>
              <a:off x="1487516" y="1451437"/>
              <a:ext cx="108615" cy="10861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1" name="Oval 30"/>
            <p:cNvSpPr/>
            <p:nvPr/>
          </p:nvSpPr>
          <p:spPr bwMode="auto">
            <a:xfrm>
              <a:off x="3112881" y="1452285"/>
              <a:ext cx="108615" cy="10861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1181648" y="1511645"/>
            <a:ext cx="700030" cy="375779"/>
            <a:chOff x="1468924" y="2731946"/>
            <a:chExt cx="700030" cy="375779"/>
          </a:xfrm>
        </p:grpSpPr>
        <p:cxnSp>
          <p:nvCxnSpPr>
            <p:cNvPr id="33" name="Straight Arrow Connector 32"/>
            <p:cNvCxnSpPr/>
            <p:nvPr/>
          </p:nvCxnSpPr>
          <p:spPr bwMode="auto">
            <a:xfrm>
              <a:off x="1900313" y="2731946"/>
              <a:ext cx="268641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 bwMode="auto">
            <a:xfrm>
              <a:off x="1819156" y="2839629"/>
              <a:ext cx="0" cy="268096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 bwMode="auto">
            <a:xfrm flipH="1">
              <a:off x="1468924" y="2732794"/>
              <a:ext cx="268641" cy="0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2801933" y="1504025"/>
            <a:ext cx="700030" cy="375779"/>
            <a:chOff x="1468924" y="2731946"/>
            <a:chExt cx="700030" cy="375779"/>
          </a:xfrm>
        </p:grpSpPr>
        <p:cxnSp>
          <p:nvCxnSpPr>
            <p:cNvPr id="38" name="Straight Arrow Connector 37"/>
            <p:cNvCxnSpPr/>
            <p:nvPr/>
          </p:nvCxnSpPr>
          <p:spPr bwMode="auto">
            <a:xfrm>
              <a:off x="1900313" y="2731946"/>
              <a:ext cx="268641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 bwMode="auto">
            <a:xfrm>
              <a:off x="1819156" y="2839629"/>
              <a:ext cx="0" cy="268096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 bwMode="auto">
            <a:xfrm flipH="1">
              <a:off x="1468924" y="2732794"/>
              <a:ext cx="268641" cy="0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4731543" y="5030406"/>
            <a:ext cx="3900318" cy="878598"/>
            <a:chOff x="4731543" y="5030406"/>
            <a:chExt cx="3900318" cy="8785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259851" y="5447339"/>
                  <a:ext cx="323864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(−</m:t>
                            </m:r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7</m:t>
                            </m:r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)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13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=−168</m:t>
                        </m:r>
                      </m:oMath>
                    </m:oMathPara>
                  </a14:m>
                  <a:endParaRPr lang="en-ZA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9851" y="5447339"/>
                  <a:ext cx="3238644" cy="461665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b="-21333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Rectangle 42"/>
            <p:cNvSpPr/>
            <p:nvPr/>
          </p:nvSpPr>
          <p:spPr>
            <a:xfrm>
              <a:off x="4731543" y="5061184"/>
              <a:ext cx="12775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Write </a:t>
              </a:r>
              <a:r>
                <a:rPr lang="en-ZA" dirty="0" err="1" smtClean="0">
                  <a:solidFill>
                    <a:srgbClr val="000000"/>
                  </a:solidFill>
                </a:rPr>
                <a:t>ito</a:t>
              </a:r>
              <a:r>
                <a:rPr lang="en-ZA" dirty="0">
                  <a:solidFill>
                    <a:srgbClr val="000000"/>
                  </a:solidFill>
                </a:rPr>
                <a:t>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6056348" y="5030406"/>
                  <a:ext cx="257551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𝑎</m:t>
                            </m:r>
                            <m:r>
                              <a:rPr lang="en-ZA" sz="2400" b="0" i="1" baseline="-2500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𝑏</m:t>
                            </m:r>
                            <m:r>
                              <a:rPr lang="en-ZA" sz="2400" b="0" i="1" baseline="-25000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ZA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6348" y="5030406"/>
                  <a:ext cx="2575513" cy="461665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" name="TextBox 45"/>
          <p:cNvSpPr txBox="1"/>
          <p:nvPr/>
        </p:nvSpPr>
        <p:spPr>
          <a:xfrm>
            <a:off x="1334208" y="5092948"/>
            <a:ext cx="1205792" cy="1569660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ZA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4</a:t>
            </a:r>
          </a:p>
          <a:p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= -1</a:t>
            </a:r>
          </a:p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ZA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-7</a:t>
            </a:r>
          </a:p>
          <a:p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= 13</a:t>
            </a:r>
            <a:endParaRPr lang="en-ZA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499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7" grpId="0"/>
      <p:bldP spid="18" grpId="0"/>
      <p:bldP spid="20" grpId="0"/>
      <p:bldP spid="21" grpId="0"/>
      <p:bldP spid="22" grpId="0" animBg="1"/>
      <p:bldP spid="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" name="Picture 3" descr="ale29559_030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5"/>
          <a:stretch>
            <a:fillRect/>
          </a:stretch>
        </p:blipFill>
        <p:spPr bwMode="auto">
          <a:xfrm>
            <a:off x="150813" y="1106488"/>
            <a:ext cx="4416806" cy="2246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165100"/>
            <a:ext cx="8243887" cy="12192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3.2 Nodal Analysis</a:t>
            </a:r>
          </a:p>
          <a:p>
            <a:r>
              <a:rPr lang="en-US" sz="4000" dirty="0" smtClean="0">
                <a:solidFill>
                  <a:srgbClr val="FF0000"/>
                </a:solidFill>
              </a:rPr>
              <a:t>Ex. 2 – Method 1: Elimination</a:t>
            </a:r>
            <a:endParaRPr lang="en-US" sz="4000" dirty="0">
              <a:solidFill>
                <a:srgbClr val="FF000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579091" y="1439435"/>
            <a:ext cx="4418191" cy="1453074"/>
            <a:chOff x="149428" y="3435769"/>
            <a:chExt cx="4418191" cy="1453074"/>
          </a:xfrm>
        </p:grpSpPr>
        <p:sp>
          <p:nvSpPr>
            <p:cNvPr id="6" name="Rounded Rectangle 5"/>
            <p:cNvSpPr/>
            <p:nvPr/>
          </p:nvSpPr>
          <p:spPr bwMode="auto">
            <a:xfrm>
              <a:off x="149428" y="3435769"/>
              <a:ext cx="4418191" cy="1453074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636767" y="3641776"/>
                  <a:ext cx="261834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4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(−1)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=</m:t>
                        </m:r>
                        <m:r>
                          <a:rPr lang="en-ZA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</m:oMath>
                    </m:oMathPara>
                  </a14:m>
                  <a:endParaRPr lang="en-ZA" sz="24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767" y="3641776"/>
                  <a:ext cx="2618345" cy="461665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9737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Oval 7"/>
            <p:cNvSpPr/>
            <p:nvPr/>
          </p:nvSpPr>
          <p:spPr bwMode="auto">
            <a:xfrm>
              <a:off x="3907535" y="3735259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149428" y="4140340"/>
                  <a:ext cx="369178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(−</m:t>
                            </m:r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7</m:t>
                            </m:r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)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+</m:t>
                        </m:r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     </m:t>
                            </m:r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13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=</m:t>
                        </m:r>
                        <m:r>
                          <a:rPr lang="en-ZA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−168</m:t>
                        </m:r>
                      </m:oMath>
                    </m:oMathPara>
                  </a14:m>
                  <a:endParaRPr lang="en-ZA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428" y="4140340"/>
                  <a:ext cx="3691780" cy="46166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21333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/>
            <p:cNvSpPr/>
            <p:nvPr/>
          </p:nvSpPr>
          <p:spPr bwMode="auto">
            <a:xfrm>
              <a:off x="3918176" y="4238641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2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1087039" y="1136134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00"/>
                </a:solidFill>
              </a:rPr>
              <a:t>V</a:t>
            </a:r>
            <a:r>
              <a:rPr lang="en-US" baseline="-25000" dirty="0">
                <a:solidFill>
                  <a:srgbClr val="FF3300"/>
                </a:solidFill>
              </a:rPr>
              <a:t>1</a:t>
            </a:r>
            <a:endParaRPr lang="en-ZA" dirty="0"/>
          </a:p>
        </p:txBody>
      </p:sp>
      <p:sp>
        <p:nvSpPr>
          <p:cNvPr id="12" name="Rectangle 11"/>
          <p:cNvSpPr/>
          <p:nvPr/>
        </p:nvSpPr>
        <p:spPr>
          <a:xfrm>
            <a:off x="2727644" y="1139587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3300"/>
                </a:solidFill>
              </a:rPr>
              <a:t>V</a:t>
            </a:r>
            <a:r>
              <a:rPr lang="en-US" baseline="-25000" dirty="0" smtClean="0">
                <a:solidFill>
                  <a:srgbClr val="FF3300"/>
                </a:solidFill>
              </a:rPr>
              <a:t>2</a:t>
            </a:r>
            <a:endParaRPr lang="en-ZA" dirty="0"/>
          </a:p>
        </p:txBody>
      </p:sp>
      <p:grpSp>
        <p:nvGrpSpPr>
          <p:cNvPr id="36" name="Group 35"/>
          <p:cNvGrpSpPr/>
          <p:nvPr/>
        </p:nvGrpSpPr>
        <p:grpSpPr>
          <a:xfrm>
            <a:off x="2055813" y="3436141"/>
            <a:ext cx="4173991" cy="461665"/>
            <a:chOff x="150813" y="3436141"/>
            <a:chExt cx="4173991" cy="461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1688413" y="3436141"/>
                  <a:ext cx="204818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=</m:t>
                        </m:r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4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ZA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</m:oMath>
                    </m:oMathPara>
                  </a14:m>
                  <a:endParaRPr lang="en-ZA" sz="24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8413" y="3436141"/>
                  <a:ext cx="2048189" cy="461665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Rectangle 13"/>
            <p:cNvSpPr/>
            <p:nvPr/>
          </p:nvSpPr>
          <p:spPr>
            <a:xfrm>
              <a:off x="150813" y="3482308"/>
              <a:ext cx="15376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From        :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1018791" y="3466890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1</a:t>
              </a: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3939791" y="3512846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3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055813" y="3979232"/>
            <a:ext cx="5715855" cy="461665"/>
            <a:chOff x="150813" y="3979232"/>
            <a:chExt cx="5715855" cy="461665"/>
          </a:xfrm>
        </p:grpSpPr>
        <p:sp>
          <p:nvSpPr>
            <p:cNvPr id="17" name="Oval 16"/>
            <p:cNvSpPr/>
            <p:nvPr/>
          </p:nvSpPr>
          <p:spPr bwMode="auto">
            <a:xfrm>
              <a:off x="150813" y="4012106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3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63809" y="4030032"/>
              <a:ext cx="11528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in       : 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19" name="Oval 18"/>
            <p:cNvSpPr/>
            <p:nvPr/>
          </p:nvSpPr>
          <p:spPr bwMode="auto">
            <a:xfrm>
              <a:off x="1018790" y="4030032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1513489" y="3979232"/>
                  <a:ext cx="435317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 pitchFamily="18" charset="0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 pitchFamily="18" charset="0"/>
                                <a:ea typeface="Cambria Math" pitchFamily="18" charset="0"/>
                              </a:rPr>
                              <m:t>(−</m:t>
                            </m:r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 pitchFamily="18" charset="0"/>
                                <a:ea typeface="Cambria Math" pitchFamily="18" charset="0"/>
                              </a:rPr>
                              <m:t>7</m:t>
                            </m:r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 pitchFamily="18" charset="0"/>
                                <a:ea typeface="Cambria Math" pitchFamily="18" charset="0"/>
                              </a:rPr>
                              <m:t>)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 pitchFamily="18" charset="0"/>
                                <a:ea typeface="Cambria Math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 pitchFamily="18" charset="0"/>
                                <a:ea typeface="Cambria Math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 +13</m:t>
                        </m:r>
                        <m:d>
                          <m:dPr>
                            <m:ctrlP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4</m:t>
                                </m:r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−</m:t>
                            </m:r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 pitchFamily="18" charset="0"/>
                                <a:ea typeface="Cambria Math" pitchFamily="18" charset="0"/>
                              </a:rPr>
                              <m:t>6</m:t>
                            </m:r>
                            <m:r>
                              <m:rPr>
                                <m:nor/>
                              </m:rPr>
                              <a:rPr lang="en-ZA" sz="2400" dirty="0">
                                <a:solidFill>
                                  <a:srgbClr val="000000"/>
                                </a:solidFill>
                                <a:latin typeface="Cambria Math" pitchFamily="18" charset="0"/>
                                <a:ea typeface="Cambria Math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 =</m:t>
                        </m:r>
                        <m:r>
                          <a:rPr lang="en-ZA" sz="2400" b="0" i="1" smtClean="0">
                            <a:solidFill>
                              <a:srgbClr val="FF0000"/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−168</m:t>
                        </m:r>
                      </m:oMath>
                    </m:oMathPara>
                  </a14:m>
                  <a:endParaRPr lang="en-ZA" sz="2400" b="0" dirty="0" smtClean="0">
                    <a:solidFill>
                      <a:srgbClr val="FF0000"/>
                    </a:solidFill>
                    <a:latin typeface="Cambria Math" pitchFamily="18" charset="0"/>
                    <a:ea typeface="Cambria Math" pitchFamily="18" charset="0"/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3489" y="3979232"/>
                  <a:ext cx="4353179" cy="461665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21333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418488" y="4414782"/>
                <a:ext cx="2858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 pitchFamily="18" charset="0"/>
                            </a:rPr>
                          </m:ctrlPr>
                        </m:sSubPr>
                        <m:e>
                          <m: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 pitchFamily="18" charset="0"/>
                            </a:rPr>
                            <m:t>4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 pitchFamily="18" charset="0"/>
                            </a:rPr>
                            <m:t>5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m:t> 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 pitchFamily="18" charset="0"/>
                        </a:rPr>
                        <m:t>−78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m:t> =−168</m:t>
                      </m:r>
                    </m:oMath>
                  </m:oMathPara>
                </a14:m>
                <a:endParaRPr lang="en-ZA" sz="2400" b="0" dirty="0" smtClean="0">
                  <a:solidFill>
                    <a:srgbClr val="000000"/>
                  </a:solidFill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488" y="4414782"/>
                <a:ext cx="2858539" cy="461665"/>
              </a:xfrm>
              <a:prstGeom prst="rect">
                <a:avLst/>
              </a:prstGeom>
              <a:blipFill rotWithShape="1">
                <a:blip r:embed="rId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18486" y="4810714"/>
                <a:ext cx="198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 pitchFamily="18" charset="0"/>
                        </a:rPr>
                        <m:t>45</m:t>
                      </m:r>
                      <m:sSub>
                        <m:sSub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 pitchFamily="18" charset="0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m:t> =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 pitchFamily="18" charset="0"/>
                        </a:rPr>
                        <m:t>−90 </m:t>
                      </m:r>
                    </m:oMath>
                  </m:oMathPara>
                </a14:m>
                <a:endParaRPr lang="en-ZA" sz="2400" b="0" dirty="0" smtClean="0">
                  <a:solidFill>
                    <a:srgbClr val="000000"/>
                  </a:solidFill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486" y="4810714"/>
                <a:ext cx="1982722" cy="461665"/>
              </a:xfrm>
              <a:prstGeom prst="rect">
                <a:avLst/>
              </a:prstGeom>
              <a:blipFill rotWithShape="1">
                <a:blip r:embed="rId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/>
          <p:cNvGrpSpPr/>
          <p:nvPr/>
        </p:nvGrpSpPr>
        <p:grpSpPr>
          <a:xfrm>
            <a:off x="3431582" y="5193592"/>
            <a:ext cx="1815882" cy="461665"/>
            <a:chOff x="1526582" y="5193592"/>
            <a:chExt cx="1815882" cy="461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526582" y="5193592"/>
                  <a:ext cx="181588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 pitchFamily="18" charset="0"/>
                              </a:rPr>
                            </m:ctrlPr>
                          </m:sSubPr>
                          <m:e>
                            <m:r>
                              <a:rPr lang="en-ZA" sz="2400" b="1" i="1">
                                <a:solidFill>
                                  <a:srgbClr val="000000"/>
                                </a:solidFill>
                                <a:latin typeface="Cambria Math" pitchFamily="18" charset="0"/>
                                <a:ea typeface="Cambria Math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ZA" sz="2400" b="1" i="1">
                                <a:solidFill>
                                  <a:srgbClr val="000000"/>
                                </a:solidFill>
                                <a:latin typeface="Cambria Math" pitchFamily="18" charset="0"/>
                                <a:ea typeface="Cambria Math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ZA" sz="2400" b="1" i="1" smtClean="0">
                            <a:solidFill>
                              <a:srgbClr val="000000"/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 =</m:t>
                        </m:r>
                        <m:r>
                          <a:rPr lang="en-ZA" sz="2400" b="1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 pitchFamily="18" charset="0"/>
                          </a:rPr>
                          <m:t>−</m:t>
                        </m:r>
                        <m:r>
                          <a:rPr lang="en-ZA" sz="2400" b="1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 pitchFamily="18" charset="0"/>
                          </a:rPr>
                          <m:t>𝟐</m:t>
                        </m:r>
                        <m:r>
                          <a:rPr lang="en-ZA" sz="2400" b="1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 pitchFamily="18" charset="0"/>
                          </a:rPr>
                          <m:t> </m:t>
                        </m:r>
                        <m:r>
                          <a:rPr lang="en-ZA" sz="2400" b="1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 pitchFamily="18" charset="0"/>
                          </a:rPr>
                          <m:t>𝑽</m:t>
                        </m:r>
                        <m:r>
                          <a:rPr lang="en-ZA" sz="2400" b="1" i="1" smtClean="0">
                            <a:solidFill>
                              <a:srgbClr val="000000"/>
                            </a:solidFill>
                            <a:latin typeface="Cambria Math"/>
                            <a:ea typeface="Cambria Math" pitchFamily="18" charset="0"/>
                          </a:rPr>
                          <m:t> </m:t>
                        </m:r>
                      </m:oMath>
                    </m:oMathPara>
                  </a14:m>
                  <a:endParaRPr lang="en-ZA" sz="2400" b="1" dirty="0" smtClean="0">
                    <a:solidFill>
                      <a:srgbClr val="000000"/>
                    </a:solidFill>
                    <a:latin typeface="Cambria Math" pitchFamily="18" charset="0"/>
                    <a:ea typeface="Cambria Math" pitchFamily="18" charset="0"/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582" y="5193592"/>
                  <a:ext cx="1815882" cy="46166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/>
            <p:cNvCxnSpPr/>
            <p:nvPr/>
          </p:nvCxnSpPr>
          <p:spPr bwMode="auto">
            <a:xfrm>
              <a:off x="1612213" y="5629857"/>
              <a:ext cx="1478775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2035478" y="5802975"/>
            <a:ext cx="4003026" cy="461665"/>
            <a:chOff x="130478" y="5802975"/>
            <a:chExt cx="4003026" cy="461665"/>
          </a:xfrm>
        </p:grpSpPr>
        <p:sp>
          <p:nvSpPr>
            <p:cNvPr id="27" name="Rectangle 26"/>
            <p:cNvSpPr/>
            <p:nvPr/>
          </p:nvSpPr>
          <p:spPr>
            <a:xfrm>
              <a:off x="130478" y="5895308"/>
              <a:ext cx="15376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From        :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28" name="Oval 27"/>
            <p:cNvSpPr/>
            <p:nvPr/>
          </p:nvSpPr>
          <p:spPr bwMode="auto">
            <a:xfrm>
              <a:off x="998456" y="5879890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1716689" y="5802975"/>
                  <a:ext cx="241681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=4(−2)−</m:t>
                        </m:r>
                        <m:r>
                          <a:rPr lang="en-ZA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</m:oMath>
                    </m:oMathPara>
                  </a14:m>
                  <a:endParaRPr lang="en-ZA" sz="24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6689" y="5802975"/>
                  <a:ext cx="2416815" cy="461665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b="-19737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/>
          <p:cNvGrpSpPr/>
          <p:nvPr/>
        </p:nvGrpSpPr>
        <p:grpSpPr>
          <a:xfrm>
            <a:off x="3621688" y="6264640"/>
            <a:ext cx="1971372" cy="465423"/>
            <a:chOff x="1716688" y="6264640"/>
            <a:chExt cx="1971372" cy="4654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1716688" y="6264640"/>
                  <a:ext cx="197137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𝑽</m:t>
                            </m:r>
                          </m:e>
                          <m:sub>
                            <m:r>
                              <a:rPr lang="en-ZA" sz="24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ZA" sz="2400" b="1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=−</m:t>
                        </m:r>
                        <m:r>
                          <a:rPr lang="en-ZA" sz="2400" b="1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𝟏𝟒</m:t>
                        </m:r>
                        <m:r>
                          <a:rPr lang="en-ZA" sz="2400" b="1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ZA" sz="2400" b="1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𝑽</m:t>
                        </m:r>
                      </m:oMath>
                    </m:oMathPara>
                  </a14:m>
                  <a:endParaRPr lang="en-ZA" sz="2400" b="1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6688" y="6264640"/>
                  <a:ext cx="1971372" cy="461665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b="-5333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/>
            <p:cNvCxnSpPr/>
            <p:nvPr/>
          </p:nvCxnSpPr>
          <p:spPr bwMode="auto">
            <a:xfrm>
              <a:off x="1866900" y="6730062"/>
              <a:ext cx="1654708" cy="1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531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4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" name="Picture 3" descr="ale29559_0300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5"/>
          <a:stretch>
            <a:fillRect/>
          </a:stretch>
        </p:blipFill>
        <p:spPr bwMode="auto">
          <a:xfrm>
            <a:off x="242038" y="1147008"/>
            <a:ext cx="2418216" cy="122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165100"/>
            <a:ext cx="9144000" cy="1219200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3.2 Nodal Analysis</a:t>
            </a:r>
          </a:p>
          <a:p>
            <a:r>
              <a:rPr lang="en-US" sz="4000" dirty="0" smtClean="0">
                <a:solidFill>
                  <a:srgbClr val="FF0000"/>
                </a:solidFill>
              </a:rPr>
              <a:t>Ex. 2 – Method 2: Cramer’s Rule</a:t>
            </a:r>
          </a:p>
          <a:p>
            <a:r>
              <a:rPr lang="en-US" sz="2800" dirty="0" smtClean="0">
                <a:solidFill>
                  <a:srgbClr val="FF0000"/>
                </a:solidFill>
              </a:rPr>
              <a:t>See Appendix A</a:t>
            </a:r>
            <a:endParaRPr lang="en-US" sz="4000" dirty="0">
              <a:solidFill>
                <a:srgbClr val="FF000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89828" y="2376871"/>
            <a:ext cx="4418191" cy="1187622"/>
            <a:chOff x="149428" y="3537369"/>
            <a:chExt cx="4418191" cy="1187622"/>
          </a:xfrm>
        </p:grpSpPr>
        <p:sp>
          <p:nvSpPr>
            <p:cNvPr id="6" name="Rounded Rectangle 5"/>
            <p:cNvSpPr/>
            <p:nvPr/>
          </p:nvSpPr>
          <p:spPr bwMode="auto">
            <a:xfrm>
              <a:off x="149428" y="3537369"/>
              <a:ext cx="4418191" cy="1187622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636767" y="3641776"/>
                  <a:ext cx="261834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4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(−1)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=</m:t>
                        </m:r>
                        <m:r>
                          <a:rPr lang="en-ZA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</m:oMath>
                    </m:oMathPara>
                  </a14:m>
                  <a:endParaRPr lang="en-ZA" sz="24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767" y="3641776"/>
                  <a:ext cx="2618345" cy="461665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9737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Oval 7"/>
            <p:cNvSpPr/>
            <p:nvPr/>
          </p:nvSpPr>
          <p:spPr bwMode="auto">
            <a:xfrm>
              <a:off x="3907535" y="3735259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149428" y="4140340"/>
                  <a:ext cx="369178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(−</m:t>
                            </m:r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7</m:t>
                            </m:r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)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+</m:t>
                        </m:r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     </m:t>
                            </m:r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13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=</m:t>
                        </m:r>
                        <m:r>
                          <a:rPr lang="en-ZA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−168</m:t>
                        </m:r>
                      </m:oMath>
                    </m:oMathPara>
                  </a14:m>
                  <a:endParaRPr lang="en-ZA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428" y="4140340"/>
                  <a:ext cx="3691780" cy="46166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19737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/>
            <p:cNvSpPr/>
            <p:nvPr/>
          </p:nvSpPr>
          <p:spPr bwMode="auto">
            <a:xfrm>
              <a:off x="3918176" y="4238641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8562" y="3708400"/>
                <a:ext cx="4134915" cy="8845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−7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13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b="0" i="1" smtClean="0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b="0" i="1" smtClean="0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ZA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−168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8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62" y="3708400"/>
                <a:ext cx="4134915" cy="88453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16074" y="4656949"/>
                <a:ext cx="1486241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74" y="4656949"/>
                <a:ext cx="1486241" cy="89896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16074" y="5668836"/>
                <a:ext cx="1502784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74" y="5668836"/>
                <a:ext cx="1502784" cy="89896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/>
          <p:cNvGrpSpPr/>
          <p:nvPr/>
        </p:nvGrpSpPr>
        <p:grpSpPr>
          <a:xfrm>
            <a:off x="4727262" y="1597941"/>
            <a:ext cx="3690049" cy="1610555"/>
            <a:chOff x="4727262" y="1648741"/>
            <a:chExt cx="3690049" cy="16105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749436" y="1648741"/>
                  <a:ext cx="2094676" cy="7081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400" i="1" smtClean="0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en-ZA" sz="2400" b="0" i="1" smtClean="0">
                            <a:latin typeface="Cambria Math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ZA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ZA" sz="2400" i="1">
                                    <a:latin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ZA" sz="2400" i="1">
                                      <a:latin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ZA" sz="2400" i="1">
                                      <a:latin typeface="Cambria Math"/>
                                    </a:rPr>
                                    <m:t>−1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ZA" sz="2400" i="1">
                                      <a:latin typeface="Cambria Math"/>
                                    </a:rPr>
                                    <m:t>−7</m:t>
                                  </m:r>
                                </m:e>
                                <m:e>
                                  <m:r>
                                    <a:rPr lang="en-ZA" sz="2400" i="1">
                                      <a:latin typeface="Cambria Math"/>
                                    </a:rPr>
                                    <m:t>13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ZA" sz="24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9436" y="1648741"/>
                  <a:ext cx="2094676" cy="708143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4727262" y="2346981"/>
                  <a:ext cx="36900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400" i="1" smtClean="0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en-ZA" sz="2400" b="0" i="1" smtClean="0">
                            <a:latin typeface="Cambria Math"/>
                          </a:rPr>
                          <m:t>=</m:t>
                        </m:r>
                        <m:d>
                          <m:dPr>
                            <m:ctrlP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4</m:t>
                            </m:r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×13</m:t>
                            </m:r>
                          </m:e>
                        </m:d>
                        <m:r>
                          <a:rPr lang="en-ZA" sz="2400" b="0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ZA" sz="24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(−1×−7)</m:t>
                        </m:r>
                      </m:oMath>
                    </m:oMathPara>
                  </a14:m>
                  <a:endParaRPr lang="en-ZA" sz="2400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7262" y="2346981"/>
                  <a:ext cx="3690049" cy="46166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21333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4763950" y="2797631"/>
                  <a:ext cx="113095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400" i="1" smtClean="0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en-ZA" sz="2400" b="0" i="1" smtClean="0">
                            <a:latin typeface="Cambria Math"/>
                          </a:rPr>
                          <m:t>=45</m:t>
                        </m:r>
                      </m:oMath>
                    </m:oMathPara>
                  </a14:m>
                  <a:endParaRPr lang="en-ZA" sz="24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3950" y="2797631"/>
                  <a:ext cx="1130951" cy="461665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/>
          <p:cNvGrpSpPr/>
          <p:nvPr/>
        </p:nvGrpSpPr>
        <p:grpSpPr>
          <a:xfrm>
            <a:off x="4727262" y="3301809"/>
            <a:ext cx="4165371" cy="1664080"/>
            <a:chOff x="4727262" y="3339909"/>
            <a:chExt cx="4165371" cy="16640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4730083" y="3339909"/>
                  <a:ext cx="2613279" cy="7083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∆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ZA" sz="24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𝟔</m:t>
                                  </m:r>
                                </m:e>
                                <m:e>
                                  <m:r>
                                    <a:rPr lang="en-ZA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−1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ZA" sz="2400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ZA" sz="24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𝟏𝟔𝟖</m:t>
                                  </m:r>
                                </m:e>
                                <m:e>
                                  <m:r>
                                    <a:rPr lang="en-ZA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13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ZA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0083" y="3339909"/>
                  <a:ext cx="2613279" cy="708335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4727262" y="4048052"/>
                  <a:ext cx="416537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∆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d>
                          <m:dPr>
                            <m:ctrlP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6</m:t>
                            </m:r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×13</m:t>
                            </m:r>
                          </m:e>
                        </m:d>
                        <m:r>
                          <a:rPr lang="en-ZA" sz="24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−(−1×−168)</m:t>
                        </m:r>
                      </m:oMath>
                    </m:oMathPara>
                  </a14:m>
                  <a:endParaRPr lang="en-ZA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7262" y="4048052"/>
                  <a:ext cx="4165371" cy="461665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b="-19737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4776307" y="4542324"/>
                  <a:ext cx="149566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∆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=−90</m:t>
                        </m:r>
                      </m:oMath>
                    </m:oMathPara>
                  </a14:m>
                  <a:endParaRPr lang="en-ZA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6307" y="4542324"/>
                  <a:ext cx="1495666" cy="461665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/>
          <p:cNvGrpSpPr/>
          <p:nvPr/>
        </p:nvGrpSpPr>
        <p:grpSpPr>
          <a:xfrm>
            <a:off x="4746675" y="5074324"/>
            <a:ext cx="4002571" cy="1693108"/>
            <a:chOff x="4746675" y="5099724"/>
            <a:chExt cx="4002571" cy="16931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4749496" y="5099724"/>
                  <a:ext cx="2620397" cy="7083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∆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ZA" sz="24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ZA" sz="2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ZA" sz="2400" b="1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𝟔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ZA" sz="2400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ZA" sz="2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7</m:t>
                                  </m:r>
                                </m:e>
                                <m:e>
                                  <m:r>
                                    <a:rPr lang="en-ZA" sz="2400" b="1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ZA" sz="2400" b="1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𝟏𝟔𝟖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ZA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9496" y="5099724"/>
                  <a:ext cx="2620397" cy="708335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4746675" y="5807867"/>
                  <a:ext cx="400257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∆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=</m:t>
                        </m:r>
                        <m:d>
                          <m:dPr>
                            <m:ctrlP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4</m:t>
                            </m:r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×−168</m:t>
                            </m:r>
                          </m:e>
                        </m:d>
                        <m:r>
                          <a:rPr lang="en-ZA" sz="2400" b="0" i="1" smtClean="0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−(6×−7)</m:t>
                        </m:r>
                      </m:oMath>
                    </m:oMathPara>
                  </a14:m>
                  <a:endParaRPr lang="en-ZA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6675" y="5807867"/>
                  <a:ext cx="4002571" cy="461665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b="-21333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4795720" y="6331167"/>
                  <a:ext cx="167270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∆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=−630</m:t>
                        </m:r>
                      </m:oMath>
                    </m:oMathPara>
                  </a14:m>
                  <a:endParaRPr lang="en-ZA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5720" y="6331167"/>
                  <a:ext cx="1672702" cy="461665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/>
          <p:cNvGrpSpPr/>
          <p:nvPr/>
        </p:nvGrpSpPr>
        <p:grpSpPr>
          <a:xfrm>
            <a:off x="1635103" y="4656949"/>
            <a:ext cx="2592120" cy="901785"/>
            <a:chOff x="1635103" y="4656949"/>
            <a:chExt cx="2592120" cy="9017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635103" y="4656949"/>
                  <a:ext cx="2592120" cy="9017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8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sz="28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ZA" sz="28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−90</m:t>
                            </m:r>
                          </m:num>
                          <m:den>
                            <m:r>
                              <a:rPr lang="en-ZA" sz="28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45</m:t>
                            </m:r>
                          </m:den>
                        </m:f>
                        <m:r>
                          <a:rPr lang="en-ZA" sz="28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ZA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ZA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en-ZA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ZA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𝑽</m:t>
                        </m:r>
                      </m:oMath>
                    </m:oMathPara>
                  </a14:m>
                  <a:endParaRPr lang="en-ZA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103" y="4656949"/>
                  <a:ext cx="2592120" cy="901785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/>
            <p:cNvCxnSpPr/>
            <p:nvPr/>
          </p:nvCxnSpPr>
          <p:spPr bwMode="auto">
            <a:xfrm>
              <a:off x="3199954" y="5325057"/>
              <a:ext cx="1023523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1587990" y="5717752"/>
            <a:ext cx="2989665" cy="901785"/>
            <a:chOff x="1587990" y="5717752"/>
            <a:chExt cx="2989665" cy="9017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587990" y="5717752"/>
                  <a:ext cx="2989665" cy="9017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800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sz="28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ZA" sz="28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−630</m:t>
                            </m:r>
                          </m:num>
                          <m:den>
                            <m:r>
                              <a:rPr lang="en-ZA" sz="28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45</m:t>
                            </m:r>
                          </m:den>
                        </m:f>
                        <m:r>
                          <a:rPr lang="en-ZA" sz="2800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ZA" sz="28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ZA" sz="28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𝟏𝟒</m:t>
                        </m:r>
                        <m:r>
                          <a:rPr lang="en-ZA" sz="28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ZA" sz="28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𝑽</m:t>
                        </m:r>
                      </m:oMath>
                    </m:oMathPara>
                  </a14:m>
                  <a:endParaRPr lang="en-ZA" sz="28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7990" y="5717752"/>
                  <a:ext cx="2989665" cy="901785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/>
            <p:cNvCxnSpPr/>
            <p:nvPr/>
          </p:nvCxnSpPr>
          <p:spPr bwMode="auto">
            <a:xfrm>
              <a:off x="3377995" y="6417257"/>
              <a:ext cx="1023523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cxnSp>
        <p:nvCxnSpPr>
          <p:cNvPr id="16" name="Straight Arrow Connector 15"/>
          <p:cNvCxnSpPr/>
          <p:nvPr/>
        </p:nvCxnSpPr>
        <p:spPr bwMode="auto">
          <a:xfrm>
            <a:off x="5566614" y="1745451"/>
            <a:ext cx="1050141" cy="534242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 bwMode="auto">
          <a:xfrm flipH="1">
            <a:off x="5566614" y="1728963"/>
            <a:ext cx="1050141" cy="55073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50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84757" y="0"/>
            <a:ext cx="43527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</a:t>
            </a:r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3-2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Determine the node voltages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3" descr="ale29559_03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95"/>
          <a:stretch>
            <a:fillRect/>
          </a:stretch>
        </p:blipFill>
        <p:spPr bwMode="auto">
          <a:xfrm>
            <a:off x="173611" y="944068"/>
            <a:ext cx="3992562" cy="2750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852516" y="1609697"/>
            <a:ext cx="2839115" cy="426992"/>
            <a:chOff x="852516" y="1604934"/>
            <a:chExt cx="2839115" cy="426992"/>
          </a:xfrm>
        </p:grpSpPr>
        <p:sp>
          <p:nvSpPr>
            <p:cNvPr id="6" name="Rectangle 5"/>
            <p:cNvSpPr/>
            <p:nvPr/>
          </p:nvSpPr>
          <p:spPr>
            <a:xfrm>
              <a:off x="906823" y="1615267"/>
              <a:ext cx="4395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3300"/>
                  </a:solidFill>
                </a:rPr>
                <a:t>V</a:t>
              </a:r>
              <a:r>
                <a:rPr lang="en-US" baseline="-25000" dirty="0">
                  <a:solidFill>
                    <a:srgbClr val="FF3300"/>
                  </a:solidFill>
                </a:rPr>
                <a:t>1</a:t>
              </a:r>
              <a:endParaRPr lang="en-ZA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34772" y="1632581"/>
              <a:ext cx="4395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3300"/>
                  </a:solidFill>
                </a:rPr>
                <a:t>V</a:t>
              </a:r>
              <a:r>
                <a:rPr lang="en-US" baseline="-25000" dirty="0" smtClean="0">
                  <a:solidFill>
                    <a:srgbClr val="FF3300"/>
                  </a:solidFill>
                </a:rPr>
                <a:t>2</a:t>
              </a:r>
              <a:endParaRPr lang="en-ZA" dirty="0"/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852516" y="1920137"/>
              <a:ext cx="108615" cy="10861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2203801" y="1923311"/>
              <a:ext cx="108615" cy="10861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252087" y="1604934"/>
              <a:ext cx="4395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3300"/>
                  </a:solidFill>
                </a:rPr>
                <a:t>V</a:t>
              </a:r>
              <a:r>
                <a:rPr lang="en-US" baseline="-25000" dirty="0" smtClean="0">
                  <a:solidFill>
                    <a:srgbClr val="FF3300"/>
                  </a:solidFill>
                </a:rPr>
                <a:t>3</a:t>
              </a:r>
              <a:endParaRPr lang="en-ZA" dirty="0"/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3583016" y="1909804"/>
              <a:ext cx="108615" cy="10861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520148" y="1025253"/>
                <a:ext cx="3545394" cy="668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−10+</m:t>
                      </m:r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 </m:t>
                      </m:r>
                      <m:f>
                        <m:f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148" y="1025253"/>
                <a:ext cx="3545394" cy="66858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4102673" y="1126750"/>
            <a:ext cx="1189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Node 1:</a:t>
            </a:r>
            <a:endParaRPr lang="en-ZA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190677" y="1634000"/>
            <a:ext cx="468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x6</a:t>
            </a:r>
            <a:endParaRPr lang="en-ZA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048766" y="1599878"/>
                <a:ext cx="399744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−60+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766" y="1599878"/>
                <a:ext cx="3997441" cy="400110"/>
              </a:xfrm>
              <a:prstGeom prst="rect">
                <a:avLst/>
              </a:prstGeom>
              <a:blipFill rotWithShape="1"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048766" y="2052342"/>
                <a:ext cx="31507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sSub>
                        <m:sSubPr>
                          <m:ctrlPr>
                            <a:rPr lang="en-ZA" sz="24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66CC"/>
                          </a:solidFill>
                          <a:latin typeface="Cambria Math"/>
                        </a:rPr>
                        <m:t>−2</m:t>
                      </m:r>
                      <m:sSub>
                        <m:sSubPr>
                          <m:ctrlPr>
                            <a:rPr lang="en-ZA" sz="2400" i="1" smtClean="0">
                              <a:solidFill>
                                <a:srgbClr val="0066CC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66CC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66CC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−3</m:t>
                      </m:r>
                      <m:sSub>
                        <m:sSubPr>
                          <m:ctrlPr>
                            <a:rPr lang="en-ZA" sz="24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=60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766" y="2052342"/>
                <a:ext cx="3150799" cy="461665"/>
              </a:xfrm>
              <a:prstGeom prst="rect">
                <a:avLst/>
              </a:prstGeom>
              <a:blipFill rotWithShape="1">
                <a:blip r:embed="rId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/>
          <p:cNvSpPr/>
          <p:nvPr/>
        </p:nvSpPr>
        <p:spPr bwMode="auto">
          <a:xfrm>
            <a:off x="8259946" y="2098419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1916681" y="1978586"/>
            <a:ext cx="700030" cy="375779"/>
            <a:chOff x="1468924" y="2731946"/>
            <a:chExt cx="700030" cy="375779"/>
          </a:xfrm>
        </p:grpSpPr>
        <p:cxnSp>
          <p:nvCxnSpPr>
            <p:cNvPr id="30" name="Straight Arrow Connector 29"/>
            <p:cNvCxnSpPr/>
            <p:nvPr/>
          </p:nvCxnSpPr>
          <p:spPr bwMode="auto">
            <a:xfrm>
              <a:off x="1900313" y="2731946"/>
              <a:ext cx="268641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 bwMode="auto">
            <a:xfrm>
              <a:off x="1819156" y="2839629"/>
              <a:ext cx="0" cy="268096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 bwMode="auto">
            <a:xfrm flipH="1">
              <a:off x="1468924" y="2732794"/>
              <a:ext cx="268641" cy="0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 rot="5400000">
            <a:off x="3098983" y="1794175"/>
            <a:ext cx="700030" cy="375779"/>
            <a:chOff x="1468924" y="2731946"/>
            <a:chExt cx="700030" cy="375779"/>
          </a:xfrm>
        </p:grpSpPr>
        <p:cxnSp>
          <p:nvCxnSpPr>
            <p:cNvPr id="34" name="Straight Arrow Connector 33"/>
            <p:cNvCxnSpPr/>
            <p:nvPr/>
          </p:nvCxnSpPr>
          <p:spPr bwMode="auto">
            <a:xfrm>
              <a:off x="1900313" y="2731946"/>
              <a:ext cx="268641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 bwMode="auto">
            <a:xfrm>
              <a:off x="1819156" y="2839629"/>
              <a:ext cx="0" cy="268096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 bwMode="auto">
            <a:xfrm flipH="1">
              <a:off x="1468924" y="2732794"/>
              <a:ext cx="268641" cy="0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 rot="16200000">
            <a:off x="736112" y="1794174"/>
            <a:ext cx="700030" cy="375779"/>
            <a:chOff x="1468924" y="2731946"/>
            <a:chExt cx="700030" cy="375779"/>
          </a:xfrm>
        </p:grpSpPr>
        <p:cxnSp>
          <p:nvCxnSpPr>
            <p:cNvPr id="38" name="Straight Arrow Connector 37"/>
            <p:cNvCxnSpPr/>
            <p:nvPr/>
          </p:nvCxnSpPr>
          <p:spPr bwMode="auto">
            <a:xfrm>
              <a:off x="1900313" y="2731946"/>
              <a:ext cx="268641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 bwMode="auto">
            <a:xfrm>
              <a:off x="1819156" y="2839629"/>
              <a:ext cx="0" cy="268096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 bwMode="auto">
            <a:xfrm flipH="1">
              <a:off x="1468924" y="2732794"/>
              <a:ext cx="268641" cy="0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595775" y="2767904"/>
                <a:ext cx="3214662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−4</m:t>
                      </m:r>
                      <m:sSub>
                        <m:sSubPr>
                          <m:ctrlPr>
                            <a:rPr lang="en-ZA" sz="2000" b="1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1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𝒊</m:t>
                          </m:r>
                        </m:e>
                        <m:sub>
                          <m:r>
                            <a:rPr lang="en-ZA" sz="2000" b="1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𝒙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775" y="2767904"/>
                <a:ext cx="3214662" cy="67056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/>
          <p:cNvSpPr/>
          <p:nvPr/>
        </p:nvSpPr>
        <p:spPr>
          <a:xfrm>
            <a:off x="4178300" y="2869401"/>
            <a:ext cx="1189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Node 2:</a:t>
            </a:r>
            <a:endParaRPr lang="en-ZA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124393" y="3342529"/>
                <a:ext cx="3448445" cy="6665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−48</m:t>
                      </m:r>
                      <m:f>
                        <m:fPr>
                          <m:ctrlPr>
                            <a:rPr lang="en-ZA" sz="2000" b="1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b="1" i="1">
                                  <a:solidFill>
                                    <a:srgbClr val="0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1" i="1">
                                  <a:solidFill>
                                    <a:srgbClr val="0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ZA" sz="2000" b="1" i="1">
                                  <a:solidFill>
                                    <a:srgbClr val="0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n-ZA" sz="2000" b="1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𝟒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393" y="3342529"/>
                <a:ext cx="3448445" cy="66652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124393" y="3909293"/>
                <a:ext cx="30834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en-ZA" sz="24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66CC"/>
                          </a:solidFill>
                          <a:latin typeface="Cambria Math"/>
                        </a:rPr>
                        <m:t>−5</m:t>
                      </m:r>
                      <m:sSub>
                        <m:sSubPr>
                          <m:ctrlPr>
                            <a:rPr lang="en-ZA" sz="2400" i="1" smtClean="0">
                              <a:solidFill>
                                <a:srgbClr val="0066CC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66CC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66CC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+0</m:t>
                      </m:r>
                      <m:sSub>
                        <m:sSubPr>
                          <m:ctrlPr>
                            <a:rPr lang="en-ZA" sz="24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393" y="3909293"/>
                <a:ext cx="3083473" cy="461665"/>
              </a:xfrm>
              <a:prstGeom prst="rect">
                <a:avLst/>
              </a:prstGeom>
              <a:blipFill rotWithShape="1">
                <a:blip r:embed="rId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/>
          <p:cNvSpPr/>
          <p:nvPr/>
        </p:nvSpPr>
        <p:spPr>
          <a:xfrm>
            <a:off x="4326325" y="3506839"/>
            <a:ext cx="615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x12</a:t>
            </a:r>
            <a:endParaRPr lang="en-ZA" dirty="0">
              <a:solidFill>
                <a:srgbClr val="000000"/>
              </a:solidFill>
            </a:endParaRPr>
          </a:p>
        </p:txBody>
      </p:sp>
      <p:sp>
        <p:nvSpPr>
          <p:cNvPr id="46" name="Oval 45"/>
          <p:cNvSpPr/>
          <p:nvPr/>
        </p:nvSpPr>
        <p:spPr bwMode="auto">
          <a:xfrm>
            <a:off x="8259945" y="3958258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595775" y="4707758"/>
                <a:ext cx="3264996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en-ZA" sz="2000" b="1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1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𝒊</m:t>
                          </m:r>
                        </m:e>
                        <m:sub>
                          <m:r>
                            <a:rPr lang="en-ZA" sz="2000" b="1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𝒙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775" y="4707758"/>
                <a:ext cx="3264996" cy="670568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47"/>
          <p:cNvSpPr/>
          <p:nvPr/>
        </p:nvSpPr>
        <p:spPr>
          <a:xfrm>
            <a:off x="4178300" y="4809255"/>
            <a:ext cx="1189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Node 3:</a:t>
            </a:r>
            <a:endParaRPr lang="en-ZA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5124393" y="5282383"/>
                <a:ext cx="3305777" cy="6665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24</m:t>
                      </m:r>
                      <m:f>
                        <m:fPr>
                          <m:ctrlPr>
                            <a:rPr lang="en-ZA" sz="2000" b="1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b="1" i="1">
                                  <a:solidFill>
                                    <a:srgbClr val="0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1" i="1">
                                  <a:solidFill>
                                    <a:srgbClr val="0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ZA" sz="2000" b="1" i="1">
                                  <a:solidFill>
                                    <a:srgbClr val="0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n-ZA" sz="2000" b="1" i="1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𝟒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+3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393" y="5282383"/>
                <a:ext cx="3305777" cy="666529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124393" y="5849147"/>
                <a:ext cx="30834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en-ZA" sz="24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66CC"/>
                          </a:solidFill>
                          <a:latin typeface="Cambria Math"/>
                        </a:rPr>
                        <m:t>+6</m:t>
                      </m:r>
                      <m:sSub>
                        <m:sSubPr>
                          <m:ctrlPr>
                            <a:rPr lang="en-ZA" sz="2400" i="1" smtClean="0">
                              <a:solidFill>
                                <a:srgbClr val="0066CC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66CC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66CC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+4</m:t>
                      </m:r>
                      <m:sSub>
                        <m:sSubPr>
                          <m:ctrlPr>
                            <a:rPr lang="en-ZA" sz="24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393" y="5849147"/>
                <a:ext cx="3083473" cy="461665"/>
              </a:xfrm>
              <a:prstGeom prst="rect">
                <a:avLst/>
              </a:prstGeom>
              <a:blipFill rotWithShape="1">
                <a:blip r:embed="rId11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/>
          <p:cNvSpPr/>
          <p:nvPr/>
        </p:nvSpPr>
        <p:spPr>
          <a:xfrm>
            <a:off x="4326325" y="5446693"/>
            <a:ext cx="468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x6</a:t>
            </a:r>
            <a:endParaRPr lang="en-ZA" dirty="0">
              <a:solidFill>
                <a:srgbClr val="000000"/>
              </a:solidFill>
            </a:endParaRPr>
          </a:p>
        </p:txBody>
      </p:sp>
      <p:sp>
        <p:nvSpPr>
          <p:cNvPr id="52" name="Oval 51"/>
          <p:cNvSpPr/>
          <p:nvPr/>
        </p:nvSpPr>
        <p:spPr bwMode="auto">
          <a:xfrm>
            <a:off x="8412345" y="5875958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255238" y="3784525"/>
                <a:ext cx="3928832" cy="11393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4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4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ZA" sz="240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400" b="0" i="1" smtClean="0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40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8" y="3784525"/>
                <a:ext cx="3928832" cy="1139351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485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7" grpId="0"/>
      <p:bldP spid="28" grpId="0" animBg="1"/>
      <p:bldP spid="41" grpId="0"/>
      <p:bldP spid="42" grpId="0"/>
      <p:bldP spid="43" grpId="0"/>
      <p:bldP spid="44" grpId="0"/>
      <p:bldP spid="45" grpId="0"/>
      <p:bldP spid="46" grpId="0" animBg="1"/>
      <p:bldP spid="47" grpId="0"/>
      <p:bldP spid="48" grpId="0"/>
      <p:bldP spid="49" grpId="0"/>
      <p:bldP spid="50" grpId="0"/>
      <p:bldP spid="51" grpId="0"/>
      <p:bldP spid="52" grpId="0" animBg="1"/>
      <p:bldP spid="5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084757" y="0"/>
            <a:ext cx="67509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</a:t>
            </a:r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3-2 continued:  </a:t>
            </a:r>
            <a:r>
              <a:rPr lang="en-ZA" sz="2800" b="1" u="sng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Calculating </a:t>
            </a:r>
            <a:r>
              <a:rPr lang="en-ZA" sz="2800" b="1" u="sng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</a:t>
            </a:r>
            <a:endParaRPr lang="en-ZA" sz="28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46274" y="2015349"/>
                <a:ext cx="1486241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74" y="2015349"/>
                <a:ext cx="1486241" cy="89896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42431" y="3090736"/>
                <a:ext cx="1502784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31" y="3090736"/>
                <a:ext cx="1502784" cy="89896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9731" y="4129400"/>
                <a:ext cx="1502784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31" y="4129400"/>
                <a:ext cx="1502784" cy="89896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83308" y="2079170"/>
                <a:ext cx="2808141" cy="1082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ZA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ZA" sz="2400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ZA" sz="24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ZA" sz="2400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ZA" sz="24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+6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+4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3308" y="2079170"/>
                <a:ext cx="2808141" cy="108266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 bwMode="auto">
          <a:xfrm>
            <a:off x="3702750" y="3246920"/>
            <a:ext cx="213001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677565" y="3216564"/>
                <a:ext cx="2106667" cy="7156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ZA" sz="2400" i="1" smtClean="0">
                              <a:latin typeface="Cambria Math"/>
                              <a:ea typeface="Cambria Math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+</m:t>
                            </m:r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5</m:t>
                            </m:r>
                          </m:e>
                          <m:e>
                            <m:r>
                              <a:rPr lang="en-ZA" sz="2400" b="0" i="1" smtClean="0">
                                <a:latin typeface="Cambria Math"/>
                                <a:ea typeface="Cambria Math"/>
                              </a:rPr>
                              <m:t>−2</m:t>
                            </m:r>
                          </m:e>
                          <m:e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−3</m:t>
                            </m:r>
                          </m:e>
                        </m:mr>
                        <m:mr>
                          <m:e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−4</m:t>
                            </m:r>
                          </m:e>
                          <m:e>
                            <m:r>
                              <a:rPr lang="en-ZA" sz="2400" b="0" i="1" smtClean="0">
                                <a:latin typeface="Cambria Math"/>
                                <a:ea typeface="Cambria Math"/>
                              </a:rPr>
                              <m:t>−5</m:t>
                            </m:r>
                          </m:e>
                          <m:e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565" y="3216564"/>
                <a:ext cx="2106667" cy="71564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/>
          <p:cNvGrpSpPr/>
          <p:nvPr/>
        </p:nvGrpSpPr>
        <p:grpSpPr>
          <a:xfrm>
            <a:off x="3905316" y="2171700"/>
            <a:ext cx="2294216" cy="2086015"/>
            <a:chOff x="3905316" y="2171700"/>
            <a:chExt cx="2294216" cy="2086015"/>
          </a:xfrm>
        </p:grpSpPr>
        <p:cxnSp>
          <p:nvCxnSpPr>
            <p:cNvPr id="13" name="Straight Arrow Connector 12"/>
            <p:cNvCxnSpPr/>
            <p:nvPr/>
          </p:nvCxnSpPr>
          <p:spPr bwMode="auto">
            <a:xfrm>
              <a:off x="3911600" y="2171700"/>
              <a:ext cx="1980000" cy="1116000"/>
            </a:xfrm>
            <a:prstGeom prst="straightConnector1">
              <a:avLst/>
            </a:prstGeom>
            <a:ln>
              <a:solidFill>
                <a:srgbClr val="00B05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 bwMode="auto">
            <a:xfrm>
              <a:off x="3916156" y="2563617"/>
              <a:ext cx="1980000" cy="1116000"/>
            </a:xfrm>
            <a:prstGeom prst="straightConnector1">
              <a:avLst/>
            </a:prstGeom>
            <a:ln>
              <a:solidFill>
                <a:srgbClr val="00B05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 bwMode="auto">
            <a:xfrm>
              <a:off x="3905316" y="2918949"/>
              <a:ext cx="1980000" cy="1116000"/>
            </a:xfrm>
            <a:prstGeom prst="straightConnector1">
              <a:avLst/>
            </a:prstGeom>
            <a:ln>
              <a:solidFill>
                <a:srgbClr val="00B05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5822332" y="3083517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+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825712" y="3469551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+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819956" y="3888383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+</a:t>
              </a:r>
              <a:endParaRPr lang="en-ZA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413888" y="2184992"/>
            <a:ext cx="2293868" cy="2034623"/>
            <a:chOff x="3413888" y="2184992"/>
            <a:chExt cx="2293868" cy="2034623"/>
          </a:xfrm>
        </p:grpSpPr>
        <p:cxnSp>
          <p:nvCxnSpPr>
            <p:cNvPr id="17" name="Straight Arrow Connector 16"/>
            <p:cNvCxnSpPr/>
            <p:nvPr/>
          </p:nvCxnSpPr>
          <p:spPr bwMode="auto">
            <a:xfrm flipH="1">
              <a:off x="3751056" y="2184992"/>
              <a:ext cx="1944000" cy="1044000"/>
            </a:xfrm>
            <a:prstGeom prst="straightConnector1">
              <a:avLst/>
            </a:prstGeom>
            <a:ln>
              <a:solidFill>
                <a:srgbClr val="FF330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 bwMode="auto">
            <a:xfrm flipH="1">
              <a:off x="3727516" y="2567381"/>
              <a:ext cx="1944000" cy="1044000"/>
            </a:xfrm>
            <a:prstGeom prst="straightConnector1">
              <a:avLst/>
            </a:prstGeom>
            <a:ln>
              <a:solidFill>
                <a:srgbClr val="FF330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 bwMode="auto">
            <a:xfrm flipH="1">
              <a:off x="3763756" y="2931649"/>
              <a:ext cx="1944000" cy="1044000"/>
            </a:xfrm>
            <a:prstGeom prst="straightConnector1">
              <a:avLst/>
            </a:prstGeom>
            <a:ln>
              <a:solidFill>
                <a:srgbClr val="FF330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3413888" y="3032717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-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429968" y="3444151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-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436912" y="3850283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-</a:t>
              </a:r>
              <a:endParaRPr lang="en-ZA" dirty="0">
                <a:solidFill>
                  <a:srgbClr val="00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351327" y="4348049"/>
                <a:ext cx="63053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∙−5∙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</m:d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−4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−3</m:t>
                          </m:r>
                        </m:e>
                      </m:d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−3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∙−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327" y="4348049"/>
                <a:ext cx="6305380" cy="46166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781299" y="4743981"/>
                <a:ext cx="58842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−3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∙−5∙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−3</m:t>
                          </m:r>
                        </m:e>
                      </m:d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5</m:t>
                          </m:r>
                        </m:e>
                      </m:d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∙−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−4</m:t>
                          </m:r>
                        </m:e>
                      </m:d>
                    </m:oMath>
                  </m:oMathPara>
                </a14:m>
                <a:endParaRPr lang="en-ZA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299" y="4743981"/>
                <a:ext cx="5884281" cy="46166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644046" y="5205646"/>
                <a:ext cx="519161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−100+72+0</m:t>
                      </m:r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−45</m:t>
                          </m:r>
                        </m:e>
                      </m:d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−0−32</m:t>
                      </m:r>
                    </m:oMath>
                  </m:oMathPara>
                </a14:m>
                <a:endParaRPr lang="en-ZA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046" y="5205646"/>
                <a:ext cx="5191614" cy="46166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44046" y="5667311"/>
                <a:ext cx="117743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−15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046" y="5667311"/>
                <a:ext cx="1177438" cy="46166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421103" y="676191"/>
                <a:ext cx="4556825" cy="13137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b="0" i="1" smtClean="0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ZA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103" y="676191"/>
                <a:ext cx="4556825" cy="1313758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706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4" grpId="0"/>
      <p:bldP spid="35" grpId="0"/>
      <p:bldP spid="36" grpId="0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084757" y="0"/>
            <a:ext cx="62866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</a:t>
            </a:r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3-2 continued:  Calculating </a:t>
            </a:r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</a:t>
            </a:r>
            <a:r>
              <a:rPr lang="en-ZA" sz="2800" b="1" u="sng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46274" y="2015349"/>
                <a:ext cx="1486241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74" y="2015349"/>
                <a:ext cx="1486241" cy="89896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42431" y="3090736"/>
                <a:ext cx="1502784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31" y="3090736"/>
                <a:ext cx="1502784" cy="89896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9731" y="4129400"/>
                <a:ext cx="1502784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31" y="4129400"/>
                <a:ext cx="1502784" cy="89896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20008" y="2104570"/>
                <a:ext cx="2943626" cy="1107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ZA" sz="240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ZA" sz="2400" i="1" smtClean="0">
                                    <a:solidFill>
                                      <a:srgbClr val="0066CC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ZA" sz="240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ZA" sz="2400" i="1">
                                    <a:latin typeface="Cambria Math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ZA" sz="24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ZA" sz="2400" i="1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ZA" sz="24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008" y="2104570"/>
                <a:ext cx="2943626" cy="110703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 bwMode="auto">
          <a:xfrm>
            <a:off x="5329947" y="3246920"/>
            <a:ext cx="213001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341265" y="3216564"/>
                <a:ext cx="2106667" cy="7143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ZA" sz="2400" i="1" smtClean="0">
                              <a:latin typeface="Cambria Math"/>
                              <a:ea typeface="Cambria Math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6</m:t>
                            </m:r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e>
                          <m:e>
                            <m:r>
                              <a:rPr lang="en-ZA" sz="2400" b="0" i="1" smtClean="0">
                                <a:latin typeface="Cambria Math"/>
                                <a:ea typeface="Cambria Math"/>
                              </a:rPr>
                              <m:t>−2</m:t>
                            </m:r>
                          </m:e>
                          <m:e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−3</m:t>
                            </m:r>
                          </m:e>
                        </m:mr>
                        <m:mr>
                          <m:e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e>
                          <m:e>
                            <m:r>
                              <a:rPr lang="en-ZA" sz="2400" b="0" i="1" smtClean="0">
                                <a:latin typeface="Cambria Math"/>
                                <a:ea typeface="Cambria Math"/>
                              </a:rPr>
                              <m:t>−5</m:t>
                            </m:r>
                          </m:e>
                          <m:e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+0</m:t>
                            </m:r>
                          </m:e>
                        </m:mr>
                      </m:m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1265" y="3216564"/>
                <a:ext cx="2106667" cy="71436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/>
          <p:cNvGrpSpPr/>
          <p:nvPr/>
        </p:nvGrpSpPr>
        <p:grpSpPr>
          <a:xfrm>
            <a:off x="5569016" y="2171700"/>
            <a:ext cx="2294216" cy="2086015"/>
            <a:chOff x="3905316" y="2171700"/>
            <a:chExt cx="2294216" cy="2086015"/>
          </a:xfrm>
        </p:grpSpPr>
        <p:cxnSp>
          <p:nvCxnSpPr>
            <p:cNvPr id="13" name="Straight Arrow Connector 12"/>
            <p:cNvCxnSpPr/>
            <p:nvPr/>
          </p:nvCxnSpPr>
          <p:spPr bwMode="auto">
            <a:xfrm>
              <a:off x="3911600" y="2171700"/>
              <a:ext cx="1980000" cy="1116000"/>
            </a:xfrm>
            <a:prstGeom prst="straightConnector1">
              <a:avLst/>
            </a:prstGeom>
            <a:ln>
              <a:solidFill>
                <a:srgbClr val="00B05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 bwMode="auto">
            <a:xfrm>
              <a:off x="3916156" y="2563617"/>
              <a:ext cx="1980000" cy="1116000"/>
            </a:xfrm>
            <a:prstGeom prst="straightConnector1">
              <a:avLst/>
            </a:prstGeom>
            <a:ln>
              <a:solidFill>
                <a:srgbClr val="00B05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 bwMode="auto">
            <a:xfrm>
              <a:off x="3905316" y="2918949"/>
              <a:ext cx="1980000" cy="1116000"/>
            </a:xfrm>
            <a:prstGeom prst="straightConnector1">
              <a:avLst/>
            </a:prstGeom>
            <a:ln>
              <a:solidFill>
                <a:srgbClr val="00B05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5822332" y="3083517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+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825712" y="3469551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+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819956" y="3888383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+</a:t>
              </a:r>
              <a:endParaRPr lang="en-ZA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077588" y="2184992"/>
            <a:ext cx="2293868" cy="2034623"/>
            <a:chOff x="3413888" y="2184992"/>
            <a:chExt cx="2293868" cy="2034623"/>
          </a:xfrm>
        </p:grpSpPr>
        <p:cxnSp>
          <p:nvCxnSpPr>
            <p:cNvPr id="17" name="Straight Arrow Connector 16"/>
            <p:cNvCxnSpPr/>
            <p:nvPr/>
          </p:nvCxnSpPr>
          <p:spPr bwMode="auto">
            <a:xfrm flipH="1">
              <a:off x="3751056" y="2184992"/>
              <a:ext cx="1944000" cy="1044000"/>
            </a:xfrm>
            <a:prstGeom prst="straightConnector1">
              <a:avLst/>
            </a:prstGeom>
            <a:ln>
              <a:solidFill>
                <a:srgbClr val="FF330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 bwMode="auto">
            <a:xfrm flipH="1">
              <a:off x="3727516" y="2567381"/>
              <a:ext cx="1944000" cy="1044000"/>
            </a:xfrm>
            <a:prstGeom prst="straightConnector1">
              <a:avLst/>
            </a:prstGeom>
            <a:ln>
              <a:solidFill>
                <a:srgbClr val="FF330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 bwMode="auto">
            <a:xfrm flipH="1">
              <a:off x="3763756" y="2931649"/>
              <a:ext cx="1944000" cy="1044000"/>
            </a:xfrm>
            <a:prstGeom prst="straightConnector1">
              <a:avLst/>
            </a:prstGeom>
            <a:ln>
              <a:solidFill>
                <a:srgbClr val="FF330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3413888" y="3032717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-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429968" y="3444151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-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436912" y="3850283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-</a:t>
              </a:r>
              <a:endParaRPr lang="en-ZA" dirty="0">
                <a:solidFill>
                  <a:srgbClr val="00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647275" y="4962631"/>
                <a:ext cx="61523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60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∙−5∙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</m:d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−3</m:t>
                          </m:r>
                        </m:e>
                      </m:d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∙−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275" y="4962631"/>
                <a:ext cx="6152325" cy="461665"/>
              </a:xfrm>
              <a:prstGeom prst="rect">
                <a:avLst/>
              </a:prstGeom>
              <a:blipFill rotWithShape="1">
                <a:blip r:embed="rId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3077247" y="5358563"/>
                <a:ext cx="58842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−3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∙−5∙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e>
                      </m:d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60</m:t>
                          </m:r>
                        </m:e>
                      </m:d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∙−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ZA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247" y="5358563"/>
                <a:ext cx="5884281" cy="46166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117794" y="5820228"/>
                <a:ext cx="41971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−1200+0+0</m:t>
                      </m:r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−0−0−0</m:t>
                      </m:r>
                    </m:oMath>
                  </m:oMathPara>
                </a14:m>
                <a:endParaRPr lang="en-ZA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794" y="5820228"/>
                <a:ext cx="4197175" cy="46166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117794" y="6281893"/>
                <a:ext cx="15172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−1200</m:t>
                      </m:r>
                    </m:oMath>
                  </m:oMathPara>
                </a14:m>
                <a:endParaRPr lang="en-ZA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794" y="6281893"/>
                <a:ext cx="1517275" cy="46166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879774" y="2028370"/>
                <a:ext cx="2920736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−1200</m:t>
                          </m:r>
                        </m:num>
                        <m:den>
                          <m:r>
                            <a:rPr lang="en-ZA" sz="28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−15</m:t>
                          </m:r>
                        </m:den>
                      </m:f>
                      <m:r>
                        <a:rPr lang="en-ZA" sz="28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=80 </m:t>
                      </m:r>
                      <m:r>
                        <a:rPr lang="en-ZA" sz="28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𝑉</m:t>
                      </m:r>
                    </m:oMath>
                  </m:oMathPara>
                </a14:m>
                <a:endParaRPr lang="en-ZA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774" y="2028370"/>
                <a:ext cx="2920736" cy="90178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421103" y="676191"/>
                <a:ext cx="4556825" cy="13137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b="0" i="1" smtClean="0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ZA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103" y="676191"/>
                <a:ext cx="4556825" cy="1313758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76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084757" y="0"/>
            <a:ext cx="61796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</a:t>
            </a:r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3-2 continued:  </a:t>
            </a:r>
            <a:r>
              <a:rPr lang="en-ZA" sz="2800" b="1" u="sng" dirty="0" smtClean="0">
                <a:solidFill>
                  <a:srgbClr val="0066CC"/>
                </a:solidFill>
                <a:latin typeface="Times New Roman" pitchFamily="18" charset="0"/>
                <a:cs typeface="Times New Roman" pitchFamily="18" charset="0"/>
              </a:rPr>
              <a:t>Calculating </a:t>
            </a:r>
            <a:r>
              <a:rPr lang="en-ZA" sz="2800" b="1" u="sng" dirty="0" smtClean="0">
                <a:solidFill>
                  <a:srgbClr val="0066CC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</a:t>
            </a:r>
            <a:r>
              <a:rPr lang="en-ZA" sz="2800" b="1" u="sng" baseline="-25000" dirty="0" smtClean="0">
                <a:solidFill>
                  <a:srgbClr val="0066CC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endParaRPr lang="en-ZA" sz="2800" i="1" dirty="0">
              <a:solidFill>
                <a:srgbClr val="0066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46274" y="2015349"/>
                <a:ext cx="1486241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74" y="2015349"/>
                <a:ext cx="1486241" cy="89896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42431" y="3090736"/>
                <a:ext cx="1502784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31" y="3090736"/>
                <a:ext cx="1502784" cy="89896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9731" y="4129400"/>
                <a:ext cx="1502784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31" y="4129400"/>
                <a:ext cx="1502784" cy="89896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153408" y="2104570"/>
                <a:ext cx="2943626" cy="1107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ZA" sz="2400" i="1" smtClean="0">
                              <a:latin typeface="Cambria Math"/>
                              <a:ea typeface="Cambria Math"/>
                            </a:rPr>
                            <m:t>∆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60</m:t>
                                </m:r>
                              </m:e>
                              <m:e>
                                <m:r>
                                  <a:rPr lang="en-ZA" sz="24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ZA" sz="24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ZA" sz="24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+4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408" y="2104570"/>
                <a:ext cx="2943626" cy="110703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 bwMode="auto">
          <a:xfrm>
            <a:off x="5950650" y="3246920"/>
            <a:ext cx="213001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874665" y="3216564"/>
                <a:ext cx="2047355" cy="7218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ZA" sz="2400" i="1" smtClean="0">
                              <a:latin typeface="Cambria Math"/>
                              <a:ea typeface="Cambria Math"/>
                            </a:rPr>
                          </m:ctrlPr>
                        </m:mPr>
                        <m:mr>
                          <m:e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+5</m:t>
                            </m:r>
                          </m:e>
                          <m:e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60</m:t>
                            </m:r>
                          </m:e>
                          <m:e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−3</m:t>
                            </m:r>
                          </m:e>
                        </m:mr>
                        <m:mr>
                          <m:e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−4</m:t>
                            </m:r>
                          </m:e>
                          <m:e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e>
                          <m:e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+0</m:t>
                            </m:r>
                          </m:e>
                        </m:mr>
                      </m:m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665" y="3216564"/>
                <a:ext cx="2047355" cy="72186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/>
          <p:cNvGrpSpPr/>
          <p:nvPr/>
        </p:nvGrpSpPr>
        <p:grpSpPr>
          <a:xfrm>
            <a:off x="6102416" y="2171700"/>
            <a:ext cx="2294216" cy="2086015"/>
            <a:chOff x="3905316" y="2171700"/>
            <a:chExt cx="2294216" cy="2086015"/>
          </a:xfrm>
        </p:grpSpPr>
        <p:cxnSp>
          <p:nvCxnSpPr>
            <p:cNvPr id="13" name="Straight Arrow Connector 12"/>
            <p:cNvCxnSpPr/>
            <p:nvPr/>
          </p:nvCxnSpPr>
          <p:spPr bwMode="auto">
            <a:xfrm>
              <a:off x="3911600" y="2171700"/>
              <a:ext cx="1980000" cy="1116000"/>
            </a:xfrm>
            <a:prstGeom prst="straightConnector1">
              <a:avLst/>
            </a:prstGeom>
            <a:ln>
              <a:solidFill>
                <a:srgbClr val="00B05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 bwMode="auto">
            <a:xfrm>
              <a:off x="3916156" y="2563617"/>
              <a:ext cx="1980000" cy="1116000"/>
            </a:xfrm>
            <a:prstGeom prst="straightConnector1">
              <a:avLst/>
            </a:prstGeom>
            <a:ln>
              <a:solidFill>
                <a:srgbClr val="00B05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 bwMode="auto">
            <a:xfrm>
              <a:off x="3905316" y="2918949"/>
              <a:ext cx="1980000" cy="1116000"/>
            </a:xfrm>
            <a:prstGeom prst="straightConnector1">
              <a:avLst/>
            </a:prstGeom>
            <a:ln>
              <a:solidFill>
                <a:srgbClr val="00B05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5822332" y="3083517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+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825712" y="3469551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+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819956" y="3888383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+</a:t>
              </a:r>
              <a:endParaRPr lang="en-ZA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610988" y="2184992"/>
            <a:ext cx="2293868" cy="2034623"/>
            <a:chOff x="3413888" y="2184992"/>
            <a:chExt cx="2293868" cy="2034623"/>
          </a:xfrm>
        </p:grpSpPr>
        <p:cxnSp>
          <p:nvCxnSpPr>
            <p:cNvPr id="17" name="Straight Arrow Connector 16"/>
            <p:cNvCxnSpPr/>
            <p:nvPr/>
          </p:nvCxnSpPr>
          <p:spPr bwMode="auto">
            <a:xfrm flipH="1">
              <a:off x="3751056" y="2184992"/>
              <a:ext cx="1944000" cy="1044000"/>
            </a:xfrm>
            <a:prstGeom prst="straightConnector1">
              <a:avLst/>
            </a:prstGeom>
            <a:ln>
              <a:solidFill>
                <a:srgbClr val="FF330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 bwMode="auto">
            <a:xfrm flipH="1">
              <a:off x="3727516" y="2567381"/>
              <a:ext cx="1944000" cy="1044000"/>
            </a:xfrm>
            <a:prstGeom prst="straightConnector1">
              <a:avLst/>
            </a:prstGeom>
            <a:ln>
              <a:solidFill>
                <a:srgbClr val="FF330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 bwMode="auto">
            <a:xfrm flipH="1">
              <a:off x="3763756" y="2931649"/>
              <a:ext cx="1944000" cy="1044000"/>
            </a:xfrm>
            <a:prstGeom prst="straightConnector1">
              <a:avLst/>
            </a:prstGeom>
            <a:ln>
              <a:solidFill>
                <a:srgbClr val="FF330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3413888" y="3032717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-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429968" y="3444151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-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436912" y="3850283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-</a:t>
              </a:r>
              <a:endParaRPr lang="en-ZA" dirty="0">
                <a:solidFill>
                  <a:srgbClr val="00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351327" y="4974813"/>
                <a:ext cx="6159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  <a:ea typeface="Cambria Math"/>
                            </a:rPr>
                            <m:t>∆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</m:d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−4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−3</m:t>
                          </m:r>
                        </m:e>
                      </m:d>
                      <m:r>
                        <a:rPr lang="en-ZA" sz="2400" i="1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−3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60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327" y="4974813"/>
                <a:ext cx="6159443" cy="461665"/>
              </a:xfrm>
              <a:prstGeom prst="rect">
                <a:avLst/>
              </a:prstGeom>
              <a:blipFill rotWithShape="1">
                <a:blip r:embed="rId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781299" y="5370745"/>
                <a:ext cx="58842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−3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∙−3</m:t>
                          </m:r>
                        </m:e>
                      </m:d>
                      <m:r>
                        <a:rPr lang="en-ZA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∙5</m:t>
                          </m:r>
                        </m:e>
                      </m:d>
                      <m:r>
                        <a:rPr lang="en-ZA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60</m:t>
                          </m:r>
                          <m:r>
                            <a:rPr lang="en-ZA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∙−4</m:t>
                          </m:r>
                        </m:e>
                      </m:d>
                    </m:oMath>
                  </m:oMathPara>
                </a14:m>
                <a:endParaRPr lang="en-ZA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299" y="5370745"/>
                <a:ext cx="5884281" cy="46166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821846" y="5832410"/>
                <a:ext cx="42837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=0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+0+0</m:t>
                      </m:r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−0−0−(−960)</m:t>
                      </m:r>
                    </m:oMath>
                  </m:oMathPara>
                </a14:m>
                <a:endParaRPr lang="en-ZA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846" y="5832410"/>
                <a:ext cx="4283737" cy="461665"/>
              </a:xfrm>
              <a:prstGeom prst="rect">
                <a:avLst/>
              </a:prstGeom>
              <a:blipFill rotWithShape="1">
                <a:blip r:embed="rId9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821846" y="6294075"/>
                <a:ext cx="11181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=960</m:t>
                      </m:r>
                    </m:oMath>
                  </m:oMathPara>
                </a14:m>
                <a:endParaRPr lang="en-ZA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846" y="6294075"/>
                <a:ext cx="1118127" cy="46166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879774" y="2218870"/>
                <a:ext cx="13907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8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80 </m:t>
                      </m:r>
                      <m:r>
                        <a:rPr lang="en-ZA" sz="28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𝑉</m:t>
                      </m:r>
                    </m:oMath>
                  </m:oMathPara>
                </a14:m>
                <a:endParaRPr lang="en-ZA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774" y="2218870"/>
                <a:ext cx="1390701" cy="52322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911707" y="3109364"/>
                <a:ext cx="2790892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960</m:t>
                          </m:r>
                        </m:num>
                        <m:den>
                          <m:r>
                            <a:rPr lang="en-ZA" sz="28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−15</m:t>
                          </m:r>
                        </m:den>
                      </m:f>
                      <m:r>
                        <a:rPr lang="en-ZA" sz="2800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=−64 </m:t>
                      </m:r>
                      <m:r>
                        <a:rPr lang="en-ZA" sz="2800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𝑉</m:t>
                      </m:r>
                    </m:oMath>
                  </m:oMathPara>
                </a14:m>
                <a:endParaRPr lang="en-ZA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707" y="3109364"/>
                <a:ext cx="2790892" cy="90178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421103" y="676191"/>
                <a:ext cx="4556825" cy="13137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b="0" i="1" smtClean="0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ZA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103" y="676191"/>
                <a:ext cx="4556825" cy="1313758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997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084757" y="0"/>
            <a:ext cx="60734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</a:t>
            </a:r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3-2 continued:  </a:t>
            </a:r>
            <a:r>
              <a:rPr lang="en-ZA" sz="2800" b="1" u="sng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Calculating </a:t>
            </a:r>
            <a:r>
              <a:rPr lang="en-ZA" sz="2800" b="1" u="sng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</a:t>
            </a:r>
            <a:r>
              <a:rPr lang="en-ZA" sz="2800" b="1" u="sng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3</a:t>
            </a:r>
            <a:endParaRPr lang="en-ZA" sz="2800" i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46274" y="2015349"/>
                <a:ext cx="1486241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74" y="2015349"/>
                <a:ext cx="1486241" cy="89896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42431" y="3090736"/>
                <a:ext cx="1502784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ZA" sz="2800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31" y="3090736"/>
                <a:ext cx="1502784" cy="89896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9731" y="4129400"/>
                <a:ext cx="1502784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8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ZA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31" y="4129400"/>
                <a:ext cx="1502784" cy="89896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77208" y="2104570"/>
                <a:ext cx="2943626" cy="1107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ZA" sz="240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ZA" sz="2400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ZA" sz="2400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ZA" sz="240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ZA" sz="2400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+6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208" y="2104570"/>
                <a:ext cx="2943626" cy="110703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 bwMode="auto">
          <a:xfrm>
            <a:off x="5761904" y="3224304"/>
            <a:ext cx="213001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798465" y="3216564"/>
                <a:ext cx="2047355" cy="7156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ZA" sz="2400" i="1" smtClean="0">
                              <a:latin typeface="Cambria Math"/>
                              <a:ea typeface="Cambria Math"/>
                            </a:rPr>
                          </m:ctrlPr>
                        </m:mPr>
                        <m:mr>
                          <m:e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+5</m:t>
                            </m:r>
                          </m:e>
                          <m:e>
                            <m:r>
                              <a:rPr lang="en-ZA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−2</m:t>
                            </m:r>
                          </m:e>
                          <m:e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60</m:t>
                            </m:r>
                          </m:e>
                        </m:mr>
                        <m:mr>
                          <m:e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−4</m:t>
                            </m:r>
                          </m:e>
                          <m:e>
                            <m:r>
                              <a:rPr lang="en-ZA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−5</m:t>
                            </m:r>
                          </m:e>
                          <m:e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465" y="3216564"/>
                <a:ext cx="2047355" cy="71564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/>
          <p:cNvGrpSpPr/>
          <p:nvPr/>
        </p:nvGrpSpPr>
        <p:grpSpPr>
          <a:xfrm>
            <a:off x="6026216" y="2171700"/>
            <a:ext cx="2294216" cy="2086015"/>
            <a:chOff x="3905316" y="2171700"/>
            <a:chExt cx="2294216" cy="2086015"/>
          </a:xfrm>
        </p:grpSpPr>
        <p:cxnSp>
          <p:nvCxnSpPr>
            <p:cNvPr id="13" name="Straight Arrow Connector 12"/>
            <p:cNvCxnSpPr/>
            <p:nvPr/>
          </p:nvCxnSpPr>
          <p:spPr bwMode="auto">
            <a:xfrm>
              <a:off x="3911600" y="2171700"/>
              <a:ext cx="1980000" cy="1116000"/>
            </a:xfrm>
            <a:prstGeom prst="straightConnector1">
              <a:avLst/>
            </a:prstGeom>
            <a:ln>
              <a:solidFill>
                <a:srgbClr val="00B05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 bwMode="auto">
            <a:xfrm>
              <a:off x="3916156" y="2563617"/>
              <a:ext cx="1980000" cy="1116000"/>
            </a:xfrm>
            <a:prstGeom prst="straightConnector1">
              <a:avLst/>
            </a:prstGeom>
            <a:ln>
              <a:solidFill>
                <a:srgbClr val="00B05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 bwMode="auto">
            <a:xfrm>
              <a:off x="3905316" y="2918949"/>
              <a:ext cx="1980000" cy="1116000"/>
            </a:xfrm>
            <a:prstGeom prst="straightConnector1">
              <a:avLst/>
            </a:prstGeom>
            <a:ln>
              <a:solidFill>
                <a:srgbClr val="00B05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5822332" y="3083517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+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825712" y="3469551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+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819956" y="3888383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+</a:t>
              </a:r>
              <a:endParaRPr lang="en-ZA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445888" y="2184992"/>
            <a:ext cx="2293868" cy="2034623"/>
            <a:chOff x="3413888" y="2184992"/>
            <a:chExt cx="2293868" cy="2034623"/>
          </a:xfrm>
        </p:grpSpPr>
        <p:cxnSp>
          <p:nvCxnSpPr>
            <p:cNvPr id="17" name="Straight Arrow Connector 16"/>
            <p:cNvCxnSpPr/>
            <p:nvPr/>
          </p:nvCxnSpPr>
          <p:spPr bwMode="auto">
            <a:xfrm flipH="1">
              <a:off x="3751056" y="2184992"/>
              <a:ext cx="1944000" cy="1044000"/>
            </a:xfrm>
            <a:prstGeom prst="straightConnector1">
              <a:avLst/>
            </a:prstGeom>
            <a:ln>
              <a:solidFill>
                <a:srgbClr val="FF330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 bwMode="auto">
            <a:xfrm flipH="1">
              <a:off x="3727516" y="2567381"/>
              <a:ext cx="1944000" cy="1044000"/>
            </a:xfrm>
            <a:prstGeom prst="straightConnector1">
              <a:avLst/>
            </a:prstGeom>
            <a:ln>
              <a:solidFill>
                <a:srgbClr val="FF330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 bwMode="auto">
            <a:xfrm flipH="1">
              <a:off x="3763756" y="2931649"/>
              <a:ext cx="1944000" cy="1044000"/>
            </a:xfrm>
            <a:prstGeom prst="straightConnector1">
              <a:avLst/>
            </a:prstGeom>
            <a:ln>
              <a:solidFill>
                <a:srgbClr val="FF330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3413888" y="3032717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-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429968" y="3444151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-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436912" y="3850283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-</a:t>
              </a:r>
              <a:endParaRPr lang="en-ZA" dirty="0">
                <a:solidFill>
                  <a:srgbClr val="00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100403" y="4348049"/>
                <a:ext cx="3831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0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−4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en-ZA" sz="24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4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603</m:t>
                          </m:r>
                        </m:e>
                      </m:d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+0</m:t>
                      </m:r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403" y="4348049"/>
                <a:ext cx="3831626" cy="461665"/>
              </a:xfrm>
              <a:prstGeom prst="rect">
                <a:avLst/>
              </a:prstGeom>
              <a:blipFill rotWithShape="1">
                <a:blip r:embed="rId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530375" y="4743981"/>
                <a:ext cx="32557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ZA" sz="2400" i="1" smtClean="0">
                        <a:solidFill>
                          <a:srgbClr val="FF0000"/>
                        </a:solidFill>
                        <a:latin typeface="Cambria Math" pitchFamily="18" charset="0"/>
                        <a:ea typeface="Cambria Math" pitchFamily="18" charset="0"/>
                      </a:rPr>
                      <m:t>−</m:t>
                    </m:r>
                    <m:d>
                      <m:dPr>
                        <m:ctrlPr>
                          <a:rPr lang="en-ZA" sz="2400" i="1">
                            <a:solidFill>
                              <a:srgbClr val="FF0000"/>
                            </a:solidFill>
                            <a:latin typeface="Cambria Math"/>
                            <a:ea typeface="Cambria Math" pitchFamily="18" charset="0"/>
                          </a:rPr>
                        </m:ctrlPr>
                      </m:dPr>
                      <m:e>
                        <m:r>
                          <a:rPr lang="en-ZA" sz="2400" b="0" i="1" smtClean="0">
                            <a:solidFill>
                              <a:srgbClr val="FF0000"/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60</m:t>
                        </m:r>
                        <m:r>
                          <a:rPr lang="en-ZA" sz="2400" i="1">
                            <a:solidFill>
                              <a:srgbClr val="FF0000"/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∙</m:t>
                        </m:r>
                        <m:r>
                          <a:rPr lang="en-ZA" sz="2400" b="0" i="1" smtClean="0">
                            <a:solidFill>
                              <a:srgbClr val="FF0000"/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−5</m:t>
                        </m:r>
                        <m:r>
                          <a:rPr lang="en-ZA" sz="2400" i="1">
                            <a:solidFill>
                              <a:srgbClr val="FF0000"/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∙−3</m:t>
                        </m:r>
                      </m:e>
                    </m:d>
                    <m:r>
                      <a:rPr lang="en-ZA" sz="2400" i="1">
                        <a:solidFill>
                          <a:srgbClr val="FF0000"/>
                        </a:solidFill>
                        <a:latin typeface="Cambria Math" pitchFamily="18" charset="0"/>
                        <a:ea typeface="Cambria Math" pitchFamily="18" charset="0"/>
                      </a:rPr>
                      <m:t>−</m:t>
                    </m:r>
                    <m:r>
                      <a:rPr lang="en-ZA" sz="2400" b="0" i="1" smtClean="0">
                        <a:solidFill>
                          <a:srgbClr val="FF0000"/>
                        </a:solidFill>
                        <a:latin typeface="Cambria Math" pitchFamily="18" charset="0"/>
                        <a:ea typeface="Cambria Math" pitchFamily="18" charset="0"/>
                      </a:rPr>
                      <m:t>0</m:t>
                    </m:r>
                    <m:r>
                      <a:rPr lang="en-ZA" sz="2400" i="1">
                        <a:solidFill>
                          <a:srgbClr val="FF0000"/>
                        </a:solidFill>
                        <a:latin typeface="Cambria Math" pitchFamily="18" charset="0"/>
                        <a:ea typeface="Cambria Math" pitchFamily="18" charset="0"/>
                      </a:rPr>
                      <m:t>−</m:t>
                    </m:r>
                  </m:oMath>
                </a14:m>
                <a:r>
                  <a:rPr lang="en-ZA" sz="2400" dirty="0" smtClean="0">
                    <a:solidFill>
                      <a:srgbClr val="FF0000"/>
                    </a:solidFill>
                    <a:latin typeface="Cambria Math" pitchFamily="18" charset="0"/>
                    <a:ea typeface="Cambria Math" pitchFamily="18" charset="0"/>
                  </a:rPr>
                  <a:t>0</a:t>
                </a:r>
                <a:endParaRPr lang="en-ZA" sz="2400" dirty="0">
                  <a:solidFill>
                    <a:srgbClr val="FF0000"/>
                  </a:solidFill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375" y="4743981"/>
                <a:ext cx="3255757" cy="461665"/>
              </a:xfrm>
              <a:prstGeom prst="rect">
                <a:avLst/>
              </a:prstGeom>
              <a:blipFill rotWithShape="1">
                <a:blip r:embed="rId9"/>
                <a:stretch>
                  <a:fillRect t="-10526" r="-1498" b="-2894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5570922" y="5205646"/>
                <a:ext cx="23930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−1440</m:t>
                      </m:r>
                      <m:r>
                        <a:rPr lang="en-ZA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−900</m:t>
                      </m:r>
                    </m:oMath>
                  </m:oMathPara>
                </a14:m>
                <a:endParaRPr lang="en-ZA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922" y="5205646"/>
                <a:ext cx="2393091" cy="46166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570922" y="5667311"/>
                <a:ext cx="15172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−2340</m:t>
                      </m:r>
                    </m:oMath>
                  </m:oMathPara>
                </a14:m>
                <a:endParaRPr lang="en-ZA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922" y="5667311"/>
                <a:ext cx="1517275" cy="46166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911707" y="3299864"/>
                <a:ext cx="16584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800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=−64 </m:t>
                      </m:r>
                      <m:r>
                        <a:rPr lang="en-ZA" sz="2800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𝑉</m:t>
                      </m:r>
                    </m:oMath>
                  </m:oMathPara>
                </a14:m>
                <a:endParaRPr lang="en-ZA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707" y="3299864"/>
                <a:ext cx="1658403" cy="52322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879774" y="2218870"/>
                <a:ext cx="13907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8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80 </m:t>
                      </m:r>
                      <m:r>
                        <a:rPr lang="en-ZA" sz="28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𝑉</m:t>
                      </m:r>
                    </m:oMath>
                  </m:oMathPara>
                </a14:m>
                <a:endParaRPr lang="en-ZA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774" y="2218870"/>
                <a:ext cx="1390701" cy="52322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875029" y="4100494"/>
                <a:ext cx="3119508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−2340</m:t>
                          </m:r>
                        </m:num>
                        <m:den>
                          <m:r>
                            <a:rPr lang="en-ZA" sz="28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−15</m:t>
                          </m:r>
                        </m:den>
                      </m:f>
                      <m:r>
                        <a:rPr lang="en-ZA" sz="2800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=156 </m:t>
                      </m:r>
                      <m:r>
                        <a:rPr lang="en-ZA" sz="2800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𝑉</m:t>
                      </m:r>
                    </m:oMath>
                  </m:oMathPara>
                </a14:m>
                <a:endParaRPr lang="en-ZA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029" y="4100494"/>
                <a:ext cx="3119508" cy="90178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421103" y="676191"/>
                <a:ext cx="4556825" cy="13137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b="0" i="1" smtClean="0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ZA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103" y="676191"/>
                <a:ext cx="4556825" cy="1313758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730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228599"/>
            <a:ext cx="8243887" cy="1345044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4000" b="1" dirty="0" smtClean="0"/>
              <a:t>Ch. 3 L#2:  </a:t>
            </a:r>
            <a:r>
              <a:rPr lang="en-US" sz="4000" dirty="0" smtClean="0"/>
              <a:t>3.3 Nodal Analysis</a:t>
            </a:r>
            <a:br>
              <a:rPr lang="en-US" sz="4000" dirty="0" smtClean="0"/>
            </a:br>
            <a:r>
              <a:rPr lang="en-US" sz="4800" dirty="0" smtClean="0">
                <a:solidFill>
                  <a:srgbClr val="FF0000"/>
                </a:solidFill>
              </a:rPr>
              <a:t>With Voltage sources</a:t>
            </a:r>
            <a:endParaRPr lang="en-US" sz="48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556" y="1573643"/>
            <a:ext cx="4943744" cy="4270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9" name="Group 18"/>
          <p:cNvGrpSpPr/>
          <p:nvPr/>
        </p:nvGrpSpPr>
        <p:grpSpPr>
          <a:xfrm>
            <a:off x="2521837" y="2965200"/>
            <a:ext cx="3758914" cy="127664"/>
            <a:chOff x="732817" y="3296500"/>
            <a:chExt cx="3758914" cy="127664"/>
          </a:xfrm>
        </p:grpSpPr>
        <p:sp>
          <p:nvSpPr>
            <p:cNvPr id="8" name="Oval 7"/>
            <p:cNvSpPr/>
            <p:nvPr/>
          </p:nvSpPr>
          <p:spPr bwMode="auto">
            <a:xfrm>
              <a:off x="732817" y="3296500"/>
              <a:ext cx="108615" cy="10861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2699101" y="3315549"/>
              <a:ext cx="108615" cy="10861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4383116" y="3296500"/>
              <a:ext cx="108615" cy="10861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07425" y="3056499"/>
            <a:ext cx="4139563" cy="3450290"/>
            <a:chOff x="407425" y="3056499"/>
            <a:chExt cx="4139563" cy="3450290"/>
          </a:xfrm>
        </p:grpSpPr>
        <p:pic>
          <p:nvPicPr>
            <p:cNvPr id="14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425" y="3570291"/>
              <a:ext cx="1368616" cy="2244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Freeform 14"/>
            <p:cNvSpPr/>
            <p:nvPr/>
          </p:nvSpPr>
          <p:spPr>
            <a:xfrm>
              <a:off x="1157215" y="3056499"/>
              <a:ext cx="1436767" cy="3155108"/>
            </a:xfrm>
            <a:custGeom>
              <a:avLst/>
              <a:gdLst>
                <a:gd name="connsiteX0" fmla="*/ 1463040 w 2532185"/>
                <a:gd name="connsiteY0" fmla="*/ 2377440 h 2771336"/>
                <a:gd name="connsiteX1" fmla="*/ 1477108 w 2532185"/>
                <a:gd name="connsiteY1" fmla="*/ 2771336 h 2771336"/>
                <a:gd name="connsiteX2" fmla="*/ 2532185 w 2532185"/>
                <a:gd name="connsiteY2" fmla="*/ 2700997 h 2771336"/>
                <a:gd name="connsiteX3" fmla="*/ 2461846 w 2532185"/>
                <a:gd name="connsiteY3" fmla="*/ 42203 h 2771336"/>
                <a:gd name="connsiteX4" fmla="*/ 0 w 2532185"/>
                <a:gd name="connsiteY4" fmla="*/ 0 h 2771336"/>
                <a:gd name="connsiteX0" fmla="*/ 1463040 w 2475915"/>
                <a:gd name="connsiteY0" fmla="*/ 2377440 h 2771336"/>
                <a:gd name="connsiteX1" fmla="*/ 1477108 w 2475915"/>
                <a:gd name="connsiteY1" fmla="*/ 2771336 h 2771336"/>
                <a:gd name="connsiteX2" fmla="*/ 2475915 w 2475915"/>
                <a:gd name="connsiteY2" fmla="*/ 2757268 h 2771336"/>
                <a:gd name="connsiteX3" fmla="*/ 2461846 w 2475915"/>
                <a:gd name="connsiteY3" fmla="*/ 42203 h 2771336"/>
                <a:gd name="connsiteX4" fmla="*/ 0 w 2475915"/>
                <a:gd name="connsiteY4" fmla="*/ 0 h 2771336"/>
                <a:gd name="connsiteX0" fmla="*/ 1463040 w 2475915"/>
                <a:gd name="connsiteY0" fmla="*/ 2377440 h 2771336"/>
                <a:gd name="connsiteX1" fmla="*/ 1463040 w 2475915"/>
                <a:gd name="connsiteY1" fmla="*/ 2771336 h 2771336"/>
                <a:gd name="connsiteX2" fmla="*/ 2475915 w 2475915"/>
                <a:gd name="connsiteY2" fmla="*/ 2757268 h 2771336"/>
                <a:gd name="connsiteX3" fmla="*/ 2461846 w 2475915"/>
                <a:gd name="connsiteY3" fmla="*/ 42203 h 2771336"/>
                <a:gd name="connsiteX4" fmla="*/ 0 w 2475915"/>
                <a:gd name="connsiteY4" fmla="*/ 0 h 2771336"/>
                <a:gd name="connsiteX0" fmla="*/ 1463040 w 2477268"/>
                <a:gd name="connsiteY0" fmla="*/ 2377440 h 2771336"/>
                <a:gd name="connsiteX1" fmla="*/ 1463040 w 2477268"/>
                <a:gd name="connsiteY1" fmla="*/ 2771336 h 2771336"/>
                <a:gd name="connsiteX2" fmla="*/ 2475915 w 2477268"/>
                <a:gd name="connsiteY2" fmla="*/ 2757268 h 2771336"/>
                <a:gd name="connsiteX3" fmla="*/ 2475914 w 2477268"/>
                <a:gd name="connsiteY3" fmla="*/ 0 h 2771336"/>
                <a:gd name="connsiteX4" fmla="*/ 0 w 2477268"/>
                <a:gd name="connsiteY4" fmla="*/ 0 h 2771336"/>
                <a:gd name="connsiteX0" fmla="*/ 1506924 w 2477268"/>
                <a:gd name="connsiteY0" fmla="*/ 2362200 h 2771336"/>
                <a:gd name="connsiteX1" fmla="*/ 1463040 w 2477268"/>
                <a:gd name="connsiteY1" fmla="*/ 2771336 h 2771336"/>
                <a:gd name="connsiteX2" fmla="*/ 2475915 w 2477268"/>
                <a:gd name="connsiteY2" fmla="*/ 2757268 h 2771336"/>
                <a:gd name="connsiteX3" fmla="*/ 2475914 w 2477268"/>
                <a:gd name="connsiteY3" fmla="*/ 0 h 2771336"/>
                <a:gd name="connsiteX4" fmla="*/ 0 w 2477268"/>
                <a:gd name="connsiteY4" fmla="*/ 0 h 2771336"/>
                <a:gd name="connsiteX0" fmla="*/ 1441097 w 2411441"/>
                <a:gd name="connsiteY0" fmla="*/ 2362200 h 2771336"/>
                <a:gd name="connsiteX1" fmla="*/ 1397213 w 2411441"/>
                <a:gd name="connsiteY1" fmla="*/ 2771336 h 2771336"/>
                <a:gd name="connsiteX2" fmla="*/ 2410088 w 2411441"/>
                <a:gd name="connsiteY2" fmla="*/ 2757268 h 2771336"/>
                <a:gd name="connsiteX3" fmla="*/ 2410087 w 2411441"/>
                <a:gd name="connsiteY3" fmla="*/ 0 h 2771336"/>
                <a:gd name="connsiteX4" fmla="*/ 0 w 2411441"/>
                <a:gd name="connsiteY4" fmla="*/ 0 h 2771336"/>
                <a:gd name="connsiteX0" fmla="*/ 1441097 w 2411441"/>
                <a:gd name="connsiteY0" fmla="*/ 2362200 h 2771336"/>
                <a:gd name="connsiteX1" fmla="*/ 1397213 w 2411441"/>
                <a:gd name="connsiteY1" fmla="*/ 2771336 h 2771336"/>
                <a:gd name="connsiteX2" fmla="*/ 2410088 w 2411441"/>
                <a:gd name="connsiteY2" fmla="*/ 2757268 h 2771336"/>
                <a:gd name="connsiteX3" fmla="*/ 2410087 w 2411441"/>
                <a:gd name="connsiteY3" fmla="*/ 0 h 2771336"/>
                <a:gd name="connsiteX4" fmla="*/ 0 w 2411441"/>
                <a:gd name="connsiteY4" fmla="*/ 0 h 2771336"/>
                <a:gd name="connsiteX0" fmla="*/ 1441097 w 2411441"/>
                <a:gd name="connsiteY0" fmla="*/ 2362200 h 2982172"/>
                <a:gd name="connsiteX1" fmla="*/ 1397213 w 2411441"/>
                <a:gd name="connsiteY1" fmla="*/ 2771336 h 2982172"/>
                <a:gd name="connsiteX2" fmla="*/ 2410088 w 2411441"/>
                <a:gd name="connsiteY2" fmla="*/ 2757268 h 2982172"/>
                <a:gd name="connsiteX3" fmla="*/ 2410087 w 2411441"/>
                <a:gd name="connsiteY3" fmla="*/ 0 h 2982172"/>
                <a:gd name="connsiteX4" fmla="*/ 0 w 2411441"/>
                <a:gd name="connsiteY4" fmla="*/ 0 h 2982172"/>
                <a:gd name="connsiteX0" fmla="*/ 1441097 w 2410088"/>
                <a:gd name="connsiteY0" fmla="*/ 2362200 h 2982172"/>
                <a:gd name="connsiteX1" fmla="*/ 1397213 w 2410088"/>
                <a:gd name="connsiteY1" fmla="*/ 2771336 h 2982172"/>
                <a:gd name="connsiteX2" fmla="*/ 2410088 w 2410088"/>
                <a:gd name="connsiteY2" fmla="*/ 2757268 h 2982172"/>
                <a:gd name="connsiteX3" fmla="*/ 2410087 w 2410088"/>
                <a:gd name="connsiteY3" fmla="*/ 0 h 2982172"/>
                <a:gd name="connsiteX4" fmla="*/ 0 w 2410088"/>
                <a:gd name="connsiteY4" fmla="*/ 0 h 2982172"/>
                <a:gd name="connsiteX0" fmla="*/ 1441097 w 2410088"/>
                <a:gd name="connsiteY0" fmla="*/ 2566442 h 3186414"/>
                <a:gd name="connsiteX1" fmla="*/ 1397213 w 2410088"/>
                <a:gd name="connsiteY1" fmla="*/ 2975578 h 3186414"/>
                <a:gd name="connsiteX2" fmla="*/ 2410088 w 2410088"/>
                <a:gd name="connsiteY2" fmla="*/ 2961510 h 3186414"/>
                <a:gd name="connsiteX3" fmla="*/ 2410087 w 2410088"/>
                <a:gd name="connsiteY3" fmla="*/ 204242 h 3186414"/>
                <a:gd name="connsiteX4" fmla="*/ 0 w 2410088"/>
                <a:gd name="connsiteY4" fmla="*/ 204242 h 3186414"/>
                <a:gd name="connsiteX0" fmla="*/ 1441097 w 2422111"/>
                <a:gd name="connsiteY0" fmla="*/ 2566442 h 2980162"/>
                <a:gd name="connsiteX1" fmla="*/ 1397213 w 2422111"/>
                <a:gd name="connsiteY1" fmla="*/ 2975578 h 2980162"/>
                <a:gd name="connsiteX2" fmla="*/ 2422111 w 2422111"/>
                <a:gd name="connsiteY2" fmla="*/ 1921850 h 2980162"/>
                <a:gd name="connsiteX3" fmla="*/ 2410087 w 2422111"/>
                <a:gd name="connsiteY3" fmla="*/ 204242 h 2980162"/>
                <a:gd name="connsiteX4" fmla="*/ 0 w 2422111"/>
                <a:gd name="connsiteY4" fmla="*/ 204242 h 2980162"/>
                <a:gd name="connsiteX0" fmla="*/ 1441097 w 2422111"/>
                <a:gd name="connsiteY0" fmla="*/ 2566442 h 2905542"/>
                <a:gd name="connsiteX1" fmla="*/ 2082533 w 2422111"/>
                <a:gd name="connsiteY1" fmla="*/ 2900422 h 2905542"/>
                <a:gd name="connsiteX2" fmla="*/ 2422111 w 2422111"/>
                <a:gd name="connsiteY2" fmla="*/ 1921850 h 2905542"/>
                <a:gd name="connsiteX3" fmla="*/ 2410087 w 2422111"/>
                <a:gd name="connsiteY3" fmla="*/ 204242 h 2905542"/>
                <a:gd name="connsiteX4" fmla="*/ 0 w 2422111"/>
                <a:gd name="connsiteY4" fmla="*/ 204242 h 2905542"/>
                <a:gd name="connsiteX0" fmla="*/ 1441097 w 2662575"/>
                <a:gd name="connsiteY0" fmla="*/ 2566442 h 2903294"/>
                <a:gd name="connsiteX1" fmla="*/ 2082533 w 2662575"/>
                <a:gd name="connsiteY1" fmla="*/ 2900422 h 2903294"/>
                <a:gd name="connsiteX2" fmla="*/ 2662575 w 2662575"/>
                <a:gd name="connsiteY2" fmla="*/ 1420808 h 2903294"/>
                <a:gd name="connsiteX3" fmla="*/ 2410087 w 2662575"/>
                <a:gd name="connsiteY3" fmla="*/ 204242 h 2903294"/>
                <a:gd name="connsiteX4" fmla="*/ 0 w 2662575"/>
                <a:gd name="connsiteY4" fmla="*/ 204242 h 2903294"/>
                <a:gd name="connsiteX0" fmla="*/ 1441097 w 2662575"/>
                <a:gd name="connsiteY0" fmla="*/ 2548094 h 2884946"/>
                <a:gd name="connsiteX1" fmla="*/ 2082533 w 2662575"/>
                <a:gd name="connsiteY1" fmla="*/ 2882074 h 2884946"/>
                <a:gd name="connsiteX2" fmla="*/ 2662575 w 2662575"/>
                <a:gd name="connsiteY2" fmla="*/ 1402460 h 2884946"/>
                <a:gd name="connsiteX3" fmla="*/ 2614481 w 2662575"/>
                <a:gd name="connsiteY3" fmla="*/ 210946 h 2884946"/>
                <a:gd name="connsiteX4" fmla="*/ 0 w 2662575"/>
                <a:gd name="connsiteY4" fmla="*/ 185894 h 2884946"/>
                <a:gd name="connsiteX0" fmla="*/ 1441097 w 2856523"/>
                <a:gd name="connsiteY0" fmla="*/ 2548094 h 2884885"/>
                <a:gd name="connsiteX1" fmla="*/ 2082533 w 2856523"/>
                <a:gd name="connsiteY1" fmla="*/ 2882074 h 2884885"/>
                <a:gd name="connsiteX2" fmla="*/ 2662575 w 2856523"/>
                <a:gd name="connsiteY2" fmla="*/ 1402460 h 2884885"/>
                <a:gd name="connsiteX3" fmla="*/ 2770968 w 2856523"/>
                <a:gd name="connsiteY3" fmla="*/ 886388 h 2884885"/>
                <a:gd name="connsiteX4" fmla="*/ 2614481 w 2856523"/>
                <a:gd name="connsiteY4" fmla="*/ 210946 h 2884885"/>
                <a:gd name="connsiteX5" fmla="*/ 0 w 2856523"/>
                <a:gd name="connsiteY5" fmla="*/ 185894 h 2884885"/>
                <a:gd name="connsiteX0" fmla="*/ 1441097 w 2829344"/>
                <a:gd name="connsiteY0" fmla="*/ 2363494 h 2700285"/>
                <a:gd name="connsiteX1" fmla="*/ 2082533 w 2829344"/>
                <a:gd name="connsiteY1" fmla="*/ 2697474 h 2700285"/>
                <a:gd name="connsiteX2" fmla="*/ 2662575 w 2829344"/>
                <a:gd name="connsiteY2" fmla="*/ 1217860 h 2700285"/>
                <a:gd name="connsiteX3" fmla="*/ 2770968 w 2829344"/>
                <a:gd name="connsiteY3" fmla="*/ 701788 h 2700285"/>
                <a:gd name="connsiteX4" fmla="*/ 2566388 w 2829344"/>
                <a:gd name="connsiteY4" fmla="*/ 414653 h 2700285"/>
                <a:gd name="connsiteX5" fmla="*/ 0 w 2829344"/>
                <a:gd name="connsiteY5" fmla="*/ 1294 h 2700285"/>
                <a:gd name="connsiteX0" fmla="*/ 1441097 w 2829344"/>
                <a:gd name="connsiteY0" fmla="*/ 2363494 h 2700285"/>
                <a:gd name="connsiteX1" fmla="*/ 2082533 w 2829344"/>
                <a:gd name="connsiteY1" fmla="*/ 2697474 h 2700285"/>
                <a:gd name="connsiteX2" fmla="*/ 2662575 w 2829344"/>
                <a:gd name="connsiteY2" fmla="*/ 1217860 h 2700285"/>
                <a:gd name="connsiteX3" fmla="*/ 2770969 w 2829344"/>
                <a:gd name="connsiteY3" fmla="*/ 1190303 h 2700285"/>
                <a:gd name="connsiteX4" fmla="*/ 2566388 w 2829344"/>
                <a:gd name="connsiteY4" fmla="*/ 414653 h 2700285"/>
                <a:gd name="connsiteX5" fmla="*/ 0 w 2829344"/>
                <a:gd name="connsiteY5" fmla="*/ 1294 h 2700285"/>
                <a:gd name="connsiteX0" fmla="*/ 1441097 w 2871275"/>
                <a:gd name="connsiteY0" fmla="*/ 2456436 h 2793227"/>
                <a:gd name="connsiteX1" fmla="*/ 2082533 w 2871275"/>
                <a:gd name="connsiteY1" fmla="*/ 2790416 h 2793227"/>
                <a:gd name="connsiteX2" fmla="*/ 2662575 w 2871275"/>
                <a:gd name="connsiteY2" fmla="*/ 1310802 h 2793227"/>
                <a:gd name="connsiteX3" fmla="*/ 2770969 w 2871275"/>
                <a:gd name="connsiteY3" fmla="*/ 1283245 h 2793227"/>
                <a:gd name="connsiteX4" fmla="*/ 2638528 w 2871275"/>
                <a:gd name="connsiteY4" fmla="*/ 257074 h 2793227"/>
                <a:gd name="connsiteX5" fmla="*/ 0 w 2871275"/>
                <a:gd name="connsiteY5" fmla="*/ 94236 h 2793227"/>
                <a:gd name="connsiteX0" fmla="*/ 1441097 w 2865677"/>
                <a:gd name="connsiteY0" fmla="*/ 2456436 h 2793192"/>
                <a:gd name="connsiteX1" fmla="*/ 2082533 w 2865677"/>
                <a:gd name="connsiteY1" fmla="*/ 2790416 h 2793192"/>
                <a:gd name="connsiteX2" fmla="*/ 2662575 w 2865677"/>
                <a:gd name="connsiteY2" fmla="*/ 1310802 h 2793192"/>
                <a:gd name="connsiteX3" fmla="*/ 2638528 w 2865677"/>
                <a:gd name="connsiteY3" fmla="*/ 257074 h 2793192"/>
                <a:gd name="connsiteX4" fmla="*/ 0 w 2865677"/>
                <a:gd name="connsiteY4" fmla="*/ 94236 h 2793192"/>
                <a:gd name="connsiteX0" fmla="*/ 1441097 w 2878140"/>
                <a:gd name="connsiteY0" fmla="*/ 2456436 h 2795244"/>
                <a:gd name="connsiteX1" fmla="*/ 2082533 w 2878140"/>
                <a:gd name="connsiteY1" fmla="*/ 2790416 h 2795244"/>
                <a:gd name="connsiteX2" fmla="*/ 2698645 w 2878140"/>
                <a:gd name="connsiteY2" fmla="*/ 1811844 h 2795244"/>
                <a:gd name="connsiteX3" fmla="*/ 2638528 w 2878140"/>
                <a:gd name="connsiteY3" fmla="*/ 257074 h 2795244"/>
                <a:gd name="connsiteX4" fmla="*/ 0 w 2878140"/>
                <a:gd name="connsiteY4" fmla="*/ 94236 h 2795244"/>
                <a:gd name="connsiteX0" fmla="*/ 1441097 w 2718477"/>
                <a:gd name="connsiteY0" fmla="*/ 2487674 h 2826482"/>
                <a:gd name="connsiteX1" fmla="*/ 2082533 w 2718477"/>
                <a:gd name="connsiteY1" fmla="*/ 2821654 h 2826482"/>
                <a:gd name="connsiteX2" fmla="*/ 2698645 w 2718477"/>
                <a:gd name="connsiteY2" fmla="*/ 1843082 h 2826482"/>
                <a:gd name="connsiteX3" fmla="*/ 2109508 w 2718477"/>
                <a:gd name="connsiteY3" fmla="*/ 238208 h 2826482"/>
                <a:gd name="connsiteX4" fmla="*/ 0 w 2718477"/>
                <a:gd name="connsiteY4" fmla="*/ 125474 h 2826482"/>
                <a:gd name="connsiteX0" fmla="*/ 1441097 w 2566077"/>
                <a:gd name="connsiteY0" fmla="*/ 2487674 h 2824237"/>
                <a:gd name="connsiteX1" fmla="*/ 2082533 w 2566077"/>
                <a:gd name="connsiteY1" fmla="*/ 2821654 h 2824237"/>
                <a:gd name="connsiteX2" fmla="*/ 2530321 w 2566077"/>
                <a:gd name="connsiteY2" fmla="*/ 1254359 h 2824237"/>
                <a:gd name="connsiteX3" fmla="*/ 2109508 w 2566077"/>
                <a:gd name="connsiteY3" fmla="*/ 238208 h 2824237"/>
                <a:gd name="connsiteX4" fmla="*/ 0 w 2566077"/>
                <a:gd name="connsiteY4" fmla="*/ 125474 h 2824237"/>
                <a:gd name="connsiteX0" fmla="*/ 1441097 w 2566077"/>
                <a:gd name="connsiteY0" fmla="*/ 2487674 h 2911751"/>
                <a:gd name="connsiteX1" fmla="*/ 1745885 w 2566077"/>
                <a:gd name="connsiteY1" fmla="*/ 2909336 h 2911751"/>
                <a:gd name="connsiteX2" fmla="*/ 2530321 w 2566077"/>
                <a:gd name="connsiteY2" fmla="*/ 1254359 h 2911751"/>
                <a:gd name="connsiteX3" fmla="*/ 2109508 w 2566077"/>
                <a:gd name="connsiteY3" fmla="*/ 238208 h 2911751"/>
                <a:gd name="connsiteX4" fmla="*/ 0 w 2566077"/>
                <a:gd name="connsiteY4" fmla="*/ 125474 h 2911751"/>
                <a:gd name="connsiteX0" fmla="*/ 1441097 w 2517039"/>
                <a:gd name="connsiteY0" fmla="*/ 2487674 h 2926147"/>
                <a:gd name="connsiteX1" fmla="*/ 1745885 w 2517039"/>
                <a:gd name="connsiteY1" fmla="*/ 2909336 h 2926147"/>
                <a:gd name="connsiteX2" fmla="*/ 2470206 w 2517039"/>
                <a:gd name="connsiteY2" fmla="*/ 2431806 h 2926147"/>
                <a:gd name="connsiteX3" fmla="*/ 2109508 w 2517039"/>
                <a:gd name="connsiteY3" fmla="*/ 238208 h 2926147"/>
                <a:gd name="connsiteX4" fmla="*/ 0 w 2517039"/>
                <a:gd name="connsiteY4" fmla="*/ 125474 h 2926147"/>
                <a:gd name="connsiteX0" fmla="*/ 1441097 w 2599891"/>
                <a:gd name="connsiteY0" fmla="*/ 2409632 h 2848105"/>
                <a:gd name="connsiteX1" fmla="*/ 1745885 w 2599891"/>
                <a:gd name="connsiteY1" fmla="*/ 2831294 h 2848105"/>
                <a:gd name="connsiteX2" fmla="*/ 2470206 w 2599891"/>
                <a:gd name="connsiteY2" fmla="*/ 2353764 h 2848105"/>
                <a:gd name="connsiteX3" fmla="*/ 2325925 w 2599891"/>
                <a:gd name="connsiteY3" fmla="*/ 297952 h 2848105"/>
                <a:gd name="connsiteX4" fmla="*/ 0 w 2599891"/>
                <a:gd name="connsiteY4" fmla="*/ 47432 h 2848105"/>
                <a:gd name="connsiteX0" fmla="*/ 3607897 w 4766691"/>
                <a:gd name="connsiteY0" fmla="*/ 2232489 h 2670962"/>
                <a:gd name="connsiteX1" fmla="*/ 3912685 w 4766691"/>
                <a:gd name="connsiteY1" fmla="*/ 2654151 h 2670962"/>
                <a:gd name="connsiteX2" fmla="*/ 4637006 w 4766691"/>
                <a:gd name="connsiteY2" fmla="*/ 2176621 h 2670962"/>
                <a:gd name="connsiteX3" fmla="*/ 4492725 w 4766691"/>
                <a:gd name="connsiteY3" fmla="*/ 120809 h 2670962"/>
                <a:gd name="connsiteX4" fmla="*/ 0 w 4766691"/>
                <a:gd name="connsiteY4" fmla="*/ 660864 h 2670962"/>
                <a:gd name="connsiteX0" fmla="*/ 3607897 w 4737265"/>
                <a:gd name="connsiteY0" fmla="*/ 2241145 h 2679730"/>
                <a:gd name="connsiteX1" fmla="*/ 3912685 w 4737265"/>
                <a:gd name="connsiteY1" fmla="*/ 2662807 h 2679730"/>
                <a:gd name="connsiteX2" fmla="*/ 4637006 w 4737265"/>
                <a:gd name="connsiteY2" fmla="*/ 2185277 h 2679730"/>
                <a:gd name="connsiteX3" fmla="*/ 1448234 w 4737265"/>
                <a:gd name="connsiteY3" fmla="*/ 119940 h 2679730"/>
                <a:gd name="connsiteX4" fmla="*/ 0 w 4737265"/>
                <a:gd name="connsiteY4" fmla="*/ 669520 h 2679730"/>
                <a:gd name="connsiteX0" fmla="*/ 3607897 w 3935930"/>
                <a:gd name="connsiteY0" fmla="*/ 2241145 h 2756861"/>
                <a:gd name="connsiteX1" fmla="*/ 3912685 w 3935930"/>
                <a:gd name="connsiteY1" fmla="*/ 2662807 h 2756861"/>
                <a:gd name="connsiteX2" fmla="*/ 2835911 w 3935930"/>
                <a:gd name="connsiteY2" fmla="*/ 2499602 h 2756861"/>
                <a:gd name="connsiteX3" fmla="*/ 1448234 w 3935930"/>
                <a:gd name="connsiteY3" fmla="*/ 119940 h 2756861"/>
                <a:gd name="connsiteX4" fmla="*/ 0 w 3935930"/>
                <a:gd name="connsiteY4" fmla="*/ 669520 h 2756861"/>
                <a:gd name="connsiteX0" fmla="*/ 3607897 w 3607897"/>
                <a:gd name="connsiteY0" fmla="*/ 2241145 h 2761911"/>
                <a:gd name="connsiteX1" fmla="*/ 3464697 w 3607897"/>
                <a:gd name="connsiteY1" fmla="*/ 2672332 h 2761911"/>
                <a:gd name="connsiteX2" fmla="*/ 2835911 w 3607897"/>
                <a:gd name="connsiteY2" fmla="*/ 2499602 h 2761911"/>
                <a:gd name="connsiteX3" fmla="*/ 1448234 w 3607897"/>
                <a:gd name="connsiteY3" fmla="*/ 119940 h 2761911"/>
                <a:gd name="connsiteX4" fmla="*/ 0 w 3607897"/>
                <a:gd name="connsiteY4" fmla="*/ 669520 h 2761911"/>
                <a:gd name="connsiteX0" fmla="*/ 3607897 w 3607897"/>
                <a:gd name="connsiteY0" fmla="*/ 2209692 h 2730458"/>
                <a:gd name="connsiteX1" fmla="*/ 3464697 w 3607897"/>
                <a:gd name="connsiteY1" fmla="*/ 2640879 h 2730458"/>
                <a:gd name="connsiteX2" fmla="*/ 2835911 w 3607897"/>
                <a:gd name="connsiteY2" fmla="*/ 2468149 h 2730458"/>
                <a:gd name="connsiteX3" fmla="*/ 1448234 w 3607897"/>
                <a:gd name="connsiteY3" fmla="*/ 88487 h 2730458"/>
                <a:gd name="connsiteX4" fmla="*/ 449411 w 3607897"/>
                <a:gd name="connsiteY4" fmla="*/ 521191 h 2730458"/>
                <a:gd name="connsiteX5" fmla="*/ 0 w 3607897"/>
                <a:gd name="connsiteY5" fmla="*/ 638067 h 2730458"/>
                <a:gd name="connsiteX0" fmla="*/ 3607897 w 3607897"/>
                <a:gd name="connsiteY0" fmla="*/ 2277897 h 2798663"/>
                <a:gd name="connsiteX1" fmla="*/ 3464697 w 3607897"/>
                <a:gd name="connsiteY1" fmla="*/ 2709084 h 2798663"/>
                <a:gd name="connsiteX2" fmla="*/ 2835911 w 3607897"/>
                <a:gd name="connsiteY2" fmla="*/ 2536354 h 2798663"/>
                <a:gd name="connsiteX3" fmla="*/ 1448234 w 3607897"/>
                <a:gd name="connsiteY3" fmla="*/ 156692 h 2798663"/>
                <a:gd name="connsiteX4" fmla="*/ 339699 w 3607897"/>
                <a:gd name="connsiteY4" fmla="*/ 189346 h 2798663"/>
                <a:gd name="connsiteX5" fmla="*/ 0 w 3607897"/>
                <a:gd name="connsiteY5" fmla="*/ 706272 h 2798663"/>
                <a:gd name="connsiteX0" fmla="*/ 3607897 w 3607897"/>
                <a:gd name="connsiteY0" fmla="*/ 2272501 h 2793267"/>
                <a:gd name="connsiteX1" fmla="*/ 3464697 w 3607897"/>
                <a:gd name="connsiteY1" fmla="*/ 2703688 h 2793267"/>
                <a:gd name="connsiteX2" fmla="*/ 2835911 w 3607897"/>
                <a:gd name="connsiteY2" fmla="*/ 2530958 h 2793267"/>
                <a:gd name="connsiteX3" fmla="*/ 1448234 w 3607897"/>
                <a:gd name="connsiteY3" fmla="*/ 151296 h 2793267"/>
                <a:gd name="connsiteX4" fmla="*/ 431125 w 3607897"/>
                <a:gd name="connsiteY4" fmla="*/ 203000 h 2793267"/>
                <a:gd name="connsiteX5" fmla="*/ 0 w 3607897"/>
                <a:gd name="connsiteY5" fmla="*/ 700876 h 2793267"/>
                <a:gd name="connsiteX0" fmla="*/ 3607897 w 3607897"/>
                <a:gd name="connsiteY0" fmla="*/ 2232665 h 2749743"/>
                <a:gd name="connsiteX1" fmla="*/ 3464697 w 3607897"/>
                <a:gd name="connsiteY1" fmla="*/ 2663852 h 2749743"/>
                <a:gd name="connsiteX2" fmla="*/ 2835911 w 3607897"/>
                <a:gd name="connsiteY2" fmla="*/ 2491122 h 2749743"/>
                <a:gd name="connsiteX3" fmla="*/ 1941935 w 3607897"/>
                <a:gd name="connsiteY3" fmla="*/ 168610 h 2749743"/>
                <a:gd name="connsiteX4" fmla="*/ 431125 w 3607897"/>
                <a:gd name="connsiteY4" fmla="*/ 163164 h 2749743"/>
                <a:gd name="connsiteX5" fmla="*/ 0 w 3607897"/>
                <a:gd name="connsiteY5" fmla="*/ 661040 h 2749743"/>
                <a:gd name="connsiteX0" fmla="*/ 3623194 w 3623194"/>
                <a:gd name="connsiteY0" fmla="*/ 2229962 h 2747040"/>
                <a:gd name="connsiteX1" fmla="*/ 3479994 w 3623194"/>
                <a:gd name="connsiteY1" fmla="*/ 2661149 h 2747040"/>
                <a:gd name="connsiteX2" fmla="*/ 2851208 w 3623194"/>
                <a:gd name="connsiteY2" fmla="*/ 2488419 h 2747040"/>
                <a:gd name="connsiteX3" fmla="*/ 1957232 w 3623194"/>
                <a:gd name="connsiteY3" fmla="*/ 165907 h 2747040"/>
                <a:gd name="connsiteX4" fmla="*/ 446422 w 3623194"/>
                <a:gd name="connsiteY4" fmla="*/ 160461 h 2747040"/>
                <a:gd name="connsiteX5" fmla="*/ 37288 w 3623194"/>
                <a:gd name="connsiteY5" fmla="*/ 370368 h 2747040"/>
                <a:gd name="connsiteX6" fmla="*/ 15297 w 3623194"/>
                <a:gd name="connsiteY6" fmla="*/ 658337 h 2747040"/>
                <a:gd name="connsiteX0" fmla="*/ 6030690 w 6030690"/>
                <a:gd name="connsiteY0" fmla="*/ 2229962 h 2747040"/>
                <a:gd name="connsiteX1" fmla="*/ 5887490 w 6030690"/>
                <a:gd name="connsiteY1" fmla="*/ 2661149 h 2747040"/>
                <a:gd name="connsiteX2" fmla="*/ 5258704 w 6030690"/>
                <a:gd name="connsiteY2" fmla="*/ 2488419 h 2747040"/>
                <a:gd name="connsiteX3" fmla="*/ 4364728 w 6030690"/>
                <a:gd name="connsiteY3" fmla="*/ 165907 h 2747040"/>
                <a:gd name="connsiteX4" fmla="*/ 2853918 w 6030690"/>
                <a:gd name="connsiteY4" fmla="*/ 160461 h 2747040"/>
                <a:gd name="connsiteX5" fmla="*/ 2444784 w 6030690"/>
                <a:gd name="connsiteY5" fmla="*/ 370368 h 2747040"/>
                <a:gd name="connsiteX6" fmla="*/ 0 w 6030690"/>
                <a:gd name="connsiteY6" fmla="*/ 86837 h 2747040"/>
                <a:gd name="connsiteX0" fmla="*/ 6030690 w 6030690"/>
                <a:gd name="connsiteY0" fmla="*/ 2912230 h 3429308"/>
                <a:gd name="connsiteX1" fmla="*/ 5887490 w 6030690"/>
                <a:gd name="connsiteY1" fmla="*/ 3343417 h 3429308"/>
                <a:gd name="connsiteX2" fmla="*/ 5258704 w 6030690"/>
                <a:gd name="connsiteY2" fmla="*/ 3170687 h 3429308"/>
                <a:gd name="connsiteX3" fmla="*/ 4364728 w 6030690"/>
                <a:gd name="connsiteY3" fmla="*/ 848175 h 3429308"/>
                <a:gd name="connsiteX4" fmla="*/ 2853918 w 6030690"/>
                <a:gd name="connsiteY4" fmla="*/ 842729 h 3429308"/>
                <a:gd name="connsiteX5" fmla="*/ 808256 w 6030690"/>
                <a:gd name="connsiteY5" fmla="*/ 4886 h 3429308"/>
                <a:gd name="connsiteX6" fmla="*/ 0 w 6030690"/>
                <a:gd name="connsiteY6" fmla="*/ 769105 h 3429308"/>
                <a:gd name="connsiteX0" fmla="*/ 6030690 w 6030690"/>
                <a:gd name="connsiteY0" fmla="*/ 2931475 h 3448553"/>
                <a:gd name="connsiteX1" fmla="*/ 5887490 w 6030690"/>
                <a:gd name="connsiteY1" fmla="*/ 3362662 h 3448553"/>
                <a:gd name="connsiteX2" fmla="*/ 5258704 w 6030690"/>
                <a:gd name="connsiteY2" fmla="*/ 3189932 h 3448553"/>
                <a:gd name="connsiteX3" fmla="*/ 4364728 w 6030690"/>
                <a:gd name="connsiteY3" fmla="*/ 867420 h 3448553"/>
                <a:gd name="connsiteX4" fmla="*/ 3009343 w 6030690"/>
                <a:gd name="connsiteY4" fmla="*/ 23774 h 3448553"/>
                <a:gd name="connsiteX5" fmla="*/ 808256 w 6030690"/>
                <a:gd name="connsiteY5" fmla="*/ 24131 h 3448553"/>
                <a:gd name="connsiteX6" fmla="*/ 0 w 6030690"/>
                <a:gd name="connsiteY6" fmla="*/ 788350 h 3448553"/>
                <a:gd name="connsiteX0" fmla="*/ 6030690 w 6030690"/>
                <a:gd name="connsiteY0" fmla="*/ 3068543 h 3585621"/>
                <a:gd name="connsiteX1" fmla="*/ 5887490 w 6030690"/>
                <a:gd name="connsiteY1" fmla="*/ 3499730 h 3585621"/>
                <a:gd name="connsiteX2" fmla="*/ 5258704 w 6030690"/>
                <a:gd name="connsiteY2" fmla="*/ 3327000 h 3585621"/>
                <a:gd name="connsiteX3" fmla="*/ 4364728 w 6030690"/>
                <a:gd name="connsiteY3" fmla="*/ 1004488 h 3585621"/>
                <a:gd name="connsiteX4" fmla="*/ 2972773 w 6030690"/>
                <a:gd name="connsiteY4" fmla="*/ 8442 h 3585621"/>
                <a:gd name="connsiteX5" fmla="*/ 808256 w 6030690"/>
                <a:gd name="connsiteY5" fmla="*/ 161199 h 3585621"/>
                <a:gd name="connsiteX6" fmla="*/ 0 w 6030690"/>
                <a:gd name="connsiteY6" fmla="*/ 925418 h 3585621"/>
                <a:gd name="connsiteX0" fmla="*/ 6030690 w 6030690"/>
                <a:gd name="connsiteY0" fmla="*/ 3068543 h 3585621"/>
                <a:gd name="connsiteX1" fmla="*/ 5887490 w 6030690"/>
                <a:gd name="connsiteY1" fmla="*/ 3499730 h 3585621"/>
                <a:gd name="connsiteX2" fmla="*/ 5258704 w 6030690"/>
                <a:gd name="connsiteY2" fmla="*/ 3327000 h 3585621"/>
                <a:gd name="connsiteX3" fmla="*/ 4364728 w 6030690"/>
                <a:gd name="connsiteY3" fmla="*/ 1004488 h 3585621"/>
                <a:gd name="connsiteX4" fmla="*/ 2972773 w 6030690"/>
                <a:gd name="connsiteY4" fmla="*/ 8442 h 3585621"/>
                <a:gd name="connsiteX5" fmla="*/ 1064249 w 6030690"/>
                <a:gd name="connsiteY5" fmla="*/ 189774 h 3585621"/>
                <a:gd name="connsiteX6" fmla="*/ 0 w 6030690"/>
                <a:gd name="connsiteY6" fmla="*/ 925418 h 3585621"/>
                <a:gd name="connsiteX0" fmla="*/ 6030690 w 6030690"/>
                <a:gd name="connsiteY0" fmla="*/ 3068543 h 3585621"/>
                <a:gd name="connsiteX1" fmla="*/ 5887490 w 6030690"/>
                <a:gd name="connsiteY1" fmla="*/ 3499730 h 3585621"/>
                <a:gd name="connsiteX2" fmla="*/ 5258704 w 6030690"/>
                <a:gd name="connsiteY2" fmla="*/ 3327000 h 3585621"/>
                <a:gd name="connsiteX3" fmla="*/ 4364728 w 6030690"/>
                <a:gd name="connsiteY3" fmla="*/ 1004488 h 3585621"/>
                <a:gd name="connsiteX4" fmla="*/ 2972773 w 6030690"/>
                <a:gd name="connsiteY4" fmla="*/ 8442 h 3585621"/>
                <a:gd name="connsiteX5" fmla="*/ 1064249 w 6030690"/>
                <a:gd name="connsiteY5" fmla="*/ 189774 h 3585621"/>
                <a:gd name="connsiteX6" fmla="*/ 0 w 6030690"/>
                <a:gd name="connsiteY6" fmla="*/ 925418 h 3585621"/>
                <a:gd name="connsiteX0" fmla="*/ 6030690 w 6030690"/>
                <a:gd name="connsiteY0" fmla="*/ 3068543 h 3585621"/>
                <a:gd name="connsiteX1" fmla="*/ 5887490 w 6030690"/>
                <a:gd name="connsiteY1" fmla="*/ 3499730 h 3585621"/>
                <a:gd name="connsiteX2" fmla="*/ 5258704 w 6030690"/>
                <a:gd name="connsiteY2" fmla="*/ 3327000 h 3585621"/>
                <a:gd name="connsiteX3" fmla="*/ 4364728 w 6030690"/>
                <a:gd name="connsiteY3" fmla="*/ 1004488 h 3585621"/>
                <a:gd name="connsiteX4" fmla="*/ 2972773 w 6030690"/>
                <a:gd name="connsiteY4" fmla="*/ 8442 h 3585621"/>
                <a:gd name="connsiteX5" fmla="*/ 1064249 w 6030690"/>
                <a:gd name="connsiteY5" fmla="*/ 189774 h 3585621"/>
                <a:gd name="connsiteX6" fmla="*/ 0 w 6030690"/>
                <a:gd name="connsiteY6" fmla="*/ 925418 h 3585621"/>
                <a:gd name="connsiteX0" fmla="*/ 6030690 w 6030690"/>
                <a:gd name="connsiteY0" fmla="*/ 3068124 h 3583166"/>
                <a:gd name="connsiteX1" fmla="*/ 5887490 w 6030690"/>
                <a:gd name="connsiteY1" fmla="*/ 3499311 h 3583166"/>
                <a:gd name="connsiteX2" fmla="*/ 5258704 w 6030690"/>
                <a:gd name="connsiteY2" fmla="*/ 3326581 h 3583166"/>
                <a:gd name="connsiteX3" fmla="*/ 4645102 w 6030690"/>
                <a:gd name="connsiteY3" fmla="*/ 1035819 h 3583166"/>
                <a:gd name="connsiteX4" fmla="*/ 2972773 w 6030690"/>
                <a:gd name="connsiteY4" fmla="*/ 8023 h 3583166"/>
                <a:gd name="connsiteX5" fmla="*/ 1064249 w 6030690"/>
                <a:gd name="connsiteY5" fmla="*/ 189355 h 3583166"/>
                <a:gd name="connsiteX6" fmla="*/ 0 w 6030690"/>
                <a:gd name="connsiteY6" fmla="*/ 924999 h 3583166"/>
                <a:gd name="connsiteX0" fmla="*/ 6030690 w 6030690"/>
                <a:gd name="connsiteY0" fmla="*/ 3055560 h 3570602"/>
                <a:gd name="connsiteX1" fmla="*/ 5887490 w 6030690"/>
                <a:gd name="connsiteY1" fmla="*/ 3486747 h 3570602"/>
                <a:gd name="connsiteX2" fmla="*/ 5258704 w 6030690"/>
                <a:gd name="connsiteY2" fmla="*/ 3314017 h 3570602"/>
                <a:gd name="connsiteX3" fmla="*/ 4645102 w 6030690"/>
                <a:gd name="connsiteY3" fmla="*/ 1023255 h 3570602"/>
                <a:gd name="connsiteX4" fmla="*/ 2034132 w 6030690"/>
                <a:gd name="connsiteY4" fmla="*/ 8159 h 3570602"/>
                <a:gd name="connsiteX5" fmla="*/ 1064249 w 6030690"/>
                <a:gd name="connsiteY5" fmla="*/ 176791 h 3570602"/>
                <a:gd name="connsiteX6" fmla="*/ 0 w 6030690"/>
                <a:gd name="connsiteY6" fmla="*/ 912435 h 3570602"/>
                <a:gd name="connsiteX0" fmla="*/ 6030690 w 6030690"/>
                <a:gd name="connsiteY0" fmla="*/ 2898411 h 3413453"/>
                <a:gd name="connsiteX1" fmla="*/ 5887490 w 6030690"/>
                <a:gd name="connsiteY1" fmla="*/ 3329598 h 3413453"/>
                <a:gd name="connsiteX2" fmla="*/ 5258704 w 6030690"/>
                <a:gd name="connsiteY2" fmla="*/ 3156868 h 3413453"/>
                <a:gd name="connsiteX3" fmla="*/ 4645102 w 6030690"/>
                <a:gd name="connsiteY3" fmla="*/ 866106 h 3413453"/>
                <a:gd name="connsiteX4" fmla="*/ 2899634 w 6030690"/>
                <a:gd name="connsiteY4" fmla="*/ 66910 h 3413453"/>
                <a:gd name="connsiteX5" fmla="*/ 1064249 w 6030690"/>
                <a:gd name="connsiteY5" fmla="*/ 19642 h 3413453"/>
                <a:gd name="connsiteX6" fmla="*/ 0 w 6030690"/>
                <a:gd name="connsiteY6" fmla="*/ 755286 h 3413453"/>
                <a:gd name="connsiteX0" fmla="*/ 6030690 w 6030690"/>
                <a:gd name="connsiteY0" fmla="*/ 2878769 h 3393811"/>
                <a:gd name="connsiteX1" fmla="*/ 5887490 w 6030690"/>
                <a:gd name="connsiteY1" fmla="*/ 3309956 h 3393811"/>
                <a:gd name="connsiteX2" fmla="*/ 5258704 w 6030690"/>
                <a:gd name="connsiteY2" fmla="*/ 3137226 h 3393811"/>
                <a:gd name="connsiteX3" fmla="*/ 4645102 w 6030690"/>
                <a:gd name="connsiteY3" fmla="*/ 846464 h 3393811"/>
                <a:gd name="connsiteX4" fmla="*/ 2899634 w 6030690"/>
                <a:gd name="connsiteY4" fmla="*/ 47268 h 3393811"/>
                <a:gd name="connsiteX5" fmla="*/ 1064249 w 6030690"/>
                <a:gd name="connsiteY5" fmla="*/ 0 h 3393811"/>
                <a:gd name="connsiteX6" fmla="*/ 0 w 6030690"/>
                <a:gd name="connsiteY6" fmla="*/ 735644 h 3393811"/>
                <a:gd name="connsiteX0" fmla="*/ 6030690 w 6030690"/>
                <a:gd name="connsiteY0" fmla="*/ 2952761 h 3467803"/>
                <a:gd name="connsiteX1" fmla="*/ 5887490 w 6030690"/>
                <a:gd name="connsiteY1" fmla="*/ 3383948 h 3467803"/>
                <a:gd name="connsiteX2" fmla="*/ 5258704 w 6030690"/>
                <a:gd name="connsiteY2" fmla="*/ 3211218 h 3467803"/>
                <a:gd name="connsiteX3" fmla="*/ 4645102 w 6030690"/>
                <a:gd name="connsiteY3" fmla="*/ 920456 h 3467803"/>
                <a:gd name="connsiteX4" fmla="*/ 2899634 w 6030690"/>
                <a:gd name="connsiteY4" fmla="*/ 121260 h 3467803"/>
                <a:gd name="connsiteX5" fmla="*/ 1064249 w 6030690"/>
                <a:gd name="connsiteY5" fmla="*/ 73992 h 3467803"/>
                <a:gd name="connsiteX6" fmla="*/ 0 w 6030690"/>
                <a:gd name="connsiteY6" fmla="*/ 809636 h 3467803"/>
                <a:gd name="connsiteX0" fmla="*/ 6030690 w 6030690"/>
                <a:gd name="connsiteY0" fmla="*/ 3026061 h 3541103"/>
                <a:gd name="connsiteX1" fmla="*/ 5887490 w 6030690"/>
                <a:gd name="connsiteY1" fmla="*/ 3457248 h 3541103"/>
                <a:gd name="connsiteX2" fmla="*/ 5258704 w 6030690"/>
                <a:gd name="connsiteY2" fmla="*/ 3284518 h 3541103"/>
                <a:gd name="connsiteX3" fmla="*/ 4645102 w 6030690"/>
                <a:gd name="connsiteY3" fmla="*/ 993756 h 3541103"/>
                <a:gd name="connsiteX4" fmla="*/ 2924015 w 6030690"/>
                <a:gd name="connsiteY4" fmla="*/ 67560 h 3541103"/>
                <a:gd name="connsiteX5" fmla="*/ 1064249 w 6030690"/>
                <a:gd name="connsiteY5" fmla="*/ 147292 h 3541103"/>
                <a:gd name="connsiteX6" fmla="*/ 0 w 6030690"/>
                <a:gd name="connsiteY6" fmla="*/ 882936 h 3541103"/>
                <a:gd name="connsiteX0" fmla="*/ 6030690 w 6030690"/>
                <a:gd name="connsiteY0" fmla="*/ 3026061 h 3541103"/>
                <a:gd name="connsiteX1" fmla="*/ 5887490 w 6030690"/>
                <a:gd name="connsiteY1" fmla="*/ 3457248 h 3541103"/>
                <a:gd name="connsiteX2" fmla="*/ 5258704 w 6030690"/>
                <a:gd name="connsiteY2" fmla="*/ 3284518 h 3541103"/>
                <a:gd name="connsiteX3" fmla="*/ 4645102 w 6030690"/>
                <a:gd name="connsiteY3" fmla="*/ 993756 h 3541103"/>
                <a:gd name="connsiteX4" fmla="*/ 2924015 w 6030690"/>
                <a:gd name="connsiteY4" fmla="*/ 67560 h 3541103"/>
                <a:gd name="connsiteX5" fmla="*/ 1064249 w 6030690"/>
                <a:gd name="connsiteY5" fmla="*/ 147292 h 3541103"/>
                <a:gd name="connsiteX6" fmla="*/ 0 w 6030690"/>
                <a:gd name="connsiteY6" fmla="*/ 882936 h 3541103"/>
                <a:gd name="connsiteX0" fmla="*/ 6003262 w 6003262"/>
                <a:gd name="connsiteY0" fmla="*/ 3026061 h 3541103"/>
                <a:gd name="connsiteX1" fmla="*/ 5860062 w 6003262"/>
                <a:gd name="connsiteY1" fmla="*/ 3457248 h 3541103"/>
                <a:gd name="connsiteX2" fmla="*/ 5231276 w 6003262"/>
                <a:gd name="connsiteY2" fmla="*/ 3284518 h 3541103"/>
                <a:gd name="connsiteX3" fmla="*/ 4617674 w 6003262"/>
                <a:gd name="connsiteY3" fmla="*/ 993756 h 3541103"/>
                <a:gd name="connsiteX4" fmla="*/ 2896587 w 6003262"/>
                <a:gd name="connsiteY4" fmla="*/ 67560 h 3541103"/>
                <a:gd name="connsiteX5" fmla="*/ 1036821 w 6003262"/>
                <a:gd name="connsiteY5" fmla="*/ 147292 h 3541103"/>
                <a:gd name="connsiteX6" fmla="*/ 0 w 6003262"/>
                <a:gd name="connsiteY6" fmla="*/ 1378236 h 3541103"/>
                <a:gd name="connsiteX0" fmla="*/ 6003262 w 6003262"/>
                <a:gd name="connsiteY0" fmla="*/ 3026061 h 3541103"/>
                <a:gd name="connsiteX1" fmla="*/ 5860062 w 6003262"/>
                <a:gd name="connsiteY1" fmla="*/ 3457248 h 3541103"/>
                <a:gd name="connsiteX2" fmla="*/ 5231276 w 6003262"/>
                <a:gd name="connsiteY2" fmla="*/ 3284518 h 3541103"/>
                <a:gd name="connsiteX3" fmla="*/ 4617674 w 6003262"/>
                <a:gd name="connsiteY3" fmla="*/ 993756 h 3541103"/>
                <a:gd name="connsiteX4" fmla="*/ 2896587 w 6003262"/>
                <a:gd name="connsiteY4" fmla="*/ 67560 h 3541103"/>
                <a:gd name="connsiteX5" fmla="*/ 1036821 w 6003262"/>
                <a:gd name="connsiteY5" fmla="*/ 147292 h 3541103"/>
                <a:gd name="connsiteX6" fmla="*/ 0 w 6003262"/>
                <a:gd name="connsiteY6" fmla="*/ 1378236 h 3541103"/>
                <a:gd name="connsiteX0" fmla="*/ 6003262 w 6003262"/>
                <a:gd name="connsiteY0" fmla="*/ 2964067 h 3479109"/>
                <a:gd name="connsiteX1" fmla="*/ 5860062 w 6003262"/>
                <a:gd name="connsiteY1" fmla="*/ 3395254 h 3479109"/>
                <a:gd name="connsiteX2" fmla="*/ 5231276 w 6003262"/>
                <a:gd name="connsiteY2" fmla="*/ 3222524 h 3479109"/>
                <a:gd name="connsiteX3" fmla="*/ 4617674 w 6003262"/>
                <a:gd name="connsiteY3" fmla="*/ 931762 h 3479109"/>
                <a:gd name="connsiteX4" fmla="*/ 2896587 w 6003262"/>
                <a:gd name="connsiteY4" fmla="*/ 5566 h 3479109"/>
                <a:gd name="connsiteX5" fmla="*/ 1283672 w 6003262"/>
                <a:gd name="connsiteY5" fmla="*/ 552023 h 3479109"/>
                <a:gd name="connsiteX6" fmla="*/ 0 w 6003262"/>
                <a:gd name="connsiteY6" fmla="*/ 1316242 h 3479109"/>
                <a:gd name="connsiteX0" fmla="*/ 6003262 w 6003262"/>
                <a:gd name="connsiteY0" fmla="*/ 2494942 h 3009984"/>
                <a:gd name="connsiteX1" fmla="*/ 5860062 w 6003262"/>
                <a:gd name="connsiteY1" fmla="*/ 2926129 h 3009984"/>
                <a:gd name="connsiteX2" fmla="*/ 5231276 w 6003262"/>
                <a:gd name="connsiteY2" fmla="*/ 2753399 h 3009984"/>
                <a:gd name="connsiteX3" fmla="*/ 4617674 w 6003262"/>
                <a:gd name="connsiteY3" fmla="*/ 462637 h 3009984"/>
                <a:gd name="connsiteX4" fmla="*/ 3106867 w 6003262"/>
                <a:gd name="connsiteY4" fmla="*/ 50791 h 3009984"/>
                <a:gd name="connsiteX5" fmla="*/ 1283672 w 6003262"/>
                <a:gd name="connsiteY5" fmla="*/ 82898 h 3009984"/>
                <a:gd name="connsiteX6" fmla="*/ 0 w 6003262"/>
                <a:gd name="connsiteY6" fmla="*/ 847117 h 3009984"/>
                <a:gd name="connsiteX0" fmla="*/ 6003262 w 6003262"/>
                <a:gd name="connsiteY0" fmla="*/ 2553619 h 3020639"/>
                <a:gd name="connsiteX1" fmla="*/ 5860062 w 6003262"/>
                <a:gd name="connsiteY1" fmla="*/ 2984806 h 3020639"/>
                <a:gd name="connsiteX2" fmla="*/ 5231276 w 6003262"/>
                <a:gd name="connsiteY2" fmla="*/ 2812076 h 3020639"/>
                <a:gd name="connsiteX3" fmla="*/ 4361681 w 6003262"/>
                <a:gd name="connsiteY3" fmla="*/ 1359514 h 3020639"/>
                <a:gd name="connsiteX4" fmla="*/ 3106867 w 6003262"/>
                <a:gd name="connsiteY4" fmla="*/ 109468 h 3020639"/>
                <a:gd name="connsiteX5" fmla="*/ 1283672 w 6003262"/>
                <a:gd name="connsiteY5" fmla="*/ 141575 h 3020639"/>
                <a:gd name="connsiteX6" fmla="*/ 0 w 6003262"/>
                <a:gd name="connsiteY6" fmla="*/ 905794 h 3020639"/>
                <a:gd name="connsiteX0" fmla="*/ 6024595 w 6024595"/>
                <a:gd name="connsiteY0" fmla="*/ 2553619 h 3020639"/>
                <a:gd name="connsiteX1" fmla="*/ 5860062 w 6024595"/>
                <a:gd name="connsiteY1" fmla="*/ 2984806 h 3020639"/>
                <a:gd name="connsiteX2" fmla="*/ 5231276 w 6024595"/>
                <a:gd name="connsiteY2" fmla="*/ 2812076 h 3020639"/>
                <a:gd name="connsiteX3" fmla="*/ 4361681 w 6024595"/>
                <a:gd name="connsiteY3" fmla="*/ 1359514 h 3020639"/>
                <a:gd name="connsiteX4" fmla="*/ 3106867 w 6024595"/>
                <a:gd name="connsiteY4" fmla="*/ 109468 h 3020639"/>
                <a:gd name="connsiteX5" fmla="*/ 1283672 w 6024595"/>
                <a:gd name="connsiteY5" fmla="*/ 141575 h 3020639"/>
                <a:gd name="connsiteX6" fmla="*/ 0 w 6024595"/>
                <a:gd name="connsiteY6" fmla="*/ 905794 h 3020639"/>
                <a:gd name="connsiteX0" fmla="*/ 4766200 w 6145145"/>
                <a:gd name="connsiteY0" fmla="*/ 2785881 h 3252901"/>
                <a:gd name="connsiteX1" fmla="*/ 4601667 w 6145145"/>
                <a:gd name="connsiteY1" fmla="*/ 3217068 h 3252901"/>
                <a:gd name="connsiteX2" fmla="*/ 3972881 w 6145145"/>
                <a:gd name="connsiteY2" fmla="*/ 3044338 h 3252901"/>
                <a:gd name="connsiteX3" fmla="*/ 3103286 w 6145145"/>
                <a:gd name="connsiteY3" fmla="*/ 1591776 h 3252901"/>
                <a:gd name="connsiteX4" fmla="*/ 1848472 w 6145145"/>
                <a:gd name="connsiteY4" fmla="*/ 341730 h 3252901"/>
                <a:gd name="connsiteX5" fmla="*/ 25277 w 6145145"/>
                <a:gd name="connsiteY5" fmla="*/ 373837 h 3252901"/>
                <a:gd name="connsiteX6" fmla="*/ 6132018 w 6145145"/>
                <a:gd name="connsiteY6" fmla="*/ 51378 h 3252901"/>
                <a:gd name="connsiteX0" fmla="*/ 4766200 w 6145145"/>
                <a:gd name="connsiteY0" fmla="*/ 2785881 h 3252901"/>
                <a:gd name="connsiteX1" fmla="*/ 4601667 w 6145145"/>
                <a:gd name="connsiteY1" fmla="*/ 3217068 h 3252901"/>
                <a:gd name="connsiteX2" fmla="*/ 3972881 w 6145145"/>
                <a:gd name="connsiteY2" fmla="*/ 3044338 h 3252901"/>
                <a:gd name="connsiteX3" fmla="*/ 3103286 w 6145145"/>
                <a:gd name="connsiteY3" fmla="*/ 1591776 h 3252901"/>
                <a:gd name="connsiteX4" fmla="*/ 5740842 w 6145145"/>
                <a:gd name="connsiteY4" fmla="*/ 593521 h 3252901"/>
                <a:gd name="connsiteX5" fmla="*/ 25277 w 6145145"/>
                <a:gd name="connsiteY5" fmla="*/ 373837 h 3252901"/>
                <a:gd name="connsiteX6" fmla="*/ 6132018 w 6145145"/>
                <a:gd name="connsiteY6" fmla="*/ 51378 h 3252901"/>
                <a:gd name="connsiteX0" fmla="*/ 1720755 w 3133120"/>
                <a:gd name="connsiteY0" fmla="*/ 3415415 h 3882435"/>
                <a:gd name="connsiteX1" fmla="*/ 1556222 w 3133120"/>
                <a:gd name="connsiteY1" fmla="*/ 3846602 h 3882435"/>
                <a:gd name="connsiteX2" fmla="*/ 927436 w 3133120"/>
                <a:gd name="connsiteY2" fmla="*/ 3673872 h 3882435"/>
                <a:gd name="connsiteX3" fmla="*/ 57841 w 3133120"/>
                <a:gd name="connsiteY3" fmla="*/ 2221310 h 3882435"/>
                <a:gd name="connsiteX4" fmla="*/ 2695397 w 3133120"/>
                <a:gd name="connsiteY4" fmla="*/ 1223055 h 3882435"/>
                <a:gd name="connsiteX5" fmla="*/ 2131497 w 3133120"/>
                <a:gd name="connsiteY5" fmla="*/ 9458 h 3882435"/>
                <a:gd name="connsiteX6" fmla="*/ 3086573 w 3133120"/>
                <a:gd name="connsiteY6" fmla="*/ 680912 h 3882435"/>
                <a:gd name="connsiteX0" fmla="*/ 1720755 w 3133120"/>
                <a:gd name="connsiteY0" fmla="*/ 3421747 h 3888767"/>
                <a:gd name="connsiteX1" fmla="*/ 1556222 w 3133120"/>
                <a:gd name="connsiteY1" fmla="*/ 3852934 h 3888767"/>
                <a:gd name="connsiteX2" fmla="*/ 927436 w 3133120"/>
                <a:gd name="connsiteY2" fmla="*/ 3680204 h 3888767"/>
                <a:gd name="connsiteX3" fmla="*/ 57841 w 3133120"/>
                <a:gd name="connsiteY3" fmla="*/ 2227642 h 3888767"/>
                <a:gd name="connsiteX4" fmla="*/ 2695397 w 3133120"/>
                <a:gd name="connsiteY4" fmla="*/ 1229387 h 3888767"/>
                <a:gd name="connsiteX5" fmla="*/ 2131497 w 3133120"/>
                <a:gd name="connsiteY5" fmla="*/ 15790 h 3888767"/>
                <a:gd name="connsiteX6" fmla="*/ 3086573 w 3133120"/>
                <a:gd name="connsiteY6" fmla="*/ 687244 h 3888767"/>
                <a:gd name="connsiteX0" fmla="*/ 1720755 w 2789595"/>
                <a:gd name="connsiteY0" fmla="*/ 4080851 h 4547871"/>
                <a:gd name="connsiteX1" fmla="*/ 1556222 w 2789595"/>
                <a:gd name="connsiteY1" fmla="*/ 4512038 h 4547871"/>
                <a:gd name="connsiteX2" fmla="*/ 927436 w 2789595"/>
                <a:gd name="connsiteY2" fmla="*/ 4339308 h 4547871"/>
                <a:gd name="connsiteX3" fmla="*/ 57841 w 2789595"/>
                <a:gd name="connsiteY3" fmla="*/ 2886746 h 4547871"/>
                <a:gd name="connsiteX4" fmla="*/ 2695397 w 2789595"/>
                <a:gd name="connsiteY4" fmla="*/ 1888491 h 4547871"/>
                <a:gd name="connsiteX5" fmla="*/ 2131497 w 2789595"/>
                <a:gd name="connsiteY5" fmla="*/ 674894 h 4547871"/>
                <a:gd name="connsiteX6" fmla="*/ 1445673 w 2789595"/>
                <a:gd name="connsiteY6" fmla="*/ 60887 h 4547871"/>
                <a:gd name="connsiteX0" fmla="*/ 1720755 w 2778698"/>
                <a:gd name="connsiteY0" fmla="*/ 4167965 h 4634985"/>
                <a:gd name="connsiteX1" fmla="*/ 1556222 w 2778698"/>
                <a:gd name="connsiteY1" fmla="*/ 4599152 h 4634985"/>
                <a:gd name="connsiteX2" fmla="*/ 927436 w 2778698"/>
                <a:gd name="connsiteY2" fmla="*/ 4426422 h 4634985"/>
                <a:gd name="connsiteX3" fmla="*/ 57841 w 2778698"/>
                <a:gd name="connsiteY3" fmla="*/ 2973860 h 4634985"/>
                <a:gd name="connsiteX4" fmla="*/ 2695397 w 2778698"/>
                <a:gd name="connsiteY4" fmla="*/ 1975605 h 4634985"/>
                <a:gd name="connsiteX5" fmla="*/ 2131497 w 2778698"/>
                <a:gd name="connsiteY5" fmla="*/ 762008 h 4634985"/>
                <a:gd name="connsiteX6" fmla="*/ 2259764 w 2778698"/>
                <a:gd name="connsiteY6" fmla="*/ 55236 h 4634985"/>
                <a:gd name="connsiteX0" fmla="*/ 1720755 w 2783677"/>
                <a:gd name="connsiteY0" fmla="*/ 4268667 h 4735687"/>
                <a:gd name="connsiteX1" fmla="*/ 1556222 w 2783677"/>
                <a:gd name="connsiteY1" fmla="*/ 4699854 h 4735687"/>
                <a:gd name="connsiteX2" fmla="*/ 927436 w 2783677"/>
                <a:gd name="connsiteY2" fmla="*/ 4527124 h 4735687"/>
                <a:gd name="connsiteX3" fmla="*/ 57841 w 2783677"/>
                <a:gd name="connsiteY3" fmla="*/ 3074562 h 4735687"/>
                <a:gd name="connsiteX4" fmla="*/ 2695397 w 2783677"/>
                <a:gd name="connsiteY4" fmla="*/ 2076307 h 4735687"/>
                <a:gd name="connsiteX5" fmla="*/ 2131497 w 2783677"/>
                <a:gd name="connsiteY5" fmla="*/ 862710 h 4735687"/>
                <a:gd name="connsiteX6" fmla="*/ 1865438 w 2783677"/>
                <a:gd name="connsiteY6" fmla="*/ 49920 h 4735687"/>
                <a:gd name="connsiteX0" fmla="*/ 1720755 w 2783677"/>
                <a:gd name="connsiteY0" fmla="*/ 4268667 h 4735687"/>
                <a:gd name="connsiteX1" fmla="*/ 1556222 w 2783677"/>
                <a:gd name="connsiteY1" fmla="*/ 4699854 h 4735687"/>
                <a:gd name="connsiteX2" fmla="*/ 927436 w 2783677"/>
                <a:gd name="connsiteY2" fmla="*/ 4527124 h 4735687"/>
                <a:gd name="connsiteX3" fmla="*/ 57841 w 2783677"/>
                <a:gd name="connsiteY3" fmla="*/ 3074562 h 4735687"/>
                <a:gd name="connsiteX4" fmla="*/ 2695397 w 2783677"/>
                <a:gd name="connsiteY4" fmla="*/ 2076307 h 4735687"/>
                <a:gd name="connsiteX5" fmla="*/ 2131497 w 2783677"/>
                <a:gd name="connsiteY5" fmla="*/ 862710 h 4735687"/>
                <a:gd name="connsiteX6" fmla="*/ 1865438 w 2783677"/>
                <a:gd name="connsiteY6" fmla="*/ 49920 h 4735687"/>
                <a:gd name="connsiteX0" fmla="*/ 1720755 w 2775606"/>
                <a:gd name="connsiteY0" fmla="*/ 4256024 h 4723044"/>
                <a:gd name="connsiteX1" fmla="*/ 1556222 w 2775606"/>
                <a:gd name="connsiteY1" fmla="*/ 4687211 h 4723044"/>
                <a:gd name="connsiteX2" fmla="*/ 927436 w 2775606"/>
                <a:gd name="connsiteY2" fmla="*/ 4514481 h 4723044"/>
                <a:gd name="connsiteX3" fmla="*/ 57841 w 2775606"/>
                <a:gd name="connsiteY3" fmla="*/ 3061919 h 4723044"/>
                <a:gd name="connsiteX4" fmla="*/ 2695397 w 2775606"/>
                <a:gd name="connsiteY4" fmla="*/ 2063664 h 4723044"/>
                <a:gd name="connsiteX5" fmla="*/ 2131497 w 2775606"/>
                <a:gd name="connsiteY5" fmla="*/ 850067 h 4723044"/>
                <a:gd name="connsiteX6" fmla="*/ 2526887 w 2775606"/>
                <a:gd name="connsiteY6" fmla="*/ 50529 h 4723044"/>
                <a:gd name="connsiteX0" fmla="*/ 1720755 w 2775606"/>
                <a:gd name="connsiteY0" fmla="*/ 4205495 h 4672515"/>
                <a:gd name="connsiteX1" fmla="*/ 1556222 w 2775606"/>
                <a:gd name="connsiteY1" fmla="*/ 4636682 h 4672515"/>
                <a:gd name="connsiteX2" fmla="*/ 927436 w 2775606"/>
                <a:gd name="connsiteY2" fmla="*/ 4463952 h 4672515"/>
                <a:gd name="connsiteX3" fmla="*/ 57841 w 2775606"/>
                <a:gd name="connsiteY3" fmla="*/ 3011390 h 4672515"/>
                <a:gd name="connsiteX4" fmla="*/ 2695397 w 2775606"/>
                <a:gd name="connsiteY4" fmla="*/ 2013135 h 4672515"/>
                <a:gd name="connsiteX5" fmla="*/ 2131497 w 2775606"/>
                <a:gd name="connsiteY5" fmla="*/ 799538 h 4672515"/>
                <a:gd name="connsiteX6" fmla="*/ 2526887 w 2775606"/>
                <a:gd name="connsiteY6" fmla="*/ 0 h 4672515"/>
                <a:gd name="connsiteX0" fmla="*/ 1720755 w 3099295"/>
                <a:gd name="connsiteY0" fmla="*/ 3415516 h 3882536"/>
                <a:gd name="connsiteX1" fmla="*/ 1556222 w 3099295"/>
                <a:gd name="connsiteY1" fmla="*/ 3846703 h 3882536"/>
                <a:gd name="connsiteX2" fmla="*/ 927436 w 3099295"/>
                <a:gd name="connsiteY2" fmla="*/ 3673973 h 3882536"/>
                <a:gd name="connsiteX3" fmla="*/ 57841 w 3099295"/>
                <a:gd name="connsiteY3" fmla="*/ 2221411 h 3882536"/>
                <a:gd name="connsiteX4" fmla="*/ 2695397 w 3099295"/>
                <a:gd name="connsiteY4" fmla="*/ 1223156 h 3882536"/>
                <a:gd name="connsiteX5" fmla="*/ 2131497 w 3099295"/>
                <a:gd name="connsiteY5" fmla="*/ 9559 h 3882536"/>
                <a:gd name="connsiteX6" fmla="*/ 3099295 w 3099295"/>
                <a:gd name="connsiteY6" fmla="*/ 694265 h 3882536"/>
                <a:gd name="connsiteX0" fmla="*/ 1720755 w 3099295"/>
                <a:gd name="connsiteY0" fmla="*/ 3405957 h 3872977"/>
                <a:gd name="connsiteX1" fmla="*/ 1556222 w 3099295"/>
                <a:gd name="connsiteY1" fmla="*/ 3837144 h 3872977"/>
                <a:gd name="connsiteX2" fmla="*/ 927436 w 3099295"/>
                <a:gd name="connsiteY2" fmla="*/ 3664414 h 3872977"/>
                <a:gd name="connsiteX3" fmla="*/ 57841 w 3099295"/>
                <a:gd name="connsiteY3" fmla="*/ 2211852 h 3872977"/>
                <a:gd name="connsiteX4" fmla="*/ 2695397 w 3099295"/>
                <a:gd name="connsiteY4" fmla="*/ 1213597 h 3872977"/>
                <a:gd name="connsiteX5" fmla="*/ 2131497 w 3099295"/>
                <a:gd name="connsiteY5" fmla="*/ 0 h 3872977"/>
                <a:gd name="connsiteX6" fmla="*/ 3099295 w 3099295"/>
                <a:gd name="connsiteY6" fmla="*/ 684706 h 3872977"/>
                <a:gd name="connsiteX0" fmla="*/ 1720755 w 3099295"/>
                <a:gd name="connsiteY0" fmla="*/ 3415515 h 3882535"/>
                <a:gd name="connsiteX1" fmla="*/ 1556222 w 3099295"/>
                <a:gd name="connsiteY1" fmla="*/ 3846702 h 3882535"/>
                <a:gd name="connsiteX2" fmla="*/ 927436 w 3099295"/>
                <a:gd name="connsiteY2" fmla="*/ 3673972 h 3882535"/>
                <a:gd name="connsiteX3" fmla="*/ 57841 w 3099295"/>
                <a:gd name="connsiteY3" fmla="*/ 2221410 h 3882535"/>
                <a:gd name="connsiteX4" fmla="*/ 2695397 w 3099295"/>
                <a:gd name="connsiteY4" fmla="*/ 1223155 h 3882535"/>
                <a:gd name="connsiteX5" fmla="*/ 2131497 w 3099295"/>
                <a:gd name="connsiteY5" fmla="*/ 9558 h 3882535"/>
                <a:gd name="connsiteX6" fmla="*/ 3099295 w 3099295"/>
                <a:gd name="connsiteY6" fmla="*/ 694264 h 3882535"/>
                <a:gd name="connsiteX0" fmla="*/ 1720755 w 3099295"/>
                <a:gd name="connsiteY0" fmla="*/ 2804577 h 3271597"/>
                <a:gd name="connsiteX1" fmla="*/ 1556222 w 3099295"/>
                <a:gd name="connsiteY1" fmla="*/ 3235764 h 3271597"/>
                <a:gd name="connsiteX2" fmla="*/ 927436 w 3099295"/>
                <a:gd name="connsiteY2" fmla="*/ 3063034 h 3271597"/>
                <a:gd name="connsiteX3" fmla="*/ 57841 w 3099295"/>
                <a:gd name="connsiteY3" fmla="*/ 1610472 h 3271597"/>
                <a:gd name="connsiteX4" fmla="*/ 2695397 w 3099295"/>
                <a:gd name="connsiteY4" fmla="*/ 612217 h 3271597"/>
                <a:gd name="connsiteX5" fmla="*/ 2627583 w 3099295"/>
                <a:gd name="connsiteY5" fmla="*/ 246759 h 3271597"/>
                <a:gd name="connsiteX6" fmla="*/ 3099295 w 3099295"/>
                <a:gd name="connsiteY6" fmla="*/ 83326 h 3271597"/>
                <a:gd name="connsiteX0" fmla="*/ 845668 w 2290180"/>
                <a:gd name="connsiteY0" fmla="*/ 2804577 h 3318018"/>
                <a:gd name="connsiteX1" fmla="*/ 681135 w 2290180"/>
                <a:gd name="connsiteY1" fmla="*/ 3235764 h 3318018"/>
                <a:gd name="connsiteX2" fmla="*/ 52349 w 2290180"/>
                <a:gd name="connsiteY2" fmla="*/ 3063034 h 3318018"/>
                <a:gd name="connsiteX3" fmla="*/ 2210153 w 2290180"/>
                <a:gd name="connsiteY3" fmla="*/ 3160977 h 3318018"/>
                <a:gd name="connsiteX4" fmla="*/ 1820310 w 2290180"/>
                <a:gd name="connsiteY4" fmla="*/ 612217 h 3318018"/>
                <a:gd name="connsiteX5" fmla="*/ 1752496 w 2290180"/>
                <a:gd name="connsiteY5" fmla="*/ 246759 h 3318018"/>
                <a:gd name="connsiteX6" fmla="*/ 2224208 w 2290180"/>
                <a:gd name="connsiteY6" fmla="*/ 83326 h 3318018"/>
                <a:gd name="connsiteX0" fmla="*/ 212066 w 1590606"/>
                <a:gd name="connsiteY0" fmla="*/ 2804577 h 3544958"/>
                <a:gd name="connsiteX1" fmla="*/ 47533 w 1590606"/>
                <a:gd name="connsiteY1" fmla="*/ 3235764 h 3544958"/>
                <a:gd name="connsiteX2" fmla="*/ 1199570 w 1590606"/>
                <a:gd name="connsiteY2" fmla="*/ 3540113 h 3544958"/>
                <a:gd name="connsiteX3" fmla="*/ 1576551 w 1590606"/>
                <a:gd name="connsiteY3" fmla="*/ 3160977 h 3544958"/>
                <a:gd name="connsiteX4" fmla="*/ 1186708 w 1590606"/>
                <a:gd name="connsiteY4" fmla="*/ 612217 h 3544958"/>
                <a:gd name="connsiteX5" fmla="*/ 1118894 w 1590606"/>
                <a:gd name="connsiteY5" fmla="*/ 246759 h 3544958"/>
                <a:gd name="connsiteX6" fmla="*/ 1590606 w 1590606"/>
                <a:gd name="connsiteY6" fmla="*/ 83326 h 3544958"/>
                <a:gd name="connsiteX0" fmla="*/ 182007 w 1560547"/>
                <a:gd name="connsiteY0" fmla="*/ 2804577 h 3542540"/>
                <a:gd name="connsiteX1" fmla="*/ 17474 w 1560547"/>
                <a:gd name="connsiteY1" fmla="*/ 3235764 h 3542540"/>
                <a:gd name="connsiteX2" fmla="*/ 673441 w 1560547"/>
                <a:gd name="connsiteY2" fmla="*/ 3268602 h 3542540"/>
                <a:gd name="connsiteX3" fmla="*/ 1169511 w 1560547"/>
                <a:gd name="connsiteY3" fmla="*/ 3540113 h 3542540"/>
                <a:gd name="connsiteX4" fmla="*/ 1546492 w 1560547"/>
                <a:gd name="connsiteY4" fmla="*/ 3160977 h 3542540"/>
                <a:gd name="connsiteX5" fmla="*/ 1156649 w 1560547"/>
                <a:gd name="connsiteY5" fmla="*/ 612217 h 3542540"/>
                <a:gd name="connsiteX6" fmla="*/ 1088835 w 1560547"/>
                <a:gd name="connsiteY6" fmla="*/ 246759 h 3542540"/>
                <a:gd name="connsiteX7" fmla="*/ 1560547 w 1560547"/>
                <a:gd name="connsiteY7" fmla="*/ 83326 h 3542540"/>
                <a:gd name="connsiteX0" fmla="*/ 212065 w 1590605"/>
                <a:gd name="connsiteY0" fmla="*/ 2804577 h 3544958"/>
                <a:gd name="connsiteX1" fmla="*/ 47532 w 1590605"/>
                <a:gd name="connsiteY1" fmla="*/ 3235764 h 3544958"/>
                <a:gd name="connsiteX2" fmla="*/ 1199569 w 1590605"/>
                <a:gd name="connsiteY2" fmla="*/ 3540113 h 3544958"/>
                <a:gd name="connsiteX3" fmla="*/ 1576550 w 1590605"/>
                <a:gd name="connsiteY3" fmla="*/ 3160977 h 3544958"/>
                <a:gd name="connsiteX4" fmla="*/ 1186707 w 1590605"/>
                <a:gd name="connsiteY4" fmla="*/ 612217 h 3544958"/>
                <a:gd name="connsiteX5" fmla="*/ 1118893 w 1590605"/>
                <a:gd name="connsiteY5" fmla="*/ 246759 h 3544958"/>
                <a:gd name="connsiteX6" fmla="*/ 1590605 w 1590605"/>
                <a:gd name="connsiteY6" fmla="*/ 83326 h 3544958"/>
                <a:gd name="connsiteX0" fmla="*/ 545 w 1379085"/>
                <a:gd name="connsiteY0" fmla="*/ 2804577 h 3545934"/>
                <a:gd name="connsiteX1" fmla="*/ 433859 w 1379085"/>
                <a:gd name="connsiteY1" fmla="*/ 3222512 h 3545934"/>
                <a:gd name="connsiteX2" fmla="*/ 988049 w 1379085"/>
                <a:gd name="connsiteY2" fmla="*/ 3540113 h 3545934"/>
                <a:gd name="connsiteX3" fmla="*/ 1365030 w 1379085"/>
                <a:gd name="connsiteY3" fmla="*/ 3160977 h 3545934"/>
                <a:gd name="connsiteX4" fmla="*/ 975187 w 1379085"/>
                <a:gd name="connsiteY4" fmla="*/ 612217 h 3545934"/>
                <a:gd name="connsiteX5" fmla="*/ 907373 w 1379085"/>
                <a:gd name="connsiteY5" fmla="*/ 246759 h 3545934"/>
                <a:gd name="connsiteX6" fmla="*/ 1379085 w 1379085"/>
                <a:gd name="connsiteY6" fmla="*/ 83326 h 3545934"/>
                <a:gd name="connsiteX0" fmla="*/ 548 w 1379088"/>
                <a:gd name="connsiteY0" fmla="*/ 2804577 h 3292586"/>
                <a:gd name="connsiteX1" fmla="*/ 433862 w 1379088"/>
                <a:gd name="connsiteY1" fmla="*/ 3222512 h 3292586"/>
                <a:gd name="connsiteX2" fmla="*/ 1000772 w 1379088"/>
                <a:gd name="connsiteY2" fmla="*/ 2957017 h 3292586"/>
                <a:gd name="connsiteX3" fmla="*/ 1365033 w 1379088"/>
                <a:gd name="connsiteY3" fmla="*/ 3160977 h 3292586"/>
                <a:gd name="connsiteX4" fmla="*/ 975190 w 1379088"/>
                <a:gd name="connsiteY4" fmla="*/ 612217 h 3292586"/>
                <a:gd name="connsiteX5" fmla="*/ 907376 w 1379088"/>
                <a:gd name="connsiteY5" fmla="*/ 246759 h 3292586"/>
                <a:gd name="connsiteX6" fmla="*/ 1379088 w 1379088"/>
                <a:gd name="connsiteY6" fmla="*/ 83326 h 3292586"/>
                <a:gd name="connsiteX0" fmla="*/ 548 w 1379088"/>
                <a:gd name="connsiteY0" fmla="*/ 2804577 h 3238434"/>
                <a:gd name="connsiteX1" fmla="*/ 433862 w 1379088"/>
                <a:gd name="connsiteY1" fmla="*/ 3222512 h 3238434"/>
                <a:gd name="connsiteX2" fmla="*/ 1000772 w 1379088"/>
                <a:gd name="connsiteY2" fmla="*/ 2957017 h 3238434"/>
                <a:gd name="connsiteX3" fmla="*/ 652703 w 1379088"/>
                <a:gd name="connsiteY3" fmla="*/ 1252664 h 3238434"/>
                <a:gd name="connsiteX4" fmla="*/ 975190 w 1379088"/>
                <a:gd name="connsiteY4" fmla="*/ 612217 h 3238434"/>
                <a:gd name="connsiteX5" fmla="*/ 907376 w 1379088"/>
                <a:gd name="connsiteY5" fmla="*/ 246759 h 3238434"/>
                <a:gd name="connsiteX6" fmla="*/ 1379088 w 1379088"/>
                <a:gd name="connsiteY6" fmla="*/ 83326 h 3238434"/>
                <a:gd name="connsiteX0" fmla="*/ 548 w 1379088"/>
                <a:gd name="connsiteY0" fmla="*/ 2804577 h 3238434"/>
                <a:gd name="connsiteX1" fmla="*/ 433862 w 1379088"/>
                <a:gd name="connsiteY1" fmla="*/ 3222512 h 3238434"/>
                <a:gd name="connsiteX2" fmla="*/ 1000772 w 1379088"/>
                <a:gd name="connsiteY2" fmla="*/ 2957017 h 3238434"/>
                <a:gd name="connsiteX3" fmla="*/ 652703 w 1379088"/>
                <a:gd name="connsiteY3" fmla="*/ 1252664 h 3238434"/>
                <a:gd name="connsiteX4" fmla="*/ 924309 w 1379088"/>
                <a:gd name="connsiteY4" fmla="*/ 612217 h 3238434"/>
                <a:gd name="connsiteX5" fmla="*/ 907376 w 1379088"/>
                <a:gd name="connsiteY5" fmla="*/ 246759 h 3238434"/>
                <a:gd name="connsiteX6" fmla="*/ 1379088 w 1379088"/>
                <a:gd name="connsiteY6" fmla="*/ 83326 h 3238434"/>
                <a:gd name="connsiteX0" fmla="*/ 548 w 1379088"/>
                <a:gd name="connsiteY0" fmla="*/ 2804577 h 3238434"/>
                <a:gd name="connsiteX1" fmla="*/ 433862 w 1379088"/>
                <a:gd name="connsiteY1" fmla="*/ 3222512 h 3238434"/>
                <a:gd name="connsiteX2" fmla="*/ 1000772 w 1379088"/>
                <a:gd name="connsiteY2" fmla="*/ 2957017 h 3238434"/>
                <a:gd name="connsiteX3" fmla="*/ 652703 w 1379088"/>
                <a:gd name="connsiteY3" fmla="*/ 1252664 h 3238434"/>
                <a:gd name="connsiteX4" fmla="*/ 907376 w 1379088"/>
                <a:gd name="connsiteY4" fmla="*/ 246759 h 3238434"/>
                <a:gd name="connsiteX5" fmla="*/ 1379088 w 1379088"/>
                <a:gd name="connsiteY5" fmla="*/ 83326 h 3238434"/>
                <a:gd name="connsiteX0" fmla="*/ 548 w 1379088"/>
                <a:gd name="connsiteY0" fmla="*/ 2769660 h 3203517"/>
                <a:gd name="connsiteX1" fmla="*/ 433862 w 1379088"/>
                <a:gd name="connsiteY1" fmla="*/ 3187595 h 3203517"/>
                <a:gd name="connsiteX2" fmla="*/ 1000772 w 1379088"/>
                <a:gd name="connsiteY2" fmla="*/ 2922100 h 3203517"/>
                <a:gd name="connsiteX3" fmla="*/ 652703 w 1379088"/>
                <a:gd name="connsiteY3" fmla="*/ 1217747 h 3203517"/>
                <a:gd name="connsiteX4" fmla="*/ 1009138 w 1379088"/>
                <a:gd name="connsiteY4" fmla="*/ 556399 h 3203517"/>
                <a:gd name="connsiteX5" fmla="*/ 1379088 w 1379088"/>
                <a:gd name="connsiteY5" fmla="*/ 48409 h 3203517"/>
                <a:gd name="connsiteX0" fmla="*/ 548 w 1379088"/>
                <a:gd name="connsiteY0" fmla="*/ 2721251 h 3155108"/>
                <a:gd name="connsiteX1" fmla="*/ 433862 w 1379088"/>
                <a:gd name="connsiteY1" fmla="*/ 3139186 h 3155108"/>
                <a:gd name="connsiteX2" fmla="*/ 1000772 w 1379088"/>
                <a:gd name="connsiteY2" fmla="*/ 2873691 h 3155108"/>
                <a:gd name="connsiteX3" fmla="*/ 652703 w 1379088"/>
                <a:gd name="connsiteY3" fmla="*/ 1169338 h 3155108"/>
                <a:gd name="connsiteX4" fmla="*/ 1009138 w 1379088"/>
                <a:gd name="connsiteY4" fmla="*/ 507990 h 3155108"/>
                <a:gd name="connsiteX5" fmla="*/ 1379088 w 1379088"/>
                <a:gd name="connsiteY5" fmla="*/ 0 h 3155108"/>
                <a:gd name="connsiteX0" fmla="*/ 548 w 1379088"/>
                <a:gd name="connsiteY0" fmla="*/ 2721251 h 3155108"/>
                <a:gd name="connsiteX1" fmla="*/ 433862 w 1379088"/>
                <a:gd name="connsiteY1" fmla="*/ 3139186 h 3155108"/>
                <a:gd name="connsiteX2" fmla="*/ 1000772 w 1379088"/>
                <a:gd name="connsiteY2" fmla="*/ 2873691 h 3155108"/>
                <a:gd name="connsiteX3" fmla="*/ 652703 w 1379088"/>
                <a:gd name="connsiteY3" fmla="*/ 1169338 h 3155108"/>
                <a:gd name="connsiteX4" fmla="*/ 1009138 w 1379088"/>
                <a:gd name="connsiteY4" fmla="*/ 507990 h 3155108"/>
                <a:gd name="connsiteX5" fmla="*/ 1379088 w 1379088"/>
                <a:gd name="connsiteY5" fmla="*/ 0 h 3155108"/>
                <a:gd name="connsiteX0" fmla="*/ 548 w 1379088"/>
                <a:gd name="connsiteY0" fmla="*/ 2721251 h 3155108"/>
                <a:gd name="connsiteX1" fmla="*/ 433862 w 1379088"/>
                <a:gd name="connsiteY1" fmla="*/ 3139186 h 3155108"/>
                <a:gd name="connsiteX2" fmla="*/ 1000772 w 1379088"/>
                <a:gd name="connsiteY2" fmla="*/ 2873691 h 3155108"/>
                <a:gd name="connsiteX3" fmla="*/ 652703 w 1379088"/>
                <a:gd name="connsiteY3" fmla="*/ 1169338 h 3155108"/>
                <a:gd name="connsiteX4" fmla="*/ 1072739 w 1379088"/>
                <a:gd name="connsiteY4" fmla="*/ 600755 h 3155108"/>
                <a:gd name="connsiteX5" fmla="*/ 1379088 w 1379088"/>
                <a:gd name="connsiteY5" fmla="*/ 0 h 3155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9088" h="3155108">
                  <a:moveTo>
                    <a:pt x="548" y="2721251"/>
                  </a:moveTo>
                  <a:cubicBezTo>
                    <a:pt x="-14080" y="2857630"/>
                    <a:pt x="267158" y="3113779"/>
                    <a:pt x="433862" y="3139186"/>
                  </a:cubicBezTo>
                  <a:cubicBezTo>
                    <a:pt x="600566" y="3164593"/>
                    <a:pt x="964299" y="3201999"/>
                    <a:pt x="1000772" y="2873691"/>
                  </a:cubicBezTo>
                  <a:cubicBezTo>
                    <a:pt x="1037245" y="2545383"/>
                    <a:pt x="640708" y="1548161"/>
                    <a:pt x="652703" y="1169338"/>
                  </a:cubicBezTo>
                  <a:cubicBezTo>
                    <a:pt x="664698" y="790515"/>
                    <a:pt x="951675" y="795645"/>
                    <a:pt x="1072739" y="600755"/>
                  </a:cubicBezTo>
                  <a:cubicBezTo>
                    <a:pt x="1193803" y="405865"/>
                    <a:pt x="1255771" y="169330"/>
                    <a:pt x="1379088" y="0"/>
                  </a:cubicBezTo>
                </a:path>
              </a:pathLst>
            </a:custGeom>
            <a:ln>
              <a:solidFill>
                <a:srgbClr val="FF0000"/>
              </a:solidFill>
              <a:tailEnd type="oval" w="lg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761146" y="5369936"/>
              <a:ext cx="3785842" cy="1136853"/>
            </a:xfrm>
            <a:custGeom>
              <a:avLst/>
              <a:gdLst>
                <a:gd name="connsiteX0" fmla="*/ 1104900 w 1188720"/>
                <a:gd name="connsiteY0" fmla="*/ 0 h 266700"/>
                <a:gd name="connsiteX1" fmla="*/ 1188720 w 1188720"/>
                <a:gd name="connsiteY1" fmla="*/ 266700 h 266700"/>
                <a:gd name="connsiteX2" fmla="*/ 0 w 1188720"/>
                <a:gd name="connsiteY2" fmla="*/ 243840 h 266700"/>
                <a:gd name="connsiteX0" fmla="*/ 1104900 w 1257643"/>
                <a:gd name="connsiteY0" fmla="*/ 0 h 266700"/>
                <a:gd name="connsiteX1" fmla="*/ 1188720 w 1257643"/>
                <a:gd name="connsiteY1" fmla="*/ 266700 h 266700"/>
                <a:gd name="connsiteX2" fmla="*/ 0 w 1257643"/>
                <a:gd name="connsiteY2" fmla="*/ 243840 h 266700"/>
                <a:gd name="connsiteX0" fmla="*/ 3438525 w 3591268"/>
                <a:gd name="connsiteY0" fmla="*/ 241935 h 508635"/>
                <a:gd name="connsiteX1" fmla="*/ 3522345 w 3591268"/>
                <a:gd name="connsiteY1" fmla="*/ 508635 h 508635"/>
                <a:gd name="connsiteX2" fmla="*/ 0 w 3591268"/>
                <a:gd name="connsiteY2" fmla="*/ 0 h 508635"/>
                <a:gd name="connsiteX0" fmla="*/ 3438525 w 3438797"/>
                <a:gd name="connsiteY0" fmla="*/ 241935 h 265311"/>
                <a:gd name="connsiteX1" fmla="*/ 1150620 w 3438797"/>
                <a:gd name="connsiteY1" fmla="*/ 175260 h 265311"/>
                <a:gd name="connsiteX2" fmla="*/ 0 w 3438797"/>
                <a:gd name="connsiteY2" fmla="*/ 0 h 265311"/>
                <a:gd name="connsiteX0" fmla="*/ 3438525 w 3438525"/>
                <a:gd name="connsiteY0" fmla="*/ 241935 h 241935"/>
                <a:gd name="connsiteX1" fmla="*/ 1827276 w 3438525"/>
                <a:gd name="connsiteY1" fmla="*/ 173047 h 241935"/>
                <a:gd name="connsiteX2" fmla="*/ 1150620 w 3438525"/>
                <a:gd name="connsiteY2" fmla="*/ 175260 h 241935"/>
                <a:gd name="connsiteX3" fmla="*/ 0 w 3438525"/>
                <a:gd name="connsiteY3" fmla="*/ 0 h 241935"/>
                <a:gd name="connsiteX0" fmla="*/ 3438525 w 3465576"/>
                <a:gd name="connsiteY0" fmla="*/ 241935 h 420697"/>
                <a:gd name="connsiteX1" fmla="*/ 3465576 w 3465576"/>
                <a:gd name="connsiteY1" fmla="*/ 420697 h 420697"/>
                <a:gd name="connsiteX2" fmla="*/ 1150620 w 3465576"/>
                <a:gd name="connsiteY2" fmla="*/ 175260 h 420697"/>
                <a:gd name="connsiteX3" fmla="*/ 0 w 3465576"/>
                <a:gd name="connsiteY3" fmla="*/ 0 h 420697"/>
                <a:gd name="connsiteX0" fmla="*/ 3438525 w 3630195"/>
                <a:gd name="connsiteY0" fmla="*/ 241935 h 421365"/>
                <a:gd name="connsiteX1" fmla="*/ 3465576 w 3630195"/>
                <a:gd name="connsiteY1" fmla="*/ 420697 h 421365"/>
                <a:gd name="connsiteX2" fmla="*/ 1150620 w 3630195"/>
                <a:gd name="connsiteY2" fmla="*/ 175260 h 421365"/>
                <a:gd name="connsiteX3" fmla="*/ 0 w 3630195"/>
                <a:gd name="connsiteY3" fmla="*/ 0 h 421365"/>
                <a:gd name="connsiteX0" fmla="*/ 3438525 w 3514266"/>
                <a:gd name="connsiteY0" fmla="*/ 241935 h 402421"/>
                <a:gd name="connsiteX1" fmla="*/ 3294126 w 3514266"/>
                <a:gd name="connsiteY1" fmla="*/ 401647 h 402421"/>
                <a:gd name="connsiteX2" fmla="*/ 1150620 w 3514266"/>
                <a:gd name="connsiteY2" fmla="*/ 175260 h 402421"/>
                <a:gd name="connsiteX3" fmla="*/ 0 w 3514266"/>
                <a:gd name="connsiteY3" fmla="*/ 0 h 402421"/>
                <a:gd name="connsiteX0" fmla="*/ 3371850 w 3447591"/>
                <a:gd name="connsiteY0" fmla="*/ 232410 h 392896"/>
                <a:gd name="connsiteX1" fmla="*/ 3227451 w 3447591"/>
                <a:gd name="connsiteY1" fmla="*/ 392122 h 392896"/>
                <a:gd name="connsiteX2" fmla="*/ 1083945 w 3447591"/>
                <a:gd name="connsiteY2" fmla="*/ 165735 h 392896"/>
                <a:gd name="connsiteX3" fmla="*/ 0 w 3447591"/>
                <a:gd name="connsiteY3" fmla="*/ 0 h 392896"/>
                <a:gd name="connsiteX0" fmla="*/ 4032250 w 4107991"/>
                <a:gd name="connsiteY0" fmla="*/ 66815 h 291744"/>
                <a:gd name="connsiteX1" fmla="*/ 3887851 w 4107991"/>
                <a:gd name="connsiteY1" fmla="*/ 226527 h 291744"/>
                <a:gd name="connsiteX2" fmla="*/ 1744345 w 4107991"/>
                <a:gd name="connsiteY2" fmla="*/ 140 h 291744"/>
                <a:gd name="connsiteX3" fmla="*/ 0 w 4107991"/>
                <a:gd name="connsiteY3" fmla="*/ 291605 h 291744"/>
                <a:gd name="connsiteX0" fmla="*/ 3968750 w 4044491"/>
                <a:gd name="connsiteY0" fmla="*/ 66812 h 298088"/>
                <a:gd name="connsiteX1" fmla="*/ 3824351 w 4044491"/>
                <a:gd name="connsiteY1" fmla="*/ 226524 h 298088"/>
                <a:gd name="connsiteX2" fmla="*/ 1680845 w 4044491"/>
                <a:gd name="connsiteY2" fmla="*/ 137 h 298088"/>
                <a:gd name="connsiteX3" fmla="*/ 0 w 4044491"/>
                <a:gd name="connsiteY3" fmla="*/ 297952 h 298088"/>
                <a:gd name="connsiteX0" fmla="*/ 3968750 w 4041908"/>
                <a:gd name="connsiteY0" fmla="*/ 0 h 551070"/>
                <a:gd name="connsiteX1" fmla="*/ 3824351 w 4041908"/>
                <a:gd name="connsiteY1" fmla="*/ 159712 h 551070"/>
                <a:gd name="connsiteX2" fmla="*/ 1718945 w 4041908"/>
                <a:gd name="connsiteY2" fmla="*/ 549275 h 551070"/>
                <a:gd name="connsiteX3" fmla="*/ 0 w 4041908"/>
                <a:gd name="connsiteY3" fmla="*/ 231140 h 551070"/>
                <a:gd name="connsiteX0" fmla="*/ 3968750 w 4098523"/>
                <a:gd name="connsiteY0" fmla="*/ 0 h 538426"/>
                <a:gd name="connsiteX1" fmla="*/ 3824351 w 4098523"/>
                <a:gd name="connsiteY1" fmla="*/ 159712 h 538426"/>
                <a:gd name="connsiteX2" fmla="*/ 906145 w 4098523"/>
                <a:gd name="connsiteY2" fmla="*/ 536575 h 538426"/>
                <a:gd name="connsiteX3" fmla="*/ 0 w 4098523"/>
                <a:gd name="connsiteY3" fmla="*/ 231140 h 538426"/>
                <a:gd name="connsiteX0" fmla="*/ 3968750 w 4090643"/>
                <a:gd name="connsiteY0" fmla="*/ 0 h 714574"/>
                <a:gd name="connsiteX1" fmla="*/ 3811651 w 4090643"/>
                <a:gd name="connsiteY1" fmla="*/ 693112 h 714574"/>
                <a:gd name="connsiteX2" fmla="*/ 906145 w 4090643"/>
                <a:gd name="connsiteY2" fmla="*/ 536575 h 714574"/>
                <a:gd name="connsiteX3" fmla="*/ 0 w 4090643"/>
                <a:gd name="connsiteY3" fmla="*/ 231140 h 714574"/>
                <a:gd name="connsiteX0" fmla="*/ 3968750 w 4090643"/>
                <a:gd name="connsiteY0" fmla="*/ 0 h 713156"/>
                <a:gd name="connsiteX1" fmla="*/ 3811651 w 4090643"/>
                <a:gd name="connsiteY1" fmla="*/ 693112 h 713156"/>
                <a:gd name="connsiteX2" fmla="*/ 906145 w 4090643"/>
                <a:gd name="connsiteY2" fmla="*/ 536575 h 713156"/>
                <a:gd name="connsiteX3" fmla="*/ 0 w 4090643"/>
                <a:gd name="connsiteY3" fmla="*/ 231140 h 713156"/>
                <a:gd name="connsiteX0" fmla="*/ 3968750 w 4090643"/>
                <a:gd name="connsiteY0" fmla="*/ 0 h 713156"/>
                <a:gd name="connsiteX1" fmla="*/ 3811651 w 4090643"/>
                <a:gd name="connsiteY1" fmla="*/ 693112 h 713156"/>
                <a:gd name="connsiteX2" fmla="*/ 906145 w 4090643"/>
                <a:gd name="connsiteY2" fmla="*/ 536575 h 713156"/>
                <a:gd name="connsiteX3" fmla="*/ 0 w 4090643"/>
                <a:gd name="connsiteY3" fmla="*/ 231140 h 713156"/>
                <a:gd name="connsiteX0" fmla="*/ 3940175 w 4062068"/>
                <a:gd name="connsiteY0" fmla="*/ 0 h 736177"/>
                <a:gd name="connsiteX1" fmla="*/ 3783076 w 4062068"/>
                <a:gd name="connsiteY1" fmla="*/ 693112 h 736177"/>
                <a:gd name="connsiteX2" fmla="*/ 877570 w 4062068"/>
                <a:gd name="connsiteY2" fmla="*/ 536575 h 736177"/>
                <a:gd name="connsiteX3" fmla="*/ 0 w 4062068"/>
                <a:gd name="connsiteY3" fmla="*/ 735965 h 736177"/>
                <a:gd name="connsiteX0" fmla="*/ 3940175 w 4056713"/>
                <a:gd name="connsiteY0" fmla="*/ 0 h 974882"/>
                <a:gd name="connsiteX1" fmla="*/ 3783076 w 4056713"/>
                <a:gd name="connsiteY1" fmla="*/ 693112 h 974882"/>
                <a:gd name="connsiteX2" fmla="*/ 953770 w 4056713"/>
                <a:gd name="connsiteY2" fmla="*/ 974725 h 974882"/>
                <a:gd name="connsiteX3" fmla="*/ 0 w 4056713"/>
                <a:gd name="connsiteY3" fmla="*/ 735965 h 974882"/>
                <a:gd name="connsiteX0" fmla="*/ 3080341 w 6883543"/>
                <a:gd name="connsiteY0" fmla="*/ 416974 h 1449496"/>
                <a:gd name="connsiteX1" fmla="*/ 2923242 w 6883543"/>
                <a:gd name="connsiteY1" fmla="*/ 1110086 h 1449496"/>
                <a:gd name="connsiteX2" fmla="*/ 93936 w 6883543"/>
                <a:gd name="connsiteY2" fmla="*/ 1391699 h 1449496"/>
                <a:gd name="connsiteX3" fmla="*/ 6866183 w 6883543"/>
                <a:gd name="connsiteY3" fmla="*/ 0 h 1449496"/>
                <a:gd name="connsiteX0" fmla="*/ 294543 w 4158595"/>
                <a:gd name="connsiteY0" fmla="*/ 416974 h 1163819"/>
                <a:gd name="connsiteX1" fmla="*/ 137444 w 4158595"/>
                <a:gd name="connsiteY1" fmla="*/ 1110086 h 1163819"/>
                <a:gd name="connsiteX2" fmla="*/ 2614234 w 4158595"/>
                <a:gd name="connsiteY2" fmla="*/ 992454 h 1163819"/>
                <a:gd name="connsiteX3" fmla="*/ 4080385 w 4158595"/>
                <a:gd name="connsiteY3" fmla="*/ 0 h 1163819"/>
                <a:gd name="connsiteX0" fmla="*/ 0 w 3857137"/>
                <a:gd name="connsiteY0" fmla="*/ 416974 h 1136853"/>
                <a:gd name="connsiteX1" fmla="*/ 783058 w 3857137"/>
                <a:gd name="connsiteY1" fmla="*/ 1071450 h 1136853"/>
                <a:gd name="connsiteX2" fmla="*/ 2319691 w 3857137"/>
                <a:gd name="connsiteY2" fmla="*/ 992454 h 1136853"/>
                <a:gd name="connsiteX3" fmla="*/ 3785842 w 3857137"/>
                <a:gd name="connsiteY3" fmla="*/ 0 h 1136853"/>
                <a:gd name="connsiteX0" fmla="*/ 0 w 3785842"/>
                <a:gd name="connsiteY0" fmla="*/ 416974 h 1136853"/>
                <a:gd name="connsiteX1" fmla="*/ 783058 w 3785842"/>
                <a:gd name="connsiteY1" fmla="*/ 1071450 h 1136853"/>
                <a:gd name="connsiteX2" fmla="*/ 2319691 w 3785842"/>
                <a:gd name="connsiteY2" fmla="*/ 992454 h 1136853"/>
                <a:gd name="connsiteX3" fmla="*/ 3785842 w 3785842"/>
                <a:gd name="connsiteY3" fmla="*/ 0 h 1136853"/>
                <a:gd name="connsiteX0" fmla="*/ 0 w 3785842"/>
                <a:gd name="connsiteY0" fmla="*/ 416974 h 1136853"/>
                <a:gd name="connsiteX1" fmla="*/ 783058 w 3785842"/>
                <a:gd name="connsiteY1" fmla="*/ 1071450 h 1136853"/>
                <a:gd name="connsiteX2" fmla="*/ 2319691 w 3785842"/>
                <a:gd name="connsiteY2" fmla="*/ 992454 h 1136853"/>
                <a:gd name="connsiteX3" fmla="*/ 3785842 w 3785842"/>
                <a:gd name="connsiteY3" fmla="*/ 0 h 1136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85842" h="1136853">
                  <a:moveTo>
                    <a:pt x="0" y="416974"/>
                  </a:moveTo>
                  <a:cubicBezTo>
                    <a:pt x="9017" y="476561"/>
                    <a:pt x="396443" y="975537"/>
                    <a:pt x="783058" y="1071450"/>
                  </a:cubicBezTo>
                  <a:cubicBezTo>
                    <a:pt x="1169673" y="1167363"/>
                    <a:pt x="1819227" y="1171029"/>
                    <a:pt x="2319691" y="992454"/>
                  </a:cubicBezTo>
                  <a:cubicBezTo>
                    <a:pt x="2820155" y="813879"/>
                    <a:pt x="3297125" y="330818"/>
                    <a:pt x="3785842" y="0"/>
                  </a:cubicBezTo>
                </a:path>
              </a:pathLst>
            </a:custGeom>
            <a:ln>
              <a:solidFill>
                <a:srgbClr val="000000"/>
              </a:solidFill>
              <a:tailEnd type="oval" w="lg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15637" y="3721119"/>
              <a:ext cx="952191" cy="369332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endParaRPr lang="en-ZA" sz="2400" dirty="0">
                <a:solidFill>
                  <a:srgbClr val="080808"/>
                </a:solidFill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15637" y="3750541"/>
            <a:ext cx="952191" cy="36933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ZA" sz="2400" dirty="0" smtClean="0">
                <a:solidFill>
                  <a:srgbClr val="080808"/>
                </a:solidFill>
              </a:rPr>
              <a:t>10.00</a:t>
            </a:r>
            <a:endParaRPr lang="en-ZA" sz="2400" dirty="0">
              <a:solidFill>
                <a:srgbClr val="080808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28494" y="1862462"/>
            <a:ext cx="4096961" cy="3076851"/>
            <a:chOff x="4528494" y="1862462"/>
            <a:chExt cx="4096961" cy="3076851"/>
          </a:xfrm>
        </p:grpSpPr>
        <p:pic>
          <p:nvPicPr>
            <p:cNvPr id="2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6839" y="1862462"/>
              <a:ext cx="1368616" cy="2244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" name="Freeform 23"/>
            <p:cNvSpPr/>
            <p:nvPr/>
          </p:nvSpPr>
          <p:spPr>
            <a:xfrm>
              <a:off x="4528494" y="3044120"/>
              <a:ext cx="3540945" cy="1895193"/>
            </a:xfrm>
            <a:custGeom>
              <a:avLst/>
              <a:gdLst>
                <a:gd name="connsiteX0" fmla="*/ 1463040 w 2532185"/>
                <a:gd name="connsiteY0" fmla="*/ 2377440 h 2771336"/>
                <a:gd name="connsiteX1" fmla="*/ 1477108 w 2532185"/>
                <a:gd name="connsiteY1" fmla="*/ 2771336 h 2771336"/>
                <a:gd name="connsiteX2" fmla="*/ 2532185 w 2532185"/>
                <a:gd name="connsiteY2" fmla="*/ 2700997 h 2771336"/>
                <a:gd name="connsiteX3" fmla="*/ 2461846 w 2532185"/>
                <a:gd name="connsiteY3" fmla="*/ 42203 h 2771336"/>
                <a:gd name="connsiteX4" fmla="*/ 0 w 2532185"/>
                <a:gd name="connsiteY4" fmla="*/ 0 h 2771336"/>
                <a:gd name="connsiteX0" fmla="*/ 1463040 w 2475915"/>
                <a:gd name="connsiteY0" fmla="*/ 2377440 h 2771336"/>
                <a:gd name="connsiteX1" fmla="*/ 1477108 w 2475915"/>
                <a:gd name="connsiteY1" fmla="*/ 2771336 h 2771336"/>
                <a:gd name="connsiteX2" fmla="*/ 2475915 w 2475915"/>
                <a:gd name="connsiteY2" fmla="*/ 2757268 h 2771336"/>
                <a:gd name="connsiteX3" fmla="*/ 2461846 w 2475915"/>
                <a:gd name="connsiteY3" fmla="*/ 42203 h 2771336"/>
                <a:gd name="connsiteX4" fmla="*/ 0 w 2475915"/>
                <a:gd name="connsiteY4" fmla="*/ 0 h 2771336"/>
                <a:gd name="connsiteX0" fmla="*/ 1463040 w 2475915"/>
                <a:gd name="connsiteY0" fmla="*/ 2377440 h 2771336"/>
                <a:gd name="connsiteX1" fmla="*/ 1463040 w 2475915"/>
                <a:gd name="connsiteY1" fmla="*/ 2771336 h 2771336"/>
                <a:gd name="connsiteX2" fmla="*/ 2475915 w 2475915"/>
                <a:gd name="connsiteY2" fmla="*/ 2757268 h 2771336"/>
                <a:gd name="connsiteX3" fmla="*/ 2461846 w 2475915"/>
                <a:gd name="connsiteY3" fmla="*/ 42203 h 2771336"/>
                <a:gd name="connsiteX4" fmla="*/ 0 w 2475915"/>
                <a:gd name="connsiteY4" fmla="*/ 0 h 2771336"/>
                <a:gd name="connsiteX0" fmla="*/ 1463040 w 2477268"/>
                <a:gd name="connsiteY0" fmla="*/ 2377440 h 2771336"/>
                <a:gd name="connsiteX1" fmla="*/ 1463040 w 2477268"/>
                <a:gd name="connsiteY1" fmla="*/ 2771336 h 2771336"/>
                <a:gd name="connsiteX2" fmla="*/ 2475915 w 2477268"/>
                <a:gd name="connsiteY2" fmla="*/ 2757268 h 2771336"/>
                <a:gd name="connsiteX3" fmla="*/ 2475914 w 2477268"/>
                <a:gd name="connsiteY3" fmla="*/ 0 h 2771336"/>
                <a:gd name="connsiteX4" fmla="*/ 0 w 2477268"/>
                <a:gd name="connsiteY4" fmla="*/ 0 h 2771336"/>
                <a:gd name="connsiteX0" fmla="*/ 1506924 w 2477268"/>
                <a:gd name="connsiteY0" fmla="*/ 2362200 h 2771336"/>
                <a:gd name="connsiteX1" fmla="*/ 1463040 w 2477268"/>
                <a:gd name="connsiteY1" fmla="*/ 2771336 h 2771336"/>
                <a:gd name="connsiteX2" fmla="*/ 2475915 w 2477268"/>
                <a:gd name="connsiteY2" fmla="*/ 2757268 h 2771336"/>
                <a:gd name="connsiteX3" fmla="*/ 2475914 w 2477268"/>
                <a:gd name="connsiteY3" fmla="*/ 0 h 2771336"/>
                <a:gd name="connsiteX4" fmla="*/ 0 w 2477268"/>
                <a:gd name="connsiteY4" fmla="*/ 0 h 2771336"/>
                <a:gd name="connsiteX0" fmla="*/ 1441097 w 2411441"/>
                <a:gd name="connsiteY0" fmla="*/ 2362200 h 2771336"/>
                <a:gd name="connsiteX1" fmla="*/ 1397213 w 2411441"/>
                <a:gd name="connsiteY1" fmla="*/ 2771336 h 2771336"/>
                <a:gd name="connsiteX2" fmla="*/ 2410088 w 2411441"/>
                <a:gd name="connsiteY2" fmla="*/ 2757268 h 2771336"/>
                <a:gd name="connsiteX3" fmla="*/ 2410087 w 2411441"/>
                <a:gd name="connsiteY3" fmla="*/ 0 h 2771336"/>
                <a:gd name="connsiteX4" fmla="*/ 0 w 2411441"/>
                <a:gd name="connsiteY4" fmla="*/ 0 h 2771336"/>
                <a:gd name="connsiteX0" fmla="*/ 1441097 w 2411441"/>
                <a:gd name="connsiteY0" fmla="*/ 2362200 h 2771336"/>
                <a:gd name="connsiteX1" fmla="*/ 1397213 w 2411441"/>
                <a:gd name="connsiteY1" fmla="*/ 2771336 h 2771336"/>
                <a:gd name="connsiteX2" fmla="*/ 2410088 w 2411441"/>
                <a:gd name="connsiteY2" fmla="*/ 2757268 h 2771336"/>
                <a:gd name="connsiteX3" fmla="*/ 2410087 w 2411441"/>
                <a:gd name="connsiteY3" fmla="*/ 0 h 2771336"/>
                <a:gd name="connsiteX4" fmla="*/ 0 w 2411441"/>
                <a:gd name="connsiteY4" fmla="*/ 0 h 2771336"/>
                <a:gd name="connsiteX0" fmla="*/ 1441097 w 2411441"/>
                <a:gd name="connsiteY0" fmla="*/ 2362200 h 2982172"/>
                <a:gd name="connsiteX1" fmla="*/ 1397213 w 2411441"/>
                <a:gd name="connsiteY1" fmla="*/ 2771336 h 2982172"/>
                <a:gd name="connsiteX2" fmla="*/ 2410088 w 2411441"/>
                <a:gd name="connsiteY2" fmla="*/ 2757268 h 2982172"/>
                <a:gd name="connsiteX3" fmla="*/ 2410087 w 2411441"/>
                <a:gd name="connsiteY3" fmla="*/ 0 h 2982172"/>
                <a:gd name="connsiteX4" fmla="*/ 0 w 2411441"/>
                <a:gd name="connsiteY4" fmla="*/ 0 h 2982172"/>
                <a:gd name="connsiteX0" fmla="*/ 1441097 w 2410088"/>
                <a:gd name="connsiteY0" fmla="*/ 2362200 h 2982172"/>
                <a:gd name="connsiteX1" fmla="*/ 1397213 w 2410088"/>
                <a:gd name="connsiteY1" fmla="*/ 2771336 h 2982172"/>
                <a:gd name="connsiteX2" fmla="*/ 2410088 w 2410088"/>
                <a:gd name="connsiteY2" fmla="*/ 2757268 h 2982172"/>
                <a:gd name="connsiteX3" fmla="*/ 2410087 w 2410088"/>
                <a:gd name="connsiteY3" fmla="*/ 0 h 2982172"/>
                <a:gd name="connsiteX4" fmla="*/ 0 w 2410088"/>
                <a:gd name="connsiteY4" fmla="*/ 0 h 2982172"/>
                <a:gd name="connsiteX0" fmla="*/ 1441097 w 2410088"/>
                <a:gd name="connsiteY0" fmla="*/ 2566442 h 3186414"/>
                <a:gd name="connsiteX1" fmla="*/ 1397213 w 2410088"/>
                <a:gd name="connsiteY1" fmla="*/ 2975578 h 3186414"/>
                <a:gd name="connsiteX2" fmla="*/ 2410088 w 2410088"/>
                <a:gd name="connsiteY2" fmla="*/ 2961510 h 3186414"/>
                <a:gd name="connsiteX3" fmla="*/ 2410087 w 2410088"/>
                <a:gd name="connsiteY3" fmla="*/ 204242 h 3186414"/>
                <a:gd name="connsiteX4" fmla="*/ 0 w 2410088"/>
                <a:gd name="connsiteY4" fmla="*/ 204242 h 3186414"/>
                <a:gd name="connsiteX0" fmla="*/ 1441097 w 2422111"/>
                <a:gd name="connsiteY0" fmla="*/ 2566442 h 2980162"/>
                <a:gd name="connsiteX1" fmla="*/ 1397213 w 2422111"/>
                <a:gd name="connsiteY1" fmla="*/ 2975578 h 2980162"/>
                <a:gd name="connsiteX2" fmla="*/ 2422111 w 2422111"/>
                <a:gd name="connsiteY2" fmla="*/ 1921850 h 2980162"/>
                <a:gd name="connsiteX3" fmla="*/ 2410087 w 2422111"/>
                <a:gd name="connsiteY3" fmla="*/ 204242 h 2980162"/>
                <a:gd name="connsiteX4" fmla="*/ 0 w 2422111"/>
                <a:gd name="connsiteY4" fmla="*/ 204242 h 2980162"/>
                <a:gd name="connsiteX0" fmla="*/ 1441097 w 2422111"/>
                <a:gd name="connsiteY0" fmla="*/ 2566442 h 2905542"/>
                <a:gd name="connsiteX1" fmla="*/ 2082533 w 2422111"/>
                <a:gd name="connsiteY1" fmla="*/ 2900422 h 2905542"/>
                <a:gd name="connsiteX2" fmla="*/ 2422111 w 2422111"/>
                <a:gd name="connsiteY2" fmla="*/ 1921850 h 2905542"/>
                <a:gd name="connsiteX3" fmla="*/ 2410087 w 2422111"/>
                <a:gd name="connsiteY3" fmla="*/ 204242 h 2905542"/>
                <a:gd name="connsiteX4" fmla="*/ 0 w 2422111"/>
                <a:gd name="connsiteY4" fmla="*/ 204242 h 2905542"/>
                <a:gd name="connsiteX0" fmla="*/ 1441097 w 2662575"/>
                <a:gd name="connsiteY0" fmla="*/ 2566442 h 2903294"/>
                <a:gd name="connsiteX1" fmla="*/ 2082533 w 2662575"/>
                <a:gd name="connsiteY1" fmla="*/ 2900422 h 2903294"/>
                <a:gd name="connsiteX2" fmla="*/ 2662575 w 2662575"/>
                <a:gd name="connsiteY2" fmla="*/ 1420808 h 2903294"/>
                <a:gd name="connsiteX3" fmla="*/ 2410087 w 2662575"/>
                <a:gd name="connsiteY3" fmla="*/ 204242 h 2903294"/>
                <a:gd name="connsiteX4" fmla="*/ 0 w 2662575"/>
                <a:gd name="connsiteY4" fmla="*/ 204242 h 2903294"/>
                <a:gd name="connsiteX0" fmla="*/ 1441097 w 2662575"/>
                <a:gd name="connsiteY0" fmla="*/ 2548094 h 2884946"/>
                <a:gd name="connsiteX1" fmla="*/ 2082533 w 2662575"/>
                <a:gd name="connsiteY1" fmla="*/ 2882074 h 2884946"/>
                <a:gd name="connsiteX2" fmla="*/ 2662575 w 2662575"/>
                <a:gd name="connsiteY2" fmla="*/ 1402460 h 2884946"/>
                <a:gd name="connsiteX3" fmla="*/ 2614481 w 2662575"/>
                <a:gd name="connsiteY3" fmla="*/ 210946 h 2884946"/>
                <a:gd name="connsiteX4" fmla="*/ 0 w 2662575"/>
                <a:gd name="connsiteY4" fmla="*/ 185894 h 2884946"/>
                <a:gd name="connsiteX0" fmla="*/ 1441097 w 2856523"/>
                <a:gd name="connsiteY0" fmla="*/ 2548094 h 2884885"/>
                <a:gd name="connsiteX1" fmla="*/ 2082533 w 2856523"/>
                <a:gd name="connsiteY1" fmla="*/ 2882074 h 2884885"/>
                <a:gd name="connsiteX2" fmla="*/ 2662575 w 2856523"/>
                <a:gd name="connsiteY2" fmla="*/ 1402460 h 2884885"/>
                <a:gd name="connsiteX3" fmla="*/ 2770968 w 2856523"/>
                <a:gd name="connsiteY3" fmla="*/ 886388 h 2884885"/>
                <a:gd name="connsiteX4" fmla="*/ 2614481 w 2856523"/>
                <a:gd name="connsiteY4" fmla="*/ 210946 h 2884885"/>
                <a:gd name="connsiteX5" fmla="*/ 0 w 2856523"/>
                <a:gd name="connsiteY5" fmla="*/ 185894 h 2884885"/>
                <a:gd name="connsiteX0" fmla="*/ 1441097 w 2829344"/>
                <a:gd name="connsiteY0" fmla="*/ 2363494 h 2700285"/>
                <a:gd name="connsiteX1" fmla="*/ 2082533 w 2829344"/>
                <a:gd name="connsiteY1" fmla="*/ 2697474 h 2700285"/>
                <a:gd name="connsiteX2" fmla="*/ 2662575 w 2829344"/>
                <a:gd name="connsiteY2" fmla="*/ 1217860 h 2700285"/>
                <a:gd name="connsiteX3" fmla="*/ 2770968 w 2829344"/>
                <a:gd name="connsiteY3" fmla="*/ 701788 h 2700285"/>
                <a:gd name="connsiteX4" fmla="*/ 2566388 w 2829344"/>
                <a:gd name="connsiteY4" fmla="*/ 414653 h 2700285"/>
                <a:gd name="connsiteX5" fmla="*/ 0 w 2829344"/>
                <a:gd name="connsiteY5" fmla="*/ 1294 h 2700285"/>
                <a:gd name="connsiteX0" fmla="*/ 1441097 w 2829344"/>
                <a:gd name="connsiteY0" fmla="*/ 2363494 h 2700285"/>
                <a:gd name="connsiteX1" fmla="*/ 2082533 w 2829344"/>
                <a:gd name="connsiteY1" fmla="*/ 2697474 h 2700285"/>
                <a:gd name="connsiteX2" fmla="*/ 2662575 w 2829344"/>
                <a:gd name="connsiteY2" fmla="*/ 1217860 h 2700285"/>
                <a:gd name="connsiteX3" fmla="*/ 2770969 w 2829344"/>
                <a:gd name="connsiteY3" fmla="*/ 1190303 h 2700285"/>
                <a:gd name="connsiteX4" fmla="*/ 2566388 w 2829344"/>
                <a:gd name="connsiteY4" fmla="*/ 414653 h 2700285"/>
                <a:gd name="connsiteX5" fmla="*/ 0 w 2829344"/>
                <a:gd name="connsiteY5" fmla="*/ 1294 h 2700285"/>
                <a:gd name="connsiteX0" fmla="*/ 1441097 w 2871275"/>
                <a:gd name="connsiteY0" fmla="*/ 2456436 h 2793227"/>
                <a:gd name="connsiteX1" fmla="*/ 2082533 w 2871275"/>
                <a:gd name="connsiteY1" fmla="*/ 2790416 h 2793227"/>
                <a:gd name="connsiteX2" fmla="*/ 2662575 w 2871275"/>
                <a:gd name="connsiteY2" fmla="*/ 1310802 h 2793227"/>
                <a:gd name="connsiteX3" fmla="*/ 2770969 w 2871275"/>
                <a:gd name="connsiteY3" fmla="*/ 1283245 h 2793227"/>
                <a:gd name="connsiteX4" fmla="*/ 2638528 w 2871275"/>
                <a:gd name="connsiteY4" fmla="*/ 257074 h 2793227"/>
                <a:gd name="connsiteX5" fmla="*/ 0 w 2871275"/>
                <a:gd name="connsiteY5" fmla="*/ 94236 h 2793227"/>
                <a:gd name="connsiteX0" fmla="*/ 1441097 w 2865677"/>
                <a:gd name="connsiteY0" fmla="*/ 2456436 h 2793192"/>
                <a:gd name="connsiteX1" fmla="*/ 2082533 w 2865677"/>
                <a:gd name="connsiteY1" fmla="*/ 2790416 h 2793192"/>
                <a:gd name="connsiteX2" fmla="*/ 2662575 w 2865677"/>
                <a:gd name="connsiteY2" fmla="*/ 1310802 h 2793192"/>
                <a:gd name="connsiteX3" fmla="*/ 2638528 w 2865677"/>
                <a:gd name="connsiteY3" fmla="*/ 257074 h 2793192"/>
                <a:gd name="connsiteX4" fmla="*/ 0 w 2865677"/>
                <a:gd name="connsiteY4" fmla="*/ 94236 h 2793192"/>
                <a:gd name="connsiteX0" fmla="*/ 1441097 w 2878140"/>
                <a:gd name="connsiteY0" fmla="*/ 2456436 h 2795244"/>
                <a:gd name="connsiteX1" fmla="*/ 2082533 w 2878140"/>
                <a:gd name="connsiteY1" fmla="*/ 2790416 h 2795244"/>
                <a:gd name="connsiteX2" fmla="*/ 2698645 w 2878140"/>
                <a:gd name="connsiteY2" fmla="*/ 1811844 h 2795244"/>
                <a:gd name="connsiteX3" fmla="*/ 2638528 w 2878140"/>
                <a:gd name="connsiteY3" fmla="*/ 257074 h 2795244"/>
                <a:gd name="connsiteX4" fmla="*/ 0 w 2878140"/>
                <a:gd name="connsiteY4" fmla="*/ 94236 h 2795244"/>
                <a:gd name="connsiteX0" fmla="*/ 1441097 w 2718477"/>
                <a:gd name="connsiteY0" fmla="*/ 2487674 h 2826482"/>
                <a:gd name="connsiteX1" fmla="*/ 2082533 w 2718477"/>
                <a:gd name="connsiteY1" fmla="*/ 2821654 h 2826482"/>
                <a:gd name="connsiteX2" fmla="*/ 2698645 w 2718477"/>
                <a:gd name="connsiteY2" fmla="*/ 1843082 h 2826482"/>
                <a:gd name="connsiteX3" fmla="*/ 2109508 w 2718477"/>
                <a:gd name="connsiteY3" fmla="*/ 238208 h 2826482"/>
                <a:gd name="connsiteX4" fmla="*/ 0 w 2718477"/>
                <a:gd name="connsiteY4" fmla="*/ 125474 h 2826482"/>
                <a:gd name="connsiteX0" fmla="*/ 1441097 w 2566077"/>
                <a:gd name="connsiteY0" fmla="*/ 2487674 h 2824237"/>
                <a:gd name="connsiteX1" fmla="*/ 2082533 w 2566077"/>
                <a:gd name="connsiteY1" fmla="*/ 2821654 h 2824237"/>
                <a:gd name="connsiteX2" fmla="*/ 2530321 w 2566077"/>
                <a:gd name="connsiteY2" fmla="*/ 1254359 h 2824237"/>
                <a:gd name="connsiteX3" fmla="*/ 2109508 w 2566077"/>
                <a:gd name="connsiteY3" fmla="*/ 238208 h 2824237"/>
                <a:gd name="connsiteX4" fmla="*/ 0 w 2566077"/>
                <a:gd name="connsiteY4" fmla="*/ 125474 h 2824237"/>
                <a:gd name="connsiteX0" fmla="*/ 1441097 w 2566077"/>
                <a:gd name="connsiteY0" fmla="*/ 2487674 h 2911751"/>
                <a:gd name="connsiteX1" fmla="*/ 1745885 w 2566077"/>
                <a:gd name="connsiteY1" fmla="*/ 2909336 h 2911751"/>
                <a:gd name="connsiteX2" fmla="*/ 2530321 w 2566077"/>
                <a:gd name="connsiteY2" fmla="*/ 1254359 h 2911751"/>
                <a:gd name="connsiteX3" fmla="*/ 2109508 w 2566077"/>
                <a:gd name="connsiteY3" fmla="*/ 238208 h 2911751"/>
                <a:gd name="connsiteX4" fmla="*/ 0 w 2566077"/>
                <a:gd name="connsiteY4" fmla="*/ 125474 h 2911751"/>
                <a:gd name="connsiteX0" fmla="*/ 1441097 w 2517039"/>
                <a:gd name="connsiteY0" fmla="*/ 2487674 h 2926147"/>
                <a:gd name="connsiteX1" fmla="*/ 1745885 w 2517039"/>
                <a:gd name="connsiteY1" fmla="*/ 2909336 h 2926147"/>
                <a:gd name="connsiteX2" fmla="*/ 2470206 w 2517039"/>
                <a:gd name="connsiteY2" fmla="*/ 2431806 h 2926147"/>
                <a:gd name="connsiteX3" fmla="*/ 2109508 w 2517039"/>
                <a:gd name="connsiteY3" fmla="*/ 238208 h 2926147"/>
                <a:gd name="connsiteX4" fmla="*/ 0 w 2517039"/>
                <a:gd name="connsiteY4" fmla="*/ 125474 h 2926147"/>
                <a:gd name="connsiteX0" fmla="*/ 1441097 w 2599891"/>
                <a:gd name="connsiteY0" fmla="*/ 2409632 h 2848105"/>
                <a:gd name="connsiteX1" fmla="*/ 1745885 w 2599891"/>
                <a:gd name="connsiteY1" fmla="*/ 2831294 h 2848105"/>
                <a:gd name="connsiteX2" fmla="*/ 2470206 w 2599891"/>
                <a:gd name="connsiteY2" fmla="*/ 2353764 h 2848105"/>
                <a:gd name="connsiteX3" fmla="*/ 2325925 w 2599891"/>
                <a:gd name="connsiteY3" fmla="*/ 297952 h 2848105"/>
                <a:gd name="connsiteX4" fmla="*/ 0 w 2599891"/>
                <a:gd name="connsiteY4" fmla="*/ 47432 h 2848105"/>
                <a:gd name="connsiteX0" fmla="*/ 3607897 w 4766691"/>
                <a:gd name="connsiteY0" fmla="*/ 2232489 h 2670962"/>
                <a:gd name="connsiteX1" fmla="*/ 3912685 w 4766691"/>
                <a:gd name="connsiteY1" fmla="*/ 2654151 h 2670962"/>
                <a:gd name="connsiteX2" fmla="*/ 4637006 w 4766691"/>
                <a:gd name="connsiteY2" fmla="*/ 2176621 h 2670962"/>
                <a:gd name="connsiteX3" fmla="*/ 4492725 w 4766691"/>
                <a:gd name="connsiteY3" fmla="*/ 120809 h 2670962"/>
                <a:gd name="connsiteX4" fmla="*/ 0 w 4766691"/>
                <a:gd name="connsiteY4" fmla="*/ 660864 h 2670962"/>
                <a:gd name="connsiteX0" fmla="*/ 3607897 w 4737265"/>
                <a:gd name="connsiteY0" fmla="*/ 2241145 h 2679730"/>
                <a:gd name="connsiteX1" fmla="*/ 3912685 w 4737265"/>
                <a:gd name="connsiteY1" fmla="*/ 2662807 h 2679730"/>
                <a:gd name="connsiteX2" fmla="*/ 4637006 w 4737265"/>
                <a:gd name="connsiteY2" fmla="*/ 2185277 h 2679730"/>
                <a:gd name="connsiteX3" fmla="*/ 1448234 w 4737265"/>
                <a:gd name="connsiteY3" fmla="*/ 119940 h 2679730"/>
                <a:gd name="connsiteX4" fmla="*/ 0 w 4737265"/>
                <a:gd name="connsiteY4" fmla="*/ 669520 h 2679730"/>
                <a:gd name="connsiteX0" fmla="*/ 3607897 w 3935930"/>
                <a:gd name="connsiteY0" fmla="*/ 2241145 h 2756861"/>
                <a:gd name="connsiteX1" fmla="*/ 3912685 w 3935930"/>
                <a:gd name="connsiteY1" fmla="*/ 2662807 h 2756861"/>
                <a:gd name="connsiteX2" fmla="*/ 2835911 w 3935930"/>
                <a:gd name="connsiteY2" fmla="*/ 2499602 h 2756861"/>
                <a:gd name="connsiteX3" fmla="*/ 1448234 w 3935930"/>
                <a:gd name="connsiteY3" fmla="*/ 119940 h 2756861"/>
                <a:gd name="connsiteX4" fmla="*/ 0 w 3935930"/>
                <a:gd name="connsiteY4" fmla="*/ 669520 h 2756861"/>
                <a:gd name="connsiteX0" fmla="*/ 3607897 w 3607897"/>
                <a:gd name="connsiteY0" fmla="*/ 2241145 h 2761911"/>
                <a:gd name="connsiteX1" fmla="*/ 3464697 w 3607897"/>
                <a:gd name="connsiteY1" fmla="*/ 2672332 h 2761911"/>
                <a:gd name="connsiteX2" fmla="*/ 2835911 w 3607897"/>
                <a:gd name="connsiteY2" fmla="*/ 2499602 h 2761911"/>
                <a:gd name="connsiteX3" fmla="*/ 1448234 w 3607897"/>
                <a:gd name="connsiteY3" fmla="*/ 119940 h 2761911"/>
                <a:gd name="connsiteX4" fmla="*/ 0 w 3607897"/>
                <a:gd name="connsiteY4" fmla="*/ 669520 h 2761911"/>
                <a:gd name="connsiteX0" fmla="*/ 3607897 w 3607897"/>
                <a:gd name="connsiteY0" fmla="*/ 2209692 h 2730458"/>
                <a:gd name="connsiteX1" fmla="*/ 3464697 w 3607897"/>
                <a:gd name="connsiteY1" fmla="*/ 2640879 h 2730458"/>
                <a:gd name="connsiteX2" fmla="*/ 2835911 w 3607897"/>
                <a:gd name="connsiteY2" fmla="*/ 2468149 h 2730458"/>
                <a:gd name="connsiteX3" fmla="*/ 1448234 w 3607897"/>
                <a:gd name="connsiteY3" fmla="*/ 88487 h 2730458"/>
                <a:gd name="connsiteX4" fmla="*/ 449411 w 3607897"/>
                <a:gd name="connsiteY4" fmla="*/ 521191 h 2730458"/>
                <a:gd name="connsiteX5" fmla="*/ 0 w 3607897"/>
                <a:gd name="connsiteY5" fmla="*/ 638067 h 2730458"/>
                <a:gd name="connsiteX0" fmla="*/ 3607897 w 3607897"/>
                <a:gd name="connsiteY0" fmla="*/ 2277897 h 2798663"/>
                <a:gd name="connsiteX1" fmla="*/ 3464697 w 3607897"/>
                <a:gd name="connsiteY1" fmla="*/ 2709084 h 2798663"/>
                <a:gd name="connsiteX2" fmla="*/ 2835911 w 3607897"/>
                <a:gd name="connsiteY2" fmla="*/ 2536354 h 2798663"/>
                <a:gd name="connsiteX3" fmla="*/ 1448234 w 3607897"/>
                <a:gd name="connsiteY3" fmla="*/ 156692 h 2798663"/>
                <a:gd name="connsiteX4" fmla="*/ 339699 w 3607897"/>
                <a:gd name="connsiteY4" fmla="*/ 189346 h 2798663"/>
                <a:gd name="connsiteX5" fmla="*/ 0 w 3607897"/>
                <a:gd name="connsiteY5" fmla="*/ 706272 h 2798663"/>
                <a:gd name="connsiteX0" fmla="*/ 3607897 w 3607897"/>
                <a:gd name="connsiteY0" fmla="*/ 2272501 h 2793267"/>
                <a:gd name="connsiteX1" fmla="*/ 3464697 w 3607897"/>
                <a:gd name="connsiteY1" fmla="*/ 2703688 h 2793267"/>
                <a:gd name="connsiteX2" fmla="*/ 2835911 w 3607897"/>
                <a:gd name="connsiteY2" fmla="*/ 2530958 h 2793267"/>
                <a:gd name="connsiteX3" fmla="*/ 1448234 w 3607897"/>
                <a:gd name="connsiteY3" fmla="*/ 151296 h 2793267"/>
                <a:gd name="connsiteX4" fmla="*/ 431125 w 3607897"/>
                <a:gd name="connsiteY4" fmla="*/ 203000 h 2793267"/>
                <a:gd name="connsiteX5" fmla="*/ 0 w 3607897"/>
                <a:gd name="connsiteY5" fmla="*/ 700876 h 2793267"/>
                <a:gd name="connsiteX0" fmla="*/ 3607897 w 3607897"/>
                <a:gd name="connsiteY0" fmla="*/ 2232665 h 2749743"/>
                <a:gd name="connsiteX1" fmla="*/ 3464697 w 3607897"/>
                <a:gd name="connsiteY1" fmla="*/ 2663852 h 2749743"/>
                <a:gd name="connsiteX2" fmla="*/ 2835911 w 3607897"/>
                <a:gd name="connsiteY2" fmla="*/ 2491122 h 2749743"/>
                <a:gd name="connsiteX3" fmla="*/ 1941935 w 3607897"/>
                <a:gd name="connsiteY3" fmla="*/ 168610 h 2749743"/>
                <a:gd name="connsiteX4" fmla="*/ 431125 w 3607897"/>
                <a:gd name="connsiteY4" fmla="*/ 163164 h 2749743"/>
                <a:gd name="connsiteX5" fmla="*/ 0 w 3607897"/>
                <a:gd name="connsiteY5" fmla="*/ 661040 h 2749743"/>
                <a:gd name="connsiteX0" fmla="*/ 3623194 w 3623194"/>
                <a:gd name="connsiteY0" fmla="*/ 2229962 h 2747040"/>
                <a:gd name="connsiteX1" fmla="*/ 3479994 w 3623194"/>
                <a:gd name="connsiteY1" fmla="*/ 2661149 h 2747040"/>
                <a:gd name="connsiteX2" fmla="*/ 2851208 w 3623194"/>
                <a:gd name="connsiteY2" fmla="*/ 2488419 h 2747040"/>
                <a:gd name="connsiteX3" fmla="*/ 1957232 w 3623194"/>
                <a:gd name="connsiteY3" fmla="*/ 165907 h 2747040"/>
                <a:gd name="connsiteX4" fmla="*/ 446422 w 3623194"/>
                <a:gd name="connsiteY4" fmla="*/ 160461 h 2747040"/>
                <a:gd name="connsiteX5" fmla="*/ 37288 w 3623194"/>
                <a:gd name="connsiteY5" fmla="*/ 370368 h 2747040"/>
                <a:gd name="connsiteX6" fmla="*/ 15297 w 3623194"/>
                <a:gd name="connsiteY6" fmla="*/ 658337 h 2747040"/>
                <a:gd name="connsiteX0" fmla="*/ 6030690 w 6030690"/>
                <a:gd name="connsiteY0" fmla="*/ 2229962 h 2747040"/>
                <a:gd name="connsiteX1" fmla="*/ 5887490 w 6030690"/>
                <a:gd name="connsiteY1" fmla="*/ 2661149 h 2747040"/>
                <a:gd name="connsiteX2" fmla="*/ 5258704 w 6030690"/>
                <a:gd name="connsiteY2" fmla="*/ 2488419 h 2747040"/>
                <a:gd name="connsiteX3" fmla="*/ 4364728 w 6030690"/>
                <a:gd name="connsiteY3" fmla="*/ 165907 h 2747040"/>
                <a:gd name="connsiteX4" fmla="*/ 2853918 w 6030690"/>
                <a:gd name="connsiteY4" fmla="*/ 160461 h 2747040"/>
                <a:gd name="connsiteX5" fmla="*/ 2444784 w 6030690"/>
                <a:gd name="connsiteY5" fmla="*/ 370368 h 2747040"/>
                <a:gd name="connsiteX6" fmla="*/ 0 w 6030690"/>
                <a:gd name="connsiteY6" fmla="*/ 86837 h 2747040"/>
                <a:gd name="connsiteX0" fmla="*/ 6030690 w 6030690"/>
                <a:gd name="connsiteY0" fmla="*/ 2912230 h 3429308"/>
                <a:gd name="connsiteX1" fmla="*/ 5887490 w 6030690"/>
                <a:gd name="connsiteY1" fmla="*/ 3343417 h 3429308"/>
                <a:gd name="connsiteX2" fmla="*/ 5258704 w 6030690"/>
                <a:gd name="connsiteY2" fmla="*/ 3170687 h 3429308"/>
                <a:gd name="connsiteX3" fmla="*/ 4364728 w 6030690"/>
                <a:gd name="connsiteY3" fmla="*/ 848175 h 3429308"/>
                <a:gd name="connsiteX4" fmla="*/ 2853918 w 6030690"/>
                <a:gd name="connsiteY4" fmla="*/ 842729 h 3429308"/>
                <a:gd name="connsiteX5" fmla="*/ 808256 w 6030690"/>
                <a:gd name="connsiteY5" fmla="*/ 4886 h 3429308"/>
                <a:gd name="connsiteX6" fmla="*/ 0 w 6030690"/>
                <a:gd name="connsiteY6" fmla="*/ 769105 h 3429308"/>
                <a:gd name="connsiteX0" fmla="*/ 6030690 w 6030690"/>
                <a:gd name="connsiteY0" fmla="*/ 2931475 h 3448553"/>
                <a:gd name="connsiteX1" fmla="*/ 5887490 w 6030690"/>
                <a:gd name="connsiteY1" fmla="*/ 3362662 h 3448553"/>
                <a:gd name="connsiteX2" fmla="*/ 5258704 w 6030690"/>
                <a:gd name="connsiteY2" fmla="*/ 3189932 h 3448553"/>
                <a:gd name="connsiteX3" fmla="*/ 4364728 w 6030690"/>
                <a:gd name="connsiteY3" fmla="*/ 867420 h 3448553"/>
                <a:gd name="connsiteX4" fmla="*/ 3009343 w 6030690"/>
                <a:gd name="connsiteY4" fmla="*/ 23774 h 3448553"/>
                <a:gd name="connsiteX5" fmla="*/ 808256 w 6030690"/>
                <a:gd name="connsiteY5" fmla="*/ 24131 h 3448553"/>
                <a:gd name="connsiteX6" fmla="*/ 0 w 6030690"/>
                <a:gd name="connsiteY6" fmla="*/ 788350 h 3448553"/>
                <a:gd name="connsiteX0" fmla="*/ 6030690 w 6030690"/>
                <a:gd name="connsiteY0" fmla="*/ 3068543 h 3585621"/>
                <a:gd name="connsiteX1" fmla="*/ 5887490 w 6030690"/>
                <a:gd name="connsiteY1" fmla="*/ 3499730 h 3585621"/>
                <a:gd name="connsiteX2" fmla="*/ 5258704 w 6030690"/>
                <a:gd name="connsiteY2" fmla="*/ 3327000 h 3585621"/>
                <a:gd name="connsiteX3" fmla="*/ 4364728 w 6030690"/>
                <a:gd name="connsiteY3" fmla="*/ 1004488 h 3585621"/>
                <a:gd name="connsiteX4" fmla="*/ 2972773 w 6030690"/>
                <a:gd name="connsiteY4" fmla="*/ 8442 h 3585621"/>
                <a:gd name="connsiteX5" fmla="*/ 808256 w 6030690"/>
                <a:gd name="connsiteY5" fmla="*/ 161199 h 3585621"/>
                <a:gd name="connsiteX6" fmla="*/ 0 w 6030690"/>
                <a:gd name="connsiteY6" fmla="*/ 925418 h 3585621"/>
                <a:gd name="connsiteX0" fmla="*/ 6030690 w 6030690"/>
                <a:gd name="connsiteY0" fmla="*/ 3068543 h 3585621"/>
                <a:gd name="connsiteX1" fmla="*/ 5887490 w 6030690"/>
                <a:gd name="connsiteY1" fmla="*/ 3499730 h 3585621"/>
                <a:gd name="connsiteX2" fmla="*/ 5258704 w 6030690"/>
                <a:gd name="connsiteY2" fmla="*/ 3327000 h 3585621"/>
                <a:gd name="connsiteX3" fmla="*/ 4364728 w 6030690"/>
                <a:gd name="connsiteY3" fmla="*/ 1004488 h 3585621"/>
                <a:gd name="connsiteX4" fmla="*/ 2972773 w 6030690"/>
                <a:gd name="connsiteY4" fmla="*/ 8442 h 3585621"/>
                <a:gd name="connsiteX5" fmla="*/ 1064249 w 6030690"/>
                <a:gd name="connsiteY5" fmla="*/ 189774 h 3585621"/>
                <a:gd name="connsiteX6" fmla="*/ 0 w 6030690"/>
                <a:gd name="connsiteY6" fmla="*/ 925418 h 3585621"/>
                <a:gd name="connsiteX0" fmla="*/ 6030690 w 6030690"/>
                <a:gd name="connsiteY0" fmla="*/ 3068543 h 3585621"/>
                <a:gd name="connsiteX1" fmla="*/ 5887490 w 6030690"/>
                <a:gd name="connsiteY1" fmla="*/ 3499730 h 3585621"/>
                <a:gd name="connsiteX2" fmla="*/ 5258704 w 6030690"/>
                <a:gd name="connsiteY2" fmla="*/ 3327000 h 3585621"/>
                <a:gd name="connsiteX3" fmla="*/ 4364728 w 6030690"/>
                <a:gd name="connsiteY3" fmla="*/ 1004488 h 3585621"/>
                <a:gd name="connsiteX4" fmla="*/ 2972773 w 6030690"/>
                <a:gd name="connsiteY4" fmla="*/ 8442 h 3585621"/>
                <a:gd name="connsiteX5" fmla="*/ 1064249 w 6030690"/>
                <a:gd name="connsiteY5" fmla="*/ 189774 h 3585621"/>
                <a:gd name="connsiteX6" fmla="*/ 0 w 6030690"/>
                <a:gd name="connsiteY6" fmla="*/ 925418 h 3585621"/>
                <a:gd name="connsiteX0" fmla="*/ 6030690 w 6030690"/>
                <a:gd name="connsiteY0" fmla="*/ 3068543 h 3585621"/>
                <a:gd name="connsiteX1" fmla="*/ 5887490 w 6030690"/>
                <a:gd name="connsiteY1" fmla="*/ 3499730 h 3585621"/>
                <a:gd name="connsiteX2" fmla="*/ 5258704 w 6030690"/>
                <a:gd name="connsiteY2" fmla="*/ 3327000 h 3585621"/>
                <a:gd name="connsiteX3" fmla="*/ 4364728 w 6030690"/>
                <a:gd name="connsiteY3" fmla="*/ 1004488 h 3585621"/>
                <a:gd name="connsiteX4" fmla="*/ 2972773 w 6030690"/>
                <a:gd name="connsiteY4" fmla="*/ 8442 h 3585621"/>
                <a:gd name="connsiteX5" fmla="*/ 1064249 w 6030690"/>
                <a:gd name="connsiteY5" fmla="*/ 189774 h 3585621"/>
                <a:gd name="connsiteX6" fmla="*/ 0 w 6030690"/>
                <a:gd name="connsiteY6" fmla="*/ 925418 h 3585621"/>
                <a:gd name="connsiteX0" fmla="*/ 6030690 w 6030690"/>
                <a:gd name="connsiteY0" fmla="*/ 3068124 h 3583166"/>
                <a:gd name="connsiteX1" fmla="*/ 5887490 w 6030690"/>
                <a:gd name="connsiteY1" fmla="*/ 3499311 h 3583166"/>
                <a:gd name="connsiteX2" fmla="*/ 5258704 w 6030690"/>
                <a:gd name="connsiteY2" fmla="*/ 3326581 h 3583166"/>
                <a:gd name="connsiteX3" fmla="*/ 4645102 w 6030690"/>
                <a:gd name="connsiteY3" fmla="*/ 1035819 h 3583166"/>
                <a:gd name="connsiteX4" fmla="*/ 2972773 w 6030690"/>
                <a:gd name="connsiteY4" fmla="*/ 8023 h 3583166"/>
                <a:gd name="connsiteX5" fmla="*/ 1064249 w 6030690"/>
                <a:gd name="connsiteY5" fmla="*/ 189355 h 3583166"/>
                <a:gd name="connsiteX6" fmla="*/ 0 w 6030690"/>
                <a:gd name="connsiteY6" fmla="*/ 924999 h 3583166"/>
                <a:gd name="connsiteX0" fmla="*/ 6030690 w 6030690"/>
                <a:gd name="connsiteY0" fmla="*/ 3055560 h 3570602"/>
                <a:gd name="connsiteX1" fmla="*/ 5887490 w 6030690"/>
                <a:gd name="connsiteY1" fmla="*/ 3486747 h 3570602"/>
                <a:gd name="connsiteX2" fmla="*/ 5258704 w 6030690"/>
                <a:gd name="connsiteY2" fmla="*/ 3314017 h 3570602"/>
                <a:gd name="connsiteX3" fmla="*/ 4645102 w 6030690"/>
                <a:gd name="connsiteY3" fmla="*/ 1023255 h 3570602"/>
                <a:gd name="connsiteX4" fmla="*/ 2034132 w 6030690"/>
                <a:gd name="connsiteY4" fmla="*/ 8159 h 3570602"/>
                <a:gd name="connsiteX5" fmla="*/ 1064249 w 6030690"/>
                <a:gd name="connsiteY5" fmla="*/ 176791 h 3570602"/>
                <a:gd name="connsiteX6" fmla="*/ 0 w 6030690"/>
                <a:gd name="connsiteY6" fmla="*/ 912435 h 3570602"/>
                <a:gd name="connsiteX0" fmla="*/ 6030690 w 6030690"/>
                <a:gd name="connsiteY0" fmla="*/ 2898411 h 3413453"/>
                <a:gd name="connsiteX1" fmla="*/ 5887490 w 6030690"/>
                <a:gd name="connsiteY1" fmla="*/ 3329598 h 3413453"/>
                <a:gd name="connsiteX2" fmla="*/ 5258704 w 6030690"/>
                <a:gd name="connsiteY2" fmla="*/ 3156868 h 3413453"/>
                <a:gd name="connsiteX3" fmla="*/ 4645102 w 6030690"/>
                <a:gd name="connsiteY3" fmla="*/ 866106 h 3413453"/>
                <a:gd name="connsiteX4" fmla="*/ 2899634 w 6030690"/>
                <a:gd name="connsiteY4" fmla="*/ 66910 h 3413453"/>
                <a:gd name="connsiteX5" fmla="*/ 1064249 w 6030690"/>
                <a:gd name="connsiteY5" fmla="*/ 19642 h 3413453"/>
                <a:gd name="connsiteX6" fmla="*/ 0 w 6030690"/>
                <a:gd name="connsiteY6" fmla="*/ 755286 h 3413453"/>
                <a:gd name="connsiteX0" fmla="*/ 6030690 w 6030690"/>
                <a:gd name="connsiteY0" fmla="*/ 2878769 h 3393811"/>
                <a:gd name="connsiteX1" fmla="*/ 5887490 w 6030690"/>
                <a:gd name="connsiteY1" fmla="*/ 3309956 h 3393811"/>
                <a:gd name="connsiteX2" fmla="*/ 5258704 w 6030690"/>
                <a:gd name="connsiteY2" fmla="*/ 3137226 h 3393811"/>
                <a:gd name="connsiteX3" fmla="*/ 4645102 w 6030690"/>
                <a:gd name="connsiteY3" fmla="*/ 846464 h 3393811"/>
                <a:gd name="connsiteX4" fmla="*/ 2899634 w 6030690"/>
                <a:gd name="connsiteY4" fmla="*/ 47268 h 3393811"/>
                <a:gd name="connsiteX5" fmla="*/ 1064249 w 6030690"/>
                <a:gd name="connsiteY5" fmla="*/ 0 h 3393811"/>
                <a:gd name="connsiteX6" fmla="*/ 0 w 6030690"/>
                <a:gd name="connsiteY6" fmla="*/ 735644 h 3393811"/>
                <a:gd name="connsiteX0" fmla="*/ 6030690 w 6030690"/>
                <a:gd name="connsiteY0" fmla="*/ 2952761 h 3467803"/>
                <a:gd name="connsiteX1" fmla="*/ 5887490 w 6030690"/>
                <a:gd name="connsiteY1" fmla="*/ 3383948 h 3467803"/>
                <a:gd name="connsiteX2" fmla="*/ 5258704 w 6030690"/>
                <a:gd name="connsiteY2" fmla="*/ 3211218 h 3467803"/>
                <a:gd name="connsiteX3" fmla="*/ 4645102 w 6030690"/>
                <a:gd name="connsiteY3" fmla="*/ 920456 h 3467803"/>
                <a:gd name="connsiteX4" fmla="*/ 2899634 w 6030690"/>
                <a:gd name="connsiteY4" fmla="*/ 121260 h 3467803"/>
                <a:gd name="connsiteX5" fmla="*/ 1064249 w 6030690"/>
                <a:gd name="connsiteY5" fmla="*/ 73992 h 3467803"/>
                <a:gd name="connsiteX6" fmla="*/ 0 w 6030690"/>
                <a:gd name="connsiteY6" fmla="*/ 809636 h 3467803"/>
                <a:gd name="connsiteX0" fmla="*/ 6030690 w 6030690"/>
                <a:gd name="connsiteY0" fmla="*/ 3026061 h 3541103"/>
                <a:gd name="connsiteX1" fmla="*/ 5887490 w 6030690"/>
                <a:gd name="connsiteY1" fmla="*/ 3457248 h 3541103"/>
                <a:gd name="connsiteX2" fmla="*/ 5258704 w 6030690"/>
                <a:gd name="connsiteY2" fmla="*/ 3284518 h 3541103"/>
                <a:gd name="connsiteX3" fmla="*/ 4645102 w 6030690"/>
                <a:gd name="connsiteY3" fmla="*/ 993756 h 3541103"/>
                <a:gd name="connsiteX4" fmla="*/ 2924015 w 6030690"/>
                <a:gd name="connsiteY4" fmla="*/ 67560 h 3541103"/>
                <a:gd name="connsiteX5" fmla="*/ 1064249 w 6030690"/>
                <a:gd name="connsiteY5" fmla="*/ 147292 h 3541103"/>
                <a:gd name="connsiteX6" fmla="*/ 0 w 6030690"/>
                <a:gd name="connsiteY6" fmla="*/ 882936 h 3541103"/>
                <a:gd name="connsiteX0" fmla="*/ 6030690 w 6030690"/>
                <a:gd name="connsiteY0" fmla="*/ 3026061 h 3541103"/>
                <a:gd name="connsiteX1" fmla="*/ 5887490 w 6030690"/>
                <a:gd name="connsiteY1" fmla="*/ 3457248 h 3541103"/>
                <a:gd name="connsiteX2" fmla="*/ 5258704 w 6030690"/>
                <a:gd name="connsiteY2" fmla="*/ 3284518 h 3541103"/>
                <a:gd name="connsiteX3" fmla="*/ 4645102 w 6030690"/>
                <a:gd name="connsiteY3" fmla="*/ 993756 h 3541103"/>
                <a:gd name="connsiteX4" fmla="*/ 2924015 w 6030690"/>
                <a:gd name="connsiteY4" fmla="*/ 67560 h 3541103"/>
                <a:gd name="connsiteX5" fmla="*/ 1064249 w 6030690"/>
                <a:gd name="connsiteY5" fmla="*/ 147292 h 3541103"/>
                <a:gd name="connsiteX6" fmla="*/ 0 w 6030690"/>
                <a:gd name="connsiteY6" fmla="*/ 882936 h 3541103"/>
                <a:gd name="connsiteX0" fmla="*/ 6003262 w 6003262"/>
                <a:gd name="connsiteY0" fmla="*/ 3026061 h 3541103"/>
                <a:gd name="connsiteX1" fmla="*/ 5860062 w 6003262"/>
                <a:gd name="connsiteY1" fmla="*/ 3457248 h 3541103"/>
                <a:gd name="connsiteX2" fmla="*/ 5231276 w 6003262"/>
                <a:gd name="connsiteY2" fmla="*/ 3284518 h 3541103"/>
                <a:gd name="connsiteX3" fmla="*/ 4617674 w 6003262"/>
                <a:gd name="connsiteY3" fmla="*/ 993756 h 3541103"/>
                <a:gd name="connsiteX4" fmla="*/ 2896587 w 6003262"/>
                <a:gd name="connsiteY4" fmla="*/ 67560 h 3541103"/>
                <a:gd name="connsiteX5" fmla="*/ 1036821 w 6003262"/>
                <a:gd name="connsiteY5" fmla="*/ 147292 h 3541103"/>
                <a:gd name="connsiteX6" fmla="*/ 0 w 6003262"/>
                <a:gd name="connsiteY6" fmla="*/ 1378236 h 3541103"/>
                <a:gd name="connsiteX0" fmla="*/ 6003262 w 6003262"/>
                <a:gd name="connsiteY0" fmla="*/ 3026061 h 3541103"/>
                <a:gd name="connsiteX1" fmla="*/ 5860062 w 6003262"/>
                <a:gd name="connsiteY1" fmla="*/ 3457248 h 3541103"/>
                <a:gd name="connsiteX2" fmla="*/ 5231276 w 6003262"/>
                <a:gd name="connsiteY2" fmla="*/ 3284518 h 3541103"/>
                <a:gd name="connsiteX3" fmla="*/ 4617674 w 6003262"/>
                <a:gd name="connsiteY3" fmla="*/ 993756 h 3541103"/>
                <a:gd name="connsiteX4" fmla="*/ 2896587 w 6003262"/>
                <a:gd name="connsiteY4" fmla="*/ 67560 h 3541103"/>
                <a:gd name="connsiteX5" fmla="*/ 1036821 w 6003262"/>
                <a:gd name="connsiteY5" fmla="*/ 147292 h 3541103"/>
                <a:gd name="connsiteX6" fmla="*/ 0 w 6003262"/>
                <a:gd name="connsiteY6" fmla="*/ 1378236 h 3541103"/>
                <a:gd name="connsiteX0" fmla="*/ 6003262 w 6003262"/>
                <a:gd name="connsiteY0" fmla="*/ 2964067 h 3479109"/>
                <a:gd name="connsiteX1" fmla="*/ 5860062 w 6003262"/>
                <a:gd name="connsiteY1" fmla="*/ 3395254 h 3479109"/>
                <a:gd name="connsiteX2" fmla="*/ 5231276 w 6003262"/>
                <a:gd name="connsiteY2" fmla="*/ 3222524 h 3479109"/>
                <a:gd name="connsiteX3" fmla="*/ 4617674 w 6003262"/>
                <a:gd name="connsiteY3" fmla="*/ 931762 h 3479109"/>
                <a:gd name="connsiteX4" fmla="*/ 2896587 w 6003262"/>
                <a:gd name="connsiteY4" fmla="*/ 5566 h 3479109"/>
                <a:gd name="connsiteX5" fmla="*/ 1283672 w 6003262"/>
                <a:gd name="connsiteY5" fmla="*/ 552023 h 3479109"/>
                <a:gd name="connsiteX6" fmla="*/ 0 w 6003262"/>
                <a:gd name="connsiteY6" fmla="*/ 1316242 h 3479109"/>
                <a:gd name="connsiteX0" fmla="*/ 6003262 w 6003262"/>
                <a:gd name="connsiteY0" fmla="*/ 2494942 h 3009984"/>
                <a:gd name="connsiteX1" fmla="*/ 5860062 w 6003262"/>
                <a:gd name="connsiteY1" fmla="*/ 2926129 h 3009984"/>
                <a:gd name="connsiteX2" fmla="*/ 5231276 w 6003262"/>
                <a:gd name="connsiteY2" fmla="*/ 2753399 h 3009984"/>
                <a:gd name="connsiteX3" fmla="*/ 4617674 w 6003262"/>
                <a:gd name="connsiteY3" fmla="*/ 462637 h 3009984"/>
                <a:gd name="connsiteX4" fmla="*/ 3106867 w 6003262"/>
                <a:gd name="connsiteY4" fmla="*/ 50791 h 3009984"/>
                <a:gd name="connsiteX5" fmla="*/ 1283672 w 6003262"/>
                <a:gd name="connsiteY5" fmla="*/ 82898 h 3009984"/>
                <a:gd name="connsiteX6" fmla="*/ 0 w 6003262"/>
                <a:gd name="connsiteY6" fmla="*/ 847117 h 3009984"/>
                <a:gd name="connsiteX0" fmla="*/ 6003262 w 6003262"/>
                <a:gd name="connsiteY0" fmla="*/ 2553619 h 3020639"/>
                <a:gd name="connsiteX1" fmla="*/ 5860062 w 6003262"/>
                <a:gd name="connsiteY1" fmla="*/ 2984806 h 3020639"/>
                <a:gd name="connsiteX2" fmla="*/ 5231276 w 6003262"/>
                <a:gd name="connsiteY2" fmla="*/ 2812076 h 3020639"/>
                <a:gd name="connsiteX3" fmla="*/ 4361681 w 6003262"/>
                <a:gd name="connsiteY3" fmla="*/ 1359514 h 3020639"/>
                <a:gd name="connsiteX4" fmla="*/ 3106867 w 6003262"/>
                <a:gd name="connsiteY4" fmla="*/ 109468 h 3020639"/>
                <a:gd name="connsiteX5" fmla="*/ 1283672 w 6003262"/>
                <a:gd name="connsiteY5" fmla="*/ 141575 h 3020639"/>
                <a:gd name="connsiteX6" fmla="*/ 0 w 6003262"/>
                <a:gd name="connsiteY6" fmla="*/ 905794 h 3020639"/>
                <a:gd name="connsiteX0" fmla="*/ 6024595 w 6024595"/>
                <a:gd name="connsiteY0" fmla="*/ 2553619 h 3020639"/>
                <a:gd name="connsiteX1" fmla="*/ 5860062 w 6024595"/>
                <a:gd name="connsiteY1" fmla="*/ 2984806 h 3020639"/>
                <a:gd name="connsiteX2" fmla="*/ 5231276 w 6024595"/>
                <a:gd name="connsiteY2" fmla="*/ 2812076 h 3020639"/>
                <a:gd name="connsiteX3" fmla="*/ 4361681 w 6024595"/>
                <a:gd name="connsiteY3" fmla="*/ 1359514 h 3020639"/>
                <a:gd name="connsiteX4" fmla="*/ 3106867 w 6024595"/>
                <a:gd name="connsiteY4" fmla="*/ 109468 h 3020639"/>
                <a:gd name="connsiteX5" fmla="*/ 1283672 w 6024595"/>
                <a:gd name="connsiteY5" fmla="*/ 141575 h 3020639"/>
                <a:gd name="connsiteX6" fmla="*/ 0 w 6024595"/>
                <a:gd name="connsiteY6" fmla="*/ 905794 h 3020639"/>
                <a:gd name="connsiteX0" fmla="*/ 4766200 w 6145145"/>
                <a:gd name="connsiteY0" fmla="*/ 2785881 h 3252901"/>
                <a:gd name="connsiteX1" fmla="*/ 4601667 w 6145145"/>
                <a:gd name="connsiteY1" fmla="*/ 3217068 h 3252901"/>
                <a:gd name="connsiteX2" fmla="*/ 3972881 w 6145145"/>
                <a:gd name="connsiteY2" fmla="*/ 3044338 h 3252901"/>
                <a:gd name="connsiteX3" fmla="*/ 3103286 w 6145145"/>
                <a:gd name="connsiteY3" fmla="*/ 1591776 h 3252901"/>
                <a:gd name="connsiteX4" fmla="*/ 1848472 w 6145145"/>
                <a:gd name="connsiteY4" fmla="*/ 341730 h 3252901"/>
                <a:gd name="connsiteX5" fmla="*/ 25277 w 6145145"/>
                <a:gd name="connsiteY5" fmla="*/ 373837 h 3252901"/>
                <a:gd name="connsiteX6" fmla="*/ 6132018 w 6145145"/>
                <a:gd name="connsiteY6" fmla="*/ 51378 h 3252901"/>
                <a:gd name="connsiteX0" fmla="*/ 4766200 w 6145145"/>
                <a:gd name="connsiteY0" fmla="*/ 2785881 h 3252901"/>
                <a:gd name="connsiteX1" fmla="*/ 4601667 w 6145145"/>
                <a:gd name="connsiteY1" fmla="*/ 3217068 h 3252901"/>
                <a:gd name="connsiteX2" fmla="*/ 3972881 w 6145145"/>
                <a:gd name="connsiteY2" fmla="*/ 3044338 h 3252901"/>
                <a:gd name="connsiteX3" fmla="*/ 3103286 w 6145145"/>
                <a:gd name="connsiteY3" fmla="*/ 1591776 h 3252901"/>
                <a:gd name="connsiteX4" fmla="*/ 5740842 w 6145145"/>
                <a:gd name="connsiteY4" fmla="*/ 593521 h 3252901"/>
                <a:gd name="connsiteX5" fmla="*/ 25277 w 6145145"/>
                <a:gd name="connsiteY5" fmla="*/ 373837 h 3252901"/>
                <a:gd name="connsiteX6" fmla="*/ 6132018 w 6145145"/>
                <a:gd name="connsiteY6" fmla="*/ 51378 h 3252901"/>
                <a:gd name="connsiteX0" fmla="*/ 1720755 w 3133120"/>
                <a:gd name="connsiteY0" fmla="*/ 3415415 h 3882435"/>
                <a:gd name="connsiteX1" fmla="*/ 1556222 w 3133120"/>
                <a:gd name="connsiteY1" fmla="*/ 3846602 h 3882435"/>
                <a:gd name="connsiteX2" fmla="*/ 927436 w 3133120"/>
                <a:gd name="connsiteY2" fmla="*/ 3673872 h 3882435"/>
                <a:gd name="connsiteX3" fmla="*/ 57841 w 3133120"/>
                <a:gd name="connsiteY3" fmla="*/ 2221310 h 3882435"/>
                <a:gd name="connsiteX4" fmla="*/ 2695397 w 3133120"/>
                <a:gd name="connsiteY4" fmla="*/ 1223055 h 3882435"/>
                <a:gd name="connsiteX5" fmla="*/ 2131497 w 3133120"/>
                <a:gd name="connsiteY5" fmla="*/ 9458 h 3882435"/>
                <a:gd name="connsiteX6" fmla="*/ 3086573 w 3133120"/>
                <a:gd name="connsiteY6" fmla="*/ 680912 h 3882435"/>
                <a:gd name="connsiteX0" fmla="*/ 1720755 w 3133120"/>
                <a:gd name="connsiteY0" fmla="*/ 3421747 h 3888767"/>
                <a:gd name="connsiteX1" fmla="*/ 1556222 w 3133120"/>
                <a:gd name="connsiteY1" fmla="*/ 3852934 h 3888767"/>
                <a:gd name="connsiteX2" fmla="*/ 927436 w 3133120"/>
                <a:gd name="connsiteY2" fmla="*/ 3680204 h 3888767"/>
                <a:gd name="connsiteX3" fmla="*/ 57841 w 3133120"/>
                <a:gd name="connsiteY3" fmla="*/ 2227642 h 3888767"/>
                <a:gd name="connsiteX4" fmla="*/ 2695397 w 3133120"/>
                <a:gd name="connsiteY4" fmla="*/ 1229387 h 3888767"/>
                <a:gd name="connsiteX5" fmla="*/ 2131497 w 3133120"/>
                <a:gd name="connsiteY5" fmla="*/ 15790 h 3888767"/>
                <a:gd name="connsiteX6" fmla="*/ 3086573 w 3133120"/>
                <a:gd name="connsiteY6" fmla="*/ 687244 h 3888767"/>
                <a:gd name="connsiteX0" fmla="*/ 1720755 w 2789595"/>
                <a:gd name="connsiteY0" fmla="*/ 4080851 h 4547871"/>
                <a:gd name="connsiteX1" fmla="*/ 1556222 w 2789595"/>
                <a:gd name="connsiteY1" fmla="*/ 4512038 h 4547871"/>
                <a:gd name="connsiteX2" fmla="*/ 927436 w 2789595"/>
                <a:gd name="connsiteY2" fmla="*/ 4339308 h 4547871"/>
                <a:gd name="connsiteX3" fmla="*/ 57841 w 2789595"/>
                <a:gd name="connsiteY3" fmla="*/ 2886746 h 4547871"/>
                <a:gd name="connsiteX4" fmla="*/ 2695397 w 2789595"/>
                <a:gd name="connsiteY4" fmla="*/ 1888491 h 4547871"/>
                <a:gd name="connsiteX5" fmla="*/ 2131497 w 2789595"/>
                <a:gd name="connsiteY5" fmla="*/ 674894 h 4547871"/>
                <a:gd name="connsiteX6" fmla="*/ 1445673 w 2789595"/>
                <a:gd name="connsiteY6" fmla="*/ 60887 h 4547871"/>
                <a:gd name="connsiteX0" fmla="*/ 1720755 w 2778698"/>
                <a:gd name="connsiteY0" fmla="*/ 4167965 h 4634985"/>
                <a:gd name="connsiteX1" fmla="*/ 1556222 w 2778698"/>
                <a:gd name="connsiteY1" fmla="*/ 4599152 h 4634985"/>
                <a:gd name="connsiteX2" fmla="*/ 927436 w 2778698"/>
                <a:gd name="connsiteY2" fmla="*/ 4426422 h 4634985"/>
                <a:gd name="connsiteX3" fmla="*/ 57841 w 2778698"/>
                <a:gd name="connsiteY3" fmla="*/ 2973860 h 4634985"/>
                <a:gd name="connsiteX4" fmla="*/ 2695397 w 2778698"/>
                <a:gd name="connsiteY4" fmla="*/ 1975605 h 4634985"/>
                <a:gd name="connsiteX5" fmla="*/ 2131497 w 2778698"/>
                <a:gd name="connsiteY5" fmla="*/ 762008 h 4634985"/>
                <a:gd name="connsiteX6" fmla="*/ 2259764 w 2778698"/>
                <a:gd name="connsiteY6" fmla="*/ 55236 h 4634985"/>
                <a:gd name="connsiteX0" fmla="*/ 1720755 w 2783677"/>
                <a:gd name="connsiteY0" fmla="*/ 4268667 h 4735687"/>
                <a:gd name="connsiteX1" fmla="*/ 1556222 w 2783677"/>
                <a:gd name="connsiteY1" fmla="*/ 4699854 h 4735687"/>
                <a:gd name="connsiteX2" fmla="*/ 927436 w 2783677"/>
                <a:gd name="connsiteY2" fmla="*/ 4527124 h 4735687"/>
                <a:gd name="connsiteX3" fmla="*/ 57841 w 2783677"/>
                <a:gd name="connsiteY3" fmla="*/ 3074562 h 4735687"/>
                <a:gd name="connsiteX4" fmla="*/ 2695397 w 2783677"/>
                <a:gd name="connsiteY4" fmla="*/ 2076307 h 4735687"/>
                <a:gd name="connsiteX5" fmla="*/ 2131497 w 2783677"/>
                <a:gd name="connsiteY5" fmla="*/ 862710 h 4735687"/>
                <a:gd name="connsiteX6" fmla="*/ 1865438 w 2783677"/>
                <a:gd name="connsiteY6" fmla="*/ 49920 h 4735687"/>
                <a:gd name="connsiteX0" fmla="*/ 1720755 w 2783677"/>
                <a:gd name="connsiteY0" fmla="*/ 4268667 h 4735687"/>
                <a:gd name="connsiteX1" fmla="*/ 1556222 w 2783677"/>
                <a:gd name="connsiteY1" fmla="*/ 4699854 h 4735687"/>
                <a:gd name="connsiteX2" fmla="*/ 927436 w 2783677"/>
                <a:gd name="connsiteY2" fmla="*/ 4527124 h 4735687"/>
                <a:gd name="connsiteX3" fmla="*/ 57841 w 2783677"/>
                <a:gd name="connsiteY3" fmla="*/ 3074562 h 4735687"/>
                <a:gd name="connsiteX4" fmla="*/ 2695397 w 2783677"/>
                <a:gd name="connsiteY4" fmla="*/ 2076307 h 4735687"/>
                <a:gd name="connsiteX5" fmla="*/ 2131497 w 2783677"/>
                <a:gd name="connsiteY5" fmla="*/ 862710 h 4735687"/>
                <a:gd name="connsiteX6" fmla="*/ 1865438 w 2783677"/>
                <a:gd name="connsiteY6" fmla="*/ 49920 h 4735687"/>
                <a:gd name="connsiteX0" fmla="*/ 1720755 w 2775606"/>
                <a:gd name="connsiteY0" fmla="*/ 4256024 h 4723044"/>
                <a:gd name="connsiteX1" fmla="*/ 1556222 w 2775606"/>
                <a:gd name="connsiteY1" fmla="*/ 4687211 h 4723044"/>
                <a:gd name="connsiteX2" fmla="*/ 927436 w 2775606"/>
                <a:gd name="connsiteY2" fmla="*/ 4514481 h 4723044"/>
                <a:gd name="connsiteX3" fmla="*/ 57841 w 2775606"/>
                <a:gd name="connsiteY3" fmla="*/ 3061919 h 4723044"/>
                <a:gd name="connsiteX4" fmla="*/ 2695397 w 2775606"/>
                <a:gd name="connsiteY4" fmla="*/ 2063664 h 4723044"/>
                <a:gd name="connsiteX5" fmla="*/ 2131497 w 2775606"/>
                <a:gd name="connsiteY5" fmla="*/ 850067 h 4723044"/>
                <a:gd name="connsiteX6" fmla="*/ 2526887 w 2775606"/>
                <a:gd name="connsiteY6" fmla="*/ 50529 h 4723044"/>
                <a:gd name="connsiteX0" fmla="*/ 1720755 w 2775606"/>
                <a:gd name="connsiteY0" fmla="*/ 4205495 h 4672515"/>
                <a:gd name="connsiteX1" fmla="*/ 1556222 w 2775606"/>
                <a:gd name="connsiteY1" fmla="*/ 4636682 h 4672515"/>
                <a:gd name="connsiteX2" fmla="*/ 927436 w 2775606"/>
                <a:gd name="connsiteY2" fmla="*/ 4463952 h 4672515"/>
                <a:gd name="connsiteX3" fmla="*/ 57841 w 2775606"/>
                <a:gd name="connsiteY3" fmla="*/ 3011390 h 4672515"/>
                <a:gd name="connsiteX4" fmla="*/ 2695397 w 2775606"/>
                <a:gd name="connsiteY4" fmla="*/ 2013135 h 4672515"/>
                <a:gd name="connsiteX5" fmla="*/ 2131497 w 2775606"/>
                <a:gd name="connsiteY5" fmla="*/ 799538 h 4672515"/>
                <a:gd name="connsiteX6" fmla="*/ 2526887 w 2775606"/>
                <a:gd name="connsiteY6" fmla="*/ 0 h 4672515"/>
                <a:gd name="connsiteX0" fmla="*/ 1720755 w 3099295"/>
                <a:gd name="connsiteY0" fmla="*/ 3415516 h 3882536"/>
                <a:gd name="connsiteX1" fmla="*/ 1556222 w 3099295"/>
                <a:gd name="connsiteY1" fmla="*/ 3846703 h 3882536"/>
                <a:gd name="connsiteX2" fmla="*/ 927436 w 3099295"/>
                <a:gd name="connsiteY2" fmla="*/ 3673973 h 3882536"/>
                <a:gd name="connsiteX3" fmla="*/ 57841 w 3099295"/>
                <a:gd name="connsiteY3" fmla="*/ 2221411 h 3882536"/>
                <a:gd name="connsiteX4" fmla="*/ 2695397 w 3099295"/>
                <a:gd name="connsiteY4" fmla="*/ 1223156 h 3882536"/>
                <a:gd name="connsiteX5" fmla="*/ 2131497 w 3099295"/>
                <a:gd name="connsiteY5" fmla="*/ 9559 h 3882536"/>
                <a:gd name="connsiteX6" fmla="*/ 3099295 w 3099295"/>
                <a:gd name="connsiteY6" fmla="*/ 694265 h 3882536"/>
                <a:gd name="connsiteX0" fmla="*/ 1720755 w 3099295"/>
                <a:gd name="connsiteY0" fmla="*/ 3405957 h 3872977"/>
                <a:gd name="connsiteX1" fmla="*/ 1556222 w 3099295"/>
                <a:gd name="connsiteY1" fmla="*/ 3837144 h 3872977"/>
                <a:gd name="connsiteX2" fmla="*/ 927436 w 3099295"/>
                <a:gd name="connsiteY2" fmla="*/ 3664414 h 3872977"/>
                <a:gd name="connsiteX3" fmla="*/ 57841 w 3099295"/>
                <a:gd name="connsiteY3" fmla="*/ 2211852 h 3872977"/>
                <a:gd name="connsiteX4" fmla="*/ 2695397 w 3099295"/>
                <a:gd name="connsiteY4" fmla="*/ 1213597 h 3872977"/>
                <a:gd name="connsiteX5" fmla="*/ 2131497 w 3099295"/>
                <a:gd name="connsiteY5" fmla="*/ 0 h 3872977"/>
                <a:gd name="connsiteX6" fmla="*/ 3099295 w 3099295"/>
                <a:gd name="connsiteY6" fmla="*/ 684706 h 3872977"/>
                <a:gd name="connsiteX0" fmla="*/ 1720755 w 3099295"/>
                <a:gd name="connsiteY0" fmla="*/ 3415515 h 3882535"/>
                <a:gd name="connsiteX1" fmla="*/ 1556222 w 3099295"/>
                <a:gd name="connsiteY1" fmla="*/ 3846702 h 3882535"/>
                <a:gd name="connsiteX2" fmla="*/ 927436 w 3099295"/>
                <a:gd name="connsiteY2" fmla="*/ 3673972 h 3882535"/>
                <a:gd name="connsiteX3" fmla="*/ 57841 w 3099295"/>
                <a:gd name="connsiteY3" fmla="*/ 2221410 h 3882535"/>
                <a:gd name="connsiteX4" fmla="*/ 2695397 w 3099295"/>
                <a:gd name="connsiteY4" fmla="*/ 1223155 h 3882535"/>
                <a:gd name="connsiteX5" fmla="*/ 2131497 w 3099295"/>
                <a:gd name="connsiteY5" fmla="*/ 9558 h 3882535"/>
                <a:gd name="connsiteX6" fmla="*/ 3099295 w 3099295"/>
                <a:gd name="connsiteY6" fmla="*/ 694264 h 3882535"/>
                <a:gd name="connsiteX0" fmla="*/ 1720755 w 3099295"/>
                <a:gd name="connsiteY0" fmla="*/ 2804577 h 3271597"/>
                <a:gd name="connsiteX1" fmla="*/ 1556222 w 3099295"/>
                <a:gd name="connsiteY1" fmla="*/ 3235764 h 3271597"/>
                <a:gd name="connsiteX2" fmla="*/ 927436 w 3099295"/>
                <a:gd name="connsiteY2" fmla="*/ 3063034 h 3271597"/>
                <a:gd name="connsiteX3" fmla="*/ 57841 w 3099295"/>
                <a:gd name="connsiteY3" fmla="*/ 1610472 h 3271597"/>
                <a:gd name="connsiteX4" fmla="*/ 2695397 w 3099295"/>
                <a:gd name="connsiteY4" fmla="*/ 612217 h 3271597"/>
                <a:gd name="connsiteX5" fmla="*/ 2627583 w 3099295"/>
                <a:gd name="connsiteY5" fmla="*/ 246759 h 3271597"/>
                <a:gd name="connsiteX6" fmla="*/ 3099295 w 3099295"/>
                <a:gd name="connsiteY6" fmla="*/ 83326 h 3271597"/>
                <a:gd name="connsiteX0" fmla="*/ 845668 w 2290180"/>
                <a:gd name="connsiteY0" fmla="*/ 2804577 h 3318018"/>
                <a:gd name="connsiteX1" fmla="*/ 681135 w 2290180"/>
                <a:gd name="connsiteY1" fmla="*/ 3235764 h 3318018"/>
                <a:gd name="connsiteX2" fmla="*/ 52349 w 2290180"/>
                <a:gd name="connsiteY2" fmla="*/ 3063034 h 3318018"/>
                <a:gd name="connsiteX3" fmla="*/ 2210153 w 2290180"/>
                <a:gd name="connsiteY3" fmla="*/ 3160977 h 3318018"/>
                <a:gd name="connsiteX4" fmla="*/ 1820310 w 2290180"/>
                <a:gd name="connsiteY4" fmla="*/ 612217 h 3318018"/>
                <a:gd name="connsiteX5" fmla="*/ 1752496 w 2290180"/>
                <a:gd name="connsiteY5" fmla="*/ 246759 h 3318018"/>
                <a:gd name="connsiteX6" fmla="*/ 2224208 w 2290180"/>
                <a:gd name="connsiteY6" fmla="*/ 83326 h 3318018"/>
                <a:gd name="connsiteX0" fmla="*/ 212066 w 1590606"/>
                <a:gd name="connsiteY0" fmla="*/ 2804577 h 3544958"/>
                <a:gd name="connsiteX1" fmla="*/ 47533 w 1590606"/>
                <a:gd name="connsiteY1" fmla="*/ 3235764 h 3544958"/>
                <a:gd name="connsiteX2" fmla="*/ 1199570 w 1590606"/>
                <a:gd name="connsiteY2" fmla="*/ 3540113 h 3544958"/>
                <a:gd name="connsiteX3" fmla="*/ 1576551 w 1590606"/>
                <a:gd name="connsiteY3" fmla="*/ 3160977 h 3544958"/>
                <a:gd name="connsiteX4" fmla="*/ 1186708 w 1590606"/>
                <a:gd name="connsiteY4" fmla="*/ 612217 h 3544958"/>
                <a:gd name="connsiteX5" fmla="*/ 1118894 w 1590606"/>
                <a:gd name="connsiteY5" fmla="*/ 246759 h 3544958"/>
                <a:gd name="connsiteX6" fmla="*/ 1590606 w 1590606"/>
                <a:gd name="connsiteY6" fmla="*/ 83326 h 3544958"/>
                <a:gd name="connsiteX0" fmla="*/ 182007 w 1560547"/>
                <a:gd name="connsiteY0" fmla="*/ 2804577 h 3542540"/>
                <a:gd name="connsiteX1" fmla="*/ 17474 w 1560547"/>
                <a:gd name="connsiteY1" fmla="*/ 3235764 h 3542540"/>
                <a:gd name="connsiteX2" fmla="*/ 673441 w 1560547"/>
                <a:gd name="connsiteY2" fmla="*/ 3268602 h 3542540"/>
                <a:gd name="connsiteX3" fmla="*/ 1169511 w 1560547"/>
                <a:gd name="connsiteY3" fmla="*/ 3540113 h 3542540"/>
                <a:gd name="connsiteX4" fmla="*/ 1546492 w 1560547"/>
                <a:gd name="connsiteY4" fmla="*/ 3160977 h 3542540"/>
                <a:gd name="connsiteX5" fmla="*/ 1156649 w 1560547"/>
                <a:gd name="connsiteY5" fmla="*/ 612217 h 3542540"/>
                <a:gd name="connsiteX6" fmla="*/ 1088835 w 1560547"/>
                <a:gd name="connsiteY6" fmla="*/ 246759 h 3542540"/>
                <a:gd name="connsiteX7" fmla="*/ 1560547 w 1560547"/>
                <a:gd name="connsiteY7" fmla="*/ 83326 h 3542540"/>
                <a:gd name="connsiteX0" fmla="*/ 212065 w 1590605"/>
                <a:gd name="connsiteY0" fmla="*/ 2804577 h 3544958"/>
                <a:gd name="connsiteX1" fmla="*/ 47532 w 1590605"/>
                <a:gd name="connsiteY1" fmla="*/ 3235764 h 3544958"/>
                <a:gd name="connsiteX2" fmla="*/ 1199569 w 1590605"/>
                <a:gd name="connsiteY2" fmla="*/ 3540113 h 3544958"/>
                <a:gd name="connsiteX3" fmla="*/ 1576550 w 1590605"/>
                <a:gd name="connsiteY3" fmla="*/ 3160977 h 3544958"/>
                <a:gd name="connsiteX4" fmla="*/ 1186707 w 1590605"/>
                <a:gd name="connsiteY4" fmla="*/ 612217 h 3544958"/>
                <a:gd name="connsiteX5" fmla="*/ 1118893 w 1590605"/>
                <a:gd name="connsiteY5" fmla="*/ 246759 h 3544958"/>
                <a:gd name="connsiteX6" fmla="*/ 1590605 w 1590605"/>
                <a:gd name="connsiteY6" fmla="*/ 83326 h 3544958"/>
                <a:gd name="connsiteX0" fmla="*/ 545 w 1379085"/>
                <a:gd name="connsiteY0" fmla="*/ 2804577 h 3545934"/>
                <a:gd name="connsiteX1" fmla="*/ 433859 w 1379085"/>
                <a:gd name="connsiteY1" fmla="*/ 3222512 h 3545934"/>
                <a:gd name="connsiteX2" fmla="*/ 988049 w 1379085"/>
                <a:gd name="connsiteY2" fmla="*/ 3540113 h 3545934"/>
                <a:gd name="connsiteX3" fmla="*/ 1365030 w 1379085"/>
                <a:gd name="connsiteY3" fmla="*/ 3160977 h 3545934"/>
                <a:gd name="connsiteX4" fmla="*/ 975187 w 1379085"/>
                <a:gd name="connsiteY4" fmla="*/ 612217 h 3545934"/>
                <a:gd name="connsiteX5" fmla="*/ 907373 w 1379085"/>
                <a:gd name="connsiteY5" fmla="*/ 246759 h 3545934"/>
                <a:gd name="connsiteX6" fmla="*/ 1379085 w 1379085"/>
                <a:gd name="connsiteY6" fmla="*/ 83326 h 3545934"/>
                <a:gd name="connsiteX0" fmla="*/ 548 w 1379088"/>
                <a:gd name="connsiteY0" fmla="*/ 2804577 h 3292586"/>
                <a:gd name="connsiteX1" fmla="*/ 433862 w 1379088"/>
                <a:gd name="connsiteY1" fmla="*/ 3222512 h 3292586"/>
                <a:gd name="connsiteX2" fmla="*/ 1000772 w 1379088"/>
                <a:gd name="connsiteY2" fmla="*/ 2957017 h 3292586"/>
                <a:gd name="connsiteX3" fmla="*/ 1365033 w 1379088"/>
                <a:gd name="connsiteY3" fmla="*/ 3160977 h 3292586"/>
                <a:gd name="connsiteX4" fmla="*/ 975190 w 1379088"/>
                <a:gd name="connsiteY4" fmla="*/ 612217 h 3292586"/>
                <a:gd name="connsiteX5" fmla="*/ 907376 w 1379088"/>
                <a:gd name="connsiteY5" fmla="*/ 246759 h 3292586"/>
                <a:gd name="connsiteX6" fmla="*/ 1379088 w 1379088"/>
                <a:gd name="connsiteY6" fmla="*/ 83326 h 3292586"/>
                <a:gd name="connsiteX0" fmla="*/ 548 w 1379088"/>
                <a:gd name="connsiteY0" fmla="*/ 2804577 h 3238434"/>
                <a:gd name="connsiteX1" fmla="*/ 433862 w 1379088"/>
                <a:gd name="connsiteY1" fmla="*/ 3222512 h 3238434"/>
                <a:gd name="connsiteX2" fmla="*/ 1000772 w 1379088"/>
                <a:gd name="connsiteY2" fmla="*/ 2957017 h 3238434"/>
                <a:gd name="connsiteX3" fmla="*/ 652703 w 1379088"/>
                <a:gd name="connsiteY3" fmla="*/ 1252664 h 3238434"/>
                <a:gd name="connsiteX4" fmla="*/ 975190 w 1379088"/>
                <a:gd name="connsiteY4" fmla="*/ 612217 h 3238434"/>
                <a:gd name="connsiteX5" fmla="*/ 907376 w 1379088"/>
                <a:gd name="connsiteY5" fmla="*/ 246759 h 3238434"/>
                <a:gd name="connsiteX6" fmla="*/ 1379088 w 1379088"/>
                <a:gd name="connsiteY6" fmla="*/ 83326 h 3238434"/>
                <a:gd name="connsiteX0" fmla="*/ 548 w 1379088"/>
                <a:gd name="connsiteY0" fmla="*/ 2804577 h 3238434"/>
                <a:gd name="connsiteX1" fmla="*/ 433862 w 1379088"/>
                <a:gd name="connsiteY1" fmla="*/ 3222512 h 3238434"/>
                <a:gd name="connsiteX2" fmla="*/ 1000772 w 1379088"/>
                <a:gd name="connsiteY2" fmla="*/ 2957017 h 3238434"/>
                <a:gd name="connsiteX3" fmla="*/ 652703 w 1379088"/>
                <a:gd name="connsiteY3" fmla="*/ 1252664 h 3238434"/>
                <a:gd name="connsiteX4" fmla="*/ 924309 w 1379088"/>
                <a:gd name="connsiteY4" fmla="*/ 612217 h 3238434"/>
                <a:gd name="connsiteX5" fmla="*/ 907376 w 1379088"/>
                <a:gd name="connsiteY5" fmla="*/ 246759 h 3238434"/>
                <a:gd name="connsiteX6" fmla="*/ 1379088 w 1379088"/>
                <a:gd name="connsiteY6" fmla="*/ 83326 h 3238434"/>
                <a:gd name="connsiteX0" fmla="*/ 548 w 1379088"/>
                <a:gd name="connsiteY0" fmla="*/ 2804577 h 3238434"/>
                <a:gd name="connsiteX1" fmla="*/ 433862 w 1379088"/>
                <a:gd name="connsiteY1" fmla="*/ 3222512 h 3238434"/>
                <a:gd name="connsiteX2" fmla="*/ 1000772 w 1379088"/>
                <a:gd name="connsiteY2" fmla="*/ 2957017 h 3238434"/>
                <a:gd name="connsiteX3" fmla="*/ 652703 w 1379088"/>
                <a:gd name="connsiteY3" fmla="*/ 1252664 h 3238434"/>
                <a:gd name="connsiteX4" fmla="*/ 907376 w 1379088"/>
                <a:gd name="connsiteY4" fmla="*/ 246759 h 3238434"/>
                <a:gd name="connsiteX5" fmla="*/ 1379088 w 1379088"/>
                <a:gd name="connsiteY5" fmla="*/ 83326 h 3238434"/>
                <a:gd name="connsiteX0" fmla="*/ 548 w 1379088"/>
                <a:gd name="connsiteY0" fmla="*/ 2769660 h 3203517"/>
                <a:gd name="connsiteX1" fmla="*/ 433862 w 1379088"/>
                <a:gd name="connsiteY1" fmla="*/ 3187595 h 3203517"/>
                <a:gd name="connsiteX2" fmla="*/ 1000772 w 1379088"/>
                <a:gd name="connsiteY2" fmla="*/ 2922100 h 3203517"/>
                <a:gd name="connsiteX3" fmla="*/ 652703 w 1379088"/>
                <a:gd name="connsiteY3" fmla="*/ 1217747 h 3203517"/>
                <a:gd name="connsiteX4" fmla="*/ 1009138 w 1379088"/>
                <a:gd name="connsiteY4" fmla="*/ 556399 h 3203517"/>
                <a:gd name="connsiteX5" fmla="*/ 1379088 w 1379088"/>
                <a:gd name="connsiteY5" fmla="*/ 48409 h 3203517"/>
                <a:gd name="connsiteX0" fmla="*/ 548 w 1379088"/>
                <a:gd name="connsiteY0" fmla="*/ 2721251 h 3155108"/>
                <a:gd name="connsiteX1" fmla="*/ 433862 w 1379088"/>
                <a:gd name="connsiteY1" fmla="*/ 3139186 h 3155108"/>
                <a:gd name="connsiteX2" fmla="*/ 1000772 w 1379088"/>
                <a:gd name="connsiteY2" fmla="*/ 2873691 h 3155108"/>
                <a:gd name="connsiteX3" fmla="*/ 652703 w 1379088"/>
                <a:gd name="connsiteY3" fmla="*/ 1169338 h 3155108"/>
                <a:gd name="connsiteX4" fmla="*/ 1009138 w 1379088"/>
                <a:gd name="connsiteY4" fmla="*/ 507990 h 3155108"/>
                <a:gd name="connsiteX5" fmla="*/ 1379088 w 1379088"/>
                <a:gd name="connsiteY5" fmla="*/ 0 h 3155108"/>
                <a:gd name="connsiteX0" fmla="*/ 548 w 1379088"/>
                <a:gd name="connsiteY0" fmla="*/ 2721251 h 3155108"/>
                <a:gd name="connsiteX1" fmla="*/ 433862 w 1379088"/>
                <a:gd name="connsiteY1" fmla="*/ 3139186 h 3155108"/>
                <a:gd name="connsiteX2" fmla="*/ 1000772 w 1379088"/>
                <a:gd name="connsiteY2" fmla="*/ 2873691 h 3155108"/>
                <a:gd name="connsiteX3" fmla="*/ 652703 w 1379088"/>
                <a:gd name="connsiteY3" fmla="*/ 1169338 h 3155108"/>
                <a:gd name="connsiteX4" fmla="*/ 1009138 w 1379088"/>
                <a:gd name="connsiteY4" fmla="*/ 507990 h 3155108"/>
                <a:gd name="connsiteX5" fmla="*/ 1379088 w 1379088"/>
                <a:gd name="connsiteY5" fmla="*/ 0 h 3155108"/>
                <a:gd name="connsiteX0" fmla="*/ 548 w 1379088"/>
                <a:gd name="connsiteY0" fmla="*/ 2721251 h 3155108"/>
                <a:gd name="connsiteX1" fmla="*/ 433862 w 1379088"/>
                <a:gd name="connsiteY1" fmla="*/ 3139186 h 3155108"/>
                <a:gd name="connsiteX2" fmla="*/ 1000772 w 1379088"/>
                <a:gd name="connsiteY2" fmla="*/ 2873691 h 3155108"/>
                <a:gd name="connsiteX3" fmla="*/ 652703 w 1379088"/>
                <a:gd name="connsiteY3" fmla="*/ 1169338 h 3155108"/>
                <a:gd name="connsiteX4" fmla="*/ 1072739 w 1379088"/>
                <a:gd name="connsiteY4" fmla="*/ 600755 h 3155108"/>
                <a:gd name="connsiteX5" fmla="*/ 1379088 w 1379088"/>
                <a:gd name="connsiteY5" fmla="*/ 0 h 3155108"/>
                <a:gd name="connsiteX0" fmla="*/ 193589 w 1572129"/>
                <a:gd name="connsiteY0" fmla="*/ 2721251 h 3521784"/>
                <a:gd name="connsiteX1" fmla="*/ 50918 w 1572129"/>
                <a:gd name="connsiteY1" fmla="*/ 3520186 h 3521784"/>
                <a:gd name="connsiteX2" fmla="*/ 1193813 w 1572129"/>
                <a:gd name="connsiteY2" fmla="*/ 2873691 h 3521784"/>
                <a:gd name="connsiteX3" fmla="*/ 845744 w 1572129"/>
                <a:gd name="connsiteY3" fmla="*/ 1169338 h 3521784"/>
                <a:gd name="connsiteX4" fmla="*/ 1265780 w 1572129"/>
                <a:gd name="connsiteY4" fmla="*/ 600755 h 3521784"/>
                <a:gd name="connsiteX5" fmla="*/ 1572129 w 1572129"/>
                <a:gd name="connsiteY5" fmla="*/ 0 h 3521784"/>
                <a:gd name="connsiteX0" fmla="*/ 2160988 w 3539528"/>
                <a:gd name="connsiteY0" fmla="*/ 2721251 h 3665471"/>
                <a:gd name="connsiteX1" fmla="*/ 2018317 w 3539528"/>
                <a:gd name="connsiteY1" fmla="*/ 3520186 h 3665471"/>
                <a:gd name="connsiteX2" fmla="*/ 7009 w 3539528"/>
                <a:gd name="connsiteY2" fmla="*/ 3426141 h 3665471"/>
                <a:gd name="connsiteX3" fmla="*/ 2813143 w 3539528"/>
                <a:gd name="connsiteY3" fmla="*/ 1169338 h 3665471"/>
                <a:gd name="connsiteX4" fmla="*/ 3233179 w 3539528"/>
                <a:gd name="connsiteY4" fmla="*/ 600755 h 3665471"/>
                <a:gd name="connsiteX5" fmla="*/ 3539528 w 3539528"/>
                <a:gd name="connsiteY5" fmla="*/ 0 h 3665471"/>
                <a:gd name="connsiteX0" fmla="*/ 2581289 w 3959829"/>
                <a:gd name="connsiteY0" fmla="*/ 2721251 h 3586089"/>
                <a:gd name="connsiteX1" fmla="*/ 2438618 w 3959829"/>
                <a:gd name="connsiteY1" fmla="*/ 3520186 h 3586089"/>
                <a:gd name="connsiteX2" fmla="*/ 427310 w 3959829"/>
                <a:gd name="connsiteY2" fmla="*/ 3426141 h 3586089"/>
                <a:gd name="connsiteX3" fmla="*/ 243971 w 3959829"/>
                <a:gd name="connsiteY3" fmla="*/ 2518480 h 3586089"/>
                <a:gd name="connsiteX4" fmla="*/ 3233444 w 3959829"/>
                <a:gd name="connsiteY4" fmla="*/ 1169338 h 3586089"/>
                <a:gd name="connsiteX5" fmla="*/ 3653480 w 3959829"/>
                <a:gd name="connsiteY5" fmla="*/ 600755 h 3586089"/>
                <a:gd name="connsiteX6" fmla="*/ 3959829 w 3959829"/>
                <a:gd name="connsiteY6" fmla="*/ 0 h 3586089"/>
                <a:gd name="connsiteX0" fmla="*/ 2782422 w 4217499"/>
                <a:gd name="connsiteY0" fmla="*/ 2721251 h 3586089"/>
                <a:gd name="connsiteX1" fmla="*/ 2639751 w 4217499"/>
                <a:gd name="connsiteY1" fmla="*/ 3520186 h 3586089"/>
                <a:gd name="connsiteX2" fmla="*/ 628443 w 4217499"/>
                <a:gd name="connsiteY2" fmla="*/ 3426141 h 3586089"/>
                <a:gd name="connsiteX3" fmla="*/ 445104 w 4217499"/>
                <a:gd name="connsiteY3" fmla="*/ 2518480 h 3586089"/>
                <a:gd name="connsiteX4" fmla="*/ 143235 w 4217499"/>
                <a:gd name="connsiteY4" fmla="*/ 1931338 h 3586089"/>
                <a:gd name="connsiteX5" fmla="*/ 3854613 w 4217499"/>
                <a:gd name="connsiteY5" fmla="*/ 600755 h 3586089"/>
                <a:gd name="connsiteX6" fmla="*/ 4160962 w 4217499"/>
                <a:gd name="connsiteY6" fmla="*/ 0 h 3586089"/>
                <a:gd name="connsiteX0" fmla="*/ 2850974 w 4286051"/>
                <a:gd name="connsiteY0" fmla="*/ 2721251 h 3616934"/>
                <a:gd name="connsiteX1" fmla="*/ 2708303 w 4286051"/>
                <a:gd name="connsiteY1" fmla="*/ 3520186 h 3616934"/>
                <a:gd name="connsiteX2" fmla="*/ 696995 w 4286051"/>
                <a:gd name="connsiteY2" fmla="*/ 3426141 h 3616934"/>
                <a:gd name="connsiteX3" fmla="*/ 211787 w 4286051"/>
                <a:gd name="connsiteY3" fmla="*/ 1931338 h 3616934"/>
                <a:gd name="connsiteX4" fmla="*/ 3923165 w 4286051"/>
                <a:gd name="connsiteY4" fmla="*/ 600755 h 3616934"/>
                <a:gd name="connsiteX5" fmla="*/ 4229514 w 4286051"/>
                <a:gd name="connsiteY5" fmla="*/ 0 h 3616934"/>
                <a:gd name="connsiteX0" fmla="*/ 2169378 w 3604455"/>
                <a:gd name="connsiteY0" fmla="*/ 2721251 h 3704436"/>
                <a:gd name="connsiteX1" fmla="*/ 2026707 w 3604455"/>
                <a:gd name="connsiteY1" fmla="*/ 3520186 h 3704436"/>
                <a:gd name="connsiteX2" fmla="*/ 15399 w 3604455"/>
                <a:gd name="connsiteY2" fmla="*/ 3426141 h 3704436"/>
                <a:gd name="connsiteX3" fmla="*/ 3241569 w 3604455"/>
                <a:gd name="connsiteY3" fmla="*/ 600755 h 3704436"/>
                <a:gd name="connsiteX4" fmla="*/ 3547918 w 3604455"/>
                <a:gd name="connsiteY4" fmla="*/ 0 h 3704436"/>
                <a:gd name="connsiteX0" fmla="*/ 3341630 w 4422541"/>
                <a:gd name="connsiteY0" fmla="*/ 2156337 h 3139522"/>
                <a:gd name="connsiteX1" fmla="*/ 3198959 w 4422541"/>
                <a:gd name="connsiteY1" fmla="*/ 2955272 h 3139522"/>
                <a:gd name="connsiteX2" fmla="*/ 1187651 w 4422541"/>
                <a:gd name="connsiteY2" fmla="*/ 2861227 h 3139522"/>
                <a:gd name="connsiteX3" fmla="*/ 4413821 w 4422541"/>
                <a:gd name="connsiteY3" fmla="*/ 35841 h 3139522"/>
                <a:gd name="connsiteX4" fmla="*/ 2580 w 4422541"/>
                <a:gd name="connsiteY4" fmla="*/ 1130536 h 3139522"/>
                <a:gd name="connsiteX0" fmla="*/ 3357071 w 3416814"/>
                <a:gd name="connsiteY0" fmla="*/ 1025801 h 1895193"/>
                <a:gd name="connsiteX1" fmla="*/ 3214400 w 3416814"/>
                <a:gd name="connsiteY1" fmla="*/ 1824736 h 1895193"/>
                <a:gd name="connsiteX2" fmla="*/ 1203092 w 3416814"/>
                <a:gd name="connsiteY2" fmla="*/ 1730691 h 1895193"/>
                <a:gd name="connsiteX3" fmla="*/ 635076 w 3416814"/>
                <a:gd name="connsiteY3" fmla="*/ 724580 h 1895193"/>
                <a:gd name="connsiteX4" fmla="*/ 18021 w 3416814"/>
                <a:gd name="connsiteY4" fmla="*/ 0 h 1895193"/>
                <a:gd name="connsiteX0" fmla="*/ 3339050 w 3398793"/>
                <a:gd name="connsiteY0" fmla="*/ 1025801 h 1895193"/>
                <a:gd name="connsiteX1" fmla="*/ 3196379 w 3398793"/>
                <a:gd name="connsiteY1" fmla="*/ 1824736 h 1895193"/>
                <a:gd name="connsiteX2" fmla="*/ 1185071 w 3398793"/>
                <a:gd name="connsiteY2" fmla="*/ 1730691 h 1895193"/>
                <a:gd name="connsiteX3" fmla="*/ 617055 w 3398793"/>
                <a:gd name="connsiteY3" fmla="*/ 724580 h 1895193"/>
                <a:gd name="connsiteX4" fmla="*/ 0 w 3398793"/>
                <a:gd name="connsiteY4" fmla="*/ 0 h 1895193"/>
                <a:gd name="connsiteX0" fmla="*/ 3339050 w 3398793"/>
                <a:gd name="connsiteY0" fmla="*/ 1025801 h 1895193"/>
                <a:gd name="connsiteX1" fmla="*/ 3196379 w 3398793"/>
                <a:gd name="connsiteY1" fmla="*/ 1824736 h 1895193"/>
                <a:gd name="connsiteX2" fmla="*/ 1185071 w 3398793"/>
                <a:gd name="connsiteY2" fmla="*/ 1730691 h 1895193"/>
                <a:gd name="connsiteX3" fmla="*/ 617055 w 3398793"/>
                <a:gd name="connsiteY3" fmla="*/ 724580 h 1895193"/>
                <a:gd name="connsiteX4" fmla="*/ 0 w 3398793"/>
                <a:gd name="connsiteY4" fmla="*/ 0 h 189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8793" h="1895193">
                  <a:moveTo>
                    <a:pt x="3339050" y="1025801"/>
                  </a:moveTo>
                  <a:cubicBezTo>
                    <a:pt x="3324422" y="1162180"/>
                    <a:pt x="3555375" y="1707254"/>
                    <a:pt x="3196379" y="1824736"/>
                  </a:cubicBezTo>
                  <a:cubicBezTo>
                    <a:pt x="2837383" y="1942218"/>
                    <a:pt x="1614958" y="1914050"/>
                    <a:pt x="1185071" y="1730691"/>
                  </a:cubicBezTo>
                  <a:cubicBezTo>
                    <a:pt x="755184" y="1547332"/>
                    <a:pt x="814567" y="1013029"/>
                    <a:pt x="617055" y="724580"/>
                  </a:cubicBezTo>
                  <a:cubicBezTo>
                    <a:pt x="419543" y="436132"/>
                    <a:pt x="205685" y="241527"/>
                    <a:pt x="0" y="0"/>
                  </a:cubicBezTo>
                </a:path>
              </a:pathLst>
            </a:custGeom>
            <a:ln>
              <a:solidFill>
                <a:srgbClr val="FF0000"/>
              </a:solidFill>
              <a:tailEnd type="oval" w="lg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6214372" y="3018163"/>
              <a:ext cx="1419657" cy="1329325"/>
            </a:xfrm>
            <a:custGeom>
              <a:avLst/>
              <a:gdLst>
                <a:gd name="connsiteX0" fmla="*/ 1104900 w 1188720"/>
                <a:gd name="connsiteY0" fmla="*/ 0 h 266700"/>
                <a:gd name="connsiteX1" fmla="*/ 1188720 w 1188720"/>
                <a:gd name="connsiteY1" fmla="*/ 266700 h 266700"/>
                <a:gd name="connsiteX2" fmla="*/ 0 w 1188720"/>
                <a:gd name="connsiteY2" fmla="*/ 243840 h 266700"/>
                <a:gd name="connsiteX0" fmla="*/ 1104900 w 1257643"/>
                <a:gd name="connsiteY0" fmla="*/ 0 h 266700"/>
                <a:gd name="connsiteX1" fmla="*/ 1188720 w 1257643"/>
                <a:gd name="connsiteY1" fmla="*/ 266700 h 266700"/>
                <a:gd name="connsiteX2" fmla="*/ 0 w 1257643"/>
                <a:gd name="connsiteY2" fmla="*/ 243840 h 266700"/>
                <a:gd name="connsiteX0" fmla="*/ 3438525 w 3591268"/>
                <a:gd name="connsiteY0" fmla="*/ 241935 h 508635"/>
                <a:gd name="connsiteX1" fmla="*/ 3522345 w 3591268"/>
                <a:gd name="connsiteY1" fmla="*/ 508635 h 508635"/>
                <a:gd name="connsiteX2" fmla="*/ 0 w 3591268"/>
                <a:gd name="connsiteY2" fmla="*/ 0 h 508635"/>
                <a:gd name="connsiteX0" fmla="*/ 3438525 w 3438797"/>
                <a:gd name="connsiteY0" fmla="*/ 241935 h 265311"/>
                <a:gd name="connsiteX1" fmla="*/ 1150620 w 3438797"/>
                <a:gd name="connsiteY1" fmla="*/ 175260 h 265311"/>
                <a:gd name="connsiteX2" fmla="*/ 0 w 3438797"/>
                <a:gd name="connsiteY2" fmla="*/ 0 h 265311"/>
                <a:gd name="connsiteX0" fmla="*/ 3438525 w 3438525"/>
                <a:gd name="connsiteY0" fmla="*/ 241935 h 241935"/>
                <a:gd name="connsiteX1" fmla="*/ 1827276 w 3438525"/>
                <a:gd name="connsiteY1" fmla="*/ 173047 h 241935"/>
                <a:gd name="connsiteX2" fmla="*/ 1150620 w 3438525"/>
                <a:gd name="connsiteY2" fmla="*/ 175260 h 241935"/>
                <a:gd name="connsiteX3" fmla="*/ 0 w 3438525"/>
                <a:gd name="connsiteY3" fmla="*/ 0 h 241935"/>
                <a:gd name="connsiteX0" fmla="*/ 3438525 w 3465576"/>
                <a:gd name="connsiteY0" fmla="*/ 241935 h 420697"/>
                <a:gd name="connsiteX1" fmla="*/ 3465576 w 3465576"/>
                <a:gd name="connsiteY1" fmla="*/ 420697 h 420697"/>
                <a:gd name="connsiteX2" fmla="*/ 1150620 w 3465576"/>
                <a:gd name="connsiteY2" fmla="*/ 175260 h 420697"/>
                <a:gd name="connsiteX3" fmla="*/ 0 w 3465576"/>
                <a:gd name="connsiteY3" fmla="*/ 0 h 420697"/>
                <a:gd name="connsiteX0" fmla="*/ 3438525 w 3630195"/>
                <a:gd name="connsiteY0" fmla="*/ 241935 h 421365"/>
                <a:gd name="connsiteX1" fmla="*/ 3465576 w 3630195"/>
                <a:gd name="connsiteY1" fmla="*/ 420697 h 421365"/>
                <a:gd name="connsiteX2" fmla="*/ 1150620 w 3630195"/>
                <a:gd name="connsiteY2" fmla="*/ 175260 h 421365"/>
                <a:gd name="connsiteX3" fmla="*/ 0 w 3630195"/>
                <a:gd name="connsiteY3" fmla="*/ 0 h 421365"/>
                <a:gd name="connsiteX0" fmla="*/ 3438525 w 3514266"/>
                <a:gd name="connsiteY0" fmla="*/ 241935 h 402421"/>
                <a:gd name="connsiteX1" fmla="*/ 3294126 w 3514266"/>
                <a:gd name="connsiteY1" fmla="*/ 401647 h 402421"/>
                <a:gd name="connsiteX2" fmla="*/ 1150620 w 3514266"/>
                <a:gd name="connsiteY2" fmla="*/ 175260 h 402421"/>
                <a:gd name="connsiteX3" fmla="*/ 0 w 3514266"/>
                <a:gd name="connsiteY3" fmla="*/ 0 h 402421"/>
                <a:gd name="connsiteX0" fmla="*/ 3371850 w 3447591"/>
                <a:gd name="connsiteY0" fmla="*/ 232410 h 392896"/>
                <a:gd name="connsiteX1" fmla="*/ 3227451 w 3447591"/>
                <a:gd name="connsiteY1" fmla="*/ 392122 h 392896"/>
                <a:gd name="connsiteX2" fmla="*/ 1083945 w 3447591"/>
                <a:gd name="connsiteY2" fmla="*/ 165735 h 392896"/>
                <a:gd name="connsiteX3" fmla="*/ 0 w 3447591"/>
                <a:gd name="connsiteY3" fmla="*/ 0 h 392896"/>
                <a:gd name="connsiteX0" fmla="*/ 4032250 w 4107991"/>
                <a:gd name="connsiteY0" fmla="*/ 66815 h 291744"/>
                <a:gd name="connsiteX1" fmla="*/ 3887851 w 4107991"/>
                <a:gd name="connsiteY1" fmla="*/ 226527 h 291744"/>
                <a:gd name="connsiteX2" fmla="*/ 1744345 w 4107991"/>
                <a:gd name="connsiteY2" fmla="*/ 140 h 291744"/>
                <a:gd name="connsiteX3" fmla="*/ 0 w 4107991"/>
                <a:gd name="connsiteY3" fmla="*/ 291605 h 291744"/>
                <a:gd name="connsiteX0" fmla="*/ 3968750 w 4044491"/>
                <a:gd name="connsiteY0" fmla="*/ 66812 h 298088"/>
                <a:gd name="connsiteX1" fmla="*/ 3824351 w 4044491"/>
                <a:gd name="connsiteY1" fmla="*/ 226524 h 298088"/>
                <a:gd name="connsiteX2" fmla="*/ 1680845 w 4044491"/>
                <a:gd name="connsiteY2" fmla="*/ 137 h 298088"/>
                <a:gd name="connsiteX3" fmla="*/ 0 w 4044491"/>
                <a:gd name="connsiteY3" fmla="*/ 297952 h 298088"/>
                <a:gd name="connsiteX0" fmla="*/ 3968750 w 4041908"/>
                <a:gd name="connsiteY0" fmla="*/ 0 h 551070"/>
                <a:gd name="connsiteX1" fmla="*/ 3824351 w 4041908"/>
                <a:gd name="connsiteY1" fmla="*/ 159712 h 551070"/>
                <a:gd name="connsiteX2" fmla="*/ 1718945 w 4041908"/>
                <a:gd name="connsiteY2" fmla="*/ 549275 h 551070"/>
                <a:gd name="connsiteX3" fmla="*/ 0 w 4041908"/>
                <a:gd name="connsiteY3" fmla="*/ 231140 h 551070"/>
                <a:gd name="connsiteX0" fmla="*/ 3968750 w 4098523"/>
                <a:gd name="connsiteY0" fmla="*/ 0 h 538426"/>
                <a:gd name="connsiteX1" fmla="*/ 3824351 w 4098523"/>
                <a:gd name="connsiteY1" fmla="*/ 159712 h 538426"/>
                <a:gd name="connsiteX2" fmla="*/ 906145 w 4098523"/>
                <a:gd name="connsiteY2" fmla="*/ 536575 h 538426"/>
                <a:gd name="connsiteX3" fmla="*/ 0 w 4098523"/>
                <a:gd name="connsiteY3" fmla="*/ 231140 h 538426"/>
                <a:gd name="connsiteX0" fmla="*/ 3968750 w 4090643"/>
                <a:gd name="connsiteY0" fmla="*/ 0 h 714574"/>
                <a:gd name="connsiteX1" fmla="*/ 3811651 w 4090643"/>
                <a:gd name="connsiteY1" fmla="*/ 693112 h 714574"/>
                <a:gd name="connsiteX2" fmla="*/ 906145 w 4090643"/>
                <a:gd name="connsiteY2" fmla="*/ 536575 h 714574"/>
                <a:gd name="connsiteX3" fmla="*/ 0 w 4090643"/>
                <a:gd name="connsiteY3" fmla="*/ 231140 h 714574"/>
                <a:gd name="connsiteX0" fmla="*/ 3968750 w 4090643"/>
                <a:gd name="connsiteY0" fmla="*/ 0 h 713156"/>
                <a:gd name="connsiteX1" fmla="*/ 3811651 w 4090643"/>
                <a:gd name="connsiteY1" fmla="*/ 693112 h 713156"/>
                <a:gd name="connsiteX2" fmla="*/ 906145 w 4090643"/>
                <a:gd name="connsiteY2" fmla="*/ 536575 h 713156"/>
                <a:gd name="connsiteX3" fmla="*/ 0 w 4090643"/>
                <a:gd name="connsiteY3" fmla="*/ 231140 h 713156"/>
                <a:gd name="connsiteX0" fmla="*/ 3968750 w 4090643"/>
                <a:gd name="connsiteY0" fmla="*/ 0 h 713156"/>
                <a:gd name="connsiteX1" fmla="*/ 3811651 w 4090643"/>
                <a:gd name="connsiteY1" fmla="*/ 693112 h 713156"/>
                <a:gd name="connsiteX2" fmla="*/ 906145 w 4090643"/>
                <a:gd name="connsiteY2" fmla="*/ 536575 h 713156"/>
                <a:gd name="connsiteX3" fmla="*/ 0 w 4090643"/>
                <a:gd name="connsiteY3" fmla="*/ 231140 h 713156"/>
                <a:gd name="connsiteX0" fmla="*/ 3940175 w 4062068"/>
                <a:gd name="connsiteY0" fmla="*/ 0 h 736177"/>
                <a:gd name="connsiteX1" fmla="*/ 3783076 w 4062068"/>
                <a:gd name="connsiteY1" fmla="*/ 693112 h 736177"/>
                <a:gd name="connsiteX2" fmla="*/ 877570 w 4062068"/>
                <a:gd name="connsiteY2" fmla="*/ 536575 h 736177"/>
                <a:gd name="connsiteX3" fmla="*/ 0 w 4062068"/>
                <a:gd name="connsiteY3" fmla="*/ 735965 h 736177"/>
                <a:gd name="connsiteX0" fmla="*/ 3940175 w 4056713"/>
                <a:gd name="connsiteY0" fmla="*/ 0 h 974882"/>
                <a:gd name="connsiteX1" fmla="*/ 3783076 w 4056713"/>
                <a:gd name="connsiteY1" fmla="*/ 693112 h 974882"/>
                <a:gd name="connsiteX2" fmla="*/ 953770 w 4056713"/>
                <a:gd name="connsiteY2" fmla="*/ 974725 h 974882"/>
                <a:gd name="connsiteX3" fmla="*/ 0 w 4056713"/>
                <a:gd name="connsiteY3" fmla="*/ 735965 h 974882"/>
                <a:gd name="connsiteX0" fmla="*/ 3080341 w 6883543"/>
                <a:gd name="connsiteY0" fmla="*/ 416974 h 1449496"/>
                <a:gd name="connsiteX1" fmla="*/ 2923242 w 6883543"/>
                <a:gd name="connsiteY1" fmla="*/ 1110086 h 1449496"/>
                <a:gd name="connsiteX2" fmla="*/ 93936 w 6883543"/>
                <a:gd name="connsiteY2" fmla="*/ 1391699 h 1449496"/>
                <a:gd name="connsiteX3" fmla="*/ 6866183 w 6883543"/>
                <a:gd name="connsiteY3" fmla="*/ 0 h 1449496"/>
                <a:gd name="connsiteX0" fmla="*/ 294543 w 4158595"/>
                <a:gd name="connsiteY0" fmla="*/ 416974 h 1163819"/>
                <a:gd name="connsiteX1" fmla="*/ 137444 w 4158595"/>
                <a:gd name="connsiteY1" fmla="*/ 1110086 h 1163819"/>
                <a:gd name="connsiteX2" fmla="*/ 2614234 w 4158595"/>
                <a:gd name="connsiteY2" fmla="*/ 992454 h 1163819"/>
                <a:gd name="connsiteX3" fmla="*/ 4080385 w 4158595"/>
                <a:gd name="connsiteY3" fmla="*/ 0 h 1163819"/>
                <a:gd name="connsiteX0" fmla="*/ 0 w 3857137"/>
                <a:gd name="connsiteY0" fmla="*/ 416974 h 1136853"/>
                <a:gd name="connsiteX1" fmla="*/ 783058 w 3857137"/>
                <a:gd name="connsiteY1" fmla="*/ 1071450 h 1136853"/>
                <a:gd name="connsiteX2" fmla="*/ 2319691 w 3857137"/>
                <a:gd name="connsiteY2" fmla="*/ 992454 h 1136853"/>
                <a:gd name="connsiteX3" fmla="*/ 3785842 w 3857137"/>
                <a:gd name="connsiteY3" fmla="*/ 0 h 1136853"/>
                <a:gd name="connsiteX0" fmla="*/ 0 w 3785842"/>
                <a:gd name="connsiteY0" fmla="*/ 416974 h 1136853"/>
                <a:gd name="connsiteX1" fmla="*/ 783058 w 3785842"/>
                <a:gd name="connsiteY1" fmla="*/ 1071450 h 1136853"/>
                <a:gd name="connsiteX2" fmla="*/ 2319691 w 3785842"/>
                <a:gd name="connsiteY2" fmla="*/ 992454 h 1136853"/>
                <a:gd name="connsiteX3" fmla="*/ 3785842 w 3785842"/>
                <a:gd name="connsiteY3" fmla="*/ 0 h 1136853"/>
                <a:gd name="connsiteX0" fmla="*/ 0 w 3785842"/>
                <a:gd name="connsiteY0" fmla="*/ 416974 h 1136853"/>
                <a:gd name="connsiteX1" fmla="*/ 783058 w 3785842"/>
                <a:gd name="connsiteY1" fmla="*/ 1071450 h 1136853"/>
                <a:gd name="connsiteX2" fmla="*/ 2319691 w 3785842"/>
                <a:gd name="connsiteY2" fmla="*/ 992454 h 1136853"/>
                <a:gd name="connsiteX3" fmla="*/ 3785842 w 3785842"/>
                <a:gd name="connsiteY3" fmla="*/ 0 h 1136853"/>
                <a:gd name="connsiteX0" fmla="*/ 1408861 w 3783094"/>
                <a:gd name="connsiteY0" fmla="*/ 1060918 h 1819323"/>
                <a:gd name="connsiteX1" fmla="*/ 2191919 w 3783094"/>
                <a:gd name="connsiteY1" fmla="*/ 1715394 h 1819323"/>
                <a:gd name="connsiteX2" fmla="*/ 3728552 w 3783094"/>
                <a:gd name="connsiteY2" fmla="*/ 1636398 h 1819323"/>
                <a:gd name="connsiteX3" fmla="*/ 43154 w 3783094"/>
                <a:gd name="connsiteY3" fmla="*/ 0 h 1819323"/>
                <a:gd name="connsiteX0" fmla="*/ 1762906 w 2586057"/>
                <a:gd name="connsiteY0" fmla="*/ 1060918 h 1986719"/>
                <a:gd name="connsiteX1" fmla="*/ 2545964 w 2586057"/>
                <a:gd name="connsiteY1" fmla="*/ 1715394 h 1986719"/>
                <a:gd name="connsiteX2" fmla="*/ 244693 w 2586057"/>
                <a:gd name="connsiteY2" fmla="*/ 1868218 h 1986719"/>
                <a:gd name="connsiteX3" fmla="*/ 397199 w 2586057"/>
                <a:gd name="connsiteY3" fmla="*/ 0 h 1986719"/>
                <a:gd name="connsiteX0" fmla="*/ 1684760 w 1685100"/>
                <a:gd name="connsiteY0" fmla="*/ 1060918 h 1983049"/>
                <a:gd name="connsiteX1" fmla="*/ 1270082 w 1685100"/>
                <a:gd name="connsiteY1" fmla="*/ 1702516 h 1983049"/>
                <a:gd name="connsiteX2" fmla="*/ 166547 w 1685100"/>
                <a:gd name="connsiteY2" fmla="*/ 1868218 h 1983049"/>
                <a:gd name="connsiteX3" fmla="*/ 319053 w 1685100"/>
                <a:gd name="connsiteY3" fmla="*/ 0 h 1983049"/>
                <a:gd name="connsiteX0" fmla="*/ 1829607 w 1830038"/>
                <a:gd name="connsiteY0" fmla="*/ 1060918 h 1753415"/>
                <a:gd name="connsiteX1" fmla="*/ 1414929 w 1830038"/>
                <a:gd name="connsiteY1" fmla="*/ 1702516 h 1753415"/>
                <a:gd name="connsiteX2" fmla="*/ 79574 w 1830038"/>
                <a:gd name="connsiteY2" fmla="*/ 1520488 h 1753415"/>
                <a:gd name="connsiteX3" fmla="*/ 463900 w 1830038"/>
                <a:gd name="connsiteY3" fmla="*/ 0 h 1753415"/>
                <a:gd name="connsiteX0" fmla="*/ 1498574 w 1498767"/>
                <a:gd name="connsiteY0" fmla="*/ 1060918 h 1707519"/>
                <a:gd name="connsiteX1" fmla="*/ 1083896 w 1498767"/>
                <a:gd name="connsiteY1" fmla="*/ 1702516 h 1707519"/>
                <a:gd name="connsiteX2" fmla="*/ 807721 w 1498767"/>
                <a:gd name="connsiteY2" fmla="*/ 651808 h 1707519"/>
                <a:gd name="connsiteX3" fmla="*/ 132867 w 1498767"/>
                <a:gd name="connsiteY3" fmla="*/ 0 h 1707519"/>
                <a:gd name="connsiteX0" fmla="*/ 1365707 w 1365900"/>
                <a:gd name="connsiteY0" fmla="*/ 1060918 h 1707519"/>
                <a:gd name="connsiteX1" fmla="*/ 951029 w 1365900"/>
                <a:gd name="connsiteY1" fmla="*/ 1702516 h 1707519"/>
                <a:gd name="connsiteX2" fmla="*/ 674854 w 1365900"/>
                <a:gd name="connsiteY2" fmla="*/ 651808 h 1707519"/>
                <a:gd name="connsiteX3" fmla="*/ 0 w 1365900"/>
                <a:gd name="connsiteY3" fmla="*/ 0 h 1707519"/>
                <a:gd name="connsiteX0" fmla="*/ 1365707 w 1396464"/>
                <a:gd name="connsiteY0" fmla="*/ 1060918 h 1339864"/>
                <a:gd name="connsiteX1" fmla="*/ 1332029 w 1396464"/>
                <a:gd name="connsiteY1" fmla="*/ 1329136 h 1339864"/>
                <a:gd name="connsiteX2" fmla="*/ 674854 w 1396464"/>
                <a:gd name="connsiteY2" fmla="*/ 651808 h 1339864"/>
                <a:gd name="connsiteX3" fmla="*/ 0 w 1396464"/>
                <a:gd name="connsiteY3" fmla="*/ 0 h 1339864"/>
                <a:gd name="connsiteX0" fmla="*/ 1365707 w 1409951"/>
                <a:gd name="connsiteY0" fmla="*/ 1060918 h 1354533"/>
                <a:gd name="connsiteX1" fmla="*/ 1332029 w 1409951"/>
                <a:gd name="connsiteY1" fmla="*/ 1329136 h 1354533"/>
                <a:gd name="connsiteX2" fmla="*/ 484354 w 1409951"/>
                <a:gd name="connsiteY2" fmla="*/ 354628 h 1354533"/>
                <a:gd name="connsiteX3" fmla="*/ 0 w 1409951"/>
                <a:gd name="connsiteY3" fmla="*/ 0 h 1354533"/>
                <a:gd name="connsiteX0" fmla="*/ 1365707 w 1409951"/>
                <a:gd name="connsiteY0" fmla="*/ 1060918 h 1354533"/>
                <a:gd name="connsiteX1" fmla="*/ 1332029 w 1409951"/>
                <a:gd name="connsiteY1" fmla="*/ 1329136 h 1354533"/>
                <a:gd name="connsiteX2" fmla="*/ 895088 w 1409951"/>
                <a:gd name="connsiteY2" fmla="*/ 852797 h 1354533"/>
                <a:gd name="connsiteX3" fmla="*/ 484354 w 1409951"/>
                <a:gd name="connsiteY3" fmla="*/ 354628 h 1354533"/>
                <a:gd name="connsiteX4" fmla="*/ 0 w 1409951"/>
                <a:gd name="connsiteY4" fmla="*/ 0 h 1354533"/>
                <a:gd name="connsiteX0" fmla="*/ 1365707 w 1389177"/>
                <a:gd name="connsiteY0" fmla="*/ 1060918 h 1329325"/>
                <a:gd name="connsiteX1" fmla="*/ 1332029 w 1389177"/>
                <a:gd name="connsiteY1" fmla="*/ 1329136 h 1329325"/>
                <a:gd name="connsiteX2" fmla="*/ 780788 w 1389177"/>
                <a:gd name="connsiteY2" fmla="*/ 1089017 h 1329325"/>
                <a:gd name="connsiteX3" fmla="*/ 484354 w 1389177"/>
                <a:gd name="connsiteY3" fmla="*/ 354628 h 1329325"/>
                <a:gd name="connsiteX4" fmla="*/ 0 w 1389177"/>
                <a:gd name="connsiteY4" fmla="*/ 0 h 1329325"/>
                <a:gd name="connsiteX0" fmla="*/ 1365707 w 1389177"/>
                <a:gd name="connsiteY0" fmla="*/ 1060918 h 1329325"/>
                <a:gd name="connsiteX1" fmla="*/ 1332029 w 1389177"/>
                <a:gd name="connsiteY1" fmla="*/ 1329136 h 1329325"/>
                <a:gd name="connsiteX2" fmla="*/ 780788 w 1389177"/>
                <a:gd name="connsiteY2" fmla="*/ 1089017 h 1329325"/>
                <a:gd name="connsiteX3" fmla="*/ 484354 w 1389177"/>
                <a:gd name="connsiteY3" fmla="*/ 354628 h 1329325"/>
                <a:gd name="connsiteX4" fmla="*/ 0 w 1389177"/>
                <a:gd name="connsiteY4" fmla="*/ 0 h 1329325"/>
                <a:gd name="connsiteX0" fmla="*/ 1396187 w 1419657"/>
                <a:gd name="connsiteY0" fmla="*/ 1060918 h 1329325"/>
                <a:gd name="connsiteX1" fmla="*/ 1362509 w 1419657"/>
                <a:gd name="connsiteY1" fmla="*/ 1329136 h 1329325"/>
                <a:gd name="connsiteX2" fmla="*/ 811268 w 1419657"/>
                <a:gd name="connsiteY2" fmla="*/ 1089017 h 1329325"/>
                <a:gd name="connsiteX3" fmla="*/ 514834 w 1419657"/>
                <a:gd name="connsiteY3" fmla="*/ 354628 h 1329325"/>
                <a:gd name="connsiteX4" fmla="*/ 0 w 1419657"/>
                <a:gd name="connsiteY4" fmla="*/ 0 h 132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657" h="1329325">
                  <a:moveTo>
                    <a:pt x="1396187" y="1060918"/>
                  </a:moveTo>
                  <a:cubicBezTo>
                    <a:pt x="1405204" y="1120505"/>
                    <a:pt x="1459995" y="1324453"/>
                    <a:pt x="1362509" y="1329136"/>
                  </a:cubicBezTo>
                  <a:cubicBezTo>
                    <a:pt x="1265023" y="1333819"/>
                    <a:pt x="952547" y="1251435"/>
                    <a:pt x="811268" y="1089017"/>
                  </a:cubicBezTo>
                  <a:cubicBezTo>
                    <a:pt x="669989" y="926599"/>
                    <a:pt x="650045" y="536131"/>
                    <a:pt x="514834" y="354628"/>
                  </a:cubicBezTo>
                  <a:cubicBezTo>
                    <a:pt x="379623" y="173125"/>
                    <a:pt x="171611" y="118209"/>
                    <a:pt x="0" y="0"/>
                  </a:cubicBezTo>
                </a:path>
              </a:pathLst>
            </a:custGeom>
            <a:ln>
              <a:solidFill>
                <a:srgbClr val="000000"/>
              </a:solidFill>
              <a:tailEnd type="oval" w="lg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465051" y="2013290"/>
              <a:ext cx="952191" cy="369332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endParaRPr lang="en-ZA" sz="2400" dirty="0">
                <a:solidFill>
                  <a:srgbClr val="080808"/>
                </a:solidFill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7465051" y="2013290"/>
            <a:ext cx="952191" cy="36933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ZA" sz="2400" dirty="0" smtClean="0">
                <a:solidFill>
                  <a:srgbClr val="080808"/>
                </a:solidFill>
              </a:rPr>
              <a:t>5.00</a:t>
            </a:r>
            <a:endParaRPr lang="en-ZA" sz="2400" dirty="0">
              <a:solidFill>
                <a:srgbClr val="080808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9519" y="1759238"/>
            <a:ext cx="24723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b="1" dirty="0" smtClean="0">
                <a:latin typeface="Times New Roman" pitchFamily="18" charset="0"/>
                <a:cs typeface="Times New Roman" pitchFamily="18" charset="0"/>
              </a:rPr>
              <a:t>Case 1: </a:t>
            </a:r>
            <a:r>
              <a:rPr lang="en-ZA" sz="20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i="1" baseline="-25000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 between a node and GND:</a:t>
            </a:r>
          </a:p>
          <a:p>
            <a:pPr algn="ctr"/>
            <a:r>
              <a:rPr lang="en-ZA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– 0 = 10 V</a:t>
            </a:r>
            <a:endParaRPr lang="en-ZA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576144" y="2598081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00"/>
                </a:solidFill>
              </a:rPr>
              <a:t>V</a:t>
            </a:r>
            <a:r>
              <a:rPr lang="en-US" baseline="-25000" dirty="0">
                <a:solidFill>
                  <a:srgbClr val="FF3300"/>
                </a:solidFill>
              </a:rPr>
              <a:t>1</a:t>
            </a:r>
            <a:endParaRPr lang="en-ZA" dirty="0"/>
          </a:p>
        </p:txBody>
      </p:sp>
      <p:sp>
        <p:nvSpPr>
          <p:cNvPr id="34" name="Rectangle 33"/>
          <p:cNvSpPr/>
          <p:nvPr/>
        </p:nvSpPr>
        <p:spPr>
          <a:xfrm>
            <a:off x="4118222" y="300497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3300"/>
                </a:solidFill>
              </a:rPr>
              <a:t>V</a:t>
            </a:r>
            <a:r>
              <a:rPr lang="en-US" baseline="-25000" dirty="0" smtClean="0">
                <a:solidFill>
                  <a:srgbClr val="FF3300"/>
                </a:solidFill>
              </a:rPr>
              <a:t>2</a:t>
            </a:r>
            <a:endParaRPr lang="en-ZA" dirty="0"/>
          </a:p>
        </p:txBody>
      </p:sp>
      <p:sp>
        <p:nvSpPr>
          <p:cNvPr id="35" name="Rectangle 34"/>
          <p:cNvSpPr/>
          <p:nvPr/>
        </p:nvSpPr>
        <p:spPr>
          <a:xfrm>
            <a:off x="5841207" y="2650175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3300"/>
                </a:solidFill>
              </a:rPr>
              <a:t>V</a:t>
            </a:r>
            <a:r>
              <a:rPr lang="en-US" baseline="-25000" dirty="0" smtClean="0">
                <a:solidFill>
                  <a:srgbClr val="FF3300"/>
                </a:solidFill>
              </a:rPr>
              <a:t>3</a:t>
            </a:r>
            <a:endParaRPr lang="en-ZA" dirty="0"/>
          </a:p>
        </p:txBody>
      </p:sp>
      <p:sp>
        <p:nvSpPr>
          <p:cNvPr id="36" name="TextBox 35"/>
          <p:cNvSpPr txBox="1"/>
          <p:nvPr/>
        </p:nvSpPr>
        <p:spPr>
          <a:xfrm>
            <a:off x="6533454" y="4983850"/>
            <a:ext cx="24723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b="1" dirty="0" smtClean="0">
                <a:latin typeface="Times New Roman" pitchFamily="18" charset="0"/>
                <a:cs typeface="Times New Roman" pitchFamily="18" charset="0"/>
              </a:rPr>
              <a:t>Case 2: </a:t>
            </a:r>
            <a:r>
              <a:rPr lang="en-ZA" sz="20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i="1" baseline="-25000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 between two nodes:</a:t>
            </a:r>
          </a:p>
          <a:p>
            <a:pPr algn="ctr"/>
            <a:r>
              <a:rPr lang="en-ZA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– V</a:t>
            </a:r>
            <a:r>
              <a:rPr lang="en-ZA" sz="24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= 5 V</a:t>
            </a:r>
          </a:p>
          <a:p>
            <a:pPr algn="ctr"/>
            <a:r>
              <a:rPr lang="en-ZA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SUPERNODE</a:t>
            </a:r>
            <a:endParaRPr lang="en-ZA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230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7" grpId="0" animBg="1"/>
      <p:bldP spid="29" grpId="0"/>
      <p:bldP spid="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25645" y="6306772"/>
            <a:ext cx="2133600" cy="457200"/>
          </a:xfrm>
        </p:spPr>
        <p:txBody>
          <a:bodyPr/>
          <a:lstStyle/>
          <a:p>
            <a:fld id="{F7C98872-F7C8-46E3-B5CF-577A7F23C2F5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228599"/>
            <a:ext cx="8243887" cy="927101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400" dirty="0" smtClean="0"/>
              <a:t>3.3 Nodal Analysis</a:t>
            </a:r>
            <a:br>
              <a:rPr lang="en-US" sz="2400" dirty="0" smtClean="0"/>
            </a:br>
            <a:r>
              <a:rPr lang="en-US" sz="3200" dirty="0" smtClean="0">
                <a:solidFill>
                  <a:srgbClr val="FF0000"/>
                </a:solidFill>
              </a:rPr>
              <a:t>With Voltage sources</a:t>
            </a:r>
            <a:endParaRPr lang="en-US" sz="3200" dirty="0">
              <a:solidFill>
                <a:srgbClr val="FF0000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15456" y="1168856"/>
            <a:ext cx="4943744" cy="4270159"/>
            <a:chOff x="1904556" y="1573643"/>
            <a:chExt cx="4943744" cy="4270159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4556" y="1573643"/>
              <a:ext cx="4943744" cy="4270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5" name="Group 4"/>
            <p:cNvGrpSpPr/>
            <p:nvPr/>
          </p:nvGrpSpPr>
          <p:grpSpPr>
            <a:xfrm>
              <a:off x="2521837" y="2965200"/>
              <a:ext cx="3758914" cy="127664"/>
              <a:chOff x="732817" y="3296500"/>
              <a:chExt cx="3758914" cy="127664"/>
            </a:xfrm>
          </p:grpSpPr>
          <p:sp>
            <p:nvSpPr>
              <p:cNvPr id="6" name="Oval 5"/>
              <p:cNvSpPr/>
              <p:nvPr/>
            </p:nvSpPr>
            <p:spPr bwMode="auto">
              <a:xfrm>
                <a:off x="732817" y="3296500"/>
                <a:ext cx="108615" cy="108615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7" name="Oval 6"/>
              <p:cNvSpPr/>
              <p:nvPr/>
            </p:nvSpPr>
            <p:spPr bwMode="auto">
              <a:xfrm>
                <a:off x="2699101" y="3315549"/>
                <a:ext cx="108615" cy="108615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  <p:sp>
            <p:nvSpPr>
              <p:cNvPr id="8" name="Oval 7"/>
              <p:cNvSpPr/>
              <p:nvPr/>
            </p:nvSpPr>
            <p:spPr bwMode="auto">
              <a:xfrm>
                <a:off x="4383116" y="3296500"/>
                <a:ext cx="108615" cy="108615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2576144" y="2598081"/>
              <a:ext cx="4395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3300"/>
                  </a:solidFill>
                </a:rPr>
                <a:t>V</a:t>
              </a:r>
              <a:r>
                <a:rPr lang="en-US" baseline="-25000" dirty="0">
                  <a:solidFill>
                    <a:srgbClr val="FF3300"/>
                  </a:solidFill>
                </a:rPr>
                <a:t>1</a:t>
              </a:r>
              <a:endParaRPr lang="en-ZA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118222" y="3004970"/>
              <a:ext cx="4395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3300"/>
                  </a:solidFill>
                </a:rPr>
                <a:t>V</a:t>
              </a:r>
              <a:r>
                <a:rPr lang="en-US" baseline="-25000" dirty="0" smtClean="0">
                  <a:solidFill>
                    <a:srgbClr val="FF3300"/>
                  </a:solidFill>
                </a:rPr>
                <a:t>2</a:t>
              </a:r>
              <a:endParaRPr lang="en-ZA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841207" y="2650175"/>
              <a:ext cx="4395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3300"/>
                  </a:solidFill>
                </a:rPr>
                <a:t>V</a:t>
              </a:r>
              <a:r>
                <a:rPr lang="en-US" baseline="-25000" dirty="0" smtClean="0">
                  <a:solidFill>
                    <a:srgbClr val="FF3300"/>
                  </a:solidFill>
                </a:rPr>
                <a:t>3</a:t>
              </a:r>
              <a:endParaRPr lang="en-ZA" dirty="0"/>
            </a:p>
          </p:txBody>
        </p:sp>
      </p:grpSp>
      <p:sp>
        <p:nvSpPr>
          <p:cNvPr id="13" name="Oval 12"/>
          <p:cNvSpPr/>
          <p:nvPr/>
        </p:nvSpPr>
        <p:spPr bwMode="auto">
          <a:xfrm>
            <a:off x="2725428" y="2159000"/>
            <a:ext cx="1904323" cy="874015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2156460" y="1828800"/>
            <a:ext cx="2390123" cy="1561569"/>
            <a:chOff x="2156460" y="1828800"/>
            <a:chExt cx="2390123" cy="1561569"/>
          </a:xfrm>
        </p:grpSpPr>
        <p:cxnSp>
          <p:nvCxnSpPr>
            <p:cNvPr id="25" name="Straight Arrow Connector 24"/>
            <p:cNvCxnSpPr/>
            <p:nvPr/>
          </p:nvCxnSpPr>
          <p:spPr bwMode="auto">
            <a:xfrm flipH="1" flipV="1">
              <a:off x="4537345" y="1828800"/>
              <a:ext cx="9238" cy="533948"/>
            </a:xfrm>
            <a:prstGeom prst="straightConnector1">
              <a:avLst/>
            </a:prstGeom>
            <a:ln w="57150">
              <a:solidFill>
                <a:srgbClr val="00B05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 bwMode="auto">
            <a:xfrm flipH="1" flipV="1">
              <a:off x="2156460" y="2614719"/>
              <a:ext cx="568969" cy="2"/>
            </a:xfrm>
            <a:prstGeom prst="straightConnector1">
              <a:avLst/>
            </a:prstGeom>
            <a:ln w="57150"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 bwMode="auto">
            <a:xfrm>
              <a:off x="2850714" y="2835193"/>
              <a:ext cx="1" cy="525230"/>
            </a:xfrm>
            <a:prstGeom prst="straightConnector1">
              <a:avLst/>
            </a:prstGeom>
            <a:ln w="57150">
              <a:solidFill>
                <a:srgbClr val="0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 bwMode="auto">
            <a:xfrm flipH="1">
              <a:off x="4536424" y="2807709"/>
              <a:ext cx="4619" cy="582660"/>
            </a:xfrm>
            <a:prstGeom prst="straightConnector1">
              <a:avLst/>
            </a:prstGeom>
            <a:ln w="57150">
              <a:solidFill>
                <a:srgbClr val="7030A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Group 55"/>
          <p:cNvGrpSpPr/>
          <p:nvPr/>
        </p:nvGrpSpPr>
        <p:grpSpPr>
          <a:xfrm>
            <a:off x="5281261" y="3964479"/>
            <a:ext cx="2601698" cy="1021005"/>
            <a:chOff x="5281261" y="3964479"/>
            <a:chExt cx="2601698" cy="10210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5299559" y="4523819"/>
                  <a:ext cx="181806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=5</m:t>
                        </m:r>
                      </m:oMath>
                    </m:oMathPara>
                  </a14:m>
                  <a:endParaRPr lang="en-ZA" sz="24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559" y="4523819"/>
                  <a:ext cx="1818062" cy="461665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5281261" y="3964479"/>
                  <a:ext cx="132068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=10</m:t>
                        </m:r>
                      </m:oMath>
                    </m:oMathPara>
                  </a14:m>
                  <a:endParaRPr lang="en-ZA" sz="24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1261" y="3964479"/>
                  <a:ext cx="1320683" cy="46166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Oval 37"/>
            <p:cNvSpPr/>
            <p:nvPr/>
          </p:nvSpPr>
          <p:spPr bwMode="auto">
            <a:xfrm>
              <a:off x="7497946" y="4041394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1</a:t>
              </a:r>
            </a:p>
          </p:txBody>
        </p:sp>
        <p:sp>
          <p:nvSpPr>
            <p:cNvPr id="39" name="Oval 38"/>
            <p:cNvSpPr/>
            <p:nvPr/>
          </p:nvSpPr>
          <p:spPr bwMode="auto">
            <a:xfrm>
              <a:off x="7492197" y="4562277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2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04909" y="6075940"/>
            <a:ext cx="4755042" cy="461665"/>
            <a:chOff x="204909" y="6075940"/>
            <a:chExt cx="4755042" cy="461665"/>
          </a:xfrm>
        </p:grpSpPr>
        <p:sp>
          <p:nvSpPr>
            <p:cNvPr id="42" name="Rectangle 41"/>
            <p:cNvSpPr/>
            <p:nvPr/>
          </p:nvSpPr>
          <p:spPr>
            <a:xfrm>
              <a:off x="204909" y="6075940"/>
              <a:ext cx="475489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400" dirty="0" smtClean="0">
                  <a:solidFill>
                    <a:srgbClr val="0066CC"/>
                  </a:solidFill>
                  <a:latin typeface="Times New Roman" pitchFamily="18" charset="0"/>
                  <a:cs typeface="Times New Roman" pitchFamily="18" charset="0"/>
                </a:rPr>
                <a:t>Solve for V</a:t>
              </a:r>
              <a:r>
                <a:rPr lang="en-ZA" sz="2400" baseline="-25000" dirty="0" smtClean="0">
                  <a:solidFill>
                    <a:srgbClr val="0066CC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ZA" sz="2400" dirty="0" smtClean="0">
                  <a:solidFill>
                    <a:srgbClr val="0066CC"/>
                  </a:solidFill>
                  <a:latin typeface="Times New Roman" pitchFamily="18" charset="0"/>
                  <a:cs typeface="Times New Roman" pitchFamily="18" charset="0"/>
                </a:rPr>
                <a:t> and V</a:t>
              </a:r>
              <a:r>
                <a:rPr lang="en-ZA" sz="2400" baseline="-25000" dirty="0" smtClean="0">
                  <a:solidFill>
                    <a:srgbClr val="0066CC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ZA" sz="2400" dirty="0" smtClean="0">
                  <a:solidFill>
                    <a:srgbClr val="0066CC"/>
                  </a:solidFill>
                  <a:latin typeface="Times New Roman" pitchFamily="18" charset="0"/>
                  <a:cs typeface="Times New Roman" pitchFamily="18" charset="0"/>
                </a:rPr>
                <a:t> from        and     </a:t>
              </a:r>
              <a:endParaRPr lang="en-ZA" sz="2400" dirty="0">
                <a:solidFill>
                  <a:srgbClr val="0066CC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 bwMode="auto">
            <a:xfrm>
              <a:off x="4574938" y="6152855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3</a:t>
              </a:r>
            </a:p>
          </p:txBody>
        </p:sp>
        <p:sp>
          <p:nvSpPr>
            <p:cNvPr id="43" name="Oval 42"/>
            <p:cNvSpPr/>
            <p:nvPr/>
          </p:nvSpPr>
          <p:spPr bwMode="auto">
            <a:xfrm>
              <a:off x="3483581" y="6140155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2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116945" y="5280743"/>
            <a:ext cx="8898597" cy="786177"/>
            <a:chOff x="116945" y="5280743"/>
            <a:chExt cx="8898597" cy="786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3149685" y="5280743"/>
                  <a:ext cx="5583836" cy="7861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ZA" sz="240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40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ZA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 </m:t>
                        </m:r>
                        <m:f>
                          <m:fPr>
                            <m:ctrlP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−0</m:t>
                            </m:r>
                          </m:num>
                          <m:den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8</m:t>
                            </m:r>
                          </m:den>
                        </m:f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ZA" sz="240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4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4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ZA" sz="2400" i="1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ZA" sz="24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4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ZA" sz="24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4</m:t>
                            </m:r>
                          </m:den>
                        </m:f>
                        <m:r>
                          <a:rPr lang="en-ZA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ZA" sz="2400" i="1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400" b="0" i="1" smtClean="0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ZA" sz="240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ZA" sz="2400" b="0" i="1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0</m:t>
                            </m:r>
                          </m:num>
                          <m:den>
                            <m:r>
                              <a:rPr lang="en-ZA" sz="2400" b="0" i="1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6</m:t>
                            </m:r>
                          </m:den>
                        </m:f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=0</m:t>
                        </m:r>
                      </m:oMath>
                    </m:oMathPara>
                  </a14:m>
                  <a:endParaRPr lang="en-ZA" sz="24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9685" y="5280743"/>
                  <a:ext cx="5583836" cy="786177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116945" y="5439015"/>
                  <a:ext cx="298030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ZA" sz="2400" b="0" i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KCL</m:t>
                        </m:r>
                        <m:r>
                          <a:rPr lang="en-ZA" sz="2400" b="0" i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ZA" sz="2400" b="0" i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at</m:t>
                        </m:r>
                        <m:r>
                          <a:rPr lang="en-ZA" sz="2400" b="0" i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ZA" sz="2400" b="0" i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SUPERNODE</m:t>
                        </m:r>
                        <m:r>
                          <a:rPr lang="en-ZA" sz="2400" b="0" i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:</m:t>
                        </m:r>
                      </m:oMath>
                    </m:oMathPara>
                  </a14:m>
                  <a:endParaRPr lang="en-ZA" sz="24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945" y="5439015"/>
                  <a:ext cx="2980303" cy="461665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Oval 43"/>
            <p:cNvSpPr/>
            <p:nvPr/>
          </p:nvSpPr>
          <p:spPr bwMode="auto">
            <a:xfrm>
              <a:off x="8630529" y="5514055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3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3868594" y="5119323"/>
            <a:ext cx="3256987" cy="554508"/>
            <a:chOff x="3868594" y="5119323"/>
            <a:chExt cx="3256987" cy="554508"/>
          </a:xfrm>
        </p:grpSpPr>
        <p:cxnSp>
          <p:nvCxnSpPr>
            <p:cNvPr id="46" name="Straight Connector 45"/>
            <p:cNvCxnSpPr/>
            <p:nvPr/>
          </p:nvCxnSpPr>
          <p:spPr bwMode="auto">
            <a:xfrm>
              <a:off x="3868594" y="5280743"/>
              <a:ext cx="385906" cy="389104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 bwMode="auto">
            <a:xfrm>
              <a:off x="6408991" y="5284727"/>
              <a:ext cx="385906" cy="389104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/>
                <p:cNvSpPr/>
                <p:nvPr/>
              </p:nvSpPr>
              <p:spPr>
                <a:xfrm>
                  <a:off x="4056243" y="5144723"/>
                  <a:ext cx="559769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0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oMath>
                    </m:oMathPara>
                  </a14:m>
                  <a:endParaRPr lang="en-ZA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Rectangle 5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6243" y="5144723"/>
                  <a:ext cx="559769" cy="40011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/>
                <p:cNvSpPr/>
                <p:nvPr/>
              </p:nvSpPr>
              <p:spPr>
                <a:xfrm>
                  <a:off x="6565812" y="5119323"/>
                  <a:ext cx="559769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0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oMath>
                    </m:oMathPara>
                  </a14:m>
                  <a:endParaRPr lang="en-ZA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Rectangle 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5812" y="5119323"/>
                  <a:ext cx="559769" cy="40011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Group 60"/>
          <p:cNvGrpSpPr/>
          <p:nvPr/>
        </p:nvGrpSpPr>
        <p:grpSpPr>
          <a:xfrm>
            <a:off x="3677591" y="1185985"/>
            <a:ext cx="5357730" cy="2616101"/>
            <a:chOff x="3677591" y="1185985"/>
            <a:chExt cx="5357730" cy="2616101"/>
          </a:xfrm>
        </p:grpSpPr>
        <p:sp>
          <p:nvSpPr>
            <p:cNvPr id="14" name="TextBox 13"/>
            <p:cNvSpPr txBox="1"/>
            <p:nvPr/>
          </p:nvSpPr>
          <p:spPr>
            <a:xfrm>
              <a:off x="5199921" y="1185985"/>
              <a:ext cx="3835400" cy="2616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24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SUPERNODE</a:t>
              </a:r>
            </a:p>
            <a:p>
              <a:r>
                <a:rPr lang="en-ZA" sz="2000" dirty="0" smtClean="0">
                  <a:latin typeface="Arial" pitchFamily="34" charset="0"/>
                  <a:cs typeface="Arial" pitchFamily="34" charset="0"/>
                </a:rPr>
                <a:t>Formed by enclosing a (dependent or independent) </a:t>
              </a:r>
              <a:r>
                <a:rPr lang="en-ZA" sz="2000" b="1" u="sng" dirty="0" smtClean="0">
                  <a:latin typeface="Arial" pitchFamily="34" charset="0"/>
                  <a:cs typeface="Arial" pitchFamily="34" charset="0"/>
                </a:rPr>
                <a:t>voltage</a:t>
              </a:r>
              <a:r>
                <a:rPr lang="en-ZA" sz="2000" dirty="0" smtClean="0">
                  <a:latin typeface="Arial" pitchFamily="34" charset="0"/>
                  <a:cs typeface="Arial" pitchFamily="34" charset="0"/>
                </a:rPr>
                <a:t> source connected between two non-reference nodes along with any elements connected in </a:t>
              </a:r>
              <a:r>
                <a:rPr lang="en-ZA" sz="2000" b="1" u="sng" dirty="0" smtClean="0">
                  <a:latin typeface="Arial" pitchFamily="34" charset="0"/>
                  <a:cs typeface="Arial" pitchFamily="34" charset="0"/>
                </a:rPr>
                <a:t>parallel</a:t>
              </a:r>
              <a:r>
                <a:rPr lang="en-ZA" sz="2000" dirty="0" smtClean="0">
                  <a:latin typeface="Arial" pitchFamily="34" charset="0"/>
                  <a:cs typeface="Arial" pitchFamily="34" charset="0"/>
                </a:rPr>
                <a:t> with that voltage source.</a:t>
              </a:r>
              <a:endParaRPr lang="en-ZA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60" name="Curved Connector 59"/>
            <p:cNvCxnSpPr>
              <a:endCxn id="13" idx="0"/>
            </p:cNvCxnSpPr>
            <p:nvPr/>
          </p:nvCxnSpPr>
          <p:spPr bwMode="auto">
            <a:xfrm rot="10800000" flipV="1">
              <a:off x="3677591" y="1460500"/>
              <a:ext cx="1522331" cy="698500"/>
            </a:xfrm>
            <a:prstGeom prst="curvedConnector2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1928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877873"/>
              </p:ext>
            </p:extLst>
          </p:nvPr>
        </p:nvGraphicFramePr>
        <p:xfrm>
          <a:off x="0" y="1149424"/>
          <a:ext cx="9143999" cy="5486400"/>
        </p:xfrm>
        <a:graphic>
          <a:graphicData uri="http://schemas.openxmlformats.org/drawingml/2006/table">
            <a:tbl>
              <a:tblPr firstRow="1" bandRow="1"/>
              <a:tblGrid>
                <a:gridCol w="9143999"/>
              </a:tblGrid>
              <a:tr h="375725">
                <a:tc>
                  <a:txBody>
                    <a:bodyPr/>
                    <a:lstStyle/>
                    <a:p>
                      <a:endParaRPr lang="en-ZA" sz="2400" dirty="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 dirty="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 dirty="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 dirty="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 dirty="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4" name="Picture 3" descr="ale29559_0301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8"/>
          <a:stretch/>
        </p:blipFill>
        <p:spPr bwMode="auto">
          <a:xfrm>
            <a:off x="4548569" y="39706"/>
            <a:ext cx="4573860" cy="227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050"/>
            <a:ext cx="9144000" cy="6637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84657" y="114300"/>
            <a:ext cx="4352703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</a:t>
            </a:r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3-3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in the circuit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656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748972"/>
              </p:ext>
            </p:extLst>
          </p:nvPr>
        </p:nvGraphicFramePr>
        <p:xfrm>
          <a:off x="0" y="1149424"/>
          <a:ext cx="9143999" cy="5486400"/>
        </p:xfrm>
        <a:graphic>
          <a:graphicData uri="http://schemas.openxmlformats.org/drawingml/2006/table">
            <a:tbl>
              <a:tblPr firstRow="1" bandRow="1"/>
              <a:tblGrid>
                <a:gridCol w="9143999"/>
              </a:tblGrid>
              <a:tr h="375725">
                <a:tc>
                  <a:txBody>
                    <a:bodyPr/>
                    <a:lstStyle/>
                    <a:p>
                      <a:endParaRPr lang="en-ZA" sz="2400" dirty="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 dirty="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 dirty="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 dirty="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/>
                    </a:p>
                  </a:txBody>
                  <a:tcPr/>
                </a:tc>
              </a:tr>
              <a:tr h="375725">
                <a:tc>
                  <a:txBody>
                    <a:bodyPr/>
                    <a:lstStyle/>
                    <a:p>
                      <a:endParaRPr lang="en-ZA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7" y="114300"/>
            <a:ext cx="43527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</a:t>
            </a:r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3-3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Continued…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4657" y="114300"/>
            <a:ext cx="43527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</a:t>
            </a:r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3-3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in the circuit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1" y="1249418"/>
            <a:ext cx="9137241" cy="550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 descr="ale29559_0301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8"/>
          <a:stretch/>
        </p:blipFill>
        <p:spPr bwMode="auto">
          <a:xfrm>
            <a:off x="4561160" y="114300"/>
            <a:ext cx="4573860" cy="227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2434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7" y="114300"/>
            <a:ext cx="43527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</a:t>
            </a:r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3-4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98" y="1089038"/>
            <a:ext cx="8911771" cy="5735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 descr="ale29559_0301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0"/>
          <a:stretch/>
        </p:blipFill>
        <p:spPr bwMode="auto">
          <a:xfrm>
            <a:off x="5040313" y="114300"/>
            <a:ext cx="4103687" cy="297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Oval 6"/>
          <p:cNvSpPr/>
          <p:nvPr/>
        </p:nvSpPr>
        <p:spPr bwMode="auto">
          <a:xfrm>
            <a:off x="5499099" y="939800"/>
            <a:ext cx="1549401" cy="500391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6883399" y="939799"/>
            <a:ext cx="1549401" cy="500391"/>
          </a:xfrm>
          <a:prstGeom prst="ellipse">
            <a:avLst/>
          </a:prstGeom>
          <a:noFill/>
          <a:ln w="38100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5572918" y="553527"/>
            <a:ext cx="2796365" cy="1311151"/>
            <a:chOff x="5572918" y="553527"/>
            <a:chExt cx="2796365" cy="1311151"/>
          </a:xfrm>
        </p:grpSpPr>
        <p:cxnSp>
          <p:nvCxnSpPr>
            <p:cNvPr id="9" name="Straight Arrow Connector 8"/>
            <p:cNvCxnSpPr/>
            <p:nvPr/>
          </p:nvCxnSpPr>
          <p:spPr bwMode="auto">
            <a:xfrm flipH="1" flipV="1">
              <a:off x="8360045" y="553527"/>
              <a:ext cx="9238" cy="533948"/>
            </a:xfrm>
            <a:prstGeom prst="straightConnector1">
              <a:avLst/>
            </a:prstGeom>
            <a:ln w="57150">
              <a:solidFill>
                <a:srgbClr val="00B05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 bwMode="auto">
            <a:xfrm>
              <a:off x="5580538" y="1309687"/>
              <a:ext cx="1" cy="468184"/>
            </a:xfrm>
            <a:prstGeom prst="straightConnector1">
              <a:avLst/>
            </a:prstGeom>
            <a:ln w="57150"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 bwMode="auto">
            <a:xfrm>
              <a:off x="6978213" y="1339448"/>
              <a:ext cx="1" cy="525230"/>
            </a:xfrm>
            <a:prstGeom prst="straightConnector1">
              <a:avLst/>
            </a:prstGeom>
            <a:ln w="57150">
              <a:solidFill>
                <a:srgbClr val="0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 bwMode="auto">
            <a:xfrm flipH="1">
              <a:off x="8359124" y="1282018"/>
              <a:ext cx="4619" cy="582660"/>
            </a:xfrm>
            <a:prstGeom prst="straightConnector1">
              <a:avLst/>
            </a:prstGeom>
            <a:ln w="57150">
              <a:solidFill>
                <a:srgbClr val="7030A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 bwMode="auto">
            <a:xfrm flipH="1" flipV="1">
              <a:off x="5572918" y="558926"/>
              <a:ext cx="9238" cy="533948"/>
            </a:xfrm>
            <a:prstGeom prst="straightConnector1">
              <a:avLst/>
            </a:prstGeom>
            <a:ln w="57150">
              <a:solidFill>
                <a:srgbClr val="00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363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7" y="114300"/>
            <a:ext cx="43527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</a:t>
            </a:r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3-4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Continued…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5780"/>
            <a:ext cx="9144000" cy="5651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 descr="ale29559_0301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0"/>
          <a:stretch/>
        </p:blipFill>
        <p:spPr bwMode="auto">
          <a:xfrm>
            <a:off x="4946964" y="0"/>
            <a:ext cx="4197035" cy="278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Oval 7"/>
          <p:cNvSpPr/>
          <p:nvPr/>
        </p:nvSpPr>
        <p:spPr bwMode="auto">
          <a:xfrm>
            <a:off x="5448299" y="762001"/>
            <a:ext cx="1549401" cy="45378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6832599" y="761999"/>
            <a:ext cx="1549401" cy="500391"/>
          </a:xfrm>
          <a:prstGeom prst="ellipse">
            <a:avLst/>
          </a:prstGeom>
          <a:noFill/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5522118" y="375727"/>
            <a:ext cx="2796365" cy="1311151"/>
            <a:chOff x="5572918" y="553527"/>
            <a:chExt cx="2796365" cy="1311151"/>
          </a:xfrm>
        </p:grpSpPr>
        <p:cxnSp>
          <p:nvCxnSpPr>
            <p:cNvPr id="11" name="Straight Arrow Connector 10"/>
            <p:cNvCxnSpPr/>
            <p:nvPr/>
          </p:nvCxnSpPr>
          <p:spPr bwMode="auto">
            <a:xfrm flipH="1" flipV="1">
              <a:off x="8360045" y="553527"/>
              <a:ext cx="9238" cy="533948"/>
            </a:xfrm>
            <a:prstGeom prst="straightConnector1">
              <a:avLst/>
            </a:prstGeom>
            <a:ln w="57150">
              <a:solidFill>
                <a:srgbClr val="00B05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 bwMode="auto">
            <a:xfrm>
              <a:off x="5580538" y="1309687"/>
              <a:ext cx="1" cy="468184"/>
            </a:xfrm>
            <a:prstGeom prst="straightConnector1">
              <a:avLst/>
            </a:prstGeom>
            <a:ln w="57150"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 bwMode="auto">
            <a:xfrm>
              <a:off x="6978213" y="1339448"/>
              <a:ext cx="1" cy="525230"/>
            </a:xfrm>
            <a:prstGeom prst="straightConnector1">
              <a:avLst/>
            </a:prstGeom>
            <a:ln w="57150">
              <a:solidFill>
                <a:srgbClr val="0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 bwMode="auto">
            <a:xfrm flipH="1">
              <a:off x="8359124" y="1282018"/>
              <a:ext cx="4619" cy="582660"/>
            </a:xfrm>
            <a:prstGeom prst="straightConnector1">
              <a:avLst/>
            </a:prstGeom>
            <a:ln w="57150">
              <a:solidFill>
                <a:srgbClr val="7030A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 bwMode="auto">
            <a:xfrm flipH="1" flipV="1">
              <a:off x="5572918" y="558926"/>
              <a:ext cx="9238" cy="533948"/>
            </a:xfrm>
            <a:prstGeom prst="straightConnector1">
              <a:avLst/>
            </a:prstGeom>
            <a:ln w="57150">
              <a:solidFill>
                <a:srgbClr val="00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24835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7" y="114300"/>
            <a:ext cx="43527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3-16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2801"/>
            <a:ext cx="9146162" cy="5474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 descr="ale29559_0306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7"/>
          <a:stretch/>
        </p:blipFill>
        <p:spPr bwMode="auto">
          <a:xfrm>
            <a:off x="4135782" y="114300"/>
            <a:ext cx="5008218" cy="260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Oval 7"/>
          <p:cNvSpPr/>
          <p:nvPr/>
        </p:nvSpPr>
        <p:spPr bwMode="auto">
          <a:xfrm>
            <a:off x="5346700" y="1003300"/>
            <a:ext cx="1752599" cy="500391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4742656" y="622426"/>
            <a:ext cx="2940860" cy="1293052"/>
            <a:chOff x="4742656" y="622426"/>
            <a:chExt cx="2940860" cy="1293052"/>
          </a:xfrm>
        </p:grpSpPr>
        <p:cxnSp>
          <p:nvCxnSpPr>
            <p:cNvPr id="10" name="Straight Arrow Connector 9"/>
            <p:cNvCxnSpPr/>
            <p:nvPr/>
          </p:nvCxnSpPr>
          <p:spPr bwMode="auto">
            <a:xfrm>
              <a:off x="7099299" y="1273488"/>
              <a:ext cx="584217" cy="5399"/>
            </a:xfrm>
            <a:prstGeom prst="straightConnector1">
              <a:avLst/>
            </a:prstGeom>
            <a:ln w="57150">
              <a:solidFill>
                <a:srgbClr val="00B05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 bwMode="auto">
            <a:xfrm>
              <a:off x="5478938" y="1373187"/>
              <a:ext cx="1" cy="468184"/>
            </a:xfrm>
            <a:prstGeom prst="straightConnector1">
              <a:avLst/>
            </a:prstGeom>
            <a:ln w="57150"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 bwMode="auto">
            <a:xfrm>
              <a:off x="6958727" y="1390248"/>
              <a:ext cx="1" cy="525230"/>
            </a:xfrm>
            <a:prstGeom prst="straightConnector1">
              <a:avLst/>
            </a:prstGeom>
            <a:ln w="57150">
              <a:solidFill>
                <a:srgbClr val="0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 bwMode="auto">
            <a:xfrm flipH="1">
              <a:off x="4742656" y="1265513"/>
              <a:ext cx="604044" cy="0"/>
            </a:xfrm>
            <a:prstGeom prst="straightConnector1">
              <a:avLst/>
            </a:prstGeom>
            <a:ln w="57150">
              <a:solidFill>
                <a:srgbClr val="7030A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 bwMode="auto">
            <a:xfrm flipH="1" flipV="1">
              <a:off x="5471318" y="622426"/>
              <a:ext cx="9238" cy="533948"/>
            </a:xfrm>
            <a:prstGeom prst="straightConnector1">
              <a:avLst/>
            </a:prstGeom>
            <a:ln w="57150">
              <a:solidFill>
                <a:srgbClr val="00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273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33857" y="114300"/>
            <a:ext cx="43527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3-4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800" dirty="0">
                <a:latin typeface="Times New Roman" pitchFamily="18" charset="0"/>
                <a:cs typeface="Times New Roman" pitchFamily="18" charset="0"/>
              </a:rPr>
            </a:b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through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3" descr="ale29559_0305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66"/>
          <a:stretch/>
        </p:blipFill>
        <p:spPr bwMode="auto">
          <a:xfrm>
            <a:off x="2953951" y="12700"/>
            <a:ext cx="6063049" cy="2095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980" y="2108201"/>
            <a:ext cx="9139242" cy="4550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3530600" y="171221"/>
            <a:ext cx="5257800" cy="369332"/>
            <a:chOff x="3530600" y="171221"/>
            <a:chExt cx="5257800" cy="369332"/>
          </a:xfrm>
        </p:grpSpPr>
        <p:cxnSp>
          <p:nvCxnSpPr>
            <p:cNvPr id="6" name="Straight Connector 5"/>
            <p:cNvCxnSpPr/>
            <p:nvPr/>
          </p:nvCxnSpPr>
          <p:spPr bwMode="auto">
            <a:xfrm>
              <a:off x="3530600" y="540553"/>
              <a:ext cx="2120900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Straight Connector 8"/>
            <p:cNvCxnSpPr/>
            <p:nvPr/>
          </p:nvCxnSpPr>
          <p:spPr bwMode="auto">
            <a:xfrm>
              <a:off x="6667500" y="540553"/>
              <a:ext cx="2120900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" name="Rectangle 9"/>
            <p:cNvSpPr/>
            <p:nvPr/>
          </p:nvSpPr>
          <p:spPr>
            <a:xfrm>
              <a:off x="4330869" y="171221"/>
              <a:ext cx="4395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3300"/>
                  </a:solidFill>
                </a:rPr>
                <a:t>V</a:t>
              </a:r>
              <a:r>
                <a:rPr lang="en-US" baseline="-25000" dirty="0">
                  <a:solidFill>
                    <a:srgbClr val="FF3300"/>
                  </a:solidFill>
                </a:rPr>
                <a:t>1</a:t>
              </a:r>
              <a:endParaRPr lang="en-ZA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584378" y="171221"/>
              <a:ext cx="4395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FF3300"/>
                  </a:solidFill>
                </a:rPr>
                <a:t>V</a:t>
              </a:r>
              <a:r>
                <a:rPr lang="en-US" baseline="-25000" dirty="0" smtClean="0">
                  <a:solidFill>
                    <a:srgbClr val="FF3300"/>
                  </a:solidFill>
                </a:rPr>
                <a:t>2</a:t>
              </a:r>
              <a:endParaRPr lang="en-ZA" dirty="0"/>
            </a:p>
          </p:txBody>
        </p:sp>
      </p:grpSp>
    </p:spTree>
    <p:extLst>
      <p:ext uri="{BB962C8B-B14F-4D97-AF65-F5344CB8AC3E}">
        <p14:creationId xmlns:p14="http://schemas.microsoft.com/office/powerpoint/2010/main" val="152764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3B2F-15CF-4A1A-8DAC-B185C574C532}" type="slidenum">
              <a:rPr lang="en-US"/>
              <a:pPr/>
              <a:t>27</a:t>
            </a:fld>
            <a:endParaRPr lang="en-US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599"/>
            <a:ext cx="8243887" cy="1345044"/>
          </a:xfrm>
        </p:spPr>
        <p:txBody>
          <a:bodyPr/>
          <a:lstStyle/>
          <a:p>
            <a:r>
              <a:rPr lang="en-US" sz="4000" b="1" dirty="0"/>
              <a:t>Ch. 3 </a:t>
            </a:r>
            <a:r>
              <a:rPr lang="en-US" sz="4000" b="1" dirty="0" smtClean="0"/>
              <a:t>L#3: </a:t>
            </a:r>
            <a:r>
              <a:rPr lang="en-US" sz="4000" dirty="0" smtClean="0"/>
              <a:t>3.4 Mesh Analysis</a:t>
            </a:r>
            <a:br>
              <a:rPr lang="en-US" sz="4000" dirty="0" smtClean="0"/>
            </a:br>
            <a:r>
              <a:rPr lang="en-US" sz="4800" dirty="0" smtClean="0">
                <a:solidFill>
                  <a:srgbClr val="FF0000"/>
                </a:solidFill>
              </a:rPr>
              <a:t>Why?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57200" y="1612900"/>
            <a:ext cx="8153400" cy="447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31825" indent="-51752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3716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8288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2860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7432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2004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6576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1148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20000"/>
              </a:spcBef>
            </a:pPr>
            <a:endParaRPr lang="en-US" sz="2400" dirty="0">
              <a:latin typeface="Verdana" pitchFamily="34" charset="0"/>
            </a:endParaRPr>
          </a:p>
          <a:p>
            <a:pPr lvl="1">
              <a:spcBef>
                <a:spcPct val="20000"/>
              </a:spcBef>
              <a:buFontTx/>
              <a:buAutoNum type="arabicPeriod"/>
            </a:pPr>
            <a:r>
              <a:rPr lang="en-US" sz="2400" dirty="0">
                <a:latin typeface="Verdana" pitchFamily="34" charset="0"/>
              </a:rPr>
              <a:t>Mesh analysis provides another general procedure for analyzing circuits using </a:t>
            </a:r>
            <a:r>
              <a:rPr lang="en-US" sz="2400" u="sng" dirty="0">
                <a:solidFill>
                  <a:srgbClr val="FF3300"/>
                </a:solidFill>
                <a:latin typeface="Verdana" pitchFamily="34" charset="0"/>
              </a:rPr>
              <a:t>mesh currents</a:t>
            </a:r>
            <a:r>
              <a:rPr lang="en-US" sz="2400" dirty="0">
                <a:latin typeface="Verdana" pitchFamily="34" charset="0"/>
              </a:rPr>
              <a:t> as the circuit variables. </a:t>
            </a:r>
          </a:p>
          <a:p>
            <a:pPr lvl="1">
              <a:spcBef>
                <a:spcPct val="20000"/>
              </a:spcBef>
              <a:buFontTx/>
              <a:buAutoNum type="arabicPeriod"/>
            </a:pPr>
            <a:endParaRPr lang="en-US" sz="2400" dirty="0">
              <a:latin typeface="Verdana" pitchFamily="34" charset="0"/>
            </a:endParaRPr>
          </a:p>
          <a:p>
            <a:pPr lvl="1">
              <a:spcBef>
                <a:spcPct val="20000"/>
              </a:spcBef>
              <a:buFontTx/>
              <a:buAutoNum type="arabicPeriod"/>
            </a:pPr>
            <a:r>
              <a:rPr lang="en-US" sz="2400" dirty="0">
                <a:latin typeface="Verdana" pitchFamily="34" charset="0"/>
              </a:rPr>
              <a:t>Nodal analysis applies KCL to find unknown voltages in a given circuit, while </a:t>
            </a:r>
            <a:r>
              <a:rPr lang="en-US" sz="2400" u="sng" dirty="0">
                <a:solidFill>
                  <a:srgbClr val="FF3300"/>
                </a:solidFill>
                <a:latin typeface="Verdana" pitchFamily="34" charset="0"/>
              </a:rPr>
              <a:t>mesh analysis applies KVL</a:t>
            </a:r>
            <a:r>
              <a:rPr lang="en-US" sz="2400" dirty="0">
                <a:latin typeface="Verdana" pitchFamily="34" charset="0"/>
              </a:rPr>
              <a:t> to find unknown currents.</a:t>
            </a:r>
          </a:p>
          <a:p>
            <a:pPr lvl="1">
              <a:spcBef>
                <a:spcPct val="20000"/>
              </a:spcBef>
              <a:buFontTx/>
              <a:buAutoNum type="arabicPeriod"/>
            </a:pPr>
            <a:endParaRPr lang="en-US" sz="2400" dirty="0">
              <a:latin typeface="Verdana" pitchFamily="34" charset="0"/>
            </a:endParaRPr>
          </a:p>
          <a:p>
            <a:pPr lvl="1">
              <a:spcBef>
                <a:spcPct val="20000"/>
              </a:spcBef>
              <a:buFontTx/>
              <a:buAutoNum type="arabicPeriod"/>
            </a:pPr>
            <a:r>
              <a:rPr lang="en-US" sz="2400" dirty="0">
                <a:latin typeface="Verdana" pitchFamily="34" charset="0"/>
              </a:rPr>
              <a:t>A </a:t>
            </a:r>
            <a:r>
              <a:rPr lang="en-US" sz="2400" u="sng" dirty="0">
                <a:solidFill>
                  <a:srgbClr val="FF3300"/>
                </a:solidFill>
                <a:latin typeface="Verdana" pitchFamily="34" charset="0"/>
              </a:rPr>
              <a:t>mesh</a:t>
            </a:r>
            <a:r>
              <a:rPr lang="en-US" sz="2400" dirty="0">
                <a:latin typeface="Verdana" pitchFamily="34" charset="0"/>
              </a:rPr>
              <a:t> is a loop which does not contain any other loops within it. </a:t>
            </a:r>
          </a:p>
        </p:txBody>
      </p:sp>
    </p:spTree>
    <p:extLst>
      <p:ext uri="{BB962C8B-B14F-4D97-AF65-F5344CB8AC3E}">
        <p14:creationId xmlns:p14="http://schemas.microsoft.com/office/powerpoint/2010/main" val="125457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94" y="1064618"/>
            <a:ext cx="5349875" cy="2562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3B2F-15CF-4A1A-8DAC-B185C574C532}" type="slidenum">
              <a:rPr lang="en-US"/>
              <a:pPr/>
              <a:t>28</a:t>
            </a:fld>
            <a:endParaRPr lang="en-US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895"/>
            <a:ext cx="8243887" cy="1239592"/>
          </a:xfrm>
        </p:spPr>
        <p:txBody>
          <a:bodyPr/>
          <a:lstStyle/>
          <a:p>
            <a:r>
              <a:rPr lang="en-US" sz="3200" dirty="0" smtClean="0"/>
              <a:t>3.4 Mesh Analysis</a:t>
            </a:r>
            <a:br>
              <a:rPr lang="en-US" sz="32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STEPS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32594" y="3614095"/>
            <a:ext cx="8077200" cy="326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577850" indent="-39687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37795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83515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29235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74955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20675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66395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12115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 u="sng" dirty="0">
                <a:latin typeface="Verdana" pitchFamily="34" charset="0"/>
              </a:rPr>
              <a:t>Steps to determine the mesh currents: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Tx/>
              <a:buAutoNum type="arabicPeriod"/>
            </a:pPr>
            <a:r>
              <a:rPr lang="en-US" sz="2400" u="sng" dirty="0" smtClean="0">
                <a:latin typeface="Verdana" pitchFamily="34" charset="0"/>
              </a:rPr>
              <a:t>Assign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>
                <a:latin typeface="Verdana" pitchFamily="34" charset="0"/>
              </a:rPr>
              <a:t>mesh currents i</a:t>
            </a:r>
            <a:r>
              <a:rPr lang="en-US" sz="2400" baseline="-25000" dirty="0">
                <a:latin typeface="Verdana" pitchFamily="34" charset="0"/>
              </a:rPr>
              <a:t>1</a:t>
            </a:r>
            <a:r>
              <a:rPr lang="en-US" sz="2400" dirty="0">
                <a:latin typeface="Verdana" pitchFamily="34" charset="0"/>
              </a:rPr>
              <a:t>, i</a:t>
            </a:r>
            <a:r>
              <a:rPr lang="en-US" sz="2400" baseline="-25000" dirty="0">
                <a:latin typeface="Verdana" pitchFamily="34" charset="0"/>
              </a:rPr>
              <a:t>2</a:t>
            </a:r>
            <a:r>
              <a:rPr lang="en-US" sz="2400" dirty="0">
                <a:latin typeface="Verdana" pitchFamily="34" charset="0"/>
              </a:rPr>
              <a:t>, …, in to the            </a:t>
            </a:r>
            <a:r>
              <a:rPr lang="en-US" sz="2400" i="1" dirty="0">
                <a:latin typeface="Verdana" pitchFamily="34" charset="0"/>
              </a:rPr>
              <a:t>n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smtClean="0">
                <a:latin typeface="Verdana" pitchFamily="34" charset="0"/>
              </a:rPr>
              <a:t>meshes – clock wise. </a:t>
            </a:r>
            <a:endParaRPr lang="en-US" sz="2400" dirty="0">
              <a:latin typeface="Verdana" pitchFamily="34" charset="0"/>
            </a:endParaRPr>
          </a:p>
          <a:p>
            <a:pPr lvl="1">
              <a:spcBef>
                <a:spcPct val="20000"/>
              </a:spcBef>
              <a:buClr>
                <a:schemeClr val="tx1"/>
              </a:buClr>
              <a:buFontTx/>
              <a:buAutoNum type="arabicPeriod"/>
            </a:pPr>
            <a:r>
              <a:rPr lang="en-US" sz="2400" u="sng" dirty="0" smtClean="0">
                <a:solidFill>
                  <a:srgbClr val="FF3300"/>
                </a:solidFill>
                <a:latin typeface="Verdana" pitchFamily="34" charset="0"/>
              </a:rPr>
              <a:t>Apply</a:t>
            </a:r>
            <a:r>
              <a:rPr lang="en-US" sz="2400" dirty="0" smtClean="0">
                <a:solidFill>
                  <a:srgbClr val="FF3300"/>
                </a:solidFill>
                <a:latin typeface="Verdana" pitchFamily="34" charset="0"/>
              </a:rPr>
              <a:t> KVL </a:t>
            </a:r>
            <a:r>
              <a:rPr lang="en-US" sz="2400" dirty="0">
                <a:solidFill>
                  <a:srgbClr val="FF3300"/>
                </a:solidFill>
                <a:latin typeface="Verdana" pitchFamily="34" charset="0"/>
              </a:rPr>
              <a:t>to each of the </a:t>
            </a:r>
            <a:r>
              <a:rPr lang="en-US" sz="2400" i="1" dirty="0">
                <a:solidFill>
                  <a:srgbClr val="FF3300"/>
                </a:solidFill>
                <a:latin typeface="Verdana" pitchFamily="34" charset="0"/>
              </a:rPr>
              <a:t>n</a:t>
            </a:r>
            <a:r>
              <a:rPr lang="en-US" sz="2400" dirty="0">
                <a:solidFill>
                  <a:srgbClr val="FF3300"/>
                </a:solidFill>
                <a:latin typeface="Verdana" pitchFamily="34" charset="0"/>
              </a:rPr>
              <a:t> meshes. Use </a:t>
            </a:r>
            <a:r>
              <a:rPr lang="en-US" sz="2400" u="sng" dirty="0">
                <a:solidFill>
                  <a:srgbClr val="FF3300"/>
                </a:solidFill>
                <a:latin typeface="Verdana" pitchFamily="34" charset="0"/>
              </a:rPr>
              <a:t>Ohm’s law</a:t>
            </a:r>
            <a:r>
              <a:rPr lang="en-US" sz="2400" dirty="0">
                <a:solidFill>
                  <a:srgbClr val="FF3300"/>
                </a:solidFill>
                <a:latin typeface="Verdana" pitchFamily="34" charset="0"/>
              </a:rPr>
              <a:t> to express the voltages in terms of the mesh currents. 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Tx/>
              <a:buAutoNum type="arabicPeriod"/>
            </a:pPr>
            <a:r>
              <a:rPr lang="en-US" sz="2400" u="sng" dirty="0" smtClean="0">
                <a:latin typeface="Verdana" pitchFamily="34" charset="0"/>
              </a:rPr>
              <a:t>Solve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>
                <a:latin typeface="Verdana" pitchFamily="34" charset="0"/>
              </a:rPr>
              <a:t>the resulting </a:t>
            </a:r>
            <a:r>
              <a:rPr lang="en-US" sz="2400" i="1" dirty="0">
                <a:latin typeface="Verdana" pitchFamily="34" charset="0"/>
              </a:rPr>
              <a:t>n</a:t>
            </a:r>
            <a:r>
              <a:rPr lang="en-US" sz="2400" dirty="0">
                <a:latin typeface="Verdana" pitchFamily="34" charset="0"/>
              </a:rPr>
              <a:t> simultaneous equations   to get the mesh currents.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300" y="1673671"/>
            <a:ext cx="1879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ZA" sz="2800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ZA" sz="2800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– 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34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C0CEE-FF74-4A70-BBF5-3E9C3E59A762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94" y="1064618"/>
            <a:ext cx="5349875" cy="2562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57200" y="-895"/>
            <a:ext cx="8243887" cy="1239592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3.4 Mesh Analysis</a:t>
            </a:r>
            <a:br>
              <a:rPr lang="en-US" sz="2800" dirty="0" smtClean="0"/>
            </a:br>
            <a:r>
              <a:rPr lang="en-US" sz="3600" dirty="0" smtClean="0">
                <a:solidFill>
                  <a:srgbClr val="FF0000"/>
                </a:solidFill>
              </a:rPr>
              <a:t>STEPS:  KVL in Loops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4767" y="3602970"/>
            <a:ext cx="3559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i="1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– i</a:t>
            </a:r>
            <a:r>
              <a:rPr lang="en-ZA" sz="24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) = 0  </a:t>
            </a:r>
            <a:endParaRPr lang="en-ZA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36800" y="2140895"/>
            <a:ext cx="647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</a:p>
          <a:p>
            <a:pPr algn="r"/>
            <a:r>
              <a:rPr lang="en-ZA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0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ZA" sz="20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ZA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9600" y="2115495"/>
            <a:ext cx="6223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</a:p>
          <a:p>
            <a:r>
              <a:rPr lang="en-ZA" sz="20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0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0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ZA" sz="2000" i="1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ZA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ZA" sz="2000" i="1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93501" y="1248651"/>
            <a:ext cx="28995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ZA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000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 has 2 currents flowing through it: </a:t>
            </a:r>
            <a:r>
              <a:rPr lang="en-ZA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ZA" sz="20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ZA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i="1" baseline="-25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causes a voltage drop from bottom to top: </a:t>
            </a:r>
            <a:r>
              <a:rPr lang="en-ZA" sz="20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0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0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ZA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causes a voltage drop from top to bottom: </a:t>
            </a:r>
            <a:r>
              <a:rPr lang="en-ZA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0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2906" y="4015532"/>
            <a:ext cx="2026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ZA" sz="24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564" y="3624065"/>
            <a:ext cx="12538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1:</a:t>
            </a:r>
            <a:endParaRPr lang="en-ZA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564" y="5100292"/>
            <a:ext cx="12538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2:</a:t>
            </a:r>
            <a:endParaRPr lang="en-ZA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71179" y="5038737"/>
            <a:ext cx="3342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  </a:t>
            </a:r>
            <a:r>
              <a:rPr lang="en-ZA" sz="24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+ R</a:t>
            </a:r>
            <a:r>
              <a:rPr lang="en-ZA" sz="2400" i="1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 i</a:t>
            </a:r>
            <a:r>
              <a:rPr lang="en-ZA" sz="24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ZA" sz="24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ZA" sz="24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= 0  </a:t>
            </a:r>
            <a:endParaRPr lang="en-ZA" sz="2400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51390" y="5953059"/>
            <a:ext cx="4121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–R</a:t>
            </a:r>
            <a:r>
              <a:rPr lang="en-ZA" sz="24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+ R</a:t>
            </a:r>
            <a:r>
              <a:rPr lang="en-ZA" sz="24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ZA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71178" y="1653830"/>
            <a:ext cx="1195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 i</a:t>
            </a:r>
            <a:r>
              <a:rPr lang="en-ZA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  </a:t>
            </a:r>
            <a:r>
              <a:rPr lang="en-ZA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ZA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17478" y="1646964"/>
            <a:ext cx="1195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 i</a:t>
            </a:r>
            <a:r>
              <a:rPr lang="en-ZA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  </a:t>
            </a:r>
            <a:r>
              <a:rPr lang="en-ZA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ZA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41773" y="4061699"/>
            <a:ext cx="1277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Write </a:t>
            </a:r>
            <a:r>
              <a:rPr lang="en-ZA" dirty="0" err="1" smtClean="0">
                <a:solidFill>
                  <a:srgbClr val="000000"/>
                </a:solidFill>
              </a:rPr>
              <a:t>ito</a:t>
            </a:r>
            <a:r>
              <a:rPr lang="en-ZA" dirty="0">
                <a:solidFill>
                  <a:srgbClr val="000000"/>
                </a:solidFill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0027" y="4431031"/>
            <a:ext cx="3333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ZA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–R</a:t>
            </a:r>
            <a:r>
              <a:rPr lang="en-ZA" sz="24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90027" y="5491395"/>
            <a:ext cx="2026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ZA" sz="24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93584" y="5529426"/>
            <a:ext cx="1277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Write </a:t>
            </a:r>
            <a:r>
              <a:rPr lang="en-ZA" dirty="0" err="1" smtClean="0">
                <a:solidFill>
                  <a:srgbClr val="000000"/>
                </a:solidFill>
              </a:rPr>
              <a:t>ito</a:t>
            </a:r>
            <a:r>
              <a:rPr lang="en-ZA" dirty="0">
                <a:solidFill>
                  <a:srgbClr val="000000"/>
                </a:solidFill>
              </a:rPr>
              <a:t>:</a:t>
            </a:r>
          </a:p>
        </p:txBody>
      </p:sp>
      <p:sp>
        <p:nvSpPr>
          <p:cNvPr id="28" name="Freeform 27"/>
          <p:cNvSpPr/>
          <p:nvPr/>
        </p:nvSpPr>
        <p:spPr>
          <a:xfrm>
            <a:off x="3708400" y="2730500"/>
            <a:ext cx="2590800" cy="304956"/>
          </a:xfrm>
          <a:custGeom>
            <a:avLst/>
            <a:gdLst>
              <a:gd name="connsiteX0" fmla="*/ 2552700 w 2552700"/>
              <a:gd name="connsiteY0" fmla="*/ 0 h 330200"/>
              <a:gd name="connsiteX1" fmla="*/ 863600 w 2552700"/>
              <a:gd name="connsiteY1" fmla="*/ 330200 h 330200"/>
              <a:gd name="connsiteX2" fmla="*/ 0 w 2552700"/>
              <a:gd name="connsiteY2" fmla="*/ 38100 h 330200"/>
              <a:gd name="connsiteX0" fmla="*/ 2552700 w 2552700"/>
              <a:gd name="connsiteY0" fmla="*/ 0 h 330200"/>
              <a:gd name="connsiteX1" fmla="*/ 863600 w 2552700"/>
              <a:gd name="connsiteY1" fmla="*/ 330200 h 330200"/>
              <a:gd name="connsiteX2" fmla="*/ 0 w 2552700"/>
              <a:gd name="connsiteY2" fmla="*/ 38100 h 330200"/>
              <a:gd name="connsiteX0" fmla="*/ 2552700 w 2552700"/>
              <a:gd name="connsiteY0" fmla="*/ 0 h 330346"/>
              <a:gd name="connsiteX1" fmla="*/ 863600 w 2552700"/>
              <a:gd name="connsiteY1" fmla="*/ 330200 h 330346"/>
              <a:gd name="connsiteX2" fmla="*/ 0 w 2552700"/>
              <a:gd name="connsiteY2" fmla="*/ 38100 h 330346"/>
              <a:gd name="connsiteX0" fmla="*/ 2552700 w 2552700"/>
              <a:gd name="connsiteY0" fmla="*/ 0 h 317656"/>
              <a:gd name="connsiteX1" fmla="*/ 1295400 w 2552700"/>
              <a:gd name="connsiteY1" fmla="*/ 317500 h 317656"/>
              <a:gd name="connsiteX2" fmla="*/ 0 w 2552700"/>
              <a:gd name="connsiteY2" fmla="*/ 38100 h 317656"/>
              <a:gd name="connsiteX0" fmla="*/ 2552700 w 2552700"/>
              <a:gd name="connsiteY0" fmla="*/ 0 h 317656"/>
              <a:gd name="connsiteX1" fmla="*/ 1295400 w 2552700"/>
              <a:gd name="connsiteY1" fmla="*/ 317500 h 317656"/>
              <a:gd name="connsiteX2" fmla="*/ 0 w 2552700"/>
              <a:gd name="connsiteY2" fmla="*/ 38100 h 317656"/>
              <a:gd name="connsiteX0" fmla="*/ 2590800 w 2590800"/>
              <a:gd name="connsiteY0" fmla="*/ 0 h 304956"/>
              <a:gd name="connsiteX1" fmla="*/ 1295400 w 2590800"/>
              <a:gd name="connsiteY1" fmla="*/ 304800 h 304956"/>
              <a:gd name="connsiteX2" fmla="*/ 0 w 2590800"/>
              <a:gd name="connsiteY2" fmla="*/ 25400 h 304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0800" h="304956">
                <a:moveTo>
                  <a:pt x="2590800" y="0"/>
                </a:moveTo>
                <a:cubicBezTo>
                  <a:pt x="2027767" y="110067"/>
                  <a:pt x="1720850" y="298450"/>
                  <a:pt x="1295400" y="304800"/>
                </a:cubicBezTo>
                <a:cubicBezTo>
                  <a:pt x="869950" y="311150"/>
                  <a:pt x="287867" y="122767"/>
                  <a:pt x="0" y="25400"/>
                </a:cubicBezTo>
              </a:path>
            </a:pathLst>
          </a:custGeom>
          <a:ln>
            <a:solidFill>
              <a:srgbClr val="00B050"/>
            </a:solidFill>
            <a:tailEnd type="stealth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2657956" y="2826358"/>
            <a:ext cx="3641244" cy="660400"/>
          </a:xfrm>
          <a:custGeom>
            <a:avLst/>
            <a:gdLst>
              <a:gd name="connsiteX0" fmla="*/ 2552700 w 2552700"/>
              <a:gd name="connsiteY0" fmla="*/ 0 h 330200"/>
              <a:gd name="connsiteX1" fmla="*/ 863600 w 2552700"/>
              <a:gd name="connsiteY1" fmla="*/ 330200 h 330200"/>
              <a:gd name="connsiteX2" fmla="*/ 0 w 2552700"/>
              <a:gd name="connsiteY2" fmla="*/ 38100 h 330200"/>
              <a:gd name="connsiteX0" fmla="*/ 2552700 w 2552700"/>
              <a:gd name="connsiteY0" fmla="*/ 0 h 330200"/>
              <a:gd name="connsiteX1" fmla="*/ 863600 w 2552700"/>
              <a:gd name="connsiteY1" fmla="*/ 330200 h 330200"/>
              <a:gd name="connsiteX2" fmla="*/ 0 w 2552700"/>
              <a:gd name="connsiteY2" fmla="*/ 38100 h 330200"/>
              <a:gd name="connsiteX0" fmla="*/ 2552700 w 2552700"/>
              <a:gd name="connsiteY0" fmla="*/ 0 h 330346"/>
              <a:gd name="connsiteX1" fmla="*/ 863600 w 2552700"/>
              <a:gd name="connsiteY1" fmla="*/ 330200 h 330346"/>
              <a:gd name="connsiteX2" fmla="*/ 0 w 2552700"/>
              <a:gd name="connsiteY2" fmla="*/ 38100 h 330346"/>
              <a:gd name="connsiteX0" fmla="*/ 2552700 w 2552700"/>
              <a:gd name="connsiteY0" fmla="*/ 0 h 317656"/>
              <a:gd name="connsiteX1" fmla="*/ 1295400 w 2552700"/>
              <a:gd name="connsiteY1" fmla="*/ 317500 h 317656"/>
              <a:gd name="connsiteX2" fmla="*/ 0 w 2552700"/>
              <a:gd name="connsiteY2" fmla="*/ 38100 h 317656"/>
              <a:gd name="connsiteX0" fmla="*/ 2552700 w 2552700"/>
              <a:gd name="connsiteY0" fmla="*/ 0 h 317656"/>
              <a:gd name="connsiteX1" fmla="*/ 1295400 w 2552700"/>
              <a:gd name="connsiteY1" fmla="*/ 317500 h 317656"/>
              <a:gd name="connsiteX2" fmla="*/ 0 w 2552700"/>
              <a:gd name="connsiteY2" fmla="*/ 38100 h 317656"/>
              <a:gd name="connsiteX0" fmla="*/ 2590800 w 2590800"/>
              <a:gd name="connsiteY0" fmla="*/ 0 h 304956"/>
              <a:gd name="connsiteX1" fmla="*/ 1295400 w 2590800"/>
              <a:gd name="connsiteY1" fmla="*/ 304800 h 304956"/>
              <a:gd name="connsiteX2" fmla="*/ 0 w 2590800"/>
              <a:gd name="connsiteY2" fmla="*/ 25400 h 304956"/>
              <a:gd name="connsiteX0" fmla="*/ 3594100 w 3594100"/>
              <a:gd name="connsiteY0" fmla="*/ 622300 h 927135"/>
              <a:gd name="connsiteX1" fmla="*/ 2298700 w 3594100"/>
              <a:gd name="connsiteY1" fmla="*/ 927100 h 927135"/>
              <a:gd name="connsiteX2" fmla="*/ 0 w 3594100"/>
              <a:gd name="connsiteY2" fmla="*/ 0 h 927135"/>
              <a:gd name="connsiteX0" fmla="*/ 3594100 w 3594100"/>
              <a:gd name="connsiteY0" fmla="*/ 622300 h 647853"/>
              <a:gd name="connsiteX1" fmla="*/ 533400 w 3594100"/>
              <a:gd name="connsiteY1" fmla="*/ 457200 h 647853"/>
              <a:gd name="connsiteX2" fmla="*/ 0 w 3594100"/>
              <a:gd name="connsiteY2" fmla="*/ 0 h 647853"/>
              <a:gd name="connsiteX0" fmla="*/ 3594100 w 3594100"/>
              <a:gd name="connsiteY0" fmla="*/ 622300 h 622300"/>
              <a:gd name="connsiteX1" fmla="*/ 1500304 w 3594100"/>
              <a:gd name="connsiteY1" fmla="*/ 522455 h 622300"/>
              <a:gd name="connsiteX2" fmla="*/ 533400 w 3594100"/>
              <a:gd name="connsiteY2" fmla="*/ 457200 h 622300"/>
              <a:gd name="connsiteX3" fmla="*/ 0 w 3594100"/>
              <a:gd name="connsiteY3" fmla="*/ 0 h 622300"/>
              <a:gd name="connsiteX0" fmla="*/ 3594100 w 3594100"/>
              <a:gd name="connsiteY0" fmla="*/ 622300 h 622300"/>
              <a:gd name="connsiteX1" fmla="*/ 2198804 w 3594100"/>
              <a:gd name="connsiteY1" fmla="*/ 560555 h 622300"/>
              <a:gd name="connsiteX2" fmla="*/ 1500304 w 3594100"/>
              <a:gd name="connsiteY2" fmla="*/ 522455 h 622300"/>
              <a:gd name="connsiteX3" fmla="*/ 533400 w 3594100"/>
              <a:gd name="connsiteY3" fmla="*/ 457200 h 622300"/>
              <a:gd name="connsiteX4" fmla="*/ 0 w 3594100"/>
              <a:gd name="connsiteY4" fmla="*/ 0 h 622300"/>
              <a:gd name="connsiteX0" fmla="*/ 3594100 w 3594100"/>
              <a:gd name="connsiteY0" fmla="*/ 622300 h 622300"/>
              <a:gd name="connsiteX1" fmla="*/ 2198804 w 3594100"/>
              <a:gd name="connsiteY1" fmla="*/ 560555 h 622300"/>
              <a:gd name="connsiteX2" fmla="*/ 1500304 w 3594100"/>
              <a:gd name="connsiteY2" fmla="*/ 522455 h 622300"/>
              <a:gd name="connsiteX3" fmla="*/ 533400 w 3594100"/>
              <a:gd name="connsiteY3" fmla="*/ 457200 h 622300"/>
              <a:gd name="connsiteX4" fmla="*/ 0 w 3594100"/>
              <a:gd name="connsiteY4" fmla="*/ 0 h 622300"/>
              <a:gd name="connsiteX0" fmla="*/ 3594100 w 3594100"/>
              <a:gd name="connsiteY0" fmla="*/ 622300 h 622300"/>
              <a:gd name="connsiteX1" fmla="*/ 2198804 w 3594100"/>
              <a:gd name="connsiteY1" fmla="*/ 560555 h 622300"/>
              <a:gd name="connsiteX2" fmla="*/ 1500304 w 3594100"/>
              <a:gd name="connsiteY2" fmla="*/ 522455 h 622300"/>
              <a:gd name="connsiteX3" fmla="*/ 114300 w 3594100"/>
              <a:gd name="connsiteY3" fmla="*/ 508000 h 622300"/>
              <a:gd name="connsiteX4" fmla="*/ 0 w 3594100"/>
              <a:gd name="connsiteY4" fmla="*/ 0 h 622300"/>
              <a:gd name="connsiteX0" fmla="*/ 3543300 w 3543300"/>
              <a:gd name="connsiteY0" fmla="*/ 660400 h 660400"/>
              <a:gd name="connsiteX1" fmla="*/ 2148004 w 3543300"/>
              <a:gd name="connsiteY1" fmla="*/ 598655 h 660400"/>
              <a:gd name="connsiteX2" fmla="*/ 1449504 w 3543300"/>
              <a:gd name="connsiteY2" fmla="*/ 560555 h 660400"/>
              <a:gd name="connsiteX3" fmla="*/ 63500 w 3543300"/>
              <a:gd name="connsiteY3" fmla="*/ 546100 h 660400"/>
              <a:gd name="connsiteX4" fmla="*/ 0 w 3543300"/>
              <a:gd name="connsiteY4" fmla="*/ 0 h 660400"/>
              <a:gd name="connsiteX0" fmla="*/ 3543300 w 3543300"/>
              <a:gd name="connsiteY0" fmla="*/ 660400 h 660400"/>
              <a:gd name="connsiteX1" fmla="*/ 2148004 w 3543300"/>
              <a:gd name="connsiteY1" fmla="*/ 598655 h 660400"/>
              <a:gd name="connsiteX2" fmla="*/ 1449504 w 3543300"/>
              <a:gd name="connsiteY2" fmla="*/ 560555 h 660400"/>
              <a:gd name="connsiteX3" fmla="*/ 12700 w 3543300"/>
              <a:gd name="connsiteY3" fmla="*/ 444500 h 660400"/>
              <a:gd name="connsiteX4" fmla="*/ 0 w 3543300"/>
              <a:gd name="connsiteY4" fmla="*/ 0 h 660400"/>
              <a:gd name="connsiteX0" fmla="*/ 3640379 w 3640379"/>
              <a:gd name="connsiteY0" fmla="*/ 660400 h 660400"/>
              <a:gd name="connsiteX1" fmla="*/ 2245083 w 3640379"/>
              <a:gd name="connsiteY1" fmla="*/ 598655 h 660400"/>
              <a:gd name="connsiteX2" fmla="*/ 1546583 w 3640379"/>
              <a:gd name="connsiteY2" fmla="*/ 560555 h 660400"/>
              <a:gd name="connsiteX3" fmla="*/ 109779 w 3640379"/>
              <a:gd name="connsiteY3" fmla="*/ 444500 h 660400"/>
              <a:gd name="connsiteX4" fmla="*/ 97079 w 3640379"/>
              <a:gd name="connsiteY4" fmla="*/ 0 h 660400"/>
              <a:gd name="connsiteX0" fmla="*/ 3568834 w 3568834"/>
              <a:gd name="connsiteY0" fmla="*/ 660400 h 660400"/>
              <a:gd name="connsiteX1" fmla="*/ 2173538 w 3568834"/>
              <a:gd name="connsiteY1" fmla="*/ 598655 h 660400"/>
              <a:gd name="connsiteX2" fmla="*/ 1475038 w 3568834"/>
              <a:gd name="connsiteY2" fmla="*/ 560555 h 660400"/>
              <a:gd name="connsiteX3" fmla="*/ 152534 w 3568834"/>
              <a:gd name="connsiteY3" fmla="*/ 469900 h 660400"/>
              <a:gd name="connsiteX4" fmla="*/ 25534 w 3568834"/>
              <a:gd name="connsiteY4" fmla="*/ 0 h 660400"/>
              <a:gd name="connsiteX0" fmla="*/ 3543788 w 3543788"/>
              <a:gd name="connsiteY0" fmla="*/ 660400 h 660400"/>
              <a:gd name="connsiteX1" fmla="*/ 2148492 w 3543788"/>
              <a:gd name="connsiteY1" fmla="*/ 598655 h 660400"/>
              <a:gd name="connsiteX2" fmla="*/ 1449992 w 3543788"/>
              <a:gd name="connsiteY2" fmla="*/ 560555 h 660400"/>
              <a:gd name="connsiteX3" fmla="*/ 203688 w 3543788"/>
              <a:gd name="connsiteY3" fmla="*/ 469900 h 660400"/>
              <a:gd name="connsiteX4" fmla="*/ 488 w 3543788"/>
              <a:gd name="connsiteY4" fmla="*/ 0 h 660400"/>
              <a:gd name="connsiteX0" fmla="*/ 3543788 w 3543788"/>
              <a:gd name="connsiteY0" fmla="*/ 660400 h 660400"/>
              <a:gd name="connsiteX1" fmla="*/ 1449992 w 3543788"/>
              <a:gd name="connsiteY1" fmla="*/ 560555 h 660400"/>
              <a:gd name="connsiteX2" fmla="*/ 203688 w 3543788"/>
              <a:gd name="connsiteY2" fmla="*/ 469900 h 660400"/>
              <a:gd name="connsiteX3" fmla="*/ 488 w 3543788"/>
              <a:gd name="connsiteY3" fmla="*/ 0 h 660400"/>
              <a:gd name="connsiteX0" fmla="*/ 3543788 w 3543788"/>
              <a:gd name="connsiteY0" fmla="*/ 660400 h 660400"/>
              <a:gd name="connsiteX1" fmla="*/ 2161192 w 3543788"/>
              <a:gd name="connsiteY1" fmla="*/ 636755 h 660400"/>
              <a:gd name="connsiteX2" fmla="*/ 203688 w 3543788"/>
              <a:gd name="connsiteY2" fmla="*/ 469900 h 660400"/>
              <a:gd name="connsiteX3" fmla="*/ 488 w 3543788"/>
              <a:gd name="connsiteY3" fmla="*/ 0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3788" h="660400">
                <a:moveTo>
                  <a:pt x="3543788" y="660400"/>
                </a:moveTo>
                <a:lnTo>
                  <a:pt x="2161192" y="636755"/>
                </a:lnTo>
                <a:cubicBezTo>
                  <a:pt x="1651076" y="609238"/>
                  <a:pt x="453739" y="556976"/>
                  <a:pt x="203688" y="469900"/>
                </a:cubicBezTo>
                <a:cubicBezTo>
                  <a:pt x="-37896" y="376474"/>
                  <a:pt x="4721" y="148167"/>
                  <a:pt x="488" y="0"/>
                </a:cubicBezTo>
              </a:path>
            </a:pathLst>
          </a:custGeom>
          <a:ln>
            <a:solidFill>
              <a:srgbClr val="FF3300"/>
            </a:solidFill>
            <a:tailEnd type="stealth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0" name="Rounded Rectangle 29"/>
          <p:cNvSpPr/>
          <p:nvPr/>
        </p:nvSpPr>
        <p:spPr bwMode="auto">
          <a:xfrm>
            <a:off x="3460750" y="3638618"/>
            <a:ext cx="897890" cy="41549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1" name="Rounded Rectangle 30"/>
          <p:cNvSpPr/>
          <p:nvPr/>
        </p:nvSpPr>
        <p:spPr bwMode="auto">
          <a:xfrm>
            <a:off x="2522676" y="5076654"/>
            <a:ext cx="897890" cy="41549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23494" y="3993560"/>
            <a:ext cx="16908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i="1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net</a:t>
            </a:r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through </a:t>
            </a:r>
            <a:r>
              <a:rPr lang="en-ZA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wrt</a:t>
            </a:r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loop 1</a:t>
            </a:r>
            <a:endParaRPr lang="en-ZA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747673" y="5390926"/>
            <a:ext cx="16908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i="1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net</a:t>
            </a:r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through </a:t>
            </a:r>
            <a:r>
              <a:rPr lang="en-ZA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wrt</a:t>
            </a:r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loop 2</a:t>
            </a:r>
            <a:endParaRPr lang="en-ZA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5" name="Curved Connector 34"/>
          <p:cNvCxnSpPr>
            <a:stCxn id="30" idx="2"/>
            <a:endCxn id="32" idx="1"/>
          </p:cNvCxnSpPr>
          <p:nvPr/>
        </p:nvCxnSpPr>
        <p:spPr bwMode="auto">
          <a:xfrm rot="16200000" flipH="1">
            <a:off x="4235290" y="3728521"/>
            <a:ext cx="262609" cy="913799"/>
          </a:xfrm>
          <a:prstGeom prst="curvedConnector2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31" idx="2"/>
            <a:endCxn id="33" idx="1"/>
          </p:cNvCxnSpPr>
          <p:nvPr/>
        </p:nvCxnSpPr>
        <p:spPr bwMode="auto">
          <a:xfrm rot="16200000" flipH="1">
            <a:off x="3748678" y="4715096"/>
            <a:ext cx="221939" cy="1776052"/>
          </a:xfrm>
          <a:prstGeom prst="curvedConnector2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438568" y="4142011"/>
            <a:ext cx="2278681" cy="400110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ZA" sz="20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000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i="1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loop</a:t>
            </a:r>
            <a:r>
              <a:rPr lang="en-ZA" sz="20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ZA" sz="2000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i="1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opposing_loop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ZA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42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3" grpId="0"/>
      <p:bldP spid="24" grpId="0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135" y="114300"/>
            <a:ext cx="5201119" cy="2738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84657" y="114300"/>
            <a:ext cx="43527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3-5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Arc 7"/>
          <p:cNvSpPr/>
          <p:nvPr/>
        </p:nvSpPr>
        <p:spPr bwMode="auto">
          <a:xfrm>
            <a:off x="4118621" y="1108076"/>
            <a:ext cx="933633" cy="905485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400" b="0" i="1" u="none" strike="noStrike" cap="none" normalizeH="0" baseline="-2500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11" name="Arc 10"/>
          <p:cNvSpPr/>
          <p:nvPr/>
        </p:nvSpPr>
        <p:spPr bwMode="auto">
          <a:xfrm>
            <a:off x="5749420" y="1108077"/>
            <a:ext cx="941595" cy="905485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00B05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0" i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400" b="0" i="1" u="none" strike="noStrike" cap="none" normalizeH="0" baseline="-2500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5859" y="2780011"/>
            <a:ext cx="4075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36 + 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+ 12(</a:t>
            </a:r>
            <a:r>
              <a:rPr lang="en-ZA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– i</a:t>
            </a:r>
            <a:r>
              <a:rPr lang="en-ZA" sz="24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) + 4</a:t>
            </a:r>
            <a:r>
              <a:rPr lang="en-ZA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0  </a:t>
            </a:r>
            <a:endParaRPr lang="en-ZA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4657" y="2801106"/>
            <a:ext cx="12538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1:</a:t>
            </a:r>
            <a:endParaRPr lang="en-ZA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55859" y="3244650"/>
            <a:ext cx="3392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(2+12+4)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12)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36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99809" y="3676425"/>
            <a:ext cx="2761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(18)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12)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36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5288201" y="3714882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17" name="Oval 16"/>
          <p:cNvSpPr/>
          <p:nvPr/>
        </p:nvSpPr>
        <p:spPr bwMode="auto">
          <a:xfrm>
            <a:off x="5324802" y="5224705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4657" y="4311108"/>
            <a:ext cx="12538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2:</a:t>
            </a:r>
            <a:endParaRPr lang="en-ZA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54516" y="4754652"/>
            <a:ext cx="3658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12)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(3+12+9)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24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98466" y="5186427"/>
            <a:ext cx="3014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12)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(24)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24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55430" y="4276136"/>
            <a:ext cx="4075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24 + 3</a:t>
            </a:r>
            <a:r>
              <a:rPr lang="en-ZA" sz="24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+ 12(</a:t>
            </a:r>
            <a:r>
              <a:rPr lang="en-ZA" sz="24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) + 9</a:t>
            </a:r>
            <a:r>
              <a:rPr lang="en-ZA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0  </a:t>
            </a:r>
            <a:endParaRPr lang="en-ZA" sz="2400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636881" y="5924352"/>
                <a:ext cx="3651320" cy="766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4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ZA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18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−12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−12</m:t>
                                </m:r>
                              </m:e>
                              <m:e>
                                <m:r>
                                  <a:rPr lang="en-ZA" sz="24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24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4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ZA" sz="240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ZA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40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ZA" sz="2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36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−24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881" y="5924352"/>
                <a:ext cx="3651320" cy="766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284657" y="6107447"/>
            <a:ext cx="12073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Matrix:</a:t>
            </a:r>
            <a:endParaRPr lang="en-ZA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910283" y="3530968"/>
                <a:ext cx="2943242" cy="603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36</m:t>
                                </m:r>
                              </m:e>
                              <m:e>
                                <m:r>
                                  <a:rPr lang="en-ZA" sz="20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−12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−24</m:t>
                                </m:r>
                              </m:e>
                              <m:e>
                                <m:r>
                                  <a:rPr lang="en-ZA" sz="20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24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ZA" sz="2000" i="1">
                          <a:solidFill>
                            <a:srgbClr val="FF0000"/>
                          </a:solidFill>
                          <a:latin typeface="Cambria Math"/>
                        </a:rPr>
                        <m:t>=576</m:t>
                      </m:r>
                    </m:oMath>
                  </m:oMathPara>
                </a14:m>
                <a:endParaRPr lang="en-ZA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283" y="3530968"/>
                <a:ext cx="2943242" cy="6034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068930" y="2867977"/>
                <a:ext cx="2709524" cy="603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ZA" sz="2000" i="1" smtClean="0">
                        <a:solidFill>
                          <a:srgbClr val="000000"/>
                        </a:solidFill>
                        <a:latin typeface="Cambria Math" pitchFamily="18" charset="0"/>
                        <a:ea typeface="Cambria Math" pitchFamily="18" charset="0"/>
                      </a:rPr>
                      <m:t>∆</m:t>
                    </m:r>
                    <m:r>
                      <a:rPr lang="en-ZA" sz="2000" b="0" i="1" smtClean="0">
                        <a:latin typeface="Cambria Math" pitchFamily="18" charset="0"/>
                        <a:ea typeface="Cambria Math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ZA" sz="2000" b="0" i="1" smtClean="0">
                            <a:latin typeface="Cambria Math"/>
                            <a:ea typeface="Cambria Math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ZA" sz="2000" i="1">
                                <a:latin typeface="Cambria Math"/>
                                <a:ea typeface="Cambria Math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ZA" sz="2000" i="1">
                                  <a:solidFill>
                                    <a:srgbClr val="FF0000"/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18</m:t>
                              </m:r>
                            </m:e>
                            <m:e>
                              <m:r>
                                <a:rPr lang="en-ZA" sz="2000" i="1">
                                  <a:solidFill>
                                    <a:srgbClr val="00B050"/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−12</m:t>
                              </m:r>
                            </m:e>
                          </m:mr>
                          <m:mr>
                            <m:e>
                              <m:r>
                                <a:rPr lang="en-ZA" sz="2000" i="1">
                                  <a:solidFill>
                                    <a:srgbClr val="FF0000"/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−12</m:t>
                              </m:r>
                            </m:e>
                            <m:e>
                              <m:r>
                                <a:rPr lang="en-ZA" sz="2000" i="1">
                                  <a:solidFill>
                                    <a:srgbClr val="00B050"/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24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ZA" sz="2000" dirty="0" smtClean="0">
                    <a:solidFill>
                      <a:srgbClr val="000000"/>
                    </a:solidFill>
                    <a:latin typeface="Cambria Math" pitchFamily="18" charset="0"/>
                    <a:ea typeface="Cambria Math" pitchFamily="18" charset="0"/>
                  </a:rPr>
                  <a:t> = 288</a:t>
                </a:r>
                <a:endParaRPr lang="en-ZA" sz="2000" dirty="0">
                  <a:solidFill>
                    <a:srgbClr val="000000"/>
                  </a:solidFill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930" y="2867977"/>
                <a:ext cx="2709524" cy="603499"/>
              </a:xfrm>
              <a:prstGeom prst="rect">
                <a:avLst/>
              </a:prstGeom>
              <a:blipFill rotWithShape="1">
                <a:blip r:embed="rId5"/>
                <a:stretch>
                  <a:fillRect r="-1126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5908135" y="4151148"/>
                <a:ext cx="2663871" cy="603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000" i="1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ZA" sz="2000" i="1" smtClean="0">
                                    <a:solidFill>
                                      <a:srgbClr val="FF0000"/>
                                    </a:solidFill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18</m:t>
                                </m:r>
                              </m:e>
                              <m:e>
                                <m:r>
                                  <a:rPr lang="en-ZA" sz="200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36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000" i="1" smtClean="0">
                                    <a:solidFill>
                                      <a:srgbClr val="FF0000"/>
                                    </a:solidFill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−12</m:t>
                                </m:r>
                              </m:e>
                              <m:e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 pitchFamily="18" charset="0"/>
                                  </a:rPr>
                                  <m:t>−2</m:t>
                                </m:r>
                                <m:r>
                                  <a:rPr lang="en-ZA" sz="2000" i="1" smtClean="0">
                                    <a:solidFill>
                                      <a:srgbClr val="000000"/>
                                    </a:solidFill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ZA" sz="2000" i="1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0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ZA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135" y="4151148"/>
                <a:ext cx="2663871" cy="60349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5967821" y="5001380"/>
                <a:ext cx="2493311" cy="676852"/>
              </a:xfrm>
              <a:prstGeom prst="rect">
                <a:avLst/>
              </a:prstGeom>
              <a:noFill/>
              <a:ln>
                <a:solidFill>
                  <a:srgbClr val="0033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𝑖</m:t>
                      </m:r>
                      <m:r>
                        <a:rPr lang="en-ZA" sz="2000" b="0" i="1" baseline="-2500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  <m:r>
                            <a:rPr lang="en-ZA" sz="2000" b="0" i="1" baseline="-2500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330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576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288</m:t>
                          </m:r>
                        </m:den>
                      </m:f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2 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821" y="5001380"/>
                <a:ext cx="2493311" cy="67685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rgbClr val="0033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967821" y="5743263"/>
                <a:ext cx="2493311" cy="676852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𝑖</m:t>
                      </m:r>
                      <m:r>
                        <a:rPr lang="en-ZA" sz="2000" b="0" i="1" baseline="-25000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  <m:r>
                            <a:rPr lang="en-ZA" sz="2000" b="0" i="1" baseline="-25000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330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0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288</m:t>
                          </m:r>
                        </m:den>
                      </m:f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0 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821" y="5743263"/>
                <a:ext cx="2493311" cy="67685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 bwMode="auto">
          <a:xfrm>
            <a:off x="5821821" y="2865672"/>
            <a:ext cx="0" cy="3837859"/>
          </a:xfrm>
          <a:prstGeom prst="line">
            <a:avLst/>
          </a:prstGeom>
          <a:solidFill>
            <a:schemeClr val="accent1"/>
          </a:solidFill>
          <a:ln w="381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499269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/>
      <p:bldP spid="13" grpId="0"/>
      <p:bldP spid="14" grpId="0"/>
      <p:bldP spid="15" grpId="0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5" grpId="0"/>
      <p:bldP spid="29" grpId="0"/>
      <p:bldP spid="32" grpId="0"/>
      <p:bldP spid="33" grpId="0" animBg="1"/>
      <p:bldP spid="3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84657" y="114300"/>
            <a:ext cx="43527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3-6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37" y="637520"/>
            <a:ext cx="4512823" cy="2769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rc 4"/>
          <p:cNvSpPr/>
          <p:nvPr/>
        </p:nvSpPr>
        <p:spPr bwMode="auto">
          <a:xfrm>
            <a:off x="1233755" y="2418744"/>
            <a:ext cx="710956" cy="689521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000" b="0" i="1" u="none" strike="noStrike" cap="none" normalizeH="0" baseline="-2500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6" name="Arc 5"/>
          <p:cNvSpPr/>
          <p:nvPr/>
        </p:nvSpPr>
        <p:spPr bwMode="auto">
          <a:xfrm>
            <a:off x="2740087" y="2411071"/>
            <a:ext cx="732975" cy="704866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00B05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b="0" i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000" b="0" i="1" u="none" strike="noStrike" cap="none" normalizeH="0" baseline="-2500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7" name="Arc 6"/>
          <p:cNvSpPr/>
          <p:nvPr/>
        </p:nvSpPr>
        <p:spPr bwMode="auto">
          <a:xfrm>
            <a:off x="1489214" y="1252258"/>
            <a:ext cx="1757405" cy="576543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0066CC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500" b="0" i="0" u="none" strike="noStrike" cap="none" normalizeH="0" baseline="0" dirty="0" smtClean="0">
              <a:ln>
                <a:noFill/>
              </a:ln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b="0" i="1" u="none" strike="noStrike" cap="none" normalizeH="0" baseline="0" dirty="0" smtClean="0">
                <a:ln>
                  <a:noFill/>
                </a:ln>
                <a:effectLst/>
                <a:latin typeface="Verdana" pitchFamily="34" charset="0"/>
              </a:rPr>
              <a:t>i</a:t>
            </a:r>
            <a:r>
              <a:rPr kumimoji="0" lang="en-ZA" sz="2000" b="0" i="1" u="none" strike="noStrike" cap="none" normalizeH="0" baseline="-25000" dirty="0" smtClean="0">
                <a:ln>
                  <a:noFill/>
                </a:ln>
                <a:effectLst/>
                <a:latin typeface="Verdana" pitchFamily="34" charset="0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11391" y="114300"/>
            <a:ext cx="2730321" cy="92333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Note:</a:t>
            </a:r>
          </a:p>
          <a:p>
            <a:pPr marL="342900" indent="-342900">
              <a:buFont typeface="+mj-lt"/>
              <a:buAutoNum type="arabicPeriod"/>
            </a:pPr>
            <a:r>
              <a:rPr lang="en-ZA" i="1" dirty="0" smtClean="0">
                <a:solidFill>
                  <a:srgbClr val="000000"/>
                </a:solidFill>
              </a:rPr>
              <a:t>I</a:t>
            </a:r>
            <a:r>
              <a:rPr lang="en-ZA" i="1" baseline="-25000" dirty="0" smtClean="0">
                <a:solidFill>
                  <a:srgbClr val="000000"/>
                </a:solidFill>
              </a:rPr>
              <a:t>o</a:t>
            </a:r>
            <a:r>
              <a:rPr lang="en-ZA" dirty="0" smtClean="0">
                <a:solidFill>
                  <a:srgbClr val="000000"/>
                </a:solidFill>
              </a:rPr>
              <a:t> = </a:t>
            </a:r>
            <a:r>
              <a:rPr lang="en-ZA" i="1" dirty="0" smtClean="0">
                <a:solidFill>
                  <a:srgbClr val="000000"/>
                </a:solidFill>
              </a:rPr>
              <a:t>i</a:t>
            </a:r>
            <a:r>
              <a:rPr lang="en-ZA" i="1" baseline="-25000" dirty="0" smtClean="0">
                <a:solidFill>
                  <a:srgbClr val="000000"/>
                </a:solidFill>
              </a:rPr>
              <a:t>3</a:t>
            </a:r>
            <a:endParaRPr lang="en-ZA" i="1" dirty="0" smtClean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ZA" i="1" dirty="0" smtClean="0">
                <a:solidFill>
                  <a:srgbClr val="000000"/>
                </a:solidFill>
              </a:rPr>
              <a:t>CCVS: 10i</a:t>
            </a:r>
            <a:r>
              <a:rPr lang="en-ZA" i="1" baseline="-25000" dirty="0" smtClean="0">
                <a:solidFill>
                  <a:srgbClr val="000000"/>
                </a:solidFill>
              </a:rPr>
              <a:t>o</a:t>
            </a:r>
            <a:r>
              <a:rPr lang="en-ZA" i="1" dirty="0" smtClean="0">
                <a:solidFill>
                  <a:srgbClr val="000000"/>
                </a:solidFill>
              </a:rPr>
              <a:t> = 10i</a:t>
            </a:r>
            <a:r>
              <a:rPr lang="en-ZA" i="1" baseline="-25000" dirty="0" smtClean="0">
                <a:solidFill>
                  <a:srgbClr val="000000"/>
                </a:solidFill>
              </a:rPr>
              <a:t>3</a:t>
            </a:r>
            <a:endParaRPr lang="en-ZA" i="1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89233" y="3539865"/>
            <a:ext cx="4075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20 + 4(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+ 2(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= 0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8031" y="3560960"/>
            <a:ext cx="12538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1:</a:t>
            </a:r>
            <a:endParaRPr lang="en-ZA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1805" y="3950014"/>
            <a:ext cx="3858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(4+2)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20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40575" y="4378816"/>
            <a:ext cx="3358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20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5499286" y="4417273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859" y="4954395"/>
            <a:ext cx="4319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+ 2(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+ 8(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= 0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84657" y="4975490"/>
            <a:ext cx="12538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2:</a:t>
            </a:r>
            <a:endParaRPr lang="en-ZA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02690" y="5375600"/>
            <a:ext cx="3858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(-2)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(10)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18)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0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79467" y="5901660"/>
            <a:ext cx="4319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+ 8(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+ 4(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= 0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8265" y="5922755"/>
            <a:ext cx="12538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3:</a:t>
            </a:r>
            <a:endParaRPr lang="en-ZA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26298" y="6322865"/>
            <a:ext cx="3858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(-4)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(-8)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(18)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0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5507869" y="5413878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21" name="Oval 20"/>
          <p:cNvSpPr/>
          <p:nvPr/>
        </p:nvSpPr>
        <p:spPr bwMode="auto">
          <a:xfrm>
            <a:off x="5482110" y="6361322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212649" y="1175108"/>
                <a:ext cx="4655826" cy="1304909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solidFill>
                                      <a:srgbClr val="FF33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−4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FF330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−18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FF33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18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ZA" sz="28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i="1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ZA" sz="2800" i="1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ZA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8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649" y="1175108"/>
                <a:ext cx="4655826" cy="130490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222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4" grpId="0" animBg="1"/>
      <p:bldP spid="9" grpId="0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 animBg="1"/>
      <p:bldP spid="21" grpId="0" animBg="1"/>
      <p:bldP spid="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79" y="547367"/>
            <a:ext cx="4512823" cy="2769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7" y="114300"/>
            <a:ext cx="48797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3-6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cont. …</a:t>
            </a:r>
            <a:endParaRPr lang="en-ZA" sz="28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12649" y="888074"/>
                <a:ext cx="4655826" cy="1304909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solidFill>
                                      <a:srgbClr val="FF33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−4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FF330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−18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FF33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18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ZA" sz="28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i="1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ZA" sz="2800" i="1">
                                        <a:solidFill>
                                          <a:srgbClr val="00B05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ZA" sz="280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800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ZA" sz="2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ZA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8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649" y="888074"/>
                <a:ext cx="4655826" cy="130490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2889" y="3415406"/>
                <a:ext cx="2759923" cy="9411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i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n-ZA" sz="2000" b="0" i="0" smtClean="0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400" i="0">
                                    <a:solidFill>
                                      <a:srgbClr val="FF33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ZA" sz="2400" i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ZA" sz="2400" i="0">
                                    <a:latin typeface="Cambria Math"/>
                                  </a:rPr>
                                  <m:t>−4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i="0">
                                    <a:solidFill>
                                      <a:srgbClr val="FF330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ZA" sz="2400" i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ZA" sz="2400" i="0">
                                    <a:latin typeface="Cambria Math"/>
                                  </a:rPr>
                                  <m:t>−18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400" i="0">
                                    <a:solidFill>
                                      <a:srgbClr val="FF33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ZA" sz="2400" i="0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lang="en-ZA" sz="2400" i="0">
                                    <a:latin typeface="Cambria Math"/>
                                  </a:rPr>
                                  <m:t>18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89" y="3415406"/>
                <a:ext cx="2759923" cy="94115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 bwMode="auto">
          <a:xfrm>
            <a:off x="707556" y="4370252"/>
            <a:ext cx="213001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59870" y="4439124"/>
                <a:ext cx="2276585" cy="708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ZA" sz="2400" i="1" smtClean="0">
                              <a:latin typeface="Cambria Math"/>
                              <a:ea typeface="Cambria Math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ZA" sz="2400" b="0" i="0">
                                <a:solidFill>
                                  <a:srgbClr val="FF3300"/>
                                </a:solidFill>
                                <a:latin typeface="Cambria Math"/>
                              </a:rPr>
                              <m:t>6</m:t>
                            </m:r>
                          </m:e>
                          <m:e>
                            <m:r>
                              <a:rPr lang="en-ZA" sz="2400" b="0" i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−2</m:t>
                            </m:r>
                          </m:e>
                          <m:e>
                            <m:r>
                              <a:rPr lang="en-ZA" sz="2400" b="0" i="0" smtClean="0">
                                <a:latin typeface="Cambria Math"/>
                                <a:ea typeface="Cambria Math"/>
                              </a:rPr>
                              <m:t>−4</m:t>
                            </m:r>
                          </m:e>
                        </m:mr>
                        <m:mr>
                          <m:e>
                            <m:r>
                              <a:rPr lang="en-ZA" sz="2400" b="0" i="0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−2</m:t>
                            </m:r>
                          </m:e>
                          <m:e>
                            <m:r>
                              <a:rPr lang="en-ZA" sz="2400" b="0" i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10</m:t>
                            </m:r>
                          </m:e>
                          <m:e>
                            <m:r>
                              <a:rPr lang="en-ZA" sz="2400" b="0" i="0" smtClean="0">
                                <a:latin typeface="Cambria Math"/>
                                <a:ea typeface="Cambria Math"/>
                              </a:rPr>
                              <m:t>−18</m:t>
                            </m:r>
                          </m:e>
                        </m:mr>
                      </m:m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70" y="4439124"/>
                <a:ext cx="2276585" cy="70814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1014897" y="3495057"/>
            <a:ext cx="2207860" cy="1901349"/>
            <a:chOff x="3905316" y="2171700"/>
            <a:chExt cx="2294216" cy="2086015"/>
          </a:xfrm>
        </p:grpSpPr>
        <p:cxnSp>
          <p:nvCxnSpPr>
            <p:cNvPr id="10" name="Straight Arrow Connector 9"/>
            <p:cNvCxnSpPr/>
            <p:nvPr/>
          </p:nvCxnSpPr>
          <p:spPr bwMode="auto">
            <a:xfrm>
              <a:off x="3911600" y="2171700"/>
              <a:ext cx="1980000" cy="1116000"/>
            </a:xfrm>
            <a:prstGeom prst="straightConnector1">
              <a:avLst/>
            </a:prstGeom>
            <a:ln>
              <a:solidFill>
                <a:srgbClr val="00B05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 bwMode="auto">
            <a:xfrm>
              <a:off x="3916156" y="2563617"/>
              <a:ext cx="1980000" cy="1116000"/>
            </a:xfrm>
            <a:prstGeom prst="straightConnector1">
              <a:avLst/>
            </a:prstGeom>
            <a:ln>
              <a:solidFill>
                <a:srgbClr val="00B05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 bwMode="auto">
            <a:xfrm>
              <a:off x="3905316" y="2918949"/>
              <a:ext cx="1980000" cy="1116000"/>
            </a:xfrm>
            <a:prstGeom prst="straightConnector1">
              <a:avLst/>
            </a:prstGeom>
            <a:ln>
              <a:solidFill>
                <a:srgbClr val="00B05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5822332" y="3083517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+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825712" y="3469551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+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819956" y="3888383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+</a:t>
              </a:r>
              <a:endParaRPr lang="en-ZA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82707" y="3438499"/>
            <a:ext cx="2471257" cy="2111485"/>
            <a:chOff x="3413888" y="2184992"/>
            <a:chExt cx="2281169" cy="2034623"/>
          </a:xfrm>
        </p:grpSpPr>
        <p:cxnSp>
          <p:nvCxnSpPr>
            <p:cNvPr id="17" name="Straight Arrow Connector 16"/>
            <p:cNvCxnSpPr/>
            <p:nvPr/>
          </p:nvCxnSpPr>
          <p:spPr bwMode="auto">
            <a:xfrm flipH="1">
              <a:off x="3702750" y="2184992"/>
              <a:ext cx="1992307" cy="922436"/>
            </a:xfrm>
            <a:prstGeom prst="straightConnector1">
              <a:avLst/>
            </a:prstGeom>
            <a:ln>
              <a:solidFill>
                <a:srgbClr val="FF330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 bwMode="auto">
            <a:xfrm flipH="1">
              <a:off x="3763756" y="2511748"/>
              <a:ext cx="1907760" cy="968334"/>
            </a:xfrm>
            <a:prstGeom prst="straightConnector1">
              <a:avLst/>
            </a:prstGeom>
            <a:ln>
              <a:solidFill>
                <a:srgbClr val="FF330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 bwMode="auto">
            <a:xfrm flipH="1">
              <a:off x="3763756" y="2841688"/>
              <a:ext cx="1907761" cy="1028099"/>
            </a:xfrm>
            <a:prstGeom prst="straightConnector1">
              <a:avLst/>
            </a:prstGeom>
            <a:ln>
              <a:solidFill>
                <a:srgbClr val="FF3300"/>
              </a:solidFill>
              <a:prstDash val="sysDot"/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3413888" y="3032717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-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429968" y="3444151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-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436912" y="3850283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</a:rPr>
                <a:t>-</a:t>
              </a:r>
              <a:endParaRPr lang="en-ZA" dirty="0">
                <a:solidFill>
                  <a:srgbClr val="000000"/>
                </a:solidFill>
              </a:endParaRPr>
            </a:p>
          </p:txBody>
        </p:sp>
      </p:grpSp>
      <p:sp>
        <p:nvSpPr>
          <p:cNvPr id="28" name="Arc 27"/>
          <p:cNvSpPr/>
          <p:nvPr/>
        </p:nvSpPr>
        <p:spPr bwMode="auto">
          <a:xfrm>
            <a:off x="1169360" y="2328591"/>
            <a:ext cx="710956" cy="689521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000" b="0" i="1" u="none" strike="noStrike" cap="none" normalizeH="0" baseline="-2500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29" name="Arc 28"/>
          <p:cNvSpPr/>
          <p:nvPr/>
        </p:nvSpPr>
        <p:spPr bwMode="auto">
          <a:xfrm>
            <a:off x="2675692" y="2320918"/>
            <a:ext cx="732975" cy="704866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00B05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b="0" i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000" b="0" i="1" u="none" strike="noStrike" cap="none" normalizeH="0" baseline="-2500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30" name="Arc 29"/>
          <p:cNvSpPr/>
          <p:nvPr/>
        </p:nvSpPr>
        <p:spPr bwMode="auto">
          <a:xfrm>
            <a:off x="1424819" y="1162105"/>
            <a:ext cx="1757405" cy="576543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0066CC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500" b="0" i="0" u="none" strike="noStrike" cap="none" normalizeH="0" baseline="0" dirty="0" smtClean="0">
              <a:ln>
                <a:noFill/>
              </a:ln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b="0" i="1" u="none" strike="noStrike" cap="none" normalizeH="0" baseline="0" dirty="0" smtClean="0">
                <a:ln>
                  <a:noFill/>
                </a:ln>
                <a:effectLst/>
                <a:latin typeface="Verdana" pitchFamily="34" charset="0"/>
              </a:rPr>
              <a:t>i</a:t>
            </a:r>
            <a:r>
              <a:rPr kumimoji="0" lang="en-ZA" sz="2000" b="0" i="1" u="none" strike="noStrike" cap="none" normalizeH="0" baseline="-25000" dirty="0" smtClean="0">
                <a:ln>
                  <a:noFill/>
                </a:ln>
                <a:effectLst/>
                <a:latin typeface="Verdana" pitchFamily="34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193520" y="3331577"/>
                <a:ext cx="6075381" cy="4401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n-ZA" sz="20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6</m:t>
                          </m:r>
                          <m: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10</m:t>
                          </m:r>
                          <m: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18</m:t>
                          </m:r>
                        </m:e>
                      </m:d>
                      <m:r>
                        <a:rPr lang="en-ZA" sz="2000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−2</m:t>
                          </m:r>
                          <m: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−8</m:t>
                          </m:r>
                          <m: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−4</m:t>
                          </m:r>
                        </m:e>
                      </m:d>
                      <m:r>
                        <a:rPr lang="en-ZA" sz="2000" i="1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−4</m:t>
                          </m:r>
                          <m: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∙−</m:t>
                          </m:r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−18</m:t>
                          </m:r>
                        </m:e>
                      </m:d>
                    </m:oMath>
                  </m:oMathPara>
                </a14:m>
                <a:endParaRPr lang="en-ZA" sz="20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520" y="3331577"/>
                <a:ext cx="6075381" cy="44012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587207" y="3689434"/>
                <a:ext cx="5884281" cy="440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−4</m:t>
                          </m:r>
                          <m:r>
                            <a:rPr lang="en-ZA" sz="20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10</m:t>
                          </m:r>
                          <m:r>
                            <a:rPr lang="en-ZA" sz="20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−4</m:t>
                          </m:r>
                        </m:e>
                      </m:d>
                      <m:r>
                        <a:rPr lang="en-ZA" sz="20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ZA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−18</m:t>
                          </m:r>
                          <m:r>
                            <a:rPr lang="en-ZA" sz="20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−8</m:t>
                          </m:r>
                          <m:r>
                            <a:rPr lang="en-ZA" sz="20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6</m:t>
                          </m:r>
                        </m:e>
                      </m:d>
                      <m:r>
                        <a:rPr lang="en-ZA" sz="20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ZA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18</m:t>
                          </m:r>
                          <m:r>
                            <a:rPr lang="en-ZA" sz="20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∙−</m:t>
                          </m:r>
                          <m: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a:rPr lang="en-ZA" sz="20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en-ZA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207" y="3689434"/>
                <a:ext cx="5884281" cy="44012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587207" y="4081248"/>
                <a:ext cx="4495205" cy="4401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r>
                        <a:rPr lang="en-ZA" sz="20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1080−64−144</m:t>
                      </m:r>
                      <m:r>
                        <a:rPr lang="en-ZA" sz="2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−160−864−72</m:t>
                      </m:r>
                    </m:oMath>
                  </m:oMathPara>
                </a14:m>
                <a:endParaRPr lang="en-ZA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207" y="4081248"/>
                <a:ext cx="4495205" cy="440121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601343" y="4470710"/>
                <a:ext cx="1190454" cy="4401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000" b="1" i="1" smtClean="0">
                          <a:latin typeface="Cambria Math"/>
                        </a:rPr>
                        <m:t>=</m:t>
                      </m:r>
                      <m:r>
                        <a:rPr lang="en-ZA" sz="2000" b="1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1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𝟐𝟐𝟒</m:t>
                      </m:r>
                    </m:oMath>
                  </m:oMathPara>
                </a14:m>
                <a:endParaRPr lang="en-ZA" sz="2000" b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343" y="4470710"/>
                <a:ext cx="1190454" cy="44012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001267" y="6036213"/>
                <a:ext cx="4039311" cy="783804"/>
              </a:xfrm>
              <a:prstGeom prst="rect">
                <a:avLst/>
              </a:prstGeom>
              <a:noFill/>
              <a:ln>
                <a:solidFill>
                  <a:srgbClr val="0033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66CC"/>
                          </a:solidFill>
                          <a:latin typeface="Cambria Math"/>
                        </a:rPr>
                        <m:t>𝐼</m:t>
                      </m:r>
                      <m:r>
                        <a:rPr lang="en-ZA" sz="2400" b="0" i="1" baseline="-25000" smtClean="0">
                          <a:solidFill>
                            <a:srgbClr val="0066CC"/>
                          </a:solidFill>
                          <a:latin typeface="Cambria Math"/>
                        </a:rPr>
                        <m:t>𝑜</m:t>
                      </m:r>
                      <m:r>
                        <a:rPr lang="en-ZA" sz="2400" b="0" i="1" smtClean="0">
                          <a:solidFill>
                            <a:srgbClr val="0066CC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66CC"/>
                          </a:solidFill>
                          <a:latin typeface="Cambria Math"/>
                        </a:rPr>
                        <m:t>𝑖</m:t>
                      </m:r>
                      <m:r>
                        <a:rPr lang="en-ZA" sz="2400" b="0" i="1" baseline="-25000" smtClean="0">
                          <a:solidFill>
                            <a:srgbClr val="0066CC"/>
                          </a:solidFill>
                          <a:latin typeface="Cambria Math"/>
                        </a:rPr>
                        <m:t>3</m:t>
                      </m:r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66CC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  <m:r>
                            <a:rPr lang="en-ZA" sz="2400" b="0" i="1" baseline="-25000" smtClean="0">
                              <a:solidFill>
                                <a:srgbClr val="0066CC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3300"/>
                              </a:solidFill>
                              <a:latin typeface="Cambria Math"/>
                              <a:ea typeface="Cambria Math"/>
                            </a:rPr>
                            <m:t>∆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1120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−224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−5 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267" y="6036213"/>
                <a:ext cx="4039311" cy="78380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>
                <a:solidFill>
                  <a:srgbClr val="0033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59"/>
          <p:cNvGrpSpPr/>
          <p:nvPr/>
        </p:nvGrpSpPr>
        <p:grpSpPr>
          <a:xfrm>
            <a:off x="5389305" y="4727621"/>
            <a:ext cx="3029868" cy="2134578"/>
            <a:chOff x="5234757" y="4740500"/>
            <a:chExt cx="3029868" cy="21345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5234757" y="4740500"/>
                  <a:ext cx="2677271" cy="9640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000" i="0" smtClean="0">
                            <a:solidFill>
                              <a:srgbClr val="0066CC"/>
                            </a:solidFill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en-ZA" sz="2000" b="0" i="0" baseline="-25000" smtClean="0">
                            <a:solidFill>
                              <a:srgbClr val="0066CC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ZA" sz="2000" b="0" i="0" smtClean="0">
                            <a:latin typeface="Cambria Math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ZA" sz="2400" i="1">
                                    <a:latin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ZA" sz="2400" i="0">
                                      <a:solidFill>
                                        <a:srgbClr val="FF3300"/>
                                      </a:solidFill>
                                      <a:latin typeface="Cambria Math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en-ZA" sz="2400" i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−2</m:t>
                                  </m:r>
                                </m:e>
                                <m:e>
                                  <m:r>
                                    <a:rPr lang="en-ZA" sz="2400" b="0" i="0" smtClean="0">
                                      <a:solidFill>
                                        <a:srgbClr val="003300"/>
                                      </a:solidFill>
                                      <a:latin typeface="Cambria Math"/>
                                    </a:rPr>
                                    <m:t>20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ZA" sz="2400" i="0">
                                      <a:solidFill>
                                        <a:srgbClr val="FF3300"/>
                                      </a:solidFill>
                                      <a:latin typeface="Cambria Math"/>
                                    </a:rPr>
                                    <m:t>−2</m:t>
                                  </m:r>
                                </m:e>
                                <m:e>
                                  <m:r>
                                    <a:rPr lang="en-ZA" sz="2400" i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10</m:t>
                                  </m:r>
                                </m:e>
                                <m:e>
                                  <m:r>
                                    <a:rPr lang="en-ZA" sz="2400" b="0" i="0" smtClean="0">
                                      <a:solidFill>
                                        <a:srgbClr val="00330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ZA" sz="2400" i="0">
                                      <a:solidFill>
                                        <a:srgbClr val="FF3300"/>
                                      </a:solidFill>
                                      <a:latin typeface="Cambria Math"/>
                                    </a:rPr>
                                    <m:t>−4</m:t>
                                  </m:r>
                                </m:e>
                                <m:e>
                                  <m:r>
                                    <a:rPr lang="en-ZA" sz="2400" i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−8</m:t>
                                  </m:r>
                                </m:e>
                                <m:e>
                                  <m:r>
                                    <a:rPr lang="en-ZA" sz="2400" b="0" i="0" smtClean="0">
                                      <a:solidFill>
                                        <a:srgbClr val="00330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ZA" sz="2400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4757" y="4740500"/>
                  <a:ext cx="2677271" cy="964046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Connector 36"/>
            <p:cNvCxnSpPr/>
            <p:nvPr/>
          </p:nvCxnSpPr>
          <p:spPr bwMode="auto">
            <a:xfrm>
              <a:off x="5749424" y="5695346"/>
              <a:ext cx="21300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5787706" y="5733738"/>
                  <a:ext cx="2106666" cy="7081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ZA" sz="2400" i="1" smtClean="0">
                                <a:latin typeface="Cambria Math"/>
                                <a:ea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ZA" sz="2400" b="0" i="0">
                                  <a:solidFill>
                                    <a:srgbClr val="FF3300"/>
                                  </a:solidFill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ZA" sz="2400" b="0" i="0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ZA" sz="2400" b="0" i="0" smtClean="0">
                                  <a:solidFill>
                                    <a:srgbClr val="003300"/>
                                  </a:solidFill>
                                  <a:latin typeface="Cambria Math"/>
                                  <a:ea typeface="Cambria Math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ZA" sz="2400" b="0" i="0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ZA" sz="2400" b="0" i="0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ZA" sz="2400" b="0" i="0" smtClean="0">
                                  <a:solidFill>
                                    <a:srgbClr val="003300"/>
                                  </a:solidFill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ZA" sz="2400" dirty="0"/>
                </a:p>
              </p:txBody>
            </p:sp>
          </mc:Choice>
          <mc:Fallback xmlns=""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7706" y="5733738"/>
                  <a:ext cx="2106666" cy="708143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9" name="Group 58"/>
            <p:cNvGrpSpPr/>
            <p:nvPr/>
          </p:nvGrpSpPr>
          <p:grpSpPr>
            <a:xfrm>
              <a:off x="6056765" y="4820151"/>
              <a:ext cx="2207860" cy="1901349"/>
              <a:chOff x="6056765" y="4820151"/>
              <a:chExt cx="2207860" cy="1901349"/>
            </a:xfrm>
          </p:grpSpPr>
          <p:cxnSp>
            <p:nvCxnSpPr>
              <p:cNvPr id="40" name="Straight Arrow Connector 39"/>
              <p:cNvCxnSpPr/>
              <p:nvPr/>
            </p:nvCxnSpPr>
            <p:spPr bwMode="auto">
              <a:xfrm>
                <a:off x="6062812" y="4820151"/>
                <a:ext cx="1905471" cy="1017205"/>
              </a:xfrm>
              <a:prstGeom prst="straightConnector1">
                <a:avLst/>
              </a:prstGeom>
              <a:ln w="9525">
                <a:solidFill>
                  <a:srgbClr val="00B050"/>
                </a:solidFill>
                <a:prstDash val="sysDot"/>
                <a:headEnd type="none" w="med" len="med"/>
                <a:tailEnd type="arrow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 bwMode="auto">
              <a:xfrm>
                <a:off x="6067197" y="5125857"/>
                <a:ext cx="1905471" cy="1017205"/>
              </a:xfrm>
              <a:prstGeom prst="straightConnector1">
                <a:avLst/>
              </a:prstGeom>
              <a:ln w="9525">
                <a:solidFill>
                  <a:srgbClr val="00B050"/>
                </a:solidFill>
                <a:prstDash val="sysDot"/>
                <a:headEnd type="none" w="med" len="med"/>
                <a:tailEnd type="arrow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/>
              <p:nvPr/>
            </p:nvCxnSpPr>
            <p:spPr bwMode="auto">
              <a:xfrm>
                <a:off x="6056765" y="5462612"/>
                <a:ext cx="1905471" cy="1017205"/>
              </a:xfrm>
              <a:prstGeom prst="straightConnector1">
                <a:avLst/>
              </a:prstGeom>
              <a:ln w="9525">
                <a:solidFill>
                  <a:srgbClr val="00B050"/>
                </a:solidFill>
                <a:prstDash val="sysDot"/>
                <a:headEnd type="none" w="med" len="med"/>
                <a:tailEnd type="arrow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43" name="Rectangle 42"/>
              <p:cNvSpPr/>
              <p:nvPr/>
            </p:nvSpPr>
            <p:spPr>
              <a:xfrm>
                <a:off x="7901623" y="5651249"/>
                <a:ext cx="359749" cy="3366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dirty="0" smtClean="0">
                    <a:solidFill>
                      <a:srgbClr val="000000"/>
                    </a:solidFill>
                  </a:rPr>
                  <a:t>+</a:t>
                </a:r>
                <a:endParaRPr lang="en-ZA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7904876" y="6003109"/>
                <a:ext cx="359749" cy="3366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dirty="0" smtClean="0">
                    <a:solidFill>
                      <a:srgbClr val="000000"/>
                    </a:solidFill>
                  </a:rPr>
                  <a:t>+</a:t>
                </a:r>
                <a:endParaRPr lang="en-ZA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7899337" y="6384863"/>
                <a:ext cx="359749" cy="3366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dirty="0" smtClean="0">
                    <a:solidFill>
                      <a:srgbClr val="000000"/>
                    </a:solidFill>
                  </a:rPr>
                  <a:t>+</a:t>
                </a:r>
                <a:endParaRPr lang="en-ZA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5324575" y="4763593"/>
              <a:ext cx="2471258" cy="2111485"/>
              <a:chOff x="5324575" y="4763593"/>
              <a:chExt cx="2471258" cy="2111485"/>
            </a:xfrm>
          </p:grpSpPr>
          <p:cxnSp>
            <p:nvCxnSpPr>
              <p:cNvPr id="47" name="Straight Arrow Connector 46"/>
              <p:cNvCxnSpPr/>
              <p:nvPr/>
            </p:nvCxnSpPr>
            <p:spPr bwMode="auto">
              <a:xfrm flipH="1">
                <a:off x="5749424" y="4763593"/>
                <a:ext cx="2046409" cy="1071392"/>
              </a:xfrm>
              <a:prstGeom prst="straightConnector1">
                <a:avLst/>
              </a:prstGeom>
              <a:ln w="9525">
                <a:solidFill>
                  <a:srgbClr val="FF3300"/>
                </a:solidFill>
                <a:prstDash val="sysDot"/>
                <a:headEnd type="none" w="med" len="med"/>
                <a:tailEnd type="arrow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/>
              <p:nvPr/>
            </p:nvCxnSpPr>
            <p:spPr bwMode="auto">
              <a:xfrm flipH="1">
                <a:off x="5856286" y="5072648"/>
                <a:ext cx="1939547" cy="1098779"/>
              </a:xfrm>
              <a:prstGeom prst="straightConnector1">
                <a:avLst/>
              </a:prstGeom>
              <a:ln w="9525">
                <a:solidFill>
                  <a:srgbClr val="FF3300"/>
                </a:solidFill>
                <a:prstDash val="sysDot"/>
                <a:headEnd type="none" w="med" len="med"/>
                <a:tailEnd type="arrow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/>
              <p:nvPr/>
            </p:nvCxnSpPr>
            <p:spPr bwMode="auto">
              <a:xfrm flipH="1">
                <a:off x="5856287" y="5371221"/>
                <a:ext cx="1939546" cy="1140814"/>
              </a:xfrm>
              <a:prstGeom prst="straightConnector1">
                <a:avLst/>
              </a:prstGeom>
              <a:ln w="9525">
                <a:solidFill>
                  <a:srgbClr val="FF3300"/>
                </a:solidFill>
                <a:prstDash val="sysDot"/>
                <a:headEnd type="none" w="med" len="med"/>
                <a:tailEnd type="arrow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50" name="Rectangle 49"/>
              <p:cNvSpPr/>
              <p:nvPr/>
            </p:nvSpPr>
            <p:spPr>
              <a:xfrm>
                <a:off x="5324575" y="5643343"/>
                <a:ext cx="312933" cy="3832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dirty="0" smtClean="0">
                    <a:solidFill>
                      <a:srgbClr val="000000"/>
                    </a:solidFill>
                  </a:rPr>
                  <a:t>-</a:t>
                </a:r>
                <a:endParaRPr lang="en-ZA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5341995" y="6070319"/>
                <a:ext cx="312933" cy="3832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dirty="0" smtClean="0">
                    <a:solidFill>
                      <a:srgbClr val="000000"/>
                    </a:solidFill>
                  </a:rPr>
                  <a:t>-</a:t>
                </a:r>
                <a:endParaRPr lang="en-ZA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5349518" y="6491794"/>
                <a:ext cx="312933" cy="3832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dirty="0" smtClean="0">
                    <a:solidFill>
                      <a:srgbClr val="000000"/>
                    </a:solidFill>
                  </a:rPr>
                  <a:t>-</a:t>
                </a:r>
                <a:endParaRPr lang="en-ZA" dirty="0">
                  <a:solidFill>
                    <a:srgbClr val="000000"/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989497" y="5370725"/>
                <a:ext cx="43240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n-ZA" sz="2000" b="0" i="1" baseline="-25000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3</m:t>
                      </m:r>
                      <m:r>
                        <a:rPr lang="en-ZA" sz="20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r>
                        <a:rPr lang="en-ZA" sz="20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0+320+0</m:t>
                      </m:r>
                      <m:r>
                        <a:rPr lang="en-ZA" sz="2000" b="0" i="1" smtClean="0">
                          <a:solidFill>
                            <a:srgbClr val="FF3300"/>
                          </a:solidFill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en-ZA" sz="2000" b="0" i="1" smtClean="0">
                              <a:solidFill>
                                <a:srgbClr val="FF33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000" b="0" i="1" smtClean="0">
                              <a:solidFill>
                                <a:srgbClr val="FF3300"/>
                              </a:solidFill>
                              <a:latin typeface="Cambria Math"/>
                            </a:rPr>
                            <m:t>−800</m:t>
                          </m:r>
                        </m:e>
                      </m:d>
                      <m:r>
                        <a:rPr lang="en-ZA" sz="2000" b="0" i="1" smtClean="0">
                          <a:solidFill>
                            <a:srgbClr val="FF3300"/>
                          </a:solidFill>
                          <a:latin typeface="Cambria Math"/>
                        </a:rPr>
                        <m:t>−0−0</m:t>
                      </m:r>
                    </m:oMath>
                  </m:oMathPara>
                </a14:m>
                <a:endParaRPr lang="en-ZA" sz="2000" dirty="0">
                  <a:solidFill>
                    <a:srgbClr val="FF3300"/>
                  </a:solidFill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497" y="5370725"/>
                <a:ext cx="4324069" cy="400110"/>
              </a:xfrm>
              <a:prstGeom prst="rect">
                <a:avLst/>
              </a:prstGeom>
              <a:blipFill rotWithShape="1">
                <a:blip r:embed="rId1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1450121" y="5687859"/>
                <a:ext cx="115198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000" b="1" i="1" smtClean="0">
                          <a:latin typeface="Cambria Math"/>
                        </a:rPr>
                        <m:t>=</m:t>
                      </m:r>
                      <m:r>
                        <a:rPr lang="en-ZA" sz="2000" b="1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𝟏𝟏𝟐𝟎</m:t>
                      </m:r>
                    </m:oMath>
                  </m:oMathPara>
                </a14:m>
                <a:endParaRPr lang="en-ZA" sz="2000" b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121" y="5687859"/>
                <a:ext cx="1151982" cy="40011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091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1" grpId="0"/>
      <p:bldP spid="32" grpId="0"/>
      <p:bldP spid="33" grpId="0"/>
      <p:bldP spid="34" grpId="0"/>
      <p:bldP spid="35" grpId="0" animBg="1"/>
      <p:bldP spid="56" grpId="0"/>
      <p:bldP spid="5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04" y="567259"/>
            <a:ext cx="4995460" cy="2045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7" y="114300"/>
            <a:ext cx="79320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 3-39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(Mesh Analysis)</a:t>
            </a:r>
            <a:endParaRPr lang="en-ZA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Arc 5"/>
          <p:cNvSpPr/>
          <p:nvPr/>
        </p:nvSpPr>
        <p:spPr bwMode="auto">
          <a:xfrm>
            <a:off x="1602112" y="1593433"/>
            <a:ext cx="710956" cy="689521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000" b="0" i="1" u="none" strike="noStrike" cap="none" normalizeH="0" baseline="-2500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7" name="Arc 6"/>
          <p:cNvSpPr/>
          <p:nvPr/>
        </p:nvSpPr>
        <p:spPr bwMode="auto">
          <a:xfrm>
            <a:off x="3391782" y="1727429"/>
            <a:ext cx="732975" cy="704866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00B05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b="0" i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000" b="0" i="1" u="none" strike="noStrike" cap="none" normalizeH="0" baseline="-2500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6246" y="1359310"/>
            <a:ext cx="3013657" cy="92333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Note:</a:t>
            </a:r>
          </a:p>
          <a:p>
            <a:pPr marL="342900" indent="-342900">
              <a:buFont typeface="+mj-lt"/>
              <a:buAutoNum type="arabicPeriod"/>
            </a:pPr>
            <a:r>
              <a:rPr lang="en-ZA" i="1" dirty="0" smtClean="0">
                <a:solidFill>
                  <a:srgbClr val="000000"/>
                </a:solidFill>
              </a:rPr>
              <a:t>I</a:t>
            </a:r>
            <a:r>
              <a:rPr lang="en-ZA" i="1" baseline="-25000" dirty="0" smtClean="0">
                <a:solidFill>
                  <a:srgbClr val="000000"/>
                </a:solidFill>
              </a:rPr>
              <a:t>x</a:t>
            </a:r>
            <a:r>
              <a:rPr lang="en-ZA" dirty="0" smtClean="0">
                <a:solidFill>
                  <a:srgbClr val="000000"/>
                </a:solidFill>
              </a:rPr>
              <a:t> = </a:t>
            </a:r>
            <a:r>
              <a:rPr lang="en-ZA" i="1" dirty="0" smtClean="0">
                <a:solidFill>
                  <a:srgbClr val="000000"/>
                </a:solidFill>
              </a:rPr>
              <a:t>i</a:t>
            </a:r>
            <a:r>
              <a:rPr lang="en-ZA" i="1" baseline="-25000" dirty="0" smtClean="0">
                <a:solidFill>
                  <a:srgbClr val="000000"/>
                </a:solidFill>
              </a:rPr>
              <a:t>1</a:t>
            </a:r>
            <a:r>
              <a:rPr lang="en-ZA" i="1" dirty="0" smtClean="0">
                <a:solidFill>
                  <a:srgbClr val="000000"/>
                </a:solidFill>
              </a:rPr>
              <a:t>- i</a:t>
            </a:r>
            <a:r>
              <a:rPr lang="en-ZA" i="1" baseline="-25000" dirty="0">
                <a:solidFill>
                  <a:srgbClr val="000000"/>
                </a:solidFill>
              </a:rPr>
              <a:t>2</a:t>
            </a:r>
            <a:endParaRPr lang="en-ZA" i="1" dirty="0" smtClean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ZA" i="1" dirty="0" smtClean="0">
                <a:solidFill>
                  <a:srgbClr val="000000"/>
                </a:solidFill>
              </a:rPr>
              <a:t>CCVS: </a:t>
            </a:r>
            <a:r>
              <a:rPr lang="en-ZA" dirty="0" smtClean="0">
                <a:solidFill>
                  <a:srgbClr val="000000"/>
                </a:solidFill>
              </a:rPr>
              <a:t>2</a:t>
            </a:r>
            <a:r>
              <a:rPr lang="en-ZA" i="1" dirty="0" smtClean="0">
                <a:solidFill>
                  <a:srgbClr val="000000"/>
                </a:solidFill>
              </a:rPr>
              <a:t>I</a:t>
            </a:r>
            <a:r>
              <a:rPr lang="en-ZA" i="1" baseline="-25000" dirty="0" smtClean="0">
                <a:solidFill>
                  <a:srgbClr val="000000"/>
                </a:solidFill>
              </a:rPr>
              <a:t>x</a:t>
            </a:r>
            <a:r>
              <a:rPr lang="en-ZA" i="1" dirty="0" smtClean="0">
                <a:solidFill>
                  <a:srgbClr val="000000"/>
                </a:solidFill>
              </a:rPr>
              <a:t> = </a:t>
            </a:r>
            <a:r>
              <a:rPr lang="en-ZA" dirty="0" smtClean="0">
                <a:solidFill>
                  <a:srgbClr val="000000"/>
                </a:solidFill>
              </a:rPr>
              <a:t>2(</a:t>
            </a:r>
            <a:r>
              <a:rPr lang="en-ZA" i="1" dirty="0">
                <a:solidFill>
                  <a:srgbClr val="000000"/>
                </a:solidFill>
              </a:rPr>
              <a:t>i</a:t>
            </a:r>
            <a:r>
              <a:rPr lang="en-ZA" i="1" baseline="-25000" dirty="0">
                <a:solidFill>
                  <a:srgbClr val="000000"/>
                </a:solidFill>
              </a:rPr>
              <a:t>1</a:t>
            </a:r>
            <a:r>
              <a:rPr lang="en-ZA" i="1" dirty="0">
                <a:solidFill>
                  <a:srgbClr val="000000"/>
                </a:solidFill>
              </a:rPr>
              <a:t>- </a:t>
            </a:r>
            <a:r>
              <a:rPr lang="en-ZA" i="1" dirty="0" smtClean="0">
                <a:solidFill>
                  <a:srgbClr val="000000"/>
                </a:solidFill>
              </a:rPr>
              <a:t>i</a:t>
            </a:r>
            <a:r>
              <a:rPr lang="en-ZA" i="1" baseline="-25000" dirty="0" smtClean="0">
                <a:solidFill>
                  <a:srgbClr val="000000"/>
                </a:solidFill>
              </a:rPr>
              <a:t>2</a:t>
            </a:r>
            <a:r>
              <a:rPr lang="en-ZA" dirty="0" smtClean="0">
                <a:solidFill>
                  <a:srgbClr val="000000"/>
                </a:solidFill>
              </a:rPr>
              <a:t>)</a:t>
            </a:r>
            <a:endParaRPr lang="en-ZA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89233" y="2728496"/>
            <a:ext cx="4657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10 + 4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2(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+ 6(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) = 0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8031" y="2749591"/>
            <a:ext cx="12538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1:</a:t>
            </a:r>
            <a:endParaRPr lang="en-ZA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12428" y="3190161"/>
            <a:ext cx="2205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4)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10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55860" y="3808471"/>
            <a:ext cx="3186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+ 6(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)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0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4657" y="3829566"/>
            <a:ext cx="12538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2:</a:t>
            </a:r>
            <a:endParaRPr lang="en-ZA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79053" y="4270136"/>
            <a:ext cx="2471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(-6)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-12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4055397" y="3267076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17" name="Oval 16"/>
          <p:cNvSpPr/>
          <p:nvPr/>
        </p:nvSpPr>
        <p:spPr bwMode="auto">
          <a:xfrm>
            <a:off x="4126227" y="4313049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174528" y="4883263"/>
            <a:ext cx="1718666" cy="461665"/>
            <a:chOff x="238923" y="4921900"/>
            <a:chExt cx="1718666" cy="461665"/>
          </a:xfrm>
        </p:grpSpPr>
        <p:sp>
          <p:nvSpPr>
            <p:cNvPr id="5" name="Rectangle 4"/>
            <p:cNvSpPr/>
            <p:nvPr/>
          </p:nvSpPr>
          <p:spPr>
            <a:xfrm>
              <a:off x="597556" y="4921900"/>
              <a:ext cx="136003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+ 2</a:t>
              </a:r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      : </a:t>
              </a:r>
              <a:endParaRPr lang="en-ZA" sz="2400" dirty="0"/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238923" y="4946261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2</a:t>
              </a:r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1292951" y="4972019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1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893193" y="4856467"/>
            <a:ext cx="3915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(-6+16)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(8-8)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(-12+20)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00009" y="5754039"/>
            <a:ext cx="1865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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0.8 A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93194" y="5317117"/>
            <a:ext cx="1865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8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3361865" y="5792496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3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89969" y="6286759"/>
            <a:ext cx="1718666" cy="461665"/>
            <a:chOff x="238923" y="4921900"/>
            <a:chExt cx="1718666" cy="461665"/>
          </a:xfrm>
        </p:grpSpPr>
        <p:sp>
          <p:nvSpPr>
            <p:cNvPr id="27" name="Rectangle 26"/>
            <p:cNvSpPr/>
            <p:nvPr/>
          </p:nvSpPr>
          <p:spPr>
            <a:xfrm>
              <a:off x="597556" y="4921900"/>
              <a:ext cx="136003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in   </a:t>
              </a:r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    : </a:t>
              </a:r>
              <a:endParaRPr lang="en-ZA" sz="2400" dirty="0"/>
            </a:p>
          </p:txBody>
        </p:sp>
        <p:sp>
          <p:nvSpPr>
            <p:cNvPr id="28" name="Oval 27"/>
            <p:cNvSpPr/>
            <p:nvPr/>
          </p:nvSpPr>
          <p:spPr bwMode="auto">
            <a:xfrm>
              <a:off x="238923" y="4946261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3</a:t>
              </a:r>
            </a:p>
          </p:txBody>
        </p:sp>
        <p:sp>
          <p:nvSpPr>
            <p:cNvPr id="29" name="Oval 28"/>
            <p:cNvSpPr/>
            <p:nvPr/>
          </p:nvSpPr>
          <p:spPr bwMode="auto">
            <a:xfrm>
              <a:off x="980923" y="4973057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2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734433" y="6298600"/>
            <a:ext cx="2471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(-6)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0.8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-12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47805" y="6281795"/>
            <a:ext cx="1865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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-0.9 A  </a:t>
            </a:r>
            <a:endParaRPr lang="en-ZA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72" name="Straight Arrow Connector 3071"/>
          <p:cNvCxnSpPr/>
          <p:nvPr/>
        </p:nvCxnSpPr>
        <p:spPr bwMode="auto">
          <a:xfrm>
            <a:off x="1957590" y="6177246"/>
            <a:ext cx="1404275" cy="0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 bwMode="auto">
          <a:xfrm>
            <a:off x="4841979" y="6741664"/>
            <a:ext cx="1404275" cy="0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 bwMode="auto">
          <a:xfrm flipH="1">
            <a:off x="3850783" y="2282640"/>
            <a:ext cx="2880217" cy="57486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7" grpId="0" animBg="1"/>
      <p:bldP spid="21" grpId="0"/>
      <p:bldP spid="22" grpId="0"/>
      <p:bldP spid="23" grpId="0"/>
      <p:bldP spid="24" grpId="0" animBg="1"/>
      <p:bldP spid="30" grpId="0"/>
      <p:bldP spid="3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04" y="567259"/>
            <a:ext cx="4995460" cy="2045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84657" y="114300"/>
            <a:ext cx="79320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 3-39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800" dirty="0" err="1" smtClean="0">
                <a:latin typeface="Times New Roman" pitchFamily="18" charset="0"/>
                <a:cs typeface="Times New Roman" pitchFamily="18" charset="0"/>
              </a:rPr>
              <a:t>Supernode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ZA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6245" y="943599"/>
            <a:ext cx="3585830" cy="120032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Note:</a:t>
            </a:r>
          </a:p>
          <a:p>
            <a:pPr marL="342900" indent="-342900">
              <a:buFont typeface="+mj-lt"/>
              <a:buAutoNum type="arabicPeriod"/>
            </a:pPr>
            <a:r>
              <a:rPr lang="en-ZA" dirty="0" err="1" smtClean="0">
                <a:solidFill>
                  <a:srgbClr val="000000"/>
                </a:solidFill>
              </a:rPr>
              <a:t>Supernode</a:t>
            </a:r>
            <a:r>
              <a:rPr lang="en-ZA" dirty="0" smtClean="0">
                <a:solidFill>
                  <a:srgbClr val="000000"/>
                </a:solidFill>
              </a:rPr>
              <a:t>: </a:t>
            </a:r>
            <a:r>
              <a:rPr lang="en-ZA" i="1" dirty="0" smtClean="0">
                <a:solidFill>
                  <a:srgbClr val="000000"/>
                </a:solidFill>
              </a:rPr>
              <a:t>V</a:t>
            </a:r>
            <a:r>
              <a:rPr lang="en-ZA" i="1" baseline="-25000" dirty="0" smtClean="0">
                <a:solidFill>
                  <a:srgbClr val="000000"/>
                </a:solidFill>
              </a:rPr>
              <a:t>1</a:t>
            </a:r>
            <a:r>
              <a:rPr lang="en-ZA" dirty="0" smtClean="0">
                <a:solidFill>
                  <a:srgbClr val="000000"/>
                </a:solidFill>
              </a:rPr>
              <a:t> – </a:t>
            </a:r>
            <a:r>
              <a:rPr lang="en-ZA" i="1" dirty="0" smtClean="0">
                <a:solidFill>
                  <a:srgbClr val="000000"/>
                </a:solidFill>
              </a:rPr>
              <a:t>V</a:t>
            </a:r>
            <a:r>
              <a:rPr lang="en-ZA" i="1" baseline="-25000" dirty="0" smtClean="0">
                <a:solidFill>
                  <a:srgbClr val="000000"/>
                </a:solidFill>
              </a:rPr>
              <a:t>2</a:t>
            </a:r>
            <a:r>
              <a:rPr lang="en-ZA" dirty="0" smtClean="0">
                <a:solidFill>
                  <a:srgbClr val="000000"/>
                </a:solidFill>
              </a:rPr>
              <a:t> = 2</a:t>
            </a:r>
            <a:r>
              <a:rPr lang="en-ZA" i="1" dirty="0" smtClean="0">
                <a:solidFill>
                  <a:srgbClr val="000000"/>
                </a:solidFill>
              </a:rPr>
              <a:t>I</a:t>
            </a:r>
            <a:r>
              <a:rPr lang="en-ZA" i="1" baseline="-25000" dirty="0" smtClean="0">
                <a:solidFill>
                  <a:srgbClr val="000000"/>
                </a:solidFill>
              </a:rPr>
              <a:t>x</a:t>
            </a:r>
            <a:endParaRPr lang="en-ZA" i="1" dirty="0" smtClean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ZA" dirty="0" smtClean="0">
                <a:solidFill>
                  <a:srgbClr val="000000"/>
                </a:solidFill>
              </a:rPr>
              <a:t>Two const. Voltage nodes</a:t>
            </a:r>
          </a:p>
          <a:p>
            <a:pPr marL="342900" indent="-342900">
              <a:buFont typeface="+mj-lt"/>
              <a:buAutoNum type="arabicPeriod"/>
            </a:pPr>
            <a:r>
              <a:rPr lang="en-ZA" i="1" dirty="0" smtClean="0">
                <a:solidFill>
                  <a:srgbClr val="000000"/>
                </a:solidFill>
              </a:rPr>
              <a:t>I</a:t>
            </a:r>
            <a:r>
              <a:rPr lang="en-ZA" i="1" baseline="-25000" dirty="0" smtClean="0">
                <a:solidFill>
                  <a:srgbClr val="000000"/>
                </a:solidFill>
              </a:rPr>
              <a:t>x</a:t>
            </a:r>
            <a:r>
              <a:rPr lang="en-ZA" dirty="0" smtClean="0">
                <a:solidFill>
                  <a:srgbClr val="000000"/>
                </a:solidFill>
              </a:rPr>
              <a:t> = </a:t>
            </a:r>
            <a:r>
              <a:rPr lang="en-ZA" i="1" dirty="0" smtClean="0">
                <a:solidFill>
                  <a:srgbClr val="000000"/>
                </a:solidFill>
              </a:rPr>
              <a:t>V</a:t>
            </a:r>
            <a:r>
              <a:rPr lang="en-ZA" i="1" baseline="-25000" dirty="0" smtClean="0">
                <a:solidFill>
                  <a:srgbClr val="000000"/>
                </a:solidFill>
              </a:rPr>
              <a:t>1</a:t>
            </a:r>
            <a:r>
              <a:rPr lang="en-ZA" dirty="0" smtClean="0">
                <a:solidFill>
                  <a:srgbClr val="000000"/>
                </a:solidFill>
              </a:rPr>
              <a:t>/6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2871989" y="1128265"/>
            <a:ext cx="141667" cy="141667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33596" y="2989215"/>
                <a:ext cx="3429785" cy="6785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−10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66CC"/>
                          </a:solidFill>
                          <a:latin typeface="Cambria Math"/>
                        </a:rPr>
                        <m:t>+ </m:t>
                      </m:r>
                      <m:f>
                        <m:fPr>
                          <m:ctrlP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66CC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−1</m:t>
                          </m:r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66CC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66CC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596" y="2989215"/>
                <a:ext cx="3429785" cy="67858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70357" y="3096038"/>
            <a:ext cx="1508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KCL @ SN:</a:t>
            </a:r>
            <a:endParaRPr lang="en-ZA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725" y="2545512"/>
            <a:ext cx="507951" cy="407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8" name="Group 17"/>
          <p:cNvGrpSpPr/>
          <p:nvPr/>
        </p:nvGrpSpPr>
        <p:grpSpPr>
          <a:xfrm>
            <a:off x="1615934" y="1190835"/>
            <a:ext cx="1768733" cy="561994"/>
            <a:chOff x="1615934" y="1190835"/>
            <a:chExt cx="1768733" cy="561994"/>
          </a:xfrm>
        </p:grpSpPr>
        <p:cxnSp>
          <p:nvCxnSpPr>
            <p:cNvPr id="21" name="Straight Arrow Connector 20"/>
            <p:cNvCxnSpPr/>
            <p:nvPr/>
          </p:nvCxnSpPr>
          <p:spPr bwMode="auto">
            <a:xfrm>
              <a:off x="3116026" y="1190835"/>
              <a:ext cx="268641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 bwMode="auto">
            <a:xfrm>
              <a:off x="2871989" y="1484733"/>
              <a:ext cx="0" cy="268096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 bwMode="auto">
            <a:xfrm flipH="1">
              <a:off x="1615934" y="1354179"/>
              <a:ext cx="268641" cy="0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677170" y="842959"/>
            <a:ext cx="4057678" cy="388052"/>
            <a:chOff x="677170" y="842959"/>
            <a:chExt cx="4057678" cy="388052"/>
          </a:xfrm>
        </p:grpSpPr>
        <p:sp>
          <p:nvSpPr>
            <p:cNvPr id="11" name="Oval 10"/>
            <p:cNvSpPr/>
            <p:nvPr/>
          </p:nvSpPr>
          <p:spPr bwMode="auto">
            <a:xfrm>
              <a:off x="921745" y="1155418"/>
              <a:ext cx="70834" cy="70834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77170" y="842959"/>
              <a:ext cx="6357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10 V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4343672" y="1160177"/>
              <a:ext cx="70834" cy="70834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099097" y="847718"/>
              <a:ext cx="6357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12 V</a:t>
              </a:r>
              <a:endParaRPr lang="en-ZA" dirty="0">
                <a:solidFill>
                  <a:srgbClr val="FF0000"/>
                </a:solidFill>
              </a:endParaRPr>
            </a:p>
          </p:txBody>
        </p:sp>
      </p:grpSp>
      <p:sp>
        <p:nvSpPr>
          <p:cNvPr id="26" name="Rectangle 25"/>
          <p:cNvSpPr/>
          <p:nvPr/>
        </p:nvSpPr>
        <p:spPr>
          <a:xfrm>
            <a:off x="750863" y="3709219"/>
            <a:ext cx="615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x12</a:t>
            </a:r>
            <a:endParaRPr lang="en-ZA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492358" y="3669919"/>
                <a:ext cx="37018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2060"/>
                          </a:solidFill>
                          <a:latin typeface="Cambria Math"/>
                        </a:rPr>
                        <m:t>−30</m:t>
                      </m:r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2000" i="1">
                          <a:solidFill>
                            <a:srgbClr val="002060"/>
                          </a:solidFill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+6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206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72=0</m:t>
                      </m:r>
                    </m:oMath>
                  </m:oMathPara>
                </a14:m>
                <a:endParaRPr lang="en-ZA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358" y="3669919"/>
                <a:ext cx="3701847" cy="400110"/>
              </a:xfrm>
              <a:prstGeom prst="rect">
                <a:avLst/>
              </a:prstGeom>
              <a:blipFill rotWithShape="1"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517617" y="4078551"/>
                <a:ext cx="21088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8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+3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=102</m:t>
                      </m:r>
                    </m:oMath>
                  </m:oMathPara>
                </a14:m>
                <a:endParaRPr lang="en-ZA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617" y="4078551"/>
                <a:ext cx="2108847" cy="400110"/>
              </a:xfrm>
              <a:prstGeom prst="rect">
                <a:avLst/>
              </a:prstGeom>
              <a:blipFill rotWithShape="1"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Oval 41"/>
          <p:cNvSpPr/>
          <p:nvPr/>
        </p:nvSpPr>
        <p:spPr bwMode="auto">
          <a:xfrm>
            <a:off x="1932558" y="1109985"/>
            <a:ext cx="141667" cy="141667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765986" y="653592"/>
            <a:ext cx="1691680" cy="501171"/>
            <a:chOff x="1765986" y="653592"/>
            <a:chExt cx="1691680" cy="501171"/>
          </a:xfrm>
        </p:grpSpPr>
        <p:sp>
          <p:nvSpPr>
            <p:cNvPr id="7" name="Rectangle 6"/>
            <p:cNvSpPr/>
            <p:nvPr/>
          </p:nvSpPr>
          <p:spPr>
            <a:xfrm>
              <a:off x="1765986" y="653592"/>
              <a:ext cx="47481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400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400" i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ZA" sz="2400" dirty="0">
                <a:solidFill>
                  <a:srgbClr val="FF0000"/>
                </a:solidFill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982856" y="693098"/>
              <a:ext cx="47481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400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400" i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ZA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5" name="Oval 14"/>
          <p:cNvSpPr/>
          <p:nvPr/>
        </p:nvSpPr>
        <p:spPr bwMode="auto">
          <a:xfrm>
            <a:off x="1906283" y="886484"/>
            <a:ext cx="1189341" cy="618465"/>
          </a:xfrm>
          <a:prstGeom prst="ellipse">
            <a:avLst/>
          </a:prstGeom>
          <a:noFill/>
          <a:ln w="22225" cap="flat" cmpd="sng" algn="ctr">
            <a:solidFill>
              <a:srgbClr val="FF33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7188" y="4703751"/>
            <a:ext cx="1677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Supernode</a:t>
            </a:r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ZA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833596" y="4517174"/>
                <a:ext cx="3088153" cy="668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=2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=2</m:t>
                      </m:r>
                      <m:f>
                        <m:fPr>
                          <m:ctrlP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ZA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596" y="4517174"/>
                <a:ext cx="3088153" cy="66858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1875407" y="5121345"/>
                <a:ext cx="19267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en-ZA" sz="20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−3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ZA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407" y="5121345"/>
                <a:ext cx="1926746" cy="400110"/>
              </a:xfrm>
              <a:prstGeom prst="rect">
                <a:avLst/>
              </a:prstGeom>
              <a:blipFill rotWithShape="1"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/>
          <p:cNvSpPr/>
          <p:nvPr/>
        </p:nvSpPr>
        <p:spPr>
          <a:xfrm>
            <a:off x="924730" y="5136734"/>
            <a:ext cx="468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x3</a:t>
            </a:r>
            <a:endParaRPr lang="en-ZA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1875407" y="5538195"/>
                <a:ext cx="18294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en-ZA" sz="20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−3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407" y="5538195"/>
                <a:ext cx="1829475" cy="400110"/>
              </a:xfrm>
              <a:prstGeom prst="rect">
                <a:avLst/>
              </a:prstGeom>
              <a:blipFill rotWithShape="1">
                <a:blip r:embed="rId9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Oval 48"/>
          <p:cNvSpPr/>
          <p:nvPr/>
        </p:nvSpPr>
        <p:spPr bwMode="auto">
          <a:xfrm>
            <a:off x="3548488" y="4132424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50" name="Oval 49"/>
          <p:cNvSpPr/>
          <p:nvPr/>
        </p:nvSpPr>
        <p:spPr bwMode="auto">
          <a:xfrm>
            <a:off x="3695032" y="5538195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97829" y="6106756"/>
            <a:ext cx="1718666" cy="461665"/>
            <a:chOff x="238923" y="4921900"/>
            <a:chExt cx="1718666" cy="461665"/>
          </a:xfrm>
        </p:grpSpPr>
        <p:sp>
          <p:nvSpPr>
            <p:cNvPr id="52" name="Rectangle 51"/>
            <p:cNvSpPr/>
            <p:nvPr/>
          </p:nvSpPr>
          <p:spPr>
            <a:xfrm>
              <a:off x="597556" y="4921900"/>
              <a:ext cx="136003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+ </a:t>
              </a:r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      : </a:t>
              </a:r>
              <a:endParaRPr lang="en-ZA" sz="2400" dirty="0"/>
            </a:p>
          </p:txBody>
        </p:sp>
        <p:sp>
          <p:nvSpPr>
            <p:cNvPr id="53" name="Oval 52"/>
            <p:cNvSpPr/>
            <p:nvPr/>
          </p:nvSpPr>
          <p:spPr bwMode="auto">
            <a:xfrm>
              <a:off x="238923" y="4946261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1</a:t>
              </a:r>
            </a:p>
          </p:txBody>
        </p:sp>
        <p:sp>
          <p:nvSpPr>
            <p:cNvPr id="54" name="Oval 53"/>
            <p:cNvSpPr/>
            <p:nvPr/>
          </p:nvSpPr>
          <p:spPr bwMode="auto">
            <a:xfrm>
              <a:off x="958097" y="4972019"/>
              <a:ext cx="385013" cy="38475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003300"/>
                  </a:solidFill>
                  <a:effectLst/>
                  <a:latin typeface="Verdana" pitchFamily="34" charset="0"/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492358" y="6137533"/>
                <a:ext cx="506491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8+2</m:t>
                          </m:r>
                        </m:e>
                      </m:d>
                      <m:sSub>
                        <m:sSubPr>
                          <m:ctrlPr>
                            <a:rPr lang="en-ZA" sz="20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3−3</m:t>
                          </m:r>
                        </m:e>
                      </m:d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=102 </m:t>
                      </m:r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</a:rPr>
                        <m:t>∴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=10.2 </m:t>
                      </m:r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en-ZA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358" y="6137533"/>
                <a:ext cx="5064913" cy="400110"/>
              </a:xfrm>
              <a:prstGeom prst="rect">
                <a:avLst/>
              </a:prstGeom>
              <a:blipFill rotWithShape="1">
                <a:blip r:embed="rId10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Arc 55"/>
          <p:cNvSpPr/>
          <p:nvPr/>
        </p:nvSpPr>
        <p:spPr bwMode="auto">
          <a:xfrm>
            <a:off x="1409360" y="1550713"/>
            <a:ext cx="1289256" cy="805152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000" b="0" i="1" u="none" strike="noStrike" cap="none" normalizeH="0" baseline="-2500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57" name="Arc 56"/>
          <p:cNvSpPr/>
          <p:nvPr/>
        </p:nvSpPr>
        <p:spPr bwMode="auto">
          <a:xfrm>
            <a:off x="3329206" y="1701914"/>
            <a:ext cx="731651" cy="704866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00B05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b="0" i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000" b="0" i="1" u="none" strike="noStrike" cap="none" normalizeH="0" baseline="-2500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4745492" y="6470769"/>
                <a:ext cx="16366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  <a:ea typeface="Cambria Math"/>
                        </a:rPr>
                        <m:t>∴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=6.8 </m:t>
                      </m:r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en-ZA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492" y="6470769"/>
                <a:ext cx="1636666" cy="400110"/>
              </a:xfrm>
              <a:prstGeom prst="rect">
                <a:avLst/>
              </a:prstGeom>
              <a:blipFill rotWithShape="1">
                <a:blip r:embed="rId11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/>
          <p:cNvGrpSpPr/>
          <p:nvPr/>
        </p:nvGrpSpPr>
        <p:grpSpPr>
          <a:xfrm>
            <a:off x="4952793" y="4174468"/>
            <a:ext cx="3208955" cy="668516"/>
            <a:chOff x="4901277" y="4174468"/>
            <a:chExt cx="3208955" cy="6685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4901277" y="4174468"/>
                  <a:ext cx="3208955" cy="668516"/>
                </a:xfrm>
                <a:prstGeom prst="rect">
                  <a:avLst/>
                </a:prstGeom>
                <a:noFill/>
                <a:ln>
                  <a:solidFill>
                    <a:srgbClr val="0033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00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ZA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ZA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10−</m:t>
                            </m:r>
                            <m:sSub>
                              <m:sSubPr>
                                <m:ctrlPr>
                                  <a:rPr lang="en-ZA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ZA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4</m:t>
                            </m:r>
                          </m:den>
                        </m:f>
                        <m:r>
                          <a:rPr lang="en-ZA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ZA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3.2</m:t>
                            </m:r>
                          </m:num>
                          <m:den>
                            <m:r>
                              <a:rPr lang="en-ZA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4</m:t>
                            </m:r>
                          </m:den>
                        </m:f>
                        <m:r>
                          <a:rPr lang="en-ZA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=0.8 </m:t>
                        </m:r>
                        <m:r>
                          <a:rPr lang="en-ZA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𝐴</m:t>
                        </m:r>
                      </m:oMath>
                    </m:oMathPara>
                  </a14:m>
                  <a:endParaRPr lang="en-ZA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1277" y="4174468"/>
                  <a:ext cx="3208955" cy="668516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/>
                  </a:stretch>
                </a:blipFill>
                <a:ln>
                  <a:solidFill>
                    <a:srgbClr val="0033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Straight Arrow Connector 58"/>
            <p:cNvCxnSpPr/>
            <p:nvPr/>
          </p:nvCxnSpPr>
          <p:spPr bwMode="auto">
            <a:xfrm>
              <a:off x="7408094" y="4703751"/>
              <a:ext cx="702137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62" name="Group 61"/>
          <p:cNvGrpSpPr/>
          <p:nvPr/>
        </p:nvGrpSpPr>
        <p:grpSpPr>
          <a:xfrm>
            <a:off x="4951690" y="5007290"/>
            <a:ext cx="4135684" cy="668516"/>
            <a:chOff x="4900174" y="4904258"/>
            <a:chExt cx="4135684" cy="6685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4900174" y="4904258"/>
                  <a:ext cx="4135684" cy="668516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00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ZA" sz="20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ZA" sz="2000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sz="2000" i="1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0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0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000" i="1">
                                    <a:solidFill>
                                      <a:srgbClr val="00B05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ZA" sz="2000" i="1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−12</m:t>
                            </m:r>
                          </m:num>
                          <m:den>
                            <m:r>
                              <a:rPr lang="en-ZA" sz="2000" i="1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ZA" sz="2000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sz="2000" i="1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ZA" sz="2000" b="0" i="1" smtClean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10.2</m:t>
                            </m:r>
                            <m:r>
                              <a:rPr lang="en-ZA" sz="2000" i="1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−12</m:t>
                            </m:r>
                          </m:num>
                          <m:den>
                            <m:r>
                              <a:rPr lang="en-ZA" sz="2000" i="1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ZA" sz="2000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=−0.9 </m:t>
                        </m:r>
                        <m:r>
                          <a:rPr lang="en-ZA" sz="2000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𝐴</m:t>
                        </m:r>
                      </m:oMath>
                    </m:oMathPara>
                  </a14:m>
                  <a:endParaRPr lang="en-ZA" sz="20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0174" y="4904258"/>
                  <a:ext cx="4135684" cy="668516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/>
                  </a:stretch>
                </a:blipFill>
                <a:ln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Arrow Connector 59"/>
            <p:cNvCxnSpPr/>
            <p:nvPr/>
          </p:nvCxnSpPr>
          <p:spPr bwMode="auto">
            <a:xfrm>
              <a:off x="8161747" y="5429608"/>
              <a:ext cx="820328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8459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25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4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50"/>
                            </p:stCondLst>
                            <p:childTnLst>
                              <p:par>
                                <p:cTn id="1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8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26" grpId="0"/>
      <p:bldP spid="27" grpId="0"/>
      <p:bldP spid="29" grpId="0"/>
      <p:bldP spid="15" grpId="0" animBg="1"/>
      <p:bldP spid="44" grpId="0"/>
      <p:bldP spid="45" grpId="0"/>
      <p:bldP spid="46" grpId="0"/>
      <p:bldP spid="47" grpId="0"/>
      <p:bldP spid="48" grpId="0"/>
      <p:bldP spid="49" grpId="0" animBg="1"/>
      <p:bldP spid="50" grpId="0" animBg="1"/>
      <p:bldP spid="55" grpId="0"/>
      <p:bldP spid="56" grpId="0" animBg="1"/>
      <p:bldP spid="57" grpId="0" animBg="1"/>
      <p:bldP spid="5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04" y="567259"/>
            <a:ext cx="4995460" cy="2045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84657" y="114300"/>
            <a:ext cx="79320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 3-39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(Node Voltage)</a:t>
            </a:r>
            <a:endParaRPr lang="en-ZA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6245" y="943599"/>
            <a:ext cx="3013657" cy="14773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Note:</a:t>
            </a:r>
          </a:p>
          <a:p>
            <a:pPr marL="342900" indent="-342900">
              <a:buFont typeface="+mj-lt"/>
              <a:buAutoNum type="arabicPeriod"/>
            </a:pPr>
            <a:r>
              <a:rPr lang="en-ZA" dirty="0" smtClean="0">
                <a:solidFill>
                  <a:srgbClr val="000000"/>
                </a:solidFill>
              </a:rPr>
              <a:t>Only 1 critical node</a:t>
            </a:r>
          </a:p>
          <a:p>
            <a:pPr marL="342900" indent="-342900">
              <a:buFont typeface="+mj-lt"/>
              <a:buAutoNum type="arabicPeriod"/>
            </a:pPr>
            <a:r>
              <a:rPr lang="en-ZA" dirty="0" smtClean="0">
                <a:solidFill>
                  <a:srgbClr val="000000"/>
                </a:solidFill>
              </a:rPr>
              <a:t>Const. Voltage nodes</a:t>
            </a:r>
          </a:p>
          <a:p>
            <a:pPr marL="342900" indent="-342900">
              <a:buFont typeface="+mj-lt"/>
              <a:buAutoNum type="arabicPeriod"/>
            </a:pPr>
            <a:r>
              <a:rPr lang="en-ZA" i="1" dirty="0" smtClean="0">
                <a:solidFill>
                  <a:srgbClr val="000000"/>
                </a:solidFill>
              </a:rPr>
              <a:t>I</a:t>
            </a:r>
            <a:r>
              <a:rPr lang="en-ZA" i="1" baseline="-25000" dirty="0" smtClean="0">
                <a:solidFill>
                  <a:srgbClr val="000000"/>
                </a:solidFill>
              </a:rPr>
              <a:t>x</a:t>
            </a:r>
            <a:r>
              <a:rPr lang="en-ZA" dirty="0" smtClean="0">
                <a:solidFill>
                  <a:srgbClr val="000000"/>
                </a:solidFill>
              </a:rPr>
              <a:t> = </a:t>
            </a:r>
            <a:r>
              <a:rPr lang="en-ZA" i="1" dirty="0" smtClean="0">
                <a:solidFill>
                  <a:srgbClr val="000000"/>
                </a:solidFill>
              </a:rPr>
              <a:t>V</a:t>
            </a:r>
            <a:r>
              <a:rPr lang="en-ZA" i="1" baseline="-25000" dirty="0" smtClean="0">
                <a:solidFill>
                  <a:srgbClr val="000000"/>
                </a:solidFill>
              </a:rPr>
              <a:t>1</a:t>
            </a:r>
            <a:r>
              <a:rPr lang="en-ZA" dirty="0" smtClean="0">
                <a:solidFill>
                  <a:srgbClr val="000000"/>
                </a:solidFill>
              </a:rPr>
              <a:t>/6</a:t>
            </a:r>
          </a:p>
          <a:p>
            <a:pPr marL="342900" indent="-342900">
              <a:buFont typeface="+mj-lt"/>
              <a:buAutoNum type="arabicPeriod"/>
            </a:pPr>
            <a:r>
              <a:rPr lang="en-ZA" i="1" dirty="0" smtClean="0">
                <a:solidFill>
                  <a:srgbClr val="000000"/>
                </a:solidFill>
              </a:rPr>
              <a:t>V</a:t>
            </a:r>
            <a:r>
              <a:rPr lang="en-ZA" dirty="0" smtClean="0">
                <a:solidFill>
                  <a:srgbClr val="000000"/>
                </a:solidFill>
              </a:rPr>
              <a:t> over 4 </a:t>
            </a:r>
            <a:r>
              <a:rPr lang="en-ZA" dirty="0" smtClean="0">
                <a:solidFill>
                  <a:srgbClr val="000000"/>
                </a:solidFill>
                <a:sym typeface="Symbol"/>
              </a:rPr>
              <a:t></a:t>
            </a:r>
            <a:endParaRPr lang="en-ZA" dirty="0" smtClean="0">
              <a:solidFill>
                <a:srgbClr val="000000"/>
              </a:solidFill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2871989" y="1128265"/>
            <a:ext cx="141667" cy="141667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73682" y="719154"/>
            <a:ext cx="4748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ZA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424021" y="2989215"/>
                <a:ext cx="4193648" cy="6785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ZA" sz="20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)−10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66CC"/>
                          </a:solidFill>
                          <a:latin typeface="Cambria Math"/>
                        </a:rPr>
                        <m:t>+ </m:t>
                      </m:r>
                      <m:f>
                        <m:fPr>
                          <m:ctrlP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66CC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−1</m:t>
                          </m:r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66CC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solidFill>
                    <a:srgbClr val="0066CC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021" y="2989215"/>
                <a:ext cx="4193648" cy="67858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84657" y="3096038"/>
            <a:ext cx="1189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Node 1:</a:t>
            </a:r>
            <a:endParaRPr lang="en-ZA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725" y="2545512"/>
            <a:ext cx="507951" cy="407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0" name="Group 39"/>
          <p:cNvGrpSpPr/>
          <p:nvPr/>
        </p:nvGrpSpPr>
        <p:grpSpPr>
          <a:xfrm>
            <a:off x="1527140" y="1150981"/>
            <a:ext cx="952505" cy="819978"/>
            <a:chOff x="1527140" y="1150981"/>
            <a:chExt cx="952505" cy="819978"/>
          </a:xfrm>
        </p:grpSpPr>
        <p:sp>
          <p:nvSpPr>
            <p:cNvPr id="12" name="Oval 11"/>
            <p:cNvSpPr/>
            <p:nvPr/>
          </p:nvSpPr>
          <p:spPr bwMode="auto">
            <a:xfrm>
              <a:off x="1969495" y="1150981"/>
              <a:ext cx="70834" cy="70834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527140" y="1601627"/>
              <a:ext cx="95250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i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ZA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– </a:t>
              </a:r>
              <a:r>
                <a:rPr lang="en-ZA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ZA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i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ZA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/>
            <p:cNvCxnSpPr>
              <a:stCxn id="12" idx="4"/>
              <a:endCxn id="14" idx="0"/>
            </p:cNvCxnSpPr>
            <p:nvPr/>
          </p:nvCxnSpPr>
          <p:spPr bwMode="auto">
            <a:xfrm flipH="1">
              <a:off x="2003393" y="1221815"/>
              <a:ext cx="1519" cy="379812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2591311" y="1200852"/>
            <a:ext cx="700030" cy="375779"/>
            <a:chOff x="1468924" y="2731946"/>
            <a:chExt cx="700030" cy="375779"/>
          </a:xfrm>
        </p:grpSpPr>
        <p:cxnSp>
          <p:nvCxnSpPr>
            <p:cNvPr id="21" name="Straight Arrow Connector 20"/>
            <p:cNvCxnSpPr/>
            <p:nvPr/>
          </p:nvCxnSpPr>
          <p:spPr bwMode="auto">
            <a:xfrm>
              <a:off x="1900313" y="2731946"/>
              <a:ext cx="268641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 bwMode="auto">
            <a:xfrm>
              <a:off x="1819156" y="2839629"/>
              <a:ext cx="0" cy="268096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 bwMode="auto">
            <a:xfrm flipH="1">
              <a:off x="1468924" y="2732794"/>
              <a:ext cx="268641" cy="0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677170" y="842959"/>
            <a:ext cx="4057678" cy="388052"/>
            <a:chOff x="677170" y="842959"/>
            <a:chExt cx="4057678" cy="388052"/>
          </a:xfrm>
        </p:grpSpPr>
        <p:sp>
          <p:nvSpPr>
            <p:cNvPr id="11" name="Oval 10"/>
            <p:cNvSpPr/>
            <p:nvPr/>
          </p:nvSpPr>
          <p:spPr bwMode="auto">
            <a:xfrm>
              <a:off x="921745" y="1155418"/>
              <a:ext cx="70834" cy="70834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77170" y="842959"/>
              <a:ext cx="6357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10 V</a:t>
              </a:r>
              <a:endParaRPr lang="en-ZA" dirty="0">
                <a:solidFill>
                  <a:srgbClr val="FF0000"/>
                </a:solidFill>
              </a:endParaRPr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4343672" y="1160177"/>
              <a:ext cx="70834" cy="70834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099097" y="847718"/>
              <a:ext cx="6357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12 V</a:t>
              </a:r>
              <a:endParaRPr lang="en-ZA" dirty="0">
                <a:solidFill>
                  <a:srgbClr val="FF0000"/>
                </a:solidFill>
              </a:endParaRPr>
            </a:p>
          </p:txBody>
        </p:sp>
      </p:grpSp>
      <p:sp>
        <p:nvSpPr>
          <p:cNvPr id="26" name="Rectangle 25"/>
          <p:cNvSpPr/>
          <p:nvPr/>
        </p:nvSpPr>
        <p:spPr>
          <a:xfrm>
            <a:off x="341288" y="3709219"/>
            <a:ext cx="615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x12</a:t>
            </a:r>
            <a:endParaRPr lang="en-ZA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082783" y="3669919"/>
                <a:ext cx="435394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2060"/>
                          </a:solidFill>
                          <a:latin typeface="Cambria Math"/>
                        </a:rPr>
                        <m:t>−6</m:t>
                      </m:r>
                      <m:sSub>
                        <m:sSubPr>
                          <m:ctrlPr>
                            <a:rPr lang="en-ZA" sz="20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2060"/>
                          </a:solidFill>
                          <a:latin typeface="Cambria Math"/>
                        </a:rPr>
                        <m:t>−30</m:t>
                      </m:r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2000" i="1">
                          <a:solidFill>
                            <a:srgbClr val="002060"/>
                          </a:solidFill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+6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206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72=0</m:t>
                      </m:r>
                    </m:oMath>
                  </m:oMathPara>
                </a14:m>
                <a:endParaRPr lang="en-ZA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783" y="3669919"/>
                <a:ext cx="4353948" cy="400110"/>
              </a:xfrm>
              <a:prstGeom prst="rect">
                <a:avLst/>
              </a:prstGeom>
              <a:blipFill rotWithShape="1"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080075" y="4072168"/>
                <a:ext cx="4427622" cy="668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i="1">
                          <a:solidFill>
                            <a:srgbClr val="002060"/>
                          </a:solidFill>
                          <a:latin typeface="Cambria Math"/>
                        </a:rPr>
                        <m:t>−6</m:t>
                      </m:r>
                      <m:f>
                        <m:fPr>
                          <m:ctrlPr>
                            <a:rPr lang="en-ZA" sz="20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ZA" sz="2000" i="1">
                          <a:solidFill>
                            <a:srgbClr val="002060"/>
                          </a:solidFill>
                          <a:latin typeface="Cambria Math"/>
                        </a:rPr>
                        <m:t>−30</m:t>
                      </m:r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2000" i="1">
                          <a:solidFill>
                            <a:srgbClr val="002060"/>
                          </a:solidFill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+6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72=0</m:t>
                      </m:r>
                    </m:oMath>
                  </m:oMathPara>
                </a14:m>
                <a:endParaRPr lang="en-ZA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075" y="4072168"/>
                <a:ext cx="4427622" cy="66858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079866" y="4690809"/>
                <a:ext cx="15625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1</m:t>
                      </m:r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0</m:t>
                      </m:r>
                      <m:sSub>
                        <m:sSubPr>
                          <m:ctrlP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=102</m:t>
                      </m:r>
                    </m:oMath>
                  </m:oMathPara>
                </a14:m>
                <a:endParaRPr lang="en-ZA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866" y="4690809"/>
                <a:ext cx="1562544" cy="400110"/>
              </a:xfrm>
              <a:prstGeom prst="rect">
                <a:avLst/>
              </a:prstGeom>
              <a:blipFill rotWithShape="1">
                <a:blip r:embed="rId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133019" y="5101674"/>
                <a:ext cx="1330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=10.2</m:t>
                      </m:r>
                    </m:oMath>
                  </m:oMathPara>
                </a14:m>
                <a:endParaRPr lang="en-ZA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019" y="5101674"/>
                <a:ext cx="1330108" cy="400110"/>
              </a:xfrm>
              <a:prstGeom prst="rect">
                <a:avLst/>
              </a:prstGeom>
              <a:blipFill rotWithShape="1">
                <a:blip r:embed="rId8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/>
          <p:nvPr/>
        </p:nvCxnSpPr>
        <p:spPr bwMode="auto">
          <a:xfrm>
            <a:off x="1270145" y="5537939"/>
            <a:ext cx="1119244" cy="0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3" name="Arc 32"/>
          <p:cNvSpPr/>
          <p:nvPr/>
        </p:nvSpPr>
        <p:spPr bwMode="auto">
          <a:xfrm>
            <a:off x="1450603" y="1601628"/>
            <a:ext cx="1289256" cy="805152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000" b="0" i="1" u="none" strike="noStrike" cap="none" normalizeH="0" baseline="-2500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34" name="Arc 33"/>
          <p:cNvSpPr/>
          <p:nvPr/>
        </p:nvSpPr>
        <p:spPr bwMode="auto">
          <a:xfrm>
            <a:off x="3370449" y="1752829"/>
            <a:ext cx="731651" cy="704866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00B05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b="0" i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i</a:t>
            </a:r>
            <a:r>
              <a:rPr kumimoji="0" lang="en-ZA" sz="2000" b="0" i="1" u="none" strike="noStrike" cap="none" normalizeH="0" baseline="-2500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2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5834825" y="2931955"/>
            <a:ext cx="3309175" cy="1884632"/>
            <a:chOff x="5834825" y="2931955"/>
            <a:chExt cx="3309175" cy="1884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5907408" y="2931955"/>
                  <a:ext cx="3236592" cy="7772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00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ZA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=−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ZA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ZA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ZA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ZA" sz="20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0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0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ZA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ZA" sz="200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ZA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ZA" sz="20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/6</m:t>
                                </m:r>
                                <m:r>
                                  <a:rPr lang="en-ZA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)−10</m:t>
                                </m:r>
                              </m:num>
                              <m:den>
                                <m:r>
                                  <a:rPr lang="en-ZA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en-ZA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7408" y="2931955"/>
                  <a:ext cx="3236592" cy="777264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5834825" y="3709219"/>
                  <a:ext cx="3309175" cy="7772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=−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ZA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ZA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ZA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ZA" sz="20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10.2</m:t>
                                </m:r>
                                <m:r>
                                  <a:rPr lang="en-ZA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ZA" sz="20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20.4/6</m:t>
                                </m:r>
                                <m:r>
                                  <a:rPr lang="en-ZA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)−10</m:t>
                                </m:r>
                              </m:num>
                              <m:den>
                                <m:r>
                                  <a:rPr lang="en-ZA" sz="20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en-ZA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4825" y="3709219"/>
                  <a:ext cx="3309175" cy="777264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5885624" y="4416477"/>
                  <a:ext cx="109677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=0.8 </m:t>
                        </m:r>
                        <m:r>
                          <a:rPr lang="en-ZA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𝐴</m:t>
                        </m:r>
                      </m:oMath>
                    </m:oMathPara>
                  </a14:m>
                  <a:endParaRPr lang="en-ZA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5624" y="4416477"/>
                  <a:ext cx="1096775" cy="40011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970886" y="5103619"/>
                <a:ext cx="4135684" cy="668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−12</m:t>
                          </m:r>
                        </m:num>
                        <m:den>
                          <m: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10.2</m:t>
                          </m:r>
                          <m: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−12</m:t>
                          </m:r>
                        </m:num>
                        <m:den>
                          <m:r>
                            <a:rPr lang="en-ZA" sz="20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sz="20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=−0.9 </m:t>
                      </m:r>
                      <m:r>
                        <a:rPr lang="en-ZA" sz="20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ZA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886" y="5103619"/>
                <a:ext cx="4135684" cy="668516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799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9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50"/>
                            </p:stCondLst>
                            <p:childTnLst>
                              <p:par>
                                <p:cTn id="9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/>
      <p:bldP spid="26" grpId="0"/>
      <p:bldP spid="27" grpId="0"/>
      <p:bldP spid="28" grpId="0"/>
      <p:bldP spid="29" grpId="0"/>
      <p:bldP spid="30" grpId="0"/>
      <p:bldP spid="33" grpId="0" animBg="1"/>
      <p:bldP spid="34" grpId="0" animBg="1"/>
      <p:bldP spid="3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E36C-F4D1-43A7-84A5-75478FA159EE}" type="slidenum">
              <a:rPr lang="en-US"/>
              <a:pPr/>
              <a:t>36</a:t>
            </a:fld>
            <a:endParaRPr lang="en-US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60231" y="228599"/>
            <a:ext cx="8243887" cy="1345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4000" b="1" dirty="0" smtClean="0"/>
              <a:t>Ch. 3 L#4: </a:t>
            </a:r>
            <a:r>
              <a:rPr lang="en-US" sz="4000" dirty="0" smtClean="0"/>
              <a:t>3.5 Mesh Analysis</a:t>
            </a:r>
            <a:br>
              <a:rPr lang="en-US" sz="4000" dirty="0" smtClean="0"/>
            </a:br>
            <a:r>
              <a:rPr lang="en-US" sz="4800" dirty="0" smtClean="0">
                <a:solidFill>
                  <a:srgbClr val="FF0000"/>
                </a:solidFill>
              </a:rPr>
              <a:t>With Current Sources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0608" y="1672825"/>
            <a:ext cx="8443509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ZA" sz="2400" b="1" dirty="0" smtClean="0">
                <a:solidFill>
                  <a:srgbClr val="000000"/>
                </a:solidFill>
              </a:rPr>
              <a:t>CASE #1:  </a:t>
            </a:r>
            <a:r>
              <a:rPr lang="en-ZA" sz="2400" dirty="0" smtClean="0">
                <a:solidFill>
                  <a:srgbClr val="000000"/>
                </a:solidFill>
              </a:rPr>
              <a:t>A current source exists only in one mesh: That loop current is then known.</a:t>
            </a:r>
          </a:p>
        </p:txBody>
      </p:sp>
      <p:pic>
        <p:nvPicPr>
          <p:cNvPr id="9" name="Picture 3" descr="ale29559_0302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83"/>
          <a:stretch/>
        </p:blipFill>
        <p:spPr bwMode="auto">
          <a:xfrm>
            <a:off x="141667" y="2722763"/>
            <a:ext cx="4997003" cy="2085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412345" y="3783697"/>
            <a:ext cx="1423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-5 A</a:t>
            </a:r>
            <a:endParaRPr lang="en-ZA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73518" y="4437173"/>
            <a:ext cx="32325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-10 + 4i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+ 6(i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– 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) = 0</a:t>
            </a:r>
          </a:p>
          <a:p>
            <a:r>
              <a:rPr lang="en-ZA" sz="2400" dirty="0">
                <a:latin typeface="Times New Roman" pitchFamily="18" charset="0"/>
                <a:cs typeface="Times New Roman" pitchFamily="18" charset="0"/>
              </a:rPr>
              <a:t>-10 +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10i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6(-5) 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>= 0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10i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-20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-2 A</a:t>
            </a:r>
            <a:endParaRPr lang="en-ZA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5486398" y="6005968"/>
            <a:ext cx="1275010" cy="0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E36C-F4D1-43A7-84A5-75478FA159EE}" type="slidenum">
              <a:rPr lang="en-US"/>
              <a:pPr/>
              <a:t>37</a:t>
            </a:fld>
            <a:endParaRPr lang="en-US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60230" y="11666"/>
            <a:ext cx="8243887" cy="929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400" dirty="0" smtClean="0"/>
              <a:t>3.5 Mesh Analysis</a:t>
            </a:r>
            <a:br>
              <a:rPr lang="en-US" sz="2400" dirty="0" smtClean="0"/>
            </a:br>
            <a:r>
              <a:rPr lang="en-US" sz="3200" dirty="0" smtClean="0">
                <a:solidFill>
                  <a:srgbClr val="FF0000"/>
                </a:solidFill>
              </a:rPr>
              <a:t>With Current Sources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800" y="1926113"/>
            <a:ext cx="9008032" cy="646331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dirty="0" smtClean="0">
                <a:solidFill>
                  <a:srgbClr val="000000"/>
                </a:solidFill>
              </a:rPr>
              <a:t>A </a:t>
            </a:r>
            <a:r>
              <a:rPr lang="en-ZA" i="1" dirty="0" smtClean="0">
                <a:solidFill>
                  <a:srgbClr val="000000"/>
                </a:solidFill>
              </a:rPr>
              <a:t>SUPERMESH </a:t>
            </a:r>
            <a:r>
              <a:rPr lang="en-ZA" dirty="0" smtClean="0">
                <a:solidFill>
                  <a:srgbClr val="000000"/>
                </a:solidFill>
              </a:rPr>
              <a:t>results when two meshes have a current source (dependent or independent), with or without other elements in series, in common.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3903" y="3783697"/>
            <a:ext cx="1799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6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– 6</a:t>
            </a:r>
            <a:endParaRPr lang="en-ZA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12914" y="5235108"/>
            <a:ext cx="3593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-20 + 6i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+ 10i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+ 4i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007" y="983707"/>
            <a:ext cx="8443509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ZA" sz="2400" b="1" dirty="0" smtClean="0">
                <a:solidFill>
                  <a:srgbClr val="000000"/>
                </a:solidFill>
              </a:rPr>
              <a:t>CASE #2:  </a:t>
            </a:r>
            <a:r>
              <a:rPr lang="en-ZA" sz="2400" dirty="0" smtClean="0">
                <a:solidFill>
                  <a:srgbClr val="000000"/>
                </a:solidFill>
              </a:rPr>
              <a:t>A current source exists between two meshes: SUPERMESH</a:t>
            </a:r>
          </a:p>
        </p:txBody>
      </p:sp>
      <p:pic>
        <p:nvPicPr>
          <p:cNvPr id="12" name="Picture 3" descr="ale29559_0302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4" r="47741"/>
          <a:stretch/>
        </p:blipFill>
        <p:spPr bwMode="auto">
          <a:xfrm>
            <a:off x="321972" y="2881581"/>
            <a:ext cx="4395808" cy="272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Arc 12"/>
          <p:cNvSpPr/>
          <p:nvPr/>
        </p:nvSpPr>
        <p:spPr bwMode="auto">
          <a:xfrm>
            <a:off x="1146220" y="3296089"/>
            <a:ext cx="2923504" cy="1585004"/>
          </a:xfrm>
          <a:prstGeom prst="arc">
            <a:avLst>
              <a:gd name="adj1" fmla="val 16200000"/>
              <a:gd name="adj2" fmla="val 13537369"/>
            </a:avLst>
          </a:prstGeom>
          <a:ln>
            <a:solidFill>
              <a:srgbClr val="0066CC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500" b="0" i="0" u="none" strike="noStrike" cap="none" normalizeH="0" baseline="0" dirty="0" smtClean="0">
              <a:ln>
                <a:noFill/>
              </a:ln>
              <a:effectLst/>
              <a:latin typeface="Verdana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665001" y="2881581"/>
            <a:ext cx="413911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Common source:</a:t>
            </a:r>
          </a:p>
          <a:p>
            <a:r>
              <a:rPr lang="en-ZA" dirty="0" smtClean="0">
                <a:solidFill>
                  <a:srgbClr val="000000"/>
                </a:solidFill>
              </a:rPr>
              <a:t>Note: i</a:t>
            </a:r>
            <a:r>
              <a:rPr lang="en-ZA" baseline="-25000" dirty="0" smtClean="0">
                <a:solidFill>
                  <a:srgbClr val="000000"/>
                </a:solidFill>
              </a:rPr>
              <a:t>2</a:t>
            </a:r>
            <a:r>
              <a:rPr lang="en-ZA" dirty="0" smtClean="0">
                <a:solidFill>
                  <a:srgbClr val="000000"/>
                </a:solidFill>
              </a:rPr>
              <a:t> flows in the same direction as the source.</a:t>
            </a:r>
            <a:endParaRPr lang="en-ZA" dirty="0">
              <a:solidFill>
                <a:srgbClr val="00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37982" y="4906851"/>
            <a:ext cx="41391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SUPERMESH:</a:t>
            </a:r>
          </a:p>
        </p:txBody>
      </p:sp>
      <p:sp>
        <p:nvSpPr>
          <p:cNvPr id="16" name="Oval 15"/>
          <p:cNvSpPr/>
          <p:nvPr/>
        </p:nvSpPr>
        <p:spPr bwMode="auto">
          <a:xfrm>
            <a:off x="7766542" y="4199195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17" name="Oval 16"/>
          <p:cNvSpPr/>
          <p:nvPr/>
        </p:nvSpPr>
        <p:spPr bwMode="auto">
          <a:xfrm>
            <a:off x="8513611" y="5273193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cxnSp>
        <p:nvCxnSpPr>
          <p:cNvPr id="18" name="Straight Arrow Connector 17"/>
          <p:cNvCxnSpPr>
            <a:stCxn id="15" idx="1"/>
          </p:cNvCxnSpPr>
          <p:nvPr/>
        </p:nvCxnSpPr>
        <p:spPr bwMode="auto">
          <a:xfrm flipH="1" flipV="1">
            <a:off x="3850783" y="4507606"/>
            <a:ext cx="887199" cy="583911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 bwMode="auto">
          <a:xfrm>
            <a:off x="367723" y="5788142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21" name="Oval 20"/>
          <p:cNvSpPr/>
          <p:nvPr/>
        </p:nvSpPr>
        <p:spPr bwMode="auto">
          <a:xfrm>
            <a:off x="1260659" y="5788142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3120" y="5799251"/>
            <a:ext cx="394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</a:rPr>
              <a:t>in</a:t>
            </a:r>
            <a:endParaRPr lang="en-ZA" dirty="0">
              <a:solidFill>
                <a:srgbClr val="0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65291" y="5754003"/>
            <a:ext cx="4020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-20 + 6(i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– 6) + 10i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+ 4i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 = 0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2.8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2423" y="6105106"/>
            <a:ext cx="1880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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- 3.2 A </a:t>
            </a:r>
          </a:p>
        </p:txBody>
      </p:sp>
      <p:cxnSp>
        <p:nvCxnSpPr>
          <p:cNvPr id="25" name="Straight Arrow Connector 24"/>
          <p:cNvCxnSpPr/>
          <p:nvPr/>
        </p:nvCxnSpPr>
        <p:spPr bwMode="auto">
          <a:xfrm>
            <a:off x="1964026" y="6585000"/>
            <a:ext cx="1275010" cy="0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 bwMode="auto">
          <a:xfrm>
            <a:off x="6362163" y="6566771"/>
            <a:ext cx="1487834" cy="9763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84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3" grpId="0" animBg="1"/>
      <p:bldP spid="14" grpId="0"/>
      <p:bldP spid="15" grpId="0"/>
      <p:bldP spid="16" grpId="0" animBg="1"/>
      <p:bldP spid="17" grpId="0" animBg="1"/>
      <p:bldP spid="20" grpId="0" animBg="1"/>
      <p:bldP spid="21" grpId="0" animBg="1"/>
      <p:bldP spid="22" grpId="0"/>
      <p:bldP spid="23" grpId="0"/>
      <p:bldP spid="2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ale29559_0302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67"/>
          <a:stretch/>
        </p:blipFill>
        <p:spPr bwMode="auto">
          <a:xfrm>
            <a:off x="4208194" y="943296"/>
            <a:ext cx="4314825" cy="2705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71590-7C2A-4F7A-8CFD-F276683E5D40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4657" y="114300"/>
            <a:ext cx="79320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 3-7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005909" y="1163847"/>
            <a:ext cx="2769264" cy="2382591"/>
            <a:chOff x="5421700" y="347730"/>
            <a:chExt cx="2769264" cy="2382591"/>
          </a:xfrm>
        </p:grpSpPr>
        <p:sp>
          <p:nvSpPr>
            <p:cNvPr id="8" name="Freeform 7"/>
            <p:cNvSpPr/>
            <p:nvPr/>
          </p:nvSpPr>
          <p:spPr>
            <a:xfrm>
              <a:off x="5531565" y="347730"/>
              <a:ext cx="2659399" cy="2382591"/>
            </a:xfrm>
            <a:custGeom>
              <a:avLst/>
              <a:gdLst>
                <a:gd name="connsiteX0" fmla="*/ 695459 w 2665926"/>
                <a:gd name="connsiteY0" fmla="*/ 12878 h 2343955"/>
                <a:gd name="connsiteX1" fmla="*/ 1365160 w 2665926"/>
                <a:gd name="connsiteY1" fmla="*/ 0 h 2343955"/>
                <a:gd name="connsiteX2" fmla="*/ 1326524 w 2665926"/>
                <a:gd name="connsiteY2" fmla="*/ 1017431 h 2343955"/>
                <a:gd name="connsiteX3" fmla="*/ 2665926 w 2665926"/>
                <a:gd name="connsiteY3" fmla="*/ 1030309 h 2343955"/>
                <a:gd name="connsiteX4" fmla="*/ 2627290 w 2665926"/>
                <a:gd name="connsiteY4" fmla="*/ 2292439 h 2343955"/>
                <a:gd name="connsiteX5" fmla="*/ 0 w 2665926"/>
                <a:gd name="connsiteY5" fmla="*/ 2343955 h 2343955"/>
                <a:gd name="connsiteX6" fmla="*/ 12878 w 2665926"/>
                <a:gd name="connsiteY6" fmla="*/ 141667 h 2343955"/>
                <a:gd name="connsiteX0" fmla="*/ 695459 w 2665927"/>
                <a:gd name="connsiteY0" fmla="*/ 12878 h 2369713"/>
                <a:gd name="connsiteX1" fmla="*/ 1365160 w 2665927"/>
                <a:gd name="connsiteY1" fmla="*/ 0 h 2369713"/>
                <a:gd name="connsiteX2" fmla="*/ 1326524 w 2665927"/>
                <a:gd name="connsiteY2" fmla="*/ 1017431 h 2369713"/>
                <a:gd name="connsiteX3" fmla="*/ 2665926 w 2665927"/>
                <a:gd name="connsiteY3" fmla="*/ 1030309 h 2369713"/>
                <a:gd name="connsiteX4" fmla="*/ 2665927 w 2665927"/>
                <a:gd name="connsiteY4" fmla="*/ 2369713 h 2369713"/>
                <a:gd name="connsiteX5" fmla="*/ 0 w 2665927"/>
                <a:gd name="connsiteY5" fmla="*/ 2343955 h 2369713"/>
                <a:gd name="connsiteX6" fmla="*/ 12878 w 2665927"/>
                <a:gd name="connsiteY6" fmla="*/ 141667 h 2369713"/>
                <a:gd name="connsiteX0" fmla="*/ 695459 w 2665927"/>
                <a:gd name="connsiteY0" fmla="*/ 12878 h 2369713"/>
                <a:gd name="connsiteX1" fmla="*/ 1365160 w 2665927"/>
                <a:gd name="connsiteY1" fmla="*/ 0 h 2369713"/>
                <a:gd name="connsiteX2" fmla="*/ 1378039 w 2665927"/>
                <a:gd name="connsiteY2" fmla="*/ 1017431 h 2369713"/>
                <a:gd name="connsiteX3" fmla="*/ 2665926 w 2665927"/>
                <a:gd name="connsiteY3" fmla="*/ 1030309 h 2369713"/>
                <a:gd name="connsiteX4" fmla="*/ 2665927 w 2665927"/>
                <a:gd name="connsiteY4" fmla="*/ 2369713 h 2369713"/>
                <a:gd name="connsiteX5" fmla="*/ 0 w 2665927"/>
                <a:gd name="connsiteY5" fmla="*/ 2343955 h 2369713"/>
                <a:gd name="connsiteX6" fmla="*/ 12878 w 2665927"/>
                <a:gd name="connsiteY6" fmla="*/ 141667 h 2369713"/>
                <a:gd name="connsiteX0" fmla="*/ 656822 w 2665927"/>
                <a:gd name="connsiteY0" fmla="*/ 12878 h 2369713"/>
                <a:gd name="connsiteX1" fmla="*/ 1365160 w 2665927"/>
                <a:gd name="connsiteY1" fmla="*/ 0 h 2369713"/>
                <a:gd name="connsiteX2" fmla="*/ 1378039 w 2665927"/>
                <a:gd name="connsiteY2" fmla="*/ 1017431 h 2369713"/>
                <a:gd name="connsiteX3" fmla="*/ 2665926 w 2665927"/>
                <a:gd name="connsiteY3" fmla="*/ 1030309 h 2369713"/>
                <a:gd name="connsiteX4" fmla="*/ 2665927 w 2665927"/>
                <a:gd name="connsiteY4" fmla="*/ 2369713 h 2369713"/>
                <a:gd name="connsiteX5" fmla="*/ 0 w 2665927"/>
                <a:gd name="connsiteY5" fmla="*/ 2343955 h 2369713"/>
                <a:gd name="connsiteX6" fmla="*/ 12878 w 2665927"/>
                <a:gd name="connsiteY6" fmla="*/ 141667 h 2369713"/>
                <a:gd name="connsiteX0" fmla="*/ 645184 w 2654289"/>
                <a:gd name="connsiteY0" fmla="*/ 12878 h 2382591"/>
                <a:gd name="connsiteX1" fmla="*/ 1353522 w 2654289"/>
                <a:gd name="connsiteY1" fmla="*/ 0 h 2382591"/>
                <a:gd name="connsiteX2" fmla="*/ 1366401 w 2654289"/>
                <a:gd name="connsiteY2" fmla="*/ 1017431 h 2382591"/>
                <a:gd name="connsiteX3" fmla="*/ 2654288 w 2654289"/>
                <a:gd name="connsiteY3" fmla="*/ 1030309 h 2382591"/>
                <a:gd name="connsiteX4" fmla="*/ 2654289 w 2654289"/>
                <a:gd name="connsiteY4" fmla="*/ 2369713 h 2382591"/>
                <a:gd name="connsiteX5" fmla="*/ 1241 w 2654289"/>
                <a:gd name="connsiteY5" fmla="*/ 2382591 h 2382591"/>
                <a:gd name="connsiteX6" fmla="*/ 1240 w 2654289"/>
                <a:gd name="connsiteY6" fmla="*/ 141667 h 2382591"/>
                <a:gd name="connsiteX0" fmla="*/ 840465 w 2849570"/>
                <a:gd name="connsiteY0" fmla="*/ 12878 h 2382591"/>
                <a:gd name="connsiteX1" fmla="*/ 1548803 w 2849570"/>
                <a:gd name="connsiteY1" fmla="*/ 0 h 2382591"/>
                <a:gd name="connsiteX2" fmla="*/ 1561682 w 2849570"/>
                <a:gd name="connsiteY2" fmla="*/ 1017431 h 2382591"/>
                <a:gd name="connsiteX3" fmla="*/ 2849569 w 2849570"/>
                <a:gd name="connsiteY3" fmla="*/ 1030309 h 2382591"/>
                <a:gd name="connsiteX4" fmla="*/ 2849570 w 2849570"/>
                <a:gd name="connsiteY4" fmla="*/ 2369713 h 2382591"/>
                <a:gd name="connsiteX5" fmla="*/ 196522 w 2849570"/>
                <a:gd name="connsiteY5" fmla="*/ 2382591 h 2382591"/>
                <a:gd name="connsiteX6" fmla="*/ 196521 w 2849570"/>
                <a:gd name="connsiteY6" fmla="*/ 283335 h 2382591"/>
                <a:gd name="connsiteX7" fmla="*/ 196521 w 2849570"/>
                <a:gd name="connsiteY7" fmla="*/ 141667 h 2382591"/>
                <a:gd name="connsiteX0" fmla="*/ 643944 w 2653049"/>
                <a:gd name="connsiteY0" fmla="*/ 12878 h 2382591"/>
                <a:gd name="connsiteX1" fmla="*/ 1352282 w 2653049"/>
                <a:gd name="connsiteY1" fmla="*/ 0 h 2382591"/>
                <a:gd name="connsiteX2" fmla="*/ 1365161 w 2653049"/>
                <a:gd name="connsiteY2" fmla="*/ 1017431 h 2382591"/>
                <a:gd name="connsiteX3" fmla="*/ 2653048 w 2653049"/>
                <a:gd name="connsiteY3" fmla="*/ 1030309 h 2382591"/>
                <a:gd name="connsiteX4" fmla="*/ 2653049 w 2653049"/>
                <a:gd name="connsiteY4" fmla="*/ 2369713 h 2382591"/>
                <a:gd name="connsiteX5" fmla="*/ 1 w 2653049"/>
                <a:gd name="connsiteY5" fmla="*/ 2382591 h 2382591"/>
                <a:gd name="connsiteX6" fmla="*/ 0 w 2653049"/>
                <a:gd name="connsiteY6" fmla="*/ 283335 h 2382591"/>
                <a:gd name="connsiteX7" fmla="*/ 0 w 2653049"/>
                <a:gd name="connsiteY7" fmla="*/ 141667 h 2382591"/>
                <a:gd name="connsiteX0" fmla="*/ 643944 w 2653049"/>
                <a:gd name="connsiteY0" fmla="*/ 64394 h 2434107"/>
                <a:gd name="connsiteX1" fmla="*/ 1352282 w 2653049"/>
                <a:gd name="connsiteY1" fmla="*/ 51516 h 2434107"/>
                <a:gd name="connsiteX2" fmla="*/ 1365161 w 2653049"/>
                <a:gd name="connsiteY2" fmla="*/ 1068947 h 2434107"/>
                <a:gd name="connsiteX3" fmla="*/ 2653048 w 2653049"/>
                <a:gd name="connsiteY3" fmla="*/ 1081825 h 2434107"/>
                <a:gd name="connsiteX4" fmla="*/ 2653049 w 2653049"/>
                <a:gd name="connsiteY4" fmla="*/ 2421229 h 2434107"/>
                <a:gd name="connsiteX5" fmla="*/ 1 w 2653049"/>
                <a:gd name="connsiteY5" fmla="*/ 2434107 h 2434107"/>
                <a:gd name="connsiteX6" fmla="*/ 0 w 2653049"/>
                <a:gd name="connsiteY6" fmla="*/ 334851 h 2434107"/>
                <a:gd name="connsiteX7" fmla="*/ 450760 w 2653049"/>
                <a:gd name="connsiteY7" fmla="*/ 0 h 2434107"/>
                <a:gd name="connsiteX0" fmla="*/ 643944 w 2653049"/>
                <a:gd name="connsiteY0" fmla="*/ 64394 h 2434107"/>
                <a:gd name="connsiteX1" fmla="*/ 1352282 w 2653049"/>
                <a:gd name="connsiteY1" fmla="*/ 51516 h 2434107"/>
                <a:gd name="connsiteX2" fmla="*/ 1365161 w 2653049"/>
                <a:gd name="connsiteY2" fmla="*/ 1068947 h 2434107"/>
                <a:gd name="connsiteX3" fmla="*/ 2653048 w 2653049"/>
                <a:gd name="connsiteY3" fmla="*/ 1081825 h 2434107"/>
                <a:gd name="connsiteX4" fmla="*/ 2653049 w 2653049"/>
                <a:gd name="connsiteY4" fmla="*/ 2421229 h 2434107"/>
                <a:gd name="connsiteX5" fmla="*/ 1 w 2653049"/>
                <a:gd name="connsiteY5" fmla="*/ 2434107 h 2434107"/>
                <a:gd name="connsiteX6" fmla="*/ 0 w 2653049"/>
                <a:gd name="connsiteY6" fmla="*/ 90152 h 2434107"/>
                <a:gd name="connsiteX7" fmla="*/ 450760 w 2653049"/>
                <a:gd name="connsiteY7" fmla="*/ 0 h 2434107"/>
                <a:gd name="connsiteX0" fmla="*/ 643944 w 2653049"/>
                <a:gd name="connsiteY0" fmla="*/ 12878 h 2382591"/>
                <a:gd name="connsiteX1" fmla="*/ 1352282 w 2653049"/>
                <a:gd name="connsiteY1" fmla="*/ 0 h 2382591"/>
                <a:gd name="connsiteX2" fmla="*/ 1365161 w 2653049"/>
                <a:gd name="connsiteY2" fmla="*/ 1017431 h 2382591"/>
                <a:gd name="connsiteX3" fmla="*/ 2653048 w 2653049"/>
                <a:gd name="connsiteY3" fmla="*/ 1030309 h 2382591"/>
                <a:gd name="connsiteX4" fmla="*/ 2653049 w 2653049"/>
                <a:gd name="connsiteY4" fmla="*/ 2369713 h 2382591"/>
                <a:gd name="connsiteX5" fmla="*/ 1 w 2653049"/>
                <a:gd name="connsiteY5" fmla="*/ 2382591 h 2382591"/>
                <a:gd name="connsiteX6" fmla="*/ 0 w 2653049"/>
                <a:gd name="connsiteY6" fmla="*/ 38636 h 2382591"/>
                <a:gd name="connsiteX7" fmla="*/ 669701 w 2653049"/>
                <a:gd name="connsiteY7" fmla="*/ 25757 h 2382591"/>
                <a:gd name="connsiteX0" fmla="*/ 643944 w 2653049"/>
                <a:gd name="connsiteY0" fmla="*/ 12878 h 2382591"/>
                <a:gd name="connsiteX1" fmla="*/ 1352282 w 2653049"/>
                <a:gd name="connsiteY1" fmla="*/ 0 h 2382591"/>
                <a:gd name="connsiteX2" fmla="*/ 1365161 w 2653049"/>
                <a:gd name="connsiteY2" fmla="*/ 1017431 h 2382591"/>
                <a:gd name="connsiteX3" fmla="*/ 2653048 w 2653049"/>
                <a:gd name="connsiteY3" fmla="*/ 1030309 h 2382591"/>
                <a:gd name="connsiteX4" fmla="*/ 2653049 w 2653049"/>
                <a:gd name="connsiteY4" fmla="*/ 2369713 h 2382591"/>
                <a:gd name="connsiteX5" fmla="*/ 1 w 2653049"/>
                <a:gd name="connsiteY5" fmla="*/ 2382591 h 2382591"/>
                <a:gd name="connsiteX6" fmla="*/ 0 w 2653049"/>
                <a:gd name="connsiteY6" fmla="*/ 38636 h 2382591"/>
                <a:gd name="connsiteX7" fmla="*/ 669701 w 2653049"/>
                <a:gd name="connsiteY7" fmla="*/ 25757 h 2382591"/>
                <a:gd name="connsiteX8" fmla="*/ 643944 w 2653049"/>
                <a:gd name="connsiteY8" fmla="*/ 12878 h 2382591"/>
                <a:gd name="connsiteX0" fmla="*/ 643944 w 2653049"/>
                <a:gd name="connsiteY0" fmla="*/ 12878 h 2382591"/>
                <a:gd name="connsiteX1" fmla="*/ 1352282 w 2653049"/>
                <a:gd name="connsiteY1" fmla="*/ 0 h 2382591"/>
                <a:gd name="connsiteX2" fmla="*/ 1365161 w 2653049"/>
                <a:gd name="connsiteY2" fmla="*/ 1017431 h 2382591"/>
                <a:gd name="connsiteX3" fmla="*/ 2653048 w 2653049"/>
                <a:gd name="connsiteY3" fmla="*/ 1030309 h 2382591"/>
                <a:gd name="connsiteX4" fmla="*/ 2653049 w 2653049"/>
                <a:gd name="connsiteY4" fmla="*/ 2369713 h 2382591"/>
                <a:gd name="connsiteX5" fmla="*/ 1 w 2653049"/>
                <a:gd name="connsiteY5" fmla="*/ 2382591 h 2382591"/>
                <a:gd name="connsiteX6" fmla="*/ 0 w 2653049"/>
                <a:gd name="connsiteY6" fmla="*/ 38636 h 2382591"/>
                <a:gd name="connsiteX7" fmla="*/ 583976 w 2653049"/>
                <a:gd name="connsiteY7" fmla="*/ 20995 h 2382591"/>
                <a:gd name="connsiteX8" fmla="*/ 643944 w 2653049"/>
                <a:gd name="connsiteY8" fmla="*/ 12878 h 2382591"/>
                <a:gd name="connsiteX0" fmla="*/ 643944 w 2653049"/>
                <a:gd name="connsiteY0" fmla="*/ 12878 h 2382591"/>
                <a:gd name="connsiteX1" fmla="*/ 1352282 w 2653049"/>
                <a:gd name="connsiteY1" fmla="*/ 0 h 2382591"/>
                <a:gd name="connsiteX2" fmla="*/ 1365161 w 2653049"/>
                <a:gd name="connsiteY2" fmla="*/ 1017431 h 2382591"/>
                <a:gd name="connsiteX3" fmla="*/ 2653048 w 2653049"/>
                <a:gd name="connsiteY3" fmla="*/ 1030309 h 2382591"/>
                <a:gd name="connsiteX4" fmla="*/ 2653049 w 2653049"/>
                <a:gd name="connsiteY4" fmla="*/ 2369713 h 2382591"/>
                <a:gd name="connsiteX5" fmla="*/ 1 w 2653049"/>
                <a:gd name="connsiteY5" fmla="*/ 2382591 h 2382591"/>
                <a:gd name="connsiteX6" fmla="*/ 0 w 2653049"/>
                <a:gd name="connsiteY6" fmla="*/ 38636 h 2382591"/>
                <a:gd name="connsiteX7" fmla="*/ 583976 w 2653049"/>
                <a:gd name="connsiteY7" fmla="*/ 20995 h 2382591"/>
                <a:gd name="connsiteX8" fmla="*/ 643944 w 2653049"/>
                <a:gd name="connsiteY8" fmla="*/ 12878 h 2382591"/>
                <a:gd name="connsiteX0" fmla="*/ 643944 w 2653049"/>
                <a:gd name="connsiteY0" fmla="*/ 12878 h 2382591"/>
                <a:gd name="connsiteX1" fmla="*/ 1352282 w 2653049"/>
                <a:gd name="connsiteY1" fmla="*/ 0 h 2382591"/>
                <a:gd name="connsiteX2" fmla="*/ 1365161 w 2653049"/>
                <a:gd name="connsiteY2" fmla="*/ 1017431 h 2382591"/>
                <a:gd name="connsiteX3" fmla="*/ 2653048 w 2653049"/>
                <a:gd name="connsiteY3" fmla="*/ 1030309 h 2382591"/>
                <a:gd name="connsiteX4" fmla="*/ 2653049 w 2653049"/>
                <a:gd name="connsiteY4" fmla="*/ 2369713 h 2382591"/>
                <a:gd name="connsiteX5" fmla="*/ 1 w 2653049"/>
                <a:gd name="connsiteY5" fmla="*/ 2382591 h 2382591"/>
                <a:gd name="connsiteX6" fmla="*/ 0 w 2653049"/>
                <a:gd name="connsiteY6" fmla="*/ 38636 h 2382591"/>
                <a:gd name="connsiteX7" fmla="*/ 381569 w 2653049"/>
                <a:gd name="connsiteY7" fmla="*/ 23376 h 2382591"/>
                <a:gd name="connsiteX8" fmla="*/ 643944 w 2653049"/>
                <a:gd name="connsiteY8" fmla="*/ 12878 h 2382591"/>
                <a:gd name="connsiteX0" fmla="*/ 643944 w 2653049"/>
                <a:gd name="connsiteY0" fmla="*/ 12878 h 2382591"/>
                <a:gd name="connsiteX1" fmla="*/ 1352282 w 2653049"/>
                <a:gd name="connsiteY1" fmla="*/ 0 h 2382591"/>
                <a:gd name="connsiteX2" fmla="*/ 1365161 w 2653049"/>
                <a:gd name="connsiteY2" fmla="*/ 1017431 h 2382591"/>
                <a:gd name="connsiteX3" fmla="*/ 2653048 w 2653049"/>
                <a:gd name="connsiteY3" fmla="*/ 1030309 h 2382591"/>
                <a:gd name="connsiteX4" fmla="*/ 2653049 w 2653049"/>
                <a:gd name="connsiteY4" fmla="*/ 2369713 h 2382591"/>
                <a:gd name="connsiteX5" fmla="*/ 1 w 2653049"/>
                <a:gd name="connsiteY5" fmla="*/ 2382591 h 2382591"/>
                <a:gd name="connsiteX6" fmla="*/ 0 w 2653049"/>
                <a:gd name="connsiteY6" fmla="*/ 38636 h 2382591"/>
                <a:gd name="connsiteX7" fmla="*/ 643944 w 2653049"/>
                <a:gd name="connsiteY7" fmla="*/ 12878 h 2382591"/>
                <a:gd name="connsiteX0" fmla="*/ 650294 w 2659399"/>
                <a:gd name="connsiteY0" fmla="*/ 12878 h 2382591"/>
                <a:gd name="connsiteX1" fmla="*/ 1358632 w 2659399"/>
                <a:gd name="connsiteY1" fmla="*/ 0 h 2382591"/>
                <a:gd name="connsiteX2" fmla="*/ 1371511 w 2659399"/>
                <a:gd name="connsiteY2" fmla="*/ 1017431 h 2382591"/>
                <a:gd name="connsiteX3" fmla="*/ 2659398 w 2659399"/>
                <a:gd name="connsiteY3" fmla="*/ 1030309 h 2382591"/>
                <a:gd name="connsiteX4" fmla="*/ 2659399 w 2659399"/>
                <a:gd name="connsiteY4" fmla="*/ 2369713 h 2382591"/>
                <a:gd name="connsiteX5" fmla="*/ 6351 w 2659399"/>
                <a:gd name="connsiteY5" fmla="*/ 2382591 h 2382591"/>
                <a:gd name="connsiteX6" fmla="*/ 0 w 2659399"/>
                <a:gd name="connsiteY6" fmla="*/ 536 h 2382591"/>
                <a:gd name="connsiteX7" fmla="*/ 650294 w 2659399"/>
                <a:gd name="connsiteY7" fmla="*/ 12878 h 2382591"/>
                <a:gd name="connsiteX0" fmla="*/ 0 w 2659399"/>
                <a:gd name="connsiteY0" fmla="*/ 536 h 2382591"/>
                <a:gd name="connsiteX1" fmla="*/ 1358632 w 2659399"/>
                <a:gd name="connsiteY1" fmla="*/ 0 h 2382591"/>
                <a:gd name="connsiteX2" fmla="*/ 1371511 w 2659399"/>
                <a:gd name="connsiteY2" fmla="*/ 1017431 h 2382591"/>
                <a:gd name="connsiteX3" fmla="*/ 2659398 w 2659399"/>
                <a:gd name="connsiteY3" fmla="*/ 1030309 h 2382591"/>
                <a:gd name="connsiteX4" fmla="*/ 2659399 w 2659399"/>
                <a:gd name="connsiteY4" fmla="*/ 2369713 h 2382591"/>
                <a:gd name="connsiteX5" fmla="*/ 6351 w 2659399"/>
                <a:gd name="connsiteY5" fmla="*/ 2382591 h 2382591"/>
                <a:gd name="connsiteX6" fmla="*/ 0 w 2659399"/>
                <a:gd name="connsiteY6" fmla="*/ 536 h 2382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9399" h="2382591">
                  <a:moveTo>
                    <a:pt x="0" y="536"/>
                  </a:moveTo>
                  <a:lnTo>
                    <a:pt x="1358632" y="0"/>
                  </a:lnTo>
                  <a:lnTo>
                    <a:pt x="1371511" y="1017431"/>
                  </a:lnTo>
                  <a:lnTo>
                    <a:pt x="2659398" y="1030309"/>
                  </a:lnTo>
                  <a:cubicBezTo>
                    <a:pt x="2659398" y="1476777"/>
                    <a:pt x="2659399" y="1923245"/>
                    <a:pt x="2659399" y="2369713"/>
                  </a:cubicBezTo>
                  <a:lnTo>
                    <a:pt x="6351" y="2382591"/>
                  </a:lnTo>
                  <a:cubicBezTo>
                    <a:pt x="6351" y="1682839"/>
                    <a:pt x="0" y="700288"/>
                    <a:pt x="0" y="536"/>
                  </a:cubicBezTo>
                  <a:close/>
                </a:path>
              </a:pathLst>
            </a:custGeom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" name="Right Arrow 8"/>
            <p:cNvSpPr/>
            <p:nvPr/>
          </p:nvSpPr>
          <p:spPr bwMode="auto">
            <a:xfrm>
              <a:off x="7200900" y="1260010"/>
              <a:ext cx="285750" cy="219730"/>
            </a:xfrm>
            <a:prstGeom prst="rightArrow">
              <a:avLst>
                <a:gd name="adj1" fmla="val 42538"/>
                <a:gd name="adj2" fmla="val 47777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0" name="Right Arrow 9"/>
            <p:cNvSpPr/>
            <p:nvPr/>
          </p:nvSpPr>
          <p:spPr bwMode="auto">
            <a:xfrm rot="16200000">
              <a:off x="5388690" y="1844210"/>
              <a:ext cx="285750" cy="219730"/>
            </a:xfrm>
            <a:prstGeom prst="rightArrow">
              <a:avLst>
                <a:gd name="adj1" fmla="val 42538"/>
                <a:gd name="adj2" fmla="val 47777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666529" y="3225212"/>
            <a:ext cx="1799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5216" y="2940422"/>
            <a:ext cx="2489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Common source: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28298" y="3952193"/>
            <a:ext cx="2489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Supermesh</a:t>
            </a:r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8298" y="4286326"/>
            <a:ext cx="4467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-6 + 2(i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+ 4(i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+ 8i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0</a:t>
            </a:r>
          </a:p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2i</a:t>
            </a:r>
            <a:r>
              <a:rPr lang="en-ZA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12i</a:t>
            </a:r>
            <a:r>
              <a:rPr lang="en-ZA" sz="2400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ZA" sz="2400" dirty="0" smtClean="0">
                <a:solidFill>
                  <a:srgbClr val="0066CC"/>
                </a:solidFill>
                <a:latin typeface="Times New Roman" pitchFamily="18" charset="0"/>
                <a:cs typeface="Times New Roman" pitchFamily="18" charset="0"/>
              </a:rPr>
              <a:t>6i</a:t>
            </a:r>
            <a:r>
              <a:rPr lang="en-ZA" sz="2400" baseline="-25000" dirty="0" smtClean="0">
                <a:solidFill>
                  <a:srgbClr val="0066CC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93192" y="5247025"/>
            <a:ext cx="2489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3: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3192" y="5600136"/>
            <a:ext cx="3757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2(i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+ 2i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+ 4(i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= 0</a:t>
            </a:r>
          </a:p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-2i</a:t>
            </a:r>
            <a:r>
              <a:rPr lang="en-ZA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4i</a:t>
            </a:r>
            <a:r>
              <a:rPr lang="en-ZA" sz="2400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</a:t>
            </a:r>
            <a:r>
              <a:rPr lang="en-ZA" sz="2400" dirty="0" smtClean="0">
                <a:solidFill>
                  <a:srgbClr val="0066CC"/>
                </a:solidFill>
                <a:latin typeface="Times New Roman" pitchFamily="18" charset="0"/>
                <a:cs typeface="Times New Roman" pitchFamily="18" charset="0"/>
              </a:rPr>
              <a:t> 8i</a:t>
            </a:r>
            <a:r>
              <a:rPr lang="en-ZA" sz="2400" baseline="-25000" dirty="0" smtClean="0">
                <a:solidFill>
                  <a:srgbClr val="0066CC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66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0</a:t>
            </a:r>
          </a:p>
        </p:txBody>
      </p:sp>
      <p:sp>
        <p:nvSpPr>
          <p:cNvPr id="18" name="Oval 17"/>
          <p:cNvSpPr/>
          <p:nvPr/>
        </p:nvSpPr>
        <p:spPr bwMode="auto">
          <a:xfrm>
            <a:off x="3286870" y="3263669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19" name="Oval 18"/>
          <p:cNvSpPr/>
          <p:nvPr/>
        </p:nvSpPr>
        <p:spPr bwMode="auto">
          <a:xfrm>
            <a:off x="4573883" y="4732573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20" name="Oval 19"/>
          <p:cNvSpPr/>
          <p:nvPr/>
        </p:nvSpPr>
        <p:spPr bwMode="auto">
          <a:xfrm>
            <a:off x="4573882" y="6062048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6823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4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 animBg="1"/>
      <p:bldP spid="2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le29559_0309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26"/>
          <a:stretch/>
        </p:blipFill>
        <p:spPr bwMode="auto">
          <a:xfrm>
            <a:off x="3302186" y="114299"/>
            <a:ext cx="4849416" cy="2929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7" y="114300"/>
            <a:ext cx="79320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3-46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Solve for the mesh currents.</a:t>
            </a:r>
            <a:endParaRPr lang="en-ZA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794" y="1795657"/>
            <a:ext cx="1799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110" y="2859560"/>
            <a:ext cx="2489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1: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110" y="3212671"/>
            <a:ext cx="3757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-60 + 2i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+ 1(i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= 0</a:t>
            </a:r>
          </a:p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3i</a:t>
            </a:r>
            <a:r>
              <a:rPr lang="en-ZA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60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9424" y="4073111"/>
            <a:ext cx="2489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2: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9424" y="4426222"/>
            <a:ext cx="4860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1(i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3(i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+ 1(i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5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en-ZA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45448" y="5454878"/>
            <a:ext cx="2489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3: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5449" y="5807989"/>
            <a:ext cx="270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1(i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10i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–i</a:t>
            </a:r>
            <a:r>
              <a:rPr lang="en-ZA" sz="2400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11i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62373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7" y="114300"/>
            <a:ext cx="79320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3-46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8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800" i="1" baseline="-25000" dirty="0" err="1" smtClean="0">
                <a:latin typeface="Times New Roman" pitchFamily="18" charset="0"/>
                <a:cs typeface="Times New Roman" pitchFamily="18" charset="0"/>
              </a:rPr>
              <a:t>o</a:t>
            </a:r>
            <a:endParaRPr lang="en-ZA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ale29559_0309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8"/>
          <a:stretch/>
        </p:blipFill>
        <p:spPr bwMode="auto">
          <a:xfrm>
            <a:off x="3503053" y="412123"/>
            <a:ext cx="4906851" cy="3162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rc 4"/>
          <p:cNvSpPr/>
          <p:nvPr/>
        </p:nvSpPr>
        <p:spPr bwMode="auto">
          <a:xfrm>
            <a:off x="4584879" y="1004369"/>
            <a:ext cx="2923504" cy="573271"/>
          </a:xfrm>
          <a:prstGeom prst="arc">
            <a:avLst>
              <a:gd name="adj1" fmla="val 16200000"/>
              <a:gd name="adj2" fmla="val 13537369"/>
            </a:avLst>
          </a:prstGeom>
          <a:ln>
            <a:solidFill>
              <a:srgbClr val="0066CC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sz="2000" dirty="0" smtClean="0">
                <a:latin typeface="Verdana" pitchFamily="34" charset="0"/>
              </a:rPr>
              <a:t>i</a:t>
            </a:r>
            <a:r>
              <a:rPr lang="en-ZA" sz="2000" baseline="-25000" dirty="0" smtClean="0">
                <a:latin typeface="Verdana" pitchFamily="34" charset="0"/>
              </a:rPr>
              <a:t>3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4430512" y="1607970"/>
            <a:ext cx="2868365" cy="1584694"/>
            <a:chOff x="4430512" y="1607970"/>
            <a:chExt cx="2868365" cy="1584694"/>
          </a:xfrm>
        </p:grpSpPr>
        <p:sp>
          <p:nvSpPr>
            <p:cNvPr id="6" name="Freeform 5"/>
            <p:cNvSpPr/>
            <p:nvPr/>
          </p:nvSpPr>
          <p:spPr>
            <a:xfrm>
              <a:off x="4430512" y="1713411"/>
              <a:ext cx="2868365" cy="1343987"/>
            </a:xfrm>
            <a:custGeom>
              <a:avLst/>
              <a:gdLst>
                <a:gd name="connsiteX0" fmla="*/ 695459 w 2665926"/>
                <a:gd name="connsiteY0" fmla="*/ 12878 h 2343955"/>
                <a:gd name="connsiteX1" fmla="*/ 1365160 w 2665926"/>
                <a:gd name="connsiteY1" fmla="*/ 0 h 2343955"/>
                <a:gd name="connsiteX2" fmla="*/ 1326524 w 2665926"/>
                <a:gd name="connsiteY2" fmla="*/ 1017431 h 2343955"/>
                <a:gd name="connsiteX3" fmla="*/ 2665926 w 2665926"/>
                <a:gd name="connsiteY3" fmla="*/ 1030309 h 2343955"/>
                <a:gd name="connsiteX4" fmla="*/ 2627290 w 2665926"/>
                <a:gd name="connsiteY4" fmla="*/ 2292439 h 2343955"/>
                <a:gd name="connsiteX5" fmla="*/ 0 w 2665926"/>
                <a:gd name="connsiteY5" fmla="*/ 2343955 h 2343955"/>
                <a:gd name="connsiteX6" fmla="*/ 12878 w 2665926"/>
                <a:gd name="connsiteY6" fmla="*/ 141667 h 2343955"/>
                <a:gd name="connsiteX0" fmla="*/ 695459 w 2665927"/>
                <a:gd name="connsiteY0" fmla="*/ 12878 h 2369713"/>
                <a:gd name="connsiteX1" fmla="*/ 1365160 w 2665927"/>
                <a:gd name="connsiteY1" fmla="*/ 0 h 2369713"/>
                <a:gd name="connsiteX2" fmla="*/ 1326524 w 2665927"/>
                <a:gd name="connsiteY2" fmla="*/ 1017431 h 2369713"/>
                <a:gd name="connsiteX3" fmla="*/ 2665926 w 2665927"/>
                <a:gd name="connsiteY3" fmla="*/ 1030309 h 2369713"/>
                <a:gd name="connsiteX4" fmla="*/ 2665927 w 2665927"/>
                <a:gd name="connsiteY4" fmla="*/ 2369713 h 2369713"/>
                <a:gd name="connsiteX5" fmla="*/ 0 w 2665927"/>
                <a:gd name="connsiteY5" fmla="*/ 2343955 h 2369713"/>
                <a:gd name="connsiteX6" fmla="*/ 12878 w 2665927"/>
                <a:gd name="connsiteY6" fmla="*/ 141667 h 2369713"/>
                <a:gd name="connsiteX0" fmla="*/ 695459 w 2665927"/>
                <a:gd name="connsiteY0" fmla="*/ 12878 h 2369713"/>
                <a:gd name="connsiteX1" fmla="*/ 1365160 w 2665927"/>
                <a:gd name="connsiteY1" fmla="*/ 0 h 2369713"/>
                <a:gd name="connsiteX2" fmla="*/ 1378039 w 2665927"/>
                <a:gd name="connsiteY2" fmla="*/ 1017431 h 2369713"/>
                <a:gd name="connsiteX3" fmla="*/ 2665926 w 2665927"/>
                <a:gd name="connsiteY3" fmla="*/ 1030309 h 2369713"/>
                <a:gd name="connsiteX4" fmla="*/ 2665927 w 2665927"/>
                <a:gd name="connsiteY4" fmla="*/ 2369713 h 2369713"/>
                <a:gd name="connsiteX5" fmla="*/ 0 w 2665927"/>
                <a:gd name="connsiteY5" fmla="*/ 2343955 h 2369713"/>
                <a:gd name="connsiteX6" fmla="*/ 12878 w 2665927"/>
                <a:gd name="connsiteY6" fmla="*/ 141667 h 2369713"/>
                <a:gd name="connsiteX0" fmla="*/ 656822 w 2665927"/>
                <a:gd name="connsiteY0" fmla="*/ 12878 h 2369713"/>
                <a:gd name="connsiteX1" fmla="*/ 1365160 w 2665927"/>
                <a:gd name="connsiteY1" fmla="*/ 0 h 2369713"/>
                <a:gd name="connsiteX2" fmla="*/ 1378039 w 2665927"/>
                <a:gd name="connsiteY2" fmla="*/ 1017431 h 2369713"/>
                <a:gd name="connsiteX3" fmla="*/ 2665926 w 2665927"/>
                <a:gd name="connsiteY3" fmla="*/ 1030309 h 2369713"/>
                <a:gd name="connsiteX4" fmla="*/ 2665927 w 2665927"/>
                <a:gd name="connsiteY4" fmla="*/ 2369713 h 2369713"/>
                <a:gd name="connsiteX5" fmla="*/ 0 w 2665927"/>
                <a:gd name="connsiteY5" fmla="*/ 2343955 h 2369713"/>
                <a:gd name="connsiteX6" fmla="*/ 12878 w 2665927"/>
                <a:gd name="connsiteY6" fmla="*/ 141667 h 2369713"/>
                <a:gd name="connsiteX0" fmla="*/ 645184 w 2654289"/>
                <a:gd name="connsiteY0" fmla="*/ 12878 h 2382591"/>
                <a:gd name="connsiteX1" fmla="*/ 1353522 w 2654289"/>
                <a:gd name="connsiteY1" fmla="*/ 0 h 2382591"/>
                <a:gd name="connsiteX2" fmla="*/ 1366401 w 2654289"/>
                <a:gd name="connsiteY2" fmla="*/ 1017431 h 2382591"/>
                <a:gd name="connsiteX3" fmla="*/ 2654288 w 2654289"/>
                <a:gd name="connsiteY3" fmla="*/ 1030309 h 2382591"/>
                <a:gd name="connsiteX4" fmla="*/ 2654289 w 2654289"/>
                <a:gd name="connsiteY4" fmla="*/ 2369713 h 2382591"/>
                <a:gd name="connsiteX5" fmla="*/ 1241 w 2654289"/>
                <a:gd name="connsiteY5" fmla="*/ 2382591 h 2382591"/>
                <a:gd name="connsiteX6" fmla="*/ 1240 w 2654289"/>
                <a:gd name="connsiteY6" fmla="*/ 141667 h 2382591"/>
                <a:gd name="connsiteX0" fmla="*/ 840465 w 2849570"/>
                <a:gd name="connsiteY0" fmla="*/ 12878 h 2382591"/>
                <a:gd name="connsiteX1" fmla="*/ 1548803 w 2849570"/>
                <a:gd name="connsiteY1" fmla="*/ 0 h 2382591"/>
                <a:gd name="connsiteX2" fmla="*/ 1561682 w 2849570"/>
                <a:gd name="connsiteY2" fmla="*/ 1017431 h 2382591"/>
                <a:gd name="connsiteX3" fmla="*/ 2849569 w 2849570"/>
                <a:gd name="connsiteY3" fmla="*/ 1030309 h 2382591"/>
                <a:gd name="connsiteX4" fmla="*/ 2849570 w 2849570"/>
                <a:gd name="connsiteY4" fmla="*/ 2369713 h 2382591"/>
                <a:gd name="connsiteX5" fmla="*/ 196522 w 2849570"/>
                <a:gd name="connsiteY5" fmla="*/ 2382591 h 2382591"/>
                <a:gd name="connsiteX6" fmla="*/ 196521 w 2849570"/>
                <a:gd name="connsiteY6" fmla="*/ 283335 h 2382591"/>
                <a:gd name="connsiteX7" fmla="*/ 196521 w 2849570"/>
                <a:gd name="connsiteY7" fmla="*/ 141667 h 2382591"/>
                <a:gd name="connsiteX0" fmla="*/ 643944 w 2653049"/>
                <a:gd name="connsiteY0" fmla="*/ 12878 h 2382591"/>
                <a:gd name="connsiteX1" fmla="*/ 1352282 w 2653049"/>
                <a:gd name="connsiteY1" fmla="*/ 0 h 2382591"/>
                <a:gd name="connsiteX2" fmla="*/ 1365161 w 2653049"/>
                <a:gd name="connsiteY2" fmla="*/ 1017431 h 2382591"/>
                <a:gd name="connsiteX3" fmla="*/ 2653048 w 2653049"/>
                <a:gd name="connsiteY3" fmla="*/ 1030309 h 2382591"/>
                <a:gd name="connsiteX4" fmla="*/ 2653049 w 2653049"/>
                <a:gd name="connsiteY4" fmla="*/ 2369713 h 2382591"/>
                <a:gd name="connsiteX5" fmla="*/ 1 w 2653049"/>
                <a:gd name="connsiteY5" fmla="*/ 2382591 h 2382591"/>
                <a:gd name="connsiteX6" fmla="*/ 0 w 2653049"/>
                <a:gd name="connsiteY6" fmla="*/ 283335 h 2382591"/>
                <a:gd name="connsiteX7" fmla="*/ 0 w 2653049"/>
                <a:gd name="connsiteY7" fmla="*/ 141667 h 2382591"/>
                <a:gd name="connsiteX0" fmla="*/ 643944 w 2653049"/>
                <a:gd name="connsiteY0" fmla="*/ 64394 h 2434107"/>
                <a:gd name="connsiteX1" fmla="*/ 1352282 w 2653049"/>
                <a:gd name="connsiteY1" fmla="*/ 51516 h 2434107"/>
                <a:gd name="connsiteX2" fmla="*/ 1365161 w 2653049"/>
                <a:gd name="connsiteY2" fmla="*/ 1068947 h 2434107"/>
                <a:gd name="connsiteX3" fmla="*/ 2653048 w 2653049"/>
                <a:gd name="connsiteY3" fmla="*/ 1081825 h 2434107"/>
                <a:gd name="connsiteX4" fmla="*/ 2653049 w 2653049"/>
                <a:gd name="connsiteY4" fmla="*/ 2421229 h 2434107"/>
                <a:gd name="connsiteX5" fmla="*/ 1 w 2653049"/>
                <a:gd name="connsiteY5" fmla="*/ 2434107 h 2434107"/>
                <a:gd name="connsiteX6" fmla="*/ 0 w 2653049"/>
                <a:gd name="connsiteY6" fmla="*/ 334851 h 2434107"/>
                <a:gd name="connsiteX7" fmla="*/ 450760 w 2653049"/>
                <a:gd name="connsiteY7" fmla="*/ 0 h 2434107"/>
                <a:gd name="connsiteX0" fmla="*/ 643944 w 2653049"/>
                <a:gd name="connsiteY0" fmla="*/ 64394 h 2434107"/>
                <a:gd name="connsiteX1" fmla="*/ 1352282 w 2653049"/>
                <a:gd name="connsiteY1" fmla="*/ 51516 h 2434107"/>
                <a:gd name="connsiteX2" fmla="*/ 1365161 w 2653049"/>
                <a:gd name="connsiteY2" fmla="*/ 1068947 h 2434107"/>
                <a:gd name="connsiteX3" fmla="*/ 2653048 w 2653049"/>
                <a:gd name="connsiteY3" fmla="*/ 1081825 h 2434107"/>
                <a:gd name="connsiteX4" fmla="*/ 2653049 w 2653049"/>
                <a:gd name="connsiteY4" fmla="*/ 2421229 h 2434107"/>
                <a:gd name="connsiteX5" fmla="*/ 1 w 2653049"/>
                <a:gd name="connsiteY5" fmla="*/ 2434107 h 2434107"/>
                <a:gd name="connsiteX6" fmla="*/ 0 w 2653049"/>
                <a:gd name="connsiteY6" fmla="*/ 90152 h 2434107"/>
                <a:gd name="connsiteX7" fmla="*/ 450760 w 2653049"/>
                <a:gd name="connsiteY7" fmla="*/ 0 h 2434107"/>
                <a:gd name="connsiteX0" fmla="*/ 643944 w 2653049"/>
                <a:gd name="connsiteY0" fmla="*/ 12878 h 2382591"/>
                <a:gd name="connsiteX1" fmla="*/ 1352282 w 2653049"/>
                <a:gd name="connsiteY1" fmla="*/ 0 h 2382591"/>
                <a:gd name="connsiteX2" fmla="*/ 1365161 w 2653049"/>
                <a:gd name="connsiteY2" fmla="*/ 1017431 h 2382591"/>
                <a:gd name="connsiteX3" fmla="*/ 2653048 w 2653049"/>
                <a:gd name="connsiteY3" fmla="*/ 1030309 h 2382591"/>
                <a:gd name="connsiteX4" fmla="*/ 2653049 w 2653049"/>
                <a:gd name="connsiteY4" fmla="*/ 2369713 h 2382591"/>
                <a:gd name="connsiteX5" fmla="*/ 1 w 2653049"/>
                <a:gd name="connsiteY5" fmla="*/ 2382591 h 2382591"/>
                <a:gd name="connsiteX6" fmla="*/ 0 w 2653049"/>
                <a:gd name="connsiteY6" fmla="*/ 38636 h 2382591"/>
                <a:gd name="connsiteX7" fmla="*/ 669701 w 2653049"/>
                <a:gd name="connsiteY7" fmla="*/ 25757 h 2382591"/>
                <a:gd name="connsiteX0" fmla="*/ 643944 w 2653049"/>
                <a:gd name="connsiteY0" fmla="*/ 12878 h 2382591"/>
                <a:gd name="connsiteX1" fmla="*/ 1352282 w 2653049"/>
                <a:gd name="connsiteY1" fmla="*/ 0 h 2382591"/>
                <a:gd name="connsiteX2" fmla="*/ 1365161 w 2653049"/>
                <a:gd name="connsiteY2" fmla="*/ 1017431 h 2382591"/>
                <a:gd name="connsiteX3" fmla="*/ 2653048 w 2653049"/>
                <a:gd name="connsiteY3" fmla="*/ 1030309 h 2382591"/>
                <a:gd name="connsiteX4" fmla="*/ 2653049 w 2653049"/>
                <a:gd name="connsiteY4" fmla="*/ 2369713 h 2382591"/>
                <a:gd name="connsiteX5" fmla="*/ 1 w 2653049"/>
                <a:gd name="connsiteY5" fmla="*/ 2382591 h 2382591"/>
                <a:gd name="connsiteX6" fmla="*/ 0 w 2653049"/>
                <a:gd name="connsiteY6" fmla="*/ 38636 h 2382591"/>
                <a:gd name="connsiteX7" fmla="*/ 669701 w 2653049"/>
                <a:gd name="connsiteY7" fmla="*/ 25757 h 2382591"/>
                <a:gd name="connsiteX8" fmla="*/ 643944 w 2653049"/>
                <a:gd name="connsiteY8" fmla="*/ 12878 h 2382591"/>
                <a:gd name="connsiteX0" fmla="*/ 643944 w 2653049"/>
                <a:gd name="connsiteY0" fmla="*/ 12878 h 2382591"/>
                <a:gd name="connsiteX1" fmla="*/ 1352282 w 2653049"/>
                <a:gd name="connsiteY1" fmla="*/ 0 h 2382591"/>
                <a:gd name="connsiteX2" fmla="*/ 1365161 w 2653049"/>
                <a:gd name="connsiteY2" fmla="*/ 1017431 h 2382591"/>
                <a:gd name="connsiteX3" fmla="*/ 2653048 w 2653049"/>
                <a:gd name="connsiteY3" fmla="*/ 1030309 h 2382591"/>
                <a:gd name="connsiteX4" fmla="*/ 2653049 w 2653049"/>
                <a:gd name="connsiteY4" fmla="*/ 2369713 h 2382591"/>
                <a:gd name="connsiteX5" fmla="*/ 1 w 2653049"/>
                <a:gd name="connsiteY5" fmla="*/ 2382591 h 2382591"/>
                <a:gd name="connsiteX6" fmla="*/ 0 w 2653049"/>
                <a:gd name="connsiteY6" fmla="*/ 38636 h 2382591"/>
                <a:gd name="connsiteX7" fmla="*/ 583976 w 2653049"/>
                <a:gd name="connsiteY7" fmla="*/ 20995 h 2382591"/>
                <a:gd name="connsiteX8" fmla="*/ 643944 w 2653049"/>
                <a:gd name="connsiteY8" fmla="*/ 12878 h 2382591"/>
                <a:gd name="connsiteX0" fmla="*/ 643944 w 2653049"/>
                <a:gd name="connsiteY0" fmla="*/ 12878 h 2382591"/>
                <a:gd name="connsiteX1" fmla="*/ 1352282 w 2653049"/>
                <a:gd name="connsiteY1" fmla="*/ 0 h 2382591"/>
                <a:gd name="connsiteX2" fmla="*/ 1365161 w 2653049"/>
                <a:gd name="connsiteY2" fmla="*/ 1017431 h 2382591"/>
                <a:gd name="connsiteX3" fmla="*/ 2653048 w 2653049"/>
                <a:gd name="connsiteY3" fmla="*/ 1030309 h 2382591"/>
                <a:gd name="connsiteX4" fmla="*/ 2653049 w 2653049"/>
                <a:gd name="connsiteY4" fmla="*/ 2369713 h 2382591"/>
                <a:gd name="connsiteX5" fmla="*/ 1 w 2653049"/>
                <a:gd name="connsiteY5" fmla="*/ 2382591 h 2382591"/>
                <a:gd name="connsiteX6" fmla="*/ 0 w 2653049"/>
                <a:gd name="connsiteY6" fmla="*/ 38636 h 2382591"/>
                <a:gd name="connsiteX7" fmla="*/ 583976 w 2653049"/>
                <a:gd name="connsiteY7" fmla="*/ 20995 h 2382591"/>
                <a:gd name="connsiteX8" fmla="*/ 643944 w 2653049"/>
                <a:gd name="connsiteY8" fmla="*/ 12878 h 2382591"/>
                <a:gd name="connsiteX0" fmla="*/ 643944 w 2653049"/>
                <a:gd name="connsiteY0" fmla="*/ 12878 h 2382591"/>
                <a:gd name="connsiteX1" fmla="*/ 1352282 w 2653049"/>
                <a:gd name="connsiteY1" fmla="*/ 0 h 2382591"/>
                <a:gd name="connsiteX2" fmla="*/ 1365161 w 2653049"/>
                <a:gd name="connsiteY2" fmla="*/ 1017431 h 2382591"/>
                <a:gd name="connsiteX3" fmla="*/ 2653048 w 2653049"/>
                <a:gd name="connsiteY3" fmla="*/ 1030309 h 2382591"/>
                <a:gd name="connsiteX4" fmla="*/ 2653049 w 2653049"/>
                <a:gd name="connsiteY4" fmla="*/ 2369713 h 2382591"/>
                <a:gd name="connsiteX5" fmla="*/ 1 w 2653049"/>
                <a:gd name="connsiteY5" fmla="*/ 2382591 h 2382591"/>
                <a:gd name="connsiteX6" fmla="*/ 0 w 2653049"/>
                <a:gd name="connsiteY6" fmla="*/ 38636 h 2382591"/>
                <a:gd name="connsiteX7" fmla="*/ 381569 w 2653049"/>
                <a:gd name="connsiteY7" fmla="*/ 23376 h 2382591"/>
                <a:gd name="connsiteX8" fmla="*/ 643944 w 2653049"/>
                <a:gd name="connsiteY8" fmla="*/ 12878 h 2382591"/>
                <a:gd name="connsiteX0" fmla="*/ 643944 w 2653049"/>
                <a:gd name="connsiteY0" fmla="*/ 12878 h 2382591"/>
                <a:gd name="connsiteX1" fmla="*/ 1352282 w 2653049"/>
                <a:gd name="connsiteY1" fmla="*/ 0 h 2382591"/>
                <a:gd name="connsiteX2" fmla="*/ 1365161 w 2653049"/>
                <a:gd name="connsiteY2" fmla="*/ 1017431 h 2382591"/>
                <a:gd name="connsiteX3" fmla="*/ 2653048 w 2653049"/>
                <a:gd name="connsiteY3" fmla="*/ 1030309 h 2382591"/>
                <a:gd name="connsiteX4" fmla="*/ 2653049 w 2653049"/>
                <a:gd name="connsiteY4" fmla="*/ 2369713 h 2382591"/>
                <a:gd name="connsiteX5" fmla="*/ 1 w 2653049"/>
                <a:gd name="connsiteY5" fmla="*/ 2382591 h 2382591"/>
                <a:gd name="connsiteX6" fmla="*/ 0 w 2653049"/>
                <a:gd name="connsiteY6" fmla="*/ 38636 h 2382591"/>
                <a:gd name="connsiteX7" fmla="*/ 643944 w 2653049"/>
                <a:gd name="connsiteY7" fmla="*/ 12878 h 2382591"/>
                <a:gd name="connsiteX0" fmla="*/ 650294 w 2659399"/>
                <a:gd name="connsiteY0" fmla="*/ 12878 h 2382591"/>
                <a:gd name="connsiteX1" fmla="*/ 1358632 w 2659399"/>
                <a:gd name="connsiteY1" fmla="*/ 0 h 2382591"/>
                <a:gd name="connsiteX2" fmla="*/ 1371511 w 2659399"/>
                <a:gd name="connsiteY2" fmla="*/ 1017431 h 2382591"/>
                <a:gd name="connsiteX3" fmla="*/ 2659398 w 2659399"/>
                <a:gd name="connsiteY3" fmla="*/ 1030309 h 2382591"/>
                <a:gd name="connsiteX4" fmla="*/ 2659399 w 2659399"/>
                <a:gd name="connsiteY4" fmla="*/ 2369713 h 2382591"/>
                <a:gd name="connsiteX5" fmla="*/ 6351 w 2659399"/>
                <a:gd name="connsiteY5" fmla="*/ 2382591 h 2382591"/>
                <a:gd name="connsiteX6" fmla="*/ 0 w 2659399"/>
                <a:gd name="connsiteY6" fmla="*/ 536 h 2382591"/>
                <a:gd name="connsiteX7" fmla="*/ 650294 w 2659399"/>
                <a:gd name="connsiteY7" fmla="*/ 12878 h 2382591"/>
                <a:gd name="connsiteX0" fmla="*/ 0 w 2659399"/>
                <a:gd name="connsiteY0" fmla="*/ 536 h 2382591"/>
                <a:gd name="connsiteX1" fmla="*/ 1358632 w 2659399"/>
                <a:gd name="connsiteY1" fmla="*/ 0 h 2382591"/>
                <a:gd name="connsiteX2" fmla="*/ 1371511 w 2659399"/>
                <a:gd name="connsiteY2" fmla="*/ 1017431 h 2382591"/>
                <a:gd name="connsiteX3" fmla="*/ 2659398 w 2659399"/>
                <a:gd name="connsiteY3" fmla="*/ 1030309 h 2382591"/>
                <a:gd name="connsiteX4" fmla="*/ 2659399 w 2659399"/>
                <a:gd name="connsiteY4" fmla="*/ 2369713 h 2382591"/>
                <a:gd name="connsiteX5" fmla="*/ 6351 w 2659399"/>
                <a:gd name="connsiteY5" fmla="*/ 2382591 h 2382591"/>
                <a:gd name="connsiteX6" fmla="*/ 0 w 2659399"/>
                <a:gd name="connsiteY6" fmla="*/ 536 h 2382591"/>
                <a:gd name="connsiteX0" fmla="*/ 0 w 2659399"/>
                <a:gd name="connsiteY0" fmla="*/ 1056604 h 2382591"/>
                <a:gd name="connsiteX1" fmla="*/ 1358632 w 2659399"/>
                <a:gd name="connsiteY1" fmla="*/ 0 h 2382591"/>
                <a:gd name="connsiteX2" fmla="*/ 1371511 w 2659399"/>
                <a:gd name="connsiteY2" fmla="*/ 1017431 h 2382591"/>
                <a:gd name="connsiteX3" fmla="*/ 2659398 w 2659399"/>
                <a:gd name="connsiteY3" fmla="*/ 1030309 h 2382591"/>
                <a:gd name="connsiteX4" fmla="*/ 2659399 w 2659399"/>
                <a:gd name="connsiteY4" fmla="*/ 2369713 h 2382591"/>
                <a:gd name="connsiteX5" fmla="*/ 6351 w 2659399"/>
                <a:gd name="connsiteY5" fmla="*/ 2382591 h 2382591"/>
                <a:gd name="connsiteX6" fmla="*/ 0 w 2659399"/>
                <a:gd name="connsiteY6" fmla="*/ 1056604 h 2382591"/>
                <a:gd name="connsiteX0" fmla="*/ 0 w 2659399"/>
                <a:gd name="connsiteY0" fmla="*/ 39173 h 1365160"/>
                <a:gd name="connsiteX1" fmla="*/ 1371511 w 2659399"/>
                <a:gd name="connsiteY1" fmla="*/ 0 h 1365160"/>
                <a:gd name="connsiteX2" fmla="*/ 2659398 w 2659399"/>
                <a:gd name="connsiteY2" fmla="*/ 12878 h 1365160"/>
                <a:gd name="connsiteX3" fmla="*/ 2659399 w 2659399"/>
                <a:gd name="connsiteY3" fmla="*/ 1352282 h 1365160"/>
                <a:gd name="connsiteX4" fmla="*/ 6351 w 2659399"/>
                <a:gd name="connsiteY4" fmla="*/ 1365160 h 1365160"/>
                <a:gd name="connsiteX5" fmla="*/ 0 w 2659399"/>
                <a:gd name="connsiteY5" fmla="*/ 39173 h 1365160"/>
                <a:gd name="connsiteX0" fmla="*/ 0 w 2659399"/>
                <a:gd name="connsiteY0" fmla="*/ 26295 h 1352282"/>
                <a:gd name="connsiteX1" fmla="*/ 1358632 w 2659399"/>
                <a:gd name="connsiteY1" fmla="*/ 25759 h 1352282"/>
                <a:gd name="connsiteX2" fmla="*/ 2659398 w 2659399"/>
                <a:gd name="connsiteY2" fmla="*/ 0 h 1352282"/>
                <a:gd name="connsiteX3" fmla="*/ 2659399 w 2659399"/>
                <a:gd name="connsiteY3" fmla="*/ 1339404 h 1352282"/>
                <a:gd name="connsiteX4" fmla="*/ 6351 w 2659399"/>
                <a:gd name="connsiteY4" fmla="*/ 1352282 h 1352282"/>
                <a:gd name="connsiteX5" fmla="*/ 0 w 2659399"/>
                <a:gd name="connsiteY5" fmla="*/ 26295 h 1352282"/>
                <a:gd name="connsiteX0" fmla="*/ 0 w 2659399"/>
                <a:gd name="connsiteY0" fmla="*/ 26295 h 1352282"/>
                <a:gd name="connsiteX1" fmla="*/ 2659398 w 2659399"/>
                <a:gd name="connsiteY1" fmla="*/ 0 h 1352282"/>
                <a:gd name="connsiteX2" fmla="*/ 2659399 w 2659399"/>
                <a:gd name="connsiteY2" fmla="*/ 1339404 h 1352282"/>
                <a:gd name="connsiteX3" fmla="*/ 6351 w 2659399"/>
                <a:gd name="connsiteY3" fmla="*/ 1352282 h 1352282"/>
                <a:gd name="connsiteX4" fmla="*/ 0 w 2659399"/>
                <a:gd name="connsiteY4" fmla="*/ 26295 h 1352282"/>
                <a:gd name="connsiteX0" fmla="*/ 0 w 2671279"/>
                <a:gd name="connsiteY0" fmla="*/ 0 h 1464362"/>
                <a:gd name="connsiteX1" fmla="*/ 2671278 w 2671279"/>
                <a:gd name="connsiteY1" fmla="*/ 112080 h 1464362"/>
                <a:gd name="connsiteX2" fmla="*/ 2671279 w 2671279"/>
                <a:gd name="connsiteY2" fmla="*/ 1451484 h 1464362"/>
                <a:gd name="connsiteX3" fmla="*/ 18231 w 2671279"/>
                <a:gd name="connsiteY3" fmla="*/ 1464362 h 1464362"/>
                <a:gd name="connsiteX4" fmla="*/ 0 w 2671279"/>
                <a:gd name="connsiteY4" fmla="*/ 0 h 1464362"/>
                <a:gd name="connsiteX0" fmla="*/ 0 w 2683158"/>
                <a:gd name="connsiteY0" fmla="*/ 0 h 1464362"/>
                <a:gd name="connsiteX1" fmla="*/ 2683158 w 2683158"/>
                <a:gd name="connsiteY1" fmla="*/ 1380 h 1464362"/>
                <a:gd name="connsiteX2" fmla="*/ 2671279 w 2683158"/>
                <a:gd name="connsiteY2" fmla="*/ 1451484 h 1464362"/>
                <a:gd name="connsiteX3" fmla="*/ 18231 w 2683158"/>
                <a:gd name="connsiteY3" fmla="*/ 1464362 h 1464362"/>
                <a:gd name="connsiteX4" fmla="*/ 0 w 2683158"/>
                <a:gd name="connsiteY4" fmla="*/ 0 h 146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158" h="1464362">
                  <a:moveTo>
                    <a:pt x="0" y="0"/>
                  </a:moveTo>
                  <a:lnTo>
                    <a:pt x="2683158" y="1380"/>
                  </a:lnTo>
                  <a:cubicBezTo>
                    <a:pt x="2683158" y="447848"/>
                    <a:pt x="2671279" y="1005016"/>
                    <a:pt x="2671279" y="1451484"/>
                  </a:cubicBezTo>
                  <a:lnTo>
                    <a:pt x="18231" y="1464362"/>
                  </a:lnTo>
                  <a:cubicBezTo>
                    <a:pt x="18231" y="764610"/>
                    <a:pt x="0" y="699752"/>
                    <a:pt x="0" y="0"/>
                  </a:cubicBezTo>
                  <a:close/>
                </a:path>
              </a:pathLst>
            </a:custGeom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" name="Right Arrow 6"/>
            <p:cNvSpPr/>
            <p:nvPr/>
          </p:nvSpPr>
          <p:spPr bwMode="auto">
            <a:xfrm>
              <a:off x="5986484" y="1607970"/>
              <a:ext cx="285750" cy="219730"/>
            </a:xfrm>
            <a:prstGeom prst="rightArrow">
              <a:avLst>
                <a:gd name="adj1" fmla="val 42538"/>
                <a:gd name="adj2" fmla="val 47777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" name="Right Arrow 7"/>
            <p:cNvSpPr/>
            <p:nvPr/>
          </p:nvSpPr>
          <p:spPr bwMode="auto">
            <a:xfrm rot="10800000">
              <a:off x="5258649" y="2972934"/>
              <a:ext cx="285750" cy="219730"/>
            </a:xfrm>
            <a:prstGeom prst="rightArrow">
              <a:avLst>
                <a:gd name="adj1" fmla="val 42538"/>
                <a:gd name="adj2" fmla="val 47777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59526" y="1892760"/>
            <a:ext cx="1799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-i</a:t>
            </a:r>
            <a:r>
              <a:rPr lang="en-ZA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endParaRPr lang="en-ZA" sz="2400" i="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225" y="1603040"/>
            <a:ext cx="2489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Common source: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9676" y="3729069"/>
            <a:ext cx="2489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Supermesh</a:t>
            </a:r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676" y="4063202"/>
            <a:ext cx="4467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+ 1(i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+ 2(i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+ 16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0</a:t>
            </a:r>
          </a:p>
          <a:p>
            <a:r>
              <a:rPr lang="en-ZA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2i</a:t>
            </a:r>
            <a:r>
              <a:rPr lang="en-ZA" sz="2400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ZA" sz="2400" dirty="0">
                <a:solidFill>
                  <a:srgbClr val="0066CC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66CC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66CC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-16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570" y="5023901"/>
            <a:ext cx="2489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3: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570" y="5377012"/>
            <a:ext cx="3757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1(i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+ 3i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+ 2(i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= 0</a:t>
            </a:r>
          </a:p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-i</a:t>
            </a:r>
            <a:r>
              <a:rPr lang="en-ZA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</a:t>
            </a:r>
            <a:r>
              <a:rPr lang="en-ZA" sz="2400" dirty="0" smtClean="0">
                <a:solidFill>
                  <a:srgbClr val="0066CC"/>
                </a:solidFill>
                <a:latin typeface="Times New Roman" pitchFamily="18" charset="0"/>
                <a:cs typeface="Times New Roman" pitchFamily="18" charset="0"/>
              </a:rPr>
              <a:t> 6i</a:t>
            </a:r>
            <a:r>
              <a:rPr lang="en-ZA" sz="2400" baseline="-25000" dirty="0" smtClean="0">
                <a:solidFill>
                  <a:srgbClr val="0066CC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66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0</a:t>
            </a:r>
          </a:p>
        </p:txBody>
      </p:sp>
      <p:sp>
        <p:nvSpPr>
          <p:cNvPr id="16" name="Arc 15"/>
          <p:cNvSpPr/>
          <p:nvPr/>
        </p:nvSpPr>
        <p:spPr bwMode="auto">
          <a:xfrm>
            <a:off x="4697323" y="1936964"/>
            <a:ext cx="1104721" cy="1035970"/>
          </a:xfrm>
          <a:prstGeom prst="arc">
            <a:avLst>
              <a:gd name="adj1" fmla="val 16200000"/>
              <a:gd name="adj2" fmla="val 13537369"/>
            </a:avLst>
          </a:prstGeom>
          <a:ln>
            <a:solidFill>
              <a:srgbClr val="FF0000"/>
            </a:solidFill>
            <a:prstDash val="sysDot"/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ZA" sz="2000" dirty="0" smtClean="0">
              <a:solidFill>
                <a:srgbClr val="FF3300"/>
              </a:solidFill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sz="2000" dirty="0" smtClean="0">
                <a:solidFill>
                  <a:srgbClr val="FF3300"/>
                </a:solidFill>
                <a:latin typeface="Verdana" pitchFamily="34" charset="0"/>
              </a:rPr>
              <a:t>i</a:t>
            </a:r>
            <a:r>
              <a:rPr lang="en-ZA" sz="2000" baseline="-25000" dirty="0" smtClean="0">
                <a:solidFill>
                  <a:srgbClr val="FF3300"/>
                </a:solidFill>
                <a:latin typeface="Verdana" pitchFamily="34" charset="0"/>
              </a:rPr>
              <a:t>1</a:t>
            </a:r>
          </a:p>
        </p:txBody>
      </p:sp>
      <p:sp>
        <p:nvSpPr>
          <p:cNvPr id="17" name="Arc 16"/>
          <p:cNvSpPr/>
          <p:nvPr/>
        </p:nvSpPr>
        <p:spPr bwMode="auto">
          <a:xfrm>
            <a:off x="6268501" y="1936964"/>
            <a:ext cx="1104721" cy="1035970"/>
          </a:xfrm>
          <a:prstGeom prst="arc">
            <a:avLst>
              <a:gd name="adj1" fmla="val 16200000"/>
              <a:gd name="adj2" fmla="val 13537369"/>
            </a:avLst>
          </a:prstGeom>
          <a:ln>
            <a:solidFill>
              <a:srgbClr val="00B050"/>
            </a:solidFill>
            <a:prstDash val="sysDot"/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ZA" sz="2000" dirty="0" smtClean="0">
              <a:solidFill>
                <a:srgbClr val="FF3300"/>
              </a:solidFill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sz="2000" dirty="0" smtClean="0">
                <a:solidFill>
                  <a:srgbClr val="00B050"/>
                </a:solidFill>
                <a:latin typeface="Verdana" pitchFamily="34" charset="0"/>
              </a:rPr>
              <a:t>i</a:t>
            </a:r>
            <a:r>
              <a:rPr lang="en-ZA" sz="2000" baseline="-25000" dirty="0" smtClean="0">
                <a:solidFill>
                  <a:srgbClr val="00B050"/>
                </a:solidFill>
                <a:latin typeface="Verdana" pitchFamily="34" charset="0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564" y="2309204"/>
            <a:ext cx="2185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Since: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ZA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ZA" sz="2400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endParaRPr lang="en-ZA" sz="2400" i="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5425" y="2732769"/>
            <a:ext cx="1799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ZA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0</a:t>
            </a:r>
            <a:endParaRPr lang="en-ZA" sz="2400" baseline="-250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2215765" y="2809684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22" name="Oval 21"/>
          <p:cNvSpPr/>
          <p:nvPr/>
        </p:nvSpPr>
        <p:spPr bwMode="auto">
          <a:xfrm>
            <a:off x="4577372" y="4478700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23" name="Oval 22"/>
          <p:cNvSpPr/>
          <p:nvPr/>
        </p:nvSpPr>
        <p:spPr bwMode="auto">
          <a:xfrm>
            <a:off x="4581105" y="5823259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3</a:t>
            </a:r>
          </a:p>
        </p:txBody>
      </p:sp>
      <p:cxnSp>
        <p:nvCxnSpPr>
          <p:cNvPr id="25" name="Straight Arrow Connector 24"/>
          <p:cNvCxnSpPr/>
          <p:nvPr/>
        </p:nvCxnSpPr>
        <p:spPr bwMode="auto">
          <a:xfrm flipV="1">
            <a:off x="2247900" y="1972372"/>
            <a:ext cx="1970356" cy="567664"/>
          </a:xfrm>
          <a:prstGeom prst="straightConnector1">
            <a:avLst/>
          </a:prstGeom>
          <a:ln>
            <a:solidFill>
              <a:srgbClr val="00B050"/>
            </a:solidFill>
            <a:prstDash val="sysDot"/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347282" y="3693870"/>
            <a:ext cx="6392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i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</a:t>
            </a:r>
            <a:r>
              <a:rPr lang="en-ZA" b="1" i="1" baseline="-25000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ZA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ZA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70895" y="4057055"/>
            <a:ext cx="36715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KVL: 2i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+ 1(i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+ </a:t>
            </a:r>
            <a:r>
              <a:rPr lang="en-ZA" sz="2400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0</a:t>
            </a:r>
          </a:p>
          <a:p>
            <a:r>
              <a:rPr lang="en-ZA" sz="2400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-3i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ZA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70895" y="5038429"/>
            <a:ext cx="36715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-10.67 A</a:t>
            </a:r>
          </a:p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10.67 A</a:t>
            </a:r>
          </a:p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1.78 A</a:t>
            </a:r>
          </a:p>
          <a:p>
            <a:r>
              <a:rPr lang="en-ZA" sz="2400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33.78 V</a:t>
            </a:r>
          </a:p>
        </p:txBody>
      </p:sp>
    </p:spTree>
    <p:extLst>
      <p:ext uri="{BB962C8B-B14F-4D97-AF65-F5344CB8AC3E}">
        <p14:creationId xmlns:p14="http://schemas.microsoft.com/office/powerpoint/2010/main" val="184956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  <p:bldP spid="11" grpId="0"/>
      <p:bldP spid="12" grpId="0"/>
      <p:bldP spid="13" grpId="0"/>
      <p:bldP spid="14" grpId="0"/>
      <p:bldP spid="15" grpId="0"/>
      <p:bldP spid="16" grpId="0" animBg="1"/>
      <p:bldP spid="17" grpId="0" animBg="1"/>
      <p:bldP spid="19" grpId="0"/>
      <p:bldP spid="20" grpId="0"/>
      <p:bldP spid="21" grpId="0" animBg="1"/>
      <p:bldP spid="22" grpId="0" animBg="1"/>
      <p:bldP spid="23" grpId="0" animBg="1"/>
      <p:bldP spid="26" grpId="0"/>
      <p:bldP spid="27" grpId="0"/>
      <p:bldP spid="2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0" y="228598"/>
            <a:ext cx="9143999" cy="1714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600" b="1" dirty="0" smtClean="0"/>
              <a:t>Ch. 3 L#5: </a:t>
            </a:r>
            <a:r>
              <a:rPr lang="en-US" sz="3600" dirty="0" smtClean="0"/>
              <a:t>3.6 Nodal and Mesh Analysis by inspection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2400" dirty="0" smtClean="0">
                <a:solidFill>
                  <a:srgbClr val="FF0000"/>
                </a:solidFill>
              </a:rPr>
              <a:t>Special case #1: All sources = independent </a:t>
            </a:r>
            <a:r>
              <a:rPr lang="en-US" sz="2400" b="1" dirty="0" smtClean="0">
                <a:solidFill>
                  <a:srgbClr val="FF0000"/>
                </a:solidFill>
              </a:rPr>
              <a:t>current</a:t>
            </a:r>
            <a:r>
              <a:rPr lang="en-US" sz="2400" dirty="0" smtClean="0">
                <a:solidFill>
                  <a:srgbClr val="FF0000"/>
                </a:solidFill>
              </a:rPr>
              <a:t> sources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4" name="Picture 3" descr="ale29559_0302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89" t="2663" b="46068"/>
          <a:stretch/>
        </p:blipFill>
        <p:spPr bwMode="auto">
          <a:xfrm>
            <a:off x="0" y="1582417"/>
            <a:ext cx="2971800" cy="2580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98800" y="2653673"/>
                <a:ext cx="5569410" cy="817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latin typeface="Cambria Math"/>
                                  </a:rPr>
                                  <m:t>𝐺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𝐺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𝐺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𝐺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𝐺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𝐺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latin typeface="Cambria Math"/>
                                  </a:rPr>
                                  <m:t>𝑣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𝑣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ZA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latin typeface="Cambria Math"/>
                                  </a:rPr>
                                  <m:t>𝐼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𝐼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𝐼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800" y="2653673"/>
                <a:ext cx="5569410" cy="817981"/>
              </a:xfrm>
              <a:prstGeom prst="rect">
                <a:avLst/>
              </a:prstGeom>
              <a:blipFill rotWithShape="1">
                <a:blip r:embed="rId3"/>
                <a:stretch>
                  <a:fillRect b="-373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e 5"/>
          <p:cNvSpPr/>
          <p:nvPr/>
        </p:nvSpPr>
        <p:spPr bwMode="auto">
          <a:xfrm rot="5400000">
            <a:off x="4495799" y="2296903"/>
            <a:ext cx="495300" cy="2806701"/>
          </a:xfrm>
          <a:prstGeom prst="rightBrace">
            <a:avLst>
              <a:gd name="adj1" fmla="val 2115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Right Brace 6"/>
          <p:cNvSpPr/>
          <p:nvPr/>
        </p:nvSpPr>
        <p:spPr bwMode="auto">
          <a:xfrm rot="5400000">
            <a:off x="7600950" y="3135104"/>
            <a:ext cx="495300" cy="1168401"/>
          </a:xfrm>
          <a:prstGeom prst="rightBrace">
            <a:avLst>
              <a:gd name="adj1" fmla="val 2115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8300" y="4057054"/>
                <a:ext cx="5778500" cy="2696379"/>
              </a:xfrm>
              <a:prstGeom prst="rect">
                <a:avLst/>
              </a:prstGeom>
              <a:noFill/>
              <a:ln>
                <a:solidFill>
                  <a:srgbClr val="0033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ZA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Conductance Matrix</a:t>
                </a:r>
                <a:endParaRPr lang="en-ZA" sz="24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ZA" sz="24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ZA" sz="24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∎</m:t>
                              </m:r>
                            </m:e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ZA" sz="24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- Diagonal elements (G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11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, G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22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, …) = sum of all G’s 	connected to that node.</a:t>
                </a:r>
              </a:p>
              <a:p>
                <a:endParaRPr lang="en-ZA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ZA" sz="2400" i="1">
                            <a:solidFill>
                              <a:srgbClr val="000000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∎</m:t>
                              </m:r>
                            </m:e>
                          </m:mr>
                          <m:mr>
                            <m:e>
                              <m: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∎</m:t>
                              </m:r>
                            </m:e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- Off-diagonal elements =</a:t>
                </a:r>
                <a:r>
                  <a:rPr lang="en-ZA" sz="24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–G connected between the two nodes.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4057054"/>
                <a:ext cx="5778500" cy="2696379"/>
              </a:xfrm>
              <a:prstGeom prst="rect">
                <a:avLst/>
              </a:prstGeom>
              <a:blipFill rotWithShape="1">
                <a:blip r:embed="rId4"/>
                <a:stretch>
                  <a:fillRect l="-1474" t="-1577" r="-1368" b="-4054"/>
                </a:stretch>
              </a:blipFill>
              <a:ln>
                <a:solidFill>
                  <a:srgbClr val="0033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 bwMode="auto">
          <a:xfrm>
            <a:off x="3790565" y="2268923"/>
            <a:ext cx="324000" cy="32400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5377472" y="2268923"/>
            <a:ext cx="324000" cy="32400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2936800" y="2745323"/>
            <a:ext cx="324000" cy="32400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12" name="Oval 11"/>
          <p:cNvSpPr/>
          <p:nvPr/>
        </p:nvSpPr>
        <p:spPr bwMode="auto">
          <a:xfrm>
            <a:off x="2936800" y="3128603"/>
            <a:ext cx="324000" cy="32400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7300" y="4057053"/>
            <a:ext cx="2702000" cy="1569660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Sum of the currents entering the node:</a:t>
            </a:r>
          </a:p>
          <a:p>
            <a:pPr algn="ctr"/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 = +</a:t>
            </a:r>
          </a:p>
          <a:p>
            <a:pPr algn="ctr"/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Out = –  </a:t>
            </a:r>
          </a:p>
        </p:txBody>
      </p:sp>
    </p:spTree>
    <p:extLst>
      <p:ext uri="{BB962C8B-B14F-4D97-AF65-F5344CB8AC3E}">
        <p14:creationId xmlns:p14="http://schemas.microsoft.com/office/powerpoint/2010/main" val="278973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le29559_0302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" t="61552" r="-1" b="5143"/>
          <a:stretch/>
        </p:blipFill>
        <p:spPr bwMode="auto">
          <a:xfrm>
            <a:off x="145666" y="1068924"/>
            <a:ext cx="3378200" cy="1676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" y="114300"/>
            <a:ext cx="9143999" cy="1219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3.6 Nodal and Mesh Analysis by inspection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2400" dirty="0" smtClean="0">
                <a:solidFill>
                  <a:srgbClr val="FF0000"/>
                </a:solidFill>
              </a:rPr>
              <a:t>Special case #2: All sources = independent </a:t>
            </a:r>
            <a:r>
              <a:rPr lang="en-US" sz="2400" b="1" dirty="0" smtClean="0">
                <a:solidFill>
                  <a:srgbClr val="FF0000"/>
                </a:solidFill>
              </a:rPr>
              <a:t>voltage</a:t>
            </a:r>
            <a:r>
              <a:rPr lang="en-US" sz="2400" dirty="0" smtClean="0">
                <a:solidFill>
                  <a:srgbClr val="FF0000"/>
                </a:solidFill>
              </a:rPr>
              <a:t> sources</a:t>
            </a:r>
            <a:endParaRPr 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98800" y="2653673"/>
                <a:ext cx="5159809" cy="815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latin typeface="Cambria Math"/>
                                  </a:rPr>
                                  <m:t>𝑅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𝑅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𝑅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𝑅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𝑅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𝑅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ZA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ZA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ZA" sz="28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b="0" i="1" smtClean="0">
                                    <a:latin typeface="Cambria Math"/>
                                  </a:rPr>
                                  <m:t>𝑉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ZA" sz="2800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ZA" sz="2800" b="0" i="1" smtClean="0">
                                    <a:latin typeface="Cambria Math"/>
                                  </a:rPr>
                                  <m:t>𝑉</m:t>
                                </m:r>
                                <m:r>
                                  <a:rPr lang="en-ZA" sz="2800" b="0" i="1" baseline="-25000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ZA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800" y="2653673"/>
                <a:ext cx="5159809" cy="815160"/>
              </a:xfrm>
              <a:prstGeom prst="rect">
                <a:avLst/>
              </a:prstGeom>
              <a:blipFill rotWithShape="1">
                <a:blip r:embed="rId3"/>
                <a:stretch>
                  <a:fillRect b="-373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e 5"/>
          <p:cNvSpPr/>
          <p:nvPr/>
        </p:nvSpPr>
        <p:spPr bwMode="auto">
          <a:xfrm rot="5400000">
            <a:off x="4495799" y="2296903"/>
            <a:ext cx="495300" cy="2806701"/>
          </a:xfrm>
          <a:prstGeom prst="rightBrace">
            <a:avLst>
              <a:gd name="adj1" fmla="val 2115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Right Brace 6"/>
          <p:cNvSpPr/>
          <p:nvPr/>
        </p:nvSpPr>
        <p:spPr bwMode="auto">
          <a:xfrm rot="5400000">
            <a:off x="7600950" y="3135104"/>
            <a:ext cx="495300" cy="1168401"/>
          </a:xfrm>
          <a:prstGeom prst="rightBrace">
            <a:avLst>
              <a:gd name="adj1" fmla="val 2115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8300" y="4057054"/>
                <a:ext cx="5778500" cy="2696379"/>
              </a:xfrm>
              <a:prstGeom prst="rect">
                <a:avLst/>
              </a:prstGeom>
              <a:noFill/>
              <a:ln>
                <a:solidFill>
                  <a:srgbClr val="0033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ZA" sz="2400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Resistance Matrix</a:t>
                </a:r>
                <a:endParaRPr lang="en-ZA" sz="24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ZA" sz="24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ZA" sz="24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∎</m:t>
                              </m:r>
                            </m:e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ZA" sz="240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- Diagonal elements (R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11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, R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22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, …) = sum of all R’s 	in the loop.</a:t>
                </a:r>
              </a:p>
              <a:p>
                <a:endParaRPr lang="en-ZA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ZA" sz="2400" i="1">
                            <a:solidFill>
                              <a:srgbClr val="000000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∎</m:t>
                              </m:r>
                            </m:e>
                          </m:mr>
                          <m:mr>
                            <m:e>
                              <m:r>
                                <a:rPr lang="en-ZA" sz="2400" i="1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∎</m:t>
                              </m:r>
                            </m:e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- Off-diagonal elements = –R common to two loop between the two nodes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4057054"/>
                <a:ext cx="5778500" cy="2696379"/>
              </a:xfrm>
              <a:prstGeom prst="rect">
                <a:avLst/>
              </a:prstGeom>
              <a:blipFill rotWithShape="1">
                <a:blip r:embed="rId4"/>
                <a:stretch>
                  <a:fillRect l="-1474" t="-1577" r="-842" b="-4054"/>
                </a:stretch>
              </a:blipFill>
              <a:ln>
                <a:solidFill>
                  <a:srgbClr val="0033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 bwMode="auto">
          <a:xfrm>
            <a:off x="3790565" y="2268923"/>
            <a:ext cx="324000" cy="32400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5377472" y="2268923"/>
            <a:ext cx="324000" cy="32400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2936800" y="2745323"/>
            <a:ext cx="324000" cy="32400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12" name="Oval 11"/>
          <p:cNvSpPr/>
          <p:nvPr/>
        </p:nvSpPr>
        <p:spPr bwMode="auto">
          <a:xfrm>
            <a:off x="2936800" y="3128603"/>
            <a:ext cx="324000" cy="32400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6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7300" y="3930053"/>
            <a:ext cx="2702000" cy="2862322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Sum of all the voltage increases in the loop:</a:t>
            </a:r>
          </a:p>
          <a:p>
            <a:pPr algn="ctr"/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 @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+</a:t>
            </a:r>
          </a:p>
          <a:p>
            <a:pPr algn="ctr"/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 @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= –  </a:t>
            </a:r>
          </a:p>
          <a:p>
            <a:pPr algn="ctr"/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Remember: V is taken to the other side in the KVL equation.</a:t>
            </a:r>
            <a:endParaRPr lang="en-ZA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69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" y="2125454"/>
            <a:ext cx="9144000" cy="397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83057" y="203200"/>
            <a:ext cx="468104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 3-8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By inspection, obtain the node voltage equations for the circuit in matrix form.</a:t>
            </a:r>
            <a:endParaRPr lang="en-ZA" sz="28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624610" y="12879"/>
            <a:ext cx="4463378" cy="3389294"/>
            <a:chOff x="4624610" y="12879"/>
            <a:chExt cx="4463378" cy="3389294"/>
          </a:xfrm>
        </p:grpSpPr>
        <p:pic>
          <p:nvPicPr>
            <p:cNvPr id="4" name="Picture 3" descr="ale29559_03028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471"/>
            <a:stretch/>
          </p:blipFill>
          <p:spPr bwMode="auto">
            <a:xfrm>
              <a:off x="4624610" y="12879"/>
              <a:ext cx="4463378" cy="3389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Oval 5"/>
            <p:cNvSpPr/>
            <p:nvPr/>
          </p:nvSpPr>
          <p:spPr bwMode="auto">
            <a:xfrm>
              <a:off x="6327832" y="1588195"/>
              <a:ext cx="141667" cy="141667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5207057" y="1587906"/>
              <a:ext cx="141667" cy="141667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6316306" y="388045"/>
              <a:ext cx="141667" cy="141667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7423207" y="388045"/>
              <a:ext cx="1089728" cy="14166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7" name="Rectangle 16"/>
          <p:cNvSpPr/>
          <p:nvPr/>
        </p:nvSpPr>
        <p:spPr>
          <a:xfrm>
            <a:off x="4342550" y="3613955"/>
            <a:ext cx="13370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8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5259989" y="431192"/>
            <a:ext cx="2889363" cy="2036457"/>
            <a:chOff x="5208473" y="495587"/>
            <a:chExt cx="2889363" cy="2036457"/>
          </a:xfrm>
        </p:grpSpPr>
        <p:sp>
          <p:nvSpPr>
            <p:cNvPr id="18" name="Rectangle 17"/>
            <p:cNvSpPr/>
            <p:nvPr/>
          </p:nvSpPr>
          <p:spPr>
            <a:xfrm>
              <a:off x="5208473" y="2131934"/>
              <a:ext cx="58956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0.1</a:t>
              </a:r>
              <a:endParaRPr lang="en-ZA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546120" y="508466"/>
              <a:ext cx="58956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 S</a:t>
              </a:r>
              <a:endParaRPr lang="en-ZA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546120" y="1697192"/>
              <a:ext cx="58956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0.2</a:t>
              </a:r>
              <a:endParaRPr lang="en-ZA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562119" y="495587"/>
              <a:ext cx="69491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0.25</a:t>
              </a:r>
              <a:endParaRPr lang="en-ZA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508270" y="1781061"/>
              <a:ext cx="58956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0.5</a:t>
              </a:r>
              <a:endParaRPr lang="en-ZA" sz="2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10" name="Straight Connector 9"/>
          <p:cNvCxnSpPr/>
          <p:nvPr/>
        </p:nvCxnSpPr>
        <p:spPr bwMode="auto">
          <a:xfrm>
            <a:off x="3243263" y="4429125"/>
            <a:ext cx="100012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Straight Connector 22"/>
          <p:cNvCxnSpPr/>
          <p:nvPr/>
        </p:nvCxnSpPr>
        <p:spPr bwMode="auto">
          <a:xfrm>
            <a:off x="2185988" y="4797425"/>
            <a:ext cx="100012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3299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06" y="2315299"/>
            <a:ext cx="8156735" cy="4376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6" name="Picture 3" descr="ale29559_0303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/>
          <a:stretch/>
        </p:blipFill>
        <p:spPr bwMode="auto">
          <a:xfrm>
            <a:off x="3514020" y="38101"/>
            <a:ext cx="5629979" cy="377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3057" y="203200"/>
            <a:ext cx="379204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 3-9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By inspection, obtain the mesh-current equations for the circuit in matrix form.</a:t>
            </a:r>
            <a:endParaRPr lang="en-ZA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52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7" y="1974810"/>
            <a:ext cx="8487176" cy="4648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6" name="Picture 3" descr="ale29559_0311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5"/>
          <a:stretch/>
        </p:blipFill>
        <p:spPr bwMode="auto">
          <a:xfrm>
            <a:off x="4064001" y="-1"/>
            <a:ext cx="5067300" cy="3364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3057" y="203200"/>
            <a:ext cx="468104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3-69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By inspection, obtain the node voltage equations for the circuit</a:t>
            </a:r>
            <a:endParaRPr lang="en-ZA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7124333" y="991673"/>
            <a:ext cx="141667" cy="913981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5552797" y="360608"/>
            <a:ext cx="141667" cy="1544757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8193949" y="360608"/>
            <a:ext cx="141667" cy="1490695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89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1323-5F12-434E-8AD1-98CFA43E5287}" type="slidenum">
              <a:rPr lang="en-US"/>
              <a:pPr/>
              <a:t>46</a:t>
            </a:fld>
            <a:endParaRPr lang="en-US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152400"/>
            <a:ext cx="8243887" cy="1219200"/>
          </a:xfrm>
        </p:spPr>
        <p:txBody>
          <a:bodyPr/>
          <a:lstStyle/>
          <a:p>
            <a:r>
              <a:rPr lang="en-US" sz="4000"/>
              <a:t>3.7 Nodal versus Mesh Analysis (1)</a:t>
            </a:r>
          </a:p>
        </p:txBody>
      </p:sp>
      <p:sp>
        <p:nvSpPr>
          <p:cNvPr id="110595" name="Text Box 3"/>
          <p:cNvSpPr txBox="1">
            <a:spLocks noChangeArrowheads="1"/>
          </p:cNvSpPr>
          <p:nvPr/>
        </p:nvSpPr>
        <p:spPr bwMode="auto">
          <a:xfrm>
            <a:off x="457200" y="1524000"/>
            <a:ext cx="7772400" cy="49688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000">
                <a:latin typeface="Verdana" pitchFamily="34" charset="0"/>
              </a:rPr>
              <a:t>To select the method that results in the smaller number of equations. For example:</a:t>
            </a:r>
          </a:p>
          <a:p>
            <a:endParaRPr lang="en-US" sz="2000">
              <a:latin typeface="Verdana" pitchFamily="34" charset="0"/>
            </a:endParaRPr>
          </a:p>
          <a:p>
            <a:pPr>
              <a:buClr>
                <a:schemeClr val="tx1"/>
              </a:buClr>
              <a:buFontTx/>
              <a:buAutoNum type="arabicPeriod"/>
            </a:pPr>
            <a:r>
              <a:rPr lang="en-US" sz="2000">
                <a:solidFill>
                  <a:srgbClr val="FF3300"/>
                </a:solidFill>
                <a:latin typeface="Verdana" pitchFamily="34" charset="0"/>
              </a:rPr>
              <a:t>Choose nodal analysis for circuit with fewer nodes than meshes.</a:t>
            </a:r>
          </a:p>
          <a:p>
            <a:pPr lvl="1">
              <a:buClr>
                <a:schemeClr val="tx1"/>
              </a:buClr>
            </a:pPr>
            <a:r>
              <a:rPr lang="en-US" sz="2000">
                <a:latin typeface="Verdana" pitchFamily="34" charset="0"/>
              </a:rPr>
              <a:t>*Choose mesh analysis for circuit with fewer meshes than nodes.</a:t>
            </a:r>
          </a:p>
          <a:p>
            <a:pPr lvl="1">
              <a:buClr>
                <a:schemeClr val="tx1"/>
              </a:buClr>
            </a:pPr>
            <a:r>
              <a:rPr lang="en-US" sz="2000">
                <a:latin typeface="Verdana" pitchFamily="34" charset="0"/>
              </a:rPr>
              <a:t>*</a:t>
            </a:r>
            <a:r>
              <a:rPr lang="en-US" sz="2000">
                <a:solidFill>
                  <a:srgbClr val="FF3300"/>
                </a:solidFill>
                <a:latin typeface="Verdana" pitchFamily="34" charset="0"/>
              </a:rPr>
              <a:t>Networks that contain many series connected elements, voltage sources, or supermeshes are more suitable for mesh analysis.</a:t>
            </a:r>
          </a:p>
          <a:p>
            <a:pPr lvl="1">
              <a:buClr>
                <a:schemeClr val="tx1"/>
              </a:buClr>
            </a:pPr>
            <a:r>
              <a:rPr lang="en-US" sz="2000">
                <a:latin typeface="Verdana" pitchFamily="34" charset="0"/>
              </a:rPr>
              <a:t>*Networks with parallel-connected elements, current sources, or supernodes are more suitable for nodal analysis. </a:t>
            </a:r>
          </a:p>
          <a:p>
            <a:pPr>
              <a:buClr>
                <a:schemeClr val="tx1"/>
              </a:buClr>
              <a:buFontTx/>
              <a:buAutoNum type="arabicPeriod"/>
            </a:pPr>
            <a:r>
              <a:rPr lang="en-US" sz="2000">
                <a:solidFill>
                  <a:srgbClr val="FF3300"/>
                </a:solidFill>
                <a:latin typeface="Verdana" pitchFamily="34" charset="0"/>
              </a:rPr>
              <a:t>If node voltages are required, it may be expedient to apply nodal analysis. If branch or mesh currents are required, it may be better to use mesh analysis.</a:t>
            </a:r>
            <a:r>
              <a:rPr lang="en-US">
                <a:solidFill>
                  <a:srgbClr val="FF3300"/>
                </a:solidFill>
                <a:latin typeface="Verdana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 descr="http://t2.gstatic.com/images?q=tbn:ANd9GcSBYnNAspBafgnD3BF5lwyCDxDXxWqnVP4c5qsgpzaP7cQMC-MQW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60" y="67808"/>
            <a:ext cx="1811089" cy="1811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71590-7C2A-4F7A-8CFD-F276683E5D40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60231" y="112688"/>
            <a:ext cx="8243887" cy="1345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4000" b="1" dirty="0" smtClean="0"/>
              <a:t>Ch. 3 L#6: </a:t>
            </a:r>
          </a:p>
          <a:p>
            <a:r>
              <a:rPr lang="en-US" sz="4000" dirty="0" smtClean="0">
                <a:solidFill>
                  <a:srgbClr val="FF0000"/>
                </a:solidFill>
              </a:rPr>
              <a:t>3.9 Transistor Circuits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785646" y="1575192"/>
            <a:ext cx="57674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3200" dirty="0" smtClean="0">
                <a:latin typeface="Times New Roman" pitchFamily="18" charset="0"/>
                <a:cs typeface="Times New Roman" pitchFamily="18" charset="0"/>
              </a:rPr>
              <a:t>BJT = Bipolar Junction Transistor</a:t>
            </a:r>
            <a:endParaRPr lang="en-ZA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1978" y="5579309"/>
            <a:ext cx="22108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b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ZA" sz="2800" b="1" dirty="0" err="1" smtClean="0">
                <a:latin typeface="Times New Roman" pitchFamily="18" charset="0"/>
                <a:cs typeface="Times New Roman" pitchFamily="18" charset="0"/>
              </a:rPr>
              <a:t>pn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transistor</a:t>
            </a:r>
            <a:endParaRPr lang="en-ZA" sz="2800" dirty="0"/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122" y="58492"/>
            <a:ext cx="1399471" cy="1511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475" y="1457732"/>
            <a:ext cx="1581150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096" name="Group 4095"/>
          <p:cNvGrpSpPr/>
          <p:nvPr/>
        </p:nvGrpSpPr>
        <p:grpSpPr>
          <a:xfrm>
            <a:off x="156237" y="2197714"/>
            <a:ext cx="1650898" cy="2417521"/>
            <a:chOff x="54639" y="2197714"/>
            <a:chExt cx="1650898" cy="2417521"/>
          </a:xfrm>
        </p:grpSpPr>
        <p:grpSp>
          <p:nvGrpSpPr>
            <p:cNvPr id="25" name="Group 24"/>
            <p:cNvGrpSpPr/>
            <p:nvPr/>
          </p:nvGrpSpPr>
          <p:grpSpPr>
            <a:xfrm>
              <a:off x="527812" y="2597824"/>
              <a:ext cx="1177725" cy="1573209"/>
              <a:chOff x="1746449" y="2582587"/>
              <a:chExt cx="1177725" cy="1573209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1746449" y="2582587"/>
                <a:ext cx="888850" cy="1573209"/>
                <a:chOff x="888642" y="1767548"/>
                <a:chExt cx="1394756" cy="2468632"/>
              </a:xfrm>
            </p:grpSpPr>
            <p:cxnSp>
              <p:nvCxnSpPr>
                <p:cNvPr id="8" name="Straight Connector 7"/>
                <p:cNvCxnSpPr/>
                <p:nvPr/>
              </p:nvCxnSpPr>
              <p:spPr bwMode="auto">
                <a:xfrm>
                  <a:off x="1725769" y="2667000"/>
                  <a:ext cx="0" cy="707587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3" name="Straight Connector 12"/>
                <p:cNvCxnSpPr/>
                <p:nvPr/>
              </p:nvCxnSpPr>
              <p:spPr bwMode="auto">
                <a:xfrm flipV="1">
                  <a:off x="1725769" y="2470150"/>
                  <a:ext cx="550643" cy="550643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" name="Straight Connector 14"/>
                <p:cNvCxnSpPr/>
                <p:nvPr/>
              </p:nvCxnSpPr>
              <p:spPr bwMode="auto">
                <a:xfrm>
                  <a:off x="1725769" y="3020794"/>
                  <a:ext cx="557629" cy="535208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arrow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" name="Straight Connector 16"/>
                <p:cNvCxnSpPr/>
                <p:nvPr/>
              </p:nvCxnSpPr>
              <p:spPr bwMode="auto">
                <a:xfrm flipV="1">
                  <a:off x="2276412" y="1767548"/>
                  <a:ext cx="0" cy="71755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8" name="Straight Connector 17"/>
                <p:cNvCxnSpPr/>
                <p:nvPr/>
              </p:nvCxnSpPr>
              <p:spPr bwMode="auto">
                <a:xfrm flipV="1">
                  <a:off x="2283398" y="3518630"/>
                  <a:ext cx="0" cy="71755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" name="Straight Connector 18"/>
                <p:cNvCxnSpPr/>
                <p:nvPr/>
              </p:nvCxnSpPr>
              <p:spPr bwMode="auto">
                <a:xfrm flipH="1">
                  <a:off x="888642" y="3020793"/>
                  <a:ext cx="837128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4" name="Oval 23"/>
              <p:cNvSpPr/>
              <p:nvPr/>
            </p:nvSpPr>
            <p:spPr bwMode="auto">
              <a:xfrm>
                <a:off x="2056531" y="2948424"/>
                <a:ext cx="867643" cy="867643"/>
              </a:xfrm>
              <a:prstGeom prst="ellipse">
                <a:avLst/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endParaRPr>
              </a:p>
            </p:txBody>
          </p:sp>
        </p:grpSp>
        <p:sp>
          <p:nvSpPr>
            <p:cNvPr id="27" name="Rectangle 26"/>
            <p:cNvSpPr/>
            <p:nvPr/>
          </p:nvSpPr>
          <p:spPr>
            <a:xfrm>
              <a:off x="54639" y="2197714"/>
              <a:ext cx="158088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000" dirty="0" smtClean="0">
                  <a:latin typeface="Times New Roman" pitchFamily="18" charset="0"/>
                  <a:cs typeface="Times New Roman" pitchFamily="18" charset="0"/>
                </a:rPr>
                <a:t>Collector = </a:t>
              </a:r>
              <a:r>
                <a:rPr lang="en-ZA" sz="2000" b="1" dirty="0" smtClean="0">
                  <a:latin typeface="Times New Roman" pitchFamily="18" charset="0"/>
                  <a:cs typeface="Times New Roman" pitchFamily="18" charset="0"/>
                </a:rPr>
                <a:t>C</a:t>
              </a:r>
              <a:endParaRPr lang="en-ZA" sz="2000" b="1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40417" y="4215125"/>
              <a:ext cx="139493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000" dirty="0" smtClean="0">
                  <a:latin typeface="Times New Roman" pitchFamily="18" charset="0"/>
                  <a:cs typeface="Times New Roman" pitchFamily="18" charset="0"/>
                </a:rPr>
                <a:t>Emitter = </a:t>
              </a:r>
              <a:r>
                <a:rPr lang="en-ZA" sz="2000" b="1" dirty="0" smtClean="0">
                  <a:latin typeface="Times New Roman" pitchFamily="18" charset="0"/>
                  <a:cs typeface="Times New Roman" pitchFamily="18" charset="0"/>
                </a:rPr>
                <a:t>E</a:t>
              </a:r>
              <a:endParaRPr lang="en-ZA" sz="2000" b="1" dirty="0"/>
            </a:p>
          </p:txBody>
        </p:sp>
        <p:sp>
          <p:nvSpPr>
            <p:cNvPr id="29" name="Rectangle 28"/>
            <p:cNvSpPr/>
            <p:nvPr/>
          </p:nvSpPr>
          <p:spPr>
            <a:xfrm rot="16200000">
              <a:off x="-42621" y="3220067"/>
              <a:ext cx="6832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000" dirty="0" smtClean="0">
                  <a:latin typeface="Times New Roman" pitchFamily="18" charset="0"/>
                  <a:cs typeface="Times New Roman" pitchFamily="18" charset="0"/>
                </a:rPr>
                <a:t>Base</a:t>
              </a:r>
              <a:endParaRPr lang="en-ZA" sz="2000" b="1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49310" y="3077386"/>
              <a:ext cx="3385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b="1" dirty="0" smtClean="0"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ZA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011295" y="2345161"/>
            <a:ext cx="2076891" cy="3757368"/>
            <a:chOff x="6011295" y="2345161"/>
            <a:chExt cx="2076891" cy="3757368"/>
          </a:xfrm>
        </p:grpSpPr>
        <p:grpSp>
          <p:nvGrpSpPr>
            <p:cNvPr id="38" name="Group 37"/>
            <p:cNvGrpSpPr/>
            <p:nvPr/>
          </p:nvGrpSpPr>
          <p:grpSpPr>
            <a:xfrm>
              <a:off x="6011295" y="2345161"/>
              <a:ext cx="1408259" cy="2306335"/>
              <a:chOff x="2939713" y="2367262"/>
              <a:chExt cx="1408259" cy="2306335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3278267" y="2700278"/>
                <a:ext cx="888850" cy="1573209"/>
                <a:chOff x="888642" y="1767548"/>
                <a:chExt cx="1394756" cy="2468632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auto">
                <a:xfrm>
                  <a:off x="1725769" y="2667000"/>
                  <a:ext cx="0" cy="707587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5" name="Straight Connector 54"/>
                <p:cNvCxnSpPr/>
                <p:nvPr/>
              </p:nvCxnSpPr>
              <p:spPr bwMode="auto">
                <a:xfrm flipV="1">
                  <a:off x="1725769" y="2470150"/>
                  <a:ext cx="550643" cy="550643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6" name="Straight Connector 55"/>
                <p:cNvCxnSpPr/>
                <p:nvPr/>
              </p:nvCxnSpPr>
              <p:spPr bwMode="auto">
                <a:xfrm>
                  <a:off x="1725769" y="3020794"/>
                  <a:ext cx="557629" cy="535208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arrow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8" name="Straight Connector 57"/>
                <p:cNvCxnSpPr/>
                <p:nvPr/>
              </p:nvCxnSpPr>
              <p:spPr bwMode="auto">
                <a:xfrm flipV="1">
                  <a:off x="2276412" y="1767548"/>
                  <a:ext cx="0" cy="71755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9" name="Straight Connector 58"/>
                <p:cNvCxnSpPr/>
                <p:nvPr/>
              </p:nvCxnSpPr>
              <p:spPr bwMode="auto">
                <a:xfrm flipV="1">
                  <a:off x="2283398" y="3518630"/>
                  <a:ext cx="0" cy="71755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60" name="Straight Connector 59"/>
                <p:cNvCxnSpPr/>
                <p:nvPr/>
              </p:nvCxnSpPr>
              <p:spPr bwMode="auto">
                <a:xfrm flipH="1">
                  <a:off x="888642" y="3020793"/>
                  <a:ext cx="837128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42" name="Rectangle 41"/>
              <p:cNvSpPr/>
              <p:nvPr/>
            </p:nvSpPr>
            <p:spPr>
              <a:xfrm>
                <a:off x="3977358" y="2367262"/>
                <a:ext cx="37061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sz="2000" b="1" dirty="0" smtClean="0">
                    <a:latin typeface="Times New Roman" pitchFamily="18" charset="0"/>
                    <a:cs typeface="Times New Roman" pitchFamily="18" charset="0"/>
                  </a:rPr>
                  <a:t>C</a:t>
                </a:r>
                <a:endParaRPr lang="en-ZA" sz="2000" b="1" dirty="0"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3991784" y="4273487"/>
                <a:ext cx="3561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sz="2000" b="1" dirty="0" smtClean="0">
                    <a:latin typeface="Times New Roman" pitchFamily="18" charset="0"/>
                    <a:cs typeface="Times New Roman" pitchFamily="18" charset="0"/>
                  </a:rPr>
                  <a:t>E</a:t>
                </a:r>
                <a:endParaRPr lang="en-ZA" sz="2000" b="1" dirty="0"/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2939713" y="3324263"/>
                <a:ext cx="3385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b="1" dirty="0" smtClean="0">
                    <a:latin typeface="Times New Roman" pitchFamily="18" charset="0"/>
                    <a:cs typeface="Times New Roman" pitchFamily="18" charset="0"/>
                  </a:rPr>
                  <a:t>B</a:t>
                </a:r>
                <a:endParaRPr lang="en-ZA" dirty="0"/>
              </a:p>
            </p:txBody>
          </p:sp>
        </p:grpSp>
        <p:sp>
          <p:nvSpPr>
            <p:cNvPr id="61" name="Rectangle 60"/>
            <p:cNvSpPr/>
            <p:nvPr/>
          </p:nvSpPr>
          <p:spPr>
            <a:xfrm>
              <a:off x="6428757" y="5579309"/>
              <a:ext cx="142058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800" dirty="0" smtClean="0">
                  <a:latin typeface="Times New Roman" pitchFamily="18" charset="0"/>
                  <a:cs typeface="Times New Roman" pitchFamily="18" charset="0"/>
                </a:rPr>
                <a:t>Currents</a:t>
              </a:r>
              <a:endParaRPr lang="en-ZA" sz="2800" dirty="0"/>
            </a:p>
          </p:txBody>
        </p:sp>
        <p:cxnSp>
          <p:nvCxnSpPr>
            <p:cNvPr id="62" name="Straight Arrow Connector 61"/>
            <p:cNvCxnSpPr/>
            <p:nvPr/>
          </p:nvCxnSpPr>
          <p:spPr bwMode="auto">
            <a:xfrm>
              <a:off x="7415619" y="2701364"/>
              <a:ext cx="0" cy="433907"/>
            </a:xfrm>
            <a:prstGeom prst="straightConnector1">
              <a:avLst/>
            </a:prstGeom>
            <a:ln w="57150"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 bwMode="auto">
            <a:xfrm>
              <a:off x="7441494" y="3858962"/>
              <a:ext cx="0" cy="509048"/>
            </a:xfrm>
            <a:prstGeom prst="straightConnector1">
              <a:avLst/>
            </a:prstGeom>
            <a:ln w="76200"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 bwMode="auto">
            <a:xfrm>
              <a:off x="6356279" y="3568984"/>
              <a:ext cx="392333" cy="0"/>
            </a:xfrm>
            <a:prstGeom prst="straightConnector1">
              <a:avLst/>
            </a:prstGeom>
            <a:ln w="9525">
              <a:solidFill>
                <a:srgbClr val="00B05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7496115" y="3677316"/>
              <a:ext cx="3770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b="1" baseline="-250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E</a:t>
              </a:r>
              <a:endParaRPr lang="en-ZA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7403432" y="2541763"/>
              <a:ext cx="38504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b="1" baseline="-250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  <a:endParaRPr lang="en-ZA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349849" y="3620941"/>
              <a:ext cx="3770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b="1" baseline="-250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ZA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6189909" y="4631526"/>
              <a:ext cx="189827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KCL: I</a:t>
              </a:r>
              <a:r>
                <a:rPr lang="en-ZA" b="1" baseline="-250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E</a:t>
              </a:r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= I</a:t>
              </a:r>
              <a:r>
                <a:rPr lang="en-ZA" b="1" baseline="-250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+ I</a:t>
              </a:r>
              <a:r>
                <a:rPr lang="en-ZA" b="1" baseline="-250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ZA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837032" y="2356662"/>
            <a:ext cx="2432397" cy="3745867"/>
            <a:chOff x="2837032" y="2356662"/>
            <a:chExt cx="2432397" cy="3745867"/>
          </a:xfrm>
        </p:grpSpPr>
        <p:grpSp>
          <p:nvGrpSpPr>
            <p:cNvPr id="4097" name="Group 4096"/>
            <p:cNvGrpSpPr/>
            <p:nvPr/>
          </p:nvGrpSpPr>
          <p:grpSpPr>
            <a:xfrm>
              <a:off x="3128395" y="2356662"/>
              <a:ext cx="1408259" cy="2306335"/>
              <a:chOff x="2939713" y="2367262"/>
              <a:chExt cx="1408259" cy="2306335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3278267" y="2700278"/>
                <a:ext cx="888850" cy="1573209"/>
                <a:chOff x="888642" y="1767548"/>
                <a:chExt cx="1394756" cy="2468632"/>
              </a:xfrm>
            </p:grpSpPr>
            <p:cxnSp>
              <p:nvCxnSpPr>
                <p:cNvPr id="46" name="Straight Connector 45"/>
                <p:cNvCxnSpPr/>
                <p:nvPr/>
              </p:nvCxnSpPr>
              <p:spPr bwMode="auto">
                <a:xfrm>
                  <a:off x="1725769" y="2667000"/>
                  <a:ext cx="0" cy="707587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7" name="Straight Connector 46"/>
                <p:cNvCxnSpPr/>
                <p:nvPr/>
              </p:nvCxnSpPr>
              <p:spPr bwMode="auto">
                <a:xfrm flipV="1">
                  <a:off x="1725769" y="2470150"/>
                  <a:ext cx="550643" cy="550643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8" name="Straight Connector 47"/>
                <p:cNvCxnSpPr/>
                <p:nvPr/>
              </p:nvCxnSpPr>
              <p:spPr bwMode="auto">
                <a:xfrm>
                  <a:off x="1725769" y="3020794"/>
                  <a:ext cx="557629" cy="535208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arrow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9" name="Straight Connector 48"/>
                <p:cNvCxnSpPr/>
                <p:nvPr/>
              </p:nvCxnSpPr>
              <p:spPr bwMode="auto">
                <a:xfrm flipV="1">
                  <a:off x="2276412" y="1767548"/>
                  <a:ext cx="0" cy="71755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0" name="Straight Connector 49"/>
                <p:cNvCxnSpPr/>
                <p:nvPr/>
              </p:nvCxnSpPr>
              <p:spPr bwMode="auto">
                <a:xfrm flipV="1">
                  <a:off x="2283398" y="3518630"/>
                  <a:ext cx="0" cy="71755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1" name="Straight Connector 50"/>
                <p:cNvCxnSpPr/>
                <p:nvPr/>
              </p:nvCxnSpPr>
              <p:spPr bwMode="auto">
                <a:xfrm flipH="1">
                  <a:off x="888642" y="3020793"/>
                  <a:ext cx="837128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40" name="Rectangle 39"/>
              <p:cNvSpPr/>
              <p:nvPr/>
            </p:nvSpPr>
            <p:spPr>
              <a:xfrm>
                <a:off x="3977358" y="2367262"/>
                <a:ext cx="37061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sz="2000" b="1" dirty="0" smtClean="0">
                    <a:latin typeface="Times New Roman" pitchFamily="18" charset="0"/>
                    <a:cs typeface="Times New Roman" pitchFamily="18" charset="0"/>
                  </a:rPr>
                  <a:t>C</a:t>
                </a:r>
                <a:endParaRPr lang="en-ZA" sz="2000" b="1" dirty="0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3991784" y="4273487"/>
                <a:ext cx="3561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sz="2000" b="1" dirty="0" smtClean="0">
                    <a:latin typeface="Times New Roman" pitchFamily="18" charset="0"/>
                    <a:cs typeface="Times New Roman" pitchFamily="18" charset="0"/>
                  </a:rPr>
                  <a:t>E</a:t>
                </a:r>
                <a:endParaRPr lang="en-ZA" sz="2000" b="1" dirty="0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2939713" y="3324263"/>
                <a:ext cx="3385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b="1" dirty="0" smtClean="0">
                    <a:latin typeface="Times New Roman" pitchFamily="18" charset="0"/>
                    <a:cs typeface="Times New Roman" pitchFamily="18" charset="0"/>
                  </a:rPr>
                  <a:t>B</a:t>
                </a:r>
                <a:endParaRPr lang="en-ZA" dirty="0"/>
              </a:p>
            </p:txBody>
          </p:sp>
        </p:grpSp>
        <p:sp>
          <p:nvSpPr>
            <p:cNvPr id="4099" name="Rectangle 4098"/>
            <p:cNvSpPr/>
            <p:nvPr/>
          </p:nvSpPr>
          <p:spPr>
            <a:xfrm rot="19227816">
              <a:off x="3069691" y="2784980"/>
              <a:ext cx="146929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ZA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–     V</a:t>
              </a:r>
              <a:r>
                <a:rPr lang="en-ZA" b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CB</a:t>
              </a:r>
              <a:r>
                <a:rPr lang="en-ZA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   +</a:t>
              </a:r>
              <a:endParaRPr lang="en-ZA" b="1" dirty="0">
                <a:solidFill>
                  <a:srgbClr val="FF0000"/>
                </a:solidFill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 rot="2716307">
              <a:off x="3085854" y="3858519"/>
              <a:ext cx="146929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ZA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ZA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    V</a:t>
              </a:r>
              <a:r>
                <a:rPr lang="en-ZA" b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BE</a:t>
              </a:r>
              <a:r>
                <a:rPr lang="en-ZA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     –</a:t>
              </a:r>
              <a:endParaRPr lang="en-ZA" b="1" dirty="0">
                <a:solidFill>
                  <a:srgbClr val="FF0000"/>
                </a:solidFill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280371" y="2746133"/>
              <a:ext cx="606916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ZA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+ </a:t>
              </a:r>
            </a:p>
            <a:p>
              <a:pPr algn="ctr"/>
              <a:endParaRPr lang="en-ZA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ZA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b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CE</a:t>
              </a:r>
              <a:endParaRPr lang="en-ZA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endParaRPr lang="en-ZA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ZA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–</a:t>
              </a:r>
              <a:endParaRPr lang="en-ZA" b="1" dirty="0">
                <a:solidFill>
                  <a:srgbClr val="FF0000"/>
                </a:solidFill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266546" y="5579309"/>
              <a:ext cx="146777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800" dirty="0" smtClean="0">
                  <a:latin typeface="Times New Roman" pitchFamily="18" charset="0"/>
                  <a:cs typeface="Times New Roman" pitchFamily="18" charset="0"/>
                </a:rPr>
                <a:t>Voltages</a:t>
              </a:r>
              <a:endParaRPr lang="en-ZA" sz="2800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837032" y="4631526"/>
              <a:ext cx="243239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KVL: V</a:t>
              </a:r>
              <a:r>
                <a:rPr lang="en-ZA" b="1" baseline="-250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CE</a:t>
              </a:r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= V</a:t>
              </a:r>
              <a:r>
                <a:rPr lang="en-ZA" b="1" baseline="-250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BE</a:t>
              </a:r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+ V</a:t>
              </a:r>
              <a:r>
                <a:rPr lang="en-ZA" b="1" baseline="-250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CB</a:t>
              </a:r>
              <a:endParaRPr lang="en-ZA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465899" y="4968592"/>
              <a:ext cx="13122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b="1" baseline="-250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BE</a:t>
              </a:r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= 0.7 V</a:t>
              </a:r>
              <a:endParaRPr lang="en-ZA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108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560231" y="128785"/>
            <a:ext cx="8243887" cy="1084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>
                <a:solidFill>
                  <a:srgbClr val="000000"/>
                </a:solidFill>
              </a:rPr>
              <a:t>3.9 Transistor Circuits</a:t>
            </a:r>
          </a:p>
          <a:p>
            <a:r>
              <a:rPr lang="en-US" sz="4000" dirty="0" smtClean="0">
                <a:solidFill>
                  <a:srgbClr val="FF0000"/>
                </a:solidFill>
              </a:rPr>
              <a:t>Currents</a:t>
            </a:r>
            <a:endParaRPr lang="en-US" sz="4800" dirty="0">
              <a:solidFill>
                <a:srgbClr val="FF0000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76977" y="1213030"/>
            <a:ext cx="1861847" cy="2306335"/>
            <a:chOff x="6011295" y="2345161"/>
            <a:chExt cx="1861847" cy="2306335"/>
          </a:xfrm>
        </p:grpSpPr>
        <p:grpSp>
          <p:nvGrpSpPr>
            <p:cNvPr id="4" name="Group 3"/>
            <p:cNvGrpSpPr/>
            <p:nvPr/>
          </p:nvGrpSpPr>
          <p:grpSpPr>
            <a:xfrm>
              <a:off x="6011295" y="2345161"/>
              <a:ext cx="1408259" cy="2306335"/>
              <a:chOff x="2939713" y="2367262"/>
              <a:chExt cx="1408259" cy="2306335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3278267" y="2700278"/>
                <a:ext cx="888850" cy="1573209"/>
                <a:chOff x="888642" y="1767548"/>
                <a:chExt cx="1394756" cy="2468632"/>
              </a:xfrm>
            </p:grpSpPr>
            <p:cxnSp>
              <p:nvCxnSpPr>
                <p:cNvPr id="9" name="Straight Connector 8"/>
                <p:cNvCxnSpPr/>
                <p:nvPr/>
              </p:nvCxnSpPr>
              <p:spPr bwMode="auto">
                <a:xfrm>
                  <a:off x="1725769" y="2667000"/>
                  <a:ext cx="0" cy="707587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" name="Straight Connector 9"/>
                <p:cNvCxnSpPr/>
                <p:nvPr/>
              </p:nvCxnSpPr>
              <p:spPr bwMode="auto">
                <a:xfrm flipV="1">
                  <a:off x="1725769" y="2470150"/>
                  <a:ext cx="550643" cy="550643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1" name="Straight Connector 10"/>
                <p:cNvCxnSpPr/>
                <p:nvPr/>
              </p:nvCxnSpPr>
              <p:spPr bwMode="auto">
                <a:xfrm>
                  <a:off x="1725769" y="3020794"/>
                  <a:ext cx="557629" cy="535208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arrow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2" name="Straight Connector 11"/>
                <p:cNvCxnSpPr/>
                <p:nvPr/>
              </p:nvCxnSpPr>
              <p:spPr bwMode="auto">
                <a:xfrm flipV="1">
                  <a:off x="2276412" y="1767548"/>
                  <a:ext cx="0" cy="71755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3" name="Straight Connector 12"/>
                <p:cNvCxnSpPr/>
                <p:nvPr/>
              </p:nvCxnSpPr>
              <p:spPr bwMode="auto">
                <a:xfrm flipV="1">
                  <a:off x="2283398" y="3518630"/>
                  <a:ext cx="0" cy="71755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4" name="Straight Connector 13"/>
                <p:cNvCxnSpPr/>
                <p:nvPr/>
              </p:nvCxnSpPr>
              <p:spPr bwMode="auto">
                <a:xfrm flipH="1">
                  <a:off x="888642" y="3020793"/>
                  <a:ext cx="837128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6" name="Rectangle 5"/>
              <p:cNvSpPr/>
              <p:nvPr/>
            </p:nvSpPr>
            <p:spPr>
              <a:xfrm>
                <a:off x="3977358" y="2367262"/>
                <a:ext cx="37061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sz="2000" b="1" dirty="0" smtClean="0">
                    <a:latin typeface="Times New Roman" pitchFamily="18" charset="0"/>
                    <a:cs typeface="Times New Roman" pitchFamily="18" charset="0"/>
                  </a:rPr>
                  <a:t>C</a:t>
                </a:r>
                <a:endParaRPr lang="en-ZA" sz="2000" b="1" dirty="0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3991784" y="4273487"/>
                <a:ext cx="3561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sz="2000" b="1" dirty="0" smtClean="0">
                    <a:latin typeface="Times New Roman" pitchFamily="18" charset="0"/>
                    <a:cs typeface="Times New Roman" pitchFamily="18" charset="0"/>
                  </a:rPr>
                  <a:t>E</a:t>
                </a:r>
                <a:endParaRPr lang="en-ZA" sz="2000" b="1" dirty="0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939713" y="3324263"/>
                <a:ext cx="3385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b="1" dirty="0" smtClean="0">
                    <a:latin typeface="Times New Roman" pitchFamily="18" charset="0"/>
                    <a:cs typeface="Times New Roman" pitchFamily="18" charset="0"/>
                  </a:rPr>
                  <a:t>B</a:t>
                </a:r>
                <a:endParaRPr lang="en-ZA" dirty="0"/>
              </a:p>
            </p:txBody>
          </p:sp>
        </p:grpSp>
        <p:cxnSp>
          <p:nvCxnSpPr>
            <p:cNvPr id="15" name="Straight Arrow Connector 14"/>
            <p:cNvCxnSpPr/>
            <p:nvPr/>
          </p:nvCxnSpPr>
          <p:spPr bwMode="auto">
            <a:xfrm>
              <a:off x="7415619" y="2701364"/>
              <a:ext cx="0" cy="433907"/>
            </a:xfrm>
            <a:prstGeom prst="straightConnector1">
              <a:avLst/>
            </a:prstGeom>
            <a:ln w="57150"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 bwMode="auto">
            <a:xfrm>
              <a:off x="7441494" y="3858962"/>
              <a:ext cx="0" cy="509048"/>
            </a:xfrm>
            <a:prstGeom prst="straightConnector1">
              <a:avLst/>
            </a:prstGeom>
            <a:ln w="76200"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 bwMode="auto">
            <a:xfrm>
              <a:off x="6356279" y="3568984"/>
              <a:ext cx="392333" cy="0"/>
            </a:xfrm>
            <a:prstGeom prst="straightConnector1">
              <a:avLst/>
            </a:prstGeom>
            <a:ln w="9525">
              <a:solidFill>
                <a:srgbClr val="00B05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7496115" y="3677316"/>
              <a:ext cx="3770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b="1" baseline="-250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E</a:t>
              </a:r>
              <a:endParaRPr lang="en-ZA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403432" y="2541763"/>
              <a:ext cx="38504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b="1" baseline="-250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  <a:endParaRPr lang="en-ZA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349849" y="3620941"/>
              <a:ext cx="3770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b="1" baseline="-250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ZA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2572302" y="1335622"/>
            <a:ext cx="23214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KCL: 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ZA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383860" y="1795146"/>
            <a:ext cx="1157689" cy="46166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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ZA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024302" y="2256547"/>
            <a:ext cx="20714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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(1+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)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ZA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314646" y="2083520"/>
            <a:ext cx="38763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 ranges between 50 </a:t>
            </a:r>
            <a:r>
              <a:rPr lang="en-ZA" sz="2400" dirty="0" smtClean="0">
                <a:solidFill>
                  <a:srgbClr val="0070C0"/>
                </a:solidFill>
                <a:latin typeface="Cambria Math"/>
                <a:ea typeface="Cambria Math"/>
                <a:cs typeface="Times New Roman" pitchFamily="18" charset="0"/>
                <a:sym typeface="Symbol"/>
              </a:rPr>
              <a:t>⟶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100 </a:t>
            </a:r>
            <a:endParaRPr lang="en-ZA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95703" y="1348132"/>
            <a:ext cx="34576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 = “Common-emitter current gain”</a:t>
            </a:r>
            <a:endParaRPr lang="en-ZA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376646" y="3235879"/>
            <a:ext cx="1172117" cy="46166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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endParaRPr lang="en-ZA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237679" y="4205044"/>
            <a:ext cx="251222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buFont typeface="Symbol"/>
              <a:buChar char="a"/>
            </a:pP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ranges between </a:t>
            </a:r>
          </a:p>
          <a:p>
            <a:pPr algn="ctr"/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0.98 </a:t>
            </a:r>
            <a:r>
              <a:rPr lang="en-ZA" sz="2400" dirty="0" smtClean="0">
                <a:solidFill>
                  <a:srgbClr val="0070C0"/>
                </a:solidFill>
                <a:latin typeface="Cambria Math"/>
                <a:ea typeface="Cambria Math"/>
                <a:cs typeface="Times New Roman" pitchFamily="18" charset="0"/>
                <a:sym typeface="Symbol"/>
              </a:rPr>
              <a:t>⟶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0.999 </a:t>
            </a:r>
            <a:endParaRPr lang="en-ZA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803617" y="3206957"/>
            <a:ext cx="34576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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“Common-base current gain”</a:t>
            </a:r>
            <a:endParaRPr lang="en-ZA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153347" y="4258168"/>
                <a:ext cx="1618713" cy="724750"/>
              </a:xfrm>
              <a:prstGeom prst="rect">
                <a:avLst/>
              </a:prstGeom>
              <a:noFill/>
              <a:ln>
                <a:solidFill>
                  <a:srgbClr val="0033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ZA" sz="2400" i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β</m:t>
                      </m:r>
                      <m: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ZA" sz="2400" b="0" i="0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α</m:t>
                          </m:r>
                        </m:num>
                        <m:den>
                          <m:r>
                            <a:rPr lang="en-ZA" sz="2400" b="0" i="0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ZA" sz="2400" b="0" i="0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α</m:t>
                          </m:r>
                        </m:den>
                      </m:f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347" y="4258168"/>
                <a:ext cx="1618713" cy="7247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rgbClr val="0033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://t2.gstatic.com/images?q=tbn:ANd9GcSX2cprXpZyHtH_LHtVOojX5SK18A1388wyO2bDoiSyQNuufVzZ2Q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083"/>
          <a:stretch/>
        </p:blipFill>
        <p:spPr bwMode="auto">
          <a:xfrm rot="5400000" flipV="1">
            <a:off x="667614" y="3189155"/>
            <a:ext cx="1654687" cy="2671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265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560231" y="128785"/>
            <a:ext cx="8243887" cy="1084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>
                <a:solidFill>
                  <a:srgbClr val="000000"/>
                </a:solidFill>
              </a:rPr>
              <a:t>3.9 Transistor Circuits</a:t>
            </a:r>
          </a:p>
          <a:p>
            <a:r>
              <a:rPr lang="en-US" sz="4000" dirty="0" smtClean="0">
                <a:solidFill>
                  <a:srgbClr val="FF0000"/>
                </a:solidFill>
              </a:rPr>
              <a:t>Equivalent network model</a:t>
            </a:r>
            <a:endParaRPr lang="en-US" sz="4800" dirty="0">
              <a:solidFill>
                <a:srgbClr val="FF0000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76977" y="1213030"/>
            <a:ext cx="1861847" cy="2306335"/>
            <a:chOff x="6011295" y="2345161"/>
            <a:chExt cx="1861847" cy="2306335"/>
          </a:xfrm>
        </p:grpSpPr>
        <p:grpSp>
          <p:nvGrpSpPr>
            <p:cNvPr id="5" name="Group 4"/>
            <p:cNvGrpSpPr/>
            <p:nvPr/>
          </p:nvGrpSpPr>
          <p:grpSpPr>
            <a:xfrm>
              <a:off x="6011295" y="2345161"/>
              <a:ext cx="1408259" cy="2306335"/>
              <a:chOff x="2939713" y="2367262"/>
              <a:chExt cx="1408259" cy="2306335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3278267" y="2700278"/>
                <a:ext cx="888850" cy="1573209"/>
                <a:chOff x="888642" y="1767548"/>
                <a:chExt cx="1394756" cy="2468632"/>
              </a:xfrm>
            </p:grpSpPr>
            <p:cxnSp>
              <p:nvCxnSpPr>
                <p:cNvPr id="16" name="Straight Connector 15"/>
                <p:cNvCxnSpPr/>
                <p:nvPr/>
              </p:nvCxnSpPr>
              <p:spPr bwMode="auto">
                <a:xfrm>
                  <a:off x="1725769" y="2667000"/>
                  <a:ext cx="0" cy="707587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" name="Straight Connector 16"/>
                <p:cNvCxnSpPr/>
                <p:nvPr/>
              </p:nvCxnSpPr>
              <p:spPr bwMode="auto">
                <a:xfrm flipV="1">
                  <a:off x="1725769" y="2470150"/>
                  <a:ext cx="550643" cy="550643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8" name="Straight Connector 17"/>
                <p:cNvCxnSpPr/>
                <p:nvPr/>
              </p:nvCxnSpPr>
              <p:spPr bwMode="auto">
                <a:xfrm>
                  <a:off x="1725769" y="3020794"/>
                  <a:ext cx="557629" cy="535208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arrow" w="lg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" name="Straight Connector 18"/>
                <p:cNvCxnSpPr/>
                <p:nvPr/>
              </p:nvCxnSpPr>
              <p:spPr bwMode="auto">
                <a:xfrm flipV="1">
                  <a:off x="2276412" y="1767548"/>
                  <a:ext cx="0" cy="71755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0" name="Straight Connector 19"/>
                <p:cNvCxnSpPr/>
                <p:nvPr/>
              </p:nvCxnSpPr>
              <p:spPr bwMode="auto">
                <a:xfrm flipV="1">
                  <a:off x="2283398" y="3518630"/>
                  <a:ext cx="0" cy="71755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1" name="Straight Connector 20"/>
                <p:cNvCxnSpPr/>
                <p:nvPr/>
              </p:nvCxnSpPr>
              <p:spPr bwMode="auto">
                <a:xfrm flipH="1">
                  <a:off x="888642" y="3020793"/>
                  <a:ext cx="837128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13" name="Rectangle 12"/>
              <p:cNvSpPr/>
              <p:nvPr/>
            </p:nvSpPr>
            <p:spPr>
              <a:xfrm>
                <a:off x="3977358" y="2367262"/>
                <a:ext cx="37061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sz="2000" b="1" dirty="0" smtClean="0">
                    <a:latin typeface="Times New Roman" pitchFamily="18" charset="0"/>
                    <a:cs typeface="Times New Roman" pitchFamily="18" charset="0"/>
                  </a:rPr>
                  <a:t>C</a:t>
                </a:r>
                <a:endParaRPr lang="en-ZA" sz="2000" b="1" dirty="0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3991784" y="4273487"/>
                <a:ext cx="3561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sz="2000" b="1" dirty="0" smtClean="0">
                    <a:latin typeface="Times New Roman" pitchFamily="18" charset="0"/>
                    <a:cs typeface="Times New Roman" pitchFamily="18" charset="0"/>
                  </a:rPr>
                  <a:t>E</a:t>
                </a:r>
                <a:endParaRPr lang="en-ZA" sz="2000" b="1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2939713" y="3324263"/>
                <a:ext cx="3385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b="1" dirty="0" smtClean="0">
                    <a:latin typeface="Times New Roman" pitchFamily="18" charset="0"/>
                    <a:cs typeface="Times New Roman" pitchFamily="18" charset="0"/>
                  </a:rPr>
                  <a:t>B</a:t>
                </a:r>
                <a:endParaRPr lang="en-ZA" dirty="0"/>
              </a:p>
            </p:txBody>
          </p:sp>
        </p:grpSp>
        <p:cxnSp>
          <p:nvCxnSpPr>
            <p:cNvPr id="6" name="Straight Arrow Connector 5"/>
            <p:cNvCxnSpPr/>
            <p:nvPr/>
          </p:nvCxnSpPr>
          <p:spPr bwMode="auto">
            <a:xfrm>
              <a:off x="7415619" y="2701364"/>
              <a:ext cx="0" cy="433907"/>
            </a:xfrm>
            <a:prstGeom prst="straightConnector1">
              <a:avLst/>
            </a:prstGeom>
            <a:ln w="57150"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 bwMode="auto">
            <a:xfrm>
              <a:off x="7441494" y="3858962"/>
              <a:ext cx="0" cy="509048"/>
            </a:xfrm>
            <a:prstGeom prst="straightConnector1">
              <a:avLst/>
            </a:prstGeom>
            <a:ln w="76200"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 bwMode="auto">
            <a:xfrm>
              <a:off x="6356279" y="3568984"/>
              <a:ext cx="392333" cy="0"/>
            </a:xfrm>
            <a:prstGeom prst="straightConnector1">
              <a:avLst/>
            </a:prstGeom>
            <a:ln w="9525">
              <a:solidFill>
                <a:srgbClr val="00B05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7496115" y="3677316"/>
              <a:ext cx="3770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b="1" baseline="-250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E</a:t>
              </a:r>
              <a:endParaRPr lang="en-ZA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403432" y="2541763"/>
              <a:ext cx="38504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b="1" baseline="-250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  <a:endParaRPr lang="en-ZA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349849" y="3620941"/>
              <a:ext cx="3770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b="1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b="1" baseline="-250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ZA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3338067" y="1100126"/>
            <a:ext cx="3678928" cy="2493286"/>
            <a:chOff x="2322067" y="1455726"/>
            <a:chExt cx="3678928" cy="2493286"/>
          </a:xfrm>
        </p:grpSpPr>
        <p:grpSp>
          <p:nvGrpSpPr>
            <p:cNvPr id="56" name="Group 55"/>
            <p:cNvGrpSpPr/>
            <p:nvPr/>
          </p:nvGrpSpPr>
          <p:grpSpPr>
            <a:xfrm>
              <a:off x="2322067" y="1455726"/>
              <a:ext cx="3678928" cy="2493286"/>
              <a:chOff x="2322067" y="1455726"/>
              <a:chExt cx="3678928" cy="2493286"/>
            </a:xfrm>
          </p:grpSpPr>
          <p:grpSp>
            <p:nvGrpSpPr>
              <p:cNvPr id="42" name="Group 41"/>
              <p:cNvGrpSpPr/>
              <p:nvPr/>
            </p:nvGrpSpPr>
            <p:grpSpPr>
              <a:xfrm>
                <a:off x="2322067" y="1455726"/>
                <a:ext cx="3560162" cy="2453609"/>
                <a:chOff x="2322067" y="1455726"/>
                <a:chExt cx="3560162" cy="2453609"/>
              </a:xfrm>
            </p:grpSpPr>
            <p:grpSp>
              <p:nvGrpSpPr>
                <p:cNvPr id="25" name="Group 24"/>
                <p:cNvGrpSpPr/>
                <p:nvPr/>
              </p:nvGrpSpPr>
              <p:grpSpPr>
                <a:xfrm>
                  <a:off x="4682174" y="2230174"/>
                  <a:ext cx="449738" cy="455488"/>
                  <a:chOff x="4682174" y="1774686"/>
                  <a:chExt cx="899476" cy="910976"/>
                </a:xfrm>
              </p:grpSpPr>
              <p:sp>
                <p:nvSpPr>
                  <p:cNvPr id="22" name="Rectangle 21"/>
                  <p:cNvSpPr/>
                  <p:nvPr/>
                </p:nvSpPr>
                <p:spPr bwMode="auto">
                  <a:xfrm rot="2700000">
                    <a:off x="4682174" y="1786186"/>
                    <a:ext cx="899476" cy="899476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ZA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 pitchFamily="34" charset="0"/>
                    </a:endParaRPr>
                  </a:p>
                </p:txBody>
              </p:sp>
              <p:cxnSp>
                <p:nvCxnSpPr>
                  <p:cNvPr id="24" name="Straight Arrow Connector 23"/>
                  <p:cNvCxnSpPr/>
                  <p:nvPr/>
                </p:nvCxnSpPr>
                <p:spPr bwMode="auto">
                  <a:xfrm>
                    <a:off x="5131912" y="1774686"/>
                    <a:ext cx="0" cy="887289"/>
                  </a:xfrm>
                  <a:prstGeom prst="straightConnector1">
                    <a:avLst/>
                  </a:prstGeom>
                  <a:ln>
                    <a:headEnd type="none" w="med" len="med"/>
                    <a:tailEnd type="arrow"/>
                  </a:ln>
                  <a:ex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" name="Group 29"/>
                <p:cNvGrpSpPr/>
                <p:nvPr/>
              </p:nvGrpSpPr>
              <p:grpSpPr>
                <a:xfrm>
                  <a:off x="3124200" y="2397711"/>
                  <a:ext cx="552450" cy="78284"/>
                  <a:chOff x="3124200" y="2003326"/>
                  <a:chExt cx="552450" cy="78284"/>
                </a:xfrm>
              </p:grpSpPr>
              <p:cxnSp>
                <p:nvCxnSpPr>
                  <p:cNvPr id="27" name="Straight Connector 26"/>
                  <p:cNvCxnSpPr/>
                  <p:nvPr/>
                </p:nvCxnSpPr>
                <p:spPr bwMode="auto">
                  <a:xfrm>
                    <a:off x="3124200" y="2003326"/>
                    <a:ext cx="552450" cy="0"/>
                  </a:xfrm>
                  <a:prstGeom prst="line">
                    <a:avLst/>
                  </a:prstGeom>
                  <a:ln>
                    <a:headEnd type="none" w="med" len="med"/>
                    <a:tailEnd type="none" w="med" len="med"/>
                  </a:ln>
                  <a:ex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/>
                  <p:cNvCxnSpPr/>
                  <p:nvPr/>
                </p:nvCxnSpPr>
                <p:spPr bwMode="auto">
                  <a:xfrm>
                    <a:off x="3262312" y="2081610"/>
                    <a:ext cx="276225" cy="0"/>
                  </a:xfrm>
                  <a:prstGeom prst="line">
                    <a:avLst/>
                  </a:prstGeom>
                  <a:ln>
                    <a:headEnd type="none" w="med" len="med"/>
                    <a:tailEnd type="none" w="med" len="med"/>
                  </a:ln>
                  <a:ex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1" name="Freeform 30"/>
                <p:cNvSpPr/>
                <p:nvPr/>
              </p:nvSpPr>
              <p:spPr>
                <a:xfrm>
                  <a:off x="2508250" y="1890538"/>
                  <a:ext cx="889000" cy="497061"/>
                </a:xfrm>
                <a:custGeom>
                  <a:avLst/>
                  <a:gdLst>
                    <a:gd name="connsiteX0" fmla="*/ 889000 w 889000"/>
                    <a:gd name="connsiteY0" fmla="*/ 749300 h 749300"/>
                    <a:gd name="connsiteX1" fmla="*/ 889000 w 889000"/>
                    <a:gd name="connsiteY1" fmla="*/ 0 h 749300"/>
                    <a:gd name="connsiteX2" fmla="*/ 0 w 889000"/>
                    <a:gd name="connsiteY2" fmla="*/ 0 h 749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89000" h="749300">
                      <a:moveTo>
                        <a:pt x="889000" y="749300"/>
                      </a:moveTo>
                      <a:lnTo>
                        <a:pt x="889000" y="0"/>
                      </a:lnTo>
                      <a:lnTo>
                        <a:pt x="0" y="0"/>
                      </a:lnTo>
                    </a:path>
                  </a:pathLst>
                </a:cu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ZA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</a:endParaRPr>
                </a:p>
              </p:txBody>
            </p:sp>
            <p:sp>
              <p:nvSpPr>
                <p:cNvPr id="32" name="Freeform 31"/>
                <p:cNvSpPr/>
                <p:nvPr/>
              </p:nvSpPr>
              <p:spPr>
                <a:xfrm rot="16200000">
                  <a:off x="5158667" y="1642009"/>
                  <a:ext cx="252240" cy="749300"/>
                </a:xfrm>
                <a:custGeom>
                  <a:avLst/>
                  <a:gdLst>
                    <a:gd name="connsiteX0" fmla="*/ 889000 w 889000"/>
                    <a:gd name="connsiteY0" fmla="*/ 749300 h 749300"/>
                    <a:gd name="connsiteX1" fmla="*/ 889000 w 889000"/>
                    <a:gd name="connsiteY1" fmla="*/ 0 h 749300"/>
                    <a:gd name="connsiteX2" fmla="*/ 0 w 889000"/>
                    <a:gd name="connsiteY2" fmla="*/ 0 h 749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89000" h="749300">
                      <a:moveTo>
                        <a:pt x="889000" y="749300"/>
                      </a:moveTo>
                      <a:lnTo>
                        <a:pt x="889000" y="0"/>
                      </a:lnTo>
                      <a:lnTo>
                        <a:pt x="0" y="0"/>
                      </a:lnTo>
                    </a:path>
                  </a:pathLst>
                </a:cu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ZA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</a:endParaRPr>
                </a:p>
              </p:txBody>
            </p:sp>
            <p:sp>
              <p:nvSpPr>
                <p:cNvPr id="33" name="Freeform 32"/>
                <p:cNvSpPr/>
                <p:nvPr/>
              </p:nvSpPr>
              <p:spPr>
                <a:xfrm>
                  <a:off x="3398519" y="2468880"/>
                  <a:ext cx="1508523" cy="512475"/>
                </a:xfrm>
                <a:custGeom>
                  <a:avLst/>
                  <a:gdLst>
                    <a:gd name="connsiteX0" fmla="*/ 0 w 1501140"/>
                    <a:gd name="connsiteY0" fmla="*/ 0 h 693420"/>
                    <a:gd name="connsiteX1" fmla="*/ 0 w 1501140"/>
                    <a:gd name="connsiteY1" fmla="*/ 693420 h 693420"/>
                    <a:gd name="connsiteX2" fmla="*/ 1501140 w 1501140"/>
                    <a:gd name="connsiteY2" fmla="*/ 693420 h 693420"/>
                    <a:gd name="connsiteX3" fmla="*/ 1501140 w 1501140"/>
                    <a:gd name="connsiteY3" fmla="*/ 312420 h 693420"/>
                    <a:gd name="connsiteX0" fmla="*/ 0 w 1501140"/>
                    <a:gd name="connsiteY0" fmla="*/ 0 h 693420"/>
                    <a:gd name="connsiteX1" fmla="*/ 0 w 1501140"/>
                    <a:gd name="connsiteY1" fmla="*/ 693420 h 693420"/>
                    <a:gd name="connsiteX2" fmla="*/ 1501140 w 1501140"/>
                    <a:gd name="connsiteY2" fmla="*/ 693420 h 693420"/>
                    <a:gd name="connsiteX3" fmla="*/ 1501140 w 1501140"/>
                    <a:gd name="connsiteY3" fmla="*/ 418747 h 693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01140" h="693420">
                      <a:moveTo>
                        <a:pt x="0" y="0"/>
                      </a:moveTo>
                      <a:lnTo>
                        <a:pt x="0" y="693420"/>
                      </a:lnTo>
                      <a:lnTo>
                        <a:pt x="1501140" y="693420"/>
                      </a:lnTo>
                      <a:lnTo>
                        <a:pt x="1501140" y="418747"/>
                      </a:lnTo>
                    </a:path>
                  </a:pathLst>
                </a:cu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ZA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</a:endParaRPr>
                </a:p>
              </p:txBody>
            </p:sp>
            <p:cxnSp>
              <p:nvCxnSpPr>
                <p:cNvPr id="35" name="Straight Connector 34"/>
                <p:cNvCxnSpPr/>
                <p:nvPr/>
              </p:nvCxnSpPr>
              <p:spPr bwMode="auto">
                <a:xfrm>
                  <a:off x="4149090" y="2981355"/>
                  <a:ext cx="0" cy="685800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  <a:ex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6" name="Rectangle 35"/>
                <p:cNvSpPr/>
                <p:nvPr/>
              </p:nvSpPr>
              <p:spPr>
                <a:xfrm>
                  <a:off x="5511615" y="1455726"/>
                  <a:ext cx="37061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ZA" sz="2000" b="1" dirty="0" smtClean="0">
                      <a:latin typeface="Times New Roman" pitchFamily="18" charset="0"/>
                      <a:cs typeface="Times New Roman" pitchFamily="18" charset="0"/>
                    </a:rPr>
                    <a:t>C</a:t>
                  </a:r>
                  <a:endParaRPr lang="en-ZA" sz="2000" b="1" dirty="0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4232842" y="3509225"/>
                  <a:ext cx="3561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ZA" sz="2000" b="1" dirty="0" smtClean="0">
                      <a:latin typeface="Times New Roman" pitchFamily="18" charset="0"/>
                      <a:cs typeface="Times New Roman" pitchFamily="18" charset="0"/>
                    </a:rPr>
                    <a:t>E</a:t>
                  </a:r>
                  <a:endParaRPr lang="en-ZA" sz="2000" b="1" dirty="0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2322067" y="1471115"/>
                  <a:ext cx="33855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ZA" b="1" dirty="0">
                      <a:latin typeface="Times New Roman" pitchFamily="18" charset="0"/>
                      <a:cs typeface="Times New Roman" pitchFamily="18" charset="0"/>
                    </a:rPr>
                    <a:t>B</a:t>
                  </a:r>
                  <a:endParaRPr lang="en-ZA" dirty="0"/>
                </a:p>
              </p:txBody>
            </p:sp>
            <p:sp>
              <p:nvSpPr>
                <p:cNvPr id="39" name="Oval 38"/>
                <p:cNvSpPr/>
                <p:nvPr/>
              </p:nvSpPr>
              <p:spPr bwMode="auto">
                <a:xfrm>
                  <a:off x="5602189" y="1795271"/>
                  <a:ext cx="175456" cy="175456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70C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ZA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</a:endParaRPr>
                </a:p>
              </p:txBody>
            </p:sp>
            <p:sp>
              <p:nvSpPr>
                <p:cNvPr id="40" name="Oval 39"/>
                <p:cNvSpPr/>
                <p:nvPr/>
              </p:nvSpPr>
              <p:spPr bwMode="auto">
                <a:xfrm>
                  <a:off x="2385548" y="1795271"/>
                  <a:ext cx="175456" cy="175456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70C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ZA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</a:endParaRPr>
                </a:p>
              </p:txBody>
            </p:sp>
            <p:sp>
              <p:nvSpPr>
                <p:cNvPr id="41" name="Oval 40"/>
                <p:cNvSpPr/>
                <p:nvPr/>
              </p:nvSpPr>
              <p:spPr bwMode="auto">
                <a:xfrm>
                  <a:off x="4065006" y="3606342"/>
                  <a:ext cx="175456" cy="175456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70C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ZA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34" charset="0"/>
                  </a:endParaRPr>
                </a:p>
              </p:txBody>
            </p:sp>
          </p:grpSp>
          <p:sp>
            <p:nvSpPr>
              <p:cNvPr id="50" name="Rectangle 49"/>
              <p:cNvSpPr/>
              <p:nvPr/>
            </p:nvSpPr>
            <p:spPr>
              <a:xfrm>
                <a:off x="4149090" y="3015209"/>
                <a:ext cx="3770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ZA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ZA" b="1" baseline="-250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E</a:t>
                </a:r>
                <a:endParaRPr lang="en-ZA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5067934" y="1521207"/>
                <a:ext cx="3850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ZA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ZA" b="1" baseline="-250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C</a:t>
                </a:r>
                <a:endParaRPr lang="en-ZA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2795192" y="1488896"/>
                <a:ext cx="3770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ZA" b="1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ZA" b="1" baseline="-250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B</a:t>
                </a:r>
                <a:endParaRPr lang="en-ZA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5394079" y="1917687"/>
                <a:ext cx="606916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ZA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+ </a:t>
                </a:r>
              </a:p>
              <a:p>
                <a:pPr algn="ctr"/>
                <a:endParaRPr lang="en-ZA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ctr"/>
                <a:endParaRPr lang="en-ZA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ctr"/>
                <a:r>
                  <a:rPr lang="en-ZA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V</a:t>
                </a:r>
                <a:r>
                  <a:rPr lang="en-ZA" b="1" baseline="-250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CE</a:t>
                </a:r>
                <a:endParaRPr lang="en-ZA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ctr"/>
                <a:endParaRPr lang="en-ZA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ctr"/>
                <a:endParaRPr lang="en-ZA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ctr"/>
                <a:r>
                  <a:rPr lang="en-ZA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–</a:t>
                </a:r>
                <a:endParaRPr lang="en-ZA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2414123" y="1934156"/>
                <a:ext cx="738897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ZA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+ </a:t>
                </a:r>
              </a:p>
              <a:p>
                <a:pPr algn="r"/>
                <a:r>
                  <a:rPr lang="en-ZA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V</a:t>
                </a:r>
                <a:r>
                  <a:rPr lang="en-ZA" b="1" baseline="-25000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BE</a:t>
                </a:r>
                <a:r>
                  <a:rPr lang="en-ZA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= 0.7 V</a:t>
                </a:r>
                <a:endParaRPr lang="en-ZA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r"/>
                <a:r>
                  <a:rPr lang="en-ZA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–</a:t>
                </a:r>
                <a:endParaRPr lang="en-ZA" b="1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44" name="Straight Arrow Connector 43"/>
            <p:cNvCxnSpPr/>
            <p:nvPr/>
          </p:nvCxnSpPr>
          <p:spPr bwMode="auto">
            <a:xfrm>
              <a:off x="2881313" y="1890539"/>
              <a:ext cx="300037" cy="0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 bwMode="auto">
            <a:xfrm flipH="1">
              <a:off x="5060749" y="1890539"/>
              <a:ext cx="328613" cy="0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 bwMode="auto">
            <a:xfrm>
              <a:off x="4149090" y="3102307"/>
              <a:ext cx="0" cy="291495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8" name="Rectangle 57"/>
          <p:cNvSpPr/>
          <p:nvPr/>
        </p:nvSpPr>
        <p:spPr>
          <a:xfrm>
            <a:off x="1218626" y="3414963"/>
            <a:ext cx="47392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 transistor is equivalent to a </a:t>
            </a:r>
          </a:p>
          <a:p>
            <a:pPr algn="ctr"/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current controlled current source.</a:t>
            </a:r>
            <a:endParaRPr lang="en-ZA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209067" y="1884778"/>
            <a:ext cx="59182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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ZA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35289" y="4965695"/>
            <a:ext cx="3912042" cy="830997"/>
          </a:xfrm>
          <a:prstGeom prst="rect">
            <a:avLst/>
          </a:prstGeom>
          <a:ln>
            <a:solidFill>
              <a:srgbClr val="0066C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How does one analyse a circuit with a transistor in it?</a:t>
            </a:r>
            <a:endParaRPr lang="en-ZA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7" name="Group 66"/>
          <p:cNvGrpSpPr/>
          <p:nvPr/>
        </p:nvGrpSpPr>
        <p:grpSpPr>
          <a:xfrm>
            <a:off x="4047331" y="4504030"/>
            <a:ext cx="4436305" cy="877164"/>
            <a:chOff x="4047331" y="4504030"/>
            <a:chExt cx="4436305" cy="877164"/>
          </a:xfrm>
        </p:grpSpPr>
        <p:sp>
          <p:nvSpPr>
            <p:cNvPr id="60" name="Rectangle 59"/>
            <p:cNvSpPr/>
            <p:nvPr/>
          </p:nvSpPr>
          <p:spPr>
            <a:xfrm>
              <a:off x="4571594" y="4504030"/>
              <a:ext cx="3912042" cy="461665"/>
            </a:xfrm>
            <a:prstGeom prst="rect">
              <a:avLst/>
            </a:prstGeom>
            <a:ln>
              <a:solidFill>
                <a:srgbClr val="0066CC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ZA" sz="2400" b="1" dirty="0" smtClean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Method #1:  </a:t>
              </a:r>
              <a:r>
                <a:rPr lang="en-ZA" sz="2400" dirty="0" smtClean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Mesh Analysis</a:t>
              </a:r>
              <a:endPara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64" name="Straight Arrow Connector 63"/>
            <p:cNvCxnSpPr>
              <a:stCxn id="61" idx="3"/>
              <a:endCxn id="60" idx="1"/>
            </p:cNvCxnSpPr>
            <p:nvPr/>
          </p:nvCxnSpPr>
          <p:spPr bwMode="auto">
            <a:xfrm flipV="1">
              <a:off x="4047331" y="4734863"/>
              <a:ext cx="524263" cy="646331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  <a:extLst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68" name="Group 67"/>
          <p:cNvGrpSpPr/>
          <p:nvPr/>
        </p:nvGrpSpPr>
        <p:grpSpPr>
          <a:xfrm>
            <a:off x="4047331" y="5381194"/>
            <a:ext cx="4756786" cy="1279957"/>
            <a:chOff x="4047331" y="5381194"/>
            <a:chExt cx="4756786" cy="1279957"/>
          </a:xfrm>
        </p:grpSpPr>
        <p:sp>
          <p:nvSpPr>
            <p:cNvPr id="62" name="Rectangle 61"/>
            <p:cNvSpPr/>
            <p:nvPr/>
          </p:nvSpPr>
          <p:spPr>
            <a:xfrm>
              <a:off x="4554536" y="5460822"/>
              <a:ext cx="4249581" cy="1200329"/>
            </a:xfrm>
            <a:prstGeom prst="rect">
              <a:avLst/>
            </a:prstGeom>
            <a:ln>
              <a:solidFill>
                <a:srgbClr val="0066CC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ZA" sz="2400" b="1" dirty="0" smtClean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Method #2:  </a:t>
              </a:r>
              <a:r>
                <a:rPr lang="en-ZA" sz="2400" dirty="0" smtClean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Node Analysis</a:t>
              </a:r>
            </a:p>
            <a:p>
              <a:r>
                <a:rPr lang="en-ZA" sz="2400" dirty="0" smtClean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Only applicable if the equivalent network model is used.</a:t>
              </a:r>
              <a:endPara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66" name="Straight Arrow Connector 65"/>
            <p:cNvCxnSpPr>
              <a:stCxn id="61" idx="3"/>
              <a:endCxn id="62" idx="1"/>
            </p:cNvCxnSpPr>
            <p:nvPr/>
          </p:nvCxnSpPr>
          <p:spPr bwMode="auto">
            <a:xfrm>
              <a:off x="4047331" y="5381194"/>
              <a:ext cx="507205" cy="679793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  <a:extLst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935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ale29559_0304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2"/>
          <a:stretch/>
        </p:blipFill>
        <p:spPr bwMode="auto">
          <a:xfrm>
            <a:off x="4546569" y="680253"/>
            <a:ext cx="4572031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357" y="63500"/>
            <a:ext cx="854184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 3-12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8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err="1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8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800" i="1" baseline="-25000" dirty="0" smtClean="0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for the transistor circuit in which V</a:t>
            </a:r>
            <a:r>
              <a:rPr lang="en-ZA" sz="2800" baseline="-25000" dirty="0" smtClean="0"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 = 0.7 V and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  <a:sym typeface="Symbol"/>
              </a:rPr>
              <a:t> = 100. </a:t>
            </a:r>
            <a:r>
              <a:rPr lang="en-ZA" sz="28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METHOD #1</a:t>
            </a:r>
            <a:endParaRPr lang="en-ZA" sz="28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7062585" y="695642"/>
            <a:ext cx="1121388" cy="400110"/>
            <a:chOff x="7062585" y="695642"/>
            <a:chExt cx="1121388" cy="400110"/>
          </a:xfrm>
        </p:grpSpPr>
        <p:sp>
          <p:nvSpPr>
            <p:cNvPr id="6" name="Rectangle 5"/>
            <p:cNvSpPr/>
            <p:nvPr/>
          </p:nvSpPr>
          <p:spPr>
            <a:xfrm>
              <a:off x="7188188" y="695642"/>
              <a:ext cx="995785" cy="400110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I</a:t>
              </a:r>
              <a:r>
                <a:rPr lang="en-ZA" sz="2000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C</a:t>
              </a:r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 = </a:t>
              </a:r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2000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ZA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7" name="Straight Arrow Connector 6"/>
            <p:cNvCxnSpPr/>
            <p:nvPr/>
          </p:nvCxnSpPr>
          <p:spPr bwMode="auto">
            <a:xfrm flipH="1">
              <a:off x="7062585" y="772939"/>
              <a:ext cx="328613" cy="0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5148530" y="1887681"/>
            <a:ext cx="401370" cy="461665"/>
            <a:chOff x="5148530" y="1887681"/>
            <a:chExt cx="401370" cy="461665"/>
          </a:xfrm>
        </p:grpSpPr>
        <p:sp>
          <p:nvSpPr>
            <p:cNvPr id="8" name="Rectangle 7"/>
            <p:cNvSpPr/>
            <p:nvPr/>
          </p:nvSpPr>
          <p:spPr>
            <a:xfrm>
              <a:off x="5148530" y="1887681"/>
              <a:ext cx="383438" cy="400110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2000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ZA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9" name="Straight Arrow Connector 8"/>
            <p:cNvCxnSpPr/>
            <p:nvPr/>
          </p:nvCxnSpPr>
          <p:spPr bwMode="auto">
            <a:xfrm>
              <a:off x="5206799" y="2349346"/>
              <a:ext cx="343101" cy="0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5530988" y="3822546"/>
            <a:ext cx="1485661" cy="419254"/>
            <a:chOff x="5530988" y="3822546"/>
            <a:chExt cx="1485661" cy="419254"/>
          </a:xfrm>
        </p:grpSpPr>
        <p:sp>
          <p:nvSpPr>
            <p:cNvPr id="11" name="Rectangle 10"/>
            <p:cNvSpPr/>
            <p:nvPr/>
          </p:nvSpPr>
          <p:spPr>
            <a:xfrm>
              <a:off x="5530988" y="3832118"/>
              <a:ext cx="14285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2000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</a:t>
              </a:r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= (1+</a:t>
              </a:r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)</a:t>
              </a:r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2000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ZA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 bwMode="auto">
            <a:xfrm>
              <a:off x="6997499" y="3822546"/>
              <a:ext cx="19150" cy="419254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Arc 16"/>
          <p:cNvSpPr/>
          <p:nvPr/>
        </p:nvSpPr>
        <p:spPr bwMode="auto">
          <a:xfrm>
            <a:off x="5461415" y="2806700"/>
            <a:ext cx="783871" cy="760238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sz="2400" i="1" dirty="0" smtClean="0">
                <a:solidFill>
                  <a:srgbClr val="FF0000"/>
                </a:solidFill>
                <a:latin typeface="Verdana" pitchFamily="34" charset="0"/>
              </a:rPr>
              <a:t>In</a:t>
            </a:r>
            <a:endParaRPr kumimoji="0" lang="en-ZA" sz="2400" b="0" i="1" u="none" strike="noStrike" cap="none" normalizeH="0" baseline="-2500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</p:txBody>
      </p:sp>
      <p:sp>
        <p:nvSpPr>
          <p:cNvPr id="18" name="Arc 17"/>
          <p:cNvSpPr/>
          <p:nvPr/>
        </p:nvSpPr>
        <p:spPr bwMode="auto">
          <a:xfrm>
            <a:off x="7353098" y="1887681"/>
            <a:ext cx="906282" cy="1143260"/>
          </a:xfrm>
          <a:prstGeom prst="arc">
            <a:avLst>
              <a:gd name="adj1" fmla="val 16200000"/>
              <a:gd name="adj2" fmla="val 14904740"/>
            </a:avLst>
          </a:prstGeom>
          <a:ln>
            <a:solidFill>
              <a:srgbClr val="00B05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0" i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Out</a:t>
            </a:r>
            <a:endParaRPr kumimoji="0" lang="en-ZA" sz="2400" b="0" i="1" u="none" strike="noStrike" cap="none" normalizeH="0" baseline="-25000" dirty="0" smtClean="0">
              <a:ln>
                <a:noFill/>
              </a:ln>
              <a:solidFill>
                <a:srgbClr val="00B050"/>
              </a:solidFill>
              <a:effectLst/>
              <a:latin typeface="Verdana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83057" y="1456794"/>
            <a:ext cx="47392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KVL for Input Loop</a:t>
            </a:r>
            <a:r>
              <a:rPr lang="en-ZA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-5 + 10000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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+ 0.7 +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200I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E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= 0</a:t>
            </a:r>
            <a:endParaRPr lang="en-ZA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 rot="20373697">
            <a:off x="1615944" y="2103125"/>
            <a:ext cx="7335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ZA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endParaRPr lang="en-ZA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4357459" y="1872292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22" name="Oval 21"/>
          <p:cNvSpPr/>
          <p:nvPr/>
        </p:nvSpPr>
        <p:spPr bwMode="auto">
          <a:xfrm>
            <a:off x="4259224" y="2776940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3124" y="2374142"/>
            <a:ext cx="47392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KVL for Output Loop</a:t>
            </a:r>
            <a:r>
              <a:rPr lang="en-ZA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200I</a:t>
            </a:r>
            <a:r>
              <a:rPr lang="en-ZA" sz="2400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E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– V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500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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+ 12 = 0</a:t>
            </a:r>
            <a:endParaRPr lang="en-ZA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10423" y="3324574"/>
            <a:ext cx="47392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Note:</a:t>
            </a:r>
          </a:p>
          <a:p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I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endParaRPr lang="en-ZA" sz="24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r>
              <a:rPr lang="en-ZA" sz="24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400" i="1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0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200  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E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200  (1+)I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endParaRPr lang="en-ZA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26409" y="4677303"/>
            <a:ext cx="813019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Method:</a:t>
            </a:r>
          </a:p>
          <a:p>
            <a:pPr marL="457200" indent="-457200">
              <a:buFont typeface="+mj-lt"/>
              <a:buAutoNum type="arabicPeriod"/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Write loop equations </a:t>
            </a:r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ito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currents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(1+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)I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and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C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I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to write all </a:t>
            </a:r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ito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Solve for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from Input loop.</a:t>
            </a:r>
          </a:p>
          <a:p>
            <a:pPr marL="457200" indent="-457200">
              <a:buFont typeface="+mj-lt"/>
              <a:buAutoNum type="arabicPeriod"/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Solve for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CE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from Output loop.</a:t>
            </a:r>
            <a:endParaRPr lang="en-ZA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97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  <p:bldP spid="20" grpId="0"/>
      <p:bldP spid="21" grpId="0" animBg="1"/>
      <p:bldP spid="22" grpId="0" animBg="1"/>
      <p:bldP spid="23" grpId="0"/>
      <p:bldP spid="24" grpId="0"/>
      <p:bldP spid="3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" descr="ale29559_0304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2"/>
          <a:stretch/>
        </p:blipFill>
        <p:spPr bwMode="auto">
          <a:xfrm>
            <a:off x="4546569" y="680253"/>
            <a:ext cx="4572031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83057" y="203200"/>
            <a:ext cx="85418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 3-12</a:t>
            </a:r>
            <a:r>
              <a:rPr lang="en-ZA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800" dirty="0" smtClean="0">
                <a:latin typeface="Times New Roman" pitchFamily="18" charset="0"/>
                <a:cs typeface="Times New Roman" pitchFamily="18" charset="0"/>
              </a:rPr>
              <a:t>continued…</a:t>
            </a:r>
            <a:endParaRPr lang="en-ZA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6854" y="4214085"/>
            <a:ext cx="57464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From       solve for:</a:t>
            </a:r>
          </a:p>
          <a:p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ZA" sz="2400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– V</a:t>
            </a:r>
            <a:r>
              <a:rPr lang="en-ZA" sz="2400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500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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+ 12 =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-[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200 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 (1+)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500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I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+ 12 =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= 12 – 20200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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– 50000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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ZA" sz="2400" baseline="-25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= 12 – 70200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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ZA" sz="24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= 2 V</a:t>
            </a:r>
            <a:endParaRPr lang="en-ZA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ZA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982621" y="4297552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2</a:t>
            </a:r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863978" y="6479475"/>
            <a:ext cx="774700" cy="0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7062585" y="695642"/>
            <a:ext cx="1121388" cy="400110"/>
            <a:chOff x="7062585" y="695642"/>
            <a:chExt cx="1121388" cy="400110"/>
          </a:xfrm>
        </p:grpSpPr>
        <p:sp>
          <p:nvSpPr>
            <p:cNvPr id="9" name="Rectangle 8"/>
            <p:cNvSpPr/>
            <p:nvPr/>
          </p:nvSpPr>
          <p:spPr>
            <a:xfrm>
              <a:off x="7188188" y="695642"/>
              <a:ext cx="995785" cy="400110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I</a:t>
              </a:r>
              <a:r>
                <a:rPr lang="en-ZA" sz="2000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C</a:t>
              </a:r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 = </a:t>
              </a:r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2000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ZA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0" name="Straight Arrow Connector 9"/>
            <p:cNvCxnSpPr/>
            <p:nvPr/>
          </p:nvCxnSpPr>
          <p:spPr bwMode="auto">
            <a:xfrm flipH="1">
              <a:off x="7062585" y="772939"/>
              <a:ext cx="328613" cy="0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5148530" y="1887681"/>
            <a:ext cx="401370" cy="461665"/>
            <a:chOff x="5148530" y="1887681"/>
            <a:chExt cx="401370" cy="461665"/>
          </a:xfrm>
        </p:grpSpPr>
        <p:sp>
          <p:nvSpPr>
            <p:cNvPr id="12" name="Rectangle 11"/>
            <p:cNvSpPr/>
            <p:nvPr/>
          </p:nvSpPr>
          <p:spPr>
            <a:xfrm>
              <a:off x="5148530" y="1887681"/>
              <a:ext cx="383438" cy="400110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2000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ZA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 bwMode="auto">
            <a:xfrm>
              <a:off x="5206799" y="2349346"/>
              <a:ext cx="343101" cy="0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5530988" y="3822546"/>
            <a:ext cx="1485661" cy="419254"/>
            <a:chOff x="5530988" y="3822546"/>
            <a:chExt cx="1485661" cy="419254"/>
          </a:xfrm>
        </p:grpSpPr>
        <p:sp>
          <p:nvSpPr>
            <p:cNvPr id="15" name="Rectangle 14"/>
            <p:cNvSpPr/>
            <p:nvPr/>
          </p:nvSpPr>
          <p:spPr>
            <a:xfrm>
              <a:off x="5530988" y="3832118"/>
              <a:ext cx="14285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2000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</a:t>
              </a:r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= (1+</a:t>
              </a:r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)</a:t>
              </a:r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2000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ZA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6" name="Straight Arrow Connector 15"/>
            <p:cNvCxnSpPr/>
            <p:nvPr/>
          </p:nvCxnSpPr>
          <p:spPr bwMode="auto">
            <a:xfrm>
              <a:off x="6997499" y="3822546"/>
              <a:ext cx="19150" cy="419254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Arc 16"/>
          <p:cNvSpPr/>
          <p:nvPr/>
        </p:nvSpPr>
        <p:spPr bwMode="auto">
          <a:xfrm>
            <a:off x="5461415" y="2806700"/>
            <a:ext cx="783871" cy="760238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sz="2400" i="1" dirty="0" smtClean="0">
                <a:solidFill>
                  <a:srgbClr val="FF0000"/>
                </a:solidFill>
                <a:latin typeface="Verdana" pitchFamily="34" charset="0"/>
              </a:rPr>
              <a:t>In</a:t>
            </a:r>
            <a:endParaRPr kumimoji="0" lang="en-ZA" sz="2400" b="0" i="1" u="none" strike="noStrike" cap="none" normalizeH="0" baseline="-2500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</p:txBody>
      </p:sp>
      <p:sp>
        <p:nvSpPr>
          <p:cNvPr id="19" name="Arc 18"/>
          <p:cNvSpPr/>
          <p:nvPr/>
        </p:nvSpPr>
        <p:spPr bwMode="auto">
          <a:xfrm>
            <a:off x="7353098" y="1887681"/>
            <a:ext cx="906282" cy="1143260"/>
          </a:xfrm>
          <a:prstGeom prst="arc">
            <a:avLst>
              <a:gd name="adj1" fmla="val 16200000"/>
              <a:gd name="adj2" fmla="val 14904740"/>
            </a:avLst>
          </a:prstGeom>
          <a:ln>
            <a:solidFill>
              <a:srgbClr val="00B05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0" i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Out</a:t>
            </a:r>
            <a:endParaRPr kumimoji="0" lang="en-ZA" sz="2400" b="0" i="1" u="none" strike="noStrike" cap="none" normalizeH="0" baseline="-25000" dirty="0" smtClean="0">
              <a:ln>
                <a:noFill/>
              </a:ln>
              <a:solidFill>
                <a:srgbClr val="00B050"/>
              </a:solidFill>
              <a:effectLst/>
              <a:latin typeface="Verdana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41235" y="795987"/>
            <a:ext cx="51571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From       solve for I</a:t>
            </a:r>
            <a:r>
              <a:rPr lang="en-ZA" sz="2400" b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-5 + 10000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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+ 0.7 +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200(1+100)I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= 0</a:t>
            </a:r>
          </a:p>
          <a:p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30200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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= 4.3</a:t>
            </a:r>
          </a:p>
          <a:p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= 0.1424 mA </a:t>
            </a:r>
            <a:endParaRPr lang="en-ZA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1017003" y="843229"/>
            <a:ext cx="385013" cy="38475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Verdana" pitchFamily="34" charset="0"/>
              </a:rPr>
              <a:t>1</a:t>
            </a:r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745579" y="2272893"/>
            <a:ext cx="1549400" cy="0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6772" y="2506049"/>
            <a:ext cx="352041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Hence:</a:t>
            </a:r>
          </a:p>
          <a:p>
            <a:r>
              <a:rPr lang="en-ZA" sz="24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400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0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200 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 (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1+100)I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endParaRPr lang="en-ZA" sz="24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= 200  1010.14210</a:t>
            </a:r>
            <a:r>
              <a:rPr lang="en-ZA" sz="2400" baseline="30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-3</a:t>
            </a:r>
            <a:endParaRPr lang="en-ZA" sz="24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=  2.87 V</a:t>
            </a:r>
          </a:p>
        </p:txBody>
      </p:sp>
      <p:cxnSp>
        <p:nvCxnSpPr>
          <p:cNvPr id="24" name="Straight Arrow Connector 23"/>
          <p:cNvCxnSpPr/>
          <p:nvPr/>
        </p:nvCxnSpPr>
        <p:spPr bwMode="auto">
          <a:xfrm>
            <a:off x="394367" y="4015767"/>
            <a:ext cx="1384300" cy="0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85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20" grpId="0"/>
      <p:bldP spid="21" grpId="0" animBg="1"/>
      <p:bldP spid="2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200164" y="3483663"/>
            <a:ext cx="6913563" cy="3206290"/>
            <a:chOff x="2200164" y="3483663"/>
            <a:chExt cx="6913563" cy="320629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164" y="3483663"/>
              <a:ext cx="6913563" cy="3206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Oval 4"/>
            <p:cNvSpPr/>
            <p:nvPr/>
          </p:nvSpPr>
          <p:spPr bwMode="auto">
            <a:xfrm>
              <a:off x="8148034" y="3977164"/>
              <a:ext cx="139700" cy="139700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2466424" y="4641852"/>
              <a:ext cx="139700" cy="139700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6301738" y="4618992"/>
              <a:ext cx="139700" cy="1397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4325704" y="4618992"/>
              <a:ext cx="139700" cy="139700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5156200" y="5774692"/>
              <a:ext cx="139700" cy="139700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357" y="38100"/>
            <a:ext cx="526524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 3-13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4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for the transistor circuit in which V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0.7 V and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 = 80. </a:t>
            </a:r>
          </a:p>
          <a:p>
            <a:r>
              <a:rPr lang="en-ZA" sz="24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METHOD #2 – Node Analysis</a:t>
            </a:r>
            <a:endParaRPr lang="en-ZA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ale29559_0304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/>
        </p:blipFill>
        <p:spPr bwMode="auto">
          <a:xfrm>
            <a:off x="4876800" y="0"/>
            <a:ext cx="4211528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35480" y="1605340"/>
            <a:ext cx="596051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Note: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 is connected to GND @ 0 V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V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V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0 = V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endParaRPr lang="en-ZA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Courier New" pitchFamily="49" charset="0"/>
              <a:buChar char="o"/>
            </a:pP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/ 20k</a:t>
            </a:r>
            <a:endParaRPr lang="en-ZA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Courier New" pitchFamily="49" charset="0"/>
              <a:buChar char="o"/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V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V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0.7 – 0 = 0.7 V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 V and 10 V sources connected to GND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(1 – 0.7) / 120k = 2.5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A</a:t>
            </a:r>
            <a:endParaRPr lang="en-ZA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3747854" y="2321872"/>
            <a:ext cx="1054100" cy="527048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" name="Rounded Rectangle 12"/>
          <p:cNvSpPr/>
          <p:nvPr/>
        </p:nvSpPr>
        <p:spPr bwMode="auto">
          <a:xfrm>
            <a:off x="445854" y="2768242"/>
            <a:ext cx="1649646" cy="368300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6115049" y="868487"/>
            <a:ext cx="802725" cy="1710201"/>
            <a:chOff x="6115049" y="868487"/>
            <a:chExt cx="802725" cy="1710201"/>
          </a:xfrm>
        </p:grpSpPr>
        <p:sp>
          <p:nvSpPr>
            <p:cNvPr id="14" name="Oval 13"/>
            <p:cNvSpPr/>
            <p:nvPr/>
          </p:nvSpPr>
          <p:spPr bwMode="auto">
            <a:xfrm>
              <a:off x="6501128" y="966866"/>
              <a:ext cx="139700" cy="1397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6501128" y="2334572"/>
              <a:ext cx="139700" cy="1397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6185847" y="1618239"/>
              <a:ext cx="95887" cy="95887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585632" y="868487"/>
              <a:ext cx="33214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16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  <a:endParaRPr lang="en-ZA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577328" y="2240134"/>
              <a:ext cx="3209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16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</a:t>
              </a:r>
              <a:endParaRPr lang="en-ZA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115049" y="1634614"/>
              <a:ext cx="3209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16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ZA" sz="16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790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140627" y="312844"/>
            <a:ext cx="6913563" cy="3206290"/>
            <a:chOff x="2185650" y="3483663"/>
            <a:chExt cx="6913563" cy="320629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5650" y="3483663"/>
              <a:ext cx="6913563" cy="3206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Oval 4"/>
            <p:cNvSpPr/>
            <p:nvPr/>
          </p:nvSpPr>
          <p:spPr bwMode="auto">
            <a:xfrm>
              <a:off x="8148034" y="3977164"/>
              <a:ext cx="139700" cy="139700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2466424" y="4641852"/>
              <a:ext cx="139700" cy="139700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6301738" y="4618992"/>
              <a:ext cx="139700" cy="1397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4325704" y="4618992"/>
              <a:ext cx="139700" cy="139700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5156200" y="5774692"/>
              <a:ext cx="139700" cy="139700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357" y="38100"/>
            <a:ext cx="86216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 3-13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continued…  </a:t>
            </a:r>
            <a:r>
              <a:rPr lang="en-ZA" sz="24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METHOD #2 – Node Analysis</a:t>
            </a:r>
            <a:endParaRPr lang="en-ZA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0121" y="3332540"/>
            <a:ext cx="59605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KCL at Collector (C):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06555" y="3731218"/>
                <a:ext cx="3996735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80</m:t>
                      </m:r>
                      <m:r>
                        <a:rPr lang="en-ZA" sz="2400" b="0" i="1" smtClean="0">
                          <a:latin typeface="Cambria Math"/>
                        </a:rPr>
                        <m:t>𝐼𝐵</m:t>
                      </m:r>
                      <m:r>
                        <a:rPr lang="en-ZA" sz="24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</a:rPr>
                            <m:t>𝑣</m:t>
                          </m:r>
                          <m:r>
                            <a:rPr lang="en-ZA" sz="2400" b="0" i="1" baseline="-25000" smtClean="0">
                              <a:latin typeface="Cambria Math"/>
                            </a:rPr>
                            <m:t>𝑜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</a:rPr>
                            <m:t>20000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</a:rPr>
                            <m:t>𝑣</m:t>
                          </m:r>
                          <m:r>
                            <a:rPr lang="en-ZA" sz="2400" b="0" i="1" baseline="-25000" smtClean="0">
                              <a:latin typeface="Cambria Math"/>
                            </a:rPr>
                            <m:t>𝑜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−10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</a:rPr>
                            <m:t>20000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400" baseline="-25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55" y="3731218"/>
                <a:ext cx="3996735" cy="7861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97030" y="4539057"/>
                <a:ext cx="5321072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20000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ZA" sz="2400" b="0" i="1" smtClean="0">
                          <a:latin typeface="Cambria Math"/>
                        </a:rPr>
                        <m:t>80</m:t>
                      </m:r>
                      <m:d>
                        <m:d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ZA" sz="24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ZA" sz="2400" b="0" i="1" smtClean="0">
                                  <a:latin typeface="Cambria Math"/>
                                </a:rPr>
                                <m:t>1−0.7</m:t>
                              </m:r>
                            </m:num>
                            <m:den>
                              <m:r>
                                <a:rPr lang="en-ZA" sz="2400" b="0" i="1" smtClean="0">
                                  <a:latin typeface="Cambria Math"/>
                                </a:rPr>
                                <m:t>120000</m:t>
                              </m:r>
                            </m:den>
                          </m:f>
                        </m:e>
                      </m:d>
                      <m:r>
                        <a:rPr lang="en-ZA" sz="2400" b="0" i="1" smtClean="0">
                          <a:latin typeface="Cambria Math"/>
                        </a:rPr>
                        <m:t>+2</m:t>
                      </m:r>
                      <m:r>
                        <a:rPr lang="en-ZA" sz="2400" b="0" i="1" smtClean="0">
                          <a:latin typeface="Cambria Math"/>
                        </a:rPr>
                        <m:t>𝑣𝑜</m:t>
                      </m:r>
                      <m:r>
                        <a:rPr lang="en-ZA" sz="2400" b="0" i="1" smtClean="0">
                          <a:latin typeface="Cambria Math"/>
                        </a:rPr>
                        <m:t>−10=0</m:t>
                      </m:r>
                    </m:oMath>
                  </m:oMathPara>
                </a14:m>
                <a:endParaRPr lang="en-ZA" sz="2400" baseline="-25000" dirty="0" smtClean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30" y="4539057"/>
                <a:ext cx="5321072" cy="92217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06555" y="5463801"/>
                <a:ext cx="1985159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2</m:t>
                      </m:r>
                      <m:r>
                        <a:rPr lang="en-ZA" sz="2400" b="0" i="1" smtClean="0">
                          <a:latin typeface="Cambria Math"/>
                        </a:rPr>
                        <m:t>𝑣𝑜</m:t>
                      </m:r>
                      <m:r>
                        <a:rPr lang="en-ZA" sz="2400" b="0" i="1" smtClean="0">
                          <a:latin typeface="Cambria Math"/>
                        </a:rPr>
                        <m:t>=10−4</m:t>
                      </m:r>
                    </m:oMath>
                  </m:oMathPara>
                </a14:m>
                <a:endParaRPr lang="en-ZA" sz="2400" baseline="-2500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55" y="5463801"/>
                <a:ext cx="1985159" cy="453137"/>
              </a:xfrm>
              <a:prstGeom prst="rect">
                <a:avLst/>
              </a:prstGeom>
              <a:blipFill rotWithShape="1">
                <a:blip r:embed="rId5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78542" y="5839019"/>
                <a:ext cx="1362617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𝑣</m:t>
                      </m:r>
                      <m:r>
                        <a:rPr lang="en-ZA" sz="2400" b="0" i="1" baseline="-25000" smtClean="0">
                          <a:latin typeface="Cambria Math"/>
                        </a:rPr>
                        <m:t>𝑜</m:t>
                      </m:r>
                      <m:r>
                        <a:rPr lang="en-ZA" sz="2400" b="0" i="1" smtClean="0">
                          <a:latin typeface="Cambria Math"/>
                        </a:rPr>
                        <m:t>=3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</a:rPr>
                        <m:t>V</m:t>
                      </m:r>
                    </m:oMath>
                  </m:oMathPara>
                </a14:m>
                <a:endParaRPr lang="en-ZA" sz="2400" baseline="-25000" dirty="0" smtClean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42" y="5839019"/>
                <a:ext cx="1362617" cy="453137"/>
              </a:xfrm>
              <a:prstGeom prst="rect">
                <a:avLst/>
              </a:prstGeom>
              <a:blipFill rotWithShape="1">
                <a:blip r:embed="rId6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 bwMode="auto">
          <a:xfrm>
            <a:off x="664399" y="6281086"/>
            <a:ext cx="1384300" cy="0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742065" y="5612450"/>
                <a:ext cx="4387740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𝐼</m:t>
                      </m:r>
                      <m:r>
                        <a:rPr lang="en-ZA" sz="2400" b="0" i="1" baseline="-25000" smtClean="0">
                          <a:latin typeface="Cambria Math"/>
                        </a:rPr>
                        <m:t>𝑜</m:t>
                      </m:r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i="1">
                              <a:latin typeface="Cambria Math"/>
                            </a:rPr>
                            <m:t>𝑣</m:t>
                          </m:r>
                          <m:r>
                            <a:rPr lang="en-ZA" sz="2400" i="1" baseline="-25000">
                              <a:latin typeface="Cambria Math"/>
                            </a:rPr>
                            <m:t>𝑜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</a:rPr>
                            <m:t>20000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ZA" sz="2400" i="1">
                              <a:latin typeface="Cambria Math"/>
                            </a:rPr>
                            <m:t>20000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</a:rPr>
                        <m:t>=150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  <a:ea typeface="Cambria Math"/>
                        </a:rPr>
                        <m:t>μA</m:t>
                      </m:r>
                    </m:oMath>
                  </m:oMathPara>
                </a14:m>
                <a:endParaRPr lang="en-ZA" sz="2400" baseline="-25000" dirty="0" smtClean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2065" y="5612450"/>
                <a:ext cx="4387740" cy="78617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 bwMode="auto">
          <a:xfrm>
            <a:off x="7051495" y="6210741"/>
            <a:ext cx="1078310" cy="0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24" name="Group 1023"/>
          <p:cNvGrpSpPr/>
          <p:nvPr/>
        </p:nvGrpSpPr>
        <p:grpSpPr>
          <a:xfrm>
            <a:off x="4781550" y="1016000"/>
            <a:ext cx="1063552" cy="499856"/>
            <a:chOff x="4781550" y="1016000"/>
            <a:chExt cx="1063552" cy="499856"/>
          </a:xfrm>
        </p:grpSpPr>
        <p:cxnSp>
          <p:nvCxnSpPr>
            <p:cNvPr id="24" name="Straight Arrow Connector 23"/>
            <p:cNvCxnSpPr/>
            <p:nvPr/>
          </p:nvCxnSpPr>
          <p:spPr bwMode="auto">
            <a:xfrm>
              <a:off x="5423299" y="1515856"/>
              <a:ext cx="421803" cy="0"/>
            </a:xfrm>
            <a:prstGeom prst="straightConnector1">
              <a:avLst/>
            </a:prstGeom>
            <a:ln w="38100"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 bwMode="auto">
            <a:xfrm flipH="1">
              <a:off x="4781550" y="1515856"/>
              <a:ext cx="430209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 bwMode="auto">
            <a:xfrm flipV="1">
              <a:off x="5326565" y="1016000"/>
              <a:ext cx="0" cy="390717"/>
            </a:xfrm>
            <a:prstGeom prst="straightConnector1">
              <a:avLst/>
            </a:prstGeom>
            <a:ln w="38100">
              <a:solidFill>
                <a:srgbClr val="0033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2404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le29559_0312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9"/>
          <a:stretch/>
        </p:blipFill>
        <p:spPr bwMode="auto">
          <a:xfrm>
            <a:off x="3511549" y="571500"/>
            <a:ext cx="5530693" cy="2374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8872-F7C8-46E3-B5CF-577A7F23C2F5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357" y="38100"/>
            <a:ext cx="87577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 3-89</a:t>
            </a:r>
            <a:r>
              <a:rPr lang="en-ZA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for the transistor circuit in which V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0.7 V and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 = 100.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740377" y="637074"/>
            <a:ext cx="992773" cy="1785465"/>
            <a:chOff x="5905477" y="793223"/>
            <a:chExt cx="992773" cy="1785465"/>
          </a:xfrm>
        </p:grpSpPr>
        <p:sp>
          <p:nvSpPr>
            <p:cNvPr id="6" name="Oval 5"/>
            <p:cNvSpPr/>
            <p:nvPr/>
          </p:nvSpPr>
          <p:spPr bwMode="auto">
            <a:xfrm>
              <a:off x="6501128" y="966866"/>
              <a:ext cx="139700" cy="1397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6501128" y="2334572"/>
              <a:ext cx="139700" cy="1397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5976275" y="1503927"/>
              <a:ext cx="95887" cy="95887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6212424" y="793223"/>
              <a:ext cx="33214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16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  <a:endParaRPr lang="en-ZA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577328" y="2240134"/>
              <a:ext cx="3209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16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</a:t>
              </a:r>
              <a:endParaRPr lang="en-ZA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05477" y="1520302"/>
              <a:ext cx="3209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1600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ZA" sz="16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224380" y="979295"/>
            <a:ext cx="59605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Note: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 @ 0 V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 0.7 V</a:t>
            </a:r>
          </a:p>
        </p:txBody>
      </p:sp>
      <p:sp>
        <p:nvSpPr>
          <p:cNvPr id="13" name="Rectangle 12"/>
          <p:cNvSpPr/>
          <p:nvPr/>
        </p:nvSpPr>
        <p:spPr>
          <a:xfrm rot="19191680">
            <a:off x="5372571" y="1679383"/>
            <a:ext cx="7388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ZA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</a:p>
          <a:p>
            <a:pPr algn="r"/>
            <a:r>
              <a:rPr lang="en-ZA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0.7 V</a:t>
            </a:r>
            <a:endParaRPr lang="en-ZA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ZA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ZA" b="1" dirty="0">
              <a:solidFill>
                <a:srgbClr val="FF0000"/>
              </a:solidFill>
            </a:endParaRPr>
          </a:p>
        </p:txBody>
      </p:sp>
      <p:sp>
        <p:nvSpPr>
          <p:cNvPr id="14" name="Arc 13"/>
          <p:cNvSpPr/>
          <p:nvPr/>
        </p:nvSpPr>
        <p:spPr bwMode="auto">
          <a:xfrm>
            <a:off x="6899957" y="1512355"/>
            <a:ext cx="906282" cy="1143260"/>
          </a:xfrm>
          <a:prstGeom prst="arc">
            <a:avLst>
              <a:gd name="adj1" fmla="val 16200000"/>
              <a:gd name="adj2" fmla="val 14904740"/>
            </a:avLst>
          </a:prstGeom>
          <a:ln>
            <a:solidFill>
              <a:srgbClr val="00B05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0" i="1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Verdana" pitchFamily="34" charset="0"/>
              </a:rPr>
              <a:t>Out</a:t>
            </a:r>
            <a:endParaRPr kumimoji="0" lang="en-ZA" sz="2400" b="0" i="1" u="none" strike="noStrike" cap="none" normalizeH="0" baseline="-25000" dirty="0" smtClean="0">
              <a:ln>
                <a:noFill/>
              </a:ln>
              <a:solidFill>
                <a:srgbClr val="00B050"/>
              </a:solidFill>
              <a:effectLst/>
              <a:latin typeface="Verdana" pitchFamily="34" charset="0"/>
            </a:endParaRPr>
          </a:p>
        </p:txBody>
      </p:sp>
      <p:sp>
        <p:nvSpPr>
          <p:cNvPr id="15" name="Arc 14"/>
          <p:cNvSpPr/>
          <p:nvPr/>
        </p:nvSpPr>
        <p:spPr bwMode="auto">
          <a:xfrm>
            <a:off x="4677544" y="1868154"/>
            <a:ext cx="783871" cy="760238"/>
          </a:xfrm>
          <a:prstGeom prst="arc">
            <a:avLst>
              <a:gd name="adj1" fmla="val 16200000"/>
              <a:gd name="adj2" fmla="val 11853920"/>
            </a:avLst>
          </a:prstGeom>
          <a:ln>
            <a:solidFill>
              <a:srgbClr val="FF0000"/>
            </a:solidFill>
            <a:headEnd type="none" w="med" len="med"/>
            <a:tailEnd type="stealth" w="lg" len="lg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sz="2400" i="1" dirty="0" smtClean="0">
                <a:solidFill>
                  <a:srgbClr val="FF0000"/>
                </a:solidFill>
                <a:latin typeface="Verdana" pitchFamily="34" charset="0"/>
              </a:rPr>
              <a:t>In</a:t>
            </a:r>
            <a:endParaRPr kumimoji="0" lang="en-ZA" sz="2400" b="0" i="1" u="none" strike="noStrike" cap="none" normalizeH="0" baseline="-25000" dirty="0" smtClean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53846" y="949090"/>
            <a:ext cx="6069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</a:p>
          <a:p>
            <a:pPr algn="ctr"/>
            <a:r>
              <a:rPr lang="en-ZA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endParaRPr lang="en-ZA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ZA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ZA" b="1" dirty="0">
              <a:solidFill>
                <a:srgbClr val="FF0000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6424928" y="434168"/>
            <a:ext cx="995785" cy="422369"/>
            <a:chOff x="6811039" y="350570"/>
            <a:chExt cx="995785" cy="422369"/>
          </a:xfrm>
        </p:grpSpPr>
        <p:sp>
          <p:nvSpPr>
            <p:cNvPr id="18" name="Rectangle 17"/>
            <p:cNvSpPr/>
            <p:nvPr/>
          </p:nvSpPr>
          <p:spPr>
            <a:xfrm>
              <a:off x="6811039" y="350570"/>
              <a:ext cx="995785" cy="400110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I</a:t>
              </a:r>
              <a:r>
                <a:rPr lang="en-ZA" sz="2000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C</a:t>
              </a:r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 = </a:t>
              </a:r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2000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ZA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 bwMode="auto">
            <a:xfrm flipH="1">
              <a:off x="7062585" y="772939"/>
              <a:ext cx="328613" cy="0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Rectangle 19"/>
          <p:cNvSpPr/>
          <p:nvPr/>
        </p:nvSpPr>
        <p:spPr>
          <a:xfrm>
            <a:off x="595154" y="2959099"/>
            <a:ext cx="473926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KVL for Input Loop</a:t>
            </a:r>
            <a:r>
              <a:rPr lang="en-ZA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–3 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0.7 + 100k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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+ 0.7 = 0</a:t>
            </a:r>
          </a:p>
          <a:p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= 3 / 100k </a:t>
            </a:r>
          </a:p>
          <a:p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= 30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A</a:t>
            </a:r>
            <a:endParaRPr lang="en-ZA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685667" y="4700790"/>
            <a:ext cx="473926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KVL for Output Loop</a:t>
            </a:r>
            <a:r>
              <a:rPr lang="en-ZA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–V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+15 – 1000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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= 0</a:t>
            </a:r>
          </a:p>
          <a:p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= 15 </a:t>
            </a:r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1000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(10030)</a:t>
            </a:r>
          </a:p>
          <a:p>
            <a:r>
              <a:rPr lang="en-ZA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   = 12 V</a:t>
            </a:r>
            <a:endParaRPr lang="en-ZA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4" name="Straight Arrow Connector 23"/>
          <p:cNvCxnSpPr/>
          <p:nvPr/>
        </p:nvCxnSpPr>
        <p:spPr bwMode="auto">
          <a:xfrm>
            <a:off x="993517" y="4510645"/>
            <a:ext cx="1267083" cy="0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 bwMode="auto">
          <a:xfrm>
            <a:off x="2260600" y="6214236"/>
            <a:ext cx="1035049" cy="0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4726061" y="1370703"/>
            <a:ext cx="436567" cy="400110"/>
            <a:chOff x="7023522" y="770856"/>
            <a:chExt cx="436567" cy="400110"/>
          </a:xfrm>
        </p:grpSpPr>
        <p:sp>
          <p:nvSpPr>
            <p:cNvPr id="31" name="Rectangle 30"/>
            <p:cNvSpPr/>
            <p:nvPr/>
          </p:nvSpPr>
          <p:spPr>
            <a:xfrm>
              <a:off x="7076651" y="770856"/>
              <a:ext cx="383438" cy="400110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ZA" sz="2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sz="2000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ZA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2" name="Straight Arrow Connector 31"/>
            <p:cNvCxnSpPr/>
            <p:nvPr/>
          </p:nvCxnSpPr>
          <p:spPr bwMode="auto">
            <a:xfrm flipV="1">
              <a:off x="7023522" y="772939"/>
              <a:ext cx="367677" cy="8633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" name="Rectangle 33"/>
          <p:cNvSpPr/>
          <p:nvPr/>
        </p:nvSpPr>
        <p:spPr>
          <a:xfrm>
            <a:off x="7800636" y="1405565"/>
            <a:ext cx="6069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endParaRPr lang="en-ZA" b="1" dirty="0">
              <a:solidFill>
                <a:srgbClr val="FF0000"/>
              </a:solidFill>
            </a:endParaRPr>
          </a:p>
          <a:p>
            <a:pPr algn="ctr"/>
            <a:r>
              <a:rPr lang="en-ZA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  <a:p>
            <a:pPr algn="ctr"/>
            <a:r>
              <a:rPr lang="en-ZA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</a:p>
        </p:txBody>
      </p:sp>
    </p:spTree>
    <p:extLst>
      <p:ext uri="{BB962C8B-B14F-4D97-AF65-F5344CB8AC3E}">
        <p14:creationId xmlns:p14="http://schemas.microsoft.com/office/powerpoint/2010/main" val="392069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20" grpId="0"/>
      <p:bldP spid="23" grpId="0"/>
      <p:bldP spid="34" grpId="0"/>
    </p:bldLst>
  </p:timing>
</p:sld>
</file>

<file path=ppt/theme/theme1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Balloon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Balloons</Template>
  <TotalTime>4837</TotalTime>
  <Words>5443</Words>
  <Application>Microsoft Office PowerPoint</Application>
  <PresentationFormat>On-screen Show (4:3)</PresentationFormat>
  <Paragraphs>850</Paragraphs>
  <Slides>54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Balloons</vt:lpstr>
      <vt:lpstr>PowerPoint Presentation</vt:lpstr>
      <vt:lpstr>Methods of Analysis - Chapter 3</vt:lpstr>
      <vt:lpstr>PowerPoint Presentation</vt:lpstr>
      <vt:lpstr>Things we need to know in solving any resistive circuit with current and voltage sources only:</vt:lpstr>
      <vt:lpstr>PowerPoint Presentation</vt:lpstr>
      <vt:lpstr>3.2 Nodal Analysis Why?</vt:lpstr>
      <vt:lpstr>3.2 Nodal Analysis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Ch. 3 L#3: 3.4 Mesh Analysis Why?</vt:lpstr>
      <vt:lpstr>3.4 Mesh Analysis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3.7 Nodal versus Mesh Analysis (1)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City University of Hong Kong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EE2003  Circuit Theory</dc:title>
  <dc:creator>EE</dc:creator>
  <cp:lastModifiedBy>User</cp:lastModifiedBy>
  <cp:revision>247</cp:revision>
  <cp:lastPrinted>2011-08-22T08:52:44Z</cp:lastPrinted>
  <dcterms:created xsi:type="dcterms:W3CDTF">2006-09-12T03:52:31Z</dcterms:created>
  <dcterms:modified xsi:type="dcterms:W3CDTF">2012-02-21T13:12:27Z</dcterms:modified>
</cp:coreProperties>
</file>