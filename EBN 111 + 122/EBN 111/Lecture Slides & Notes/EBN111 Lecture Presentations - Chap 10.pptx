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27"/>
  </p:notesMasterIdLst>
  <p:handoutMasterIdLst>
    <p:handoutMasterId r:id="rId28"/>
  </p:handoutMasterIdLst>
  <p:sldIdLst>
    <p:sldId id="256" r:id="rId2"/>
    <p:sldId id="409" r:id="rId3"/>
    <p:sldId id="410" r:id="rId4"/>
    <p:sldId id="411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3" r:id="rId17"/>
    <p:sldId id="432" r:id="rId18"/>
    <p:sldId id="434" r:id="rId19"/>
    <p:sldId id="435" r:id="rId20"/>
    <p:sldId id="436" r:id="rId21"/>
    <p:sldId id="437" r:id="rId22"/>
    <p:sldId id="438" r:id="rId23"/>
    <p:sldId id="439" r:id="rId24"/>
    <p:sldId id="441" r:id="rId25"/>
    <p:sldId id="442" r:id="rId2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6600"/>
    <a:srgbClr val="0066CC"/>
    <a:srgbClr val="FF3300"/>
    <a:srgbClr val="0033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11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2D51D-8DDE-4F26-B6AA-D1F4A8CD4336}" type="datetimeFigureOut">
              <a:rPr lang="en-ZA" smtClean="0"/>
              <a:t>2012/05/17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BE7D9-B772-498F-B9F6-7C561E3873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9645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13582DD-0A2D-4A73-906E-420681B00F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97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0AC83D-7183-44A4-AAF6-4EABE13E2FD0}" type="slidenum">
              <a:rPr lang="en-US"/>
              <a:pPr/>
              <a:t>4</a:t>
            </a:fld>
            <a:endParaRPr lang="en-US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15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0515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0515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5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5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5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6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6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6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516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0516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0517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7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0517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7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0517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8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0518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8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0518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518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0519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519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519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DED770B-38A7-4D57-9D70-BA70636BBE6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519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520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45F83-37E7-4552-9847-E563A5EBEF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6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D52D68-DB2F-403B-A78B-FA90FF84D9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3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D2EA1-04BA-45BF-B548-C461A0AA38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5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3877B-6A5E-4A66-A5E8-E1A4644A69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F676D3-1388-4C2D-83EB-13449A439F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5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075FE-1D55-45B2-ABE3-2E3DA2CE9B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4B2D22-BAD7-486F-8352-E07D5E5E6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2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9309B-A96D-48B4-9507-3894DE5810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5B334-C850-4EE9-84F5-4DE3D366D4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2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CE914B-7F64-4FE2-9475-01C71736C9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85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F19B01C-6BB1-4293-8BC1-EF101A69A53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9CD8EBE-544A-4B3D-B358-461F0128D9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13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0413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0413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0413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3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3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413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0413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0413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3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0414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0414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0414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0414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0414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0414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415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0415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415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0415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415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7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7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7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0417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417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417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417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417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FAFD1E8E-5865-4FCF-97DF-05476A26CC1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7.jpe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40.png"/><Relationship Id="rId4" Type="http://schemas.openxmlformats.org/officeDocument/2006/relationships/image" Target="../media/image320.png"/><Relationship Id="rId9" Type="http://schemas.openxmlformats.org/officeDocument/2006/relationships/image" Target="../media/image3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0A2C76C-BFFA-4778-9E8E-4145705C269B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743200"/>
            <a:ext cx="6146800" cy="1638300"/>
          </a:xfrm>
        </p:spPr>
        <p:txBody>
          <a:bodyPr/>
          <a:lstStyle/>
          <a:p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10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Sinusoidal Steady-State Analysis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11200" y="457200"/>
            <a:ext cx="77025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err="1" smtClean="0"/>
              <a:t>EBN</a:t>
            </a:r>
            <a:r>
              <a:rPr lang="en-US" sz="3200" dirty="0" smtClean="0"/>
              <a:t> </a:t>
            </a:r>
            <a:r>
              <a:rPr lang="en-US" sz="3200" dirty="0" smtClean="0"/>
              <a:t>111/122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7077-B099-42A6-90E0-8EC0BD2C47B7}" type="slidenum">
              <a:rPr lang="en-US"/>
              <a:pPr/>
              <a:t>2</a:t>
            </a:fld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38150"/>
            <a:ext cx="8701088" cy="1543050"/>
          </a:xfrm>
        </p:spPr>
        <p:txBody>
          <a:bodyPr/>
          <a:lstStyle/>
          <a:p>
            <a:r>
              <a:rPr lang="en-US" sz="3200" b="1"/>
              <a:t/>
            </a:r>
            <a:br>
              <a:rPr lang="en-US" sz="3200" b="1"/>
            </a:br>
            <a:r>
              <a:rPr lang="en-US" sz="4000"/>
              <a:t>Sinusoidal Steady-State Analysis </a:t>
            </a:r>
            <a:br>
              <a:rPr lang="en-US" sz="4000"/>
            </a:br>
            <a:r>
              <a:rPr lang="en-US" sz="4000"/>
              <a:t>Chapter 10</a:t>
            </a:r>
            <a:r>
              <a:rPr lang="en-US" sz="3200" b="1"/>
              <a:t> 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458200" cy="3541713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endParaRPr lang="en-US" sz="280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/>
              <a:t>10.1	 Basic Approach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/>
              <a:t>10.2  Nodal Analysis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/>
              <a:t>10.3	 Mesh Analysis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/>
              <a:t>10.4	 Superposition Theorem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/>
              <a:t>10.5	 Source Transformation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/>
              <a:t>10.6	 Thevenin and Norton Equivalent Circuits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EE4B1-A5C4-4D5A-8FD5-E5B16C671F73}" type="slidenum">
              <a:rPr lang="en-US"/>
              <a:pPr/>
              <a:t>3</a:t>
            </a:fld>
            <a:endParaRPr lang="en-US"/>
          </a:p>
        </p:txBody>
      </p:sp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71550"/>
            <a:ext cx="7786688" cy="933450"/>
          </a:xfrm>
        </p:spPr>
        <p:txBody>
          <a:bodyPr/>
          <a:lstStyle/>
          <a:p>
            <a:pPr algn="l"/>
            <a:r>
              <a:rPr lang="en-US" sz="3200" u="sng"/>
              <a:t>Steps to Analyze AC Circuits</a:t>
            </a:r>
            <a:r>
              <a:rPr lang="en-US" sz="3200"/>
              <a:t>: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2895600"/>
          </a:xfrm>
        </p:spPr>
        <p:txBody>
          <a:bodyPr/>
          <a:lstStyle/>
          <a:p>
            <a:pPr marL="609600" indent="-609600">
              <a:buClr>
                <a:schemeClr val="tx1"/>
              </a:buClr>
              <a:buFontTx/>
              <a:buAutoNum type="arabicPeriod"/>
            </a:pPr>
            <a:r>
              <a:rPr lang="en-US" sz="2400" u="sng" dirty="0">
                <a:solidFill>
                  <a:srgbClr val="FF3300"/>
                </a:solidFill>
              </a:rPr>
              <a:t>Transform</a:t>
            </a:r>
            <a:r>
              <a:rPr lang="en-US" sz="2400" dirty="0"/>
              <a:t> the circuit to the </a:t>
            </a:r>
            <a:r>
              <a:rPr lang="en-US" sz="2400" u="sng" dirty="0" err="1">
                <a:solidFill>
                  <a:srgbClr val="FF3300"/>
                </a:solidFill>
              </a:rPr>
              <a:t>phasor</a:t>
            </a:r>
            <a:r>
              <a:rPr lang="en-US" sz="2400" u="sng" dirty="0">
                <a:solidFill>
                  <a:srgbClr val="FF3300"/>
                </a:solidFill>
              </a:rPr>
              <a:t> or frequency domain</a:t>
            </a:r>
            <a:r>
              <a:rPr lang="en-US" sz="2400" dirty="0"/>
              <a:t>.</a:t>
            </a:r>
          </a:p>
          <a:p>
            <a:pPr marL="609600" indent="-609600">
              <a:buClr>
                <a:schemeClr val="tx1"/>
              </a:buClr>
              <a:buFontTx/>
              <a:buAutoNum type="arabicPeriod"/>
            </a:pPr>
            <a:r>
              <a:rPr lang="en-US" sz="2400" u="sng" dirty="0">
                <a:solidFill>
                  <a:srgbClr val="FF3300"/>
                </a:solidFill>
              </a:rPr>
              <a:t>Solve</a:t>
            </a:r>
            <a:r>
              <a:rPr lang="en-US" sz="2400" dirty="0"/>
              <a:t> the problem using circuit techniques (nodal analysis, mesh analysis,     superposition, etc.).</a:t>
            </a:r>
          </a:p>
          <a:p>
            <a:pPr marL="609600" indent="-609600">
              <a:buClr>
                <a:schemeClr val="tx1"/>
              </a:buClr>
              <a:buFontTx/>
              <a:buAutoNum type="arabicPeriod"/>
            </a:pPr>
            <a:r>
              <a:rPr lang="en-US" sz="2400" u="sng" dirty="0">
                <a:solidFill>
                  <a:srgbClr val="FF3300"/>
                </a:solidFill>
              </a:rPr>
              <a:t>Transform</a:t>
            </a:r>
            <a:r>
              <a:rPr lang="en-US" sz="2400" dirty="0"/>
              <a:t> the resulting </a:t>
            </a:r>
            <a:r>
              <a:rPr lang="en-US" sz="2400" dirty="0" err="1"/>
              <a:t>phasor</a:t>
            </a:r>
            <a:r>
              <a:rPr lang="en-US" sz="2400" dirty="0"/>
              <a:t> to the time domain.</a:t>
            </a:r>
          </a:p>
        </p:txBody>
      </p:sp>
      <p:grpSp>
        <p:nvGrpSpPr>
          <p:cNvPr id="336904" name="Group 8"/>
          <p:cNvGrpSpPr>
            <a:grpSpLocks/>
          </p:cNvGrpSpPr>
          <p:nvPr/>
        </p:nvGrpSpPr>
        <p:grpSpPr bwMode="auto">
          <a:xfrm>
            <a:off x="554041" y="4876800"/>
            <a:ext cx="2493966" cy="1524000"/>
            <a:chOff x="589" y="3120"/>
            <a:chExt cx="1571" cy="960"/>
          </a:xfrm>
        </p:grpSpPr>
        <p:sp>
          <p:nvSpPr>
            <p:cNvPr id="336901" name="Oval 5"/>
            <p:cNvSpPr>
              <a:spLocks noChangeArrowheads="1"/>
            </p:cNvSpPr>
            <p:nvPr/>
          </p:nvSpPr>
          <p:spPr bwMode="auto">
            <a:xfrm>
              <a:off x="672" y="3120"/>
              <a:ext cx="1488" cy="96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336903" name="Text Box 7"/>
            <p:cNvSpPr txBox="1">
              <a:spLocks noChangeArrowheads="1"/>
            </p:cNvSpPr>
            <p:nvPr/>
          </p:nvSpPr>
          <p:spPr bwMode="auto">
            <a:xfrm>
              <a:off x="589" y="3486"/>
              <a:ext cx="14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4572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 to </a:t>
              </a:r>
              <a:r>
                <a:rPr lang="en-US" b="1" dirty="0" err="1" smtClean="0"/>
                <a:t>Phasor</a:t>
              </a:r>
              <a:endParaRPr lang="en-US" b="1" dirty="0"/>
            </a:p>
          </p:txBody>
        </p:sp>
      </p:grpSp>
      <p:grpSp>
        <p:nvGrpSpPr>
          <p:cNvPr id="336911" name="Group 15"/>
          <p:cNvGrpSpPr>
            <a:grpSpLocks/>
          </p:cNvGrpSpPr>
          <p:nvPr/>
        </p:nvGrpSpPr>
        <p:grpSpPr bwMode="auto">
          <a:xfrm>
            <a:off x="3144834" y="4876800"/>
            <a:ext cx="2735263" cy="1524000"/>
            <a:chOff x="1981" y="2976"/>
            <a:chExt cx="1723" cy="960"/>
          </a:xfrm>
        </p:grpSpPr>
        <p:sp>
          <p:nvSpPr>
            <p:cNvPr id="336906" name="Oval 10"/>
            <p:cNvSpPr>
              <a:spLocks noChangeArrowheads="1"/>
            </p:cNvSpPr>
            <p:nvPr/>
          </p:nvSpPr>
          <p:spPr bwMode="auto">
            <a:xfrm>
              <a:off x="2208" y="2976"/>
              <a:ext cx="1488" cy="96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336907" name="Text Box 11"/>
            <p:cNvSpPr txBox="1">
              <a:spLocks noChangeArrowheads="1"/>
            </p:cNvSpPr>
            <p:nvPr/>
          </p:nvSpPr>
          <p:spPr bwMode="auto">
            <a:xfrm>
              <a:off x="1981" y="3264"/>
              <a:ext cx="172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4572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/>
                <a:t>Solve variables in </a:t>
              </a:r>
              <a:r>
                <a:rPr lang="en-US" b="1" dirty="0" err="1" smtClean="0"/>
                <a:t>Phasor</a:t>
              </a:r>
              <a:endParaRPr lang="en-US" b="1" dirty="0"/>
            </a:p>
          </p:txBody>
        </p:sp>
      </p:grpSp>
      <p:grpSp>
        <p:nvGrpSpPr>
          <p:cNvPr id="336908" name="Group 12"/>
          <p:cNvGrpSpPr>
            <a:grpSpLocks/>
          </p:cNvGrpSpPr>
          <p:nvPr/>
        </p:nvGrpSpPr>
        <p:grpSpPr bwMode="auto">
          <a:xfrm>
            <a:off x="6172200" y="4800600"/>
            <a:ext cx="2438400" cy="1524000"/>
            <a:chOff x="624" y="3120"/>
            <a:chExt cx="1536" cy="960"/>
          </a:xfrm>
        </p:grpSpPr>
        <p:sp>
          <p:nvSpPr>
            <p:cNvPr id="336909" name="Oval 13"/>
            <p:cNvSpPr>
              <a:spLocks noChangeArrowheads="1"/>
            </p:cNvSpPr>
            <p:nvPr/>
          </p:nvSpPr>
          <p:spPr bwMode="auto">
            <a:xfrm>
              <a:off x="672" y="3120"/>
              <a:ext cx="1488" cy="96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336910" name="Text Box 14"/>
            <p:cNvSpPr txBox="1">
              <a:spLocks noChangeArrowheads="1"/>
            </p:cNvSpPr>
            <p:nvPr/>
          </p:nvSpPr>
          <p:spPr bwMode="auto">
            <a:xfrm>
              <a:off x="624" y="3456"/>
              <a:ext cx="147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45720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1" dirty="0" err="1" smtClean="0"/>
                <a:t>Phasor</a:t>
              </a:r>
              <a:r>
                <a:rPr lang="en-US" dirty="0" smtClean="0"/>
                <a:t> </a:t>
              </a:r>
              <a:r>
                <a:rPr lang="en-US" dirty="0" smtClean="0"/>
                <a:t>to </a:t>
              </a:r>
              <a:r>
                <a:rPr lang="en-US" dirty="0"/>
                <a:t>Time</a:t>
              </a:r>
            </a:p>
          </p:txBody>
        </p:sp>
      </p:grpSp>
      <p:sp>
        <p:nvSpPr>
          <p:cNvPr id="336912" name="Line 16"/>
          <p:cNvSpPr>
            <a:spLocks noChangeShapeType="1"/>
          </p:cNvSpPr>
          <p:nvPr/>
        </p:nvSpPr>
        <p:spPr bwMode="auto">
          <a:xfrm>
            <a:off x="2971800" y="5638800"/>
            <a:ext cx="6858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336913" name="Line 17"/>
          <p:cNvSpPr>
            <a:spLocks noChangeShapeType="1"/>
          </p:cNvSpPr>
          <p:nvPr/>
        </p:nvSpPr>
        <p:spPr bwMode="auto">
          <a:xfrm>
            <a:off x="5791200" y="5562600"/>
            <a:ext cx="6858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336915" name="Rectangle 19"/>
          <p:cNvSpPr>
            <a:spLocks noChangeArrowheads="1"/>
          </p:cNvSpPr>
          <p:nvPr/>
        </p:nvSpPr>
        <p:spPr bwMode="auto">
          <a:xfrm>
            <a:off x="442913" y="457200"/>
            <a:ext cx="8243887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10.1 Basic Approach 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12" grpId="0" animBg="1"/>
      <p:bldP spid="3369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F4B7-DCDB-4F5F-9896-BADAE724C83D}" type="slidenum">
              <a:rPr lang="en-US"/>
              <a:pPr/>
              <a:t>4</a:t>
            </a:fld>
            <a:endParaRPr lang="en-US"/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695302"/>
          </a:xfrm>
        </p:spPr>
        <p:txBody>
          <a:bodyPr anchor="t"/>
          <a:lstStyle/>
          <a:p>
            <a:r>
              <a:rPr lang="en-US" sz="4000" dirty="0"/>
              <a:t>10.2 Nodal </a:t>
            </a:r>
            <a:r>
              <a:rPr lang="en-US" sz="4000" dirty="0" smtClean="0"/>
              <a:t>Analysis</a:t>
            </a:r>
            <a:endParaRPr lang="en-US" sz="4000" dirty="0"/>
          </a:p>
        </p:txBody>
      </p:sp>
      <p:sp>
        <p:nvSpPr>
          <p:cNvPr id="337928" name="Rectangle 8"/>
          <p:cNvSpPr>
            <a:spLocks noChangeArrowheads="1"/>
          </p:cNvSpPr>
          <p:nvPr/>
        </p:nvSpPr>
        <p:spPr bwMode="auto">
          <a:xfrm>
            <a:off x="0" y="2601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257577" y="846010"/>
            <a:ext cx="213789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</a:rPr>
              <a:t>le 10.1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</a:t>
            </a:r>
            <a:r>
              <a:rPr lang="en-ZA" sz="2400" i="1" dirty="0" smtClean="0">
                <a:latin typeface="Times New Roman" pitchFamily="18" charset="0"/>
              </a:rPr>
              <a:t>i</a:t>
            </a:r>
            <a:r>
              <a:rPr lang="en-ZA" sz="2400" i="1" baseline="-25000" dirty="0" smtClean="0">
                <a:latin typeface="Times New Roman" pitchFamily="18" charset="0"/>
              </a:rPr>
              <a:t>x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15" name="Picture 3" descr="ale29559_10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9"/>
          <a:stretch/>
        </p:blipFill>
        <p:spPr bwMode="auto">
          <a:xfrm>
            <a:off x="3710485" y="709382"/>
            <a:ext cx="5343199" cy="2001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 descr="ale29559_1000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8"/>
          <a:stretch/>
        </p:blipFill>
        <p:spPr bwMode="auto">
          <a:xfrm>
            <a:off x="3954424" y="2839615"/>
            <a:ext cx="5099260" cy="176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8300" y="4177536"/>
                <a:ext cx="4854919" cy="2339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20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0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2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4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2.5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−40−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5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2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8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3</m:t>
                          </m:r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5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40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00" y="4177536"/>
                <a:ext cx="4854919" cy="233967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 bwMode="auto">
          <a:xfrm>
            <a:off x="5813219" y="6013337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>
          <a:xfrm>
            <a:off x="257577" y="3946703"/>
            <a:ext cx="2077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KCL at node 1: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7576" y="5401145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(x20)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7576" y="1948331"/>
            <a:ext cx="3339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</a:rPr>
              <a:t>jX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=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L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j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  1 = j4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7575" y="2446485"/>
            <a:ext cx="35704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</a:rPr>
              <a:t>jX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=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L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j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  0.5 = j2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7574" y="2957518"/>
            <a:ext cx="44470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</a:rPr>
              <a:t>jX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 = -j/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C = -j  (4  0.1) = -j2.5</a:t>
            </a:r>
            <a:endParaRPr lang="en-ZA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/>
      <p:bldP spid="12" grpId="0"/>
      <p:bldP spid="13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9B01C-6BB1-4293-8BC1-EF101A69A53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0609" y="317976"/>
            <a:ext cx="269168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</a:rPr>
              <a:t>le 10.1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</a:rPr>
              <a:t>cont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</a:t>
            </a:r>
            <a:r>
              <a:rPr lang="en-ZA" sz="2400" i="1" dirty="0" smtClean="0">
                <a:latin typeface="Times New Roman" pitchFamily="18" charset="0"/>
              </a:rPr>
              <a:t>i</a:t>
            </a:r>
            <a:r>
              <a:rPr lang="en-ZA" sz="2400" i="1" baseline="-25000" dirty="0" smtClean="0">
                <a:latin typeface="Times New Roman" pitchFamily="18" charset="0"/>
              </a:rPr>
              <a:t>x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7" name="Picture 3" descr="ale29559_1000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8"/>
          <a:stretch/>
        </p:blipFill>
        <p:spPr bwMode="auto">
          <a:xfrm>
            <a:off x="3542303" y="317976"/>
            <a:ext cx="5099260" cy="176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013483" y="2084132"/>
            <a:ext cx="2077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KCL at node 2: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5901" y="2329715"/>
                <a:ext cx="7302320" cy="357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2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4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−2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𝐼𝑥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2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i="1" dirty="0" smtClean="0">
                  <a:latin typeface="Cambria Math"/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sym typeface="Symbol"/>
                        </a:rPr>
                        <m:t>But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: 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𝐼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2.5</m:t>
                          </m:r>
                        </m:den>
                      </m:f>
                      <m:r>
                        <a:rPr lang="en-ZA" sz="2400" b="0" i="0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sym typeface="Symbol"/>
                        </a:rPr>
                        <m:t>hence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:  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latin typeface="Cambria Math"/>
                              <a:sym typeface="Symbol"/>
                            </a:rPr>
                            <m:t>2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4</m:t>
                          </m:r>
                        </m:den>
                      </m:f>
                      <m:r>
                        <a:rPr lang="en-ZA" sz="2400" i="1">
                          <a:latin typeface="Cambria Math"/>
                          <a:sym typeface="Symbol"/>
                        </a:rPr>
                        <m:t>−2</m:t>
                      </m:r>
                      <m:d>
                        <m:dPr>
                          <m:ctrlPr>
                            <a:rPr lang="en-ZA" sz="240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ZA" sz="2400" i="1">
                                  <a:latin typeface="Cambria Math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𝑉</m:t>
                              </m:r>
                              <m:r>
                                <a:rPr lang="en-ZA" sz="2400" i="1" baseline="-2500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−</m:t>
                              </m:r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2.5</m:t>
                              </m:r>
                            </m:den>
                          </m:f>
                        </m:e>
                      </m:d>
                      <m:r>
                        <a:rPr lang="en-ZA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latin typeface="Cambria Math"/>
                              <a:sym typeface="Symbol"/>
                            </a:rPr>
                            <m:t>2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  <m:r>
                        <a:rPr lang="en-ZA" sz="2400" i="1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5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−5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+16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+10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11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+1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5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0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1" y="2329715"/>
                <a:ext cx="7302320" cy="357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481235" y="4802560"/>
            <a:ext cx="950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j20)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7438246" y="5374145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938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ale29559_1000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8"/>
          <a:stretch/>
        </p:blipFill>
        <p:spPr bwMode="auto">
          <a:xfrm>
            <a:off x="5112913" y="2387094"/>
            <a:ext cx="3953813" cy="136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908339" y="466313"/>
                <a:ext cx="4119718" cy="884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2+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15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39" y="466313"/>
                <a:ext cx="4119718" cy="88453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60609" y="317976"/>
            <a:ext cx="269168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</a:rPr>
              <a:t>le 10.1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</a:rPr>
              <a:t>cont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i</a:t>
            </a:r>
            <a:r>
              <a:rPr lang="en-ZA" sz="2400" baseline="-25000" dirty="0" smtClean="0">
                <a:latin typeface="Times New Roman" pitchFamily="18" charset="0"/>
              </a:rPr>
              <a:t>x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59113" y="1597941"/>
                <a:ext cx="5651419" cy="1473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400" i="1">
                                    <a:latin typeface="Cambria Math"/>
                                  </a:rPr>
                                  <m:t>2+</m:t>
                                </m:r>
                                <m:r>
                                  <a:rPr lang="en-ZA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ZA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i="1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latin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ZA" sz="2400" i="1">
                                    <a:latin typeface="Cambria Math"/>
                                  </a:rPr>
                                  <m:t>15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2+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∙15−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5∙11</m:t>
                      </m:r>
                    </m:oMath>
                  </m:oMathPara>
                </a14:m>
                <a:endParaRPr lang="en-ZA" sz="2400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                                 =</m:t>
                      </m:r>
                      <m:d>
                        <m:dPr>
                          <m:ctrlPr>
                            <a:rPr lang="en-ZA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30</m:t>
                          </m:r>
                          <m:r>
                            <a:rPr lang="en-ZA" sz="2400" i="1">
                              <a:latin typeface="Cambria Math"/>
                            </a:rPr>
                            <m:t>+</m:t>
                          </m:r>
                          <m:r>
                            <a:rPr lang="en-ZA" sz="2400" i="1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45</m:t>
                          </m:r>
                        </m:e>
                      </m:d>
                      <m:r>
                        <a:rPr lang="en-ZA" sz="2400" i="1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ZA" sz="2400" i="1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ZA" sz="2400" i="1">
                          <a:latin typeface="Cambria Math"/>
                          <a:ea typeface="Cambria Math"/>
                        </a:rPr>
                        <m:t>55</m:t>
                      </m:r>
                    </m:oMath>
                  </m:oMathPara>
                </a14:m>
                <a:endParaRPr lang="en-ZA" sz="2400" b="0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                                 =30−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10</m:t>
                      </m:r>
                    </m:oMath>
                  </m:oMathPara>
                </a14:m>
                <a:endParaRPr lang="en-ZA" sz="2400" b="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3" y="1597941"/>
                <a:ext cx="5651419" cy="1473865"/>
              </a:xfrm>
              <a:prstGeom prst="rect">
                <a:avLst/>
              </a:prstGeom>
              <a:blipFill rotWithShape="1">
                <a:blip r:embed="rId4"/>
                <a:stretch>
                  <a:fillRect b="-4959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9111" y="3303625"/>
                <a:ext cx="4956550" cy="735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400" b="0" i="1" baseline="-2500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=40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∙15</m:t>
                      </m:r>
                      <m:r>
                        <a:rPr lang="en-ZA" sz="2400" b="0" i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−0=600</m:t>
                      </m:r>
                    </m:oMath>
                  </m:oMathPara>
                </a14:m>
                <a:endParaRPr lang="en-ZA" sz="2400" b="0" dirty="0" smtClean="0">
                  <a:solidFill>
                    <a:srgbClr val="FF0000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1" y="3303625"/>
                <a:ext cx="4956550" cy="73520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5198" y="3987310"/>
                <a:ext cx="6397777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600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31.62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−18.43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=18.97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18.43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98" y="3987310"/>
                <a:ext cx="6397777" cy="7861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39593" y="5091005"/>
                <a:ext cx="6392456" cy="14058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𝐼</m:t>
                      </m:r>
                      <m:r>
                        <a:rPr lang="en-ZA" sz="2400" i="1" baseline="-2500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2.5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18.97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18.43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2.5−90</m:t>
                          </m:r>
                        </m:den>
                      </m:f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=7.59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108.43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ea typeface="Cambria Math"/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𝑖</m:t>
                      </m:r>
                      <m:r>
                        <a:rPr lang="en-ZA" sz="2400" b="0" i="1" baseline="-2500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𝑥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=7.59</m:t>
                      </m:r>
                      <m:func>
                        <m:func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4</m:t>
                              </m:r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+108.43°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ea typeface="Cambria Math"/>
                  <a:sym typeface="Symbol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93" y="5091005"/>
                <a:ext cx="6392456" cy="140589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 bwMode="auto">
          <a:xfrm flipV="1">
            <a:off x="1300766" y="6375043"/>
            <a:ext cx="3657600" cy="12879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3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D8EBE-544A-4B3D-B358-461F0128D9A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10.2 (Super Node)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</a:rPr>
              <a:t> and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8" name="Picture 3" descr="ale29559_1000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9"/>
          <a:stretch/>
        </p:blipFill>
        <p:spPr bwMode="auto">
          <a:xfrm>
            <a:off x="3425779" y="189187"/>
            <a:ext cx="5637453" cy="226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 bwMode="auto">
          <a:xfrm>
            <a:off x="5499278" y="128790"/>
            <a:ext cx="1931831" cy="930032"/>
          </a:xfrm>
          <a:prstGeom prst="ellipse">
            <a:avLst/>
          </a:prstGeom>
          <a:noFill/>
          <a:ln w="28575">
            <a:solidFill>
              <a:srgbClr val="FF3300"/>
            </a:solidFill>
            <a:prstDash val="dash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89586" y="2465788"/>
                <a:ext cx="4718086" cy="2339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30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0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4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2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2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−30−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4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+2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+(2+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4)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30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86" y="2465788"/>
                <a:ext cx="4718086" cy="233967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88863" y="2234955"/>
            <a:ext cx="26418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KCL at Super node: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4247" y="3726884"/>
            <a:ext cx="788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4)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6123637" y="4287560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8863" y="5156313"/>
            <a:ext cx="1662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Super node: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51498" y="5103674"/>
                <a:ext cx="269470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=4060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4060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:endParaRPr lang="en-ZA" sz="2400" b="0" dirty="0" smtClean="0">
                  <a:sym typeface="Symbol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498" y="5103674"/>
                <a:ext cx="2694701" cy="17543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 bwMode="auto">
          <a:xfrm>
            <a:off x="5084836" y="5831096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416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 animBg="1"/>
      <p:bldP spid="14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D8EBE-544A-4B3D-B358-461F0128D9A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10.2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</a:rPr>
              <a:t> and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8" name="Picture 3" descr="ale29559_1000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9"/>
          <a:stretch/>
        </p:blipFill>
        <p:spPr bwMode="auto">
          <a:xfrm>
            <a:off x="3425779" y="189187"/>
            <a:ext cx="5637453" cy="226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 bwMode="auto">
          <a:xfrm>
            <a:off x="5499278" y="128790"/>
            <a:ext cx="1931831" cy="930032"/>
          </a:xfrm>
          <a:prstGeom prst="ellipse">
            <a:avLst/>
          </a:prstGeom>
          <a:noFill/>
          <a:ln w="28575">
            <a:solidFill>
              <a:srgbClr val="FF3300"/>
            </a:solidFill>
            <a:prstDash val="dash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44426" y="2333991"/>
                <a:ext cx="7020779" cy="4237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</m:e>
                      </m:d>
                      <m:d>
                        <m:d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sym typeface="Symbol"/>
                            </a:rPr>
                            <m:t>+4060</m:t>
                          </m:r>
                          <m:r>
                            <m:rPr>
                              <m:nor/>
                            </m:rPr>
                            <a:rPr lang="en-ZA" sz="2400" dirty="0">
                              <a:solidFill>
                                <a:srgbClr val="FF0000"/>
                              </a:solidFill>
                              <a:sym typeface="Symbol"/>
                            </a:rPr>
                            <m:t> 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2+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30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1−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2+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1−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</m:e>
                      </m:d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4060</m:t>
                          </m:r>
                          <m:r>
                            <m:rPr>
                              <m:nor/>
                            </m:rPr>
                            <a:rPr lang="en-ZA" sz="2400" dirty="0">
                              <a:sym typeface="Symbol"/>
                            </a:rPr>
                            <m:t> </m:t>
                          </m:r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=30</m:t>
                      </m:r>
                    </m:oMath>
                  </m:oMathPara>
                </a14:m>
                <a:endParaRPr lang="en-ZA" sz="240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3+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3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ZA" sz="2400" i="1">
                                  <a:latin typeface="Cambria Math"/>
                                  <a:sym typeface="Symbo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  <m:t>2</m:t>
                              </m:r>
                            </m:e>
                          </m:rad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−45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</m:t>
                          </m:r>
                        </m:e>
                      </m:d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4060</m:t>
                          </m:r>
                          <m:r>
                            <m:rPr>
                              <m:nor/>
                            </m:rPr>
                            <a:rPr lang="en-ZA" sz="2400" dirty="0">
                              <a:sym typeface="Symbol"/>
                            </a:rPr>
                            <m:t> </m:t>
                          </m:r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=30</m:t>
                      </m:r>
                    </m:oMath>
                  </m:oMathPara>
                </a14:m>
                <a:endParaRPr lang="en-ZA" sz="240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ZA" sz="2400" i="1" smtClean="0">
                                  <a:latin typeface="Cambria Math"/>
                                  <a:sym typeface="Symbo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  <m:t>18</m:t>
                              </m:r>
                            </m:e>
                          </m:rad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45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=30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ZA" sz="2400" i="1">
                                  <a:latin typeface="Cambria Math"/>
                                  <a:sym typeface="Symbo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2</m:t>
                              </m:r>
                            </m:e>
                          </m:rad>
                          <m:r>
                            <a:rPr lang="en-ZA" sz="2400" i="1" smtClean="0">
                              <a:latin typeface="Cambria Math"/>
                              <a:ea typeface="Cambria Math"/>
                              <a:sym typeface="Symbol"/>
                            </a:rPr>
                            <m:t>∙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4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015</m:t>
                          </m:r>
                          <m:r>
                            <m:rPr>
                              <m:nor/>
                            </m:rPr>
                            <a:rPr lang="en-ZA" sz="2400" dirty="0">
                              <a:sym typeface="Symbol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ZA" sz="240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30−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54.64−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14.64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ZA" sz="2400" i="1">
                                  <a:latin typeface="Cambria Math"/>
                                  <a:sym typeface="Symbo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18</m:t>
                              </m:r>
                            </m:e>
                          </m:rad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45</m:t>
                          </m:r>
                        </m:den>
                      </m:f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28.66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−149.28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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4.24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45</m:t>
                          </m:r>
                        </m:den>
                      </m:f>
                    </m:oMath>
                  </m:oMathPara>
                </a14:m>
                <a:endParaRPr lang="en-ZA" sz="240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6.76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165.72</m:t>
                      </m:r>
                      <m:r>
                        <a:rPr lang="en-ZA" sz="2400" i="1" smtClean="0"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26" y="2333991"/>
                <a:ext cx="7020779" cy="42375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 bwMode="auto">
          <a:xfrm>
            <a:off x="1144427" y="175401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913" y="1679017"/>
            <a:ext cx="423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in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360609" y="1730353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 flipV="1">
            <a:off x="5267459" y="6465198"/>
            <a:ext cx="2973225" cy="12878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 bwMode="auto">
          <a:xfrm>
            <a:off x="8165205" y="5952477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271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D8EBE-544A-4B3D-B358-461F0128D9A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10.2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</a:rPr>
              <a:t> and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8" name="Picture 3" descr="ale29559_1000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9"/>
          <a:stretch/>
        </p:blipFill>
        <p:spPr bwMode="auto">
          <a:xfrm>
            <a:off x="3425779" y="189187"/>
            <a:ext cx="5637453" cy="226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 bwMode="auto">
          <a:xfrm>
            <a:off x="5499278" y="128790"/>
            <a:ext cx="1931831" cy="930032"/>
          </a:xfrm>
          <a:prstGeom prst="ellipse">
            <a:avLst/>
          </a:prstGeom>
          <a:noFill/>
          <a:ln w="28575">
            <a:solidFill>
              <a:srgbClr val="FF3300"/>
            </a:solidFill>
            <a:prstDash val="dash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44426" y="2333991"/>
                <a:ext cx="7020779" cy="2883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+4060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=6.76165.72+4060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ZA" sz="2400" dirty="0" smtClean="0">
                    <a:sym typeface="Symbol"/>
                  </a:rPr>
                  <a:t>     </a:t>
                </a:r>
                <a14:m>
                  <m:oMath xmlns:m="http://schemas.openxmlformats.org/officeDocument/2006/math">
                    <m:r>
                      <a:rPr lang="en-ZA" sz="2400" i="1">
                        <a:latin typeface="Cambria Math"/>
                        <a:sym typeface="Symbol"/>
                      </a:rPr>
                      <m:t>=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−6.547+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𝑗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1.</m:t>
                    </m:r>
                    <m:acc>
                      <m:accPr>
                        <m:chr m:val="̇"/>
                        <m:ctrlPr>
                          <a:rPr lang="en-ZA" sz="2400" b="0" i="1" smtClean="0"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ZA" sz="2400" b="0" i="1" smtClean="0">
                            <a:latin typeface="Cambria Math"/>
                            <a:sym typeface="Symbol"/>
                          </a:rPr>
                          <m:t>6</m:t>
                        </m:r>
                      </m:e>
                    </m:acc>
                    <m:r>
                      <a:rPr lang="en-ZA" sz="2400" b="0" i="1" smtClean="0">
                        <a:latin typeface="Cambria Math"/>
                        <a:sym typeface="Symbol"/>
                      </a:rPr>
                      <m:t>+20+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𝑗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34.641</m:t>
                    </m:r>
                  </m:oMath>
                </a14:m>
                <a:endParaRPr lang="en-ZA" sz="240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ZA" sz="2400" dirty="0">
                    <a:sym typeface="Symbol"/>
                  </a:rPr>
                  <a:t> </a:t>
                </a:r>
                <a:r>
                  <a:rPr lang="en-ZA" sz="2400" dirty="0" smtClean="0">
                    <a:sym typeface="Symbol"/>
                  </a:rPr>
                  <a:t>    </a:t>
                </a:r>
                <a14:m>
                  <m:oMath xmlns:m="http://schemas.openxmlformats.org/officeDocument/2006/math">
                    <m:r>
                      <a:rPr lang="en-ZA" sz="2400" i="1">
                        <a:latin typeface="Cambria Math"/>
                        <a:sym typeface="Symbol"/>
                      </a:rPr>
                      <m:t>=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13.45+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𝑗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36.31</m:t>
                    </m:r>
                  </m:oMath>
                </a14:m>
                <a:endParaRPr lang="en-ZA" sz="240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ZA" sz="2400" dirty="0" smtClean="0">
                    <a:sym typeface="Symbol"/>
                  </a:rPr>
                  <a:t>     </a:t>
                </a:r>
                <a14:m>
                  <m:oMath xmlns:m="http://schemas.openxmlformats.org/officeDocument/2006/math">
                    <m:r>
                      <a:rPr lang="en-ZA" sz="2400" i="1">
                        <a:latin typeface="Cambria Math"/>
                        <a:sym typeface="Symbol"/>
                      </a:rPr>
                      <m:t>=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38.72</m:t>
                    </m:r>
                    <m:r>
                      <a:rPr lang="en-ZA" sz="2400" i="1">
                        <a:latin typeface="Cambria Math"/>
                        <a:sym typeface="Symbol"/>
                      </a:rPr>
                      <m:t>6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9.67</m:t>
                    </m:r>
                    <m:r>
                      <a:rPr lang="en-ZA" sz="2400" i="1">
                        <a:latin typeface="Cambria Math"/>
                        <a:sym typeface="Symbol"/>
                      </a:rPr>
                      <m:t></m:t>
                    </m:r>
                    <m:r>
                      <a:rPr lang="en-ZA" sz="2400" b="0" i="1" smtClean="0"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ZA" sz="2400" b="0" i="0" smtClean="0">
                        <a:latin typeface="Cambria Math"/>
                        <a:sym typeface="Symbol"/>
                      </a:rPr>
                      <m:t>V</m:t>
                    </m:r>
                  </m:oMath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26" y="2333991"/>
                <a:ext cx="7020779" cy="28832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 bwMode="auto">
          <a:xfrm>
            <a:off x="1144427" y="175401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913" y="1679017"/>
            <a:ext cx="423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in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360609" y="1730353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1939166" y="5088271"/>
            <a:ext cx="2220710" cy="9619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52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609" y="189187"/>
            <a:ext cx="8216721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1: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Set up the nodal analysis equations for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</a:rPr>
              <a:t> and </a:t>
            </a:r>
            <a:r>
              <a:rPr lang="en-ZA" sz="2400" b="1" dirty="0" smtClean="0">
                <a:latin typeface="Times New Roman" pitchFamily="18" charset="0"/>
              </a:rPr>
              <a:t>V</a:t>
            </a:r>
            <a:r>
              <a:rPr lang="en-ZA" sz="2400" b="1" baseline="-25000" dirty="0" smtClean="0">
                <a:latin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</a:rPr>
              <a:t>. Write it in the following form:</a:t>
            </a:r>
          </a:p>
          <a:p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(a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1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+ jb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1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)</a:t>
            </a:r>
            <a:r>
              <a:rPr lang="en-ZA" sz="2400" b="1" i="1" dirty="0" smtClean="0">
                <a:latin typeface="Cambria" pitchFamily="18" charset="0"/>
                <a:cs typeface="Calibri" pitchFamily="34" charset="0"/>
                <a:sym typeface="Symbol"/>
              </a:rPr>
              <a:t>V</a:t>
            </a:r>
            <a:r>
              <a:rPr lang="en-ZA" sz="2400" b="1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1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+ (a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2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+jb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2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)</a:t>
            </a:r>
            <a:r>
              <a:rPr lang="en-ZA" sz="2400" b="1" i="1" dirty="0" smtClean="0">
                <a:latin typeface="Cambria" pitchFamily="18" charset="0"/>
                <a:cs typeface="Calibri" pitchFamily="34" charset="0"/>
                <a:sym typeface="Symbol"/>
              </a:rPr>
              <a:t>V</a:t>
            </a:r>
            <a:r>
              <a:rPr lang="en-ZA" sz="2400" b="1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2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= A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3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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3</a:t>
            </a:r>
          </a:p>
          <a:p>
            <a:r>
              <a:rPr lang="en-ZA" sz="2400" i="1" dirty="0">
                <a:latin typeface="Cambria" pitchFamily="18" charset="0"/>
                <a:cs typeface="Calibri" pitchFamily="34" charset="0"/>
                <a:sym typeface="Symbol"/>
              </a:rPr>
              <a:t>(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a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4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</a:t>
            </a:r>
            <a:r>
              <a:rPr lang="en-ZA" sz="2400" i="1" dirty="0">
                <a:latin typeface="Cambria" pitchFamily="18" charset="0"/>
                <a:cs typeface="Calibri" pitchFamily="34" charset="0"/>
                <a:sym typeface="Symbol"/>
              </a:rPr>
              <a:t>+ 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jb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4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)</a:t>
            </a:r>
            <a:r>
              <a:rPr lang="en-ZA" sz="2400" b="1" i="1" dirty="0" smtClean="0">
                <a:latin typeface="Cambria" pitchFamily="18" charset="0"/>
                <a:cs typeface="Calibri" pitchFamily="34" charset="0"/>
                <a:sym typeface="Symbol"/>
              </a:rPr>
              <a:t>V</a:t>
            </a:r>
            <a:r>
              <a:rPr lang="en-ZA" sz="2400" b="1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1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</a:t>
            </a:r>
            <a:r>
              <a:rPr lang="en-ZA" sz="2400" i="1" dirty="0">
                <a:latin typeface="Cambria" pitchFamily="18" charset="0"/>
                <a:cs typeface="Calibri" pitchFamily="34" charset="0"/>
                <a:sym typeface="Symbol"/>
              </a:rPr>
              <a:t>+ (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a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5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</a:t>
            </a:r>
            <a:r>
              <a:rPr lang="en-ZA" sz="2400" i="1" dirty="0">
                <a:latin typeface="Cambria" pitchFamily="18" charset="0"/>
                <a:cs typeface="Calibri" pitchFamily="34" charset="0"/>
                <a:sym typeface="Symbol"/>
              </a:rPr>
              <a:t>+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jb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5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)</a:t>
            </a:r>
            <a:r>
              <a:rPr lang="en-ZA" sz="2400" b="1" i="1" dirty="0" smtClean="0">
                <a:latin typeface="Cambria" pitchFamily="18" charset="0"/>
                <a:cs typeface="Calibri" pitchFamily="34" charset="0"/>
                <a:sym typeface="Symbol"/>
              </a:rPr>
              <a:t>V</a:t>
            </a:r>
            <a:r>
              <a:rPr lang="en-ZA" sz="2400" b="1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2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 </a:t>
            </a:r>
            <a:r>
              <a:rPr lang="en-ZA" sz="2400" i="1" dirty="0">
                <a:latin typeface="Cambria" pitchFamily="18" charset="0"/>
                <a:cs typeface="Calibri" pitchFamily="34" charset="0"/>
                <a:sym typeface="Symbol"/>
              </a:rPr>
              <a:t>= 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A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6</a:t>
            </a:r>
            <a:r>
              <a:rPr lang="en-ZA" sz="2400" i="1" dirty="0" smtClean="0">
                <a:latin typeface="Cambria" pitchFamily="18" charset="0"/>
                <a:cs typeface="Calibri" pitchFamily="34" charset="0"/>
                <a:sym typeface="Symbol"/>
              </a:rPr>
              <a:t></a:t>
            </a:r>
            <a:r>
              <a:rPr lang="en-ZA" sz="2400" i="1" baseline="-25000" dirty="0" smtClean="0">
                <a:latin typeface="Cambria" pitchFamily="18" charset="0"/>
                <a:cs typeface="Calibri" pitchFamily="34" charset="0"/>
                <a:sym typeface="Symbol"/>
              </a:rPr>
              <a:t>6</a:t>
            </a:r>
            <a:endParaRPr lang="en-ZA" sz="2400" i="1" baseline="-25000" dirty="0">
              <a:latin typeface="Cambria" pitchFamily="18" charset="0"/>
              <a:cs typeface="Calibri" pitchFamily="34" charset="0"/>
              <a:sym typeface="Symbo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008" y="2244089"/>
            <a:ext cx="6091522" cy="22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38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89586" y="2465788"/>
                <a:ext cx="6111481" cy="28936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b="0" i="1" baseline="-25000" smtClean="0"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−430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3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4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6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i="1">
                          <a:latin typeface="Cambria Math"/>
                          <a:sym typeface="Symbol"/>
                        </a:rPr>
                        <m:t>j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3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sym typeface="Symbol"/>
                        </a:rPr>
                        <m:t>∙</m:t>
                      </m:r>
                      <m:d>
                        <m:dPr>
                          <m:ctrlPr>
                            <a:rPr lang="en-ZA" sz="240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𝑉</m:t>
                          </m:r>
                          <m:r>
                            <a:rPr lang="en-ZA" sz="2400" i="1" baseline="-25000"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−430</m:t>
                          </m:r>
                        </m:e>
                      </m:d>
                      <m:r>
                        <a:rPr lang="en-ZA" sz="2400" i="1">
                          <a:latin typeface="Cambria Math"/>
                        </a:rPr>
                        <m:t>+2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</m:e>
                      </m:d>
                      <m:d>
                        <m:d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i="0">
                          <a:latin typeface="Cambria Math"/>
                          <a:sym typeface="Symbol"/>
                        </a:rPr>
                        <m:t>j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3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i="1">
                          <a:latin typeface="Cambria Math"/>
                        </a:rPr>
                        <m:t>+2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𝑗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12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12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2−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=12120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86" y="2465788"/>
                <a:ext cx="6111481" cy="28936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88863" y="2234955"/>
            <a:ext cx="2146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KCL at Node 1: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8863" y="3696435"/>
            <a:ext cx="788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6)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609" y="189187"/>
            <a:ext cx="821672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Exercise: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endParaRPr lang="en-ZA" sz="2400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225" y="415"/>
            <a:ext cx="6091522" cy="22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81967" y="6032874"/>
            <a:ext cx="6974004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2;	b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-2;   a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0;   b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1;   A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12;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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120</a:t>
            </a:r>
            <a:endParaRPr lang="en-ZA" sz="2400" baseline="-25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22459" y="5359465"/>
            <a:ext cx="44444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(a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jb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r>
              <a: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b="1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(a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+jb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r>
              <a: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b="1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A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3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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280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13228" y="2504582"/>
                <a:ext cx="4702633" cy="28886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4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6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12</m:t>
                          </m:r>
                        </m:den>
                      </m:f>
                      <m:r>
                        <a:rPr lang="en-ZA" sz="2400" i="1">
                          <a:latin typeface="Cambria Math"/>
                          <a:sym typeface="Symbol"/>
                        </a:rPr>
                        <m:t>−50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−60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0=0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𝑗</m:t>
                      </m:r>
                      <m:r>
                        <a:rPr lang="en-ZA" sz="2400" i="1">
                          <a:latin typeface="Cambria Math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60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i="1" baseline="-25000" smtClean="0">
                          <a:latin typeface="Cambria Math"/>
                          <a:sym typeface="Symbol"/>
                        </a:rPr>
                        <m:t>1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1−2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𝑉</m:t>
                      </m:r>
                      <m:r>
                        <a:rPr lang="en-ZA" sz="2400" b="0" i="1" baseline="-25000" smtClean="0">
                          <a:latin typeface="Cambria Math"/>
                          <a:sym typeface="Symbol"/>
                        </a:rPr>
                        <m:t>2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60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228" y="2504582"/>
                <a:ext cx="4702633" cy="28886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88863" y="2234955"/>
            <a:ext cx="2146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KCL at Node 2:</a:t>
            </a:r>
            <a:endParaRPr lang="en-ZA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8863" y="3756724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12)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609" y="189187"/>
            <a:ext cx="821672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Exercise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endParaRPr lang="en-ZA" sz="2400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201" y="116834"/>
            <a:ext cx="6091522" cy="22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81967" y="6032874"/>
            <a:ext cx="6974004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0;	b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2;   a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5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1;   b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5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-2;   A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60;   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0</a:t>
            </a:r>
            <a:endParaRPr lang="en-ZA" sz="2400" baseline="-25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23501" y="5359465"/>
            <a:ext cx="44444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(a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jb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r>
              <a: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b="1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(a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5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+jb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5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r>
              <a: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b="1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A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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0142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924765" y="1628931"/>
            <a:ext cx="5402195" cy="1866587"/>
            <a:chOff x="1924765" y="1628931"/>
            <a:chExt cx="5402195" cy="186658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985" y="1628931"/>
              <a:ext cx="4470143" cy="1866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" name="Straight Connector 8"/>
            <p:cNvCxnSpPr/>
            <p:nvPr/>
          </p:nvCxnSpPr>
          <p:spPr bwMode="auto">
            <a:xfrm flipH="1">
              <a:off x="1934290" y="1855999"/>
              <a:ext cx="566670" cy="0"/>
            </a:xfrm>
            <a:prstGeom prst="line">
              <a:avLst/>
            </a:prstGeom>
            <a:ln>
              <a:prstDash val="dash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auto">
            <a:xfrm flipH="1">
              <a:off x="1924765" y="3386349"/>
              <a:ext cx="566670" cy="0"/>
            </a:xfrm>
            <a:prstGeom prst="line">
              <a:avLst/>
            </a:prstGeom>
            <a:ln>
              <a:prstDash val="dash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 flipH="1">
              <a:off x="6760290" y="1857798"/>
              <a:ext cx="566670" cy="0"/>
            </a:xfrm>
            <a:prstGeom prst="line">
              <a:avLst/>
            </a:prstGeom>
            <a:ln>
              <a:prstDash val="dash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 flipH="1">
              <a:off x="6750765" y="3388148"/>
              <a:ext cx="566670" cy="0"/>
            </a:xfrm>
            <a:prstGeom prst="line">
              <a:avLst/>
            </a:prstGeom>
            <a:ln>
              <a:prstDash val="dash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" name="Arc 5"/>
          <p:cNvSpPr/>
          <p:nvPr/>
        </p:nvSpPr>
        <p:spPr bwMode="auto">
          <a:xfrm>
            <a:off x="2597506" y="2298457"/>
            <a:ext cx="1044687" cy="939665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5277810" y="2234063"/>
            <a:ext cx="1135869" cy="1032929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42913" y="103188"/>
            <a:ext cx="8243887" cy="131445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10 L#2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10.3 Mesh Analysis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3153310" y="1379138"/>
            <a:ext cx="721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6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67459" y="1325427"/>
            <a:ext cx="721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j2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20189" y="3495518"/>
            <a:ext cx="946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-j3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39161" y="2131667"/>
            <a:ext cx="721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  <a:p>
            <a:pPr algn="r"/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-j3</a:t>
            </a:r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ZA" sz="2000" b="1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  <a:p>
            <a:pPr algn="r"/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–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66441" y="2118151"/>
            <a:ext cx="721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rgbClr val="000000"/>
                </a:solidFill>
                <a:latin typeface="Times New Roman" pitchFamily="18" charset="0"/>
              </a:rPr>
              <a:t>– </a:t>
            </a:r>
            <a:endParaRPr lang="en-ZA" sz="2000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-j3</a:t>
            </a:r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ZA" sz="2000" b="1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+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91486" y="1938484"/>
            <a:ext cx="124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+   6</a:t>
            </a:r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ZA" sz="2000" b="1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</a:rPr>
              <a:t>  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–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2056" y="1821074"/>
            <a:ext cx="1744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+      j2</a:t>
            </a:r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ZA" sz="2000" b="1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</a:rPr>
              <a:t>– </a:t>
            </a:r>
            <a:endParaRPr lang="en-ZA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3429" y="3882927"/>
                <a:ext cx="4188391" cy="4616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…+6</m:t>
                      </m:r>
                      <m:sSub>
                        <m:sSubPr>
                          <m:ctrlPr>
                            <a:rPr lang="en-ZA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ZA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ZA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ZA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ZA" sz="2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9" y="3882927"/>
                <a:ext cx="4188391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666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552156" y="3892355"/>
                <a:ext cx="4298997" cy="461665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…+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ZA" sz="2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ZA" sz="2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ZA" sz="2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ZA" sz="2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156" y="3892355"/>
                <a:ext cx="4298997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8182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0" name="Group 1029"/>
          <p:cNvGrpSpPr/>
          <p:nvPr/>
        </p:nvGrpSpPr>
        <p:grpSpPr>
          <a:xfrm>
            <a:off x="384151" y="4742709"/>
            <a:ext cx="1752967" cy="1728682"/>
            <a:chOff x="757642" y="4742709"/>
            <a:chExt cx="1752967" cy="1728682"/>
          </a:xfrm>
        </p:grpSpPr>
        <p:grpSp>
          <p:nvGrpSpPr>
            <p:cNvPr id="1029" name="Group 1028"/>
            <p:cNvGrpSpPr/>
            <p:nvPr/>
          </p:nvGrpSpPr>
          <p:grpSpPr>
            <a:xfrm>
              <a:off x="757642" y="4742709"/>
              <a:ext cx="1752967" cy="1728682"/>
              <a:chOff x="757642" y="4742709"/>
              <a:chExt cx="1752967" cy="1728682"/>
            </a:xfrm>
          </p:grpSpPr>
          <p:sp>
            <p:nvSpPr>
              <p:cNvPr id="24" name="Rectangle 23"/>
              <p:cNvSpPr/>
              <p:nvPr/>
            </p:nvSpPr>
            <p:spPr bwMode="auto">
              <a:xfrm>
                <a:off x="1162050" y="5128260"/>
                <a:ext cx="270510" cy="957580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Times New Roman" pitchFamily="18" charset="0"/>
                </a:endParaRPr>
              </a:p>
            </p:txBody>
          </p:sp>
          <p:cxnSp>
            <p:nvCxnSpPr>
              <p:cNvPr id="27" name="Straight Connector 26"/>
              <p:cNvCxnSpPr>
                <a:stCxn id="24" idx="0"/>
              </p:cNvCxnSpPr>
              <p:nvPr/>
            </p:nvCxnSpPr>
            <p:spPr bwMode="auto">
              <a:xfrm flipV="1">
                <a:off x="1297305" y="4742709"/>
                <a:ext cx="0" cy="385551"/>
              </a:xfrm>
              <a:prstGeom prst="line">
                <a:avLst/>
              </a:prstGeom>
              <a:ln>
                <a:prstDash val="soli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 flipV="1">
                <a:off x="1297305" y="6085840"/>
                <a:ext cx="0" cy="385551"/>
              </a:xfrm>
              <a:prstGeom prst="line">
                <a:avLst/>
              </a:prstGeom>
              <a:ln>
                <a:prstDash val="soli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 bwMode="auto">
              <a:xfrm>
                <a:off x="1028700" y="4792980"/>
                <a:ext cx="0" cy="670560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025" name="Rectangle 1024"/>
              <p:cNvSpPr/>
              <p:nvPr/>
            </p:nvSpPr>
            <p:spPr>
              <a:xfrm>
                <a:off x="757642" y="4792980"/>
                <a:ext cx="274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ZA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endParaRPr lang="en-ZA" b="1" baseline="-25000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498866" y="4840175"/>
                <a:ext cx="101174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sz="2000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endParaRPr lang="en-ZA" sz="2000" b="1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r>
                  <a:rPr lang="en-ZA" sz="2000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V = IZ</a:t>
                </a:r>
              </a:p>
              <a:p>
                <a:endParaRPr lang="en-ZA" sz="2000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r>
                  <a:rPr lang="en-ZA" sz="2000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– </a:t>
                </a:r>
                <a:endParaRPr lang="en-ZA" sz="2000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1097930" y="5422384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  <a:endParaRPr lang="en-ZA" b="1" baseline="-250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28" name="Group 1027"/>
          <p:cNvGrpSpPr/>
          <p:nvPr/>
        </p:nvGrpSpPr>
        <p:grpSpPr>
          <a:xfrm>
            <a:off x="6446062" y="4805025"/>
            <a:ext cx="1902953" cy="1728682"/>
            <a:chOff x="4707397" y="4805025"/>
            <a:chExt cx="1902953" cy="1728682"/>
          </a:xfrm>
        </p:grpSpPr>
        <p:sp>
          <p:nvSpPr>
            <p:cNvPr id="38" name="Rectangle 37"/>
            <p:cNvSpPr/>
            <p:nvPr/>
          </p:nvSpPr>
          <p:spPr bwMode="auto">
            <a:xfrm>
              <a:off x="5111805" y="5190576"/>
              <a:ext cx="270510" cy="95758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cxnSp>
          <p:nvCxnSpPr>
            <p:cNvPr id="39" name="Straight Connector 38"/>
            <p:cNvCxnSpPr>
              <a:stCxn id="38" idx="0"/>
            </p:cNvCxnSpPr>
            <p:nvPr/>
          </p:nvCxnSpPr>
          <p:spPr bwMode="auto">
            <a:xfrm flipV="1">
              <a:off x="5247060" y="4805025"/>
              <a:ext cx="0" cy="385551"/>
            </a:xfrm>
            <a:prstGeom prst="line">
              <a:avLst/>
            </a:prstGeom>
            <a:ln>
              <a:prstDash val="soli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 bwMode="auto">
            <a:xfrm flipV="1">
              <a:off x="5247060" y="6148156"/>
              <a:ext cx="0" cy="385551"/>
            </a:xfrm>
            <a:prstGeom prst="line">
              <a:avLst/>
            </a:prstGeom>
            <a:ln>
              <a:prstDash val="soli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>
              <a:off x="4978455" y="4855296"/>
              <a:ext cx="0" cy="67056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4707397" y="4855296"/>
              <a:ext cx="2744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ZA" b="1" baseline="-250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48621" y="4902491"/>
              <a:ext cx="11617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000" b="1" dirty="0">
                  <a:solidFill>
                    <a:srgbClr val="000000"/>
                  </a:solidFill>
                  <a:latin typeface="Times New Roman" pitchFamily="18" charset="0"/>
                </a:rPr>
                <a:t>– </a:t>
              </a:r>
              <a:endParaRPr lang="en-ZA" sz="2000" b="1" dirty="0" smtClean="0">
                <a:solidFill>
                  <a:srgbClr val="000000"/>
                </a:solidFill>
                <a:latin typeface="Times New Roman" pitchFamily="18" charset="0"/>
              </a:endParaRPr>
            </a:p>
            <a:p>
              <a:endParaRPr lang="en-ZA" sz="2000" b="1" dirty="0" smtClean="0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ZA" sz="2000" b="1" dirty="0" smtClean="0">
                  <a:solidFill>
                    <a:srgbClr val="000000"/>
                  </a:solidFill>
                  <a:latin typeface="Times New Roman" pitchFamily="18" charset="0"/>
                </a:rPr>
                <a:t>V = </a:t>
              </a:r>
              <a:r>
                <a:rPr lang="en-ZA" sz="2000" b="1" dirty="0">
                  <a:solidFill>
                    <a:srgbClr val="000000"/>
                  </a:solidFill>
                  <a:latin typeface="Times New Roman" pitchFamily="18" charset="0"/>
                </a:rPr>
                <a:t>– </a:t>
              </a:r>
              <a:r>
                <a:rPr lang="en-ZA" sz="2000" b="1" dirty="0" smtClean="0">
                  <a:solidFill>
                    <a:srgbClr val="000000"/>
                  </a:solidFill>
                  <a:latin typeface="Times New Roman" pitchFamily="18" charset="0"/>
                </a:rPr>
                <a:t>IZ</a:t>
              </a:r>
            </a:p>
            <a:p>
              <a:endParaRPr lang="en-ZA" sz="2000" b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ZA" sz="2000" b="1" dirty="0" smtClean="0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  <a:endParaRPr lang="en-ZA" sz="20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047685" y="5484700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  <a:endParaRPr lang="en-ZA" b="1" baseline="-250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1031" name="Picture 5" descr="http://t0.gstatic.com/images?q=tbn:ANd9GcRX5a-4GRYE7B_GA4XYLJQYmHKk67mz0_c9vEwSqgGyMrreKPgA7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732" y="4842133"/>
            <a:ext cx="1809750" cy="156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7" descr="http://t0.gstatic.com/images?q=tbn:ANd9GcT2oYp02kayGf7oy5oe1qhUQoal0adfPLSoZ8NagvEmigqUV6mWI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049" y="4840175"/>
            <a:ext cx="16192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94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/>
      <p:bldP spid="13" grpId="0"/>
      <p:bldP spid="14" grpId="0"/>
      <p:bldP spid="15" grpId="0"/>
      <p:bldP spid="17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Picture 3" descr="ale29559_1000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1"/>
          <a:stretch/>
        </p:blipFill>
        <p:spPr bwMode="auto">
          <a:xfrm>
            <a:off x="4353065" y="42334"/>
            <a:ext cx="4805564" cy="297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10.3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sp>
        <p:nvSpPr>
          <p:cNvPr id="5" name="Arc 4"/>
          <p:cNvSpPr/>
          <p:nvPr/>
        </p:nvSpPr>
        <p:spPr bwMode="auto">
          <a:xfrm>
            <a:off x="5309263" y="1957588"/>
            <a:ext cx="867071" cy="927279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6" name="Arc 5"/>
          <p:cNvSpPr/>
          <p:nvPr/>
        </p:nvSpPr>
        <p:spPr bwMode="auto">
          <a:xfrm>
            <a:off x="6555351" y="1774219"/>
            <a:ext cx="902785" cy="1097769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713" y="1278851"/>
            <a:ext cx="16916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KVL Loop 1: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0" y="1598065"/>
                <a:ext cx="4480714" cy="3480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8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d>
                        <m:d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olidFill>
                    <a:srgbClr val="FF000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8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dirty="0" smtClean="0">
                  <a:solidFill>
                    <a:srgbClr val="FF000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8</m:t>
                              </m:r>
                              <m:r>
                                <a:rPr lang="en-ZA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ZA" sz="2400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      =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2+0.5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98065"/>
                <a:ext cx="4480714" cy="348069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 bwMode="auto">
          <a:xfrm>
            <a:off x="3758757" y="4023683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713" y="4808652"/>
            <a:ext cx="16916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KVL Loop 2: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-69099" y="5008707"/>
                <a:ext cx="7527235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4</m:t>
                      </m:r>
                      <m:d>
                        <m:d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+6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0)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30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3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0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olidFill>
                    <a:srgbClr val="00B05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6+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3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6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30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30</m:t>
                      </m:r>
                    </m:oMath>
                  </m:oMathPara>
                </a14:m>
                <a:endParaRPr lang="en-ZA" sz="2400" i="1" dirty="0" smtClean="0">
                  <a:solidFill>
                    <a:srgbClr val="00B050"/>
                  </a:solidFill>
                  <a:latin typeface="Cambria Math"/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6+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−62−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15=63.77−166.4</m:t>
                      </m:r>
                    </m:oMath>
                  </m:oMathPara>
                </a14:m>
                <a:endParaRPr lang="en-ZA" sz="24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099" y="5008707"/>
                <a:ext cx="7527235" cy="17543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 bwMode="auto">
          <a:xfrm>
            <a:off x="7515026" y="618803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5" name="Arc 14"/>
          <p:cNvSpPr/>
          <p:nvPr/>
        </p:nvSpPr>
        <p:spPr bwMode="auto">
          <a:xfrm rot="5400000" flipH="1">
            <a:off x="6717115" y="700944"/>
            <a:ext cx="511731" cy="1044193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1" u="none" strike="noStrike" cap="none" normalizeH="0" baseline="-25000" dirty="0" smtClean="0">
              <a:ln>
                <a:noFill/>
              </a:ln>
              <a:solidFill>
                <a:srgbClr val="00B050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27799" y="3353709"/>
            <a:ext cx="1930337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</a:rPr>
              <a:t>Note: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solidFill>
                  <a:srgbClr val="FF0000"/>
                </a:solidFill>
                <a:latin typeface="Times New Roman" pitchFamily="18" charset="0"/>
              </a:rPr>
              <a:t>o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</a:rPr>
              <a:t>–I</a:t>
            </a:r>
            <a:r>
              <a:rPr lang="en-ZA" sz="2400" b="1" baseline="-25000" dirty="0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endParaRPr lang="en-Z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6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1" grpId="0" animBg="1"/>
      <p:bldP spid="12" grpId="0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10.3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68102" y="2886079"/>
            <a:ext cx="1446522" cy="407795"/>
            <a:chOff x="168102" y="1223040"/>
            <a:chExt cx="1446522" cy="407795"/>
          </a:xfrm>
        </p:grpSpPr>
        <p:sp>
          <p:nvSpPr>
            <p:cNvPr id="7" name="Rectangle 6"/>
            <p:cNvSpPr/>
            <p:nvPr/>
          </p:nvSpPr>
          <p:spPr>
            <a:xfrm>
              <a:off x="553115" y="1230725"/>
              <a:ext cx="106150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        :</a:t>
              </a:r>
              <a:endParaRPr lang="en-ZA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68102" y="1223040"/>
              <a:ext cx="1164394" cy="384750"/>
              <a:chOff x="168102" y="1223040"/>
              <a:chExt cx="1164394" cy="38475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168102" y="1223040"/>
                <a:ext cx="385013" cy="384750"/>
              </a:xfrm>
              <a:prstGeom prst="ellips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ZA" sz="1800" b="0" i="0" u="none" strike="noStrike" cap="none" normalizeH="0" baseline="0" dirty="0" smtClean="0">
                    <a:ln>
                      <a:noFill/>
                    </a:ln>
                    <a:solidFill>
                      <a:srgbClr val="003300"/>
                    </a:solidFill>
                    <a:effectLst/>
                    <a:latin typeface="Verdana" pitchFamily="34" charset="0"/>
                  </a:rPr>
                  <a:t>1</a:t>
                </a:r>
              </a:p>
            </p:txBody>
          </p:sp>
          <p:sp>
            <p:nvSpPr>
              <p:cNvPr id="14" name="Oval 13"/>
              <p:cNvSpPr/>
              <p:nvPr/>
            </p:nvSpPr>
            <p:spPr bwMode="auto">
              <a:xfrm>
                <a:off x="947483" y="1223040"/>
                <a:ext cx="385013" cy="384750"/>
              </a:xfrm>
              <a:prstGeom prst="ellips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ZA" sz="1800" b="0" i="0" u="none" strike="noStrike" cap="none" normalizeH="0" baseline="0" dirty="0" smtClean="0">
                    <a:ln>
                      <a:noFill/>
                    </a:ln>
                    <a:solidFill>
                      <a:srgbClr val="003300"/>
                    </a:solidFill>
                    <a:effectLst/>
                    <a:latin typeface="Verdana" pitchFamily="34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3115" y="3293874"/>
                <a:ext cx="7225048" cy="3350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6+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2+0.5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63.77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−166.4</m:t>
                      </m:r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</m:oMath>
                  </m:oMathPara>
                </a14:m>
                <a:endParaRPr lang="en-ZA" sz="2400" dirty="0" smtClean="0">
                  <a:solidFill>
                    <a:srgbClr val="00B05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−12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+3+8+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=63.77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−166.4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=63.77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−166.4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63.77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−166.4</m:t>
                          </m:r>
                          <m:r>
                            <m:rPr>
                              <m:nor/>
                            </m:rPr>
                            <a:rPr lang="en-ZA" sz="2400" dirty="0">
                              <a:solidFill>
                                <a:srgbClr val="000000"/>
                              </a:solidFill>
                              <a:sym typeface="Symbol"/>
                            </a:rPr>
                            <m:t> 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17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−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51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.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8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4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=3.58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−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114.55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3.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58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65.45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15" y="3293874"/>
                <a:ext cx="7225048" cy="335046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3" descr="ale29559_1000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1"/>
          <a:stretch/>
        </p:blipFill>
        <p:spPr bwMode="auto">
          <a:xfrm>
            <a:off x="4309523" y="42334"/>
            <a:ext cx="4805564" cy="297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Arc 19"/>
          <p:cNvSpPr/>
          <p:nvPr/>
        </p:nvSpPr>
        <p:spPr bwMode="auto">
          <a:xfrm>
            <a:off x="5309263" y="1957588"/>
            <a:ext cx="867071" cy="927279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1" name="Arc 20"/>
          <p:cNvSpPr/>
          <p:nvPr/>
        </p:nvSpPr>
        <p:spPr bwMode="auto">
          <a:xfrm>
            <a:off x="6511809" y="1774219"/>
            <a:ext cx="902785" cy="1097769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2" name="Arc 21"/>
          <p:cNvSpPr/>
          <p:nvPr/>
        </p:nvSpPr>
        <p:spPr bwMode="auto">
          <a:xfrm rot="5400000" flipH="1">
            <a:off x="6654441" y="652783"/>
            <a:ext cx="608046" cy="1044193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1" u="none" strike="noStrike" cap="none" normalizeH="0" baseline="-25000" dirty="0" smtClean="0">
              <a:ln>
                <a:noFill/>
              </a:ln>
              <a:solidFill>
                <a:srgbClr val="00B050"/>
              </a:solidFill>
              <a:effectLst/>
              <a:latin typeface="Verdana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5754244" y="6520179"/>
            <a:ext cx="217055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9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10.4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4" name="Picture 3" descr="ale29559_1001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1"/>
          <a:stretch/>
        </p:blipFill>
        <p:spPr bwMode="auto">
          <a:xfrm>
            <a:off x="4603399" y="47219"/>
            <a:ext cx="4439903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rc 4"/>
          <p:cNvSpPr/>
          <p:nvPr/>
        </p:nvSpPr>
        <p:spPr bwMode="auto">
          <a:xfrm>
            <a:off x="5878289" y="898043"/>
            <a:ext cx="731580" cy="2048356"/>
          </a:xfrm>
          <a:prstGeom prst="arc">
            <a:avLst>
              <a:gd name="adj1" fmla="val 2271828"/>
              <a:gd name="adj2" fmla="val 17833183"/>
            </a:avLst>
          </a:prstGeom>
          <a:ln>
            <a:solidFill>
              <a:srgbClr val="0070C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70C0"/>
                </a:solidFill>
                <a:effectLst/>
                <a:latin typeface="Verdana" pitchFamily="34" charset="0"/>
              </a:rPr>
              <a:t>o</a:t>
            </a:r>
          </a:p>
        </p:txBody>
      </p:sp>
      <p:sp>
        <p:nvSpPr>
          <p:cNvPr id="6" name="Arc 5"/>
          <p:cNvSpPr/>
          <p:nvPr/>
        </p:nvSpPr>
        <p:spPr bwMode="auto">
          <a:xfrm>
            <a:off x="7257140" y="2085551"/>
            <a:ext cx="885372" cy="548884"/>
          </a:xfrm>
          <a:prstGeom prst="arc">
            <a:avLst>
              <a:gd name="adj1" fmla="val 18503338"/>
              <a:gd name="adj2" fmla="val 13032716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7191827" y="937282"/>
            <a:ext cx="1015998" cy="773755"/>
          </a:xfrm>
          <a:prstGeom prst="arc">
            <a:avLst>
              <a:gd name="adj1" fmla="val 9686837"/>
              <a:gd name="adj2" fmla="val 1593557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 bwMode="auto">
          <a:xfrm rot="2727140">
            <a:off x="6720491" y="870318"/>
            <a:ext cx="1948334" cy="1932316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9713" y="176825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 Mesh: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36739" y="1630628"/>
                <a:ext cx="2210862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=1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+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39" y="1630628"/>
                <a:ext cx="2210862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351704" y="2895164"/>
            <a:ext cx="1167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O: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1473" y="3183699"/>
                <a:ext cx="6591877" cy="3480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−25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  <a:sym typeface="Symbol"/>
                        </a:rPr>
                        <m:t>+10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)=0</m:t>
                      </m:r>
                    </m:oMath>
                  </m:oMathPara>
                </a14:m>
                <a:endParaRPr lang="en-ZA" sz="2400" b="0" dirty="0" smtClean="0">
                  <a:solidFill>
                    <a:srgbClr val="0070C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5−</m:t>
                          </m:r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=25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dirty="0" smtClean="0">
                  <a:solidFill>
                    <a:srgbClr val="0070C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15−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−5</m:t>
                      </m:r>
                      <m:d>
                        <m:dPr>
                          <m:ctrlPr>
                            <a:rPr lang="en-ZA" sz="24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sym typeface="Symbol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=25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dirty="0" smtClean="0">
                  <a:solidFill>
                    <a:srgbClr val="0070C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15−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−5+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30</m:t>
                      </m:r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dirty="0" smtClean="0">
                  <a:solidFill>
                    <a:srgbClr val="0070C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30</m:t>
                          </m:r>
                          <m:r>
                            <a:rPr lang="en-ZA" sz="2400" i="1">
                              <a:solidFill>
                                <a:srgbClr val="0070C0"/>
                              </a:solidFill>
                              <a:latin typeface="Cambria Math"/>
                              <a:sym typeface="Symbol"/>
                            </a:rPr>
                            <m:t>0−</m:t>
                          </m:r>
                          <m:d>
                            <m:dPr>
                              <m:ctrlP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  <a:sym typeface="Symbol"/>
                                </a:rPr>
                                <m:t>15−</m:t>
                              </m:r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  <a:sym typeface="Symbol"/>
                                </a:rPr>
                                <m:t>4</m:t>
                              </m:r>
                            </m:e>
                          </m:d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−5+</m:t>
                              </m:r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ZA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ZA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3" y="3183699"/>
                <a:ext cx="6591877" cy="34806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 bwMode="auto">
          <a:xfrm>
            <a:off x="4095514" y="2382578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6872124" y="5945831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2511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10.4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4" name="Picture 3" descr="ale29559_1001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1"/>
          <a:stretch/>
        </p:blipFill>
        <p:spPr bwMode="auto">
          <a:xfrm>
            <a:off x="4603399" y="47219"/>
            <a:ext cx="4439903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rc 4"/>
          <p:cNvSpPr/>
          <p:nvPr/>
        </p:nvSpPr>
        <p:spPr bwMode="auto">
          <a:xfrm>
            <a:off x="5878289" y="898043"/>
            <a:ext cx="731580" cy="2048356"/>
          </a:xfrm>
          <a:prstGeom prst="arc">
            <a:avLst>
              <a:gd name="adj1" fmla="val 2271828"/>
              <a:gd name="adj2" fmla="val 17833183"/>
            </a:avLst>
          </a:prstGeom>
          <a:ln>
            <a:solidFill>
              <a:srgbClr val="0070C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70C0"/>
                </a:solidFill>
                <a:effectLst/>
                <a:latin typeface="Verdana" pitchFamily="34" charset="0"/>
              </a:rPr>
              <a:t>o</a:t>
            </a:r>
          </a:p>
        </p:txBody>
      </p:sp>
      <p:sp>
        <p:nvSpPr>
          <p:cNvPr id="6" name="Arc 5"/>
          <p:cNvSpPr/>
          <p:nvPr/>
        </p:nvSpPr>
        <p:spPr bwMode="auto">
          <a:xfrm>
            <a:off x="7257140" y="2085551"/>
            <a:ext cx="885372" cy="548884"/>
          </a:xfrm>
          <a:prstGeom prst="arc">
            <a:avLst>
              <a:gd name="adj1" fmla="val 18503338"/>
              <a:gd name="adj2" fmla="val 13032716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7191827" y="937282"/>
            <a:ext cx="1015998" cy="773755"/>
          </a:xfrm>
          <a:prstGeom prst="arc">
            <a:avLst>
              <a:gd name="adj1" fmla="val 9686837"/>
              <a:gd name="adj2" fmla="val 1593557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 bwMode="auto">
          <a:xfrm rot="2727140">
            <a:off x="6720491" y="870318"/>
            <a:ext cx="1948334" cy="1932316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9713" y="1278851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 Mesh: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36739" y="1141226"/>
                <a:ext cx="2210862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sym typeface="Symbol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=1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0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+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39" y="1141226"/>
                <a:ext cx="2210862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39713" y="2726323"/>
            <a:ext cx="2308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 Mesh KVL: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1705" y="3095219"/>
                <a:ext cx="6577360" cy="23083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)+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8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6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−5+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−5+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e>
                      </m:d>
                      <m:d>
                        <m:d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sym typeface="Symbol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−5+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05" y="3095219"/>
                <a:ext cx="6577360" cy="230832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 bwMode="auto">
          <a:xfrm>
            <a:off x="4095514" y="1893176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6929064" y="4941677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362318" y="5128466"/>
                <a:ext cx="6845507" cy="11296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−5+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e>
                      </m:d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5−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ZA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30</m:t>
                              </m:r>
                              <m:r>
                                <a:rPr lang="en-ZA" sz="2000" i="1">
                                  <a:solidFill>
                                    <a:srgbClr val="0070C0"/>
                                  </a:solidFill>
                                  <a:latin typeface="Cambria Math"/>
                                  <a:sym typeface="Symbol"/>
                                </a:rPr>
                                <m:t>0−</m:t>
                              </m:r>
                              <m:d>
                                <m:dPr>
                                  <m:ctrlP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15−</m:t>
                                  </m:r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𝑗</m:t>
                                  </m:r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4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𝑜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ctrlP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−5+</m:t>
                                  </m:r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ZA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−5+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318" y="5128466"/>
                <a:ext cx="6845507" cy="112966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92712" y="5604374"/>
            <a:ext cx="1446522" cy="407795"/>
            <a:chOff x="168102" y="1223040"/>
            <a:chExt cx="1446522" cy="407795"/>
          </a:xfrm>
        </p:grpSpPr>
        <p:sp>
          <p:nvSpPr>
            <p:cNvPr id="19" name="Rectangle 18"/>
            <p:cNvSpPr/>
            <p:nvPr/>
          </p:nvSpPr>
          <p:spPr>
            <a:xfrm>
              <a:off x="553115" y="1230725"/>
              <a:ext cx="106150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        :</a:t>
              </a:r>
              <a:endParaRPr lang="en-ZA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68102" y="1223040"/>
              <a:ext cx="1164394" cy="384750"/>
              <a:chOff x="168102" y="1223040"/>
              <a:chExt cx="1164394" cy="384750"/>
            </a:xfrm>
          </p:grpSpPr>
          <p:sp>
            <p:nvSpPr>
              <p:cNvPr id="21" name="Oval 20"/>
              <p:cNvSpPr/>
              <p:nvPr/>
            </p:nvSpPr>
            <p:spPr bwMode="auto">
              <a:xfrm>
                <a:off x="168102" y="1223040"/>
                <a:ext cx="385013" cy="384750"/>
              </a:xfrm>
              <a:prstGeom prst="ellips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ZA" sz="1800" b="0" i="0" u="none" strike="noStrike" cap="none" normalizeH="0" baseline="0" dirty="0" smtClean="0">
                    <a:ln>
                      <a:noFill/>
                    </a:ln>
                    <a:solidFill>
                      <a:srgbClr val="003300"/>
                    </a:solidFill>
                    <a:effectLst/>
                    <a:latin typeface="Verdana" pitchFamily="34" charset="0"/>
                  </a:rPr>
                  <a:t>2</a:t>
                </a:r>
              </a:p>
            </p:txBody>
          </p:sp>
          <p:sp>
            <p:nvSpPr>
              <p:cNvPr id="22" name="Oval 21"/>
              <p:cNvSpPr/>
              <p:nvPr/>
            </p:nvSpPr>
            <p:spPr bwMode="auto">
              <a:xfrm>
                <a:off x="947483" y="1223040"/>
                <a:ext cx="385013" cy="384750"/>
              </a:xfrm>
              <a:prstGeom prst="ellips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ZA" sz="1800" b="0" i="0" u="none" strike="noStrike" cap="none" normalizeH="0" baseline="0" dirty="0" smtClean="0">
                    <a:ln>
                      <a:noFill/>
                    </a:ln>
                    <a:solidFill>
                      <a:srgbClr val="003300"/>
                    </a:solidFill>
                    <a:effectLst/>
                    <a:latin typeface="Verdana" pitchFamily="34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88523" y="6079403"/>
                <a:ext cx="268285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=2.54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5.94</m:t>
                      </m:r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23" y="6079403"/>
                <a:ext cx="2682850" cy="6463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 bwMode="auto">
          <a:xfrm>
            <a:off x="2233576" y="6639556"/>
            <a:ext cx="206895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1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608" y="189187"/>
            <a:ext cx="3773509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10.5 (Super 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Positioning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4" name="Picture 3" descr="ale29559_1000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1"/>
          <a:stretch/>
        </p:blipFill>
        <p:spPr bwMode="auto">
          <a:xfrm>
            <a:off x="5741753" y="42335"/>
            <a:ext cx="3373334" cy="2091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562" y="2714173"/>
            <a:ext cx="4238936" cy="277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0609" y="1095616"/>
            <a:ext cx="3667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due to 3030 V source:</a:t>
            </a:r>
            <a:endParaRPr lang="en-ZA" sz="2400" b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2006" y="1716875"/>
            <a:ext cx="5404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tot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(8 – j2)//j4 + 6 = 8.636 24.121  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3950" y="2115686"/>
                <a:ext cx="5466176" cy="2824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𝑡𝑜𝑡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30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8.636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24.121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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=3.474</m:t>
                      </m:r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5.88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=3.474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5.88</m:t>
                      </m:r>
                      <m:f>
                        <m:f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8−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2+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1.685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81.843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𝐴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50" y="2115686"/>
                <a:ext cx="5466176" cy="282449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 bwMode="auto">
          <a:xfrm>
            <a:off x="1048720" y="4797878"/>
            <a:ext cx="2389939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99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539" y="2612572"/>
            <a:ext cx="3979868" cy="3587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609" y="189187"/>
            <a:ext cx="30651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10.5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4" name="Picture 3" descr="ale29559_1000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1"/>
          <a:stretch/>
        </p:blipFill>
        <p:spPr bwMode="auto">
          <a:xfrm>
            <a:off x="5741753" y="42335"/>
            <a:ext cx="3373334" cy="2091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0609" y="1095616"/>
            <a:ext cx="3336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due to 60 A source:</a:t>
            </a:r>
            <a:endParaRPr lang="en-ZA" sz="2400" b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2006" y="1716875"/>
            <a:ext cx="555472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tot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(8 – j2) // j4 // 6 = 2.779 37.806  </a:t>
            </a:r>
          </a:p>
          <a:p>
            <a:pPr>
              <a:lnSpc>
                <a:spcPct val="150000"/>
              </a:lnSpc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//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 60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tot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16.674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37.806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2006" y="2867362"/>
                <a:ext cx="4368312" cy="28936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16.674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37.806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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8−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2.022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51.843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ZA" sz="2400" dirty="0" smtClean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3.58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65.45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 </m:t>
                      </m:r>
                      <m:r>
                        <m:rPr>
                          <m:sty m:val="p"/>
                        </m:rPr>
                        <a:rPr lang="en-ZA" sz="240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06" y="2867362"/>
                <a:ext cx="4368312" cy="28936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 bwMode="auto">
          <a:xfrm>
            <a:off x="2527327" y="5627956"/>
            <a:ext cx="206895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1171867" y="4527421"/>
            <a:ext cx="2389939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53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083" y="2389569"/>
            <a:ext cx="5863771" cy="307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60609" y="189187"/>
            <a:ext cx="8216721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2: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Set up the mesh equations for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</a:rPr>
              <a:t> and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</a:rPr>
              <a:t>. Write it in the following form:</a:t>
            </a:r>
          </a:p>
          <a:p>
            <a:r>
              <a:rPr lang="en-ZA" sz="2400" dirty="0" smtClean="0">
                <a:latin typeface="Cambria" pitchFamily="18" charset="0"/>
                <a:sym typeface="Symbol"/>
              </a:rPr>
              <a:t>(a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1</a:t>
            </a:r>
            <a:r>
              <a:rPr lang="en-ZA" sz="2400" dirty="0" smtClean="0">
                <a:latin typeface="Cambria" pitchFamily="18" charset="0"/>
                <a:sym typeface="Symbol"/>
              </a:rPr>
              <a:t> + jb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1</a:t>
            </a:r>
            <a:r>
              <a:rPr lang="en-ZA" sz="2400" dirty="0" smtClean="0">
                <a:latin typeface="Cambria" pitchFamily="18" charset="0"/>
                <a:sym typeface="Symbol"/>
              </a:rPr>
              <a:t>)</a:t>
            </a:r>
            <a:r>
              <a:rPr lang="en-ZA" sz="2400" b="1" dirty="0" smtClean="0">
                <a:latin typeface="Cambria" pitchFamily="18" charset="0"/>
                <a:sym typeface="Symbol"/>
              </a:rPr>
              <a:t>I</a:t>
            </a:r>
            <a:r>
              <a:rPr lang="en-ZA" sz="2400" b="1" baseline="-25000" dirty="0" smtClean="0">
                <a:latin typeface="Cambria" pitchFamily="18" charset="0"/>
                <a:sym typeface="Symbol"/>
              </a:rPr>
              <a:t>1</a:t>
            </a:r>
            <a:r>
              <a:rPr lang="en-ZA" sz="2400" dirty="0" smtClean="0">
                <a:latin typeface="Cambria" pitchFamily="18" charset="0"/>
                <a:sym typeface="Symbol"/>
              </a:rPr>
              <a:t> + (a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2</a:t>
            </a:r>
            <a:r>
              <a:rPr lang="en-ZA" sz="2400" dirty="0" smtClean="0">
                <a:latin typeface="Cambria" pitchFamily="18" charset="0"/>
                <a:sym typeface="Symbol"/>
              </a:rPr>
              <a:t> +jb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2</a:t>
            </a:r>
            <a:r>
              <a:rPr lang="en-ZA" sz="2400" dirty="0" smtClean="0">
                <a:latin typeface="Cambria" pitchFamily="18" charset="0"/>
                <a:sym typeface="Symbol"/>
              </a:rPr>
              <a:t>)</a:t>
            </a:r>
            <a:r>
              <a:rPr lang="en-ZA" sz="2400" b="1" dirty="0" smtClean="0">
                <a:latin typeface="Cambria" pitchFamily="18" charset="0"/>
                <a:sym typeface="Symbol"/>
              </a:rPr>
              <a:t>I</a:t>
            </a:r>
            <a:r>
              <a:rPr lang="en-ZA" sz="2400" b="1" baseline="-25000" dirty="0" smtClean="0">
                <a:latin typeface="Cambria" pitchFamily="18" charset="0"/>
                <a:sym typeface="Symbol"/>
              </a:rPr>
              <a:t>2</a:t>
            </a:r>
            <a:r>
              <a:rPr lang="en-ZA" sz="2400" dirty="0" smtClean="0">
                <a:latin typeface="Cambria" pitchFamily="18" charset="0"/>
                <a:sym typeface="Symbol"/>
              </a:rPr>
              <a:t> = A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3</a:t>
            </a:r>
            <a:r>
              <a:rPr lang="en-ZA" sz="2400" dirty="0" smtClean="0">
                <a:latin typeface="Cambria" pitchFamily="18" charset="0"/>
                <a:sym typeface="Symbol"/>
              </a:rPr>
              <a:t>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3</a:t>
            </a:r>
          </a:p>
          <a:p>
            <a:r>
              <a:rPr lang="en-ZA" sz="2400" dirty="0">
                <a:latin typeface="Cambria" pitchFamily="18" charset="0"/>
                <a:sym typeface="Symbol"/>
              </a:rPr>
              <a:t>(</a:t>
            </a:r>
            <a:r>
              <a:rPr lang="en-ZA" sz="2400" dirty="0" smtClean="0">
                <a:latin typeface="Cambria" pitchFamily="18" charset="0"/>
                <a:sym typeface="Symbol"/>
              </a:rPr>
              <a:t>a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4</a:t>
            </a:r>
            <a:r>
              <a:rPr lang="en-ZA" sz="2400" dirty="0" smtClean="0">
                <a:latin typeface="Cambria" pitchFamily="18" charset="0"/>
                <a:sym typeface="Symbol"/>
              </a:rPr>
              <a:t> </a:t>
            </a:r>
            <a:r>
              <a:rPr lang="en-ZA" sz="2400" dirty="0">
                <a:latin typeface="Cambria" pitchFamily="18" charset="0"/>
                <a:sym typeface="Symbol"/>
              </a:rPr>
              <a:t>+ </a:t>
            </a:r>
            <a:r>
              <a:rPr lang="en-ZA" sz="2400" dirty="0" smtClean="0">
                <a:latin typeface="Cambria" pitchFamily="18" charset="0"/>
                <a:sym typeface="Symbol"/>
              </a:rPr>
              <a:t>jb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4</a:t>
            </a:r>
            <a:r>
              <a:rPr lang="en-ZA" sz="2400" dirty="0" smtClean="0">
                <a:latin typeface="Cambria" pitchFamily="18" charset="0"/>
                <a:sym typeface="Symbol"/>
              </a:rPr>
              <a:t>)</a:t>
            </a:r>
            <a:r>
              <a:rPr lang="en-ZA" sz="2400" b="1" dirty="0" smtClean="0">
                <a:latin typeface="Cambria" pitchFamily="18" charset="0"/>
                <a:sym typeface="Symbol"/>
              </a:rPr>
              <a:t>I</a:t>
            </a:r>
            <a:r>
              <a:rPr lang="en-ZA" sz="2400" b="1" baseline="-25000" dirty="0" smtClean="0">
                <a:latin typeface="Cambria" pitchFamily="18" charset="0"/>
                <a:sym typeface="Symbol"/>
              </a:rPr>
              <a:t>1</a:t>
            </a:r>
            <a:r>
              <a:rPr lang="en-ZA" sz="2400" dirty="0" smtClean="0">
                <a:latin typeface="Cambria" pitchFamily="18" charset="0"/>
                <a:sym typeface="Symbol"/>
              </a:rPr>
              <a:t> </a:t>
            </a:r>
            <a:r>
              <a:rPr lang="en-ZA" sz="2400" dirty="0">
                <a:latin typeface="Cambria" pitchFamily="18" charset="0"/>
                <a:sym typeface="Symbol"/>
              </a:rPr>
              <a:t>+ (</a:t>
            </a:r>
            <a:r>
              <a:rPr lang="en-ZA" sz="2400" dirty="0" smtClean="0">
                <a:latin typeface="Cambria" pitchFamily="18" charset="0"/>
                <a:sym typeface="Symbol"/>
              </a:rPr>
              <a:t>a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5</a:t>
            </a:r>
            <a:r>
              <a:rPr lang="en-ZA" sz="2400" dirty="0" smtClean="0">
                <a:latin typeface="Cambria" pitchFamily="18" charset="0"/>
                <a:sym typeface="Symbol"/>
              </a:rPr>
              <a:t> </a:t>
            </a:r>
            <a:r>
              <a:rPr lang="en-ZA" sz="2400" dirty="0">
                <a:latin typeface="Cambria" pitchFamily="18" charset="0"/>
                <a:sym typeface="Symbol"/>
              </a:rPr>
              <a:t>+</a:t>
            </a:r>
            <a:r>
              <a:rPr lang="en-ZA" sz="2400" dirty="0" smtClean="0">
                <a:latin typeface="Cambria" pitchFamily="18" charset="0"/>
                <a:sym typeface="Symbol"/>
              </a:rPr>
              <a:t>jb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5</a:t>
            </a:r>
            <a:r>
              <a:rPr lang="en-ZA" sz="2400" dirty="0" smtClean="0">
                <a:latin typeface="Cambria" pitchFamily="18" charset="0"/>
                <a:sym typeface="Symbol"/>
              </a:rPr>
              <a:t>)</a:t>
            </a:r>
            <a:r>
              <a:rPr lang="en-ZA" sz="2400" b="1" dirty="0" smtClean="0">
                <a:latin typeface="Cambria" pitchFamily="18" charset="0"/>
                <a:sym typeface="Symbol"/>
              </a:rPr>
              <a:t>I</a:t>
            </a:r>
            <a:r>
              <a:rPr lang="en-ZA" sz="2400" b="1" baseline="-25000" dirty="0" smtClean="0">
                <a:latin typeface="Cambria" pitchFamily="18" charset="0"/>
                <a:sym typeface="Symbol"/>
              </a:rPr>
              <a:t>2</a:t>
            </a:r>
            <a:r>
              <a:rPr lang="en-ZA" sz="2400" dirty="0" smtClean="0">
                <a:latin typeface="Cambria" pitchFamily="18" charset="0"/>
                <a:sym typeface="Symbol"/>
              </a:rPr>
              <a:t> </a:t>
            </a:r>
            <a:r>
              <a:rPr lang="en-ZA" sz="2400" dirty="0">
                <a:latin typeface="Cambria" pitchFamily="18" charset="0"/>
                <a:sym typeface="Symbol"/>
              </a:rPr>
              <a:t>= </a:t>
            </a:r>
            <a:r>
              <a:rPr lang="en-ZA" sz="2400" dirty="0" smtClean="0">
                <a:latin typeface="Cambria" pitchFamily="18" charset="0"/>
                <a:sym typeface="Symbol"/>
              </a:rPr>
              <a:t>A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6</a:t>
            </a:r>
            <a:r>
              <a:rPr lang="en-ZA" sz="2400" dirty="0" smtClean="0">
                <a:latin typeface="Cambria" pitchFamily="18" charset="0"/>
                <a:sym typeface="Symbol"/>
              </a:rPr>
              <a:t></a:t>
            </a:r>
            <a:r>
              <a:rPr lang="en-ZA" sz="2400" baseline="-25000" dirty="0" smtClean="0">
                <a:latin typeface="Cambria" pitchFamily="18" charset="0"/>
                <a:sym typeface="Symbol"/>
              </a:rPr>
              <a:t>6</a:t>
            </a:r>
            <a:endParaRPr lang="en-ZA" sz="2400" baseline="-25000" dirty="0">
              <a:latin typeface="Cambria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19522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42913" y="103188"/>
            <a:ext cx="8243887" cy="2005012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10 L#3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10.5 Source Transformation</a:t>
            </a:r>
          </a:p>
          <a:p>
            <a:r>
              <a:rPr lang="en-US" sz="4000" dirty="0" smtClean="0"/>
              <a:t>10.6 </a:t>
            </a:r>
            <a:r>
              <a:rPr lang="en-US" sz="4000" dirty="0" err="1" smtClean="0"/>
              <a:t>Thevenin</a:t>
            </a:r>
            <a:r>
              <a:rPr lang="en-US" sz="4000" dirty="0" smtClean="0"/>
              <a:t> &amp; Norton</a:t>
            </a:r>
            <a:endParaRPr lang="en-US" sz="4000" dirty="0"/>
          </a:p>
        </p:txBody>
      </p:sp>
      <p:pic>
        <p:nvPicPr>
          <p:cNvPr id="4" name="Picture 3" descr="ale29559_1001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2"/>
          <a:stretch/>
        </p:blipFill>
        <p:spPr bwMode="auto">
          <a:xfrm>
            <a:off x="1134303" y="2112244"/>
            <a:ext cx="6530906" cy="3120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86563" y="5393450"/>
            <a:ext cx="27526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 smtClean="0">
                <a:latin typeface="Times New Roman" pitchFamily="18" charset="0"/>
              </a:rPr>
              <a:t>Thevenin</a:t>
            </a:r>
            <a:r>
              <a:rPr lang="en-ZA" sz="2400" dirty="0" smtClean="0">
                <a:latin typeface="Times New Roman" pitchFamily="18" charset="0"/>
              </a:rPr>
              <a:t> Equivalent</a:t>
            </a:r>
            <a:endParaRPr lang="en-ZA" sz="2400" dirty="0"/>
          </a:p>
        </p:txBody>
      </p:sp>
      <p:sp>
        <p:nvSpPr>
          <p:cNvPr id="6" name="Rectangle 5"/>
          <p:cNvSpPr/>
          <p:nvPr/>
        </p:nvSpPr>
        <p:spPr>
          <a:xfrm>
            <a:off x="5366173" y="5393451"/>
            <a:ext cx="2464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latin typeface="Times New Roman" pitchFamily="18" charset="0"/>
              </a:rPr>
              <a:t>Norton Equivalent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31004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09" y="1530490"/>
            <a:ext cx="4683422" cy="1896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Picture 3" descr="ale29559_1001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7"/>
          <a:stretch/>
        </p:blipFill>
        <p:spPr bwMode="auto">
          <a:xfrm>
            <a:off x="4327301" y="39939"/>
            <a:ext cx="4761851" cy="1915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60609" y="189187"/>
            <a:ext cx="30651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10.7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</a:t>
            </a:r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 smtClean="0">
                <a:latin typeface="Times New Roman" pitchFamily="18" charset="0"/>
              </a:rPr>
              <a:t>o</a:t>
            </a:r>
            <a:r>
              <a:rPr lang="en-ZA" sz="2400" dirty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using source transformation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882" y="4937898"/>
                <a:ext cx="302679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V= </a:t>
                </a:r>
                <a14:m>
                  <m:oMath xmlns:m="http://schemas.openxmlformats.org/officeDocument/2006/math">
                    <m:r>
                      <a:rPr lang="en-ZA" i="1">
                        <a:solidFill>
                          <a:srgbClr val="000000"/>
                        </a:solidFill>
                        <a:latin typeface="Cambria Math"/>
                      </a:rPr>
                      <m:t>6.32</m:t>
                    </m:r>
                    <m:r>
                      <a:rPr lang="en-ZA" i="1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71.57 </m:t>
                    </m:r>
                  </m:oMath>
                </a14:m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 (6 – j2)//j5</a:t>
                </a:r>
              </a:p>
              <a:p>
                <a:pPr algn="r">
                  <a:lnSpc>
                    <a:spcPct val="150000"/>
                  </a:lnSpc>
                </a:pPr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= 29.81116.57 </a:t>
                </a:r>
                <a:r>
                  <a:rPr lang="en-ZA" dirty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V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2" y="4937898"/>
                <a:ext cx="3026790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1613" r="-1613" b="-463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41310" y="3485208"/>
                <a:ext cx="4014176" cy="6674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𝐼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40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53.13</m:t>
                          </m:r>
                        </m:num>
                        <m:den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4+2+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1−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=6.32</m:t>
                      </m:r>
                      <m:r>
                        <a:rPr lang="en-ZA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71.57</m:t>
                      </m:r>
                      <m:r>
                        <a:rPr lang="en-ZA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310" y="3485208"/>
                <a:ext cx="4014176" cy="66749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3027560" y="4296960"/>
            <a:ext cx="3125079" cy="2285989"/>
            <a:chOff x="3027560" y="4296960"/>
            <a:chExt cx="3125079" cy="2285989"/>
          </a:xfrm>
        </p:grpSpPr>
        <p:sp>
          <p:nvSpPr>
            <p:cNvPr id="12" name="Rectangle 11"/>
            <p:cNvSpPr/>
            <p:nvPr/>
          </p:nvSpPr>
          <p:spPr>
            <a:xfrm>
              <a:off x="3403154" y="4296960"/>
              <a:ext cx="1826141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3.333 + j 3.333 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7560" y="4730526"/>
              <a:ext cx="3125079" cy="18524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Group 17"/>
          <p:cNvGrpSpPr/>
          <p:nvPr/>
        </p:nvGrpSpPr>
        <p:grpSpPr>
          <a:xfrm>
            <a:off x="5331854" y="2881980"/>
            <a:ext cx="3739106" cy="1848547"/>
            <a:chOff x="5331854" y="2881980"/>
            <a:chExt cx="3739106" cy="184854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1854" y="2881980"/>
              <a:ext cx="3739106" cy="1848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Rectangle 12"/>
            <p:cNvSpPr/>
            <p:nvPr/>
          </p:nvSpPr>
          <p:spPr>
            <a:xfrm>
              <a:off x="5579977" y="3957229"/>
              <a:ext cx="715260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–j2 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837152" y="3302776"/>
              <a:ext cx="535724" cy="4572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6 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950307" y="4880991"/>
                <a:ext cx="3210045" cy="944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29.81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116.57</m:t>
                          </m:r>
                        </m:num>
                        <m:den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3.333+1+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(3.333−2)</m:t>
                          </m:r>
                        </m:den>
                      </m:f>
                    </m:oMath>
                  </m:oMathPara>
                </a14:m>
                <a:endParaRPr lang="en-ZA" b="0" i="1" dirty="0" smtClean="0">
                  <a:solidFill>
                    <a:srgbClr val="00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     =6.58</m:t>
                      </m:r>
                      <m:r>
                        <a:rPr lang="en-ZA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99.46</m:t>
                      </m:r>
                      <m:r>
                        <a:rPr lang="en-ZA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307" y="4880991"/>
                <a:ext cx="3210045" cy="94448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 bwMode="auto">
          <a:xfrm>
            <a:off x="6520850" y="5801936"/>
            <a:ext cx="161985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4241795" y="210095"/>
            <a:ext cx="2740982" cy="2025751"/>
          </a:xfrm>
          <a:custGeom>
            <a:avLst/>
            <a:gdLst>
              <a:gd name="connsiteX0" fmla="*/ 50800 w 2791777"/>
              <a:gd name="connsiteY0" fmla="*/ 907504 h 2038788"/>
              <a:gd name="connsiteX1" fmla="*/ 1028700 w 2791777"/>
              <a:gd name="connsiteY1" fmla="*/ 120104 h 2038788"/>
              <a:gd name="connsiteX2" fmla="*/ 1854200 w 2791777"/>
              <a:gd name="connsiteY2" fmla="*/ 43904 h 2038788"/>
              <a:gd name="connsiteX3" fmla="*/ 2032000 w 2791777"/>
              <a:gd name="connsiteY3" fmla="*/ 526504 h 2038788"/>
              <a:gd name="connsiteX4" fmla="*/ 2476500 w 2791777"/>
              <a:gd name="connsiteY4" fmla="*/ 666204 h 2038788"/>
              <a:gd name="connsiteX5" fmla="*/ 2768600 w 2791777"/>
              <a:gd name="connsiteY5" fmla="*/ 1529804 h 2038788"/>
              <a:gd name="connsiteX6" fmla="*/ 2578100 w 2791777"/>
              <a:gd name="connsiteY6" fmla="*/ 1961604 h 2038788"/>
              <a:gd name="connsiteX7" fmla="*/ 1041400 w 2791777"/>
              <a:gd name="connsiteY7" fmla="*/ 1936204 h 2038788"/>
              <a:gd name="connsiteX8" fmla="*/ 0 w 2791777"/>
              <a:gd name="connsiteY8" fmla="*/ 945604 h 2038788"/>
              <a:gd name="connsiteX0" fmla="*/ 50800 w 2791777"/>
              <a:gd name="connsiteY0" fmla="*/ 907504 h 2038788"/>
              <a:gd name="connsiteX1" fmla="*/ 1028700 w 2791777"/>
              <a:gd name="connsiteY1" fmla="*/ 120104 h 2038788"/>
              <a:gd name="connsiteX2" fmla="*/ 1854200 w 2791777"/>
              <a:gd name="connsiteY2" fmla="*/ 43904 h 2038788"/>
              <a:gd name="connsiteX3" fmla="*/ 2032000 w 2791777"/>
              <a:gd name="connsiteY3" fmla="*/ 526504 h 2038788"/>
              <a:gd name="connsiteX4" fmla="*/ 2476500 w 2791777"/>
              <a:gd name="connsiteY4" fmla="*/ 666204 h 2038788"/>
              <a:gd name="connsiteX5" fmla="*/ 2768600 w 2791777"/>
              <a:gd name="connsiteY5" fmla="*/ 1529804 h 2038788"/>
              <a:gd name="connsiteX6" fmla="*/ 2578100 w 2791777"/>
              <a:gd name="connsiteY6" fmla="*/ 1961604 h 2038788"/>
              <a:gd name="connsiteX7" fmla="*/ 1041400 w 2791777"/>
              <a:gd name="connsiteY7" fmla="*/ 1936204 h 2038788"/>
              <a:gd name="connsiteX8" fmla="*/ 0 w 2791777"/>
              <a:gd name="connsiteY8" fmla="*/ 945604 h 2038788"/>
              <a:gd name="connsiteX9" fmla="*/ 50800 w 2791777"/>
              <a:gd name="connsiteY9" fmla="*/ 907504 h 2038788"/>
              <a:gd name="connsiteX0" fmla="*/ 0 w 2740977"/>
              <a:gd name="connsiteY0" fmla="*/ 907504 h 2025751"/>
              <a:gd name="connsiteX1" fmla="*/ 977900 w 2740977"/>
              <a:gd name="connsiteY1" fmla="*/ 120104 h 2025751"/>
              <a:gd name="connsiteX2" fmla="*/ 1803400 w 2740977"/>
              <a:gd name="connsiteY2" fmla="*/ 43904 h 2025751"/>
              <a:gd name="connsiteX3" fmla="*/ 1981200 w 2740977"/>
              <a:gd name="connsiteY3" fmla="*/ 526504 h 2025751"/>
              <a:gd name="connsiteX4" fmla="*/ 2425700 w 2740977"/>
              <a:gd name="connsiteY4" fmla="*/ 666204 h 2025751"/>
              <a:gd name="connsiteX5" fmla="*/ 2717800 w 2740977"/>
              <a:gd name="connsiteY5" fmla="*/ 1529804 h 2025751"/>
              <a:gd name="connsiteX6" fmla="*/ 2527300 w 2740977"/>
              <a:gd name="connsiteY6" fmla="*/ 1961604 h 2025751"/>
              <a:gd name="connsiteX7" fmla="*/ 990600 w 2740977"/>
              <a:gd name="connsiteY7" fmla="*/ 1936204 h 2025751"/>
              <a:gd name="connsiteX8" fmla="*/ 39687 w 2740977"/>
              <a:gd name="connsiteY8" fmla="*/ 1140866 h 2025751"/>
              <a:gd name="connsiteX9" fmla="*/ 0 w 2740977"/>
              <a:gd name="connsiteY9" fmla="*/ 907504 h 2025751"/>
              <a:gd name="connsiteX0" fmla="*/ 187 w 2741164"/>
              <a:gd name="connsiteY0" fmla="*/ 907504 h 2025751"/>
              <a:gd name="connsiteX1" fmla="*/ 978087 w 2741164"/>
              <a:gd name="connsiteY1" fmla="*/ 120104 h 2025751"/>
              <a:gd name="connsiteX2" fmla="*/ 1803587 w 2741164"/>
              <a:gd name="connsiteY2" fmla="*/ 43904 h 2025751"/>
              <a:gd name="connsiteX3" fmla="*/ 1981387 w 2741164"/>
              <a:gd name="connsiteY3" fmla="*/ 526504 h 2025751"/>
              <a:gd name="connsiteX4" fmla="*/ 2425887 w 2741164"/>
              <a:gd name="connsiteY4" fmla="*/ 666204 h 2025751"/>
              <a:gd name="connsiteX5" fmla="*/ 2717987 w 2741164"/>
              <a:gd name="connsiteY5" fmla="*/ 1529804 h 2025751"/>
              <a:gd name="connsiteX6" fmla="*/ 2527487 w 2741164"/>
              <a:gd name="connsiteY6" fmla="*/ 1961604 h 2025751"/>
              <a:gd name="connsiteX7" fmla="*/ 990787 w 2741164"/>
              <a:gd name="connsiteY7" fmla="*/ 1936204 h 2025751"/>
              <a:gd name="connsiteX8" fmla="*/ 39874 w 2741164"/>
              <a:gd name="connsiteY8" fmla="*/ 1140866 h 2025751"/>
              <a:gd name="connsiteX9" fmla="*/ 187 w 2741164"/>
              <a:gd name="connsiteY9" fmla="*/ 907504 h 2025751"/>
              <a:gd name="connsiteX0" fmla="*/ 187 w 2741164"/>
              <a:gd name="connsiteY0" fmla="*/ 907504 h 2025751"/>
              <a:gd name="connsiteX1" fmla="*/ 978087 w 2741164"/>
              <a:gd name="connsiteY1" fmla="*/ 120104 h 2025751"/>
              <a:gd name="connsiteX2" fmla="*/ 1803587 w 2741164"/>
              <a:gd name="connsiteY2" fmla="*/ 43904 h 2025751"/>
              <a:gd name="connsiteX3" fmla="*/ 1981387 w 2741164"/>
              <a:gd name="connsiteY3" fmla="*/ 526504 h 2025751"/>
              <a:gd name="connsiteX4" fmla="*/ 2425887 w 2741164"/>
              <a:gd name="connsiteY4" fmla="*/ 666204 h 2025751"/>
              <a:gd name="connsiteX5" fmla="*/ 2717987 w 2741164"/>
              <a:gd name="connsiteY5" fmla="*/ 1529804 h 2025751"/>
              <a:gd name="connsiteX6" fmla="*/ 2527487 w 2741164"/>
              <a:gd name="connsiteY6" fmla="*/ 1961604 h 2025751"/>
              <a:gd name="connsiteX7" fmla="*/ 990787 w 2741164"/>
              <a:gd name="connsiteY7" fmla="*/ 1936204 h 2025751"/>
              <a:gd name="connsiteX8" fmla="*/ 39874 w 2741164"/>
              <a:gd name="connsiteY8" fmla="*/ 1140866 h 2025751"/>
              <a:gd name="connsiteX9" fmla="*/ 187 w 2741164"/>
              <a:gd name="connsiteY9" fmla="*/ 907504 h 2025751"/>
              <a:gd name="connsiteX0" fmla="*/ 102154 w 2843131"/>
              <a:gd name="connsiteY0" fmla="*/ 907504 h 2025751"/>
              <a:gd name="connsiteX1" fmla="*/ 1080054 w 2843131"/>
              <a:gd name="connsiteY1" fmla="*/ 120104 h 2025751"/>
              <a:gd name="connsiteX2" fmla="*/ 1905554 w 2843131"/>
              <a:gd name="connsiteY2" fmla="*/ 43904 h 2025751"/>
              <a:gd name="connsiteX3" fmla="*/ 2083354 w 2843131"/>
              <a:gd name="connsiteY3" fmla="*/ 526504 h 2025751"/>
              <a:gd name="connsiteX4" fmla="*/ 2527854 w 2843131"/>
              <a:gd name="connsiteY4" fmla="*/ 666204 h 2025751"/>
              <a:gd name="connsiteX5" fmla="*/ 2819954 w 2843131"/>
              <a:gd name="connsiteY5" fmla="*/ 1529804 h 2025751"/>
              <a:gd name="connsiteX6" fmla="*/ 2629454 w 2843131"/>
              <a:gd name="connsiteY6" fmla="*/ 1961604 h 2025751"/>
              <a:gd name="connsiteX7" fmla="*/ 1092754 w 2843131"/>
              <a:gd name="connsiteY7" fmla="*/ 1936204 h 2025751"/>
              <a:gd name="connsiteX8" fmla="*/ 141841 w 2843131"/>
              <a:gd name="connsiteY8" fmla="*/ 1140866 h 2025751"/>
              <a:gd name="connsiteX9" fmla="*/ 102154 w 2843131"/>
              <a:gd name="connsiteY9" fmla="*/ 907504 h 2025751"/>
              <a:gd name="connsiteX0" fmla="*/ 5 w 2740982"/>
              <a:gd name="connsiteY0" fmla="*/ 907504 h 2025751"/>
              <a:gd name="connsiteX1" fmla="*/ 977905 w 2740982"/>
              <a:gd name="connsiteY1" fmla="*/ 120104 h 2025751"/>
              <a:gd name="connsiteX2" fmla="*/ 1803405 w 2740982"/>
              <a:gd name="connsiteY2" fmla="*/ 43904 h 2025751"/>
              <a:gd name="connsiteX3" fmla="*/ 1981205 w 2740982"/>
              <a:gd name="connsiteY3" fmla="*/ 526504 h 2025751"/>
              <a:gd name="connsiteX4" fmla="*/ 2425705 w 2740982"/>
              <a:gd name="connsiteY4" fmla="*/ 666204 h 2025751"/>
              <a:gd name="connsiteX5" fmla="*/ 2717805 w 2740982"/>
              <a:gd name="connsiteY5" fmla="*/ 1529804 h 2025751"/>
              <a:gd name="connsiteX6" fmla="*/ 2527305 w 2740982"/>
              <a:gd name="connsiteY6" fmla="*/ 1961604 h 2025751"/>
              <a:gd name="connsiteX7" fmla="*/ 990605 w 2740982"/>
              <a:gd name="connsiteY7" fmla="*/ 1936204 h 2025751"/>
              <a:gd name="connsiteX8" fmla="*/ 5 w 2740982"/>
              <a:gd name="connsiteY8" fmla="*/ 907504 h 202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0982" h="2025751">
                <a:moveTo>
                  <a:pt x="5" y="907504"/>
                </a:moveTo>
                <a:cubicBezTo>
                  <a:pt x="-2112" y="604821"/>
                  <a:pt x="677338" y="264037"/>
                  <a:pt x="977905" y="120104"/>
                </a:cubicBezTo>
                <a:cubicBezTo>
                  <a:pt x="1278472" y="-23829"/>
                  <a:pt x="1636188" y="-23829"/>
                  <a:pt x="1803405" y="43904"/>
                </a:cubicBezTo>
                <a:cubicBezTo>
                  <a:pt x="1970622" y="111637"/>
                  <a:pt x="1877488" y="422787"/>
                  <a:pt x="1981205" y="526504"/>
                </a:cubicBezTo>
                <a:cubicBezTo>
                  <a:pt x="2084922" y="630221"/>
                  <a:pt x="2302938" y="498987"/>
                  <a:pt x="2425705" y="666204"/>
                </a:cubicBezTo>
                <a:cubicBezTo>
                  <a:pt x="2548472" y="833421"/>
                  <a:pt x="2700872" y="1313904"/>
                  <a:pt x="2717805" y="1529804"/>
                </a:cubicBezTo>
                <a:cubicBezTo>
                  <a:pt x="2734738" y="1745704"/>
                  <a:pt x="2815172" y="1893871"/>
                  <a:pt x="2527305" y="1961604"/>
                </a:cubicBezTo>
                <a:cubicBezTo>
                  <a:pt x="2239438" y="2029337"/>
                  <a:pt x="1405207" y="2072994"/>
                  <a:pt x="990605" y="1936204"/>
                </a:cubicBezTo>
                <a:cubicBezTo>
                  <a:pt x="569389" y="1760521"/>
                  <a:pt x="2122" y="1210187"/>
                  <a:pt x="5" y="907504"/>
                </a:cubicBezTo>
                <a:close/>
              </a:path>
            </a:pathLst>
          </a:cu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241300" y="1530490"/>
            <a:ext cx="3402770" cy="1922026"/>
          </a:xfrm>
          <a:custGeom>
            <a:avLst/>
            <a:gdLst>
              <a:gd name="connsiteX0" fmla="*/ 0 w 3207098"/>
              <a:gd name="connsiteY0" fmla="*/ 320344 h 1922026"/>
              <a:gd name="connsiteX1" fmla="*/ 320344 w 3207098"/>
              <a:gd name="connsiteY1" fmla="*/ 0 h 1922026"/>
              <a:gd name="connsiteX2" fmla="*/ 2886754 w 3207098"/>
              <a:gd name="connsiteY2" fmla="*/ 0 h 1922026"/>
              <a:gd name="connsiteX3" fmla="*/ 3207098 w 3207098"/>
              <a:gd name="connsiteY3" fmla="*/ 320344 h 1922026"/>
              <a:gd name="connsiteX4" fmla="*/ 3207098 w 3207098"/>
              <a:gd name="connsiteY4" fmla="*/ 1601682 h 1922026"/>
              <a:gd name="connsiteX5" fmla="*/ 2886754 w 3207098"/>
              <a:gd name="connsiteY5" fmla="*/ 1922026 h 1922026"/>
              <a:gd name="connsiteX6" fmla="*/ 320344 w 3207098"/>
              <a:gd name="connsiteY6" fmla="*/ 1922026 h 1922026"/>
              <a:gd name="connsiteX7" fmla="*/ 0 w 3207098"/>
              <a:gd name="connsiteY7" fmla="*/ 1601682 h 1922026"/>
              <a:gd name="connsiteX8" fmla="*/ 0 w 3207098"/>
              <a:gd name="connsiteY8" fmla="*/ 320344 h 1922026"/>
              <a:gd name="connsiteX0" fmla="*/ 0 w 3207098"/>
              <a:gd name="connsiteY0" fmla="*/ 320344 h 1922026"/>
              <a:gd name="connsiteX1" fmla="*/ 320344 w 3207098"/>
              <a:gd name="connsiteY1" fmla="*/ 0 h 1922026"/>
              <a:gd name="connsiteX2" fmla="*/ 2886754 w 3207098"/>
              <a:gd name="connsiteY2" fmla="*/ 0 h 1922026"/>
              <a:gd name="connsiteX3" fmla="*/ 3207098 w 3207098"/>
              <a:gd name="connsiteY3" fmla="*/ 320344 h 1922026"/>
              <a:gd name="connsiteX4" fmla="*/ 3207098 w 3207098"/>
              <a:gd name="connsiteY4" fmla="*/ 1601682 h 1922026"/>
              <a:gd name="connsiteX5" fmla="*/ 2632754 w 3207098"/>
              <a:gd name="connsiteY5" fmla="*/ 1922026 h 1922026"/>
              <a:gd name="connsiteX6" fmla="*/ 320344 w 3207098"/>
              <a:gd name="connsiteY6" fmla="*/ 1922026 h 1922026"/>
              <a:gd name="connsiteX7" fmla="*/ 0 w 3207098"/>
              <a:gd name="connsiteY7" fmla="*/ 1601682 h 1922026"/>
              <a:gd name="connsiteX8" fmla="*/ 0 w 3207098"/>
              <a:gd name="connsiteY8" fmla="*/ 320344 h 1922026"/>
              <a:gd name="connsiteX0" fmla="*/ 0 w 3207098"/>
              <a:gd name="connsiteY0" fmla="*/ 320344 h 1922026"/>
              <a:gd name="connsiteX1" fmla="*/ 320344 w 3207098"/>
              <a:gd name="connsiteY1" fmla="*/ 0 h 1922026"/>
              <a:gd name="connsiteX2" fmla="*/ 2886754 w 3207098"/>
              <a:gd name="connsiteY2" fmla="*/ 0 h 1922026"/>
              <a:gd name="connsiteX3" fmla="*/ 3207098 w 3207098"/>
              <a:gd name="connsiteY3" fmla="*/ 320344 h 1922026"/>
              <a:gd name="connsiteX4" fmla="*/ 2775298 w 3207098"/>
              <a:gd name="connsiteY4" fmla="*/ 826982 h 1922026"/>
              <a:gd name="connsiteX5" fmla="*/ 2632754 w 3207098"/>
              <a:gd name="connsiteY5" fmla="*/ 1922026 h 1922026"/>
              <a:gd name="connsiteX6" fmla="*/ 320344 w 3207098"/>
              <a:gd name="connsiteY6" fmla="*/ 1922026 h 1922026"/>
              <a:gd name="connsiteX7" fmla="*/ 0 w 3207098"/>
              <a:gd name="connsiteY7" fmla="*/ 1601682 h 1922026"/>
              <a:gd name="connsiteX8" fmla="*/ 0 w 3207098"/>
              <a:gd name="connsiteY8" fmla="*/ 320344 h 1922026"/>
              <a:gd name="connsiteX0" fmla="*/ 0 w 3207098"/>
              <a:gd name="connsiteY0" fmla="*/ 320344 h 1922026"/>
              <a:gd name="connsiteX1" fmla="*/ 320344 w 3207098"/>
              <a:gd name="connsiteY1" fmla="*/ 0 h 1922026"/>
              <a:gd name="connsiteX2" fmla="*/ 2886754 w 3207098"/>
              <a:gd name="connsiteY2" fmla="*/ 0 h 1922026"/>
              <a:gd name="connsiteX3" fmla="*/ 3207098 w 3207098"/>
              <a:gd name="connsiteY3" fmla="*/ 320344 h 1922026"/>
              <a:gd name="connsiteX4" fmla="*/ 2775298 w 3207098"/>
              <a:gd name="connsiteY4" fmla="*/ 826982 h 1922026"/>
              <a:gd name="connsiteX5" fmla="*/ 2531154 w 3207098"/>
              <a:gd name="connsiteY5" fmla="*/ 1922026 h 1922026"/>
              <a:gd name="connsiteX6" fmla="*/ 320344 w 3207098"/>
              <a:gd name="connsiteY6" fmla="*/ 1922026 h 1922026"/>
              <a:gd name="connsiteX7" fmla="*/ 0 w 3207098"/>
              <a:gd name="connsiteY7" fmla="*/ 1601682 h 1922026"/>
              <a:gd name="connsiteX8" fmla="*/ 0 w 3207098"/>
              <a:gd name="connsiteY8" fmla="*/ 320344 h 1922026"/>
              <a:gd name="connsiteX0" fmla="*/ 0 w 3245198"/>
              <a:gd name="connsiteY0" fmla="*/ 320344 h 1922026"/>
              <a:gd name="connsiteX1" fmla="*/ 320344 w 3245198"/>
              <a:gd name="connsiteY1" fmla="*/ 0 h 1922026"/>
              <a:gd name="connsiteX2" fmla="*/ 2886754 w 3245198"/>
              <a:gd name="connsiteY2" fmla="*/ 0 h 1922026"/>
              <a:gd name="connsiteX3" fmla="*/ 3245198 w 3245198"/>
              <a:gd name="connsiteY3" fmla="*/ 587044 h 1922026"/>
              <a:gd name="connsiteX4" fmla="*/ 2775298 w 3245198"/>
              <a:gd name="connsiteY4" fmla="*/ 826982 h 1922026"/>
              <a:gd name="connsiteX5" fmla="*/ 2531154 w 3245198"/>
              <a:gd name="connsiteY5" fmla="*/ 1922026 h 1922026"/>
              <a:gd name="connsiteX6" fmla="*/ 320344 w 3245198"/>
              <a:gd name="connsiteY6" fmla="*/ 1922026 h 1922026"/>
              <a:gd name="connsiteX7" fmla="*/ 0 w 3245198"/>
              <a:gd name="connsiteY7" fmla="*/ 1601682 h 1922026"/>
              <a:gd name="connsiteX8" fmla="*/ 0 w 3245198"/>
              <a:gd name="connsiteY8" fmla="*/ 320344 h 1922026"/>
              <a:gd name="connsiteX0" fmla="*/ 0 w 3245274"/>
              <a:gd name="connsiteY0" fmla="*/ 320344 h 1922026"/>
              <a:gd name="connsiteX1" fmla="*/ 320344 w 3245274"/>
              <a:gd name="connsiteY1" fmla="*/ 0 h 1922026"/>
              <a:gd name="connsiteX2" fmla="*/ 3077254 w 3245274"/>
              <a:gd name="connsiteY2" fmla="*/ 0 h 1922026"/>
              <a:gd name="connsiteX3" fmla="*/ 3245198 w 3245274"/>
              <a:gd name="connsiteY3" fmla="*/ 587044 h 1922026"/>
              <a:gd name="connsiteX4" fmla="*/ 2775298 w 3245274"/>
              <a:gd name="connsiteY4" fmla="*/ 826982 h 1922026"/>
              <a:gd name="connsiteX5" fmla="*/ 2531154 w 3245274"/>
              <a:gd name="connsiteY5" fmla="*/ 1922026 h 1922026"/>
              <a:gd name="connsiteX6" fmla="*/ 320344 w 3245274"/>
              <a:gd name="connsiteY6" fmla="*/ 1922026 h 1922026"/>
              <a:gd name="connsiteX7" fmla="*/ 0 w 3245274"/>
              <a:gd name="connsiteY7" fmla="*/ 1601682 h 1922026"/>
              <a:gd name="connsiteX8" fmla="*/ 0 w 3245274"/>
              <a:gd name="connsiteY8" fmla="*/ 320344 h 1922026"/>
              <a:gd name="connsiteX0" fmla="*/ 0 w 3245274"/>
              <a:gd name="connsiteY0" fmla="*/ 320344 h 1922026"/>
              <a:gd name="connsiteX1" fmla="*/ 320344 w 3245274"/>
              <a:gd name="connsiteY1" fmla="*/ 0 h 1922026"/>
              <a:gd name="connsiteX2" fmla="*/ 3077254 w 3245274"/>
              <a:gd name="connsiteY2" fmla="*/ 0 h 1922026"/>
              <a:gd name="connsiteX3" fmla="*/ 3245198 w 3245274"/>
              <a:gd name="connsiteY3" fmla="*/ 587044 h 1922026"/>
              <a:gd name="connsiteX4" fmla="*/ 2775298 w 3245274"/>
              <a:gd name="connsiteY4" fmla="*/ 826982 h 1922026"/>
              <a:gd name="connsiteX5" fmla="*/ 2531154 w 3245274"/>
              <a:gd name="connsiteY5" fmla="*/ 1922026 h 1922026"/>
              <a:gd name="connsiteX6" fmla="*/ 320344 w 3245274"/>
              <a:gd name="connsiteY6" fmla="*/ 1922026 h 1922026"/>
              <a:gd name="connsiteX7" fmla="*/ 0 w 3245274"/>
              <a:gd name="connsiteY7" fmla="*/ 1601682 h 1922026"/>
              <a:gd name="connsiteX8" fmla="*/ 0 w 3245274"/>
              <a:gd name="connsiteY8" fmla="*/ 320344 h 1922026"/>
              <a:gd name="connsiteX0" fmla="*/ 0 w 3402770"/>
              <a:gd name="connsiteY0" fmla="*/ 320344 h 1922026"/>
              <a:gd name="connsiteX1" fmla="*/ 320344 w 3402770"/>
              <a:gd name="connsiteY1" fmla="*/ 0 h 1922026"/>
              <a:gd name="connsiteX2" fmla="*/ 3077254 w 3402770"/>
              <a:gd name="connsiteY2" fmla="*/ 0 h 1922026"/>
              <a:gd name="connsiteX3" fmla="*/ 3245198 w 3402770"/>
              <a:gd name="connsiteY3" fmla="*/ 587044 h 1922026"/>
              <a:gd name="connsiteX4" fmla="*/ 2775298 w 3402770"/>
              <a:gd name="connsiteY4" fmla="*/ 826982 h 1922026"/>
              <a:gd name="connsiteX5" fmla="*/ 2531154 w 3402770"/>
              <a:gd name="connsiteY5" fmla="*/ 1922026 h 1922026"/>
              <a:gd name="connsiteX6" fmla="*/ 320344 w 3402770"/>
              <a:gd name="connsiteY6" fmla="*/ 1922026 h 1922026"/>
              <a:gd name="connsiteX7" fmla="*/ 0 w 3402770"/>
              <a:gd name="connsiteY7" fmla="*/ 1601682 h 1922026"/>
              <a:gd name="connsiteX8" fmla="*/ 0 w 3402770"/>
              <a:gd name="connsiteY8" fmla="*/ 320344 h 1922026"/>
              <a:gd name="connsiteX0" fmla="*/ 0 w 3402770"/>
              <a:gd name="connsiteY0" fmla="*/ 320344 h 1922026"/>
              <a:gd name="connsiteX1" fmla="*/ 320344 w 3402770"/>
              <a:gd name="connsiteY1" fmla="*/ 0 h 1922026"/>
              <a:gd name="connsiteX2" fmla="*/ 3077254 w 3402770"/>
              <a:gd name="connsiteY2" fmla="*/ 0 h 1922026"/>
              <a:gd name="connsiteX3" fmla="*/ 3245198 w 3402770"/>
              <a:gd name="connsiteY3" fmla="*/ 587044 h 1922026"/>
              <a:gd name="connsiteX4" fmla="*/ 2775298 w 3402770"/>
              <a:gd name="connsiteY4" fmla="*/ 826982 h 1922026"/>
              <a:gd name="connsiteX5" fmla="*/ 2531154 w 3402770"/>
              <a:gd name="connsiteY5" fmla="*/ 1922026 h 1922026"/>
              <a:gd name="connsiteX6" fmla="*/ 320344 w 3402770"/>
              <a:gd name="connsiteY6" fmla="*/ 1922026 h 1922026"/>
              <a:gd name="connsiteX7" fmla="*/ 0 w 3402770"/>
              <a:gd name="connsiteY7" fmla="*/ 1601682 h 1922026"/>
              <a:gd name="connsiteX8" fmla="*/ 0 w 3402770"/>
              <a:gd name="connsiteY8" fmla="*/ 320344 h 1922026"/>
              <a:gd name="connsiteX0" fmla="*/ 0 w 3402770"/>
              <a:gd name="connsiteY0" fmla="*/ 320344 h 1922026"/>
              <a:gd name="connsiteX1" fmla="*/ 320344 w 3402770"/>
              <a:gd name="connsiteY1" fmla="*/ 0 h 1922026"/>
              <a:gd name="connsiteX2" fmla="*/ 3077254 w 3402770"/>
              <a:gd name="connsiteY2" fmla="*/ 0 h 1922026"/>
              <a:gd name="connsiteX3" fmla="*/ 3245198 w 3402770"/>
              <a:gd name="connsiteY3" fmla="*/ 587044 h 1922026"/>
              <a:gd name="connsiteX4" fmla="*/ 2775298 w 3402770"/>
              <a:gd name="connsiteY4" fmla="*/ 826982 h 1922026"/>
              <a:gd name="connsiteX5" fmla="*/ 2142534 w 3402770"/>
              <a:gd name="connsiteY5" fmla="*/ 1922026 h 1922026"/>
              <a:gd name="connsiteX6" fmla="*/ 320344 w 3402770"/>
              <a:gd name="connsiteY6" fmla="*/ 1922026 h 1922026"/>
              <a:gd name="connsiteX7" fmla="*/ 0 w 3402770"/>
              <a:gd name="connsiteY7" fmla="*/ 1601682 h 1922026"/>
              <a:gd name="connsiteX8" fmla="*/ 0 w 3402770"/>
              <a:gd name="connsiteY8" fmla="*/ 320344 h 192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2770" h="1922026">
                <a:moveTo>
                  <a:pt x="0" y="320344"/>
                </a:moveTo>
                <a:cubicBezTo>
                  <a:pt x="0" y="143423"/>
                  <a:pt x="143423" y="0"/>
                  <a:pt x="320344" y="0"/>
                </a:cubicBezTo>
                <a:lnTo>
                  <a:pt x="3077254" y="0"/>
                </a:lnTo>
                <a:cubicBezTo>
                  <a:pt x="3564730" y="97841"/>
                  <a:pt x="3401831" y="507065"/>
                  <a:pt x="3245198" y="587044"/>
                </a:cubicBezTo>
                <a:cubicBezTo>
                  <a:pt x="3088565" y="667023"/>
                  <a:pt x="2959075" y="604485"/>
                  <a:pt x="2775298" y="826982"/>
                </a:cubicBezTo>
                <a:cubicBezTo>
                  <a:pt x="2591521" y="1049479"/>
                  <a:pt x="2879471" y="1922026"/>
                  <a:pt x="2142534" y="1922026"/>
                </a:cubicBezTo>
                <a:lnTo>
                  <a:pt x="320344" y="1922026"/>
                </a:lnTo>
                <a:cubicBezTo>
                  <a:pt x="143423" y="1922026"/>
                  <a:pt x="0" y="1778603"/>
                  <a:pt x="0" y="1601682"/>
                </a:cubicBezTo>
                <a:lnTo>
                  <a:pt x="0" y="320344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38258" y="2197746"/>
                <a:ext cx="2109873" cy="8727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V= </a:t>
                </a:r>
                <a14:m>
                  <m:oMath xmlns:m="http://schemas.openxmlformats.org/officeDocument/2006/math">
                    <m:r>
                      <a:rPr lang="en-ZA" b="0" i="1" smtClean="0">
                        <a:solidFill>
                          <a:srgbClr val="000000"/>
                        </a:solidFill>
                        <a:latin typeface="Cambria Math"/>
                      </a:rPr>
                      <m:t>8</m:t>
                    </m:r>
                    <m:r>
                      <a:rPr lang="en-ZA" i="1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</m:t>
                    </m:r>
                    <m:r>
                      <a:rPr lang="en-ZA" b="0" i="1" smtClean="0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90</m:t>
                    </m:r>
                    <m:r>
                      <a:rPr lang="en-ZA" i="1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 </m:t>
                    </m:r>
                  </m:oMath>
                </a14:m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 (4 – j3)</a:t>
                </a:r>
              </a:p>
              <a:p>
                <a:pPr>
                  <a:lnSpc>
                    <a:spcPct val="150000"/>
                  </a:lnSpc>
                </a:pPr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= 4053.13 </a:t>
                </a:r>
                <a:r>
                  <a:rPr lang="en-ZA" dirty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V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58" y="2197746"/>
                <a:ext cx="2109873" cy="872739"/>
              </a:xfrm>
              <a:prstGeom prst="rect">
                <a:avLst/>
              </a:prstGeom>
              <a:blipFill rotWithShape="1">
                <a:blip r:embed="rId9"/>
                <a:stretch>
                  <a:fillRect l="-2601" r="-1734" b="-1049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/>
          <p:nvPr/>
        </p:nvSpPr>
        <p:spPr bwMode="auto">
          <a:xfrm>
            <a:off x="5331854" y="2881980"/>
            <a:ext cx="2478646" cy="1848546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91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6" grpId="0"/>
      <p:bldP spid="10" grpId="0" animBg="1"/>
      <p:bldP spid="14" grpId="0" animBg="1"/>
      <p:bldP spid="22" grpId="0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60609" y="189187"/>
            <a:ext cx="28016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10.8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Find the </a:t>
            </a:r>
            <a:r>
              <a:rPr lang="en-ZA" sz="2400" dirty="0" err="1" smtClean="0">
                <a:latin typeface="Times New Roman" pitchFamily="18" charset="0"/>
              </a:rPr>
              <a:t>Thevenin</a:t>
            </a:r>
            <a:r>
              <a:rPr lang="en-ZA" sz="2400" dirty="0" smtClean="0">
                <a:latin typeface="Times New Roman" pitchFamily="18" charset="0"/>
              </a:rPr>
              <a:t> equivalent at terminals a-b of the circuit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pic>
        <p:nvPicPr>
          <p:cNvPr id="5" name="Picture 3" descr="ale29559_1002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8"/>
          <a:stretch/>
        </p:blipFill>
        <p:spPr bwMode="auto">
          <a:xfrm>
            <a:off x="3162300" y="232892"/>
            <a:ext cx="5634382" cy="185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2" y="2736579"/>
            <a:ext cx="3711214" cy="199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3700" y="2274914"/>
            <a:ext cx="356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err="1" smtClean="0">
                <a:latin typeface="Times New Roman" pitchFamily="18" charset="0"/>
              </a:rPr>
              <a:t>Thevenin</a:t>
            </a:r>
            <a:r>
              <a:rPr lang="en-ZA" sz="2400" b="1" dirty="0" smtClean="0">
                <a:latin typeface="Times New Roman" pitchFamily="18" charset="0"/>
              </a:rPr>
              <a:t> Impedance: </a:t>
            </a:r>
            <a:r>
              <a:rPr lang="en-ZA" sz="2400" b="1" dirty="0" err="1" smtClean="0">
                <a:latin typeface="Times New Roman" pitchFamily="18" charset="0"/>
              </a:rPr>
              <a:t>Z</a:t>
            </a:r>
            <a:r>
              <a:rPr lang="en-ZA" sz="2400" b="1" baseline="-25000" dirty="0" err="1" smtClean="0">
                <a:latin typeface="Times New Roman" pitchFamily="18" charset="0"/>
              </a:rPr>
              <a:t>th</a:t>
            </a:r>
            <a:endParaRPr lang="en-ZA" sz="2400" b="1" dirty="0">
              <a:latin typeface="Times New Roman" pitchFamily="18" charset="0"/>
              <a:sym typeface="Symbo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763" y="4687914"/>
            <a:ext cx="35657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b="1" dirty="0" err="1" smtClean="0">
                <a:latin typeface="Times New Roman" pitchFamily="18" charset="0"/>
              </a:rPr>
              <a:t>Z</a:t>
            </a:r>
            <a:r>
              <a:rPr lang="en-ZA" sz="2400" b="1" baseline="-25000" dirty="0" err="1" smtClean="0">
                <a:latin typeface="Times New Roman" pitchFamily="18" charset="0"/>
              </a:rPr>
              <a:t>th</a:t>
            </a:r>
            <a:r>
              <a:rPr lang="en-ZA" sz="2400" b="1" dirty="0" smtClean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=</a:t>
            </a:r>
            <a:r>
              <a:rPr lang="en-ZA" sz="2400" b="1" dirty="0" smtClean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(6+j2) // (-j4) + 10 </a:t>
            </a:r>
          </a:p>
          <a:p>
            <a:pPr>
              <a:lnSpc>
                <a:spcPct val="150000"/>
              </a:lnSpc>
            </a:pPr>
            <a:r>
              <a:rPr lang="en-ZA" sz="2400" dirty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     = (12.4 – j3.2)</a:t>
            </a:r>
          </a:p>
          <a:p>
            <a:pPr>
              <a:lnSpc>
                <a:spcPct val="150000"/>
              </a:lnSpc>
            </a:pPr>
            <a:r>
              <a:rPr lang="en-ZA" sz="2400" dirty="0"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     = 12.81-14.47 </a:t>
            </a:r>
            <a:endParaRPr lang="en-ZA" sz="2400" dirty="0">
              <a:latin typeface="Times New Roman" pitchFamily="18" charset="0"/>
              <a:sym typeface="Symbol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499" y="2736579"/>
            <a:ext cx="4195763" cy="170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4934103" y="2289228"/>
            <a:ext cx="1467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err="1" smtClean="0">
                <a:latin typeface="Times New Roman" pitchFamily="18" charset="0"/>
              </a:rPr>
              <a:t>V</a:t>
            </a:r>
            <a:r>
              <a:rPr lang="en-ZA" sz="2400" b="1" baseline="-25000" dirty="0" err="1" smtClean="0">
                <a:latin typeface="Times New Roman" pitchFamily="18" charset="0"/>
              </a:rPr>
              <a:t>th</a:t>
            </a:r>
            <a:r>
              <a:rPr lang="en-ZA" sz="2400" b="1" dirty="0" smtClean="0">
                <a:latin typeface="Times New Roman" pitchFamily="18" charset="0"/>
              </a:rPr>
              <a:t> = </a:t>
            </a:r>
            <a:r>
              <a:rPr lang="en-ZA" sz="2400" b="1" dirty="0" err="1" smtClean="0">
                <a:latin typeface="Times New Roman" pitchFamily="18" charset="0"/>
              </a:rPr>
              <a:t>V</a:t>
            </a:r>
            <a:r>
              <a:rPr lang="en-ZA" sz="2400" b="1" baseline="-25000" dirty="0" err="1" smtClean="0">
                <a:latin typeface="Times New Roman" pitchFamily="18" charset="0"/>
              </a:rPr>
              <a:t>oc</a:t>
            </a:r>
            <a:endParaRPr lang="en-ZA" sz="2400" b="1" dirty="0">
              <a:latin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0908" y="4988603"/>
                <a:ext cx="3614131" cy="1403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𝑡h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=75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20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6+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2−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ZA" sz="2400" b="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        =47.43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−51.57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908" y="4988603"/>
                <a:ext cx="3614131" cy="140365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 bwMode="auto">
          <a:xfrm>
            <a:off x="5668048" y="6285344"/>
            <a:ext cx="2616991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 bwMode="auto">
          <a:xfrm>
            <a:off x="1203697" y="6340886"/>
            <a:ext cx="2276103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75465" y="3224357"/>
            <a:ext cx="721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 smtClean="0">
                <a:solidFill>
                  <a:srgbClr val="FF6600"/>
                </a:solidFill>
                <a:latin typeface="Times New Roman" pitchFamily="18" charset="0"/>
              </a:rPr>
              <a:t>+</a:t>
            </a:r>
          </a:p>
          <a:p>
            <a:r>
              <a:rPr lang="en-ZA" sz="2000" b="1" dirty="0" err="1" smtClean="0">
                <a:solidFill>
                  <a:srgbClr val="FF6600"/>
                </a:solidFill>
                <a:latin typeface="Times New Roman" pitchFamily="18" charset="0"/>
              </a:rPr>
              <a:t>V</a:t>
            </a:r>
            <a:r>
              <a:rPr lang="en-ZA" sz="2000" b="1" baseline="-25000" dirty="0" err="1" smtClean="0">
                <a:solidFill>
                  <a:srgbClr val="FF6600"/>
                </a:solidFill>
                <a:latin typeface="Times New Roman" pitchFamily="18" charset="0"/>
              </a:rPr>
              <a:t>th</a:t>
            </a:r>
            <a:endParaRPr lang="en-ZA" sz="2000" b="1" baseline="-25000" dirty="0" smtClean="0">
              <a:solidFill>
                <a:srgbClr val="FF6600"/>
              </a:solidFill>
              <a:latin typeface="Times New Roman" pitchFamily="18" charset="0"/>
            </a:endParaRPr>
          </a:p>
          <a:p>
            <a:r>
              <a:rPr lang="en-ZA" sz="2000" b="1" dirty="0" smtClean="0">
                <a:solidFill>
                  <a:srgbClr val="FF6600"/>
                </a:solidFill>
                <a:latin typeface="Times New Roman" pitchFamily="18" charset="0"/>
              </a:rPr>
              <a:t>– </a:t>
            </a:r>
            <a:endParaRPr lang="en-ZA" sz="2000" b="1" dirty="0">
              <a:solidFill>
                <a:srgbClr val="FF6600"/>
              </a:solidFill>
              <a:latin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86081" y="3221671"/>
            <a:ext cx="721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2000" b="1" dirty="0" smtClean="0">
                <a:solidFill>
                  <a:srgbClr val="FF6600"/>
                </a:solidFill>
                <a:latin typeface="Times New Roman" pitchFamily="18" charset="0"/>
              </a:rPr>
              <a:t>+</a:t>
            </a:r>
          </a:p>
          <a:p>
            <a:pPr algn="r"/>
            <a:r>
              <a:rPr lang="en-ZA" sz="2000" b="1" dirty="0" err="1" smtClean="0">
                <a:solidFill>
                  <a:srgbClr val="FF6600"/>
                </a:solidFill>
                <a:latin typeface="Times New Roman" pitchFamily="18" charset="0"/>
              </a:rPr>
              <a:t>V</a:t>
            </a:r>
            <a:r>
              <a:rPr lang="en-ZA" sz="2000" b="1" baseline="-25000" dirty="0" err="1" smtClean="0">
                <a:solidFill>
                  <a:srgbClr val="FF6600"/>
                </a:solidFill>
                <a:latin typeface="Times New Roman" pitchFamily="18" charset="0"/>
              </a:rPr>
              <a:t>th</a:t>
            </a:r>
            <a:endParaRPr lang="en-ZA" sz="2000" b="1" baseline="-25000" dirty="0" smtClean="0">
              <a:solidFill>
                <a:srgbClr val="FF6600"/>
              </a:solidFill>
              <a:latin typeface="Times New Roman" pitchFamily="18" charset="0"/>
            </a:endParaRPr>
          </a:p>
          <a:p>
            <a:pPr algn="r"/>
            <a:r>
              <a:rPr lang="en-ZA" sz="2000" b="1" dirty="0" smtClean="0">
                <a:solidFill>
                  <a:srgbClr val="FF6600"/>
                </a:solidFill>
                <a:latin typeface="Times New Roman" pitchFamily="18" charset="0"/>
              </a:rPr>
              <a:t>– </a:t>
            </a:r>
            <a:endParaRPr lang="en-ZA" sz="2000" b="1" dirty="0">
              <a:solidFill>
                <a:srgbClr val="FF6600"/>
              </a:solidFill>
              <a:latin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70908" y="4687914"/>
            <a:ext cx="27508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Voltage Division: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402618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7" grpId="0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609" y="189187"/>
            <a:ext cx="28016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3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the Norton equivalent </a:t>
            </a:r>
            <a:r>
              <a:rPr lang="en-ZA" sz="2400" dirty="0" err="1" smtClean="0">
                <a:latin typeface="Times New Roman" pitchFamily="18" charset="0"/>
              </a:rPr>
              <a:t>wrt</a:t>
            </a:r>
            <a:r>
              <a:rPr lang="en-ZA" sz="2400" dirty="0" smtClean="0">
                <a:latin typeface="Times New Roman" pitchFamily="18" charset="0"/>
              </a:rPr>
              <a:t> terminals a-b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892446" y="98978"/>
            <a:ext cx="4479380" cy="2386746"/>
            <a:chOff x="3162300" y="189187"/>
            <a:chExt cx="4479380" cy="2386746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189187"/>
              <a:ext cx="4131368" cy="2296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3557592" y="301998"/>
              <a:ext cx="535724" cy="4572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6 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60122" y="301998"/>
              <a:ext cx="599844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j4 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928062" y="1251016"/>
              <a:ext cx="676788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-j2 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955274" y="1349953"/>
              <a:ext cx="686406" cy="4572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20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242152" y="491600"/>
              <a:ext cx="287258" cy="458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a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251002" y="2117859"/>
              <a:ext cx="300082" cy="458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b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326674" y="2731932"/>
            <a:ext cx="35657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err="1" smtClean="0">
                <a:latin typeface="Times New Roman" pitchFamily="18" charset="0"/>
              </a:rPr>
              <a:t>Thevenin</a:t>
            </a:r>
            <a:r>
              <a:rPr lang="en-ZA" sz="2400" b="1" dirty="0" smtClean="0">
                <a:latin typeface="Times New Roman" pitchFamily="18" charset="0"/>
              </a:rPr>
              <a:t> Impedance: </a:t>
            </a:r>
            <a:r>
              <a:rPr lang="en-ZA" sz="2400" b="1" dirty="0" err="1" smtClean="0">
                <a:latin typeface="Times New Roman" pitchFamily="18" charset="0"/>
              </a:rPr>
              <a:t>Z</a:t>
            </a:r>
            <a:r>
              <a:rPr lang="en-ZA" sz="2400" b="1" baseline="-25000" dirty="0" err="1" smtClean="0">
                <a:latin typeface="Times New Roman" pitchFamily="18" charset="0"/>
              </a:rPr>
              <a:t>th</a:t>
            </a:r>
            <a:endParaRPr lang="en-ZA" sz="2400" b="1" dirty="0" smtClean="0">
              <a:latin typeface="Times New Roman" pitchFamily="18" charset="0"/>
            </a:endParaRPr>
          </a:p>
          <a:p>
            <a:r>
              <a:rPr lang="en-ZA" sz="2400" dirty="0" err="1" smtClean="0">
                <a:latin typeface="Times New Roman" pitchFamily="18" charset="0"/>
                <a:sym typeface="Symbol"/>
              </a:rPr>
              <a:t>I</a:t>
            </a:r>
            <a:r>
              <a:rPr lang="en-ZA" sz="2400" baseline="-25000" dirty="0" err="1" smtClean="0">
                <a:latin typeface="Times New Roman" pitchFamily="18" charset="0"/>
                <a:sym typeface="Symbol"/>
              </a:rPr>
              <a:t>source</a:t>
            </a:r>
            <a:r>
              <a:rPr lang="en-ZA" sz="2400" dirty="0"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becomes open circuit</a:t>
            </a:r>
            <a:endParaRPr lang="en-ZA" sz="2400" dirty="0">
              <a:latin typeface="Times New Roman" pitchFamily="18" charset="0"/>
              <a:sym typeface="Symbo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0609" y="3682999"/>
            <a:ext cx="35657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b="1" dirty="0" err="1" smtClean="0">
                <a:latin typeface="Times New Roman" pitchFamily="18" charset="0"/>
              </a:rPr>
              <a:t>Z</a:t>
            </a:r>
            <a:r>
              <a:rPr lang="en-ZA" sz="2400" b="1" baseline="-25000" dirty="0" err="1" smtClean="0">
                <a:latin typeface="Times New Roman" pitchFamily="18" charset="0"/>
              </a:rPr>
              <a:t>th</a:t>
            </a:r>
            <a:r>
              <a:rPr lang="en-ZA" sz="2400" b="1" dirty="0" smtClean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=</a:t>
            </a:r>
            <a:r>
              <a:rPr lang="en-ZA" sz="2400" b="1" dirty="0" smtClean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j4 // (-j2) + </a:t>
            </a:r>
            <a:r>
              <a:rPr lang="en-ZA" sz="2400" dirty="0">
                <a:latin typeface="Times New Roman" pitchFamily="18" charset="0"/>
              </a:rPr>
              <a:t>6</a:t>
            </a:r>
            <a:r>
              <a:rPr lang="en-ZA" sz="2400" dirty="0" smtClean="0">
                <a:latin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ZA" sz="2400" dirty="0">
                <a:latin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</a:rPr>
              <a:t>     = (6 – j4)</a:t>
            </a:r>
          </a:p>
          <a:p>
            <a:pPr>
              <a:lnSpc>
                <a:spcPct val="150000"/>
              </a:lnSpc>
            </a:pPr>
            <a:r>
              <a:rPr lang="en-ZA" sz="2400" dirty="0"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     = 7.21-33.7 </a:t>
            </a:r>
            <a:endParaRPr lang="en-ZA" sz="2400" dirty="0">
              <a:latin typeface="Times New Roman" pitchFamily="18" charset="0"/>
              <a:sym typeface="Symbo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67107" y="2731931"/>
            <a:ext cx="246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latin typeface="Times New Roman" pitchFamily="18" charset="0"/>
              </a:rPr>
              <a:t>I</a:t>
            </a:r>
            <a:r>
              <a:rPr lang="en-ZA" sz="2400" b="1" baseline="-25000" dirty="0">
                <a:latin typeface="Times New Roman" pitchFamily="18" charset="0"/>
              </a:rPr>
              <a:t>N</a:t>
            </a:r>
            <a:r>
              <a:rPr lang="en-ZA" sz="2400" b="1" dirty="0" smtClean="0">
                <a:latin typeface="Times New Roman" pitchFamily="18" charset="0"/>
              </a:rPr>
              <a:t> = </a:t>
            </a:r>
            <a:r>
              <a:rPr lang="en-ZA" sz="2400" b="1" dirty="0" err="1" smtClean="0">
                <a:latin typeface="Times New Roman" pitchFamily="18" charset="0"/>
              </a:rPr>
              <a:t>I</a:t>
            </a:r>
            <a:r>
              <a:rPr lang="en-ZA" sz="2400" b="1" baseline="-25000" dirty="0" err="1" smtClean="0">
                <a:latin typeface="Times New Roman" pitchFamily="18" charset="0"/>
              </a:rPr>
              <a:t>sc</a:t>
            </a:r>
            <a:r>
              <a:rPr lang="en-ZA" sz="2400" b="1" dirty="0" smtClean="0">
                <a:latin typeface="Times New Roman" pitchFamily="18" charset="0"/>
              </a:rPr>
              <a:t> = 2</a:t>
            </a:r>
            <a:r>
              <a:rPr lang="en-ZA" sz="2400" b="1" dirty="0" smtClean="0">
                <a:latin typeface="Times New Roman" pitchFamily="18" charset="0"/>
                <a:sym typeface="Symbol"/>
              </a:rPr>
              <a:t>0</a:t>
            </a:r>
            <a:endParaRPr lang="en-ZA" sz="2400" b="1" dirty="0">
              <a:latin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26334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075FE-1D55-45B2-ABE3-2E3DA2CE9B3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609" y="189187"/>
            <a:ext cx="3657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4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Solve the following Matrix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08360" y="398623"/>
                <a:ext cx="4346254" cy="792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2+</m:t>
                                </m:r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5+</m:t>
                                </m:r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4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i="1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ZA" sz="2400" b="0" i="1" smtClean="0">
                                    <a:latin typeface="Cambria Math"/>
                                    <a:sym typeface="Symbol"/>
                                  </a:rPr>
                                  <m:t>0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360" y="398623"/>
                <a:ext cx="4346254" cy="7925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53047" y="1416675"/>
                <a:ext cx="329667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latin typeface="Cambria Math"/>
                          <a:ea typeface="Cambria Math"/>
                        </a:rPr>
                        <m:t>=1.01</m:t>
                      </m:r>
                      <m:r>
                        <a:rPr lang="en-ZA" sz="2800" b="0" i="1" smtClean="0">
                          <a:latin typeface="Cambria Math"/>
                          <a:ea typeface="Cambria Math"/>
                          <a:sym typeface="Symbol"/>
                        </a:rPr>
                        <m:t>−45 </m:t>
                      </m:r>
                      <m:r>
                        <m:rPr>
                          <m:sty m:val="p"/>
                        </m:rPr>
                        <a:rPr lang="en-ZA" sz="2800" b="0" i="0" smtClean="0">
                          <a:latin typeface="Cambria Math"/>
                          <a:ea typeface="Cambria Math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800" b="0" dirty="0" smtClean="0">
                  <a:ea typeface="Cambria Math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800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i="1">
                          <a:latin typeface="Cambria Math"/>
                          <a:ea typeface="Cambria Math"/>
                        </a:rPr>
                        <m:t>=1.0</m:t>
                      </m:r>
                      <m:r>
                        <a:rPr lang="en-ZA" sz="2800" b="0" i="1" smtClean="0">
                          <a:latin typeface="Cambria Math"/>
                          <a:ea typeface="Cambria Math"/>
                        </a:rPr>
                        <m:t>7</m:t>
                      </m:r>
                      <m:r>
                        <a:rPr lang="en-ZA" sz="2800" i="1">
                          <a:latin typeface="Cambria Math"/>
                          <a:ea typeface="Cambria Math"/>
                          <a:sym typeface="Symbol"/>
                        </a:rPr>
                        <m:t></m:t>
                      </m:r>
                      <m:r>
                        <a:rPr lang="en-ZA" sz="2800" b="0" i="1" smtClean="0">
                          <a:latin typeface="Cambria Math"/>
                          <a:ea typeface="Cambria Math"/>
                          <a:sym typeface="Symbol"/>
                        </a:rPr>
                        <m:t>90</m:t>
                      </m:r>
                      <m:r>
                        <a:rPr lang="en-ZA" sz="2800" i="1">
                          <a:latin typeface="Cambria Math"/>
                          <a:ea typeface="Cambria Math"/>
                          <a:sym typeface="Symbol"/>
                        </a:rPr>
                        <m:t> </m:t>
                      </m:r>
                      <m:r>
                        <m:rPr>
                          <m:sty m:val="p"/>
                        </m:rPr>
                        <a:rPr lang="en-ZA" sz="2800">
                          <a:latin typeface="Cambria Math"/>
                          <a:ea typeface="Cambria Math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047" y="1416675"/>
                <a:ext cx="3296672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08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4572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4572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3842</TotalTime>
  <Words>2243</Words>
  <Application>Microsoft Office PowerPoint</Application>
  <PresentationFormat>On-screen Show (4:3)</PresentationFormat>
  <Paragraphs>285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Balloons</vt:lpstr>
      <vt:lpstr>PowerPoint Presentation</vt:lpstr>
      <vt:lpstr> Sinusoidal Steady-State Analysis  Chapter 10 </vt:lpstr>
      <vt:lpstr>Steps to Analyze AC Circuits:</vt:lpstr>
      <vt:lpstr>10.2 Nodal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User</cp:lastModifiedBy>
  <cp:revision>174</cp:revision>
  <cp:lastPrinted>2011-10-25T08:50:42Z</cp:lastPrinted>
  <dcterms:created xsi:type="dcterms:W3CDTF">2006-09-12T03:52:31Z</dcterms:created>
  <dcterms:modified xsi:type="dcterms:W3CDTF">2012-05-17T13:55:52Z</dcterms:modified>
</cp:coreProperties>
</file>