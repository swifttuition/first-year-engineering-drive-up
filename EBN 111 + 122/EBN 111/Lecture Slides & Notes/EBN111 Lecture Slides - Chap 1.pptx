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72" r:id="rId11"/>
    <p:sldId id="273" r:id="rId12"/>
    <p:sldId id="274" r:id="rId13"/>
    <p:sldId id="275" r:id="rId14"/>
    <p:sldId id="266" r:id="rId15"/>
    <p:sldId id="276" r:id="rId16"/>
    <p:sldId id="267" r:id="rId17"/>
    <p:sldId id="278" r:id="rId18"/>
    <p:sldId id="277" r:id="rId19"/>
    <p:sldId id="279" r:id="rId20"/>
    <p:sldId id="280" r:id="rId21"/>
    <p:sldId id="268" r:id="rId22"/>
    <p:sldId id="281" r:id="rId23"/>
    <p:sldId id="284" r:id="rId24"/>
    <p:sldId id="282" r:id="rId25"/>
    <p:sldId id="285" r:id="rId26"/>
    <p:sldId id="283" r:id="rId27"/>
    <p:sldId id="269" r:id="rId28"/>
    <p:sldId id="270" r:id="rId29"/>
    <p:sldId id="286" r:id="rId30"/>
    <p:sldId id="287" r:id="rId31"/>
    <p:sldId id="288" r:id="rId32"/>
    <p:sldId id="289" r:id="rId33"/>
    <p:sldId id="290" r:id="rId34"/>
    <p:sldId id="291" r:id="rId35"/>
    <p:sldId id="293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80808"/>
    <a:srgbClr val="000099"/>
    <a:srgbClr val="FFFF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4" autoAdjust="0"/>
    <p:restoredTop sz="96013" autoAdjust="0"/>
  </p:normalViewPr>
  <p:slideViewPr>
    <p:cSldViewPr snapToGrid="0">
      <p:cViewPr varScale="1">
        <p:scale>
          <a:sx n="85" d="100"/>
          <a:sy n="85" d="100"/>
        </p:scale>
        <p:origin x="146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38049" cy="464315"/>
          </a:xfrm>
          <a:prstGeom prst="rect">
            <a:avLst/>
          </a:prstGeom>
        </p:spPr>
        <p:txBody>
          <a:bodyPr vert="horz" lIns="86008" tIns="43004" rIns="86008" bIns="43004" rtlCol="0"/>
          <a:lstStyle>
            <a:lvl1pPr algn="l">
              <a:defRPr sz="11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85" y="2"/>
            <a:ext cx="3038049" cy="464315"/>
          </a:xfrm>
          <a:prstGeom prst="rect">
            <a:avLst/>
          </a:prstGeom>
        </p:spPr>
        <p:txBody>
          <a:bodyPr vert="horz" lIns="86008" tIns="43004" rIns="86008" bIns="43004" rtlCol="0"/>
          <a:lstStyle>
            <a:lvl1pPr algn="r">
              <a:defRPr sz="1100"/>
            </a:lvl1pPr>
          </a:lstStyle>
          <a:p>
            <a:fld id="{3904D574-F9D0-42B6-8BD2-25F1A9D87921}" type="datetimeFigureOut">
              <a:rPr lang="en-ZA" smtClean="0"/>
              <a:t>2018/02/05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44"/>
            <a:ext cx="3038049" cy="464315"/>
          </a:xfrm>
          <a:prstGeom prst="rect">
            <a:avLst/>
          </a:prstGeom>
        </p:spPr>
        <p:txBody>
          <a:bodyPr vert="horz" lIns="86008" tIns="43004" rIns="86008" bIns="43004" rtlCol="0" anchor="b"/>
          <a:lstStyle>
            <a:lvl1pPr algn="l">
              <a:defRPr sz="11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85" y="8830644"/>
            <a:ext cx="3038049" cy="464315"/>
          </a:xfrm>
          <a:prstGeom prst="rect">
            <a:avLst/>
          </a:prstGeom>
        </p:spPr>
        <p:txBody>
          <a:bodyPr vert="horz" lIns="86008" tIns="43004" rIns="86008" bIns="43004" rtlCol="0" anchor="b"/>
          <a:lstStyle>
            <a:lvl1pPr algn="r">
              <a:defRPr sz="1100"/>
            </a:lvl1pPr>
          </a:lstStyle>
          <a:p>
            <a:fld id="{DD5D590C-D6F7-4E35-AA1C-EC10EE53F7F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405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3" tIns="46582" rIns="93163" bIns="4658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9" y="2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3" tIns="46582" rIns="93163" bIns="4658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502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3" tIns="46582" rIns="93163" bIns="465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968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3" tIns="46582" rIns="93163" bIns="4658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9" y="8829968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3" tIns="46582" rIns="93163" bIns="4658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638BB39E-4E6C-4D12-A1C4-25E8D9723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86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56952" indent="-291135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64542" indent="-232909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30359" indent="-232909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96176" indent="-232909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61993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027809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93625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959442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C5985752-9D0E-474C-96E7-9595ABF37A60}" type="slidenum">
              <a:rPr lang="en-US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404966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8BB39E-4E6C-4D12-A1C4-25E8D9723BC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90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56952" indent="-291135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64542" indent="-232909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30359" indent="-232909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96176" indent="-232909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61993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027809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93625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959442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A5985B6A-9FD4-41E8-8165-0ED25A2E336D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2337847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56952" indent="-291135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64542" indent="-232909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30359" indent="-232909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96176" indent="-232909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61993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027809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93625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959442" indent="-2329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9EC99C4-379F-4303-9C12-4BDF98DC71A8}" type="slidenum">
              <a:rPr lang="en-US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74434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9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36 w 596"/>
                  <a:gd name="T1" fmla="*/ 825 h 666"/>
                  <a:gd name="T2" fmla="*/ 13 w 596"/>
                  <a:gd name="T3" fmla="*/ 760 h 666"/>
                  <a:gd name="T4" fmla="*/ 0 w 596"/>
                  <a:gd name="T5" fmla="*/ 644 h 666"/>
                  <a:gd name="T6" fmla="*/ 9 w 596"/>
                  <a:gd name="T7" fmla="*/ 495 h 666"/>
                  <a:gd name="T8" fmla="*/ 56 w 596"/>
                  <a:gd name="T9" fmla="*/ 337 h 666"/>
                  <a:gd name="T10" fmla="*/ 154 w 596"/>
                  <a:gd name="T11" fmla="*/ 187 h 666"/>
                  <a:gd name="T12" fmla="*/ 318 w 596"/>
                  <a:gd name="T13" fmla="*/ 69 h 666"/>
                  <a:gd name="T14" fmla="*/ 552 w 596"/>
                  <a:gd name="T15" fmla="*/ 4 h 666"/>
                  <a:gd name="T16" fmla="*/ 850 w 596"/>
                  <a:gd name="T17" fmla="*/ 20 h 666"/>
                  <a:gd name="T18" fmla="*/ 1083 w 596"/>
                  <a:gd name="T19" fmla="*/ 152 h 666"/>
                  <a:gd name="T20" fmla="*/ 1239 w 596"/>
                  <a:gd name="T21" fmla="*/ 368 h 666"/>
                  <a:gd name="T22" fmla="*/ 1322 w 596"/>
                  <a:gd name="T23" fmla="*/ 633 h 666"/>
                  <a:gd name="T24" fmla="*/ 1331 w 596"/>
                  <a:gd name="T25" fmla="*/ 912 h 666"/>
                  <a:gd name="T26" fmla="*/ 1266 w 596"/>
                  <a:gd name="T27" fmla="*/ 1171 h 666"/>
                  <a:gd name="T28" fmla="*/ 1134 w 596"/>
                  <a:gd name="T29" fmla="*/ 1371 h 666"/>
                  <a:gd name="T30" fmla="*/ 933 w 596"/>
                  <a:gd name="T31" fmla="*/ 1478 h 666"/>
                  <a:gd name="T32" fmla="*/ 870 w 596"/>
                  <a:gd name="T33" fmla="*/ 1469 h 666"/>
                  <a:gd name="T34" fmla="*/ 986 w 596"/>
                  <a:gd name="T35" fmla="*/ 1376 h 666"/>
                  <a:gd name="T36" fmla="*/ 1078 w 596"/>
                  <a:gd name="T37" fmla="*/ 1213 h 666"/>
                  <a:gd name="T38" fmla="*/ 1138 w 596"/>
                  <a:gd name="T39" fmla="*/ 1012 h 666"/>
                  <a:gd name="T40" fmla="*/ 1163 w 596"/>
                  <a:gd name="T41" fmla="*/ 792 h 666"/>
                  <a:gd name="T42" fmla="*/ 1150 w 596"/>
                  <a:gd name="T43" fmla="*/ 575 h 666"/>
                  <a:gd name="T44" fmla="*/ 1085 w 596"/>
                  <a:gd name="T45" fmla="*/ 388 h 666"/>
                  <a:gd name="T46" fmla="*/ 968 w 596"/>
                  <a:gd name="T47" fmla="*/ 250 h 666"/>
                  <a:gd name="T48" fmla="*/ 763 w 596"/>
                  <a:gd name="T49" fmla="*/ 167 h 666"/>
                  <a:gd name="T50" fmla="*/ 550 w 596"/>
                  <a:gd name="T51" fmla="*/ 136 h 666"/>
                  <a:gd name="T52" fmla="*/ 389 w 596"/>
                  <a:gd name="T53" fmla="*/ 158 h 666"/>
                  <a:gd name="T54" fmla="*/ 271 w 596"/>
                  <a:gd name="T55" fmla="*/ 225 h 666"/>
                  <a:gd name="T56" fmla="*/ 188 w 596"/>
                  <a:gd name="T57" fmla="*/ 332 h 666"/>
                  <a:gd name="T58" fmla="*/ 127 w 596"/>
                  <a:gd name="T59" fmla="*/ 459 h 666"/>
                  <a:gd name="T60" fmla="*/ 89 w 596"/>
                  <a:gd name="T61" fmla="*/ 606 h 666"/>
                  <a:gd name="T62" fmla="*/ 63 w 596"/>
                  <a:gd name="T63" fmla="*/ 756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0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56 h 237"/>
                  <a:gd name="T4" fmla="*/ 7 w 257"/>
                  <a:gd name="T5" fmla="*/ 112 h 237"/>
                  <a:gd name="T6" fmla="*/ 13 w 257"/>
                  <a:gd name="T7" fmla="*/ 168 h 237"/>
                  <a:gd name="T8" fmla="*/ 24 w 257"/>
                  <a:gd name="T9" fmla="*/ 220 h 237"/>
                  <a:gd name="T10" fmla="*/ 40 w 257"/>
                  <a:gd name="T11" fmla="*/ 267 h 237"/>
                  <a:gd name="T12" fmla="*/ 60 w 257"/>
                  <a:gd name="T13" fmla="*/ 316 h 237"/>
                  <a:gd name="T14" fmla="*/ 84 w 257"/>
                  <a:gd name="T15" fmla="*/ 361 h 237"/>
                  <a:gd name="T16" fmla="*/ 113 w 257"/>
                  <a:gd name="T17" fmla="*/ 399 h 237"/>
                  <a:gd name="T18" fmla="*/ 149 w 257"/>
                  <a:gd name="T19" fmla="*/ 435 h 237"/>
                  <a:gd name="T20" fmla="*/ 191 w 257"/>
                  <a:gd name="T21" fmla="*/ 466 h 237"/>
                  <a:gd name="T22" fmla="*/ 236 w 257"/>
                  <a:gd name="T23" fmla="*/ 491 h 237"/>
                  <a:gd name="T24" fmla="*/ 291 w 257"/>
                  <a:gd name="T25" fmla="*/ 511 h 237"/>
                  <a:gd name="T26" fmla="*/ 351 w 257"/>
                  <a:gd name="T27" fmla="*/ 524 h 237"/>
                  <a:gd name="T28" fmla="*/ 418 w 257"/>
                  <a:gd name="T29" fmla="*/ 531 h 237"/>
                  <a:gd name="T30" fmla="*/ 489 w 257"/>
                  <a:gd name="T31" fmla="*/ 529 h 237"/>
                  <a:gd name="T32" fmla="*/ 571 w 257"/>
                  <a:gd name="T33" fmla="*/ 520 h 237"/>
                  <a:gd name="T34" fmla="*/ 498 w 257"/>
                  <a:gd name="T35" fmla="*/ 509 h 237"/>
                  <a:gd name="T36" fmla="*/ 433 w 257"/>
                  <a:gd name="T37" fmla="*/ 493 h 237"/>
                  <a:gd name="T38" fmla="*/ 378 w 257"/>
                  <a:gd name="T39" fmla="*/ 475 h 237"/>
                  <a:gd name="T40" fmla="*/ 329 w 257"/>
                  <a:gd name="T41" fmla="*/ 457 h 237"/>
                  <a:gd name="T42" fmla="*/ 284 w 257"/>
                  <a:gd name="T43" fmla="*/ 432 h 237"/>
                  <a:gd name="T44" fmla="*/ 249 w 257"/>
                  <a:gd name="T45" fmla="*/ 408 h 237"/>
                  <a:gd name="T46" fmla="*/ 216 w 257"/>
                  <a:gd name="T47" fmla="*/ 379 h 237"/>
                  <a:gd name="T48" fmla="*/ 187 w 257"/>
                  <a:gd name="T49" fmla="*/ 347 h 237"/>
                  <a:gd name="T50" fmla="*/ 160 w 257"/>
                  <a:gd name="T51" fmla="*/ 316 h 237"/>
                  <a:gd name="T52" fmla="*/ 136 w 257"/>
                  <a:gd name="T53" fmla="*/ 280 h 237"/>
                  <a:gd name="T54" fmla="*/ 116 w 257"/>
                  <a:gd name="T55" fmla="*/ 240 h 237"/>
                  <a:gd name="T56" fmla="*/ 96 w 257"/>
                  <a:gd name="T57" fmla="*/ 197 h 237"/>
                  <a:gd name="T58" fmla="*/ 73 w 257"/>
                  <a:gd name="T59" fmla="*/ 155 h 237"/>
                  <a:gd name="T60" fmla="*/ 51 w 257"/>
                  <a:gd name="T61" fmla="*/ 105 h 237"/>
                  <a:gd name="T62" fmla="*/ 27 w 257"/>
                  <a:gd name="T63" fmla="*/ 54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1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172 w 124"/>
                  <a:gd name="T1" fmla="*/ 0 h 110"/>
                  <a:gd name="T2" fmla="*/ 277 w 124"/>
                  <a:gd name="T3" fmla="*/ 244 h 110"/>
                  <a:gd name="T4" fmla="*/ 268 w 124"/>
                  <a:gd name="T5" fmla="*/ 242 h 110"/>
                  <a:gd name="T6" fmla="*/ 239 w 124"/>
                  <a:gd name="T7" fmla="*/ 238 h 110"/>
                  <a:gd name="T8" fmla="*/ 199 w 124"/>
                  <a:gd name="T9" fmla="*/ 229 h 110"/>
                  <a:gd name="T10" fmla="*/ 152 w 124"/>
                  <a:gd name="T11" fmla="*/ 224 h 110"/>
                  <a:gd name="T12" fmla="*/ 101 w 124"/>
                  <a:gd name="T13" fmla="*/ 220 h 110"/>
                  <a:gd name="T14" fmla="*/ 56 w 124"/>
                  <a:gd name="T15" fmla="*/ 222 h 110"/>
                  <a:gd name="T16" fmla="*/ 20 w 124"/>
                  <a:gd name="T17" fmla="*/ 231 h 110"/>
                  <a:gd name="T18" fmla="*/ 0 w 124"/>
                  <a:gd name="T19" fmla="*/ 249 h 110"/>
                  <a:gd name="T20" fmla="*/ 9 w 124"/>
                  <a:gd name="T21" fmla="*/ 222 h 110"/>
                  <a:gd name="T22" fmla="*/ 18 w 124"/>
                  <a:gd name="T23" fmla="*/ 201 h 110"/>
                  <a:gd name="T24" fmla="*/ 36 w 124"/>
                  <a:gd name="T25" fmla="*/ 186 h 110"/>
                  <a:gd name="T26" fmla="*/ 56 w 124"/>
                  <a:gd name="T27" fmla="*/ 172 h 110"/>
                  <a:gd name="T28" fmla="*/ 80 w 124"/>
                  <a:gd name="T29" fmla="*/ 163 h 110"/>
                  <a:gd name="T30" fmla="*/ 105 w 124"/>
                  <a:gd name="T31" fmla="*/ 161 h 110"/>
                  <a:gd name="T32" fmla="*/ 132 w 124"/>
                  <a:gd name="T33" fmla="*/ 161 h 110"/>
                  <a:gd name="T34" fmla="*/ 161 w 124"/>
                  <a:gd name="T35" fmla="*/ 168 h 110"/>
                  <a:gd name="T36" fmla="*/ 163 w 124"/>
                  <a:gd name="T37" fmla="*/ 161 h 110"/>
                  <a:gd name="T38" fmla="*/ 156 w 124"/>
                  <a:gd name="T39" fmla="*/ 127 h 110"/>
                  <a:gd name="T40" fmla="*/ 150 w 124"/>
                  <a:gd name="T41" fmla="*/ 86 h 110"/>
                  <a:gd name="T42" fmla="*/ 145 w 124"/>
                  <a:gd name="T43" fmla="*/ 68 h 110"/>
                  <a:gd name="T44" fmla="*/ 141 w 124"/>
                  <a:gd name="T45" fmla="*/ 68 h 110"/>
                  <a:gd name="T46" fmla="*/ 136 w 124"/>
                  <a:gd name="T47" fmla="*/ 66 h 110"/>
                  <a:gd name="T48" fmla="*/ 132 w 124"/>
                  <a:gd name="T49" fmla="*/ 59 h 110"/>
                  <a:gd name="T50" fmla="*/ 127 w 124"/>
                  <a:gd name="T51" fmla="*/ 52 h 110"/>
                  <a:gd name="T52" fmla="*/ 127 w 124"/>
                  <a:gd name="T53" fmla="*/ 43 h 110"/>
                  <a:gd name="T54" fmla="*/ 132 w 124"/>
                  <a:gd name="T55" fmla="*/ 32 h 110"/>
                  <a:gd name="T56" fmla="*/ 147 w 124"/>
                  <a:gd name="T57" fmla="*/ 18 h 110"/>
                  <a:gd name="T58" fmla="*/ 172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2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11 w 109"/>
                  <a:gd name="T3" fmla="*/ 2 h 156"/>
                  <a:gd name="T4" fmla="*/ 40 w 109"/>
                  <a:gd name="T5" fmla="*/ 11 h 156"/>
                  <a:gd name="T6" fmla="*/ 83 w 109"/>
                  <a:gd name="T7" fmla="*/ 27 h 156"/>
                  <a:gd name="T8" fmla="*/ 130 w 109"/>
                  <a:gd name="T9" fmla="*/ 53 h 156"/>
                  <a:gd name="T10" fmla="*/ 175 w 109"/>
                  <a:gd name="T11" fmla="*/ 98 h 156"/>
                  <a:gd name="T12" fmla="*/ 216 w 109"/>
                  <a:gd name="T13" fmla="*/ 158 h 156"/>
                  <a:gd name="T14" fmla="*/ 241 w 109"/>
                  <a:gd name="T15" fmla="*/ 240 h 156"/>
                  <a:gd name="T16" fmla="*/ 245 w 109"/>
                  <a:gd name="T17" fmla="*/ 347 h 156"/>
                  <a:gd name="T18" fmla="*/ 236 w 109"/>
                  <a:gd name="T19" fmla="*/ 347 h 156"/>
                  <a:gd name="T20" fmla="*/ 223 w 109"/>
                  <a:gd name="T21" fmla="*/ 347 h 156"/>
                  <a:gd name="T22" fmla="*/ 209 w 109"/>
                  <a:gd name="T23" fmla="*/ 347 h 156"/>
                  <a:gd name="T24" fmla="*/ 196 w 109"/>
                  <a:gd name="T25" fmla="*/ 343 h 156"/>
                  <a:gd name="T26" fmla="*/ 182 w 109"/>
                  <a:gd name="T27" fmla="*/ 340 h 156"/>
                  <a:gd name="T28" fmla="*/ 166 w 109"/>
                  <a:gd name="T29" fmla="*/ 334 h 156"/>
                  <a:gd name="T30" fmla="*/ 148 w 109"/>
                  <a:gd name="T31" fmla="*/ 323 h 156"/>
                  <a:gd name="T32" fmla="*/ 130 w 109"/>
                  <a:gd name="T33" fmla="*/ 309 h 156"/>
                  <a:gd name="T34" fmla="*/ 119 w 109"/>
                  <a:gd name="T35" fmla="*/ 280 h 156"/>
                  <a:gd name="T36" fmla="*/ 119 w 109"/>
                  <a:gd name="T37" fmla="*/ 247 h 156"/>
                  <a:gd name="T38" fmla="*/ 126 w 109"/>
                  <a:gd name="T39" fmla="*/ 214 h 156"/>
                  <a:gd name="T40" fmla="*/ 133 w 109"/>
                  <a:gd name="T41" fmla="*/ 178 h 156"/>
                  <a:gd name="T42" fmla="*/ 126 w 109"/>
                  <a:gd name="T43" fmla="*/ 138 h 156"/>
                  <a:gd name="T44" fmla="*/ 108 w 109"/>
                  <a:gd name="T45" fmla="*/ 96 h 156"/>
                  <a:gd name="T46" fmla="*/ 70 w 109"/>
                  <a:gd name="T47" fmla="*/ 51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69 w 46"/>
                  <a:gd name="T1" fmla="*/ 0 h 94"/>
                  <a:gd name="T2" fmla="*/ 45 w 46"/>
                  <a:gd name="T3" fmla="*/ 84 h 94"/>
                  <a:gd name="T4" fmla="*/ 34 w 46"/>
                  <a:gd name="T5" fmla="*/ 138 h 94"/>
                  <a:gd name="T6" fmla="*/ 25 w 46"/>
                  <a:gd name="T7" fmla="*/ 176 h 94"/>
                  <a:gd name="T8" fmla="*/ 0 w 46"/>
                  <a:gd name="T9" fmla="*/ 209 h 94"/>
                  <a:gd name="T10" fmla="*/ 27 w 46"/>
                  <a:gd name="T11" fmla="*/ 196 h 94"/>
                  <a:gd name="T12" fmla="*/ 52 w 46"/>
                  <a:gd name="T13" fmla="*/ 178 h 94"/>
                  <a:gd name="T14" fmla="*/ 72 w 46"/>
                  <a:gd name="T15" fmla="*/ 153 h 94"/>
                  <a:gd name="T16" fmla="*/ 90 w 46"/>
                  <a:gd name="T17" fmla="*/ 127 h 94"/>
                  <a:gd name="T18" fmla="*/ 101 w 46"/>
                  <a:gd name="T19" fmla="*/ 98 h 94"/>
                  <a:gd name="T20" fmla="*/ 103 w 46"/>
                  <a:gd name="T21" fmla="*/ 67 h 94"/>
                  <a:gd name="T22" fmla="*/ 94 w 46"/>
                  <a:gd name="T23" fmla="*/ 33 h 94"/>
                  <a:gd name="T24" fmla="*/ 69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2 w 54"/>
                  <a:gd name="T3" fmla="*/ 2 h 40"/>
                  <a:gd name="T4" fmla="*/ 13 w 54"/>
                  <a:gd name="T5" fmla="*/ 7 h 40"/>
                  <a:gd name="T6" fmla="*/ 29 w 54"/>
                  <a:gd name="T7" fmla="*/ 18 h 40"/>
                  <a:gd name="T8" fmla="*/ 47 w 54"/>
                  <a:gd name="T9" fmla="*/ 27 h 40"/>
                  <a:gd name="T10" fmla="*/ 64 w 54"/>
                  <a:gd name="T11" fmla="*/ 34 h 40"/>
                  <a:gd name="T12" fmla="*/ 84 w 54"/>
                  <a:gd name="T13" fmla="*/ 38 h 40"/>
                  <a:gd name="T14" fmla="*/ 102 w 54"/>
                  <a:gd name="T15" fmla="*/ 41 h 40"/>
                  <a:gd name="T16" fmla="*/ 120 w 54"/>
                  <a:gd name="T17" fmla="*/ 36 h 40"/>
                  <a:gd name="T18" fmla="*/ 118 w 54"/>
                  <a:gd name="T19" fmla="*/ 56 h 40"/>
                  <a:gd name="T20" fmla="*/ 111 w 54"/>
                  <a:gd name="T21" fmla="*/ 74 h 40"/>
                  <a:gd name="T22" fmla="*/ 98 w 54"/>
                  <a:gd name="T23" fmla="*/ 86 h 40"/>
                  <a:gd name="T24" fmla="*/ 82 w 54"/>
                  <a:gd name="T25" fmla="*/ 90 h 40"/>
                  <a:gd name="T26" fmla="*/ 62 w 54"/>
                  <a:gd name="T27" fmla="*/ 88 h 40"/>
                  <a:gd name="T28" fmla="*/ 42 w 54"/>
                  <a:gd name="T29" fmla="*/ 72 h 40"/>
                  <a:gd name="T30" fmla="*/ 22 w 54"/>
                  <a:gd name="T31" fmla="*/ 45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13 w 149"/>
                  <a:gd name="T3" fmla="*/ 18 h 704"/>
                  <a:gd name="T4" fmla="*/ 35 w 149"/>
                  <a:gd name="T5" fmla="*/ 41 h 704"/>
                  <a:gd name="T6" fmla="*/ 62 w 149"/>
                  <a:gd name="T7" fmla="*/ 70 h 704"/>
                  <a:gd name="T8" fmla="*/ 91 w 149"/>
                  <a:gd name="T9" fmla="*/ 108 h 704"/>
                  <a:gd name="T10" fmla="*/ 128 w 149"/>
                  <a:gd name="T11" fmla="*/ 155 h 704"/>
                  <a:gd name="T12" fmla="*/ 162 w 149"/>
                  <a:gd name="T13" fmla="*/ 205 h 704"/>
                  <a:gd name="T14" fmla="*/ 195 w 149"/>
                  <a:gd name="T15" fmla="*/ 263 h 704"/>
                  <a:gd name="T16" fmla="*/ 221 w 149"/>
                  <a:gd name="T17" fmla="*/ 330 h 704"/>
                  <a:gd name="T18" fmla="*/ 248 w 149"/>
                  <a:gd name="T19" fmla="*/ 401 h 704"/>
                  <a:gd name="T20" fmla="*/ 266 w 149"/>
                  <a:gd name="T21" fmla="*/ 483 h 704"/>
                  <a:gd name="T22" fmla="*/ 275 w 149"/>
                  <a:gd name="T23" fmla="*/ 573 h 704"/>
                  <a:gd name="T24" fmla="*/ 279 w 149"/>
                  <a:gd name="T25" fmla="*/ 667 h 704"/>
                  <a:gd name="T26" fmla="*/ 266 w 149"/>
                  <a:gd name="T27" fmla="*/ 772 h 704"/>
                  <a:gd name="T28" fmla="*/ 241 w 149"/>
                  <a:gd name="T29" fmla="*/ 883 h 704"/>
                  <a:gd name="T30" fmla="*/ 204 w 149"/>
                  <a:gd name="T31" fmla="*/ 1000 h 704"/>
                  <a:gd name="T32" fmla="*/ 148 w 149"/>
                  <a:gd name="T33" fmla="*/ 1129 h 704"/>
                  <a:gd name="T34" fmla="*/ 86 w 149"/>
                  <a:gd name="T35" fmla="*/ 1275 h 704"/>
                  <a:gd name="T36" fmla="*/ 47 w 149"/>
                  <a:gd name="T37" fmla="*/ 1410 h 704"/>
                  <a:gd name="T38" fmla="*/ 22 w 149"/>
                  <a:gd name="T39" fmla="*/ 1535 h 704"/>
                  <a:gd name="T40" fmla="*/ 13 w 149"/>
                  <a:gd name="T41" fmla="*/ 1655 h 704"/>
                  <a:gd name="T42" fmla="*/ 13 w 149"/>
                  <a:gd name="T43" fmla="*/ 1769 h 704"/>
                  <a:gd name="T44" fmla="*/ 18 w 149"/>
                  <a:gd name="T45" fmla="*/ 1875 h 704"/>
                  <a:gd name="T46" fmla="*/ 27 w 149"/>
                  <a:gd name="T47" fmla="*/ 1968 h 704"/>
                  <a:gd name="T48" fmla="*/ 31 w 149"/>
                  <a:gd name="T49" fmla="*/ 2059 h 704"/>
                  <a:gd name="T50" fmla="*/ 91 w 149"/>
                  <a:gd name="T51" fmla="*/ 2012 h 704"/>
                  <a:gd name="T52" fmla="*/ 86 w 149"/>
                  <a:gd name="T53" fmla="*/ 1989 h 704"/>
                  <a:gd name="T54" fmla="*/ 80 w 149"/>
                  <a:gd name="T55" fmla="*/ 1922 h 704"/>
                  <a:gd name="T56" fmla="*/ 73 w 149"/>
                  <a:gd name="T57" fmla="*/ 1819 h 704"/>
                  <a:gd name="T58" fmla="*/ 78 w 149"/>
                  <a:gd name="T59" fmla="*/ 1682 h 704"/>
                  <a:gd name="T60" fmla="*/ 91 w 149"/>
                  <a:gd name="T61" fmla="*/ 1518 h 704"/>
                  <a:gd name="T62" fmla="*/ 128 w 149"/>
                  <a:gd name="T63" fmla="*/ 1331 h 704"/>
                  <a:gd name="T64" fmla="*/ 190 w 149"/>
                  <a:gd name="T65" fmla="*/ 1129 h 704"/>
                  <a:gd name="T66" fmla="*/ 286 w 149"/>
                  <a:gd name="T67" fmla="*/ 915 h 704"/>
                  <a:gd name="T68" fmla="*/ 317 w 149"/>
                  <a:gd name="T69" fmla="*/ 816 h 704"/>
                  <a:gd name="T70" fmla="*/ 330 w 149"/>
                  <a:gd name="T71" fmla="*/ 687 h 704"/>
                  <a:gd name="T72" fmla="*/ 319 w 149"/>
                  <a:gd name="T73" fmla="*/ 538 h 704"/>
                  <a:gd name="T74" fmla="*/ 290 w 149"/>
                  <a:gd name="T75" fmla="*/ 392 h 704"/>
                  <a:gd name="T76" fmla="*/ 241 w 149"/>
                  <a:gd name="T77" fmla="*/ 249 h 704"/>
                  <a:gd name="T78" fmla="*/ 179 w 149"/>
                  <a:gd name="T79" fmla="*/ 129 h 704"/>
                  <a:gd name="T80" fmla="*/ 97 w 149"/>
                  <a:gd name="T81" fmla="*/ 41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6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237 w 128"/>
                <a:gd name="T1" fmla="*/ 0 h 217"/>
                <a:gd name="T2" fmla="*/ 265 w 128"/>
                <a:gd name="T3" fmla="*/ 27 h 217"/>
                <a:gd name="T4" fmla="*/ 290 w 128"/>
                <a:gd name="T5" fmla="*/ 81 h 217"/>
                <a:gd name="T6" fmla="*/ 310 w 128"/>
                <a:gd name="T7" fmla="*/ 150 h 217"/>
                <a:gd name="T8" fmla="*/ 323 w 128"/>
                <a:gd name="T9" fmla="*/ 233 h 217"/>
                <a:gd name="T10" fmla="*/ 320 w 128"/>
                <a:gd name="T11" fmla="*/ 332 h 217"/>
                <a:gd name="T12" fmla="*/ 293 w 128"/>
                <a:gd name="T13" fmla="*/ 434 h 217"/>
                <a:gd name="T14" fmla="*/ 237 w 128"/>
                <a:gd name="T15" fmla="*/ 541 h 217"/>
                <a:gd name="T16" fmla="*/ 151 w 128"/>
                <a:gd name="T17" fmla="*/ 649 h 217"/>
                <a:gd name="T18" fmla="*/ 124 w 128"/>
                <a:gd name="T19" fmla="*/ 637 h 217"/>
                <a:gd name="T20" fmla="*/ 96 w 128"/>
                <a:gd name="T21" fmla="*/ 628 h 217"/>
                <a:gd name="T22" fmla="*/ 66 w 128"/>
                <a:gd name="T23" fmla="*/ 613 h 217"/>
                <a:gd name="T24" fmla="*/ 40 w 128"/>
                <a:gd name="T25" fmla="*/ 601 h 217"/>
                <a:gd name="T26" fmla="*/ 20 w 128"/>
                <a:gd name="T27" fmla="*/ 586 h 217"/>
                <a:gd name="T28" fmla="*/ 5 w 128"/>
                <a:gd name="T29" fmla="*/ 568 h 217"/>
                <a:gd name="T30" fmla="*/ 0 w 128"/>
                <a:gd name="T31" fmla="*/ 547 h 217"/>
                <a:gd name="T32" fmla="*/ 3 w 128"/>
                <a:gd name="T33" fmla="*/ 532 h 217"/>
                <a:gd name="T34" fmla="*/ 33 w 128"/>
                <a:gd name="T35" fmla="*/ 511 h 217"/>
                <a:gd name="T36" fmla="*/ 73 w 128"/>
                <a:gd name="T37" fmla="*/ 482 h 217"/>
                <a:gd name="T38" fmla="*/ 116 w 128"/>
                <a:gd name="T39" fmla="*/ 449 h 217"/>
                <a:gd name="T40" fmla="*/ 159 w 128"/>
                <a:gd name="T41" fmla="*/ 401 h 217"/>
                <a:gd name="T42" fmla="*/ 199 w 128"/>
                <a:gd name="T43" fmla="*/ 335 h 217"/>
                <a:gd name="T44" fmla="*/ 230 w 128"/>
                <a:gd name="T45" fmla="*/ 248 h 217"/>
                <a:gd name="T46" fmla="*/ 245 w 128"/>
                <a:gd name="T47" fmla="*/ 138 h 217"/>
                <a:gd name="T48" fmla="*/ 237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227 w 117"/>
                <a:gd name="T1" fmla="*/ 0 h 132"/>
                <a:gd name="T2" fmla="*/ 0 w 117"/>
                <a:gd name="T3" fmla="*/ 88 h 132"/>
                <a:gd name="T4" fmla="*/ 9 w 117"/>
                <a:gd name="T5" fmla="*/ 91 h 132"/>
                <a:gd name="T6" fmla="*/ 42 w 117"/>
                <a:gd name="T7" fmla="*/ 102 h 132"/>
                <a:gd name="T8" fmla="*/ 88 w 117"/>
                <a:gd name="T9" fmla="*/ 127 h 132"/>
                <a:gd name="T10" fmla="*/ 139 w 117"/>
                <a:gd name="T11" fmla="*/ 165 h 132"/>
                <a:gd name="T12" fmla="*/ 200 w 117"/>
                <a:gd name="T13" fmla="*/ 218 h 132"/>
                <a:gd name="T14" fmla="*/ 254 w 117"/>
                <a:gd name="T15" fmla="*/ 281 h 132"/>
                <a:gd name="T16" fmla="*/ 309 w 117"/>
                <a:gd name="T17" fmla="*/ 362 h 132"/>
                <a:gd name="T18" fmla="*/ 351 w 117"/>
                <a:gd name="T19" fmla="*/ 464 h 132"/>
                <a:gd name="T20" fmla="*/ 354 w 117"/>
                <a:gd name="T21" fmla="*/ 422 h 132"/>
                <a:gd name="T22" fmla="*/ 348 w 117"/>
                <a:gd name="T23" fmla="*/ 376 h 132"/>
                <a:gd name="T24" fmla="*/ 327 w 117"/>
                <a:gd name="T25" fmla="*/ 316 h 132"/>
                <a:gd name="T26" fmla="*/ 300 w 117"/>
                <a:gd name="T27" fmla="*/ 260 h 132"/>
                <a:gd name="T28" fmla="*/ 269 w 117"/>
                <a:gd name="T29" fmla="*/ 204 h 132"/>
                <a:gd name="T30" fmla="*/ 236 w 117"/>
                <a:gd name="T31" fmla="*/ 158 h 132"/>
                <a:gd name="T32" fmla="*/ 203 w 117"/>
                <a:gd name="T33" fmla="*/ 127 h 132"/>
                <a:gd name="T34" fmla="*/ 175 w 117"/>
                <a:gd name="T35" fmla="*/ 112 h 132"/>
                <a:gd name="T36" fmla="*/ 209 w 117"/>
                <a:gd name="T37" fmla="*/ 102 h 132"/>
                <a:gd name="T38" fmla="*/ 239 w 117"/>
                <a:gd name="T39" fmla="*/ 98 h 132"/>
                <a:gd name="T40" fmla="*/ 269 w 117"/>
                <a:gd name="T41" fmla="*/ 91 h 132"/>
                <a:gd name="T42" fmla="*/ 297 w 117"/>
                <a:gd name="T43" fmla="*/ 88 h 132"/>
                <a:gd name="T44" fmla="*/ 318 w 117"/>
                <a:gd name="T45" fmla="*/ 84 h 132"/>
                <a:gd name="T46" fmla="*/ 330 w 117"/>
                <a:gd name="T47" fmla="*/ 77 h 132"/>
                <a:gd name="T48" fmla="*/ 342 w 117"/>
                <a:gd name="T49" fmla="*/ 74 h 132"/>
                <a:gd name="T50" fmla="*/ 345 w 117"/>
                <a:gd name="T51" fmla="*/ 74 h 132"/>
                <a:gd name="T52" fmla="*/ 227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87 w 29"/>
                <a:gd name="T1" fmla="*/ 0 h 77"/>
                <a:gd name="T2" fmla="*/ 69 w 29"/>
                <a:gd name="T3" fmla="*/ 0 h 77"/>
                <a:gd name="T4" fmla="*/ 48 w 29"/>
                <a:gd name="T5" fmla="*/ 14 h 77"/>
                <a:gd name="T6" fmla="*/ 27 w 29"/>
                <a:gd name="T7" fmla="*/ 32 h 77"/>
                <a:gd name="T8" fmla="*/ 12 w 29"/>
                <a:gd name="T9" fmla="*/ 68 h 77"/>
                <a:gd name="T10" fmla="*/ 3 w 29"/>
                <a:gd name="T11" fmla="*/ 107 h 77"/>
                <a:gd name="T12" fmla="*/ 0 w 29"/>
                <a:gd name="T13" fmla="*/ 157 h 77"/>
                <a:gd name="T14" fmla="*/ 9 w 29"/>
                <a:gd name="T15" fmla="*/ 214 h 77"/>
                <a:gd name="T16" fmla="*/ 33 w 29"/>
                <a:gd name="T17" fmla="*/ 274 h 77"/>
                <a:gd name="T18" fmla="*/ 45 w 29"/>
                <a:gd name="T19" fmla="*/ 189 h 77"/>
                <a:gd name="T20" fmla="*/ 57 w 29"/>
                <a:gd name="T21" fmla="*/ 132 h 77"/>
                <a:gd name="T22" fmla="*/ 69 w 29"/>
                <a:gd name="T23" fmla="*/ 78 h 77"/>
                <a:gd name="T24" fmla="*/ 87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2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6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3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4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5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4" name="Group 25"/>
            <p:cNvGrpSpPr>
              <a:grpSpLocks/>
            </p:cNvGrpSpPr>
            <p:nvPr userDrawn="1"/>
          </p:nvGrpSpPr>
          <p:grpSpPr bwMode="auto">
            <a:xfrm rot="852484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0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1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2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5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27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8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9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6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24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5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6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17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63 h 237"/>
                <a:gd name="T4" fmla="*/ 8 w 257"/>
                <a:gd name="T5" fmla="*/ 125 h 237"/>
                <a:gd name="T6" fmla="*/ 16 w 257"/>
                <a:gd name="T7" fmla="*/ 188 h 237"/>
                <a:gd name="T8" fmla="*/ 29 w 257"/>
                <a:gd name="T9" fmla="*/ 245 h 237"/>
                <a:gd name="T10" fmla="*/ 48 w 257"/>
                <a:gd name="T11" fmla="*/ 298 h 237"/>
                <a:gd name="T12" fmla="*/ 72 w 257"/>
                <a:gd name="T13" fmla="*/ 353 h 237"/>
                <a:gd name="T14" fmla="*/ 101 w 257"/>
                <a:gd name="T15" fmla="*/ 403 h 237"/>
                <a:gd name="T16" fmla="*/ 135 w 257"/>
                <a:gd name="T17" fmla="*/ 445 h 237"/>
                <a:gd name="T18" fmla="*/ 178 w 257"/>
                <a:gd name="T19" fmla="*/ 485 h 237"/>
                <a:gd name="T20" fmla="*/ 228 w 257"/>
                <a:gd name="T21" fmla="*/ 520 h 237"/>
                <a:gd name="T22" fmla="*/ 281 w 257"/>
                <a:gd name="T23" fmla="*/ 548 h 237"/>
                <a:gd name="T24" fmla="*/ 347 w 257"/>
                <a:gd name="T25" fmla="*/ 570 h 237"/>
                <a:gd name="T26" fmla="*/ 419 w 257"/>
                <a:gd name="T27" fmla="*/ 585 h 237"/>
                <a:gd name="T28" fmla="*/ 498 w 257"/>
                <a:gd name="T29" fmla="*/ 593 h 237"/>
                <a:gd name="T30" fmla="*/ 583 w 257"/>
                <a:gd name="T31" fmla="*/ 590 h 237"/>
                <a:gd name="T32" fmla="*/ 681 w 257"/>
                <a:gd name="T33" fmla="*/ 580 h 237"/>
                <a:gd name="T34" fmla="*/ 594 w 257"/>
                <a:gd name="T35" fmla="*/ 568 h 237"/>
                <a:gd name="T36" fmla="*/ 517 w 257"/>
                <a:gd name="T37" fmla="*/ 550 h 237"/>
                <a:gd name="T38" fmla="*/ 450 w 257"/>
                <a:gd name="T39" fmla="*/ 530 h 237"/>
                <a:gd name="T40" fmla="*/ 392 w 257"/>
                <a:gd name="T41" fmla="*/ 510 h 237"/>
                <a:gd name="T42" fmla="*/ 339 w 257"/>
                <a:gd name="T43" fmla="*/ 483 h 237"/>
                <a:gd name="T44" fmla="*/ 297 w 257"/>
                <a:gd name="T45" fmla="*/ 455 h 237"/>
                <a:gd name="T46" fmla="*/ 257 w 257"/>
                <a:gd name="T47" fmla="*/ 423 h 237"/>
                <a:gd name="T48" fmla="*/ 223 w 257"/>
                <a:gd name="T49" fmla="*/ 388 h 237"/>
                <a:gd name="T50" fmla="*/ 191 w 257"/>
                <a:gd name="T51" fmla="*/ 353 h 237"/>
                <a:gd name="T52" fmla="*/ 162 w 257"/>
                <a:gd name="T53" fmla="*/ 313 h 237"/>
                <a:gd name="T54" fmla="*/ 138 w 257"/>
                <a:gd name="T55" fmla="*/ 268 h 237"/>
                <a:gd name="T56" fmla="*/ 114 w 257"/>
                <a:gd name="T57" fmla="*/ 220 h 237"/>
                <a:gd name="T58" fmla="*/ 87 w 257"/>
                <a:gd name="T59" fmla="*/ 173 h 237"/>
                <a:gd name="T60" fmla="*/ 61 w 257"/>
                <a:gd name="T61" fmla="*/ 118 h 237"/>
                <a:gd name="T62" fmla="*/ 32 w 257"/>
                <a:gd name="T63" fmla="*/ 60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205 w 124"/>
                <a:gd name="T1" fmla="*/ 0 h 110"/>
                <a:gd name="T2" fmla="*/ 330 w 124"/>
                <a:gd name="T3" fmla="*/ 273 h 110"/>
                <a:gd name="T4" fmla="*/ 319 w 124"/>
                <a:gd name="T5" fmla="*/ 270 h 110"/>
                <a:gd name="T6" fmla="*/ 285 w 124"/>
                <a:gd name="T7" fmla="*/ 265 h 110"/>
                <a:gd name="T8" fmla="*/ 237 w 124"/>
                <a:gd name="T9" fmla="*/ 255 h 110"/>
                <a:gd name="T10" fmla="*/ 181 w 124"/>
                <a:gd name="T11" fmla="*/ 250 h 110"/>
                <a:gd name="T12" fmla="*/ 120 w 124"/>
                <a:gd name="T13" fmla="*/ 245 h 110"/>
                <a:gd name="T14" fmla="*/ 67 w 124"/>
                <a:gd name="T15" fmla="*/ 248 h 110"/>
                <a:gd name="T16" fmla="*/ 24 w 124"/>
                <a:gd name="T17" fmla="*/ 258 h 110"/>
                <a:gd name="T18" fmla="*/ 0 w 124"/>
                <a:gd name="T19" fmla="*/ 278 h 110"/>
                <a:gd name="T20" fmla="*/ 11 w 124"/>
                <a:gd name="T21" fmla="*/ 248 h 110"/>
                <a:gd name="T22" fmla="*/ 21 w 124"/>
                <a:gd name="T23" fmla="*/ 225 h 110"/>
                <a:gd name="T24" fmla="*/ 43 w 124"/>
                <a:gd name="T25" fmla="*/ 207 h 110"/>
                <a:gd name="T26" fmla="*/ 67 w 124"/>
                <a:gd name="T27" fmla="*/ 192 h 110"/>
                <a:gd name="T28" fmla="*/ 96 w 124"/>
                <a:gd name="T29" fmla="*/ 182 h 110"/>
                <a:gd name="T30" fmla="*/ 125 w 124"/>
                <a:gd name="T31" fmla="*/ 179 h 110"/>
                <a:gd name="T32" fmla="*/ 157 w 124"/>
                <a:gd name="T33" fmla="*/ 179 h 110"/>
                <a:gd name="T34" fmla="*/ 192 w 124"/>
                <a:gd name="T35" fmla="*/ 187 h 110"/>
                <a:gd name="T36" fmla="*/ 194 w 124"/>
                <a:gd name="T37" fmla="*/ 179 h 110"/>
                <a:gd name="T38" fmla="*/ 186 w 124"/>
                <a:gd name="T39" fmla="*/ 142 h 110"/>
                <a:gd name="T40" fmla="*/ 178 w 124"/>
                <a:gd name="T41" fmla="*/ 96 h 110"/>
                <a:gd name="T42" fmla="*/ 173 w 124"/>
                <a:gd name="T43" fmla="*/ 76 h 110"/>
                <a:gd name="T44" fmla="*/ 168 w 124"/>
                <a:gd name="T45" fmla="*/ 76 h 110"/>
                <a:gd name="T46" fmla="*/ 162 w 124"/>
                <a:gd name="T47" fmla="*/ 73 h 110"/>
                <a:gd name="T48" fmla="*/ 157 w 124"/>
                <a:gd name="T49" fmla="*/ 66 h 110"/>
                <a:gd name="T50" fmla="*/ 152 w 124"/>
                <a:gd name="T51" fmla="*/ 58 h 110"/>
                <a:gd name="T52" fmla="*/ 152 w 124"/>
                <a:gd name="T53" fmla="*/ 48 h 110"/>
                <a:gd name="T54" fmla="*/ 157 w 124"/>
                <a:gd name="T55" fmla="*/ 35 h 110"/>
                <a:gd name="T56" fmla="*/ 176 w 124"/>
                <a:gd name="T57" fmla="*/ 20 h 110"/>
                <a:gd name="T58" fmla="*/ 205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83 w 46"/>
                <a:gd name="T1" fmla="*/ 0 h 94"/>
                <a:gd name="T2" fmla="*/ 53 w 46"/>
                <a:gd name="T3" fmla="*/ 94 h 94"/>
                <a:gd name="T4" fmla="*/ 40 w 46"/>
                <a:gd name="T5" fmla="*/ 154 h 94"/>
                <a:gd name="T6" fmla="*/ 29 w 46"/>
                <a:gd name="T7" fmla="*/ 196 h 94"/>
                <a:gd name="T8" fmla="*/ 0 w 46"/>
                <a:gd name="T9" fmla="*/ 233 h 94"/>
                <a:gd name="T10" fmla="*/ 32 w 46"/>
                <a:gd name="T11" fmla="*/ 218 h 94"/>
                <a:gd name="T12" fmla="*/ 62 w 46"/>
                <a:gd name="T13" fmla="*/ 198 h 94"/>
                <a:gd name="T14" fmla="*/ 86 w 46"/>
                <a:gd name="T15" fmla="*/ 171 h 94"/>
                <a:gd name="T16" fmla="*/ 107 w 46"/>
                <a:gd name="T17" fmla="*/ 141 h 94"/>
                <a:gd name="T18" fmla="*/ 120 w 46"/>
                <a:gd name="T19" fmla="*/ 109 h 94"/>
                <a:gd name="T20" fmla="*/ 123 w 46"/>
                <a:gd name="T21" fmla="*/ 74 h 94"/>
                <a:gd name="T22" fmla="*/ 112 w 46"/>
                <a:gd name="T23" fmla="*/ 37 h 94"/>
                <a:gd name="T24" fmla="*/ 83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2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16 w 149"/>
                <a:gd name="T3" fmla="*/ 20 h 704"/>
                <a:gd name="T4" fmla="*/ 42 w 149"/>
                <a:gd name="T5" fmla="*/ 46 h 704"/>
                <a:gd name="T6" fmla="*/ 74 w 149"/>
                <a:gd name="T7" fmla="*/ 78 h 704"/>
                <a:gd name="T8" fmla="*/ 108 w 149"/>
                <a:gd name="T9" fmla="*/ 121 h 704"/>
                <a:gd name="T10" fmla="*/ 153 w 149"/>
                <a:gd name="T11" fmla="*/ 173 h 704"/>
                <a:gd name="T12" fmla="*/ 193 w 149"/>
                <a:gd name="T13" fmla="*/ 229 h 704"/>
                <a:gd name="T14" fmla="*/ 232 w 149"/>
                <a:gd name="T15" fmla="*/ 294 h 704"/>
                <a:gd name="T16" fmla="*/ 264 w 149"/>
                <a:gd name="T17" fmla="*/ 369 h 704"/>
                <a:gd name="T18" fmla="*/ 295 w 149"/>
                <a:gd name="T19" fmla="*/ 448 h 704"/>
                <a:gd name="T20" fmla="*/ 317 w 149"/>
                <a:gd name="T21" fmla="*/ 539 h 704"/>
                <a:gd name="T22" fmla="*/ 327 w 149"/>
                <a:gd name="T23" fmla="*/ 640 h 704"/>
                <a:gd name="T24" fmla="*/ 332 w 149"/>
                <a:gd name="T25" fmla="*/ 745 h 704"/>
                <a:gd name="T26" fmla="*/ 317 w 149"/>
                <a:gd name="T27" fmla="*/ 863 h 704"/>
                <a:gd name="T28" fmla="*/ 287 w 149"/>
                <a:gd name="T29" fmla="*/ 987 h 704"/>
                <a:gd name="T30" fmla="*/ 243 w 149"/>
                <a:gd name="T31" fmla="*/ 1117 h 704"/>
                <a:gd name="T32" fmla="*/ 177 w 149"/>
                <a:gd name="T33" fmla="*/ 1261 h 704"/>
                <a:gd name="T34" fmla="*/ 103 w 149"/>
                <a:gd name="T35" fmla="*/ 1424 h 704"/>
                <a:gd name="T36" fmla="*/ 55 w 149"/>
                <a:gd name="T37" fmla="*/ 1575 h 704"/>
                <a:gd name="T38" fmla="*/ 26 w 149"/>
                <a:gd name="T39" fmla="*/ 1715 h 704"/>
                <a:gd name="T40" fmla="*/ 16 w 149"/>
                <a:gd name="T41" fmla="*/ 1849 h 704"/>
                <a:gd name="T42" fmla="*/ 16 w 149"/>
                <a:gd name="T43" fmla="*/ 1977 h 704"/>
                <a:gd name="T44" fmla="*/ 21 w 149"/>
                <a:gd name="T45" fmla="*/ 2094 h 704"/>
                <a:gd name="T46" fmla="*/ 32 w 149"/>
                <a:gd name="T47" fmla="*/ 2199 h 704"/>
                <a:gd name="T48" fmla="*/ 37 w 149"/>
                <a:gd name="T49" fmla="*/ 2300 h 704"/>
                <a:gd name="T50" fmla="*/ 108 w 149"/>
                <a:gd name="T51" fmla="*/ 2248 h 704"/>
                <a:gd name="T52" fmla="*/ 103 w 149"/>
                <a:gd name="T53" fmla="*/ 2222 h 704"/>
                <a:gd name="T54" fmla="*/ 95 w 149"/>
                <a:gd name="T55" fmla="*/ 2146 h 704"/>
                <a:gd name="T56" fmla="*/ 87 w 149"/>
                <a:gd name="T57" fmla="*/ 2032 h 704"/>
                <a:gd name="T58" fmla="*/ 92 w 149"/>
                <a:gd name="T59" fmla="*/ 1879 h 704"/>
                <a:gd name="T60" fmla="*/ 108 w 149"/>
                <a:gd name="T61" fmla="*/ 1696 h 704"/>
                <a:gd name="T62" fmla="*/ 153 w 149"/>
                <a:gd name="T63" fmla="*/ 1487 h 704"/>
                <a:gd name="T64" fmla="*/ 227 w 149"/>
                <a:gd name="T65" fmla="*/ 1261 h 704"/>
                <a:gd name="T66" fmla="*/ 340 w 149"/>
                <a:gd name="T67" fmla="*/ 1023 h 704"/>
                <a:gd name="T68" fmla="*/ 377 w 149"/>
                <a:gd name="T69" fmla="*/ 912 h 704"/>
                <a:gd name="T70" fmla="*/ 393 w 149"/>
                <a:gd name="T71" fmla="*/ 768 h 704"/>
                <a:gd name="T72" fmla="*/ 380 w 149"/>
                <a:gd name="T73" fmla="*/ 601 h 704"/>
                <a:gd name="T74" fmla="*/ 346 w 149"/>
                <a:gd name="T75" fmla="*/ 438 h 704"/>
                <a:gd name="T76" fmla="*/ 287 w 149"/>
                <a:gd name="T77" fmla="*/ 278 h 704"/>
                <a:gd name="T78" fmla="*/ 214 w 149"/>
                <a:gd name="T79" fmla="*/ 144 h 704"/>
                <a:gd name="T80" fmla="*/ 116 w 149"/>
                <a:gd name="T81" fmla="*/ 46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3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ED7657-FFA5-4878-8CE4-2B13FE9AE6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3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BF705-55ED-4BAA-8157-39CF59BD89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6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A312F-7CED-4514-8AC7-D264900A1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3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23B91-8CBC-4798-A89F-4C6DD00666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1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421FB-9D36-4A60-8F57-3FED26516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5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45B03-7651-4D49-950A-2F94994D1E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F31058-579F-4BD1-A1FC-D9A5758899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9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54AA7-8E3D-4D78-9976-E105323B0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Z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2D992-3620-4085-812C-3C9378E87A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CAF49-0022-4072-9F48-E89CD36C96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9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CF278-0C44-4AB4-B339-700EB129F8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45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456113"/>
          </a:xfrm>
        </p:spPr>
        <p:txBody>
          <a:bodyPr/>
          <a:lstStyle/>
          <a:p>
            <a:pPr lvl="0"/>
            <a:endParaRPr lang="en-ZA" noProof="0" smtClean="0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1184A-A915-48BE-9259-60655E0E2F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46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D40BE-A57C-4A16-A35D-994DFB5D8F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70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1032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1071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72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73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1034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1062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66 w 217"/>
                  <a:gd name="T1" fmla="*/ 303 h 210"/>
                  <a:gd name="T2" fmla="*/ 53 w 217"/>
                  <a:gd name="T3" fmla="*/ 286 h 210"/>
                  <a:gd name="T4" fmla="*/ 38 w 217"/>
                  <a:gd name="T5" fmla="*/ 261 h 210"/>
                  <a:gd name="T6" fmla="*/ 22 w 217"/>
                  <a:gd name="T7" fmla="*/ 229 h 210"/>
                  <a:gd name="T8" fmla="*/ 7 w 217"/>
                  <a:gd name="T9" fmla="*/ 195 h 210"/>
                  <a:gd name="T10" fmla="*/ 0 w 217"/>
                  <a:gd name="T11" fmla="*/ 157 h 210"/>
                  <a:gd name="T12" fmla="*/ 1 w 217"/>
                  <a:gd name="T13" fmla="*/ 118 h 210"/>
                  <a:gd name="T14" fmla="*/ 13 w 217"/>
                  <a:gd name="T15" fmla="*/ 82 h 210"/>
                  <a:gd name="T16" fmla="*/ 39 w 217"/>
                  <a:gd name="T17" fmla="*/ 51 h 210"/>
                  <a:gd name="T18" fmla="*/ 65 w 217"/>
                  <a:gd name="T19" fmla="*/ 32 h 210"/>
                  <a:gd name="T20" fmla="*/ 87 w 217"/>
                  <a:gd name="T21" fmla="*/ 17 h 210"/>
                  <a:gd name="T22" fmla="*/ 104 w 217"/>
                  <a:gd name="T23" fmla="*/ 10 h 210"/>
                  <a:gd name="T24" fmla="*/ 117 w 217"/>
                  <a:gd name="T25" fmla="*/ 7 h 210"/>
                  <a:gd name="T26" fmla="*/ 127 w 217"/>
                  <a:gd name="T27" fmla="*/ 7 h 210"/>
                  <a:gd name="T28" fmla="*/ 150 w 217"/>
                  <a:gd name="T29" fmla="*/ 0 h 210"/>
                  <a:gd name="T30" fmla="*/ 213 w 217"/>
                  <a:gd name="T31" fmla="*/ 12 h 210"/>
                  <a:gd name="T32" fmla="*/ 231 w 217"/>
                  <a:gd name="T33" fmla="*/ 17 h 210"/>
                  <a:gd name="T34" fmla="*/ 248 w 217"/>
                  <a:gd name="T35" fmla="*/ 22 h 210"/>
                  <a:gd name="T36" fmla="*/ 263 w 217"/>
                  <a:gd name="T37" fmla="*/ 27 h 210"/>
                  <a:gd name="T38" fmla="*/ 274 w 217"/>
                  <a:gd name="T39" fmla="*/ 33 h 210"/>
                  <a:gd name="T40" fmla="*/ 286 w 217"/>
                  <a:gd name="T41" fmla="*/ 39 h 210"/>
                  <a:gd name="T42" fmla="*/ 296 w 217"/>
                  <a:gd name="T43" fmla="*/ 46 h 210"/>
                  <a:gd name="T44" fmla="*/ 304 w 217"/>
                  <a:gd name="T45" fmla="*/ 55 h 210"/>
                  <a:gd name="T46" fmla="*/ 313 w 217"/>
                  <a:gd name="T47" fmla="*/ 65 h 210"/>
                  <a:gd name="T48" fmla="*/ 296 w 217"/>
                  <a:gd name="T49" fmla="*/ 58 h 210"/>
                  <a:gd name="T50" fmla="*/ 280 w 217"/>
                  <a:gd name="T51" fmla="*/ 52 h 210"/>
                  <a:gd name="T52" fmla="*/ 264 w 217"/>
                  <a:gd name="T53" fmla="*/ 48 h 210"/>
                  <a:gd name="T54" fmla="*/ 248 w 217"/>
                  <a:gd name="T55" fmla="*/ 43 h 210"/>
                  <a:gd name="T56" fmla="*/ 235 w 217"/>
                  <a:gd name="T57" fmla="*/ 39 h 210"/>
                  <a:gd name="T58" fmla="*/ 221 w 217"/>
                  <a:gd name="T59" fmla="*/ 38 h 210"/>
                  <a:gd name="T60" fmla="*/ 206 w 217"/>
                  <a:gd name="T61" fmla="*/ 35 h 210"/>
                  <a:gd name="T62" fmla="*/ 193 w 217"/>
                  <a:gd name="T63" fmla="*/ 35 h 210"/>
                  <a:gd name="T64" fmla="*/ 180 w 217"/>
                  <a:gd name="T65" fmla="*/ 35 h 210"/>
                  <a:gd name="T66" fmla="*/ 167 w 217"/>
                  <a:gd name="T67" fmla="*/ 36 h 210"/>
                  <a:gd name="T68" fmla="*/ 154 w 217"/>
                  <a:gd name="T69" fmla="*/ 39 h 210"/>
                  <a:gd name="T70" fmla="*/ 143 w 217"/>
                  <a:gd name="T71" fmla="*/ 42 h 210"/>
                  <a:gd name="T72" fmla="*/ 131 w 217"/>
                  <a:gd name="T73" fmla="*/ 48 h 210"/>
                  <a:gd name="T74" fmla="*/ 118 w 217"/>
                  <a:gd name="T75" fmla="*/ 52 h 210"/>
                  <a:gd name="T76" fmla="*/ 107 w 217"/>
                  <a:gd name="T77" fmla="*/ 59 h 210"/>
                  <a:gd name="T78" fmla="*/ 95 w 217"/>
                  <a:gd name="T79" fmla="*/ 66 h 210"/>
                  <a:gd name="T80" fmla="*/ 75 w 217"/>
                  <a:gd name="T81" fmla="*/ 88 h 210"/>
                  <a:gd name="T82" fmla="*/ 61 w 217"/>
                  <a:gd name="T83" fmla="*/ 115 h 210"/>
                  <a:gd name="T84" fmla="*/ 53 w 217"/>
                  <a:gd name="T85" fmla="*/ 149 h 210"/>
                  <a:gd name="T86" fmla="*/ 50 w 217"/>
                  <a:gd name="T87" fmla="*/ 182 h 210"/>
                  <a:gd name="T88" fmla="*/ 50 w 217"/>
                  <a:gd name="T89" fmla="*/ 218 h 210"/>
                  <a:gd name="T90" fmla="*/ 55 w 217"/>
                  <a:gd name="T91" fmla="*/ 251 h 210"/>
                  <a:gd name="T92" fmla="*/ 59 w 217"/>
                  <a:gd name="T93" fmla="*/ 280 h 210"/>
                  <a:gd name="T94" fmla="*/ 66 w 217"/>
                  <a:gd name="T95" fmla="*/ 303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63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57 w 182"/>
                  <a:gd name="T1" fmla="*/ 0 h 213"/>
                  <a:gd name="T2" fmla="*/ 161 w 182"/>
                  <a:gd name="T3" fmla="*/ 3 h 213"/>
                  <a:gd name="T4" fmla="*/ 170 w 182"/>
                  <a:gd name="T5" fmla="*/ 12 h 213"/>
                  <a:gd name="T6" fmla="*/ 183 w 182"/>
                  <a:gd name="T7" fmla="*/ 26 h 213"/>
                  <a:gd name="T8" fmla="*/ 197 w 182"/>
                  <a:gd name="T9" fmla="*/ 48 h 213"/>
                  <a:gd name="T10" fmla="*/ 209 w 182"/>
                  <a:gd name="T11" fmla="*/ 75 h 213"/>
                  <a:gd name="T12" fmla="*/ 216 w 182"/>
                  <a:gd name="T13" fmla="*/ 110 h 213"/>
                  <a:gd name="T14" fmla="*/ 216 w 182"/>
                  <a:gd name="T15" fmla="*/ 152 h 213"/>
                  <a:gd name="T16" fmla="*/ 207 w 182"/>
                  <a:gd name="T17" fmla="*/ 201 h 213"/>
                  <a:gd name="T18" fmla="*/ 202 w 182"/>
                  <a:gd name="T19" fmla="*/ 215 h 213"/>
                  <a:gd name="T20" fmla="*/ 196 w 182"/>
                  <a:gd name="T21" fmla="*/ 227 h 213"/>
                  <a:gd name="T22" fmla="*/ 189 w 182"/>
                  <a:gd name="T23" fmla="*/ 239 h 213"/>
                  <a:gd name="T24" fmla="*/ 180 w 182"/>
                  <a:gd name="T25" fmla="*/ 250 h 213"/>
                  <a:gd name="T26" fmla="*/ 168 w 182"/>
                  <a:gd name="T27" fmla="*/ 260 h 213"/>
                  <a:gd name="T28" fmla="*/ 158 w 182"/>
                  <a:gd name="T29" fmla="*/ 268 h 213"/>
                  <a:gd name="T30" fmla="*/ 147 w 182"/>
                  <a:gd name="T31" fmla="*/ 276 h 213"/>
                  <a:gd name="T32" fmla="*/ 132 w 182"/>
                  <a:gd name="T33" fmla="*/ 282 h 213"/>
                  <a:gd name="T34" fmla="*/ 118 w 182"/>
                  <a:gd name="T35" fmla="*/ 285 h 213"/>
                  <a:gd name="T36" fmla="*/ 104 w 182"/>
                  <a:gd name="T37" fmla="*/ 289 h 213"/>
                  <a:gd name="T38" fmla="*/ 88 w 182"/>
                  <a:gd name="T39" fmla="*/ 291 h 213"/>
                  <a:gd name="T40" fmla="*/ 71 w 182"/>
                  <a:gd name="T41" fmla="*/ 291 h 213"/>
                  <a:gd name="T42" fmla="*/ 53 w 182"/>
                  <a:gd name="T43" fmla="*/ 289 h 213"/>
                  <a:gd name="T44" fmla="*/ 36 w 182"/>
                  <a:gd name="T45" fmla="*/ 285 h 213"/>
                  <a:gd name="T46" fmla="*/ 17 w 182"/>
                  <a:gd name="T47" fmla="*/ 279 h 213"/>
                  <a:gd name="T48" fmla="*/ 0 w 182"/>
                  <a:gd name="T49" fmla="*/ 272 h 213"/>
                  <a:gd name="T50" fmla="*/ 16 w 182"/>
                  <a:gd name="T51" fmla="*/ 282 h 213"/>
                  <a:gd name="T52" fmla="*/ 32 w 182"/>
                  <a:gd name="T53" fmla="*/ 289 h 213"/>
                  <a:gd name="T54" fmla="*/ 48 w 182"/>
                  <a:gd name="T55" fmla="*/ 296 h 213"/>
                  <a:gd name="T56" fmla="*/ 62 w 182"/>
                  <a:gd name="T57" fmla="*/ 301 h 213"/>
                  <a:gd name="T58" fmla="*/ 76 w 182"/>
                  <a:gd name="T59" fmla="*/ 305 h 213"/>
                  <a:gd name="T60" fmla="*/ 91 w 182"/>
                  <a:gd name="T61" fmla="*/ 307 h 213"/>
                  <a:gd name="T62" fmla="*/ 105 w 182"/>
                  <a:gd name="T63" fmla="*/ 308 h 213"/>
                  <a:gd name="T64" fmla="*/ 119 w 182"/>
                  <a:gd name="T65" fmla="*/ 308 h 213"/>
                  <a:gd name="T66" fmla="*/ 131 w 182"/>
                  <a:gd name="T67" fmla="*/ 307 h 213"/>
                  <a:gd name="T68" fmla="*/ 144 w 182"/>
                  <a:gd name="T69" fmla="*/ 304 h 213"/>
                  <a:gd name="T70" fmla="*/ 155 w 182"/>
                  <a:gd name="T71" fmla="*/ 301 h 213"/>
                  <a:gd name="T72" fmla="*/ 167 w 182"/>
                  <a:gd name="T73" fmla="*/ 298 h 213"/>
                  <a:gd name="T74" fmla="*/ 177 w 182"/>
                  <a:gd name="T75" fmla="*/ 294 h 213"/>
                  <a:gd name="T76" fmla="*/ 187 w 182"/>
                  <a:gd name="T77" fmla="*/ 288 h 213"/>
                  <a:gd name="T78" fmla="*/ 196 w 182"/>
                  <a:gd name="T79" fmla="*/ 282 h 213"/>
                  <a:gd name="T80" fmla="*/ 204 w 182"/>
                  <a:gd name="T81" fmla="*/ 276 h 213"/>
                  <a:gd name="T82" fmla="*/ 227 w 182"/>
                  <a:gd name="T83" fmla="*/ 254 h 213"/>
                  <a:gd name="T84" fmla="*/ 243 w 182"/>
                  <a:gd name="T85" fmla="*/ 233 h 213"/>
                  <a:gd name="T86" fmla="*/ 253 w 182"/>
                  <a:gd name="T87" fmla="*/ 208 h 213"/>
                  <a:gd name="T88" fmla="*/ 258 w 182"/>
                  <a:gd name="T89" fmla="*/ 185 h 213"/>
                  <a:gd name="T90" fmla="*/ 261 w 182"/>
                  <a:gd name="T91" fmla="*/ 161 h 213"/>
                  <a:gd name="T92" fmla="*/ 261 w 182"/>
                  <a:gd name="T93" fmla="*/ 137 h 213"/>
                  <a:gd name="T94" fmla="*/ 262 w 182"/>
                  <a:gd name="T95" fmla="*/ 114 h 213"/>
                  <a:gd name="T96" fmla="*/ 249 w 182"/>
                  <a:gd name="T97" fmla="*/ 67 h 213"/>
                  <a:gd name="T98" fmla="*/ 225 w 182"/>
                  <a:gd name="T99" fmla="*/ 30 h 213"/>
                  <a:gd name="T100" fmla="*/ 217 w 182"/>
                  <a:gd name="T101" fmla="*/ 26 h 213"/>
                  <a:gd name="T102" fmla="*/ 212 w 182"/>
                  <a:gd name="T103" fmla="*/ 22 h 213"/>
                  <a:gd name="T104" fmla="*/ 204 w 182"/>
                  <a:gd name="T105" fmla="*/ 19 h 213"/>
                  <a:gd name="T106" fmla="*/ 199 w 182"/>
                  <a:gd name="T107" fmla="*/ 16 h 213"/>
                  <a:gd name="T108" fmla="*/ 190 w 182"/>
                  <a:gd name="T109" fmla="*/ 13 h 213"/>
                  <a:gd name="T110" fmla="*/ 181 w 182"/>
                  <a:gd name="T111" fmla="*/ 9 h 213"/>
                  <a:gd name="T112" fmla="*/ 171 w 182"/>
                  <a:gd name="T113" fmla="*/ 4 h 213"/>
                  <a:gd name="T114" fmla="*/ 157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64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68 w 128"/>
                  <a:gd name="T1" fmla="*/ 0 h 217"/>
                  <a:gd name="T2" fmla="*/ 76 w 128"/>
                  <a:gd name="T3" fmla="*/ 6 h 217"/>
                  <a:gd name="T4" fmla="*/ 84 w 128"/>
                  <a:gd name="T5" fmla="*/ 19 h 217"/>
                  <a:gd name="T6" fmla="*/ 89 w 128"/>
                  <a:gd name="T7" fmla="*/ 36 h 217"/>
                  <a:gd name="T8" fmla="*/ 93 w 128"/>
                  <a:gd name="T9" fmla="*/ 56 h 217"/>
                  <a:gd name="T10" fmla="*/ 92 w 128"/>
                  <a:gd name="T11" fmla="*/ 80 h 217"/>
                  <a:gd name="T12" fmla="*/ 84 w 128"/>
                  <a:gd name="T13" fmla="*/ 104 h 217"/>
                  <a:gd name="T14" fmla="*/ 68 w 128"/>
                  <a:gd name="T15" fmla="*/ 130 h 217"/>
                  <a:gd name="T16" fmla="*/ 44 w 128"/>
                  <a:gd name="T17" fmla="*/ 156 h 217"/>
                  <a:gd name="T18" fmla="*/ 36 w 128"/>
                  <a:gd name="T19" fmla="*/ 153 h 217"/>
                  <a:gd name="T20" fmla="*/ 28 w 128"/>
                  <a:gd name="T21" fmla="*/ 151 h 217"/>
                  <a:gd name="T22" fmla="*/ 19 w 128"/>
                  <a:gd name="T23" fmla="*/ 147 h 217"/>
                  <a:gd name="T24" fmla="*/ 12 w 128"/>
                  <a:gd name="T25" fmla="*/ 144 h 217"/>
                  <a:gd name="T26" fmla="*/ 6 w 128"/>
                  <a:gd name="T27" fmla="*/ 141 h 217"/>
                  <a:gd name="T28" fmla="*/ 1 w 128"/>
                  <a:gd name="T29" fmla="*/ 137 h 217"/>
                  <a:gd name="T30" fmla="*/ 0 w 128"/>
                  <a:gd name="T31" fmla="*/ 132 h 217"/>
                  <a:gd name="T32" fmla="*/ 1 w 128"/>
                  <a:gd name="T33" fmla="*/ 128 h 217"/>
                  <a:gd name="T34" fmla="*/ 9 w 128"/>
                  <a:gd name="T35" fmla="*/ 123 h 217"/>
                  <a:gd name="T36" fmla="*/ 21 w 128"/>
                  <a:gd name="T37" fmla="*/ 116 h 217"/>
                  <a:gd name="T38" fmla="*/ 33 w 128"/>
                  <a:gd name="T39" fmla="*/ 108 h 217"/>
                  <a:gd name="T40" fmla="*/ 46 w 128"/>
                  <a:gd name="T41" fmla="*/ 96 h 217"/>
                  <a:gd name="T42" fmla="*/ 57 w 128"/>
                  <a:gd name="T43" fmla="*/ 81 h 217"/>
                  <a:gd name="T44" fmla="*/ 66 w 128"/>
                  <a:gd name="T45" fmla="*/ 60 h 217"/>
                  <a:gd name="T46" fmla="*/ 70 w 128"/>
                  <a:gd name="T47" fmla="*/ 33 h 217"/>
                  <a:gd name="T48" fmla="*/ 68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65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54 w 117"/>
                  <a:gd name="T1" fmla="*/ 0 h 132"/>
                  <a:gd name="T2" fmla="*/ 0 w 117"/>
                  <a:gd name="T3" fmla="*/ 18 h 132"/>
                  <a:gd name="T4" fmla="*/ 2 w 117"/>
                  <a:gd name="T5" fmla="*/ 18 h 132"/>
                  <a:gd name="T6" fmla="*/ 10 w 117"/>
                  <a:gd name="T7" fmla="*/ 20 h 132"/>
                  <a:gd name="T8" fmla="*/ 21 w 117"/>
                  <a:gd name="T9" fmla="*/ 25 h 132"/>
                  <a:gd name="T10" fmla="*/ 33 w 117"/>
                  <a:gd name="T11" fmla="*/ 33 h 132"/>
                  <a:gd name="T12" fmla="*/ 48 w 117"/>
                  <a:gd name="T13" fmla="*/ 44 h 132"/>
                  <a:gd name="T14" fmla="*/ 61 w 117"/>
                  <a:gd name="T15" fmla="*/ 56 h 132"/>
                  <a:gd name="T16" fmla="*/ 74 w 117"/>
                  <a:gd name="T17" fmla="*/ 73 h 132"/>
                  <a:gd name="T18" fmla="*/ 84 w 117"/>
                  <a:gd name="T19" fmla="*/ 93 h 132"/>
                  <a:gd name="T20" fmla="*/ 85 w 117"/>
                  <a:gd name="T21" fmla="*/ 85 h 132"/>
                  <a:gd name="T22" fmla="*/ 84 w 117"/>
                  <a:gd name="T23" fmla="*/ 75 h 132"/>
                  <a:gd name="T24" fmla="*/ 78 w 117"/>
                  <a:gd name="T25" fmla="*/ 63 h 132"/>
                  <a:gd name="T26" fmla="*/ 72 w 117"/>
                  <a:gd name="T27" fmla="*/ 52 h 132"/>
                  <a:gd name="T28" fmla="*/ 65 w 117"/>
                  <a:gd name="T29" fmla="*/ 41 h 132"/>
                  <a:gd name="T30" fmla="*/ 57 w 117"/>
                  <a:gd name="T31" fmla="*/ 32 h 132"/>
                  <a:gd name="T32" fmla="*/ 49 w 117"/>
                  <a:gd name="T33" fmla="*/ 25 h 132"/>
                  <a:gd name="T34" fmla="*/ 42 w 117"/>
                  <a:gd name="T35" fmla="*/ 23 h 132"/>
                  <a:gd name="T36" fmla="*/ 50 w 117"/>
                  <a:gd name="T37" fmla="*/ 20 h 132"/>
                  <a:gd name="T38" fmla="*/ 57 w 117"/>
                  <a:gd name="T39" fmla="*/ 20 h 132"/>
                  <a:gd name="T40" fmla="*/ 65 w 117"/>
                  <a:gd name="T41" fmla="*/ 18 h 132"/>
                  <a:gd name="T42" fmla="*/ 71 w 117"/>
                  <a:gd name="T43" fmla="*/ 18 h 132"/>
                  <a:gd name="T44" fmla="*/ 76 w 117"/>
                  <a:gd name="T45" fmla="*/ 17 h 132"/>
                  <a:gd name="T46" fmla="*/ 79 w 117"/>
                  <a:gd name="T47" fmla="*/ 16 h 132"/>
                  <a:gd name="T48" fmla="*/ 82 w 117"/>
                  <a:gd name="T49" fmla="*/ 15 h 132"/>
                  <a:gd name="T50" fmla="*/ 83 w 117"/>
                  <a:gd name="T51" fmla="*/ 15 h 132"/>
                  <a:gd name="T52" fmla="*/ 54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66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1 w 29"/>
                  <a:gd name="T1" fmla="*/ 0 h 77"/>
                  <a:gd name="T2" fmla="*/ 17 w 29"/>
                  <a:gd name="T3" fmla="*/ 0 h 77"/>
                  <a:gd name="T4" fmla="*/ 12 w 29"/>
                  <a:gd name="T5" fmla="*/ 3 h 77"/>
                  <a:gd name="T6" fmla="*/ 7 w 29"/>
                  <a:gd name="T7" fmla="*/ 6 h 77"/>
                  <a:gd name="T8" fmla="*/ 3 w 29"/>
                  <a:gd name="T9" fmla="*/ 14 h 77"/>
                  <a:gd name="T10" fmla="*/ 1 w 29"/>
                  <a:gd name="T11" fmla="*/ 21 h 77"/>
                  <a:gd name="T12" fmla="*/ 0 w 29"/>
                  <a:gd name="T13" fmla="*/ 31 h 77"/>
                  <a:gd name="T14" fmla="*/ 2 w 29"/>
                  <a:gd name="T15" fmla="*/ 43 h 77"/>
                  <a:gd name="T16" fmla="*/ 8 w 29"/>
                  <a:gd name="T17" fmla="*/ 55 h 77"/>
                  <a:gd name="T18" fmla="*/ 11 w 29"/>
                  <a:gd name="T19" fmla="*/ 38 h 77"/>
                  <a:gd name="T20" fmla="*/ 14 w 29"/>
                  <a:gd name="T21" fmla="*/ 26 h 77"/>
                  <a:gd name="T22" fmla="*/ 17 w 29"/>
                  <a:gd name="T23" fmla="*/ 16 h 77"/>
                  <a:gd name="T24" fmla="*/ 21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1067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1068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8 w 207"/>
                    <a:gd name="T1" fmla="*/ 30 h 564"/>
                    <a:gd name="T2" fmla="*/ 4 w 207"/>
                    <a:gd name="T3" fmla="*/ 50 h 564"/>
                    <a:gd name="T4" fmla="*/ 2 w 207"/>
                    <a:gd name="T5" fmla="*/ 68 h 564"/>
                    <a:gd name="T6" fmla="*/ 0 w 207"/>
                    <a:gd name="T7" fmla="*/ 86 h 564"/>
                    <a:gd name="T8" fmla="*/ 0 w 207"/>
                    <a:gd name="T9" fmla="*/ 104 h 564"/>
                    <a:gd name="T10" fmla="*/ 2 w 207"/>
                    <a:gd name="T11" fmla="*/ 124 h 564"/>
                    <a:gd name="T12" fmla="*/ 5 w 207"/>
                    <a:gd name="T13" fmla="*/ 146 h 564"/>
                    <a:gd name="T14" fmla="*/ 11 w 207"/>
                    <a:gd name="T15" fmla="*/ 171 h 564"/>
                    <a:gd name="T16" fmla="*/ 20 w 207"/>
                    <a:gd name="T17" fmla="*/ 198 h 564"/>
                    <a:gd name="T18" fmla="*/ 30 w 207"/>
                    <a:gd name="T19" fmla="*/ 225 h 564"/>
                    <a:gd name="T20" fmla="*/ 42 w 207"/>
                    <a:gd name="T21" fmla="*/ 252 h 564"/>
                    <a:gd name="T22" fmla="*/ 57 w 207"/>
                    <a:gd name="T23" fmla="*/ 281 h 564"/>
                    <a:gd name="T24" fmla="*/ 73 w 207"/>
                    <a:gd name="T25" fmla="*/ 308 h 564"/>
                    <a:gd name="T26" fmla="*/ 91 w 207"/>
                    <a:gd name="T27" fmla="*/ 334 h 564"/>
                    <a:gd name="T28" fmla="*/ 108 w 207"/>
                    <a:gd name="T29" fmla="*/ 357 h 564"/>
                    <a:gd name="T30" fmla="*/ 126 w 207"/>
                    <a:gd name="T31" fmla="*/ 376 h 564"/>
                    <a:gd name="T32" fmla="*/ 143 w 207"/>
                    <a:gd name="T33" fmla="*/ 390 h 564"/>
                    <a:gd name="T34" fmla="*/ 111 w 207"/>
                    <a:gd name="T35" fmla="*/ 346 h 564"/>
                    <a:gd name="T36" fmla="*/ 88 w 207"/>
                    <a:gd name="T37" fmla="*/ 310 h 564"/>
                    <a:gd name="T38" fmla="*/ 71 w 207"/>
                    <a:gd name="T39" fmla="*/ 280 h 564"/>
                    <a:gd name="T40" fmla="*/ 60 w 207"/>
                    <a:gd name="T41" fmla="*/ 254 h 564"/>
                    <a:gd name="T42" fmla="*/ 52 w 207"/>
                    <a:gd name="T43" fmla="*/ 233 h 564"/>
                    <a:gd name="T44" fmla="*/ 47 w 207"/>
                    <a:gd name="T45" fmla="*/ 214 h 564"/>
                    <a:gd name="T46" fmla="*/ 44 w 207"/>
                    <a:gd name="T47" fmla="*/ 197 h 564"/>
                    <a:gd name="T48" fmla="*/ 39 w 207"/>
                    <a:gd name="T49" fmla="*/ 180 h 564"/>
                    <a:gd name="T50" fmla="*/ 30 w 207"/>
                    <a:gd name="T51" fmla="*/ 142 h 564"/>
                    <a:gd name="T52" fmla="*/ 28 w 207"/>
                    <a:gd name="T53" fmla="*/ 97 h 564"/>
                    <a:gd name="T54" fmla="*/ 30 w 207"/>
                    <a:gd name="T55" fmla="*/ 47 h 564"/>
                    <a:gd name="T56" fmla="*/ 35 w 207"/>
                    <a:gd name="T57" fmla="*/ 0 h 564"/>
                    <a:gd name="T58" fmla="*/ 8 w 207"/>
                    <a:gd name="T59" fmla="*/ 30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1069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3 h 232"/>
                    <a:gd name="T2" fmla="*/ 10 w 47"/>
                    <a:gd name="T3" fmla="*/ 38 h 232"/>
                    <a:gd name="T4" fmla="*/ 15 w 47"/>
                    <a:gd name="T5" fmla="*/ 70 h 232"/>
                    <a:gd name="T6" fmla="*/ 17 w 47"/>
                    <a:gd name="T7" fmla="*/ 110 h 232"/>
                    <a:gd name="T8" fmla="*/ 13 w 47"/>
                    <a:gd name="T9" fmla="*/ 160 h 232"/>
                    <a:gd name="T10" fmla="*/ 32 w 47"/>
                    <a:gd name="T11" fmla="*/ 150 h 232"/>
                    <a:gd name="T12" fmla="*/ 33 w 47"/>
                    <a:gd name="T13" fmla="*/ 123 h 232"/>
                    <a:gd name="T14" fmla="*/ 33 w 47"/>
                    <a:gd name="T15" fmla="*/ 97 h 232"/>
                    <a:gd name="T16" fmla="*/ 32 w 47"/>
                    <a:gd name="T17" fmla="*/ 71 h 232"/>
                    <a:gd name="T18" fmla="*/ 29 w 47"/>
                    <a:gd name="T19" fmla="*/ 49 h 232"/>
                    <a:gd name="T20" fmla="*/ 25 w 47"/>
                    <a:gd name="T21" fmla="*/ 36 h 232"/>
                    <a:gd name="T22" fmla="*/ 20 w 47"/>
                    <a:gd name="T23" fmla="*/ 23 h 232"/>
                    <a:gd name="T24" fmla="*/ 15 w 47"/>
                    <a:gd name="T25" fmla="*/ 12 h 232"/>
                    <a:gd name="T26" fmla="*/ 9 w 47"/>
                    <a:gd name="T27" fmla="*/ 0 h 232"/>
                    <a:gd name="T28" fmla="*/ 0 w 47"/>
                    <a:gd name="T29" fmla="*/ 13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1070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60 w 87"/>
                    <a:gd name="T1" fmla="*/ 15 h 40"/>
                    <a:gd name="T2" fmla="*/ 53 w 87"/>
                    <a:gd name="T3" fmla="*/ 11 h 40"/>
                    <a:gd name="T4" fmla="*/ 47 w 87"/>
                    <a:gd name="T5" fmla="*/ 8 h 40"/>
                    <a:gd name="T6" fmla="*/ 40 w 87"/>
                    <a:gd name="T7" fmla="*/ 5 h 40"/>
                    <a:gd name="T8" fmla="*/ 32 w 87"/>
                    <a:gd name="T9" fmla="*/ 3 h 40"/>
                    <a:gd name="T10" fmla="*/ 26 w 87"/>
                    <a:gd name="T11" fmla="*/ 2 h 40"/>
                    <a:gd name="T12" fmla="*/ 18 w 87"/>
                    <a:gd name="T13" fmla="*/ 1 h 40"/>
                    <a:gd name="T14" fmla="*/ 9 w 87"/>
                    <a:gd name="T15" fmla="*/ 0 h 40"/>
                    <a:gd name="T16" fmla="*/ 0 w 87"/>
                    <a:gd name="T17" fmla="*/ 1 h 40"/>
                    <a:gd name="T18" fmla="*/ 4 w 87"/>
                    <a:gd name="T19" fmla="*/ 4 h 40"/>
                    <a:gd name="T20" fmla="*/ 10 w 87"/>
                    <a:gd name="T21" fmla="*/ 7 h 40"/>
                    <a:gd name="T22" fmla="*/ 15 w 87"/>
                    <a:gd name="T23" fmla="*/ 9 h 40"/>
                    <a:gd name="T24" fmla="*/ 23 w 87"/>
                    <a:gd name="T25" fmla="*/ 12 h 40"/>
                    <a:gd name="T26" fmla="*/ 29 w 87"/>
                    <a:gd name="T27" fmla="*/ 15 h 40"/>
                    <a:gd name="T28" fmla="*/ 36 w 87"/>
                    <a:gd name="T29" fmla="*/ 18 h 40"/>
                    <a:gd name="T30" fmla="*/ 44 w 87"/>
                    <a:gd name="T31" fmla="*/ 22 h 40"/>
                    <a:gd name="T32" fmla="*/ 51 w 87"/>
                    <a:gd name="T33" fmla="*/ 27 h 40"/>
                    <a:gd name="T34" fmla="*/ 60 w 87"/>
                    <a:gd name="T35" fmla="*/ 15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1036" name="Group 19"/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1059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60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61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037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1056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57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58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038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1053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54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55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103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6 w 109"/>
                <a:gd name="T3" fmla="*/ 1 h 156"/>
                <a:gd name="T4" fmla="*/ 22 w 109"/>
                <a:gd name="T5" fmla="*/ 5 h 156"/>
                <a:gd name="T6" fmla="*/ 45 w 109"/>
                <a:gd name="T7" fmla="*/ 13 h 156"/>
                <a:gd name="T8" fmla="*/ 70 w 109"/>
                <a:gd name="T9" fmla="*/ 26 h 156"/>
                <a:gd name="T10" fmla="*/ 94 w 109"/>
                <a:gd name="T11" fmla="*/ 47 h 156"/>
                <a:gd name="T12" fmla="*/ 116 w 109"/>
                <a:gd name="T13" fmla="*/ 76 h 156"/>
                <a:gd name="T14" fmla="*/ 130 w 109"/>
                <a:gd name="T15" fmla="*/ 116 h 156"/>
                <a:gd name="T16" fmla="*/ 132 w 109"/>
                <a:gd name="T17" fmla="*/ 167 h 156"/>
                <a:gd name="T18" fmla="*/ 127 w 109"/>
                <a:gd name="T19" fmla="*/ 167 h 156"/>
                <a:gd name="T20" fmla="*/ 120 w 109"/>
                <a:gd name="T21" fmla="*/ 167 h 156"/>
                <a:gd name="T22" fmla="*/ 113 w 109"/>
                <a:gd name="T23" fmla="*/ 167 h 156"/>
                <a:gd name="T24" fmla="*/ 105 w 109"/>
                <a:gd name="T25" fmla="*/ 165 h 156"/>
                <a:gd name="T26" fmla="*/ 98 w 109"/>
                <a:gd name="T27" fmla="*/ 164 h 156"/>
                <a:gd name="T28" fmla="*/ 90 w 109"/>
                <a:gd name="T29" fmla="*/ 161 h 156"/>
                <a:gd name="T30" fmla="*/ 80 w 109"/>
                <a:gd name="T31" fmla="*/ 155 h 156"/>
                <a:gd name="T32" fmla="*/ 70 w 109"/>
                <a:gd name="T33" fmla="*/ 149 h 156"/>
                <a:gd name="T34" fmla="*/ 64 w 109"/>
                <a:gd name="T35" fmla="*/ 135 h 156"/>
                <a:gd name="T36" fmla="*/ 64 w 109"/>
                <a:gd name="T37" fmla="*/ 119 h 156"/>
                <a:gd name="T38" fmla="*/ 68 w 109"/>
                <a:gd name="T39" fmla="*/ 103 h 156"/>
                <a:gd name="T40" fmla="*/ 71 w 109"/>
                <a:gd name="T41" fmla="*/ 86 h 156"/>
                <a:gd name="T42" fmla="*/ 68 w 109"/>
                <a:gd name="T43" fmla="*/ 66 h 156"/>
                <a:gd name="T44" fmla="*/ 58 w 109"/>
                <a:gd name="T45" fmla="*/ 46 h 156"/>
                <a:gd name="T46" fmla="*/ 38 w 109"/>
                <a:gd name="T47" fmla="*/ 25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7 w 54"/>
                <a:gd name="T5" fmla="*/ 3 h 40"/>
                <a:gd name="T6" fmla="*/ 16 w 54"/>
                <a:gd name="T7" fmla="*/ 9 h 40"/>
                <a:gd name="T8" fmla="*/ 26 w 54"/>
                <a:gd name="T9" fmla="*/ 13 h 40"/>
                <a:gd name="T10" fmla="*/ 35 w 54"/>
                <a:gd name="T11" fmla="*/ 16 h 40"/>
                <a:gd name="T12" fmla="*/ 46 w 54"/>
                <a:gd name="T13" fmla="*/ 18 h 40"/>
                <a:gd name="T14" fmla="*/ 56 w 54"/>
                <a:gd name="T15" fmla="*/ 19 h 40"/>
                <a:gd name="T16" fmla="*/ 66 w 54"/>
                <a:gd name="T17" fmla="*/ 17 h 40"/>
                <a:gd name="T18" fmla="*/ 65 w 54"/>
                <a:gd name="T19" fmla="*/ 27 h 40"/>
                <a:gd name="T20" fmla="*/ 61 w 54"/>
                <a:gd name="T21" fmla="*/ 35 h 40"/>
                <a:gd name="T22" fmla="*/ 54 w 54"/>
                <a:gd name="T23" fmla="*/ 41 h 40"/>
                <a:gd name="T24" fmla="*/ 45 w 54"/>
                <a:gd name="T25" fmla="*/ 43 h 40"/>
                <a:gd name="T26" fmla="*/ 34 w 54"/>
                <a:gd name="T27" fmla="*/ 42 h 40"/>
                <a:gd name="T28" fmla="*/ 23 w 54"/>
                <a:gd name="T29" fmla="*/ 34 h 40"/>
                <a:gd name="T30" fmla="*/ 12 w 54"/>
                <a:gd name="T31" fmla="*/ 22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6 h 237"/>
                <a:gd name="T4" fmla="*/ 4 w 257"/>
                <a:gd name="T5" fmla="*/ 52 h 237"/>
                <a:gd name="T6" fmla="*/ 8 w 257"/>
                <a:gd name="T7" fmla="*/ 78 h 237"/>
                <a:gd name="T8" fmla="*/ 15 w 257"/>
                <a:gd name="T9" fmla="*/ 101 h 237"/>
                <a:gd name="T10" fmla="*/ 24 w 257"/>
                <a:gd name="T11" fmla="*/ 123 h 237"/>
                <a:gd name="T12" fmla="*/ 36 w 257"/>
                <a:gd name="T13" fmla="*/ 146 h 237"/>
                <a:gd name="T14" fmla="*/ 51 w 257"/>
                <a:gd name="T15" fmla="*/ 166 h 237"/>
                <a:gd name="T16" fmla="*/ 68 w 257"/>
                <a:gd name="T17" fmla="*/ 184 h 237"/>
                <a:gd name="T18" fmla="*/ 90 w 257"/>
                <a:gd name="T19" fmla="*/ 201 h 237"/>
                <a:gd name="T20" fmla="*/ 115 w 257"/>
                <a:gd name="T21" fmla="*/ 215 h 237"/>
                <a:gd name="T22" fmla="*/ 142 w 257"/>
                <a:gd name="T23" fmla="*/ 226 h 237"/>
                <a:gd name="T24" fmla="*/ 175 w 257"/>
                <a:gd name="T25" fmla="*/ 236 h 237"/>
                <a:gd name="T26" fmla="*/ 211 w 257"/>
                <a:gd name="T27" fmla="*/ 242 h 237"/>
                <a:gd name="T28" fmla="*/ 252 w 257"/>
                <a:gd name="T29" fmla="*/ 245 h 237"/>
                <a:gd name="T30" fmla="*/ 294 w 257"/>
                <a:gd name="T31" fmla="*/ 244 h 237"/>
                <a:gd name="T32" fmla="*/ 344 w 257"/>
                <a:gd name="T33" fmla="*/ 240 h 237"/>
                <a:gd name="T34" fmla="*/ 300 w 257"/>
                <a:gd name="T35" fmla="*/ 235 h 237"/>
                <a:gd name="T36" fmla="*/ 261 w 257"/>
                <a:gd name="T37" fmla="*/ 227 h 237"/>
                <a:gd name="T38" fmla="*/ 228 w 257"/>
                <a:gd name="T39" fmla="*/ 219 h 237"/>
                <a:gd name="T40" fmla="*/ 198 w 257"/>
                <a:gd name="T41" fmla="*/ 211 h 237"/>
                <a:gd name="T42" fmla="*/ 171 w 257"/>
                <a:gd name="T43" fmla="*/ 200 h 237"/>
                <a:gd name="T44" fmla="*/ 150 w 257"/>
                <a:gd name="T45" fmla="*/ 188 h 237"/>
                <a:gd name="T46" fmla="*/ 130 w 257"/>
                <a:gd name="T47" fmla="*/ 175 h 237"/>
                <a:gd name="T48" fmla="*/ 112 w 257"/>
                <a:gd name="T49" fmla="*/ 160 h 237"/>
                <a:gd name="T50" fmla="*/ 96 w 257"/>
                <a:gd name="T51" fmla="*/ 146 h 237"/>
                <a:gd name="T52" fmla="*/ 82 w 257"/>
                <a:gd name="T53" fmla="*/ 129 h 237"/>
                <a:gd name="T54" fmla="*/ 70 w 257"/>
                <a:gd name="T55" fmla="*/ 111 h 237"/>
                <a:gd name="T56" fmla="*/ 58 w 257"/>
                <a:gd name="T57" fmla="*/ 91 h 237"/>
                <a:gd name="T58" fmla="*/ 44 w 257"/>
                <a:gd name="T59" fmla="*/ 71 h 237"/>
                <a:gd name="T60" fmla="*/ 31 w 257"/>
                <a:gd name="T61" fmla="*/ 49 h 237"/>
                <a:gd name="T62" fmla="*/ 16 w 257"/>
                <a:gd name="T63" fmla="*/ 25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104 w 124"/>
                <a:gd name="T1" fmla="*/ 0 h 110"/>
                <a:gd name="T2" fmla="*/ 167 w 124"/>
                <a:gd name="T3" fmla="*/ 113 h 110"/>
                <a:gd name="T4" fmla="*/ 162 w 124"/>
                <a:gd name="T5" fmla="*/ 112 h 110"/>
                <a:gd name="T6" fmla="*/ 144 w 124"/>
                <a:gd name="T7" fmla="*/ 110 h 110"/>
                <a:gd name="T8" fmla="*/ 120 w 124"/>
                <a:gd name="T9" fmla="*/ 106 h 110"/>
                <a:gd name="T10" fmla="*/ 92 w 124"/>
                <a:gd name="T11" fmla="*/ 104 h 110"/>
                <a:gd name="T12" fmla="*/ 61 w 124"/>
                <a:gd name="T13" fmla="*/ 101 h 110"/>
                <a:gd name="T14" fmla="*/ 34 w 124"/>
                <a:gd name="T15" fmla="*/ 102 h 110"/>
                <a:gd name="T16" fmla="*/ 12 w 124"/>
                <a:gd name="T17" fmla="*/ 107 h 110"/>
                <a:gd name="T18" fmla="*/ 0 w 124"/>
                <a:gd name="T19" fmla="*/ 115 h 110"/>
                <a:gd name="T20" fmla="*/ 5 w 124"/>
                <a:gd name="T21" fmla="*/ 102 h 110"/>
                <a:gd name="T22" fmla="*/ 11 w 124"/>
                <a:gd name="T23" fmla="*/ 93 h 110"/>
                <a:gd name="T24" fmla="*/ 22 w 124"/>
                <a:gd name="T25" fmla="*/ 86 h 110"/>
                <a:gd name="T26" fmla="*/ 34 w 124"/>
                <a:gd name="T27" fmla="*/ 79 h 110"/>
                <a:gd name="T28" fmla="*/ 48 w 124"/>
                <a:gd name="T29" fmla="*/ 75 h 110"/>
                <a:gd name="T30" fmla="*/ 63 w 124"/>
                <a:gd name="T31" fmla="*/ 74 h 110"/>
                <a:gd name="T32" fmla="*/ 79 w 124"/>
                <a:gd name="T33" fmla="*/ 74 h 110"/>
                <a:gd name="T34" fmla="*/ 97 w 124"/>
                <a:gd name="T35" fmla="*/ 77 h 110"/>
                <a:gd name="T36" fmla="*/ 98 w 124"/>
                <a:gd name="T37" fmla="*/ 74 h 110"/>
                <a:gd name="T38" fmla="*/ 94 w 124"/>
                <a:gd name="T39" fmla="*/ 59 h 110"/>
                <a:gd name="T40" fmla="*/ 90 w 124"/>
                <a:gd name="T41" fmla="*/ 40 h 110"/>
                <a:gd name="T42" fmla="*/ 88 w 124"/>
                <a:gd name="T43" fmla="*/ 31 h 110"/>
                <a:gd name="T44" fmla="*/ 85 w 124"/>
                <a:gd name="T45" fmla="*/ 31 h 110"/>
                <a:gd name="T46" fmla="*/ 82 w 124"/>
                <a:gd name="T47" fmla="*/ 30 h 110"/>
                <a:gd name="T48" fmla="*/ 79 w 124"/>
                <a:gd name="T49" fmla="*/ 27 h 110"/>
                <a:gd name="T50" fmla="*/ 77 w 124"/>
                <a:gd name="T51" fmla="*/ 24 h 110"/>
                <a:gd name="T52" fmla="*/ 77 w 124"/>
                <a:gd name="T53" fmla="*/ 20 h 110"/>
                <a:gd name="T54" fmla="*/ 79 w 124"/>
                <a:gd name="T55" fmla="*/ 15 h 110"/>
                <a:gd name="T56" fmla="*/ 89 w 124"/>
                <a:gd name="T57" fmla="*/ 8 h 110"/>
                <a:gd name="T58" fmla="*/ 104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7 w 109"/>
                <a:gd name="T3" fmla="*/ 1 h 156"/>
                <a:gd name="T4" fmla="*/ 24 w 109"/>
                <a:gd name="T5" fmla="*/ 5 h 156"/>
                <a:gd name="T6" fmla="*/ 50 w 109"/>
                <a:gd name="T7" fmla="*/ 12 h 156"/>
                <a:gd name="T8" fmla="*/ 78 w 109"/>
                <a:gd name="T9" fmla="*/ 25 h 156"/>
                <a:gd name="T10" fmla="*/ 105 w 109"/>
                <a:gd name="T11" fmla="*/ 45 h 156"/>
                <a:gd name="T12" fmla="*/ 129 w 109"/>
                <a:gd name="T13" fmla="*/ 73 h 156"/>
                <a:gd name="T14" fmla="*/ 144 w 109"/>
                <a:gd name="T15" fmla="*/ 111 h 156"/>
                <a:gd name="T16" fmla="*/ 147 w 109"/>
                <a:gd name="T17" fmla="*/ 160 h 156"/>
                <a:gd name="T18" fmla="*/ 142 w 109"/>
                <a:gd name="T19" fmla="*/ 160 h 156"/>
                <a:gd name="T20" fmla="*/ 134 w 109"/>
                <a:gd name="T21" fmla="*/ 160 h 156"/>
                <a:gd name="T22" fmla="*/ 125 w 109"/>
                <a:gd name="T23" fmla="*/ 160 h 156"/>
                <a:gd name="T24" fmla="*/ 117 w 109"/>
                <a:gd name="T25" fmla="*/ 158 h 156"/>
                <a:gd name="T26" fmla="*/ 109 w 109"/>
                <a:gd name="T27" fmla="*/ 157 h 156"/>
                <a:gd name="T28" fmla="*/ 100 w 109"/>
                <a:gd name="T29" fmla="*/ 154 h 156"/>
                <a:gd name="T30" fmla="*/ 89 w 109"/>
                <a:gd name="T31" fmla="*/ 149 h 156"/>
                <a:gd name="T32" fmla="*/ 78 w 109"/>
                <a:gd name="T33" fmla="*/ 143 h 156"/>
                <a:gd name="T34" fmla="*/ 71 w 109"/>
                <a:gd name="T35" fmla="*/ 129 h 156"/>
                <a:gd name="T36" fmla="*/ 71 w 109"/>
                <a:gd name="T37" fmla="*/ 114 h 156"/>
                <a:gd name="T38" fmla="*/ 76 w 109"/>
                <a:gd name="T39" fmla="*/ 98 h 156"/>
                <a:gd name="T40" fmla="*/ 80 w 109"/>
                <a:gd name="T41" fmla="*/ 82 h 156"/>
                <a:gd name="T42" fmla="*/ 76 w 109"/>
                <a:gd name="T43" fmla="*/ 64 h 156"/>
                <a:gd name="T44" fmla="*/ 65 w 109"/>
                <a:gd name="T45" fmla="*/ 44 h 156"/>
                <a:gd name="T46" fmla="*/ 42 w 109"/>
                <a:gd name="T47" fmla="*/ 24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42 w 46"/>
                <a:gd name="T1" fmla="*/ 0 h 94"/>
                <a:gd name="T2" fmla="*/ 27 w 46"/>
                <a:gd name="T3" fmla="*/ 39 h 94"/>
                <a:gd name="T4" fmla="*/ 20 w 46"/>
                <a:gd name="T5" fmla="*/ 64 h 94"/>
                <a:gd name="T6" fmla="*/ 15 w 46"/>
                <a:gd name="T7" fmla="*/ 82 h 94"/>
                <a:gd name="T8" fmla="*/ 0 w 46"/>
                <a:gd name="T9" fmla="*/ 97 h 94"/>
                <a:gd name="T10" fmla="*/ 16 w 46"/>
                <a:gd name="T11" fmla="*/ 91 h 94"/>
                <a:gd name="T12" fmla="*/ 31 w 46"/>
                <a:gd name="T13" fmla="*/ 83 h 94"/>
                <a:gd name="T14" fmla="*/ 43 w 46"/>
                <a:gd name="T15" fmla="*/ 71 h 94"/>
                <a:gd name="T16" fmla="*/ 54 w 46"/>
                <a:gd name="T17" fmla="*/ 59 h 94"/>
                <a:gd name="T18" fmla="*/ 61 w 46"/>
                <a:gd name="T19" fmla="*/ 45 h 94"/>
                <a:gd name="T20" fmla="*/ 62 w 46"/>
                <a:gd name="T21" fmla="*/ 31 h 94"/>
                <a:gd name="T22" fmla="*/ 57 w 46"/>
                <a:gd name="T23" fmla="*/ 15 h 94"/>
                <a:gd name="T24" fmla="*/ 42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5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8 w 54"/>
                <a:gd name="T5" fmla="*/ 3 h 40"/>
                <a:gd name="T6" fmla="*/ 17 w 54"/>
                <a:gd name="T7" fmla="*/ 8 h 40"/>
                <a:gd name="T8" fmla="*/ 28 w 54"/>
                <a:gd name="T9" fmla="*/ 12 h 40"/>
                <a:gd name="T10" fmla="*/ 39 w 54"/>
                <a:gd name="T11" fmla="*/ 15 h 40"/>
                <a:gd name="T12" fmla="*/ 51 w 54"/>
                <a:gd name="T13" fmla="*/ 17 h 40"/>
                <a:gd name="T14" fmla="*/ 61 w 54"/>
                <a:gd name="T15" fmla="*/ 18 h 40"/>
                <a:gd name="T16" fmla="*/ 72 w 54"/>
                <a:gd name="T17" fmla="*/ 16 h 40"/>
                <a:gd name="T18" fmla="*/ 71 w 54"/>
                <a:gd name="T19" fmla="*/ 26 h 40"/>
                <a:gd name="T20" fmla="*/ 67 w 54"/>
                <a:gd name="T21" fmla="*/ 34 h 40"/>
                <a:gd name="T22" fmla="*/ 59 w 54"/>
                <a:gd name="T23" fmla="*/ 39 h 40"/>
                <a:gd name="T24" fmla="*/ 49 w 54"/>
                <a:gd name="T25" fmla="*/ 41 h 40"/>
                <a:gd name="T26" fmla="*/ 37 w 54"/>
                <a:gd name="T27" fmla="*/ 40 h 40"/>
                <a:gd name="T28" fmla="*/ 25 w 54"/>
                <a:gd name="T29" fmla="*/ 33 h 40"/>
                <a:gd name="T30" fmla="*/ 13 w 54"/>
                <a:gd name="T31" fmla="*/ 21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5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5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22 w 596"/>
                <a:gd name="T1" fmla="*/ 381 h 666"/>
                <a:gd name="T2" fmla="*/ 8 w 596"/>
                <a:gd name="T3" fmla="*/ 351 h 666"/>
                <a:gd name="T4" fmla="*/ 0 w 596"/>
                <a:gd name="T5" fmla="*/ 298 h 666"/>
                <a:gd name="T6" fmla="*/ 5 w 596"/>
                <a:gd name="T7" fmla="*/ 229 h 666"/>
                <a:gd name="T8" fmla="*/ 34 w 596"/>
                <a:gd name="T9" fmla="*/ 156 h 666"/>
                <a:gd name="T10" fmla="*/ 93 w 596"/>
                <a:gd name="T11" fmla="*/ 87 h 666"/>
                <a:gd name="T12" fmla="*/ 192 w 596"/>
                <a:gd name="T13" fmla="*/ 32 h 666"/>
                <a:gd name="T14" fmla="*/ 333 w 596"/>
                <a:gd name="T15" fmla="*/ 2 h 666"/>
                <a:gd name="T16" fmla="*/ 513 w 596"/>
                <a:gd name="T17" fmla="*/ 9 h 666"/>
                <a:gd name="T18" fmla="*/ 653 w 596"/>
                <a:gd name="T19" fmla="*/ 70 h 666"/>
                <a:gd name="T20" fmla="*/ 747 w 596"/>
                <a:gd name="T21" fmla="*/ 170 h 666"/>
                <a:gd name="T22" fmla="*/ 797 w 596"/>
                <a:gd name="T23" fmla="*/ 293 h 666"/>
                <a:gd name="T24" fmla="*/ 803 w 596"/>
                <a:gd name="T25" fmla="*/ 421 h 666"/>
                <a:gd name="T26" fmla="*/ 764 w 596"/>
                <a:gd name="T27" fmla="*/ 541 h 666"/>
                <a:gd name="T28" fmla="*/ 684 w 596"/>
                <a:gd name="T29" fmla="*/ 633 h 666"/>
                <a:gd name="T30" fmla="*/ 563 w 596"/>
                <a:gd name="T31" fmla="*/ 683 h 666"/>
                <a:gd name="T32" fmla="*/ 525 w 596"/>
                <a:gd name="T33" fmla="*/ 679 h 666"/>
                <a:gd name="T34" fmla="*/ 595 w 596"/>
                <a:gd name="T35" fmla="*/ 636 h 666"/>
                <a:gd name="T36" fmla="*/ 650 w 596"/>
                <a:gd name="T37" fmla="*/ 560 h 666"/>
                <a:gd name="T38" fmla="*/ 687 w 596"/>
                <a:gd name="T39" fmla="*/ 468 h 666"/>
                <a:gd name="T40" fmla="*/ 701 w 596"/>
                <a:gd name="T41" fmla="*/ 366 h 666"/>
                <a:gd name="T42" fmla="*/ 693 w 596"/>
                <a:gd name="T43" fmla="*/ 266 h 666"/>
                <a:gd name="T44" fmla="*/ 654 w 596"/>
                <a:gd name="T45" fmla="*/ 179 h 666"/>
                <a:gd name="T46" fmla="*/ 584 w 596"/>
                <a:gd name="T47" fmla="*/ 115 h 666"/>
                <a:gd name="T48" fmla="*/ 460 w 596"/>
                <a:gd name="T49" fmla="*/ 77 h 666"/>
                <a:gd name="T50" fmla="*/ 332 w 596"/>
                <a:gd name="T51" fmla="*/ 63 h 666"/>
                <a:gd name="T52" fmla="*/ 235 w 596"/>
                <a:gd name="T53" fmla="*/ 73 h 666"/>
                <a:gd name="T54" fmla="*/ 163 w 596"/>
                <a:gd name="T55" fmla="*/ 104 h 666"/>
                <a:gd name="T56" fmla="*/ 113 w 596"/>
                <a:gd name="T57" fmla="*/ 153 h 666"/>
                <a:gd name="T58" fmla="*/ 77 w 596"/>
                <a:gd name="T59" fmla="*/ 212 h 666"/>
                <a:gd name="T60" fmla="*/ 54 w 596"/>
                <a:gd name="T61" fmla="*/ 280 h 666"/>
                <a:gd name="T62" fmla="*/ 38 w 596"/>
                <a:gd name="T63" fmla="*/ 349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70F00016-5CE4-489B-B9BC-4CAA26ABBC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9.png"/><Relationship Id="rId4" Type="http://schemas.openxmlformats.org/officeDocument/2006/relationships/image" Target="../media/image18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F008A571-5BFB-4C9B-B542-DB524A1BCC38}" type="slidenum">
              <a:rPr lang="en-US"/>
              <a:pPr/>
              <a:t>1</a:t>
            </a:fld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2850" y="533400"/>
            <a:ext cx="6192838" cy="1524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err="1" smtClean="0"/>
              <a:t>EBN</a:t>
            </a:r>
            <a:r>
              <a:rPr lang="en-US" sz="3200" smtClean="0"/>
              <a:t> 111/122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8972" y="2365828"/>
            <a:ext cx="7460343" cy="22860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dirty="0" smtClean="0"/>
              <a:t>Chapter 1</a:t>
            </a:r>
          </a:p>
          <a:p>
            <a:pPr eaLnBrk="1" hangingPunct="1">
              <a:defRPr/>
            </a:pPr>
            <a:r>
              <a:rPr lang="en-US" sz="6000" dirty="0" smtClean="0"/>
              <a:t>Basic Concepts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1752600" y="5486400"/>
            <a:ext cx="565308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sz="900"/>
              <a:t>Copyright © The McGraw-Hill Companies, Inc. Permission required for reproduction or display.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4DD4457-277C-41F0-816A-E9D0A00232B5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smtClean="0"/>
              <a:t>Basic Concepts - Chapter 1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9400" y="2209800"/>
            <a:ext cx="5105400" cy="3541713"/>
          </a:xfrm>
        </p:spPr>
        <p:txBody>
          <a:bodyPr/>
          <a:lstStyle/>
          <a:p>
            <a:pPr marL="860425" indent="-860425" eaLnBrk="1" hangingPunct="1">
              <a:buFontTx/>
              <a:buNone/>
            </a:pPr>
            <a:r>
              <a:rPr lang="en-US" dirty="0" smtClean="0"/>
              <a:t> 1.1		Systems of Units.</a:t>
            </a:r>
          </a:p>
          <a:p>
            <a:pPr marL="860425" indent="-860425" eaLnBrk="1" hangingPunct="1">
              <a:buFontTx/>
              <a:buNone/>
            </a:pPr>
            <a:r>
              <a:rPr lang="en-US" dirty="0" smtClean="0"/>
              <a:t> 1.2		Electric Charge.</a:t>
            </a:r>
          </a:p>
          <a:p>
            <a:pPr marL="860425" indent="-860425" eaLnBrk="1" hangingPunct="1">
              <a:buFontTx/>
              <a:buNone/>
            </a:pPr>
            <a:r>
              <a:rPr lang="en-US" dirty="0" smtClean="0"/>
              <a:t> 1.3		Current.</a:t>
            </a:r>
          </a:p>
          <a:p>
            <a:pPr marL="860425" indent="-860425" eaLnBrk="1" hangingPunct="1">
              <a:buFontTx/>
              <a:buNone/>
            </a:pPr>
            <a:r>
              <a:rPr lang="en-US" dirty="0" smtClean="0"/>
              <a:t> 1.4		Voltage.</a:t>
            </a:r>
          </a:p>
          <a:p>
            <a:pPr marL="860425" indent="-860425" eaLnBrk="1" hangingPunct="1">
              <a:buFontTx/>
              <a:buNone/>
            </a:pPr>
            <a:r>
              <a:rPr lang="en-US" dirty="0" smtClean="0"/>
              <a:t> 1.5		Power and Energy.</a:t>
            </a:r>
          </a:p>
          <a:p>
            <a:pPr marL="860425" indent="-860425" eaLnBrk="1" hangingPunct="1">
              <a:buFontTx/>
              <a:buNone/>
            </a:pPr>
            <a:r>
              <a:rPr lang="en-US" dirty="0" smtClean="0"/>
              <a:t> 1.6		Circuit Elements.</a:t>
            </a:r>
          </a:p>
        </p:txBody>
      </p:sp>
      <p:sp>
        <p:nvSpPr>
          <p:cNvPr id="2" name="Left Brace 1"/>
          <p:cNvSpPr/>
          <p:nvPr/>
        </p:nvSpPr>
        <p:spPr bwMode="auto">
          <a:xfrm>
            <a:off x="2590800" y="2286000"/>
            <a:ext cx="381000" cy="2133600"/>
          </a:xfrm>
          <a:prstGeom prst="leftBrace">
            <a:avLst>
              <a:gd name="adj1" fmla="val 7309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Left Brace 5"/>
          <p:cNvSpPr/>
          <p:nvPr/>
        </p:nvSpPr>
        <p:spPr bwMode="auto">
          <a:xfrm>
            <a:off x="2590800" y="4557486"/>
            <a:ext cx="381000" cy="1066800"/>
          </a:xfrm>
          <a:prstGeom prst="leftBrace">
            <a:avLst>
              <a:gd name="adj1" fmla="val 7309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6400" y="3168134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L#1</a:t>
            </a:r>
            <a:endParaRPr lang="en-ZA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676400" y="486005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/>
              <a:t>L#2</a:t>
            </a:r>
            <a:endParaRPr lang="en-Z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D09A484B-DB87-4F3C-B6F2-108FA95C6C76}" type="slidenum">
              <a:rPr lang="en-US"/>
              <a:pPr/>
              <a:t>3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 smtClean="0"/>
              <a:t>Chapter 1: Lecture #1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1.1 System of Units (1)</a:t>
            </a:r>
          </a:p>
        </p:txBody>
      </p:sp>
      <p:graphicFrame>
        <p:nvGraphicFramePr>
          <p:cNvPr id="42129" name="Group 145"/>
          <p:cNvGraphicFramePr>
            <a:graphicFrameLocks noGrp="1"/>
          </p:cNvGraphicFramePr>
          <p:nvPr>
            <p:ph idx="1"/>
          </p:nvPr>
        </p:nvGraphicFramePr>
        <p:xfrm>
          <a:off x="1066800" y="2057400"/>
          <a:ext cx="7086600" cy="4054474"/>
        </p:xfrm>
        <a:graphic>
          <a:graphicData uri="http://schemas.openxmlformats.org/drawingml/2006/table">
            <a:tbl>
              <a:tblPr/>
              <a:tblGrid>
                <a:gridCol w="33575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668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82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Quantity</a:t>
                      </a:r>
                      <a:endParaRPr kumimoji="0" lang="en-US" sz="4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Basic unit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Symbol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82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Length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meter</a:t>
                      </a:r>
                      <a:endParaRPr kumimoji="0" lang="en-US" sz="4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2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Mass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kilogram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kumimoji="0" lang="en-US" sz="4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82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second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82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Electric current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ampere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94502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Thermodynamic temperature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kelvin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82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Luminous intensity</a:t>
                      </a:r>
                      <a:endParaRPr kumimoji="0" lang="en-US" sz="4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candela</a:t>
                      </a:r>
                      <a:endParaRPr kumimoji="0" lang="en-US" sz="4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cd</a:t>
                      </a:r>
                      <a:endParaRPr kumimoji="0" lang="en-US" sz="4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158" name="Text Box 144"/>
          <p:cNvSpPr txBox="1">
            <a:spLocks noChangeArrowheads="1"/>
          </p:cNvSpPr>
          <p:nvPr/>
        </p:nvSpPr>
        <p:spPr bwMode="auto">
          <a:xfrm>
            <a:off x="990600" y="1600200"/>
            <a:ext cx="4267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FF3300"/>
                </a:solidFill>
              </a:rPr>
              <a:t>Six basic units: SI Units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73D06457-36F4-494B-9C0C-9BABF9642FDC}" type="slidenum">
              <a:rPr lang="en-US"/>
              <a:pPr/>
              <a:t>4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smtClean="0"/>
              <a:t> 1.1 System of Units (2)</a:t>
            </a:r>
          </a:p>
        </p:txBody>
      </p:sp>
      <p:pic>
        <p:nvPicPr>
          <p:cNvPr id="6148" name="Picture 5" descr="table1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" y="2286000"/>
            <a:ext cx="4748213" cy="4532313"/>
          </a:xfrm>
          <a:noFill/>
        </p:spPr>
      </p:pic>
      <p:pic>
        <p:nvPicPr>
          <p:cNvPr id="6149" name="Picture 6" descr="table1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2447925"/>
            <a:ext cx="4067175" cy="4410075"/>
          </a:xfrm>
          <a:noFill/>
        </p:spPr>
      </p:pic>
      <p:sp>
        <p:nvSpPr>
          <p:cNvPr id="6150" name="Rectangle 8"/>
          <p:cNvSpPr>
            <a:spLocks noChangeArrowheads="1"/>
          </p:cNvSpPr>
          <p:nvPr/>
        </p:nvSpPr>
        <p:spPr bwMode="auto">
          <a:xfrm>
            <a:off x="914400" y="1504950"/>
            <a:ext cx="774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b="1">
                <a:solidFill>
                  <a:srgbClr val="FF3300"/>
                </a:solidFill>
              </a:rPr>
              <a:t>The derived units commonly used in electric circuit theory</a:t>
            </a:r>
            <a:r>
              <a:rPr lang="en-US"/>
              <a:t> </a:t>
            </a:r>
          </a:p>
        </p:txBody>
      </p:sp>
      <p:sp>
        <p:nvSpPr>
          <p:cNvPr id="6151" name="Rectangle 9"/>
          <p:cNvSpPr>
            <a:spLocks noChangeArrowheads="1"/>
          </p:cNvSpPr>
          <p:nvPr/>
        </p:nvSpPr>
        <p:spPr bwMode="auto">
          <a:xfrm>
            <a:off x="5624513" y="1901825"/>
            <a:ext cx="3033712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1600" b="1" dirty="0"/>
              <a:t>Decimal multiples and submultiples of SI units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B2862CBB-729A-42EB-AEBC-BBF9D4308C9A}" type="slidenum">
              <a:rPr lang="en-US"/>
              <a:pPr/>
              <a:t>5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399" y="449942"/>
            <a:ext cx="8243887" cy="633867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 1.2 Electric Charge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1772"/>
            <a:ext cx="8229600" cy="5185228"/>
          </a:xfrm>
        </p:spPr>
        <p:txBody>
          <a:bodyPr/>
          <a:lstStyle/>
          <a:p>
            <a:pPr marL="395288" indent="-3952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sz="2400" dirty="0" smtClean="0">
                <a:solidFill>
                  <a:srgbClr val="FF3300"/>
                </a:solidFill>
              </a:rPr>
              <a:t>Charge</a:t>
            </a:r>
            <a:r>
              <a:rPr lang="en-US" sz="2400" dirty="0" smtClean="0"/>
              <a:t> is an electrical property of the atomic particles of which matter consists, measured in </a:t>
            </a:r>
            <a:r>
              <a:rPr lang="en-US" sz="2400" dirty="0" smtClean="0">
                <a:solidFill>
                  <a:srgbClr val="FF3300"/>
                </a:solidFill>
              </a:rPr>
              <a:t>coulombs (C).</a:t>
            </a:r>
            <a:endParaRPr lang="en-US" sz="2400" dirty="0" smtClean="0"/>
          </a:p>
          <a:p>
            <a:pPr marL="395288" indent="-395288" eaLnBrk="1" hangingPunct="1"/>
            <a:r>
              <a:rPr lang="en-US" sz="2400" dirty="0" smtClean="0"/>
              <a:t>The charge </a:t>
            </a:r>
            <a:r>
              <a:rPr lang="en-US" sz="2400" dirty="0" smtClean="0">
                <a:solidFill>
                  <a:srgbClr val="FF3300"/>
                </a:solidFill>
              </a:rPr>
              <a:t>e</a:t>
            </a:r>
            <a:r>
              <a:rPr lang="en-US" sz="2400" dirty="0" smtClean="0"/>
              <a:t> on one electron is negative and equal in magnitude to </a:t>
            </a:r>
            <a:r>
              <a:rPr lang="en-US" sz="2400" dirty="0" smtClean="0">
                <a:solidFill>
                  <a:srgbClr val="FF3300"/>
                </a:solidFill>
              </a:rPr>
              <a:t>1.602 </a:t>
            </a:r>
            <a:r>
              <a:rPr lang="en-US" sz="2400" dirty="0" smtClean="0">
                <a:solidFill>
                  <a:srgbClr val="FF3300"/>
                </a:solidFill>
                <a:sym typeface="Symbol" pitchFamily="18" charset="2"/>
              </a:rPr>
              <a:t> </a:t>
            </a:r>
            <a:r>
              <a:rPr lang="en-US" sz="2400" dirty="0" smtClean="0">
                <a:solidFill>
                  <a:srgbClr val="FF3300"/>
                </a:solidFill>
              </a:rPr>
              <a:t>10</a:t>
            </a:r>
            <a:r>
              <a:rPr lang="en-US" sz="2400" baseline="30000" dirty="0" smtClean="0">
                <a:solidFill>
                  <a:srgbClr val="FF3300"/>
                </a:solidFill>
              </a:rPr>
              <a:t>-19</a:t>
            </a:r>
            <a:r>
              <a:rPr lang="en-US" sz="2400" dirty="0" smtClean="0">
                <a:solidFill>
                  <a:srgbClr val="FF3300"/>
                </a:solidFill>
              </a:rPr>
              <a:t> C</a:t>
            </a:r>
            <a:r>
              <a:rPr lang="en-US" sz="2400" dirty="0" smtClean="0"/>
              <a:t> which is called an electronic charge. </a:t>
            </a:r>
          </a:p>
          <a:p>
            <a:pPr marL="395288" indent="-395288" eaLnBrk="1" hangingPunct="1"/>
            <a:r>
              <a:rPr lang="en-US" sz="2400" dirty="0" smtClean="0">
                <a:solidFill>
                  <a:srgbClr val="FF0000"/>
                </a:solidFill>
              </a:rPr>
              <a:t>1 C = 1/e = 6.24 x 10</a:t>
            </a:r>
            <a:r>
              <a:rPr lang="en-US" sz="2400" baseline="30000" dirty="0" smtClean="0">
                <a:solidFill>
                  <a:srgbClr val="FF0000"/>
                </a:solidFill>
              </a:rPr>
              <a:t>18 </a:t>
            </a:r>
            <a:r>
              <a:rPr lang="en-US" sz="2400" dirty="0" smtClean="0"/>
              <a:t>electrons</a:t>
            </a:r>
          </a:p>
          <a:p>
            <a:pPr marL="395288" indent="-395288" eaLnBrk="1" hangingPunct="1"/>
            <a:r>
              <a:rPr lang="en-US" sz="2400" dirty="0" smtClean="0"/>
              <a:t>The charges that occur in nature are </a:t>
            </a:r>
            <a:r>
              <a:rPr lang="en-US" sz="2400" dirty="0" smtClean="0">
                <a:solidFill>
                  <a:srgbClr val="FF3300"/>
                </a:solidFill>
              </a:rPr>
              <a:t>integral multiples</a:t>
            </a:r>
            <a:r>
              <a:rPr lang="en-US" sz="2400" dirty="0" smtClean="0"/>
              <a:t> of the electronic charge </a:t>
            </a:r>
            <a:r>
              <a:rPr lang="en-US" sz="2400" dirty="0" smtClean="0">
                <a:solidFill>
                  <a:srgbClr val="FF0000"/>
                </a:solidFill>
              </a:rPr>
              <a:t>e</a:t>
            </a:r>
            <a:r>
              <a:rPr lang="en-US" sz="2400" dirty="0" smtClean="0"/>
              <a:t>. </a:t>
            </a:r>
          </a:p>
          <a:p>
            <a:pPr marL="395288" indent="-395288" eaLnBrk="1" hangingPunct="1"/>
            <a:r>
              <a:rPr lang="en-US" sz="2400" dirty="0" smtClean="0">
                <a:solidFill>
                  <a:srgbClr val="FF0000"/>
                </a:solidFill>
              </a:rPr>
              <a:t>Law of conservation of Charge:  </a:t>
            </a:r>
            <a:r>
              <a:rPr lang="en-US" sz="2400" dirty="0" smtClean="0"/>
              <a:t>Charge can neither be created nor destroyed, it can only be transferred.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CBEF3983-5064-488A-A1D9-72476AED002E}" type="slidenum">
              <a:rPr lang="en-US"/>
              <a:pPr/>
              <a:t>6</a:t>
            </a:fld>
            <a:endParaRPr 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43888" cy="731838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1.3 Current (1)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8839200" cy="27432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The direction of current flow</a:t>
            </a:r>
          </a:p>
          <a:p>
            <a:pPr lvl="1" eaLnBrk="1" hangingPunct="1"/>
            <a:r>
              <a:rPr lang="en-US" sz="2400" dirty="0" smtClean="0"/>
              <a:t>Motion of charge creates electric current.</a:t>
            </a:r>
          </a:p>
          <a:p>
            <a:pPr lvl="1" eaLnBrk="1" hangingPunct="1"/>
            <a:r>
              <a:rPr lang="en-US" sz="2400" dirty="0" smtClean="0"/>
              <a:t>Benjamin Franklin </a:t>
            </a:r>
            <a:r>
              <a:rPr lang="en-US" sz="1600" dirty="0" smtClean="0"/>
              <a:t>(1706 – 1790)</a:t>
            </a:r>
            <a:r>
              <a:rPr lang="en-US" sz="2400" dirty="0" smtClean="0"/>
              <a:t>:  Convention: Current flows in the direction of </a:t>
            </a:r>
            <a:r>
              <a:rPr lang="en-US" sz="2400" dirty="0" smtClean="0">
                <a:solidFill>
                  <a:srgbClr val="FF0000"/>
                </a:solidFill>
              </a:rPr>
              <a:t>positive charge</a:t>
            </a:r>
            <a:r>
              <a:rPr lang="en-US" sz="2400" dirty="0" smtClean="0"/>
              <a:t>.</a:t>
            </a:r>
          </a:p>
          <a:p>
            <a:pPr lvl="1" eaLnBrk="1" hangingPunct="1"/>
            <a:r>
              <a:rPr lang="en-US" sz="2400" dirty="0" smtClean="0"/>
              <a:t>Years later it was found that it is actually Free Electrons moving in the opposite direction.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42925" y="4052888"/>
            <a:ext cx="7305675" cy="2728912"/>
            <a:chOff x="1066800" y="3429000"/>
            <a:chExt cx="7305675" cy="2728912"/>
          </a:xfrm>
        </p:grpSpPr>
        <p:pic>
          <p:nvPicPr>
            <p:cNvPr id="9221" name="Picture 4" descr="fig131"/>
            <p:cNvPicPr>
              <a:picLocks noGrp="1" noChangeAspect="1" noChangeArrowheads="1"/>
            </p:cNvPicPr>
            <p:nvPr>
              <p:ph sz="half" idx="2"/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66800" y="3429000"/>
              <a:ext cx="7305675" cy="2286000"/>
            </a:xfrm>
            <a:noFill/>
          </p:spPr>
        </p:pic>
        <p:sp>
          <p:nvSpPr>
            <p:cNvPr id="9222" name="Text Box 6"/>
            <p:cNvSpPr txBox="1">
              <a:spLocks noChangeArrowheads="1"/>
            </p:cNvSpPr>
            <p:nvPr/>
          </p:nvSpPr>
          <p:spPr bwMode="auto">
            <a:xfrm>
              <a:off x="1905000" y="5715000"/>
              <a:ext cx="1828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FF3300"/>
                  </a:solidFill>
                </a:rPr>
                <a:t>Positive ions</a:t>
              </a:r>
            </a:p>
          </p:txBody>
        </p:sp>
        <p:sp>
          <p:nvSpPr>
            <p:cNvPr id="9223" name="Text Box 7"/>
            <p:cNvSpPr txBox="1">
              <a:spLocks noChangeArrowheads="1"/>
            </p:cNvSpPr>
            <p:nvPr/>
          </p:nvSpPr>
          <p:spPr bwMode="auto">
            <a:xfrm>
              <a:off x="5867400" y="5791200"/>
              <a:ext cx="17526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FF3300"/>
                  </a:solidFill>
                </a:rPr>
                <a:t>Negative 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1"/>
          <a:stretch>
            <a:fillRect/>
          </a:stretch>
        </p:blipFill>
        <p:spPr bwMode="auto">
          <a:xfrm>
            <a:off x="6019800" y="1828800"/>
            <a:ext cx="3008313" cy="478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D231DAD4-6AE1-45A9-B0D4-7E4EC1A670EB}" type="slidenum">
              <a:rPr lang="en-US"/>
              <a:pPr/>
              <a:t>7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373563" y="152400"/>
            <a:ext cx="4327525" cy="808038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 1.3 Current (2)</a:t>
            </a:r>
          </a:p>
        </p:txBody>
      </p:sp>
      <p:sp>
        <p:nvSpPr>
          <p:cNvPr id="5017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76200" y="1981200"/>
            <a:ext cx="6248400" cy="4572000"/>
          </a:xfrm>
          <a:blipFill rotWithShape="1">
            <a:blip r:embed="rId3"/>
            <a:stretch>
              <a:fillRect l="-1561" t="-1067" r="-3024"/>
            </a:stretch>
          </a:blipFill>
          <a:extLst/>
        </p:spPr>
        <p:txBody>
          <a:bodyPr/>
          <a:lstStyle/>
          <a:p>
            <a:r>
              <a:rPr lang="en-ZA">
                <a:noFill/>
              </a:rPr>
              <a:t> 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24"/>
          <a:stretch>
            <a:fillRect/>
          </a:stretch>
        </p:blipFill>
        <p:spPr bwMode="auto">
          <a:xfrm>
            <a:off x="309563" y="152400"/>
            <a:ext cx="433863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B3303524-7743-4BD2-98B6-3710EA99DA1D}" type="slidenum">
              <a:rPr lang="en-US"/>
              <a:pPr/>
              <a:t>8</a:t>
            </a:fld>
            <a:endParaRPr 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43887" cy="731838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1.3 Current (3)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369219" y="1287062"/>
            <a:ext cx="6544313" cy="3261336"/>
            <a:chOff x="1369219" y="1287062"/>
            <a:chExt cx="6544313" cy="3261336"/>
          </a:xfrm>
        </p:grpSpPr>
        <p:pic>
          <p:nvPicPr>
            <p:cNvPr id="1024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419" y="1287062"/>
              <a:ext cx="3052762" cy="3261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Arc 2"/>
            <p:cNvSpPr/>
            <p:nvPr/>
          </p:nvSpPr>
          <p:spPr bwMode="auto">
            <a:xfrm rot="16200000">
              <a:off x="2332986" y="1712667"/>
              <a:ext cx="2209800" cy="2120591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Arc 9"/>
            <p:cNvSpPr/>
            <p:nvPr/>
          </p:nvSpPr>
          <p:spPr bwMode="auto">
            <a:xfrm rot="16200000" flipV="1">
              <a:off x="4387134" y="1776729"/>
              <a:ext cx="2209800" cy="1992468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369219" y="1444616"/>
              <a:ext cx="1600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3200" dirty="0" smtClean="0"/>
                <a:t>I</a:t>
              </a:r>
              <a:r>
                <a:rPr lang="en-ZA" sz="3200" baseline="-25000" dirty="0" smtClean="0"/>
                <a:t>1</a:t>
              </a:r>
              <a:r>
                <a:rPr lang="en-ZA" sz="3200" dirty="0" smtClean="0"/>
                <a:t>= ?</a:t>
              </a:r>
              <a:endParaRPr lang="en-ZA" sz="3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0" y="1470017"/>
              <a:ext cx="15127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3200" dirty="0" smtClean="0"/>
                <a:t>I</a:t>
              </a:r>
              <a:r>
                <a:rPr lang="en-ZA" sz="3200" baseline="-25000" dirty="0" smtClean="0"/>
                <a:t>2</a:t>
              </a:r>
              <a:r>
                <a:rPr lang="en-ZA" sz="3200" dirty="0" smtClean="0"/>
                <a:t> = ?</a:t>
              </a:r>
              <a:endParaRPr lang="en-ZA" sz="32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23900" y="2914460"/>
            <a:ext cx="2080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dirty="0" smtClean="0">
                <a:solidFill>
                  <a:srgbClr val="FF0000"/>
                </a:solidFill>
              </a:rPr>
              <a:t>I</a:t>
            </a:r>
            <a:r>
              <a:rPr lang="en-ZA" sz="3200" baseline="-25000" dirty="0" smtClean="0">
                <a:solidFill>
                  <a:srgbClr val="FF0000"/>
                </a:solidFill>
              </a:rPr>
              <a:t>1</a:t>
            </a:r>
            <a:r>
              <a:rPr lang="en-ZA" sz="3200" dirty="0" smtClean="0">
                <a:solidFill>
                  <a:srgbClr val="FF0000"/>
                </a:solidFill>
              </a:rPr>
              <a:t>= +1A</a:t>
            </a:r>
            <a:endParaRPr lang="en-ZA" sz="32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3000" y="2914459"/>
            <a:ext cx="2080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dirty="0" smtClean="0">
                <a:solidFill>
                  <a:srgbClr val="FF0000"/>
                </a:solidFill>
              </a:rPr>
              <a:t>I</a:t>
            </a:r>
            <a:r>
              <a:rPr lang="en-ZA" sz="3200" baseline="-25000" dirty="0" smtClean="0">
                <a:solidFill>
                  <a:srgbClr val="FF0000"/>
                </a:solidFill>
              </a:rPr>
              <a:t>2</a:t>
            </a:r>
            <a:r>
              <a:rPr lang="en-ZA" sz="3200" dirty="0" smtClean="0">
                <a:solidFill>
                  <a:srgbClr val="FF0000"/>
                </a:solidFill>
              </a:rPr>
              <a:t>= -1A</a:t>
            </a:r>
            <a:endParaRPr lang="en-ZA" sz="32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9419" y="4647530"/>
            <a:ext cx="2962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dirty="0" smtClean="0">
                <a:solidFill>
                  <a:srgbClr val="FF0000"/>
                </a:solidFill>
              </a:rPr>
              <a:t>I</a:t>
            </a:r>
            <a:r>
              <a:rPr lang="en-ZA" sz="3200" baseline="-25000" dirty="0" smtClean="0">
                <a:solidFill>
                  <a:srgbClr val="FF0000"/>
                </a:solidFill>
              </a:rPr>
              <a:t>1 </a:t>
            </a:r>
            <a:r>
              <a:rPr lang="en-ZA" sz="3200" dirty="0" smtClean="0">
                <a:solidFill>
                  <a:srgbClr val="FF0000"/>
                </a:solidFill>
              </a:rPr>
              <a:t>= -I</a:t>
            </a:r>
            <a:r>
              <a:rPr lang="en-ZA" sz="3200" baseline="-25000" dirty="0" smtClean="0">
                <a:solidFill>
                  <a:srgbClr val="FF0000"/>
                </a:solidFill>
              </a:rPr>
              <a:t>2</a:t>
            </a:r>
            <a:r>
              <a:rPr lang="en-ZA" sz="3200" dirty="0" smtClean="0">
                <a:solidFill>
                  <a:srgbClr val="FF0000"/>
                </a:solidFill>
              </a:rPr>
              <a:t>= 1A</a:t>
            </a:r>
            <a:endParaRPr lang="en-ZA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CC290002-BA46-47B6-BB5F-5E11C8C58A92}" type="slidenum">
              <a:rPr lang="en-US"/>
              <a:pPr/>
              <a:t>9</a:t>
            </a:fld>
            <a:endParaRPr lang="en-US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9726" y="447804"/>
            <a:ext cx="8382000" cy="5777631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u="sng" dirty="0" smtClean="0">
                <a:solidFill>
                  <a:srgbClr val="FF0000"/>
                </a:solidFill>
              </a:rPr>
              <a:t>PP1.1</a:t>
            </a:r>
          </a:p>
          <a:p>
            <a:pPr eaLnBrk="1" hangingPunct="1">
              <a:buFontTx/>
              <a:buNone/>
            </a:pPr>
            <a:r>
              <a:rPr lang="en-US" sz="2800" dirty="0" smtClean="0"/>
              <a:t>Calculate the amount of charge represented by four million protons.</a:t>
            </a:r>
          </a:p>
          <a:p>
            <a:pPr eaLnBrk="1" hangingPunct="1">
              <a:buFontTx/>
              <a:buNone/>
            </a:pPr>
            <a:endParaRPr lang="en-US" sz="2800" dirty="0"/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Q = 4x10</a:t>
            </a:r>
            <a:r>
              <a:rPr lang="en-US" sz="2800" baseline="30000" dirty="0" smtClean="0">
                <a:solidFill>
                  <a:srgbClr val="FF0000"/>
                </a:solidFill>
              </a:rPr>
              <a:t>6</a:t>
            </a:r>
            <a:r>
              <a:rPr lang="en-US" sz="2800" dirty="0" smtClean="0">
                <a:solidFill>
                  <a:srgbClr val="FF0000"/>
                </a:solidFill>
              </a:rPr>
              <a:t> x </a:t>
            </a:r>
            <a:r>
              <a:rPr lang="en-US" sz="2800" dirty="0">
                <a:solidFill>
                  <a:srgbClr val="000099"/>
                </a:solidFill>
              </a:rPr>
              <a:t>–</a:t>
            </a:r>
            <a:r>
              <a:rPr lang="en-US" sz="2800" i="1" dirty="0" smtClean="0">
                <a:solidFill>
                  <a:srgbClr val="000099"/>
                </a:solidFill>
              </a:rPr>
              <a:t>e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   = </a:t>
            </a:r>
            <a:r>
              <a:rPr lang="en-US" sz="2800" dirty="0">
                <a:solidFill>
                  <a:srgbClr val="FF0000"/>
                </a:solidFill>
              </a:rPr>
              <a:t>4x10</a:t>
            </a:r>
            <a:r>
              <a:rPr lang="en-US" sz="2800" baseline="30000" dirty="0">
                <a:solidFill>
                  <a:srgbClr val="FF0000"/>
                </a:solidFill>
              </a:rPr>
              <a:t>6</a:t>
            </a:r>
            <a:r>
              <a:rPr lang="en-US" sz="2800" dirty="0">
                <a:solidFill>
                  <a:srgbClr val="FF0000"/>
                </a:solidFill>
              </a:rPr>
              <a:t> x </a:t>
            </a:r>
            <a:r>
              <a:rPr lang="en-US" sz="2800" dirty="0" smtClean="0">
                <a:solidFill>
                  <a:srgbClr val="000099"/>
                </a:solidFill>
              </a:rPr>
              <a:t>–(–1.602x10</a:t>
            </a:r>
            <a:r>
              <a:rPr lang="en-US" sz="2800" baseline="30000" dirty="0" smtClean="0">
                <a:solidFill>
                  <a:srgbClr val="000099"/>
                </a:solidFill>
              </a:rPr>
              <a:t>-19</a:t>
            </a:r>
            <a:r>
              <a:rPr lang="en-US" sz="2800" dirty="0" smtClean="0">
                <a:solidFill>
                  <a:srgbClr val="000099"/>
                </a:solidFill>
              </a:rPr>
              <a:t>C)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    = </a:t>
            </a:r>
            <a:r>
              <a:rPr lang="en-US" sz="2800" dirty="0" smtClean="0">
                <a:solidFill>
                  <a:srgbClr val="000099"/>
                </a:solidFill>
              </a:rPr>
              <a:t>+6.408x10</a:t>
            </a:r>
            <a:r>
              <a:rPr lang="en-US" sz="2800" baseline="30000" dirty="0" smtClean="0">
                <a:solidFill>
                  <a:srgbClr val="000099"/>
                </a:solidFill>
              </a:rPr>
              <a:t>-13</a:t>
            </a:r>
            <a:r>
              <a:rPr lang="en-US" sz="2800" dirty="0" smtClean="0">
                <a:solidFill>
                  <a:srgbClr val="000099"/>
                </a:solidFill>
              </a:rPr>
              <a:t>C</a:t>
            </a:r>
            <a:endParaRPr lang="en-US" sz="28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dirty="0">
                <a:solidFill>
                  <a:srgbClr val="000099"/>
                </a:solidFill>
              </a:rPr>
              <a:t>	</a:t>
            </a:r>
            <a:r>
              <a:rPr lang="en-US" sz="2800" dirty="0" smtClean="0">
                <a:solidFill>
                  <a:srgbClr val="000099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=</a:t>
            </a:r>
            <a:r>
              <a:rPr lang="en-US" sz="2800" dirty="0" smtClean="0">
                <a:solidFill>
                  <a:srgbClr val="000099"/>
                </a:solidFill>
              </a:rPr>
              <a:t> 0.6408x10</a:t>
            </a:r>
            <a:r>
              <a:rPr lang="en-US" sz="2800" baseline="30000" dirty="0" smtClean="0">
                <a:solidFill>
                  <a:srgbClr val="000099"/>
                </a:solidFill>
              </a:rPr>
              <a:t>-12</a:t>
            </a:r>
            <a:r>
              <a:rPr lang="en-US" sz="2800" dirty="0" smtClean="0">
                <a:solidFill>
                  <a:srgbClr val="000099"/>
                </a:solidFill>
              </a:rPr>
              <a:t>C</a:t>
            </a:r>
          </a:p>
          <a:p>
            <a:pPr eaLnBrk="1" hangingPunct="1">
              <a:buFontTx/>
              <a:buNone/>
            </a:pPr>
            <a:r>
              <a:rPr lang="en-US" sz="2800" dirty="0">
                <a:solidFill>
                  <a:srgbClr val="000099"/>
                </a:solidFill>
              </a:rPr>
              <a:t> </a:t>
            </a:r>
            <a:r>
              <a:rPr lang="en-US" sz="2800" dirty="0" smtClean="0">
                <a:solidFill>
                  <a:srgbClr val="000099"/>
                </a:solidFill>
              </a:rPr>
              <a:t>   </a:t>
            </a:r>
            <a:r>
              <a:rPr lang="en-US" sz="2800" dirty="0" smtClean="0">
                <a:solidFill>
                  <a:srgbClr val="FF0000"/>
                </a:solidFill>
              </a:rPr>
              <a:t>=</a:t>
            </a:r>
            <a:r>
              <a:rPr lang="en-US" sz="2800" dirty="0" smtClean="0">
                <a:solidFill>
                  <a:srgbClr val="000099"/>
                </a:solidFill>
              </a:rPr>
              <a:t> 0.6408 </a:t>
            </a:r>
            <a:r>
              <a:rPr lang="en-US" sz="2800" dirty="0" err="1" smtClean="0">
                <a:solidFill>
                  <a:srgbClr val="000099"/>
                </a:solidFill>
              </a:rPr>
              <a:t>pC</a:t>
            </a:r>
            <a:endParaRPr lang="en-US" sz="2800" dirty="0" smtClean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dirty="0">
                <a:solidFill>
                  <a:srgbClr val="000099"/>
                </a:solidFill>
              </a:rPr>
              <a:t> </a:t>
            </a:r>
            <a:r>
              <a:rPr lang="en-US" sz="2800" dirty="0" smtClean="0">
                <a:solidFill>
                  <a:srgbClr val="000099"/>
                </a:solidFill>
              </a:rPr>
              <a:t>   </a:t>
            </a:r>
            <a:r>
              <a:rPr lang="en-US" sz="2800" dirty="0" smtClean="0">
                <a:solidFill>
                  <a:srgbClr val="FF0000"/>
                </a:solidFill>
              </a:rPr>
              <a:t>=</a:t>
            </a:r>
            <a:r>
              <a:rPr lang="en-US" sz="2800" dirty="0" smtClean="0">
                <a:solidFill>
                  <a:srgbClr val="000099"/>
                </a:solidFill>
              </a:rPr>
              <a:t> 640.8 </a:t>
            </a:r>
            <a:r>
              <a:rPr lang="en-US" sz="2800" dirty="0" err="1" smtClean="0">
                <a:solidFill>
                  <a:srgbClr val="000099"/>
                </a:solidFill>
              </a:rPr>
              <a:t>fC</a:t>
            </a:r>
            <a:endParaRPr lang="en-US" sz="2800" dirty="0" smtClean="0">
              <a:solidFill>
                <a:srgbClr val="000099"/>
              </a:solidFill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43887" cy="1981200"/>
          </a:xfrm>
        </p:spPr>
        <p:txBody>
          <a:bodyPr/>
          <a:lstStyle/>
          <a:p>
            <a:pPr algn="l"/>
            <a:r>
              <a:rPr lang="en-ZA" sz="3200" b="1" dirty="0" smtClean="0">
                <a:solidFill>
                  <a:srgbClr val="FF0000"/>
                </a:solidFill>
              </a:rPr>
              <a:t>PP1-2</a:t>
            </a:r>
            <a:r>
              <a:rPr lang="en-ZA" dirty="0" smtClean="0"/>
              <a:t/>
            </a:r>
            <a:br>
              <a:rPr lang="en-ZA" dirty="0" smtClean="0"/>
            </a:br>
            <a:r>
              <a:rPr lang="en-ZA" sz="3200" dirty="0" smtClean="0"/>
              <a:t>The total charge entering a terminal is given by </a:t>
            </a:r>
            <a:r>
              <a:rPr lang="en-ZA" sz="3200" i="1" dirty="0" smtClean="0">
                <a:solidFill>
                  <a:srgbClr val="FF0000"/>
                </a:solidFill>
              </a:rPr>
              <a:t>q =(10 – 10e</a:t>
            </a:r>
            <a:r>
              <a:rPr lang="en-ZA" sz="3200" i="1" baseline="30000" dirty="0" smtClean="0">
                <a:solidFill>
                  <a:srgbClr val="FF0000"/>
                </a:solidFill>
              </a:rPr>
              <a:t>-2t</a:t>
            </a:r>
            <a:r>
              <a:rPr lang="en-ZA" sz="3200" i="1" dirty="0" smtClean="0">
                <a:solidFill>
                  <a:srgbClr val="FF0000"/>
                </a:solidFill>
              </a:rPr>
              <a:t>) </a:t>
            </a:r>
            <a:r>
              <a:rPr lang="en-ZA" sz="3200" dirty="0" err="1" smtClean="0">
                <a:solidFill>
                  <a:srgbClr val="FF0000"/>
                </a:solidFill>
              </a:rPr>
              <a:t>mC</a:t>
            </a:r>
            <a:r>
              <a:rPr lang="en-ZA" sz="3200" dirty="0" err="1" smtClean="0"/>
              <a:t>.</a:t>
            </a:r>
            <a:r>
              <a:rPr lang="en-ZA" sz="3200" dirty="0" smtClean="0"/>
              <a:t>  Find the </a:t>
            </a:r>
            <a:r>
              <a:rPr lang="en-ZA" sz="3200" b="1" dirty="0" smtClean="0"/>
              <a:t>current</a:t>
            </a:r>
            <a:r>
              <a:rPr lang="en-ZA" sz="3200" dirty="0" smtClean="0"/>
              <a:t> at </a:t>
            </a:r>
            <a:r>
              <a:rPr lang="en-ZA" sz="3200" i="1" dirty="0" smtClean="0">
                <a:solidFill>
                  <a:srgbClr val="FF0000"/>
                </a:solidFill>
              </a:rPr>
              <a:t>t = 0.5s</a:t>
            </a:r>
            <a:r>
              <a:rPr lang="en-ZA" sz="3200" dirty="0" smtClean="0"/>
              <a:t>.</a:t>
            </a:r>
            <a:endParaRPr lang="en-ZA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51549" y="1927849"/>
                <a:ext cx="1591911" cy="1144159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latin typeface="Cambria Math"/>
                        </a:rPr>
                        <m:t>𝑖</m:t>
                      </m:r>
                      <m:r>
                        <a:rPr lang="en-ZA" sz="3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ZA" sz="3600" b="0" i="1" smtClean="0">
                              <a:latin typeface="Cambria Math"/>
                            </a:rPr>
                            <m:t>𝑑𝑞</m:t>
                          </m:r>
                        </m:num>
                        <m:den>
                          <m:r>
                            <a:rPr lang="en-ZA" sz="36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ZA" sz="3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549" y="1927849"/>
                <a:ext cx="1591911" cy="114415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05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0" y="685800"/>
            <a:ext cx="10668000" cy="5216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4" name="Straight Connector 23"/>
          <p:cNvCxnSpPr/>
          <p:nvPr/>
        </p:nvCxnSpPr>
        <p:spPr bwMode="auto">
          <a:xfrm flipV="1">
            <a:off x="1447800" y="3371850"/>
            <a:ext cx="0" cy="195262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" name="Group 12"/>
          <p:cNvGrpSpPr/>
          <p:nvPr/>
        </p:nvGrpSpPr>
        <p:grpSpPr>
          <a:xfrm>
            <a:off x="1482582" y="3406143"/>
            <a:ext cx="7661418" cy="700680"/>
            <a:chOff x="1482582" y="3406143"/>
            <a:chExt cx="7661418" cy="700680"/>
          </a:xfrm>
        </p:grpSpPr>
        <p:sp>
          <p:nvSpPr>
            <p:cNvPr id="25" name="TextBox 24"/>
            <p:cNvSpPr txBox="1"/>
            <p:nvPr/>
          </p:nvSpPr>
          <p:spPr>
            <a:xfrm>
              <a:off x="2266950" y="3645158"/>
              <a:ext cx="687705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ZA" sz="2400" dirty="0" smtClean="0"/>
                <a:t>Gradient @ 0.5s ≈ 7.4 </a:t>
              </a:r>
              <a:r>
                <a:rPr lang="en-ZA" sz="2400" dirty="0" err="1" smtClean="0"/>
                <a:t>mC</a:t>
              </a:r>
              <a:r>
                <a:rPr lang="en-ZA" sz="2400" dirty="0" smtClean="0"/>
                <a:t>/s </a:t>
              </a:r>
              <a:r>
                <a:rPr lang="en-ZA" sz="2400" dirty="0"/>
                <a:t>≈ </a:t>
              </a:r>
              <a:r>
                <a:rPr lang="en-ZA" sz="2400" dirty="0" smtClean="0"/>
                <a:t>7.4 mA</a:t>
              </a:r>
              <a:endParaRPr lang="en-ZA" sz="2400" dirty="0"/>
            </a:p>
          </p:txBody>
        </p:sp>
        <p:cxnSp>
          <p:nvCxnSpPr>
            <p:cNvPr id="27" name="Elbow Connector 26"/>
            <p:cNvCxnSpPr/>
            <p:nvPr/>
          </p:nvCxnSpPr>
          <p:spPr bwMode="auto">
            <a:xfrm rot="10800000">
              <a:off x="1482582" y="3406143"/>
              <a:ext cx="784368" cy="439368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" name="TextBox 37"/>
          <p:cNvSpPr txBox="1"/>
          <p:nvPr/>
        </p:nvSpPr>
        <p:spPr>
          <a:xfrm>
            <a:off x="449943" y="295088"/>
            <a:ext cx="84618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Differentiating</a:t>
            </a:r>
            <a:r>
              <a:rPr lang="en-ZA" sz="2400" dirty="0" smtClean="0"/>
              <a:t> means finding the slope or </a:t>
            </a:r>
            <a:r>
              <a:rPr lang="en-ZA" sz="2400" dirty="0" smtClean="0">
                <a:solidFill>
                  <a:srgbClr val="FF0000"/>
                </a:solidFill>
              </a:rPr>
              <a:t>gradient</a:t>
            </a:r>
            <a:endParaRPr lang="en-ZA" sz="2400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 flipV="1">
            <a:off x="631022" y="2073910"/>
            <a:ext cx="1754038" cy="239077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Rectangle 18"/>
          <p:cNvSpPr/>
          <p:nvPr/>
        </p:nvSpPr>
        <p:spPr>
          <a:xfrm>
            <a:off x="4061857" y="1889244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i="1" dirty="0">
                <a:solidFill>
                  <a:srgbClr val="FF0000"/>
                </a:solidFill>
              </a:rPr>
              <a:t>q =(10 – 10e</a:t>
            </a:r>
            <a:r>
              <a:rPr lang="en-ZA" i="1" baseline="30000" dirty="0">
                <a:solidFill>
                  <a:srgbClr val="FF0000"/>
                </a:solidFill>
              </a:rPr>
              <a:t>-2t</a:t>
            </a:r>
            <a:r>
              <a:rPr lang="en-ZA" i="1" dirty="0">
                <a:solidFill>
                  <a:srgbClr val="FF0000"/>
                </a:solidFill>
              </a:rPr>
              <a:t>) </a:t>
            </a:r>
            <a:r>
              <a:rPr lang="en-ZA" dirty="0" err="1">
                <a:solidFill>
                  <a:srgbClr val="FF0000"/>
                </a:solidFill>
              </a:rPr>
              <a:t>mC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7348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43887" cy="2336800"/>
          </a:xfrm>
        </p:spPr>
        <p:txBody>
          <a:bodyPr/>
          <a:lstStyle/>
          <a:p>
            <a:pPr algn="l"/>
            <a:r>
              <a:rPr lang="en-ZA" sz="3200" u="sng" dirty="0" smtClean="0">
                <a:solidFill>
                  <a:srgbClr val="FF0000"/>
                </a:solidFill>
              </a:rPr>
              <a:t>Example 1-3</a:t>
            </a:r>
            <a:r>
              <a:rPr lang="en-ZA" dirty="0" smtClean="0"/>
              <a:t/>
            </a:r>
            <a:br>
              <a:rPr lang="en-ZA" dirty="0" smtClean="0"/>
            </a:br>
            <a:r>
              <a:rPr lang="en-ZA" sz="3200" dirty="0" smtClean="0"/>
              <a:t>Determine the total </a:t>
            </a:r>
            <a:r>
              <a:rPr lang="en-ZA" sz="3200" dirty="0" smtClean="0">
                <a:solidFill>
                  <a:srgbClr val="FF0000"/>
                </a:solidFill>
              </a:rPr>
              <a:t>charge</a:t>
            </a:r>
            <a:r>
              <a:rPr lang="en-ZA" sz="3200" dirty="0" smtClean="0"/>
              <a:t> entering a terminal between t = 1 s and t =2 s if the current passing the terminal is:</a:t>
            </a:r>
            <a:br>
              <a:rPr lang="en-ZA" sz="3200" dirty="0" smtClean="0"/>
            </a:br>
            <a:r>
              <a:rPr lang="en-ZA" sz="3200" i="1" dirty="0" smtClean="0">
                <a:solidFill>
                  <a:srgbClr val="FF0000"/>
                </a:solidFill>
              </a:rPr>
              <a:t>i = (3t</a:t>
            </a:r>
            <a:r>
              <a:rPr lang="en-ZA" sz="3200" i="1" baseline="30000" dirty="0" smtClean="0">
                <a:solidFill>
                  <a:srgbClr val="FF0000"/>
                </a:solidFill>
              </a:rPr>
              <a:t>2</a:t>
            </a:r>
            <a:r>
              <a:rPr lang="en-ZA" sz="3200" i="1" dirty="0" smtClean="0">
                <a:solidFill>
                  <a:srgbClr val="FF0000"/>
                </a:solidFill>
              </a:rPr>
              <a:t> – t) A</a:t>
            </a:r>
            <a:endParaRPr lang="en-ZA" sz="3200" i="1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50071" y="1960323"/>
                <a:ext cx="2651175" cy="1399614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600" b="0" i="1" smtClean="0">
                          <a:latin typeface="Cambria Math"/>
                        </a:rPr>
                        <m:t>𝑄</m:t>
                      </m:r>
                      <m:r>
                        <a:rPr lang="en-ZA" sz="36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ZA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36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ZA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3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3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ZA" sz="36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ZA" sz="36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ZA" sz="36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ZA" sz="3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071" y="1960323"/>
                <a:ext cx="2651175" cy="13996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9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9" r="7318" b="5329"/>
          <a:stretch/>
        </p:blipFill>
        <p:spPr bwMode="auto">
          <a:xfrm>
            <a:off x="319314" y="700992"/>
            <a:ext cx="8258629" cy="60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9314" y="295088"/>
            <a:ext cx="84618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Integrating</a:t>
            </a:r>
            <a:r>
              <a:rPr lang="en-ZA" sz="2400" dirty="0" smtClean="0"/>
              <a:t> means finding the </a:t>
            </a:r>
            <a:r>
              <a:rPr lang="en-ZA" sz="2400" dirty="0" smtClean="0">
                <a:solidFill>
                  <a:srgbClr val="FF0000"/>
                </a:solidFill>
              </a:rPr>
              <a:t>area</a:t>
            </a:r>
            <a:r>
              <a:rPr lang="en-ZA" sz="2400" dirty="0" smtClean="0"/>
              <a:t> underneath</a:t>
            </a:r>
            <a:endParaRPr lang="en-ZA" sz="2400" dirty="0"/>
          </a:p>
        </p:txBody>
      </p:sp>
      <p:sp>
        <p:nvSpPr>
          <p:cNvPr id="8" name="Freeform 7"/>
          <p:cNvSpPr/>
          <p:nvPr/>
        </p:nvSpPr>
        <p:spPr>
          <a:xfrm>
            <a:off x="3515632" y="3643314"/>
            <a:ext cx="2381250" cy="1196975"/>
          </a:xfrm>
          <a:custGeom>
            <a:avLst/>
            <a:gdLst>
              <a:gd name="connsiteX0" fmla="*/ 3175 w 2381250"/>
              <a:gd name="connsiteY0" fmla="*/ 1196975 h 1196975"/>
              <a:gd name="connsiteX1" fmla="*/ 0 w 2381250"/>
              <a:gd name="connsiteY1" fmla="*/ 971550 h 1196975"/>
              <a:gd name="connsiteX2" fmla="*/ 596900 w 2381250"/>
              <a:gd name="connsiteY2" fmla="*/ 800100 h 1196975"/>
              <a:gd name="connsiteX3" fmla="*/ 1416050 w 2381250"/>
              <a:gd name="connsiteY3" fmla="*/ 485775 h 1196975"/>
              <a:gd name="connsiteX4" fmla="*/ 1965325 w 2381250"/>
              <a:gd name="connsiteY4" fmla="*/ 219075 h 1196975"/>
              <a:gd name="connsiteX5" fmla="*/ 2381250 w 2381250"/>
              <a:gd name="connsiteY5" fmla="*/ 0 h 1196975"/>
              <a:gd name="connsiteX6" fmla="*/ 2381250 w 2381250"/>
              <a:gd name="connsiteY6" fmla="*/ 1196975 h 1196975"/>
              <a:gd name="connsiteX7" fmla="*/ 3175 w 2381250"/>
              <a:gd name="connsiteY7" fmla="*/ 1196975 h 119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1250" h="1196975">
                <a:moveTo>
                  <a:pt x="3175" y="1196975"/>
                </a:moveTo>
                <a:cubicBezTo>
                  <a:pt x="2117" y="1121833"/>
                  <a:pt x="1058" y="1046692"/>
                  <a:pt x="0" y="971550"/>
                </a:cubicBezTo>
                <a:lnTo>
                  <a:pt x="596900" y="800100"/>
                </a:lnTo>
                <a:lnTo>
                  <a:pt x="1416050" y="485775"/>
                </a:lnTo>
                <a:lnTo>
                  <a:pt x="1965325" y="219075"/>
                </a:lnTo>
                <a:lnTo>
                  <a:pt x="2381250" y="0"/>
                </a:lnTo>
                <a:lnTo>
                  <a:pt x="2381250" y="1196975"/>
                </a:lnTo>
                <a:lnTo>
                  <a:pt x="3175" y="1196975"/>
                </a:lnTo>
                <a:close/>
              </a:path>
            </a:pathLst>
          </a:custGeom>
          <a:pattFill prst="pct20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8600" y="1821933"/>
            <a:ext cx="26464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>
                <a:solidFill>
                  <a:srgbClr val="FF0000"/>
                </a:solidFill>
              </a:rPr>
              <a:t>i = (3t</a:t>
            </a:r>
            <a:r>
              <a:rPr lang="en-ZA" sz="2400" i="1" baseline="30000" dirty="0">
                <a:solidFill>
                  <a:srgbClr val="FF0000"/>
                </a:solidFill>
              </a:rPr>
              <a:t>2</a:t>
            </a:r>
            <a:r>
              <a:rPr lang="en-ZA" sz="2400" i="1" dirty="0">
                <a:solidFill>
                  <a:srgbClr val="FF0000"/>
                </a:solidFill>
              </a:rPr>
              <a:t> – t) A</a:t>
            </a:r>
            <a:endParaRPr lang="en-ZA" sz="24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3529058" y="3656014"/>
            <a:ext cx="3969020" cy="1255432"/>
            <a:chOff x="3515632" y="3656015"/>
            <a:chExt cx="3969020" cy="1255432"/>
          </a:xfrm>
        </p:grpSpPr>
        <p:grpSp>
          <p:nvGrpSpPr>
            <p:cNvPr id="23" name="Group 22"/>
            <p:cNvGrpSpPr/>
            <p:nvPr/>
          </p:nvGrpSpPr>
          <p:grpSpPr>
            <a:xfrm>
              <a:off x="3515632" y="3668715"/>
              <a:ext cx="2381250" cy="1173160"/>
              <a:chOff x="3515632" y="3668715"/>
              <a:chExt cx="2381250" cy="1173160"/>
            </a:xfrm>
          </p:grpSpPr>
          <p:sp>
            <p:nvSpPr>
              <p:cNvPr id="3" name="Right Triangle 2"/>
              <p:cNvSpPr/>
              <p:nvPr/>
            </p:nvSpPr>
            <p:spPr bwMode="auto">
              <a:xfrm flipH="1">
                <a:off x="3515632" y="3668715"/>
                <a:ext cx="2381250" cy="972000"/>
              </a:xfrm>
              <a:prstGeom prst="rtTriangle">
                <a:avLst/>
              </a:prstGeom>
              <a:solidFill>
                <a:schemeClr val="accent1">
                  <a:alpha val="80000"/>
                </a:schemeClr>
              </a:solidFill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4" name="Rectangle 3"/>
              <p:cNvSpPr/>
              <p:nvPr/>
            </p:nvSpPr>
            <p:spPr bwMode="auto">
              <a:xfrm>
                <a:off x="3515632" y="4637087"/>
                <a:ext cx="2381250" cy="204788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 w="1905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5931534" y="3656015"/>
              <a:ext cx="1553118" cy="1255432"/>
              <a:chOff x="6198235" y="3668715"/>
              <a:chExt cx="1553118" cy="1255432"/>
            </a:xfrm>
          </p:grpSpPr>
          <p:sp>
            <p:nvSpPr>
              <p:cNvPr id="9" name="Right Brace 8"/>
              <p:cNvSpPr/>
              <p:nvPr/>
            </p:nvSpPr>
            <p:spPr bwMode="auto">
              <a:xfrm>
                <a:off x="6198235" y="3668715"/>
                <a:ext cx="339724" cy="968372"/>
              </a:xfrm>
              <a:prstGeom prst="rightBrace">
                <a:avLst>
                  <a:gd name="adj1" fmla="val 44221"/>
                  <a:gd name="adj2" fmla="val 50000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4" name="Right Brace 13"/>
              <p:cNvSpPr/>
              <p:nvPr/>
            </p:nvSpPr>
            <p:spPr bwMode="auto">
              <a:xfrm>
                <a:off x="6213475" y="4640714"/>
                <a:ext cx="339724" cy="212275"/>
              </a:xfrm>
              <a:prstGeom prst="rightBrace">
                <a:avLst>
                  <a:gd name="adj1" fmla="val 44221"/>
                  <a:gd name="adj2" fmla="val 50000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553199" y="4554815"/>
                <a:ext cx="11901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 smtClean="0"/>
                  <a:t>1.7 A</a:t>
                </a:r>
                <a:endParaRPr lang="en-ZA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561181" y="3968235"/>
                <a:ext cx="11901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 smtClean="0"/>
                  <a:t>7.8 A</a:t>
                </a:r>
                <a:endParaRPr lang="en-ZA" dirty="0"/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3620023" y="5029648"/>
            <a:ext cx="425370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dirty="0" smtClean="0"/>
              <a:t>Area = (2-1)s x (1.7 + 0.5x7.8)A</a:t>
            </a:r>
          </a:p>
          <a:p>
            <a:r>
              <a:rPr lang="en-ZA" dirty="0"/>
              <a:t> </a:t>
            </a:r>
            <a:r>
              <a:rPr lang="en-ZA" dirty="0" smtClean="0"/>
              <a:t>       = 5.6 A</a:t>
            </a:r>
            <a:r>
              <a:rPr lang="en-ZA" dirty="0" smtClean="0">
                <a:sym typeface="Symbol"/>
              </a:rPr>
              <a:t></a:t>
            </a:r>
            <a:r>
              <a:rPr lang="en-ZA" dirty="0" smtClean="0"/>
              <a:t>s</a:t>
            </a:r>
          </a:p>
          <a:p>
            <a:r>
              <a:rPr lang="en-ZA" dirty="0" smtClean="0">
                <a:sym typeface="Symbol"/>
              </a:rPr>
              <a:t>Q ≈ 5.6 C</a:t>
            </a:r>
            <a:endParaRPr lang="en-ZA" dirty="0"/>
          </a:p>
        </p:txBody>
      </p:sp>
      <p:sp>
        <p:nvSpPr>
          <p:cNvPr id="26" name="Rectangle 25"/>
          <p:cNvSpPr/>
          <p:nvPr/>
        </p:nvSpPr>
        <p:spPr>
          <a:xfrm>
            <a:off x="3728357" y="2637136"/>
            <a:ext cx="1905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 smtClean="0">
                <a:solidFill>
                  <a:srgbClr val="FF0000"/>
                </a:solidFill>
              </a:rPr>
              <a:t>Area to be calculated:</a:t>
            </a:r>
            <a:endParaRPr lang="en-ZA" sz="2400" dirty="0"/>
          </a:p>
        </p:txBody>
      </p:sp>
      <p:sp>
        <p:nvSpPr>
          <p:cNvPr id="25" name="Down Arrow 24"/>
          <p:cNvSpPr/>
          <p:nvPr/>
        </p:nvSpPr>
        <p:spPr bwMode="auto">
          <a:xfrm>
            <a:off x="4448628" y="3468133"/>
            <a:ext cx="232229" cy="976867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9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3197643-8743-44E2-843F-E2C056E7C0D5}" type="slidenum">
              <a:rPr lang="en-US"/>
              <a:pPr/>
              <a:t>14</a:t>
            </a:fld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26598"/>
            <a:ext cx="8243887" cy="770524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1.4 Voltage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5276"/>
            <a:ext cx="8382000" cy="54758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Voltage (or potential difference) is the </a:t>
            </a:r>
            <a:r>
              <a:rPr lang="en-US" sz="2400" dirty="0" smtClean="0">
                <a:solidFill>
                  <a:srgbClr val="FF3300"/>
                </a:solidFill>
              </a:rPr>
              <a:t>energy (work)</a:t>
            </a:r>
            <a:r>
              <a:rPr lang="en-US" sz="2400" dirty="0" smtClean="0"/>
              <a:t> required to move a </a:t>
            </a:r>
            <a:r>
              <a:rPr lang="en-US" sz="2400" dirty="0" smtClean="0">
                <a:solidFill>
                  <a:srgbClr val="FF3300"/>
                </a:solidFill>
              </a:rPr>
              <a:t>unit charge</a:t>
            </a:r>
            <a:r>
              <a:rPr lang="en-US" sz="2400" dirty="0" smtClean="0"/>
              <a:t> through an element, measured in volts (V).</a:t>
            </a:r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Work is done by the electromotive force (</a:t>
            </a:r>
            <a:r>
              <a:rPr lang="en-US" sz="2400" i="1" dirty="0" err="1" smtClean="0">
                <a:solidFill>
                  <a:srgbClr val="FF0000"/>
                </a:solidFill>
              </a:rPr>
              <a:t>emf</a:t>
            </a:r>
            <a:r>
              <a:rPr lang="en-US" sz="2400" dirty="0" smtClean="0"/>
              <a:t>) aka </a:t>
            </a:r>
            <a:r>
              <a:rPr lang="en-US" sz="2400" i="1" dirty="0" smtClean="0">
                <a:solidFill>
                  <a:srgbClr val="FF0000"/>
                </a:solidFill>
              </a:rPr>
              <a:t>voltage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FF0000"/>
                </a:solidFill>
              </a:rPr>
              <a:t>potential difference</a:t>
            </a:r>
            <a:r>
              <a:rPr lang="en-US" sz="2400" dirty="0" smtClean="0"/>
              <a:t>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Mathematically,                                     (volt)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i="1" dirty="0" smtClean="0">
                <a:solidFill>
                  <a:srgbClr val="FF3300"/>
                </a:solidFill>
              </a:rPr>
              <a:t>w</a:t>
            </a:r>
            <a:r>
              <a:rPr lang="en-US" sz="2000" dirty="0" smtClean="0"/>
              <a:t> is energy in joules (J) and </a:t>
            </a:r>
            <a:r>
              <a:rPr lang="en-US" sz="2000" i="1" dirty="0" smtClean="0">
                <a:solidFill>
                  <a:srgbClr val="FF3300"/>
                </a:solidFill>
              </a:rPr>
              <a:t>q</a:t>
            </a:r>
            <a:r>
              <a:rPr lang="en-US" sz="2000" dirty="0" smtClean="0"/>
              <a:t> is charge in coulomb (C).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dirty="0" smtClean="0"/>
              <a:t>voltage is change in energy per charge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dirty="0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dirty="0" smtClean="0">
              <a:solidFill>
                <a:srgbClr val="FF3300"/>
              </a:solidFill>
            </a:endParaRP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122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333869"/>
              </p:ext>
            </p:extLst>
          </p:nvPr>
        </p:nvGraphicFramePr>
        <p:xfrm>
          <a:off x="3397250" y="4533488"/>
          <a:ext cx="23495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5" name="Equation" r:id="rId4" imgW="799920" imgH="228600" progId="Equation.3">
                  <p:embed/>
                </p:oleObj>
              </mc:Choice>
              <mc:Fallback>
                <p:oleObj name="Equation" r:id="rId4" imgW="79992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0" y="4533488"/>
                        <a:ext cx="234950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234629"/>
              </p:ext>
            </p:extLst>
          </p:nvPr>
        </p:nvGraphicFramePr>
        <p:xfrm>
          <a:off x="3394709" y="5114250"/>
          <a:ext cx="2171701" cy="659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6" name="Equation" r:id="rId6" imgW="749160" imgH="228600" progId="Equation.3">
                  <p:embed/>
                </p:oleObj>
              </mc:Choice>
              <mc:Fallback>
                <p:oleObj name="Equation" r:id="rId6" imgW="7491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709" y="5114250"/>
                        <a:ext cx="2171701" cy="659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6948" y="398603"/>
            <a:ext cx="8510954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110000"/>
              </a:lnSpc>
              <a:spcAft>
                <a:spcPct val="20000"/>
              </a:spcAft>
            </a:pPr>
            <a:r>
              <a:rPr lang="en-US" sz="2400" dirty="0"/>
              <a:t>Electric voltage,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ab</a:t>
            </a:r>
            <a:r>
              <a:rPr lang="en-US" sz="2400" dirty="0"/>
              <a:t>,</a:t>
            </a:r>
            <a:r>
              <a:rPr lang="en-US" sz="2400" dirty="0" smtClean="0"/>
              <a:t> </a:t>
            </a:r>
            <a:r>
              <a:rPr lang="en-US" sz="2400" dirty="0"/>
              <a:t>is always </a:t>
            </a:r>
            <a:r>
              <a:rPr lang="en-US" sz="2400" dirty="0">
                <a:solidFill>
                  <a:srgbClr val="FF3300"/>
                </a:solidFill>
              </a:rPr>
              <a:t>across the circuit element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FF3300"/>
                </a:solidFill>
              </a:rPr>
              <a:t>between two points in a circuit. 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err="1"/>
              <a:t>v</a:t>
            </a:r>
            <a:r>
              <a:rPr lang="en-US" sz="2000" baseline="-25000" dirty="0" err="1"/>
              <a:t>ab</a:t>
            </a:r>
            <a:r>
              <a:rPr lang="en-US" sz="2000" dirty="0"/>
              <a:t> &gt; 0 means the potential of </a:t>
            </a:r>
            <a:r>
              <a:rPr lang="en-US" sz="2000" dirty="0">
                <a:solidFill>
                  <a:srgbClr val="FF3300"/>
                </a:solidFill>
              </a:rPr>
              <a:t>a</a:t>
            </a:r>
            <a:r>
              <a:rPr lang="en-US" sz="2000" dirty="0"/>
              <a:t> is higher than potential of </a:t>
            </a:r>
            <a:r>
              <a:rPr lang="en-US" sz="2000" dirty="0">
                <a:solidFill>
                  <a:srgbClr val="FF3300"/>
                </a:solidFill>
              </a:rPr>
              <a:t>b. 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err="1"/>
              <a:t>v</a:t>
            </a:r>
            <a:r>
              <a:rPr lang="en-US" sz="2000" baseline="-25000" dirty="0" err="1"/>
              <a:t>ab</a:t>
            </a:r>
            <a:r>
              <a:rPr lang="en-US" sz="2000" baseline="-25000" dirty="0"/>
              <a:t> </a:t>
            </a:r>
            <a:r>
              <a:rPr lang="en-US" sz="2000" dirty="0"/>
              <a:t>&lt; 0 means the potential of </a:t>
            </a:r>
            <a:r>
              <a:rPr lang="en-US" sz="2000" dirty="0">
                <a:solidFill>
                  <a:srgbClr val="FF3300"/>
                </a:solidFill>
              </a:rPr>
              <a:t>a</a:t>
            </a:r>
            <a:r>
              <a:rPr lang="en-US" sz="2000" dirty="0"/>
              <a:t> is lower than potential   of </a:t>
            </a:r>
            <a:r>
              <a:rPr lang="en-US" sz="2000" dirty="0">
                <a:solidFill>
                  <a:srgbClr val="FF3300"/>
                </a:solidFill>
              </a:rPr>
              <a:t>b</a:t>
            </a:r>
            <a:r>
              <a:rPr lang="en-US" sz="2000" dirty="0" smtClean="0">
                <a:solidFill>
                  <a:srgbClr val="FF3300"/>
                </a:solidFill>
              </a:rPr>
              <a:t>.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2000" dirty="0" err="1" smtClean="0"/>
              <a:t>v</a:t>
            </a:r>
            <a:r>
              <a:rPr lang="en-US" sz="2000" baseline="-25000" dirty="0" err="1" smtClean="0"/>
              <a:t>ab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= - </a:t>
            </a:r>
            <a:r>
              <a:rPr lang="en-US" sz="2000" dirty="0" err="1" smtClean="0"/>
              <a:t>v</a:t>
            </a:r>
            <a:r>
              <a:rPr lang="en-US" sz="2000" baseline="-25000" dirty="0" err="1" smtClean="0"/>
              <a:t>ba</a:t>
            </a:r>
            <a:endParaRPr lang="en-US" sz="2000" dirty="0">
              <a:solidFill>
                <a:srgbClr val="080808"/>
              </a:solidFill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1" t="9412" r="43811"/>
          <a:stretch/>
        </p:blipFill>
        <p:spPr bwMode="auto">
          <a:xfrm>
            <a:off x="618979" y="2830584"/>
            <a:ext cx="2831401" cy="3807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61940" y="6176165"/>
            <a:ext cx="1969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err="1" smtClean="0"/>
              <a:t>v</a:t>
            </a:r>
            <a:r>
              <a:rPr lang="en-ZA" sz="2400" baseline="-25000" dirty="0" err="1" smtClean="0"/>
              <a:t>ab</a:t>
            </a:r>
            <a:r>
              <a:rPr lang="en-ZA" sz="2400" dirty="0" smtClean="0"/>
              <a:t> = +9V</a:t>
            </a:r>
            <a:endParaRPr lang="en-ZA" sz="24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679" y="3262163"/>
            <a:ext cx="1368616" cy="224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reeform 2"/>
          <p:cNvSpPr/>
          <p:nvPr/>
        </p:nvSpPr>
        <p:spPr>
          <a:xfrm>
            <a:off x="2073445" y="3059984"/>
            <a:ext cx="2708630" cy="2848105"/>
          </a:xfrm>
          <a:custGeom>
            <a:avLst/>
            <a:gdLst>
              <a:gd name="connsiteX0" fmla="*/ 1463040 w 2532185"/>
              <a:gd name="connsiteY0" fmla="*/ 2377440 h 2771336"/>
              <a:gd name="connsiteX1" fmla="*/ 1477108 w 2532185"/>
              <a:gd name="connsiteY1" fmla="*/ 2771336 h 2771336"/>
              <a:gd name="connsiteX2" fmla="*/ 2532185 w 2532185"/>
              <a:gd name="connsiteY2" fmla="*/ 2700997 h 2771336"/>
              <a:gd name="connsiteX3" fmla="*/ 2461846 w 2532185"/>
              <a:gd name="connsiteY3" fmla="*/ 42203 h 2771336"/>
              <a:gd name="connsiteX4" fmla="*/ 0 w 2532185"/>
              <a:gd name="connsiteY4" fmla="*/ 0 h 2771336"/>
              <a:gd name="connsiteX0" fmla="*/ 1463040 w 2475915"/>
              <a:gd name="connsiteY0" fmla="*/ 2377440 h 2771336"/>
              <a:gd name="connsiteX1" fmla="*/ 1477108 w 2475915"/>
              <a:gd name="connsiteY1" fmla="*/ 2771336 h 2771336"/>
              <a:gd name="connsiteX2" fmla="*/ 2475915 w 2475915"/>
              <a:gd name="connsiteY2" fmla="*/ 2757268 h 2771336"/>
              <a:gd name="connsiteX3" fmla="*/ 2461846 w 2475915"/>
              <a:gd name="connsiteY3" fmla="*/ 42203 h 2771336"/>
              <a:gd name="connsiteX4" fmla="*/ 0 w 2475915"/>
              <a:gd name="connsiteY4" fmla="*/ 0 h 2771336"/>
              <a:gd name="connsiteX0" fmla="*/ 1463040 w 2475915"/>
              <a:gd name="connsiteY0" fmla="*/ 2377440 h 2771336"/>
              <a:gd name="connsiteX1" fmla="*/ 1463040 w 2475915"/>
              <a:gd name="connsiteY1" fmla="*/ 2771336 h 2771336"/>
              <a:gd name="connsiteX2" fmla="*/ 2475915 w 2475915"/>
              <a:gd name="connsiteY2" fmla="*/ 2757268 h 2771336"/>
              <a:gd name="connsiteX3" fmla="*/ 2461846 w 2475915"/>
              <a:gd name="connsiteY3" fmla="*/ 42203 h 2771336"/>
              <a:gd name="connsiteX4" fmla="*/ 0 w 2475915"/>
              <a:gd name="connsiteY4" fmla="*/ 0 h 2771336"/>
              <a:gd name="connsiteX0" fmla="*/ 1463040 w 2477268"/>
              <a:gd name="connsiteY0" fmla="*/ 2377440 h 2771336"/>
              <a:gd name="connsiteX1" fmla="*/ 1463040 w 2477268"/>
              <a:gd name="connsiteY1" fmla="*/ 2771336 h 2771336"/>
              <a:gd name="connsiteX2" fmla="*/ 2475915 w 2477268"/>
              <a:gd name="connsiteY2" fmla="*/ 2757268 h 2771336"/>
              <a:gd name="connsiteX3" fmla="*/ 2475914 w 2477268"/>
              <a:gd name="connsiteY3" fmla="*/ 0 h 2771336"/>
              <a:gd name="connsiteX4" fmla="*/ 0 w 2477268"/>
              <a:gd name="connsiteY4" fmla="*/ 0 h 2771336"/>
              <a:gd name="connsiteX0" fmla="*/ 1506924 w 2477268"/>
              <a:gd name="connsiteY0" fmla="*/ 2362200 h 2771336"/>
              <a:gd name="connsiteX1" fmla="*/ 1463040 w 2477268"/>
              <a:gd name="connsiteY1" fmla="*/ 2771336 h 2771336"/>
              <a:gd name="connsiteX2" fmla="*/ 2475915 w 2477268"/>
              <a:gd name="connsiteY2" fmla="*/ 2757268 h 2771336"/>
              <a:gd name="connsiteX3" fmla="*/ 2475914 w 2477268"/>
              <a:gd name="connsiteY3" fmla="*/ 0 h 2771336"/>
              <a:gd name="connsiteX4" fmla="*/ 0 w 2477268"/>
              <a:gd name="connsiteY4" fmla="*/ 0 h 2771336"/>
              <a:gd name="connsiteX0" fmla="*/ 1441097 w 2411441"/>
              <a:gd name="connsiteY0" fmla="*/ 2362200 h 2771336"/>
              <a:gd name="connsiteX1" fmla="*/ 1397213 w 2411441"/>
              <a:gd name="connsiteY1" fmla="*/ 2771336 h 2771336"/>
              <a:gd name="connsiteX2" fmla="*/ 2410088 w 2411441"/>
              <a:gd name="connsiteY2" fmla="*/ 2757268 h 2771336"/>
              <a:gd name="connsiteX3" fmla="*/ 2410087 w 2411441"/>
              <a:gd name="connsiteY3" fmla="*/ 0 h 2771336"/>
              <a:gd name="connsiteX4" fmla="*/ 0 w 2411441"/>
              <a:gd name="connsiteY4" fmla="*/ 0 h 2771336"/>
              <a:gd name="connsiteX0" fmla="*/ 1441097 w 2411441"/>
              <a:gd name="connsiteY0" fmla="*/ 2362200 h 2771336"/>
              <a:gd name="connsiteX1" fmla="*/ 1397213 w 2411441"/>
              <a:gd name="connsiteY1" fmla="*/ 2771336 h 2771336"/>
              <a:gd name="connsiteX2" fmla="*/ 2410088 w 2411441"/>
              <a:gd name="connsiteY2" fmla="*/ 2757268 h 2771336"/>
              <a:gd name="connsiteX3" fmla="*/ 2410087 w 2411441"/>
              <a:gd name="connsiteY3" fmla="*/ 0 h 2771336"/>
              <a:gd name="connsiteX4" fmla="*/ 0 w 2411441"/>
              <a:gd name="connsiteY4" fmla="*/ 0 h 2771336"/>
              <a:gd name="connsiteX0" fmla="*/ 1441097 w 2411441"/>
              <a:gd name="connsiteY0" fmla="*/ 2362200 h 2982172"/>
              <a:gd name="connsiteX1" fmla="*/ 1397213 w 2411441"/>
              <a:gd name="connsiteY1" fmla="*/ 2771336 h 2982172"/>
              <a:gd name="connsiteX2" fmla="*/ 2410088 w 2411441"/>
              <a:gd name="connsiteY2" fmla="*/ 2757268 h 2982172"/>
              <a:gd name="connsiteX3" fmla="*/ 2410087 w 2411441"/>
              <a:gd name="connsiteY3" fmla="*/ 0 h 2982172"/>
              <a:gd name="connsiteX4" fmla="*/ 0 w 2411441"/>
              <a:gd name="connsiteY4" fmla="*/ 0 h 2982172"/>
              <a:gd name="connsiteX0" fmla="*/ 1441097 w 2410088"/>
              <a:gd name="connsiteY0" fmla="*/ 2362200 h 2982172"/>
              <a:gd name="connsiteX1" fmla="*/ 1397213 w 2410088"/>
              <a:gd name="connsiteY1" fmla="*/ 2771336 h 2982172"/>
              <a:gd name="connsiteX2" fmla="*/ 2410088 w 2410088"/>
              <a:gd name="connsiteY2" fmla="*/ 2757268 h 2982172"/>
              <a:gd name="connsiteX3" fmla="*/ 2410087 w 2410088"/>
              <a:gd name="connsiteY3" fmla="*/ 0 h 2982172"/>
              <a:gd name="connsiteX4" fmla="*/ 0 w 2410088"/>
              <a:gd name="connsiteY4" fmla="*/ 0 h 2982172"/>
              <a:gd name="connsiteX0" fmla="*/ 1441097 w 2410088"/>
              <a:gd name="connsiteY0" fmla="*/ 2566442 h 3186414"/>
              <a:gd name="connsiteX1" fmla="*/ 1397213 w 2410088"/>
              <a:gd name="connsiteY1" fmla="*/ 2975578 h 3186414"/>
              <a:gd name="connsiteX2" fmla="*/ 2410088 w 2410088"/>
              <a:gd name="connsiteY2" fmla="*/ 2961510 h 3186414"/>
              <a:gd name="connsiteX3" fmla="*/ 2410087 w 2410088"/>
              <a:gd name="connsiteY3" fmla="*/ 204242 h 3186414"/>
              <a:gd name="connsiteX4" fmla="*/ 0 w 2410088"/>
              <a:gd name="connsiteY4" fmla="*/ 204242 h 3186414"/>
              <a:gd name="connsiteX0" fmla="*/ 1441097 w 2422111"/>
              <a:gd name="connsiteY0" fmla="*/ 2566442 h 2980162"/>
              <a:gd name="connsiteX1" fmla="*/ 1397213 w 2422111"/>
              <a:gd name="connsiteY1" fmla="*/ 2975578 h 2980162"/>
              <a:gd name="connsiteX2" fmla="*/ 2422111 w 2422111"/>
              <a:gd name="connsiteY2" fmla="*/ 1921850 h 2980162"/>
              <a:gd name="connsiteX3" fmla="*/ 2410087 w 2422111"/>
              <a:gd name="connsiteY3" fmla="*/ 204242 h 2980162"/>
              <a:gd name="connsiteX4" fmla="*/ 0 w 2422111"/>
              <a:gd name="connsiteY4" fmla="*/ 204242 h 2980162"/>
              <a:gd name="connsiteX0" fmla="*/ 1441097 w 2422111"/>
              <a:gd name="connsiteY0" fmla="*/ 2566442 h 2905542"/>
              <a:gd name="connsiteX1" fmla="*/ 2082533 w 2422111"/>
              <a:gd name="connsiteY1" fmla="*/ 2900422 h 2905542"/>
              <a:gd name="connsiteX2" fmla="*/ 2422111 w 2422111"/>
              <a:gd name="connsiteY2" fmla="*/ 1921850 h 2905542"/>
              <a:gd name="connsiteX3" fmla="*/ 2410087 w 2422111"/>
              <a:gd name="connsiteY3" fmla="*/ 204242 h 2905542"/>
              <a:gd name="connsiteX4" fmla="*/ 0 w 2422111"/>
              <a:gd name="connsiteY4" fmla="*/ 204242 h 2905542"/>
              <a:gd name="connsiteX0" fmla="*/ 1441097 w 2662575"/>
              <a:gd name="connsiteY0" fmla="*/ 2566442 h 2903294"/>
              <a:gd name="connsiteX1" fmla="*/ 2082533 w 2662575"/>
              <a:gd name="connsiteY1" fmla="*/ 2900422 h 2903294"/>
              <a:gd name="connsiteX2" fmla="*/ 2662575 w 2662575"/>
              <a:gd name="connsiteY2" fmla="*/ 1420808 h 2903294"/>
              <a:gd name="connsiteX3" fmla="*/ 2410087 w 2662575"/>
              <a:gd name="connsiteY3" fmla="*/ 204242 h 2903294"/>
              <a:gd name="connsiteX4" fmla="*/ 0 w 2662575"/>
              <a:gd name="connsiteY4" fmla="*/ 204242 h 2903294"/>
              <a:gd name="connsiteX0" fmla="*/ 1441097 w 2662575"/>
              <a:gd name="connsiteY0" fmla="*/ 2548094 h 2884946"/>
              <a:gd name="connsiteX1" fmla="*/ 2082533 w 2662575"/>
              <a:gd name="connsiteY1" fmla="*/ 2882074 h 2884946"/>
              <a:gd name="connsiteX2" fmla="*/ 2662575 w 2662575"/>
              <a:gd name="connsiteY2" fmla="*/ 1402460 h 2884946"/>
              <a:gd name="connsiteX3" fmla="*/ 2614481 w 2662575"/>
              <a:gd name="connsiteY3" fmla="*/ 210946 h 2884946"/>
              <a:gd name="connsiteX4" fmla="*/ 0 w 2662575"/>
              <a:gd name="connsiteY4" fmla="*/ 185894 h 2884946"/>
              <a:gd name="connsiteX0" fmla="*/ 1441097 w 2856523"/>
              <a:gd name="connsiteY0" fmla="*/ 2548094 h 2884885"/>
              <a:gd name="connsiteX1" fmla="*/ 2082533 w 2856523"/>
              <a:gd name="connsiteY1" fmla="*/ 2882074 h 2884885"/>
              <a:gd name="connsiteX2" fmla="*/ 2662575 w 2856523"/>
              <a:gd name="connsiteY2" fmla="*/ 1402460 h 2884885"/>
              <a:gd name="connsiteX3" fmla="*/ 2770968 w 2856523"/>
              <a:gd name="connsiteY3" fmla="*/ 886388 h 2884885"/>
              <a:gd name="connsiteX4" fmla="*/ 2614481 w 2856523"/>
              <a:gd name="connsiteY4" fmla="*/ 210946 h 2884885"/>
              <a:gd name="connsiteX5" fmla="*/ 0 w 2856523"/>
              <a:gd name="connsiteY5" fmla="*/ 185894 h 2884885"/>
              <a:gd name="connsiteX0" fmla="*/ 1441097 w 2829344"/>
              <a:gd name="connsiteY0" fmla="*/ 2363494 h 2700285"/>
              <a:gd name="connsiteX1" fmla="*/ 2082533 w 2829344"/>
              <a:gd name="connsiteY1" fmla="*/ 2697474 h 2700285"/>
              <a:gd name="connsiteX2" fmla="*/ 2662575 w 2829344"/>
              <a:gd name="connsiteY2" fmla="*/ 1217860 h 2700285"/>
              <a:gd name="connsiteX3" fmla="*/ 2770968 w 2829344"/>
              <a:gd name="connsiteY3" fmla="*/ 701788 h 2700285"/>
              <a:gd name="connsiteX4" fmla="*/ 2566388 w 2829344"/>
              <a:gd name="connsiteY4" fmla="*/ 414653 h 2700285"/>
              <a:gd name="connsiteX5" fmla="*/ 0 w 2829344"/>
              <a:gd name="connsiteY5" fmla="*/ 1294 h 2700285"/>
              <a:gd name="connsiteX0" fmla="*/ 1441097 w 2829344"/>
              <a:gd name="connsiteY0" fmla="*/ 2363494 h 2700285"/>
              <a:gd name="connsiteX1" fmla="*/ 2082533 w 2829344"/>
              <a:gd name="connsiteY1" fmla="*/ 2697474 h 2700285"/>
              <a:gd name="connsiteX2" fmla="*/ 2662575 w 2829344"/>
              <a:gd name="connsiteY2" fmla="*/ 1217860 h 2700285"/>
              <a:gd name="connsiteX3" fmla="*/ 2770969 w 2829344"/>
              <a:gd name="connsiteY3" fmla="*/ 1190303 h 2700285"/>
              <a:gd name="connsiteX4" fmla="*/ 2566388 w 2829344"/>
              <a:gd name="connsiteY4" fmla="*/ 414653 h 2700285"/>
              <a:gd name="connsiteX5" fmla="*/ 0 w 2829344"/>
              <a:gd name="connsiteY5" fmla="*/ 1294 h 2700285"/>
              <a:gd name="connsiteX0" fmla="*/ 1441097 w 2871275"/>
              <a:gd name="connsiteY0" fmla="*/ 2456436 h 2793227"/>
              <a:gd name="connsiteX1" fmla="*/ 2082533 w 2871275"/>
              <a:gd name="connsiteY1" fmla="*/ 2790416 h 2793227"/>
              <a:gd name="connsiteX2" fmla="*/ 2662575 w 2871275"/>
              <a:gd name="connsiteY2" fmla="*/ 1310802 h 2793227"/>
              <a:gd name="connsiteX3" fmla="*/ 2770969 w 2871275"/>
              <a:gd name="connsiteY3" fmla="*/ 1283245 h 2793227"/>
              <a:gd name="connsiteX4" fmla="*/ 2638528 w 2871275"/>
              <a:gd name="connsiteY4" fmla="*/ 257074 h 2793227"/>
              <a:gd name="connsiteX5" fmla="*/ 0 w 2871275"/>
              <a:gd name="connsiteY5" fmla="*/ 94236 h 2793227"/>
              <a:gd name="connsiteX0" fmla="*/ 1441097 w 2865677"/>
              <a:gd name="connsiteY0" fmla="*/ 2456436 h 2793192"/>
              <a:gd name="connsiteX1" fmla="*/ 2082533 w 2865677"/>
              <a:gd name="connsiteY1" fmla="*/ 2790416 h 2793192"/>
              <a:gd name="connsiteX2" fmla="*/ 2662575 w 2865677"/>
              <a:gd name="connsiteY2" fmla="*/ 1310802 h 2793192"/>
              <a:gd name="connsiteX3" fmla="*/ 2638528 w 2865677"/>
              <a:gd name="connsiteY3" fmla="*/ 257074 h 2793192"/>
              <a:gd name="connsiteX4" fmla="*/ 0 w 2865677"/>
              <a:gd name="connsiteY4" fmla="*/ 94236 h 2793192"/>
              <a:gd name="connsiteX0" fmla="*/ 1441097 w 2878140"/>
              <a:gd name="connsiteY0" fmla="*/ 2456436 h 2795244"/>
              <a:gd name="connsiteX1" fmla="*/ 2082533 w 2878140"/>
              <a:gd name="connsiteY1" fmla="*/ 2790416 h 2795244"/>
              <a:gd name="connsiteX2" fmla="*/ 2698645 w 2878140"/>
              <a:gd name="connsiteY2" fmla="*/ 1811844 h 2795244"/>
              <a:gd name="connsiteX3" fmla="*/ 2638528 w 2878140"/>
              <a:gd name="connsiteY3" fmla="*/ 257074 h 2795244"/>
              <a:gd name="connsiteX4" fmla="*/ 0 w 2878140"/>
              <a:gd name="connsiteY4" fmla="*/ 94236 h 2795244"/>
              <a:gd name="connsiteX0" fmla="*/ 1441097 w 2718477"/>
              <a:gd name="connsiteY0" fmla="*/ 2487674 h 2826482"/>
              <a:gd name="connsiteX1" fmla="*/ 2082533 w 2718477"/>
              <a:gd name="connsiteY1" fmla="*/ 2821654 h 2826482"/>
              <a:gd name="connsiteX2" fmla="*/ 2698645 w 2718477"/>
              <a:gd name="connsiteY2" fmla="*/ 1843082 h 2826482"/>
              <a:gd name="connsiteX3" fmla="*/ 2109508 w 2718477"/>
              <a:gd name="connsiteY3" fmla="*/ 238208 h 2826482"/>
              <a:gd name="connsiteX4" fmla="*/ 0 w 2718477"/>
              <a:gd name="connsiteY4" fmla="*/ 125474 h 2826482"/>
              <a:gd name="connsiteX0" fmla="*/ 1441097 w 2566077"/>
              <a:gd name="connsiteY0" fmla="*/ 2487674 h 2824237"/>
              <a:gd name="connsiteX1" fmla="*/ 2082533 w 2566077"/>
              <a:gd name="connsiteY1" fmla="*/ 2821654 h 2824237"/>
              <a:gd name="connsiteX2" fmla="*/ 2530321 w 2566077"/>
              <a:gd name="connsiteY2" fmla="*/ 1254359 h 2824237"/>
              <a:gd name="connsiteX3" fmla="*/ 2109508 w 2566077"/>
              <a:gd name="connsiteY3" fmla="*/ 238208 h 2824237"/>
              <a:gd name="connsiteX4" fmla="*/ 0 w 2566077"/>
              <a:gd name="connsiteY4" fmla="*/ 125474 h 2824237"/>
              <a:gd name="connsiteX0" fmla="*/ 1441097 w 2566077"/>
              <a:gd name="connsiteY0" fmla="*/ 2487674 h 2911751"/>
              <a:gd name="connsiteX1" fmla="*/ 1745885 w 2566077"/>
              <a:gd name="connsiteY1" fmla="*/ 2909336 h 2911751"/>
              <a:gd name="connsiteX2" fmla="*/ 2530321 w 2566077"/>
              <a:gd name="connsiteY2" fmla="*/ 1254359 h 2911751"/>
              <a:gd name="connsiteX3" fmla="*/ 2109508 w 2566077"/>
              <a:gd name="connsiteY3" fmla="*/ 238208 h 2911751"/>
              <a:gd name="connsiteX4" fmla="*/ 0 w 2566077"/>
              <a:gd name="connsiteY4" fmla="*/ 125474 h 2911751"/>
              <a:gd name="connsiteX0" fmla="*/ 1441097 w 2517039"/>
              <a:gd name="connsiteY0" fmla="*/ 2487674 h 2926147"/>
              <a:gd name="connsiteX1" fmla="*/ 1745885 w 2517039"/>
              <a:gd name="connsiteY1" fmla="*/ 2909336 h 2926147"/>
              <a:gd name="connsiteX2" fmla="*/ 2470206 w 2517039"/>
              <a:gd name="connsiteY2" fmla="*/ 2431806 h 2926147"/>
              <a:gd name="connsiteX3" fmla="*/ 2109508 w 2517039"/>
              <a:gd name="connsiteY3" fmla="*/ 238208 h 2926147"/>
              <a:gd name="connsiteX4" fmla="*/ 0 w 2517039"/>
              <a:gd name="connsiteY4" fmla="*/ 125474 h 2926147"/>
              <a:gd name="connsiteX0" fmla="*/ 1441097 w 2599891"/>
              <a:gd name="connsiteY0" fmla="*/ 2409632 h 2848105"/>
              <a:gd name="connsiteX1" fmla="*/ 1745885 w 2599891"/>
              <a:gd name="connsiteY1" fmla="*/ 2831294 h 2848105"/>
              <a:gd name="connsiteX2" fmla="*/ 2470206 w 2599891"/>
              <a:gd name="connsiteY2" fmla="*/ 2353764 h 2848105"/>
              <a:gd name="connsiteX3" fmla="*/ 2325925 w 2599891"/>
              <a:gd name="connsiteY3" fmla="*/ 297952 h 2848105"/>
              <a:gd name="connsiteX4" fmla="*/ 0 w 2599891"/>
              <a:gd name="connsiteY4" fmla="*/ 47432 h 2848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9891" h="2848105">
                <a:moveTo>
                  <a:pt x="1441097" y="2409632"/>
                </a:moveTo>
                <a:cubicBezTo>
                  <a:pt x="1426469" y="2546011"/>
                  <a:pt x="1584386" y="2765449"/>
                  <a:pt x="1745885" y="2831294"/>
                </a:cubicBezTo>
                <a:cubicBezTo>
                  <a:pt x="1907384" y="2897139"/>
                  <a:pt x="2377540" y="2775988"/>
                  <a:pt x="2470206" y="2353764"/>
                </a:cubicBezTo>
                <a:cubicBezTo>
                  <a:pt x="2562872" y="1931540"/>
                  <a:pt x="2769688" y="500713"/>
                  <a:pt x="2325925" y="297952"/>
                </a:cubicBezTo>
                <a:cubicBezTo>
                  <a:pt x="1924244" y="-161593"/>
                  <a:pt x="803362" y="47432"/>
                  <a:pt x="0" y="47432"/>
                </a:cubicBezTo>
              </a:path>
            </a:pathLst>
          </a:custGeom>
          <a:ln w="38100">
            <a:solidFill>
              <a:srgbClr val="FF0000"/>
            </a:solidFill>
            <a:tailEnd type="oval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2095500" y="5478780"/>
            <a:ext cx="1257643" cy="266700"/>
          </a:xfrm>
          <a:custGeom>
            <a:avLst/>
            <a:gdLst>
              <a:gd name="connsiteX0" fmla="*/ 1104900 w 1188720"/>
              <a:gd name="connsiteY0" fmla="*/ 0 h 266700"/>
              <a:gd name="connsiteX1" fmla="*/ 1188720 w 1188720"/>
              <a:gd name="connsiteY1" fmla="*/ 266700 h 266700"/>
              <a:gd name="connsiteX2" fmla="*/ 0 w 1188720"/>
              <a:gd name="connsiteY2" fmla="*/ 243840 h 266700"/>
              <a:gd name="connsiteX0" fmla="*/ 1104900 w 1257643"/>
              <a:gd name="connsiteY0" fmla="*/ 0 h 266700"/>
              <a:gd name="connsiteX1" fmla="*/ 1188720 w 1257643"/>
              <a:gd name="connsiteY1" fmla="*/ 266700 h 266700"/>
              <a:gd name="connsiteX2" fmla="*/ 0 w 1257643"/>
              <a:gd name="connsiteY2" fmla="*/ 24384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643" h="266700">
                <a:moveTo>
                  <a:pt x="1104900" y="0"/>
                </a:moveTo>
                <a:cubicBezTo>
                  <a:pt x="1132840" y="88900"/>
                  <a:pt x="1372870" y="226060"/>
                  <a:pt x="1188720" y="266700"/>
                </a:cubicBezTo>
                <a:lnTo>
                  <a:pt x="0" y="243840"/>
                </a:lnTo>
              </a:path>
            </a:pathLst>
          </a:custGeom>
          <a:ln w="38100">
            <a:solidFill>
              <a:srgbClr val="080808"/>
            </a:solidFill>
            <a:tailEnd type="oval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22600" y="3392852"/>
            <a:ext cx="952191" cy="36933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ZA" sz="2400" dirty="0" smtClean="0">
                <a:solidFill>
                  <a:srgbClr val="080808"/>
                </a:solidFill>
              </a:rPr>
              <a:t>+9.00</a:t>
            </a:r>
            <a:endParaRPr lang="en-ZA" sz="2400" dirty="0">
              <a:solidFill>
                <a:srgbClr val="080808"/>
              </a:solidFill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28" t="9411" r="15163"/>
          <a:stretch/>
        </p:blipFill>
        <p:spPr bwMode="auto">
          <a:xfrm>
            <a:off x="5227929" y="2805532"/>
            <a:ext cx="2191657" cy="3807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508" y="3237111"/>
            <a:ext cx="1368616" cy="224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Freeform 15"/>
          <p:cNvSpPr/>
          <p:nvPr/>
        </p:nvSpPr>
        <p:spPr>
          <a:xfrm>
            <a:off x="6896100" y="5445934"/>
            <a:ext cx="1488748" cy="287020"/>
          </a:xfrm>
          <a:custGeom>
            <a:avLst/>
            <a:gdLst>
              <a:gd name="connsiteX0" fmla="*/ 1104900 w 1188720"/>
              <a:gd name="connsiteY0" fmla="*/ 0 h 266700"/>
              <a:gd name="connsiteX1" fmla="*/ 1188720 w 1188720"/>
              <a:gd name="connsiteY1" fmla="*/ 266700 h 266700"/>
              <a:gd name="connsiteX2" fmla="*/ 0 w 1188720"/>
              <a:gd name="connsiteY2" fmla="*/ 243840 h 266700"/>
              <a:gd name="connsiteX0" fmla="*/ 1104900 w 1257643"/>
              <a:gd name="connsiteY0" fmla="*/ 0 h 266700"/>
              <a:gd name="connsiteX1" fmla="*/ 1188720 w 1257643"/>
              <a:gd name="connsiteY1" fmla="*/ 266700 h 266700"/>
              <a:gd name="connsiteX2" fmla="*/ 0 w 1257643"/>
              <a:gd name="connsiteY2" fmla="*/ 24384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643" h="266700">
                <a:moveTo>
                  <a:pt x="1104900" y="0"/>
                </a:moveTo>
                <a:cubicBezTo>
                  <a:pt x="1132840" y="88900"/>
                  <a:pt x="1372870" y="226060"/>
                  <a:pt x="1188720" y="266700"/>
                </a:cubicBezTo>
                <a:lnTo>
                  <a:pt x="0" y="243840"/>
                </a:lnTo>
              </a:path>
            </a:pathLst>
          </a:custGeom>
          <a:ln w="38100">
            <a:solidFill>
              <a:srgbClr val="FF0000"/>
            </a:solidFill>
            <a:tailEnd type="oval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6868553" y="3082366"/>
            <a:ext cx="1023359" cy="2548671"/>
          </a:xfrm>
          <a:custGeom>
            <a:avLst/>
            <a:gdLst>
              <a:gd name="connsiteX0" fmla="*/ 1463040 w 2532185"/>
              <a:gd name="connsiteY0" fmla="*/ 2377440 h 2771336"/>
              <a:gd name="connsiteX1" fmla="*/ 1477108 w 2532185"/>
              <a:gd name="connsiteY1" fmla="*/ 2771336 h 2771336"/>
              <a:gd name="connsiteX2" fmla="*/ 2532185 w 2532185"/>
              <a:gd name="connsiteY2" fmla="*/ 2700997 h 2771336"/>
              <a:gd name="connsiteX3" fmla="*/ 2461846 w 2532185"/>
              <a:gd name="connsiteY3" fmla="*/ 42203 h 2771336"/>
              <a:gd name="connsiteX4" fmla="*/ 0 w 2532185"/>
              <a:gd name="connsiteY4" fmla="*/ 0 h 2771336"/>
              <a:gd name="connsiteX0" fmla="*/ 1463040 w 2475915"/>
              <a:gd name="connsiteY0" fmla="*/ 2377440 h 2771336"/>
              <a:gd name="connsiteX1" fmla="*/ 1477108 w 2475915"/>
              <a:gd name="connsiteY1" fmla="*/ 2771336 h 2771336"/>
              <a:gd name="connsiteX2" fmla="*/ 2475915 w 2475915"/>
              <a:gd name="connsiteY2" fmla="*/ 2757268 h 2771336"/>
              <a:gd name="connsiteX3" fmla="*/ 2461846 w 2475915"/>
              <a:gd name="connsiteY3" fmla="*/ 42203 h 2771336"/>
              <a:gd name="connsiteX4" fmla="*/ 0 w 2475915"/>
              <a:gd name="connsiteY4" fmla="*/ 0 h 2771336"/>
              <a:gd name="connsiteX0" fmla="*/ 1463040 w 2475915"/>
              <a:gd name="connsiteY0" fmla="*/ 2377440 h 2771336"/>
              <a:gd name="connsiteX1" fmla="*/ 1463040 w 2475915"/>
              <a:gd name="connsiteY1" fmla="*/ 2771336 h 2771336"/>
              <a:gd name="connsiteX2" fmla="*/ 2475915 w 2475915"/>
              <a:gd name="connsiteY2" fmla="*/ 2757268 h 2771336"/>
              <a:gd name="connsiteX3" fmla="*/ 2461846 w 2475915"/>
              <a:gd name="connsiteY3" fmla="*/ 42203 h 2771336"/>
              <a:gd name="connsiteX4" fmla="*/ 0 w 2475915"/>
              <a:gd name="connsiteY4" fmla="*/ 0 h 2771336"/>
              <a:gd name="connsiteX0" fmla="*/ 1463040 w 2477268"/>
              <a:gd name="connsiteY0" fmla="*/ 2377440 h 2771336"/>
              <a:gd name="connsiteX1" fmla="*/ 1463040 w 2477268"/>
              <a:gd name="connsiteY1" fmla="*/ 2771336 h 2771336"/>
              <a:gd name="connsiteX2" fmla="*/ 2475915 w 2477268"/>
              <a:gd name="connsiteY2" fmla="*/ 2757268 h 2771336"/>
              <a:gd name="connsiteX3" fmla="*/ 2475914 w 2477268"/>
              <a:gd name="connsiteY3" fmla="*/ 0 h 2771336"/>
              <a:gd name="connsiteX4" fmla="*/ 0 w 2477268"/>
              <a:gd name="connsiteY4" fmla="*/ 0 h 2771336"/>
              <a:gd name="connsiteX0" fmla="*/ 1506924 w 2477268"/>
              <a:gd name="connsiteY0" fmla="*/ 2362200 h 2771336"/>
              <a:gd name="connsiteX1" fmla="*/ 1463040 w 2477268"/>
              <a:gd name="connsiteY1" fmla="*/ 2771336 h 2771336"/>
              <a:gd name="connsiteX2" fmla="*/ 2475915 w 2477268"/>
              <a:gd name="connsiteY2" fmla="*/ 2757268 h 2771336"/>
              <a:gd name="connsiteX3" fmla="*/ 2475914 w 2477268"/>
              <a:gd name="connsiteY3" fmla="*/ 0 h 2771336"/>
              <a:gd name="connsiteX4" fmla="*/ 0 w 2477268"/>
              <a:gd name="connsiteY4" fmla="*/ 0 h 2771336"/>
              <a:gd name="connsiteX0" fmla="*/ 1441097 w 2411441"/>
              <a:gd name="connsiteY0" fmla="*/ 2362200 h 2771336"/>
              <a:gd name="connsiteX1" fmla="*/ 1397213 w 2411441"/>
              <a:gd name="connsiteY1" fmla="*/ 2771336 h 2771336"/>
              <a:gd name="connsiteX2" fmla="*/ 2410088 w 2411441"/>
              <a:gd name="connsiteY2" fmla="*/ 2757268 h 2771336"/>
              <a:gd name="connsiteX3" fmla="*/ 2410087 w 2411441"/>
              <a:gd name="connsiteY3" fmla="*/ 0 h 2771336"/>
              <a:gd name="connsiteX4" fmla="*/ 0 w 2411441"/>
              <a:gd name="connsiteY4" fmla="*/ 0 h 2771336"/>
              <a:gd name="connsiteX0" fmla="*/ 1441097 w 2410088"/>
              <a:gd name="connsiteY0" fmla="*/ 2362200 h 2771336"/>
              <a:gd name="connsiteX1" fmla="*/ 1397213 w 2410088"/>
              <a:gd name="connsiteY1" fmla="*/ 2771336 h 2771336"/>
              <a:gd name="connsiteX2" fmla="*/ 2410088 w 2410088"/>
              <a:gd name="connsiteY2" fmla="*/ 2757268 h 2771336"/>
              <a:gd name="connsiteX3" fmla="*/ 179290 w 2410088"/>
              <a:gd name="connsiteY3" fmla="*/ 2070100 h 2771336"/>
              <a:gd name="connsiteX4" fmla="*/ 0 w 2410088"/>
              <a:gd name="connsiteY4" fmla="*/ 0 h 2771336"/>
              <a:gd name="connsiteX0" fmla="*/ 892540 w 2410088"/>
              <a:gd name="connsiteY0" fmla="*/ 2374900 h 2771336"/>
              <a:gd name="connsiteX1" fmla="*/ 1397213 w 2410088"/>
              <a:gd name="connsiteY1" fmla="*/ 2771336 h 2771336"/>
              <a:gd name="connsiteX2" fmla="*/ 2410088 w 2410088"/>
              <a:gd name="connsiteY2" fmla="*/ 2757268 h 2771336"/>
              <a:gd name="connsiteX3" fmla="*/ 179290 w 2410088"/>
              <a:gd name="connsiteY3" fmla="*/ 2070100 h 2771336"/>
              <a:gd name="connsiteX4" fmla="*/ 0 w 2410088"/>
              <a:gd name="connsiteY4" fmla="*/ 0 h 2771336"/>
              <a:gd name="connsiteX0" fmla="*/ 892540 w 1397213"/>
              <a:gd name="connsiteY0" fmla="*/ 2374900 h 2771336"/>
              <a:gd name="connsiteX1" fmla="*/ 1397213 w 1397213"/>
              <a:gd name="connsiteY1" fmla="*/ 2771336 h 2771336"/>
              <a:gd name="connsiteX2" fmla="*/ 435283 w 1397213"/>
              <a:gd name="connsiteY2" fmla="*/ 2312768 h 2771336"/>
              <a:gd name="connsiteX3" fmla="*/ 179290 w 1397213"/>
              <a:gd name="connsiteY3" fmla="*/ 2070100 h 2771336"/>
              <a:gd name="connsiteX4" fmla="*/ 0 w 1397213"/>
              <a:gd name="connsiteY4" fmla="*/ 0 h 2771336"/>
              <a:gd name="connsiteX0" fmla="*/ 892540 w 1397213"/>
              <a:gd name="connsiteY0" fmla="*/ 2374900 h 2771336"/>
              <a:gd name="connsiteX1" fmla="*/ 1397213 w 1397213"/>
              <a:gd name="connsiteY1" fmla="*/ 2771336 h 2771336"/>
              <a:gd name="connsiteX2" fmla="*/ 179290 w 1397213"/>
              <a:gd name="connsiteY2" fmla="*/ 2070100 h 2771336"/>
              <a:gd name="connsiteX3" fmla="*/ 0 w 1397213"/>
              <a:gd name="connsiteY3" fmla="*/ 0 h 2771336"/>
              <a:gd name="connsiteX0" fmla="*/ 892540 w 892540"/>
              <a:gd name="connsiteY0" fmla="*/ 2374900 h 2491936"/>
              <a:gd name="connsiteX1" fmla="*/ 434191 w 892540"/>
              <a:gd name="connsiteY1" fmla="*/ 2491936 h 2491936"/>
              <a:gd name="connsiteX2" fmla="*/ 179290 w 892540"/>
              <a:gd name="connsiteY2" fmla="*/ 2070100 h 2491936"/>
              <a:gd name="connsiteX3" fmla="*/ 0 w 892540"/>
              <a:gd name="connsiteY3" fmla="*/ 0 h 2491936"/>
              <a:gd name="connsiteX0" fmla="*/ 919968 w 919968"/>
              <a:gd name="connsiteY0" fmla="*/ 2379662 h 2491936"/>
              <a:gd name="connsiteX1" fmla="*/ 434191 w 919968"/>
              <a:gd name="connsiteY1" fmla="*/ 2491936 h 2491936"/>
              <a:gd name="connsiteX2" fmla="*/ 179290 w 919968"/>
              <a:gd name="connsiteY2" fmla="*/ 2070100 h 2491936"/>
              <a:gd name="connsiteX3" fmla="*/ 0 w 919968"/>
              <a:gd name="connsiteY3" fmla="*/ 0 h 2491936"/>
              <a:gd name="connsiteX0" fmla="*/ 919968 w 931319"/>
              <a:gd name="connsiteY0" fmla="*/ 2379662 h 2548671"/>
              <a:gd name="connsiteX1" fmla="*/ 881276 w 931319"/>
              <a:gd name="connsiteY1" fmla="*/ 2548671 h 2548671"/>
              <a:gd name="connsiteX2" fmla="*/ 434191 w 931319"/>
              <a:gd name="connsiteY2" fmla="*/ 2491936 h 2548671"/>
              <a:gd name="connsiteX3" fmla="*/ 179290 w 931319"/>
              <a:gd name="connsiteY3" fmla="*/ 2070100 h 2548671"/>
              <a:gd name="connsiteX4" fmla="*/ 0 w 931319"/>
              <a:gd name="connsiteY4" fmla="*/ 0 h 2548671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434191 w 982276"/>
              <a:gd name="connsiteY3" fmla="*/ 2491936 h 2548671"/>
              <a:gd name="connsiteX4" fmla="*/ 179290 w 982276"/>
              <a:gd name="connsiteY4" fmla="*/ 2070100 h 2548671"/>
              <a:gd name="connsiteX5" fmla="*/ 0 w 982276"/>
              <a:gd name="connsiteY5" fmla="*/ 0 h 2548671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82993 w 982276"/>
              <a:gd name="connsiteY3" fmla="*/ 2278576 h 2548671"/>
              <a:gd name="connsiteX4" fmla="*/ 179290 w 982276"/>
              <a:gd name="connsiteY4" fmla="*/ 2070100 h 2548671"/>
              <a:gd name="connsiteX5" fmla="*/ 0 w 982276"/>
              <a:gd name="connsiteY5" fmla="*/ 0 h 2548671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82993 w 982276"/>
              <a:gd name="connsiteY3" fmla="*/ 2278576 h 2548671"/>
              <a:gd name="connsiteX4" fmla="*/ 142720 w 982276"/>
              <a:gd name="connsiteY4" fmla="*/ 1658620 h 2548671"/>
              <a:gd name="connsiteX5" fmla="*/ 0 w 982276"/>
              <a:gd name="connsiteY5" fmla="*/ 0 h 2548671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82993 w 982276"/>
              <a:gd name="connsiteY3" fmla="*/ 2278576 h 2548671"/>
              <a:gd name="connsiteX4" fmla="*/ 384085 w 982276"/>
              <a:gd name="connsiteY4" fmla="*/ 5080 h 2548671"/>
              <a:gd name="connsiteX5" fmla="*/ 0 w 982276"/>
              <a:gd name="connsiteY5" fmla="*/ 0 h 2548671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75679 w 982276"/>
              <a:gd name="connsiteY3" fmla="*/ 2370016 h 2548671"/>
              <a:gd name="connsiteX4" fmla="*/ 384085 w 982276"/>
              <a:gd name="connsiteY4" fmla="*/ 5080 h 2548671"/>
              <a:gd name="connsiteX5" fmla="*/ 0 w 982276"/>
              <a:gd name="connsiteY5" fmla="*/ 0 h 2548671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75679 w 982276"/>
              <a:gd name="connsiteY3" fmla="*/ 2370016 h 2548671"/>
              <a:gd name="connsiteX4" fmla="*/ 384085 w 982276"/>
              <a:gd name="connsiteY4" fmla="*/ 5080 h 2548671"/>
              <a:gd name="connsiteX5" fmla="*/ 0 w 982276"/>
              <a:gd name="connsiteY5" fmla="*/ 0 h 2548671"/>
              <a:gd name="connsiteX0" fmla="*/ 919968 w 982276"/>
              <a:gd name="connsiteY0" fmla="*/ 2379662 h 2613149"/>
              <a:gd name="connsiteX1" fmla="*/ 981845 w 982276"/>
              <a:gd name="connsiteY1" fmla="*/ 2477233 h 2613149"/>
              <a:gd name="connsiteX2" fmla="*/ 881276 w 982276"/>
              <a:gd name="connsiteY2" fmla="*/ 2548671 h 2613149"/>
              <a:gd name="connsiteX3" fmla="*/ 375679 w 982276"/>
              <a:gd name="connsiteY3" fmla="*/ 2370016 h 2613149"/>
              <a:gd name="connsiteX4" fmla="*/ 384085 w 982276"/>
              <a:gd name="connsiteY4" fmla="*/ 5080 h 2613149"/>
              <a:gd name="connsiteX5" fmla="*/ 0 w 982276"/>
              <a:gd name="connsiteY5" fmla="*/ 0 h 2613149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68365 w 982276"/>
              <a:gd name="connsiteY3" fmla="*/ 2088076 h 2548671"/>
              <a:gd name="connsiteX4" fmla="*/ 384085 w 982276"/>
              <a:gd name="connsiteY4" fmla="*/ 5080 h 2548671"/>
              <a:gd name="connsiteX5" fmla="*/ 0 w 982276"/>
              <a:gd name="connsiteY5" fmla="*/ 0 h 2548671"/>
              <a:gd name="connsiteX0" fmla="*/ 919968 w 982276"/>
              <a:gd name="connsiteY0" fmla="*/ 2530201 h 2699210"/>
              <a:gd name="connsiteX1" fmla="*/ 981845 w 982276"/>
              <a:gd name="connsiteY1" fmla="*/ 2627772 h 2699210"/>
              <a:gd name="connsiteX2" fmla="*/ 881276 w 982276"/>
              <a:gd name="connsiteY2" fmla="*/ 2699210 h 2699210"/>
              <a:gd name="connsiteX3" fmla="*/ 368365 w 982276"/>
              <a:gd name="connsiteY3" fmla="*/ 2238615 h 2699210"/>
              <a:gd name="connsiteX4" fmla="*/ 384085 w 982276"/>
              <a:gd name="connsiteY4" fmla="*/ 155619 h 2699210"/>
              <a:gd name="connsiteX5" fmla="*/ 0 w 982276"/>
              <a:gd name="connsiteY5" fmla="*/ 150539 h 2699210"/>
              <a:gd name="connsiteX0" fmla="*/ 919968 w 982276"/>
              <a:gd name="connsiteY0" fmla="*/ 2379662 h 2548671"/>
              <a:gd name="connsiteX1" fmla="*/ 981845 w 982276"/>
              <a:gd name="connsiteY1" fmla="*/ 2477233 h 2548671"/>
              <a:gd name="connsiteX2" fmla="*/ 881276 w 982276"/>
              <a:gd name="connsiteY2" fmla="*/ 2548671 h 2548671"/>
              <a:gd name="connsiteX3" fmla="*/ 368365 w 982276"/>
              <a:gd name="connsiteY3" fmla="*/ 2088076 h 2548671"/>
              <a:gd name="connsiteX4" fmla="*/ 318258 w 982276"/>
              <a:gd name="connsiteY4" fmla="*/ 454660 h 2548671"/>
              <a:gd name="connsiteX5" fmla="*/ 0 w 982276"/>
              <a:gd name="connsiteY5" fmla="*/ 0 h 2548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2276" h="2548671">
                <a:moveTo>
                  <a:pt x="919968" y="2379662"/>
                </a:moveTo>
                <a:cubicBezTo>
                  <a:pt x="920376" y="2395924"/>
                  <a:pt x="988294" y="2449065"/>
                  <a:pt x="981845" y="2477233"/>
                </a:cubicBezTo>
                <a:cubicBezTo>
                  <a:pt x="975396" y="2505401"/>
                  <a:pt x="962647" y="2546221"/>
                  <a:pt x="881276" y="2548671"/>
                </a:cubicBezTo>
                <a:cubicBezTo>
                  <a:pt x="780248" y="2530802"/>
                  <a:pt x="451230" y="2512008"/>
                  <a:pt x="368365" y="2088076"/>
                </a:cubicBezTo>
                <a:cubicBezTo>
                  <a:pt x="285500" y="1664144"/>
                  <a:pt x="380871" y="849663"/>
                  <a:pt x="318258" y="454660"/>
                </a:cubicBezTo>
                <a:cubicBezTo>
                  <a:pt x="256864" y="106647"/>
                  <a:pt x="128028" y="1693"/>
                  <a:pt x="0" y="0"/>
                </a:cubicBezTo>
              </a:path>
            </a:pathLst>
          </a:custGeom>
          <a:ln w="38100">
            <a:solidFill>
              <a:srgbClr val="080808"/>
            </a:solidFill>
            <a:tailEnd type="oval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6301" y="6165180"/>
            <a:ext cx="1969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err="1" smtClean="0"/>
              <a:t>v</a:t>
            </a:r>
            <a:r>
              <a:rPr lang="en-ZA" sz="2400" baseline="-25000" dirty="0" err="1" smtClean="0"/>
              <a:t>ba</a:t>
            </a:r>
            <a:r>
              <a:rPr lang="en-ZA" sz="2400" dirty="0" smtClean="0"/>
              <a:t> = -9V</a:t>
            </a:r>
            <a:endParaRPr lang="en-ZA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670800" y="3407504"/>
            <a:ext cx="907806" cy="36933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ZA" sz="2400" dirty="0" smtClean="0">
                <a:solidFill>
                  <a:srgbClr val="080808"/>
                </a:solidFill>
              </a:rPr>
              <a:t>-9.00</a:t>
            </a:r>
            <a:endParaRPr lang="en-ZA" sz="2400" dirty="0">
              <a:solidFill>
                <a:srgbClr val="080808"/>
              </a:solidFill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42913" y="51442"/>
            <a:ext cx="8243887" cy="5247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1.4 Voltage</a:t>
            </a:r>
          </a:p>
        </p:txBody>
      </p:sp>
    </p:spTree>
    <p:extLst>
      <p:ext uri="{BB962C8B-B14F-4D97-AF65-F5344CB8AC3E}">
        <p14:creationId xmlns:p14="http://schemas.microsoft.com/office/powerpoint/2010/main" val="228107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8" grpId="0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7461F7FE-A7EC-4288-9BCD-6CC03DCC2B6A}" type="slidenum">
              <a:rPr lang="en-US"/>
              <a:pPr/>
              <a:t>16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 smtClean="0"/>
              <a:t>Chapter 1: Lecture </a:t>
            </a:r>
            <a:r>
              <a:rPr lang="en-US" sz="4000" b="1" dirty="0"/>
              <a:t>#2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1.5 </a:t>
            </a:r>
            <a:r>
              <a:rPr lang="en-US" sz="4000" dirty="0" smtClean="0"/>
              <a:t>Power and Energy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752599"/>
            <a:ext cx="9144000" cy="485921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Power</a:t>
            </a:r>
            <a:r>
              <a:rPr lang="en-US" sz="2400" dirty="0" smtClean="0"/>
              <a:t> is the </a:t>
            </a:r>
            <a:r>
              <a:rPr lang="en-US" sz="2400" dirty="0" smtClean="0">
                <a:solidFill>
                  <a:srgbClr val="FF0000"/>
                </a:solidFill>
              </a:rPr>
              <a:t>rate</a:t>
            </a:r>
            <a:r>
              <a:rPr lang="en-US" sz="2400" dirty="0" smtClean="0"/>
              <a:t> at which </a:t>
            </a:r>
            <a:r>
              <a:rPr lang="en-US" sz="2400" dirty="0" smtClean="0">
                <a:solidFill>
                  <a:srgbClr val="FF0000"/>
                </a:solidFill>
              </a:rPr>
              <a:t>energy</a:t>
            </a:r>
            <a:r>
              <a:rPr lang="en-US" sz="2400" dirty="0" smtClean="0"/>
              <a:t> is consumed or delivered:  Joules per second = Watt; [J/s =W].</a:t>
            </a:r>
            <a:br>
              <a:rPr lang="en-US" sz="2400" dirty="0" smtClean="0"/>
            </a:b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Mathematical expression: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Instantaneous power </a:t>
            </a:r>
            <a:r>
              <a:rPr lang="en-US" sz="2400" dirty="0" smtClean="0"/>
              <a:t>= the rate at which energy is consumed at a specific point in time: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DC systems: </a:t>
            </a:r>
            <a:r>
              <a:rPr lang="en-US" sz="2400" i="1" dirty="0" smtClean="0"/>
              <a:t>p(t) </a:t>
            </a:r>
            <a:r>
              <a:rPr lang="en-US" sz="2400" dirty="0" smtClean="0"/>
              <a:t>= P = VI = constant</a:t>
            </a:r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AC systems: </a:t>
            </a:r>
            <a:r>
              <a:rPr lang="en-US" sz="2400" i="1" dirty="0" smtClean="0"/>
              <a:t>p(t) </a:t>
            </a:r>
            <a:r>
              <a:rPr lang="en-US" sz="2400" dirty="0" smtClean="0"/>
              <a:t>= v(t)i(t) = time function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dirty="0" smtClean="0"/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133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441924"/>
              </p:ext>
            </p:extLst>
          </p:nvPr>
        </p:nvGraphicFramePr>
        <p:xfrm>
          <a:off x="4572000" y="2452467"/>
          <a:ext cx="3580934" cy="1064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3" imgW="1409700" imgH="419100" progId="Equation.3">
                  <p:embed/>
                </p:oleObj>
              </mc:Choice>
              <mc:Fallback>
                <p:oleObj name="Equation" r:id="rId3" imgW="14097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52467"/>
                        <a:ext cx="3580934" cy="1064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" t="16049" r="45845" b="11221"/>
          <a:stretch>
            <a:fillRect/>
          </a:stretch>
        </p:blipFill>
        <p:spPr bwMode="auto">
          <a:xfrm>
            <a:off x="180755" y="942535"/>
            <a:ext cx="8644830" cy="523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42913" y="285310"/>
            <a:ext cx="8243887" cy="6572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4000" dirty="0" smtClean="0"/>
              <a:t>AC Power in a Resistor</a:t>
            </a:r>
          </a:p>
        </p:txBody>
      </p:sp>
    </p:spTree>
    <p:extLst>
      <p:ext uri="{BB962C8B-B14F-4D97-AF65-F5344CB8AC3E}">
        <p14:creationId xmlns:p14="http://schemas.microsoft.com/office/powerpoint/2010/main" val="281098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3144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1.5 Power and Energy</a:t>
            </a:r>
          </a:p>
          <a:p>
            <a:pPr eaLnBrk="1" hangingPunct="1">
              <a:defRPr/>
            </a:pPr>
            <a:r>
              <a:rPr lang="en-US" sz="4000" dirty="0" smtClean="0"/>
              <a:t>Passive Sign Convention</a:t>
            </a:r>
          </a:p>
        </p:txBody>
      </p:sp>
      <p:pic>
        <p:nvPicPr>
          <p:cNvPr id="38" name="Picture 3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9" t="7303" r="16883" b="12674"/>
          <a:stretch/>
        </p:blipFill>
        <p:spPr bwMode="auto">
          <a:xfrm>
            <a:off x="3094892" y="1166297"/>
            <a:ext cx="3678592" cy="3281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442913" y="4450019"/>
            <a:ext cx="3601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dirty="0" smtClean="0"/>
              <a:t>If the reference current direction enters the </a:t>
            </a:r>
            <a:r>
              <a:rPr lang="en-ZA" sz="2000" dirty="0" smtClean="0">
                <a:solidFill>
                  <a:srgbClr val="FF0000"/>
                </a:solidFill>
              </a:rPr>
              <a:t>positive</a:t>
            </a:r>
            <a:r>
              <a:rPr lang="en-ZA" sz="2000" dirty="0" smtClean="0"/>
              <a:t> terminal: p = </a:t>
            </a:r>
            <a:r>
              <a:rPr lang="en-ZA" sz="2000" b="1" dirty="0" smtClean="0">
                <a:solidFill>
                  <a:srgbClr val="FF0000"/>
                </a:solidFill>
              </a:rPr>
              <a:t>+</a:t>
            </a:r>
            <a:r>
              <a:rPr lang="en-ZA" sz="2000" dirty="0" smtClean="0"/>
              <a:t>vi</a:t>
            </a:r>
            <a:endParaRPr lang="en-ZA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5092287" y="4447670"/>
            <a:ext cx="3601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dirty="0" smtClean="0"/>
              <a:t>If the reference current direction enters the </a:t>
            </a:r>
            <a:r>
              <a:rPr lang="en-ZA" sz="2000" dirty="0" smtClean="0">
                <a:solidFill>
                  <a:srgbClr val="FF0000"/>
                </a:solidFill>
              </a:rPr>
              <a:t>negative</a:t>
            </a:r>
            <a:r>
              <a:rPr lang="en-ZA" sz="2000" dirty="0" smtClean="0"/>
              <a:t> terminal: p = </a:t>
            </a:r>
            <a:r>
              <a:rPr lang="en-ZA" sz="2000" b="1" dirty="0" smtClean="0">
                <a:solidFill>
                  <a:srgbClr val="FF0000"/>
                </a:solidFill>
              </a:rPr>
              <a:t>-</a:t>
            </a:r>
            <a:r>
              <a:rPr lang="en-ZA" sz="2000" dirty="0" smtClean="0"/>
              <a:t>vi</a:t>
            </a:r>
            <a:endParaRPr lang="en-ZA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801858" y="5804331"/>
            <a:ext cx="751214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2000" dirty="0">
                <a:solidFill>
                  <a:srgbClr val="FF0000"/>
                </a:solidFill>
              </a:rPr>
              <a:t>p</a:t>
            </a:r>
            <a:r>
              <a:rPr lang="en-ZA" sz="2000" dirty="0" smtClean="0">
                <a:solidFill>
                  <a:srgbClr val="FF0000"/>
                </a:solidFill>
              </a:rPr>
              <a:t> &gt; 0</a:t>
            </a:r>
            <a:r>
              <a:rPr lang="en-ZA" sz="2000" dirty="0" smtClean="0"/>
              <a:t>: element is </a:t>
            </a:r>
            <a:r>
              <a:rPr lang="en-ZA" sz="2000" dirty="0" smtClean="0">
                <a:solidFill>
                  <a:srgbClr val="FF0000"/>
                </a:solidFill>
              </a:rPr>
              <a:t>absorbing</a:t>
            </a:r>
            <a:r>
              <a:rPr lang="en-ZA" sz="2000" dirty="0" smtClean="0"/>
              <a:t> or consuming energy</a:t>
            </a:r>
          </a:p>
          <a:p>
            <a:pPr algn="ctr"/>
            <a:r>
              <a:rPr lang="en-ZA" sz="2000" dirty="0" smtClean="0">
                <a:solidFill>
                  <a:srgbClr val="FF0000"/>
                </a:solidFill>
              </a:rPr>
              <a:t>p &lt; 0</a:t>
            </a:r>
            <a:r>
              <a:rPr lang="en-ZA" sz="2000" dirty="0" smtClean="0"/>
              <a:t>: element is </a:t>
            </a:r>
            <a:r>
              <a:rPr lang="en-ZA" sz="2000" dirty="0" smtClean="0">
                <a:solidFill>
                  <a:srgbClr val="FF0000"/>
                </a:solidFill>
              </a:rPr>
              <a:t>delivering</a:t>
            </a:r>
            <a:r>
              <a:rPr lang="en-ZA" sz="2000" dirty="0" smtClean="0"/>
              <a:t> or supplying energy 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66738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6100" y="266700"/>
            <a:ext cx="8243887" cy="10033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dirty="0" smtClean="0"/>
              <a:t>Calculate the power being absorbed or delivered </a:t>
            </a:r>
            <a:r>
              <a:rPr lang="en-ZA" sz="2000" dirty="0" smtClean="0">
                <a:solidFill>
                  <a:srgbClr val="FF0000"/>
                </a:solidFill>
              </a:rPr>
              <a:t>(effect of changing polarity and direction):</a:t>
            </a:r>
            <a:endParaRPr lang="en-ZA" sz="3200" i="1" dirty="0">
              <a:solidFill>
                <a:srgbClr val="FF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67942" y="1205468"/>
            <a:ext cx="1554509" cy="2408196"/>
            <a:chOff x="267942" y="1205468"/>
            <a:chExt cx="1554509" cy="2408196"/>
          </a:xfrm>
        </p:grpSpPr>
        <p:grpSp>
          <p:nvGrpSpPr>
            <p:cNvPr id="19" name="Group 18"/>
            <p:cNvGrpSpPr/>
            <p:nvPr/>
          </p:nvGrpSpPr>
          <p:grpSpPr>
            <a:xfrm>
              <a:off x="267942" y="1721366"/>
              <a:ext cx="940863" cy="1892298"/>
              <a:chOff x="1028700" y="1460500"/>
              <a:chExt cx="1130300" cy="2273300"/>
            </a:xfrm>
          </p:grpSpPr>
          <p:sp>
            <p:nvSpPr>
              <p:cNvPr id="5" name="Rectangle 4"/>
              <p:cNvSpPr/>
              <p:nvPr/>
            </p:nvSpPr>
            <p:spPr bwMode="auto">
              <a:xfrm>
                <a:off x="1765300" y="1968500"/>
                <a:ext cx="393700" cy="1193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cxnSp>
            <p:nvCxnSpPr>
              <p:cNvPr id="7" name="Elbow Connector 6"/>
              <p:cNvCxnSpPr>
                <a:stCxn id="5" idx="0"/>
              </p:cNvCxnSpPr>
              <p:nvPr/>
            </p:nvCxnSpPr>
            <p:spPr bwMode="auto">
              <a:xfrm rot="16200000" flipV="1">
                <a:off x="1241425" y="1247775"/>
                <a:ext cx="508000" cy="933450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med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" name="Elbow Connector 7"/>
              <p:cNvCxnSpPr>
                <a:stCxn id="5" idx="2"/>
              </p:cNvCxnSpPr>
              <p:nvPr/>
            </p:nvCxnSpPr>
            <p:spPr bwMode="auto">
              <a:xfrm rot="5400000">
                <a:off x="1209675" y="2981325"/>
                <a:ext cx="571500" cy="933450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med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4" name="TextBox 13"/>
            <p:cNvSpPr txBox="1"/>
            <p:nvPr/>
          </p:nvSpPr>
          <p:spPr>
            <a:xfrm>
              <a:off x="1183405" y="1827768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FF0000"/>
                  </a:solidFill>
                </a:rPr>
                <a:t>+</a:t>
              </a:r>
              <a:endParaRPr lang="en-ZA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83405" y="2997543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FF0000"/>
                  </a:solidFill>
                </a:rPr>
                <a:t>- </a:t>
              </a:r>
              <a:endParaRPr lang="en-ZA" sz="2400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89051" y="2418320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/>
                <a:t>4 V </a:t>
              </a:r>
              <a:endParaRPr lang="en-ZA" sz="2400" dirty="0"/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>
              <a:off x="377044" y="1600200"/>
              <a:ext cx="533400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TextBox 19"/>
            <p:cNvSpPr txBox="1"/>
            <p:nvPr/>
          </p:nvSpPr>
          <p:spPr>
            <a:xfrm>
              <a:off x="377044" y="1205468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400" dirty="0" smtClean="0"/>
                <a:t>2 A </a:t>
              </a:r>
              <a:endParaRPr lang="en-ZA" sz="2400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991518" y="1717756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</a:t>
            </a:r>
            <a:r>
              <a:rPr lang="en-ZA" sz="2400" dirty="0" smtClean="0">
                <a:solidFill>
                  <a:srgbClr val="FF0000"/>
                </a:solidFill>
              </a:rPr>
              <a:t>+</a:t>
            </a:r>
            <a:r>
              <a:rPr lang="en-ZA" sz="2400" dirty="0" smtClean="0"/>
              <a:t>vi</a:t>
            </a:r>
          </a:p>
          <a:p>
            <a:r>
              <a:rPr lang="en-ZA" sz="2400" dirty="0" smtClean="0"/>
              <a:t>   = + (4)(2)</a:t>
            </a:r>
          </a:p>
          <a:p>
            <a:r>
              <a:rPr lang="en-ZA" sz="2400" dirty="0" smtClean="0"/>
              <a:t>   = 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Absorbs 8 W</a:t>
            </a:r>
            <a:endParaRPr lang="en-ZA" sz="2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408795" y="4629666"/>
            <a:ext cx="940863" cy="1892298"/>
            <a:chOff x="1028700" y="1460500"/>
            <a:chExt cx="1130300" cy="2273300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25" name="Elbow Connector 24"/>
            <p:cNvCxnSpPr>
              <a:stCxn id="24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Elbow Connector 25"/>
            <p:cNvCxnSpPr>
              <a:stCxn id="24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" name="TextBox 26"/>
          <p:cNvSpPr txBox="1"/>
          <p:nvPr/>
        </p:nvSpPr>
        <p:spPr>
          <a:xfrm>
            <a:off x="1315604" y="473606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15604" y="5905843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29904" y="532662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4 V </a:t>
            </a:r>
            <a:endParaRPr lang="en-ZA" sz="2400" dirty="0"/>
          </a:p>
        </p:txBody>
      </p:sp>
      <p:cxnSp>
        <p:nvCxnSpPr>
          <p:cNvPr id="30" name="Straight Arrow Connector 29"/>
          <p:cNvCxnSpPr/>
          <p:nvPr/>
        </p:nvCxnSpPr>
        <p:spPr bwMode="auto">
          <a:xfrm flipH="1">
            <a:off x="443719" y="4521200"/>
            <a:ext cx="6425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Box 30"/>
          <p:cNvSpPr txBox="1"/>
          <p:nvPr/>
        </p:nvSpPr>
        <p:spPr>
          <a:xfrm>
            <a:off x="517897" y="411376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2 A </a:t>
            </a:r>
            <a:endParaRPr lang="en-ZA" sz="24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4719204" y="1773198"/>
            <a:ext cx="940863" cy="1892298"/>
            <a:chOff x="1028700" y="1460500"/>
            <a:chExt cx="1130300" cy="2273300"/>
          </a:xfrm>
        </p:grpSpPr>
        <p:sp>
          <p:nvSpPr>
            <p:cNvPr id="33" name="Rectangle 32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34" name="Elbow Connector 33"/>
            <p:cNvCxnSpPr>
              <a:stCxn id="33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Elbow Connector 34"/>
            <p:cNvCxnSpPr>
              <a:stCxn id="33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" name="TextBox 35"/>
          <p:cNvSpPr txBox="1"/>
          <p:nvPr/>
        </p:nvSpPr>
        <p:spPr>
          <a:xfrm>
            <a:off x="5740313" y="3071005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32809" y="1907739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40313" y="2470152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4 V </a:t>
            </a:r>
            <a:endParaRPr lang="en-ZA" sz="2400" dirty="0"/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4894981" y="1652032"/>
            <a:ext cx="466725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4828306" y="125730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2 A </a:t>
            </a:r>
            <a:endParaRPr lang="en-ZA" sz="24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4711700" y="4629666"/>
            <a:ext cx="940863" cy="1892298"/>
            <a:chOff x="1028700" y="1460500"/>
            <a:chExt cx="1130300" cy="2273300"/>
          </a:xfrm>
        </p:grpSpPr>
        <p:sp>
          <p:nvSpPr>
            <p:cNvPr id="42" name="Rectangle 41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43" name="Elbow Connector 42"/>
            <p:cNvCxnSpPr>
              <a:stCxn id="42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Elbow Connector 43"/>
            <p:cNvCxnSpPr>
              <a:stCxn id="42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5" name="TextBox 44"/>
          <p:cNvSpPr txBox="1"/>
          <p:nvPr/>
        </p:nvSpPr>
        <p:spPr>
          <a:xfrm>
            <a:off x="5732809" y="5927816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40313" y="4749111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32809" y="532662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4 V </a:t>
            </a:r>
            <a:endParaRPr lang="en-ZA" sz="2400" dirty="0"/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>
            <a:off x="4724400" y="4521200"/>
            <a:ext cx="683777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Box 48"/>
          <p:cNvSpPr txBox="1"/>
          <p:nvPr/>
        </p:nvSpPr>
        <p:spPr>
          <a:xfrm>
            <a:off x="4820802" y="411376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2 A </a:t>
            </a:r>
            <a:endParaRPr lang="en-ZA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2004218" y="4587956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</a:t>
            </a:r>
            <a:r>
              <a:rPr lang="en-ZA" sz="2400" dirty="0" smtClean="0">
                <a:solidFill>
                  <a:srgbClr val="FF0000"/>
                </a:solidFill>
              </a:rPr>
              <a:t>-</a:t>
            </a:r>
            <a:r>
              <a:rPr lang="en-ZA" sz="2400" dirty="0" smtClean="0"/>
              <a:t>vi</a:t>
            </a:r>
          </a:p>
          <a:p>
            <a:r>
              <a:rPr lang="en-ZA" sz="2400" dirty="0" smtClean="0"/>
              <a:t>   = - (4)(2)</a:t>
            </a:r>
          </a:p>
          <a:p>
            <a:r>
              <a:rPr lang="en-ZA" sz="2400" dirty="0" smtClean="0"/>
              <a:t>   = -8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p&lt;0: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Delivers 8 W</a:t>
            </a:r>
            <a:endParaRPr lang="en-ZA" sz="2400" dirty="0"/>
          </a:p>
        </p:txBody>
      </p:sp>
      <p:sp>
        <p:nvSpPr>
          <p:cNvPr id="56" name="TextBox 55"/>
          <p:cNvSpPr txBox="1"/>
          <p:nvPr/>
        </p:nvSpPr>
        <p:spPr>
          <a:xfrm>
            <a:off x="6273005" y="1802368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</a:t>
            </a:r>
            <a:r>
              <a:rPr lang="en-ZA" sz="2400" dirty="0" smtClean="0">
                <a:solidFill>
                  <a:srgbClr val="FF0000"/>
                </a:solidFill>
              </a:rPr>
              <a:t>-</a:t>
            </a:r>
            <a:r>
              <a:rPr lang="en-ZA" sz="2400" dirty="0" smtClean="0"/>
              <a:t>vi</a:t>
            </a:r>
          </a:p>
          <a:p>
            <a:r>
              <a:rPr lang="en-ZA" sz="2400" dirty="0" smtClean="0"/>
              <a:t>   = - (4)(2)</a:t>
            </a:r>
          </a:p>
          <a:p>
            <a:r>
              <a:rPr lang="en-ZA" sz="2400" dirty="0" smtClean="0"/>
              <a:t>   = -8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p&lt;0: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Delivers 8 W</a:t>
            </a:r>
            <a:endParaRPr lang="en-ZA" sz="2400" dirty="0"/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4464843" y="1390134"/>
            <a:ext cx="0" cy="5277366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80808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/>
          <p:cNvSpPr txBox="1"/>
          <p:nvPr/>
        </p:nvSpPr>
        <p:spPr>
          <a:xfrm>
            <a:off x="6271418" y="4518622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</a:t>
            </a:r>
            <a:r>
              <a:rPr lang="en-ZA" sz="2400" dirty="0" smtClean="0">
                <a:solidFill>
                  <a:srgbClr val="FF0000"/>
                </a:solidFill>
              </a:rPr>
              <a:t>+</a:t>
            </a:r>
            <a:r>
              <a:rPr lang="en-ZA" sz="2400" dirty="0" smtClean="0"/>
              <a:t>vi</a:t>
            </a:r>
          </a:p>
          <a:p>
            <a:r>
              <a:rPr lang="en-ZA" sz="2400" dirty="0" smtClean="0"/>
              <a:t>   = + (4)(2)</a:t>
            </a:r>
          </a:p>
          <a:p>
            <a:r>
              <a:rPr lang="en-ZA" sz="2400" dirty="0" smtClean="0"/>
              <a:t>   = 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Absorbs 8 W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06308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6" grpId="0"/>
      <p:bldP spid="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6100" y="266700"/>
            <a:ext cx="8243887" cy="10033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dirty="0" smtClean="0"/>
              <a:t>Calculate the power being absorbed or delivered </a:t>
            </a:r>
            <a:r>
              <a:rPr lang="en-ZA" sz="2400" dirty="0" smtClean="0">
                <a:solidFill>
                  <a:srgbClr val="FF0000"/>
                </a:solidFill>
              </a:rPr>
              <a:t>(effect of changing signs)</a:t>
            </a:r>
            <a:endParaRPr lang="en-ZA" sz="3200" i="1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67942" y="1721366"/>
            <a:ext cx="940863" cy="1892298"/>
            <a:chOff x="1028700" y="1460500"/>
            <a:chExt cx="1130300" cy="2273300"/>
          </a:xfrm>
        </p:grpSpPr>
        <p:sp>
          <p:nvSpPr>
            <p:cNvPr id="5" name="Rectangle 4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7" name="Elbow Connector 6"/>
            <p:cNvCxnSpPr>
              <a:stCxn id="5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Elbow Connector 7"/>
            <p:cNvCxnSpPr>
              <a:stCxn id="5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" name="TextBox 13"/>
          <p:cNvSpPr txBox="1"/>
          <p:nvPr/>
        </p:nvSpPr>
        <p:spPr>
          <a:xfrm>
            <a:off x="1183405" y="182776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3405" y="2997543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9051" y="241832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4 V </a:t>
            </a:r>
            <a:endParaRPr lang="en-ZA" sz="2400" dirty="0"/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377044" y="1600200"/>
            <a:ext cx="53340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377044" y="120546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2 A </a:t>
            </a:r>
            <a:endParaRPr lang="en-ZA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991518" y="1717756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+vi</a:t>
            </a:r>
          </a:p>
          <a:p>
            <a:r>
              <a:rPr lang="en-ZA" sz="2400" dirty="0" smtClean="0"/>
              <a:t>   = + (4)(2)</a:t>
            </a:r>
          </a:p>
          <a:p>
            <a:r>
              <a:rPr lang="en-ZA" sz="2400" dirty="0" smtClean="0"/>
              <a:t>   = 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Absorbs 8 W</a:t>
            </a:r>
            <a:endParaRPr lang="en-ZA" sz="2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408795" y="4629666"/>
            <a:ext cx="940863" cy="1892298"/>
            <a:chOff x="1028700" y="1460500"/>
            <a:chExt cx="1130300" cy="2273300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25" name="Elbow Connector 24"/>
            <p:cNvCxnSpPr>
              <a:stCxn id="24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Elbow Connector 25"/>
            <p:cNvCxnSpPr>
              <a:stCxn id="24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" name="TextBox 26"/>
          <p:cNvSpPr txBox="1"/>
          <p:nvPr/>
        </p:nvSpPr>
        <p:spPr>
          <a:xfrm>
            <a:off x="1315604" y="4736068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15604" y="5905843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29904" y="532662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4 V </a:t>
            </a:r>
            <a:endParaRPr lang="en-ZA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417449" y="4113768"/>
            <a:ext cx="7711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-2 A </a:t>
            </a:r>
            <a:endParaRPr lang="en-ZA" sz="24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4719204" y="1773198"/>
            <a:ext cx="940863" cy="1892298"/>
            <a:chOff x="1028700" y="1460500"/>
            <a:chExt cx="1130300" cy="2273300"/>
          </a:xfrm>
        </p:grpSpPr>
        <p:sp>
          <p:nvSpPr>
            <p:cNvPr id="33" name="Rectangle 32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34" name="Elbow Connector 33"/>
            <p:cNvCxnSpPr>
              <a:stCxn id="33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Elbow Connector 34"/>
            <p:cNvCxnSpPr>
              <a:stCxn id="33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" name="TextBox 35"/>
          <p:cNvSpPr txBox="1"/>
          <p:nvPr/>
        </p:nvSpPr>
        <p:spPr>
          <a:xfrm>
            <a:off x="5740313" y="3071005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32809" y="1907739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40312" y="2470152"/>
            <a:ext cx="6858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-4 V </a:t>
            </a:r>
            <a:endParaRPr lang="en-ZA" sz="2400" dirty="0"/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4894981" y="1652032"/>
            <a:ext cx="466725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4828306" y="1257300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2 A </a:t>
            </a:r>
            <a:endParaRPr lang="en-ZA" sz="24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4711700" y="4629666"/>
            <a:ext cx="940863" cy="1892298"/>
            <a:chOff x="1028700" y="1460500"/>
            <a:chExt cx="1130300" cy="2273300"/>
          </a:xfrm>
        </p:grpSpPr>
        <p:sp>
          <p:nvSpPr>
            <p:cNvPr id="42" name="Rectangle 41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43" name="Elbow Connector 42"/>
            <p:cNvCxnSpPr>
              <a:stCxn id="42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Elbow Connector 43"/>
            <p:cNvCxnSpPr>
              <a:stCxn id="42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5" name="TextBox 44"/>
          <p:cNvSpPr txBox="1"/>
          <p:nvPr/>
        </p:nvSpPr>
        <p:spPr>
          <a:xfrm>
            <a:off x="5732809" y="5927816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40313" y="4749111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32809" y="5326620"/>
            <a:ext cx="6933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-4 V </a:t>
            </a:r>
            <a:endParaRPr lang="en-ZA" sz="2400" dirty="0"/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>
            <a:off x="4724400" y="4521200"/>
            <a:ext cx="683777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Box 48"/>
          <p:cNvSpPr txBox="1"/>
          <p:nvPr/>
        </p:nvSpPr>
        <p:spPr>
          <a:xfrm>
            <a:off x="4820801" y="4113768"/>
            <a:ext cx="83176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-2 A </a:t>
            </a:r>
            <a:endParaRPr lang="en-ZA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2004218" y="4587956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-vi</a:t>
            </a:r>
          </a:p>
          <a:p>
            <a:r>
              <a:rPr lang="en-ZA" sz="2400" dirty="0" smtClean="0"/>
              <a:t>   = -(4)(-2)</a:t>
            </a:r>
          </a:p>
          <a:p>
            <a:r>
              <a:rPr lang="en-ZA" sz="2400" dirty="0" smtClean="0"/>
              <a:t>   = +8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Absorbs 8 W</a:t>
            </a:r>
            <a:endParaRPr lang="en-ZA" sz="2400" dirty="0"/>
          </a:p>
        </p:txBody>
      </p:sp>
      <p:sp>
        <p:nvSpPr>
          <p:cNvPr id="56" name="TextBox 55"/>
          <p:cNvSpPr txBox="1"/>
          <p:nvPr/>
        </p:nvSpPr>
        <p:spPr>
          <a:xfrm>
            <a:off x="6273005" y="1802368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-vi</a:t>
            </a:r>
          </a:p>
          <a:p>
            <a:r>
              <a:rPr lang="en-ZA" sz="2400" dirty="0" smtClean="0"/>
              <a:t>   = - (-4)(2)</a:t>
            </a:r>
          </a:p>
          <a:p>
            <a:r>
              <a:rPr lang="en-ZA" sz="2400" dirty="0" smtClean="0"/>
              <a:t>   = +8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Absorbs 8 W</a:t>
            </a:r>
            <a:endParaRPr lang="en-ZA" sz="2400" dirty="0"/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4464843" y="1390134"/>
            <a:ext cx="0" cy="5277366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80808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/>
          <p:cNvSpPr txBox="1"/>
          <p:nvPr/>
        </p:nvSpPr>
        <p:spPr>
          <a:xfrm>
            <a:off x="6271418" y="4518622"/>
            <a:ext cx="272018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400" dirty="0" smtClean="0"/>
              <a:t>p = +vi</a:t>
            </a:r>
          </a:p>
          <a:p>
            <a:r>
              <a:rPr lang="en-ZA" sz="2400" dirty="0" smtClean="0"/>
              <a:t>   = + (-4)(-2)</a:t>
            </a:r>
          </a:p>
          <a:p>
            <a:r>
              <a:rPr lang="en-ZA" sz="2400" dirty="0" smtClean="0"/>
              <a:t>   = 8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400" dirty="0" smtClean="0">
                <a:sym typeface="Symbol"/>
              </a:rPr>
              <a:t>Absorbs 8 W</a:t>
            </a:r>
            <a:endParaRPr lang="en-ZA" sz="2400" dirty="0"/>
          </a:p>
        </p:txBody>
      </p:sp>
      <p:cxnSp>
        <p:nvCxnSpPr>
          <p:cNvPr id="50" name="Straight Arrow Connector 49"/>
          <p:cNvCxnSpPr/>
          <p:nvPr/>
        </p:nvCxnSpPr>
        <p:spPr bwMode="auto">
          <a:xfrm flipH="1" flipV="1">
            <a:off x="417449" y="4518622"/>
            <a:ext cx="765956" cy="25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6261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6" grpId="0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1ABBD361-D38C-4FDD-B357-9DDD6953E0FC}" type="slidenum">
              <a:rPr lang="en-US"/>
              <a:pPr/>
              <a:t>21</a:t>
            </a:fld>
            <a:endParaRPr 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368300"/>
            <a:ext cx="8243887" cy="65563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1.5 Power and Energy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62100"/>
            <a:ext cx="8305800" cy="68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The law of </a:t>
            </a:r>
            <a:r>
              <a:rPr lang="en-US" sz="2400" dirty="0" smtClean="0">
                <a:solidFill>
                  <a:srgbClr val="FF0000"/>
                </a:solidFill>
              </a:rPr>
              <a:t>conservation of energy </a:t>
            </a:r>
            <a:r>
              <a:rPr lang="en-US" sz="2400" dirty="0" smtClean="0"/>
              <a:t>implies that in an electrical circuit </a:t>
            </a:r>
            <a:r>
              <a:rPr lang="en-US" sz="2400" dirty="0" err="1" smtClean="0">
                <a:solidFill>
                  <a:srgbClr val="FF0000"/>
                </a:solidFill>
              </a:rPr>
              <a:t>p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delivered</a:t>
            </a:r>
            <a:r>
              <a:rPr lang="en-US" sz="2400" dirty="0" smtClean="0">
                <a:solidFill>
                  <a:srgbClr val="FF0000"/>
                </a:solidFill>
              </a:rPr>
              <a:t> = </a:t>
            </a:r>
            <a:r>
              <a:rPr lang="en-US" sz="2400" dirty="0" err="1" smtClean="0">
                <a:solidFill>
                  <a:srgbClr val="FF0000"/>
                </a:solidFill>
              </a:rPr>
              <a:t>p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absorbed</a:t>
            </a:r>
            <a:r>
              <a:rPr lang="en-US" sz="2400" dirty="0" smtClean="0"/>
              <a:t>, or: 		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344" name="Rectangle 4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1434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234916"/>
              </p:ext>
            </p:extLst>
          </p:nvPr>
        </p:nvGraphicFramePr>
        <p:xfrm>
          <a:off x="3416300" y="2336800"/>
          <a:ext cx="14890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4" name="Equation" r:id="rId3" imgW="558720" imgH="253800" progId="Equation.3">
                  <p:embed/>
                </p:oleObj>
              </mc:Choice>
              <mc:Fallback>
                <p:oleObj name="Equation" r:id="rId3" imgW="558720" imgH="2538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2336800"/>
                        <a:ext cx="14890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41"/>
          <p:cNvSpPr>
            <a:spLocks noChangeArrowheads="1"/>
          </p:cNvSpPr>
          <p:nvPr/>
        </p:nvSpPr>
        <p:spPr bwMode="auto">
          <a:xfrm>
            <a:off x="457200" y="2829004"/>
            <a:ext cx="810260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7338" indent="-287338"/>
            <a:endParaRPr lang="en-US" dirty="0"/>
          </a:p>
          <a:p>
            <a:pPr marL="287338" indent="-287338">
              <a:buFontTx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Energy</a:t>
            </a:r>
            <a:r>
              <a:rPr lang="en-US" sz="2400" dirty="0"/>
              <a:t> is the capacity to do work, measured in joules (J</a:t>
            </a:r>
            <a:r>
              <a:rPr lang="en-US" sz="2400" dirty="0" smtClean="0"/>
              <a:t>) or alternatively in Watt-hour (</a:t>
            </a:r>
            <a:r>
              <a:rPr lang="en-US" sz="2400" dirty="0" err="1" smtClean="0"/>
              <a:t>Wh</a:t>
            </a:r>
            <a:r>
              <a:rPr lang="en-US" sz="2400" dirty="0" smtClean="0"/>
              <a:t>). </a:t>
            </a:r>
          </a:p>
          <a:p>
            <a:pPr marL="744538" lvl="1" indent="-287338">
              <a:buFontTx/>
              <a:buChar char="•"/>
            </a:pPr>
            <a:r>
              <a:rPr lang="en-US" sz="2400" dirty="0" smtClean="0"/>
              <a:t>1 </a:t>
            </a:r>
            <a:r>
              <a:rPr lang="en-US" sz="2400" dirty="0" err="1" smtClean="0"/>
              <a:t>Wh</a:t>
            </a:r>
            <a:r>
              <a:rPr lang="en-US" sz="2400" dirty="0" smtClean="0"/>
              <a:t> = 3600 J = 3.6 kJ	</a:t>
            </a:r>
          </a:p>
          <a:p>
            <a:pPr marL="744538" lvl="1" indent="-287338">
              <a:buFontTx/>
              <a:buChar char="•"/>
            </a:pPr>
            <a:r>
              <a:rPr lang="en-US" sz="2400" dirty="0" smtClean="0"/>
              <a:t>1 kWh = 3.6 MJ</a:t>
            </a:r>
            <a:endParaRPr lang="en-US" sz="2400" dirty="0"/>
          </a:p>
          <a:p>
            <a:pPr marL="287338" indent="-287338"/>
            <a:r>
              <a:rPr lang="en-US" sz="2400" dirty="0"/>
              <a:t>	</a:t>
            </a:r>
          </a:p>
        </p:txBody>
      </p:sp>
      <p:sp>
        <p:nvSpPr>
          <p:cNvPr id="14347" name="Rectangle 43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0056" y="1058774"/>
            <a:ext cx="80843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338" indent="-287338">
              <a:buFontTx/>
              <a:buChar char="•"/>
            </a:pPr>
            <a:r>
              <a:rPr lang="en-US" sz="2400" dirty="0" smtClean="0"/>
              <a:t>Energy </a:t>
            </a:r>
            <a:r>
              <a:rPr lang="en-US" sz="2400" dirty="0"/>
              <a:t>absorbed or delivered by an element between times t</a:t>
            </a:r>
            <a:r>
              <a:rPr lang="en-US" sz="2400" baseline="-25000" dirty="0"/>
              <a:t>0</a:t>
            </a:r>
            <a:r>
              <a:rPr lang="en-US" sz="2400" dirty="0"/>
              <a:t> and t</a:t>
            </a:r>
            <a:r>
              <a:rPr lang="en-US" sz="2400" baseline="-25000" dirty="0"/>
              <a:t>1</a:t>
            </a:r>
            <a:r>
              <a:rPr lang="en-US" sz="2400" dirty="0"/>
              <a:t> is: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231735"/>
              </p:ext>
            </p:extLst>
          </p:nvPr>
        </p:nvGraphicFramePr>
        <p:xfrm>
          <a:off x="5108946" y="1916203"/>
          <a:ext cx="32004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8" name="Equation" r:id="rId3" imgW="1193800" imgH="355600" progId="Equation.3">
                  <p:embed/>
                </p:oleObj>
              </mc:Choice>
              <mc:Fallback>
                <p:oleObj name="Equation" r:id="rId3" imgW="1193800" imgH="355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946" y="1916203"/>
                        <a:ext cx="32004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50056" y="368300"/>
            <a:ext cx="8243887" cy="6556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3200" smtClean="0"/>
              <a:t>1.5 Power and Energy</a:t>
            </a:r>
            <a:endParaRPr lang="en-US" sz="3200" dirty="0" smtClean="0"/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2197100" y="3429000"/>
            <a:ext cx="0" cy="20574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1803400" y="5080000"/>
            <a:ext cx="46101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14"/>
          <p:cNvCxnSpPr/>
          <p:nvPr/>
        </p:nvCxnSpPr>
        <p:spPr bwMode="auto">
          <a:xfrm>
            <a:off x="1828800" y="4089400"/>
            <a:ext cx="45974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/>
          <p:cNvCxnSpPr/>
          <p:nvPr/>
        </p:nvCxnSpPr>
        <p:spPr bwMode="auto">
          <a:xfrm>
            <a:off x="5591175" y="4959350"/>
            <a:ext cx="0" cy="2413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1714500" y="5054768"/>
            <a:ext cx="7711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0</a:t>
            </a:r>
            <a:endParaRPr lang="en-ZA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393095" y="5197643"/>
            <a:ext cx="149622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1 hour</a:t>
            </a:r>
            <a:endParaRPr lang="en-ZA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2324986" y="5486400"/>
            <a:ext cx="33954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time [h]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06500" y="3264500"/>
            <a:ext cx="9878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P [W]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98254" y="3749069"/>
            <a:ext cx="7711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/>
              <a:t>1</a:t>
            </a:r>
            <a:endParaRPr lang="en-ZA" sz="2400" dirty="0"/>
          </a:p>
        </p:txBody>
      </p:sp>
      <p:sp>
        <p:nvSpPr>
          <p:cNvPr id="23" name="Rectangle 22"/>
          <p:cNvSpPr/>
          <p:nvPr/>
        </p:nvSpPr>
        <p:spPr bwMode="auto">
          <a:xfrm>
            <a:off x="2197100" y="4101926"/>
            <a:ext cx="3406378" cy="965368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597970" y="2846501"/>
            <a:ext cx="3868865" cy="1205330"/>
            <a:chOff x="3597970" y="2846501"/>
            <a:chExt cx="3868865" cy="1205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145541" y="2846501"/>
                  <a:ext cx="3321294" cy="1205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𝑤</m:t>
                        </m:r>
                        <m:r>
                          <a:rPr lang="en-ZA" sz="2400" b="0" i="1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=</m:t>
                        </m:r>
                        <m:nary>
                          <m:naryPr>
                            <m:limLoc m:val="undOvr"/>
                            <m:ctrlPr>
                              <a:rPr lang="en-ZA" sz="24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ZA" sz="2400" b="0" i="1" smtClean="0">
                                <a:solidFill>
                                  <a:srgbClr val="000099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ZA" sz="2400" b="0" i="1" smtClean="0">
                                <a:solidFill>
                                  <a:srgbClr val="000099"/>
                                </a:solidFill>
                                <a:latin typeface="Cambria Math"/>
                              </a:rPr>
                              <m:t>3600</m:t>
                            </m:r>
                          </m:sup>
                          <m:e>
                            <m:r>
                              <a:rPr lang="en-ZA" sz="2400" b="0" i="1" smtClean="0">
                                <a:solidFill>
                                  <a:srgbClr val="000099"/>
                                </a:solidFill>
                                <a:latin typeface="Cambria Math"/>
                              </a:rPr>
                              <m:t>𝑝</m:t>
                            </m:r>
                            <m:r>
                              <a:rPr lang="en-ZA" sz="2400" b="0" i="1" smtClean="0">
                                <a:solidFill>
                                  <a:srgbClr val="000099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ZA" sz="2400" b="0" i="1" smtClean="0">
                                <a:solidFill>
                                  <a:srgbClr val="000099"/>
                                </a:solidFill>
                                <a:latin typeface="Cambria Math"/>
                              </a:rPr>
                              <m:t>𝑑𝑡</m:t>
                            </m:r>
                          </m:e>
                        </m:nary>
                        <m:r>
                          <a:rPr lang="en-ZA" sz="2400" b="0" i="1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=3600 </m:t>
                        </m:r>
                        <m:r>
                          <a:rPr lang="en-ZA" sz="2400" b="0" i="1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𝐽</m:t>
                        </m:r>
                      </m:oMath>
                    </m:oMathPara>
                  </a14:m>
                  <a:endParaRPr lang="en-ZA" sz="2400" dirty="0">
                    <a:solidFill>
                      <a:srgbClr val="000099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541" y="2846501"/>
                  <a:ext cx="3321294" cy="120533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Bent Arrow 25"/>
            <p:cNvSpPr/>
            <p:nvPr/>
          </p:nvSpPr>
          <p:spPr bwMode="auto">
            <a:xfrm>
              <a:off x="3597970" y="3358367"/>
              <a:ext cx="510479" cy="615950"/>
            </a:xfrm>
            <a:prstGeom prst="ben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6688900" y="5150546"/>
            <a:ext cx="21749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/>
              <a:t>= 60 x 60s </a:t>
            </a:r>
          </a:p>
          <a:p>
            <a:r>
              <a:rPr lang="en-ZA" sz="2400" dirty="0" smtClean="0"/>
              <a:t>= </a:t>
            </a:r>
            <a:r>
              <a:rPr lang="en-ZA" sz="2400" dirty="0"/>
              <a:t>3600s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410" y="5864165"/>
            <a:ext cx="8084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 element consumes energy at a rate of 1 W for 1 hour – how much energy is that in Joule?</a:t>
            </a:r>
            <a:endParaRPr lang="en-US" sz="28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30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304800"/>
            <a:ext cx="8243887" cy="1981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dirty="0" smtClean="0">
                <a:solidFill>
                  <a:srgbClr val="FF0000"/>
                </a:solidFill>
              </a:rPr>
              <a:t>PP1-4</a:t>
            </a:r>
            <a:r>
              <a:rPr lang="en-ZA" dirty="0" smtClean="0"/>
              <a:t/>
            </a:r>
            <a:br>
              <a:rPr lang="en-ZA" dirty="0" smtClean="0"/>
            </a:br>
            <a:r>
              <a:rPr lang="en-ZA" sz="3200" dirty="0" smtClean="0"/>
              <a:t>To move charge </a:t>
            </a:r>
            <a:r>
              <a:rPr lang="en-ZA" sz="3200" i="1" dirty="0" smtClean="0">
                <a:solidFill>
                  <a:srgbClr val="FF0000"/>
                </a:solidFill>
              </a:rPr>
              <a:t>q </a:t>
            </a:r>
            <a:r>
              <a:rPr lang="en-ZA" sz="3200" dirty="0" smtClean="0">
                <a:solidFill>
                  <a:srgbClr val="FF0000"/>
                </a:solidFill>
              </a:rPr>
              <a:t>= 2C </a:t>
            </a:r>
            <a:r>
              <a:rPr lang="en-ZA" sz="3200" dirty="0" smtClean="0"/>
              <a:t>from point a to b requires </a:t>
            </a:r>
            <a:r>
              <a:rPr lang="en-ZA" sz="3200" dirty="0" smtClean="0">
                <a:solidFill>
                  <a:srgbClr val="FF0000"/>
                </a:solidFill>
              </a:rPr>
              <a:t>-30 J</a:t>
            </a:r>
            <a:r>
              <a:rPr lang="en-ZA" sz="3200" dirty="0" smtClean="0"/>
              <a:t>.  Find the voltage drop </a:t>
            </a:r>
            <a:r>
              <a:rPr lang="en-ZA" sz="3200" dirty="0" err="1" smtClean="0"/>
              <a:t>v</a:t>
            </a:r>
            <a:r>
              <a:rPr lang="en-ZA" sz="3200" baseline="-25000" dirty="0" err="1" smtClean="0"/>
              <a:t>ab</a:t>
            </a:r>
            <a:r>
              <a:rPr lang="en-ZA" sz="3200" dirty="0" smtClean="0"/>
              <a:t>.</a:t>
            </a: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31790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304800"/>
            <a:ext cx="8243887" cy="1981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dirty="0" smtClean="0">
                <a:solidFill>
                  <a:srgbClr val="FF0000"/>
                </a:solidFill>
              </a:rPr>
              <a:t>PP1-4</a:t>
            </a:r>
            <a:r>
              <a:rPr lang="en-ZA" dirty="0" smtClean="0"/>
              <a:t/>
            </a:r>
            <a:br>
              <a:rPr lang="en-ZA" dirty="0" smtClean="0"/>
            </a:br>
            <a:r>
              <a:rPr lang="en-ZA" sz="3200" dirty="0" smtClean="0"/>
              <a:t>To move charge </a:t>
            </a:r>
            <a:r>
              <a:rPr lang="en-ZA" sz="3200" i="1" dirty="0" smtClean="0">
                <a:solidFill>
                  <a:srgbClr val="FF0000"/>
                </a:solidFill>
              </a:rPr>
              <a:t>q </a:t>
            </a:r>
            <a:r>
              <a:rPr lang="en-ZA" sz="3200" dirty="0" smtClean="0">
                <a:solidFill>
                  <a:srgbClr val="FF0000"/>
                </a:solidFill>
              </a:rPr>
              <a:t>= 2C </a:t>
            </a:r>
            <a:r>
              <a:rPr lang="en-ZA" sz="3200" dirty="0" smtClean="0"/>
              <a:t>from point a to b requires </a:t>
            </a:r>
            <a:r>
              <a:rPr lang="en-ZA" sz="3200" dirty="0" smtClean="0">
                <a:solidFill>
                  <a:srgbClr val="FF0000"/>
                </a:solidFill>
              </a:rPr>
              <a:t>-30 J</a:t>
            </a:r>
            <a:r>
              <a:rPr lang="en-ZA" sz="3200" dirty="0" smtClean="0"/>
              <a:t>.  Find the voltage drop </a:t>
            </a:r>
            <a:r>
              <a:rPr lang="en-ZA" sz="3200" dirty="0" err="1" smtClean="0"/>
              <a:t>v</a:t>
            </a:r>
            <a:r>
              <a:rPr lang="en-ZA" sz="3200" baseline="-25000" dirty="0" err="1" smtClean="0"/>
              <a:t>ab</a:t>
            </a:r>
            <a:r>
              <a:rPr lang="en-ZA" sz="3200" dirty="0" smtClean="0"/>
              <a:t>.</a:t>
            </a:r>
            <a:endParaRPr lang="en-ZA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04093" y="2324100"/>
                <a:ext cx="6997700" cy="1145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ZA" sz="440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a:rPr lang="en-ZA" sz="4400" b="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𝑣</m:t>
                        </m:r>
                      </m:e>
                      <m:sub>
                        <m:r>
                          <a:rPr lang="en-ZA" sz="4400" b="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𝑎𝑏</m:t>
                        </m:r>
                      </m:sub>
                    </m:sSub>
                    <m:r>
                      <a:rPr lang="en-ZA" sz="4400" b="0" i="1" smtClean="0"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f>
                      <m:fPr>
                        <m:ctrlPr>
                          <a:rPr lang="en-ZA" sz="4400" b="0" i="1" smtClean="0">
                            <a:latin typeface="Cambria Math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ZA" sz="4400" b="0" i="1" smtClean="0">
                            <a:latin typeface="Cambria Math" pitchFamily="18" charset="0"/>
                            <a:ea typeface="Cambria Math" pitchFamily="18" charset="0"/>
                          </a:rPr>
                          <m:t>𝑑𝑤</m:t>
                        </m:r>
                      </m:num>
                      <m:den>
                        <m:r>
                          <a:rPr lang="en-ZA" sz="4400" b="0" i="1" smtClean="0">
                            <a:latin typeface="Cambria Math" pitchFamily="18" charset="0"/>
                            <a:ea typeface="Cambria Math" pitchFamily="18" charset="0"/>
                          </a:rPr>
                          <m:t>𝑑𝑞</m:t>
                        </m:r>
                      </m:den>
                    </m:f>
                  </m:oMath>
                </a14:m>
                <a:r>
                  <a:rPr lang="en-ZA" sz="4400" dirty="0" smtClean="0">
                    <a:latin typeface="Cambria Math" pitchFamily="18" charset="0"/>
                    <a:ea typeface="Cambria Math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sz="4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ZA" sz="4400" i="1" smtClean="0">
                            <a:latin typeface="Cambria Math" pitchFamily="18" charset="0"/>
                            <a:ea typeface="Cambria Math" pitchFamily="18" charset="0"/>
                          </a:rPr>
                          <m:t>∆</m:t>
                        </m:r>
                        <m:r>
                          <a:rPr lang="en-ZA" sz="4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𝑤</m:t>
                        </m:r>
                      </m:num>
                      <m:den>
                        <m:r>
                          <a:rPr lang="en-ZA" sz="4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∆</m:t>
                        </m:r>
                        <m:r>
                          <a:rPr lang="en-ZA" sz="4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ZA" sz="4400" dirty="0" smtClean="0">
                    <a:latin typeface="Cambria Math" pitchFamily="18" charset="0"/>
                    <a:ea typeface="Cambria Math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sz="4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ZA" sz="4400" b="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−30</m:t>
                        </m:r>
                      </m:num>
                      <m:den>
                        <m:r>
                          <a:rPr lang="en-ZA" sz="4400" b="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ZA" sz="4400" dirty="0" smtClean="0">
                    <a:latin typeface="Cambria Math" pitchFamily="18" charset="0"/>
                    <a:ea typeface="Cambria Math" pitchFamily="18" charset="0"/>
                    <a:cs typeface="Times New Roman" pitchFamily="18" charset="0"/>
                  </a:rPr>
                  <a:t> = -15 V</a:t>
                </a:r>
                <a:endParaRPr lang="en-ZA" sz="4400" dirty="0">
                  <a:latin typeface="Cambria Math" pitchFamily="18" charset="0"/>
                  <a:ea typeface="Cambria Math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093" y="2324100"/>
                <a:ext cx="6997700" cy="1145185"/>
              </a:xfrm>
              <a:prstGeom prst="rect">
                <a:avLst/>
              </a:prstGeom>
              <a:blipFill rotWithShape="1">
                <a:blip r:embed="rId2"/>
                <a:stretch>
                  <a:fillRect r="-3049" b="-425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57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300" y="469900"/>
            <a:ext cx="9029700" cy="1981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PP1-5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Find the power delivered to an element at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5 </a:t>
            </a:r>
            <a:r>
              <a:rPr lang="en-ZA" sz="3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if the voltage is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 = 2i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 the current entering its positive terminal is: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= 5 </a:t>
            </a:r>
            <a:r>
              <a:rPr lang="en-ZA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60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t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A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en-ZA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39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300" y="469900"/>
            <a:ext cx="9029700" cy="1981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PP1-5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Find the power delivered to an element at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5 </a:t>
            </a:r>
            <a:r>
              <a:rPr lang="en-ZA" sz="3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if the voltage is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 = 2i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 the current entering its positive terminal is: 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= 5 </a:t>
            </a:r>
            <a:r>
              <a:rPr lang="en-ZA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60</a:t>
            </a:r>
            <a:r>
              <a:rPr lang="en-ZA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t</a:t>
            </a:r>
            <a:r>
              <a:rPr lang="en-ZA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A</a:t>
            </a:r>
            <a:r>
              <a:rPr lang="en-ZA" sz="3200" dirty="0" smtClean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en-ZA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77044" y="3093480"/>
            <a:ext cx="940863" cy="1892298"/>
            <a:chOff x="1028700" y="1460500"/>
            <a:chExt cx="1130300" cy="2273300"/>
          </a:xfrm>
        </p:grpSpPr>
        <p:sp>
          <p:nvSpPr>
            <p:cNvPr id="5" name="Rectangle 4"/>
            <p:cNvSpPr/>
            <p:nvPr/>
          </p:nvSpPr>
          <p:spPr bwMode="auto">
            <a:xfrm>
              <a:off x="1765300" y="1968500"/>
              <a:ext cx="393700" cy="1193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6" name="Elbow Connector 5"/>
            <p:cNvCxnSpPr>
              <a:stCxn id="5" idx="0"/>
            </p:cNvCxnSpPr>
            <p:nvPr/>
          </p:nvCxnSpPr>
          <p:spPr bwMode="auto">
            <a:xfrm rot="16200000" flipV="1">
              <a:off x="1241425" y="1247775"/>
              <a:ext cx="5080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Elbow Connector 6"/>
            <p:cNvCxnSpPr>
              <a:stCxn id="5" idx="2"/>
            </p:cNvCxnSpPr>
            <p:nvPr/>
          </p:nvCxnSpPr>
          <p:spPr bwMode="auto">
            <a:xfrm rot="5400000">
              <a:off x="1209675" y="2981325"/>
              <a:ext cx="571500" cy="9334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med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" name="TextBox 7"/>
          <p:cNvSpPr txBox="1"/>
          <p:nvPr/>
        </p:nvSpPr>
        <p:spPr>
          <a:xfrm>
            <a:off x="1292507" y="3199882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+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2507" y="4369657"/>
            <a:ext cx="533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FF0000"/>
                </a:solidFill>
              </a:rPr>
              <a:t>- </a:t>
            </a:r>
            <a:endParaRPr lang="en-ZA" sz="2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8152" y="3790434"/>
            <a:ext cx="13450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 = 2i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400" dirty="0" smtClean="0"/>
              <a:t> </a:t>
            </a:r>
            <a:endParaRPr lang="en-ZA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686207" y="5536682"/>
            <a:ext cx="6467193" cy="86177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NB:  Calculator must be set to </a:t>
            </a:r>
            <a:r>
              <a:rPr lang="en-ZA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radians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  <a:p>
            <a:pPr algn="ctr"/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 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[rad] = 360</a:t>
            </a:r>
            <a:endParaRPr lang="en-ZA" sz="2400" dirty="0"/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431390" y="2946914"/>
            <a:ext cx="53340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3629818" y="2358588"/>
            <a:ext cx="5076032" cy="3016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p = +vi</a:t>
            </a:r>
          </a:p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  = (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  = 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(5 </a:t>
            </a:r>
            <a:r>
              <a:rPr lang="en-ZA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ZA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60</a:t>
            </a:r>
            <a:r>
              <a:rPr lang="en-ZA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ZA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t)</a:t>
            </a:r>
            <a:r>
              <a:rPr lang="en-ZA" sz="2800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en-ZA" sz="28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= 50 cos</a:t>
            </a:r>
            <a:r>
              <a:rPr lang="en-ZA" sz="2800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(60*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*5*10</a:t>
            </a:r>
            <a:r>
              <a:rPr lang="en-ZA" sz="2800" i="1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-3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  = 17.27 W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8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p&gt;0: </a:t>
            </a:r>
          </a:p>
          <a:p>
            <a:pPr marL="342900" indent="-342900">
              <a:buFont typeface="Symbol" pitchFamily="18" charset="2"/>
              <a:buChar char="\"/>
            </a:pPr>
            <a:r>
              <a:rPr lang="en-ZA" sz="28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Absorbs power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4236" y="2679182"/>
            <a:ext cx="237135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= 5 </a:t>
            </a:r>
            <a:r>
              <a:rPr lang="en-ZA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ZA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60</a:t>
            </a:r>
            <a:r>
              <a:rPr lang="en-ZA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t</a:t>
            </a:r>
            <a:r>
              <a:rPr lang="en-ZA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A</a:t>
            </a:r>
            <a:r>
              <a:rPr lang="en-ZA" sz="2400" dirty="0" smtClean="0"/>
              <a:t> </a:t>
            </a:r>
            <a:endParaRPr lang="en-ZA" sz="2400" dirty="0"/>
          </a:p>
        </p:txBody>
      </p:sp>
      <p:sp>
        <p:nvSpPr>
          <p:cNvPr id="16" name="Right Brace 15"/>
          <p:cNvSpPr/>
          <p:nvPr/>
        </p:nvSpPr>
        <p:spPr bwMode="auto">
          <a:xfrm rot="5400000">
            <a:off x="6145909" y="3290190"/>
            <a:ext cx="203199" cy="1621939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17928" y="4186692"/>
            <a:ext cx="13053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radians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1920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C5B77EA5-FA3D-4B13-921A-AB0529F5D993}" type="slidenum">
              <a:rPr lang="en-US"/>
              <a:pPr/>
              <a:t>27</a:t>
            </a:fld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314" y="174170"/>
            <a:ext cx="8243887" cy="633867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1.6 Circuit Elements (1)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368" name="Rectangle 10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5369" name="Picture 13" descr="fig21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209800"/>
            <a:ext cx="8186738" cy="2166938"/>
          </a:xfr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</p:pic>
      <p:sp>
        <p:nvSpPr>
          <p:cNvPr id="15370" name="Text Box 15"/>
          <p:cNvSpPr txBox="1">
            <a:spLocks noChangeArrowheads="1"/>
          </p:cNvSpPr>
          <p:nvPr/>
        </p:nvSpPr>
        <p:spPr bwMode="auto">
          <a:xfrm>
            <a:off x="381000" y="1256136"/>
            <a:ext cx="4724400" cy="78483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Active </a:t>
            </a:r>
            <a:r>
              <a:rPr lang="en-US" b="1" dirty="0" smtClean="0">
                <a:solidFill>
                  <a:srgbClr val="FF3300"/>
                </a:solidFill>
              </a:rPr>
              <a:t>Elements (Energy Sources)</a:t>
            </a:r>
          </a:p>
          <a:p>
            <a:pPr algn="ctr">
              <a:spcBef>
                <a:spcPct val="50000"/>
              </a:spcBef>
            </a:pPr>
            <a:r>
              <a:rPr lang="en-US" b="1" dirty="0" smtClean="0">
                <a:solidFill>
                  <a:srgbClr val="FF3300"/>
                </a:solidFill>
              </a:rPr>
              <a:t>Generators, batteries, op-amps</a:t>
            </a:r>
            <a:endParaRPr lang="en-US" b="1" dirty="0">
              <a:solidFill>
                <a:srgbClr val="FF3300"/>
              </a:solidFill>
            </a:endParaRPr>
          </a:p>
        </p:txBody>
      </p:sp>
      <p:sp>
        <p:nvSpPr>
          <p:cNvPr id="15371" name="Text Box 16"/>
          <p:cNvSpPr txBox="1">
            <a:spLocks noChangeArrowheads="1"/>
          </p:cNvSpPr>
          <p:nvPr/>
        </p:nvSpPr>
        <p:spPr bwMode="auto">
          <a:xfrm>
            <a:off x="5410200" y="979137"/>
            <a:ext cx="3327400" cy="1061829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Passive </a:t>
            </a:r>
            <a:r>
              <a:rPr lang="en-US" b="1" dirty="0" smtClean="0">
                <a:solidFill>
                  <a:srgbClr val="FF3300"/>
                </a:solidFill>
              </a:rPr>
              <a:t>Elements</a:t>
            </a:r>
          </a:p>
          <a:p>
            <a:pPr algn="ctr">
              <a:spcBef>
                <a:spcPct val="50000"/>
              </a:spcBef>
            </a:pPr>
            <a:r>
              <a:rPr lang="en-US" b="1" dirty="0" smtClean="0">
                <a:solidFill>
                  <a:srgbClr val="FF3300"/>
                </a:solidFill>
              </a:rPr>
              <a:t>Resistors, Inductors, Capacitors</a:t>
            </a:r>
            <a:endParaRPr lang="en-US" b="1" dirty="0">
              <a:solidFill>
                <a:srgbClr val="FF3300"/>
              </a:solidFill>
            </a:endParaRPr>
          </a:p>
        </p:txBody>
      </p:sp>
      <p:sp>
        <p:nvSpPr>
          <p:cNvPr id="15372" name="Line 19"/>
          <p:cNvSpPr>
            <a:spLocks noChangeShapeType="1"/>
          </p:cNvSpPr>
          <p:nvPr/>
        </p:nvSpPr>
        <p:spPr bwMode="auto">
          <a:xfrm>
            <a:off x="1371600" y="4495800"/>
            <a:ext cx="9906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5373" name="Line 20"/>
          <p:cNvSpPr>
            <a:spLocks noChangeShapeType="1"/>
          </p:cNvSpPr>
          <p:nvPr/>
        </p:nvSpPr>
        <p:spPr bwMode="auto">
          <a:xfrm flipH="1">
            <a:off x="2438400" y="4495800"/>
            <a:ext cx="914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5374" name="Line 21"/>
          <p:cNvSpPr>
            <a:spLocks noChangeShapeType="1"/>
          </p:cNvSpPr>
          <p:nvPr/>
        </p:nvSpPr>
        <p:spPr bwMode="auto">
          <a:xfrm>
            <a:off x="2438400" y="4495800"/>
            <a:ext cx="11430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5375" name="Line 22"/>
          <p:cNvSpPr>
            <a:spLocks noChangeShapeType="1"/>
          </p:cNvSpPr>
          <p:nvPr/>
        </p:nvSpPr>
        <p:spPr bwMode="auto">
          <a:xfrm flipH="1">
            <a:off x="3581400" y="4572000"/>
            <a:ext cx="9144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5376" name="Text Box 23"/>
          <p:cNvSpPr txBox="1">
            <a:spLocks noChangeArrowheads="1"/>
          </p:cNvSpPr>
          <p:nvPr/>
        </p:nvSpPr>
        <p:spPr bwMode="auto">
          <a:xfrm>
            <a:off x="1295400" y="6043613"/>
            <a:ext cx="16764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/>
              <a:t>Independent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/>
              <a:t>sources</a:t>
            </a:r>
          </a:p>
        </p:txBody>
      </p:sp>
      <p:sp>
        <p:nvSpPr>
          <p:cNvPr id="15377" name="Text Box 24"/>
          <p:cNvSpPr txBox="1">
            <a:spLocks noChangeArrowheads="1"/>
          </p:cNvSpPr>
          <p:nvPr/>
        </p:nvSpPr>
        <p:spPr bwMode="auto">
          <a:xfrm>
            <a:off x="2819400" y="6043613"/>
            <a:ext cx="16002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/>
              <a:t>Dependant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/>
              <a:t>sources</a:t>
            </a:r>
          </a:p>
        </p:txBody>
      </p:sp>
      <p:sp>
        <p:nvSpPr>
          <p:cNvPr id="15378" name="Rectangle 25"/>
          <p:cNvSpPr>
            <a:spLocks noChangeArrowheads="1"/>
          </p:cNvSpPr>
          <p:nvPr/>
        </p:nvSpPr>
        <p:spPr bwMode="auto">
          <a:xfrm>
            <a:off x="4724400" y="4664075"/>
            <a:ext cx="419100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 anchor="ctr">
            <a:spAutoFit/>
          </a:bodyPr>
          <a:lstStyle/>
          <a:p>
            <a:pPr marL="177800" indent="-177800">
              <a:buFontTx/>
              <a:buChar char="•"/>
            </a:pPr>
            <a:r>
              <a:rPr lang="en-US" sz="1400" b="1" dirty="0">
                <a:solidFill>
                  <a:srgbClr val="0066CC"/>
                </a:solidFill>
              </a:rPr>
              <a:t>A dependent source is an active element in which the source quantity is controlled by another voltage or current. </a:t>
            </a:r>
          </a:p>
          <a:p>
            <a:pPr marL="177800" indent="-177800"/>
            <a:endParaRPr lang="en-US" sz="1400" b="1" dirty="0">
              <a:solidFill>
                <a:srgbClr val="0066CC"/>
              </a:solidFill>
            </a:endParaRPr>
          </a:p>
          <a:p>
            <a:pPr marL="177800" indent="-177800">
              <a:buFontTx/>
              <a:buChar char="•"/>
            </a:pPr>
            <a:r>
              <a:rPr lang="en-US" sz="1400" b="1" dirty="0">
                <a:solidFill>
                  <a:srgbClr val="0066CC"/>
                </a:solidFill>
              </a:rPr>
              <a:t>They have four different types: </a:t>
            </a:r>
            <a:r>
              <a:rPr lang="en-US" sz="1400" b="1" dirty="0" err="1">
                <a:solidFill>
                  <a:srgbClr val="0066CC"/>
                </a:solidFill>
              </a:rPr>
              <a:t>VCVS</a:t>
            </a:r>
            <a:r>
              <a:rPr lang="en-US" sz="1400" b="1" dirty="0">
                <a:solidFill>
                  <a:srgbClr val="0066CC"/>
                </a:solidFill>
              </a:rPr>
              <a:t>, </a:t>
            </a:r>
            <a:r>
              <a:rPr lang="en-US" sz="1400" b="1" dirty="0" err="1">
                <a:solidFill>
                  <a:srgbClr val="0066CC"/>
                </a:solidFill>
              </a:rPr>
              <a:t>CCVS</a:t>
            </a:r>
            <a:r>
              <a:rPr lang="en-US" sz="1400" b="1" dirty="0">
                <a:solidFill>
                  <a:srgbClr val="0066CC"/>
                </a:solidFill>
              </a:rPr>
              <a:t>, </a:t>
            </a:r>
            <a:r>
              <a:rPr lang="en-US" sz="1400" b="1" dirty="0" err="1">
                <a:solidFill>
                  <a:srgbClr val="0066CC"/>
                </a:solidFill>
              </a:rPr>
              <a:t>VCCS</a:t>
            </a:r>
            <a:r>
              <a:rPr lang="en-US" sz="1400" b="1" dirty="0">
                <a:solidFill>
                  <a:srgbClr val="0066CC"/>
                </a:solidFill>
              </a:rPr>
              <a:t>, </a:t>
            </a:r>
            <a:r>
              <a:rPr lang="en-US" sz="1400" b="1" dirty="0" err="1">
                <a:solidFill>
                  <a:srgbClr val="0066CC"/>
                </a:solidFill>
              </a:rPr>
              <a:t>CCCS</a:t>
            </a:r>
            <a:r>
              <a:rPr lang="en-US" sz="1400" b="1" dirty="0">
                <a:solidFill>
                  <a:srgbClr val="0066CC"/>
                </a:solidFill>
              </a:rPr>
              <a:t>.  Keep in minds the signs of dependent sources. </a:t>
            </a:r>
          </a:p>
          <a:p>
            <a:pPr marL="177800" indent="-177800" algn="ctr"/>
            <a:endParaRPr lang="en-US" sz="1400" b="1" dirty="0">
              <a:solidFill>
                <a:srgbClr val="0066CC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2" grpId="0" animBg="1"/>
      <p:bldP spid="15373" grpId="0" animBg="1"/>
      <p:bldP spid="15374" grpId="0" animBg="1"/>
      <p:bldP spid="15375" grpId="0" animBg="1"/>
      <p:bldP spid="15376" grpId="0"/>
      <p:bldP spid="15377" grpId="0"/>
      <p:bldP spid="1537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B3E5BD95-AC26-4FA0-9EC8-CB9B1ACACEE5}" type="slidenum">
              <a:rPr lang="en-US"/>
              <a:pPr/>
              <a:t>28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968" y="348343"/>
            <a:ext cx="8243887" cy="72095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Ideal </a:t>
            </a:r>
            <a:r>
              <a:rPr lang="en-US" sz="4000" b="1" dirty="0" smtClean="0">
                <a:solidFill>
                  <a:srgbClr val="FF0000"/>
                </a:solidFill>
              </a:rPr>
              <a:t>In</a:t>
            </a:r>
            <a:r>
              <a:rPr lang="en-US" sz="4000" dirty="0" smtClean="0"/>
              <a:t>dependent Sources: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3" name="Rectangle 17"/>
          <p:cNvSpPr>
            <a:spLocks noChangeArrowheads="1"/>
          </p:cNvSpPr>
          <p:nvPr/>
        </p:nvSpPr>
        <p:spPr bwMode="auto">
          <a:xfrm>
            <a:off x="1219200" y="2979738"/>
            <a:ext cx="7467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 anchor="ctr">
            <a:spAutoFit/>
          </a:bodyPr>
          <a:lstStyle/>
          <a:p>
            <a:pPr algn="ctr"/>
            <a:endParaRPr lang="en-GB" sz="1400" b="1">
              <a:solidFill>
                <a:srgbClr val="0066CC"/>
              </a:solidFill>
              <a:latin typeface="Arial" charset="0"/>
            </a:endParaRPr>
          </a:p>
        </p:txBody>
      </p:sp>
      <p:sp>
        <p:nvSpPr>
          <p:cNvPr id="16394" name="Rectangle 20"/>
          <p:cNvSpPr>
            <a:spLocks noChangeArrowheads="1"/>
          </p:cNvSpPr>
          <p:nvPr/>
        </p:nvSpPr>
        <p:spPr bwMode="auto">
          <a:xfrm>
            <a:off x="200416" y="1110517"/>
            <a:ext cx="87682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buFont typeface="Wingdings" pitchFamily="2" charset="2"/>
              <a:buNone/>
              <a:tabLst>
                <a:tab pos="304800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active element that provides a specified voltage or current that is completely independent of other circuit elements. ROUND in shape.</a:t>
            </a:r>
          </a:p>
          <a:p>
            <a:pPr eaLnBrk="1" hangingPunct="1">
              <a:buFont typeface="Wingdings" pitchFamily="2" charset="2"/>
              <a:buNone/>
              <a:tabLst>
                <a:tab pos="304800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304800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I.e.  	If 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10 V it stays 10 V no matter what!</a:t>
            </a:r>
          </a:p>
          <a:p>
            <a:pPr eaLnBrk="1" hangingPunct="1">
              <a:buFont typeface="Wingdings" pitchFamily="2" charset="2"/>
              <a:buNone/>
              <a:tabLst>
                <a:tab pos="304800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5 A it stays 5 A no matter what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7805" r="12053" b="11851"/>
          <a:stretch/>
        </p:blipFill>
        <p:spPr bwMode="auto">
          <a:xfrm>
            <a:off x="688932" y="3219450"/>
            <a:ext cx="4020854" cy="2467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02" t="11320" r="34502"/>
          <a:stretch/>
        </p:blipFill>
        <p:spPr bwMode="auto">
          <a:xfrm>
            <a:off x="5767861" y="3192463"/>
            <a:ext cx="1696113" cy="228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B3E5BD95-AC26-4FA0-9EC8-CB9B1ACACEE5}" type="slidenum">
              <a:rPr lang="en-US"/>
              <a:pPr/>
              <a:t>29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968" y="348343"/>
            <a:ext cx="8243887" cy="72095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Ideal </a:t>
            </a:r>
            <a:r>
              <a:rPr lang="en-US" sz="4000" b="1" dirty="0" smtClean="0">
                <a:solidFill>
                  <a:srgbClr val="FF0000"/>
                </a:solidFill>
              </a:rPr>
              <a:t>De</a:t>
            </a:r>
            <a:r>
              <a:rPr lang="en-US" sz="4000" dirty="0" smtClean="0"/>
              <a:t>pendent Sources: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3" name="Rectangle 17"/>
          <p:cNvSpPr>
            <a:spLocks noChangeArrowheads="1"/>
          </p:cNvSpPr>
          <p:nvPr/>
        </p:nvSpPr>
        <p:spPr bwMode="auto">
          <a:xfrm>
            <a:off x="1219200" y="2979738"/>
            <a:ext cx="7467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 anchor="ctr">
            <a:spAutoFit/>
          </a:bodyPr>
          <a:lstStyle/>
          <a:p>
            <a:pPr algn="ctr"/>
            <a:endParaRPr lang="en-GB" sz="1400" b="1">
              <a:solidFill>
                <a:srgbClr val="0066CC"/>
              </a:solidFill>
              <a:latin typeface="Arial" charset="0"/>
            </a:endParaRPr>
          </a:p>
        </p:txBody>
      </p:sp>
      <p:sp>
        <p:nvSpPr>
          <p:cNvPr id="16394" name="Rectangle 20"/>
          <p:cNvSpPr>
            <a:spLocks noChangeArrowheads="1"/>
          </p:cNvSpPr>
          <p:nvPr/>
        </p:nvSpPr>
        <p:spPr bwMode="auto">
          <a:xfrm>
            <a:off x="187890" y="1129130"/>
            <a:ext cx="87682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An active element in which the source quantity is controlled by another voltage or current. DIAMOND in shape.</a:t>
            </a:r>
          </a:p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endParaRPr lang="en-US" sz="2400" dirty="0" smtClean="0">
              <a:latin typeface="+mj-lt"/>
              <a:cs typeface="Times New Roman" pitchFamily="18" charset="0"/>
            </a:endParaRPr>
          </a:p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Useful in modeling elements such as transistors, operational amplifiers and integrated circuits.</a:t>
            </a:r>
          </a:p>
        </p:txBody>
      </p:sp>
      <p:pic>
        <p:nvPicPr>
          <p:cNvPr id="14" name="Picture 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5" t="9404" r="11597" b="16816"/>
          <a:stretch/>
        </p:blipFill>
        <p:spPr bwMode="auto">
          <a:xfrm>
            <a:off x="1615857" y="3639839"/>
            <a:ext cx="5148198" cy="2851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02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B3E5BD95-AC26-4FA0-9EC8-CB9B1ACACEE5}" type="slidenum">
              <a:rPr lang="en-US"/>
              <a:pPr/>
              <a:t>30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968" y="348343"/>
            <a:ext cx="8243887" cy="720952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/>
              <a:t>Types of </a:t>
            </a:r>
            <a:r>
              <a:rPr lang="en-US" sz="4000" b="1" dirty="0" smtClean="0">
                <a:solidFill>
                  <a:srgbClr val="FF0000"/>
                </a:solidFill>
              </a:rPr>
              <a:t>De</a:t>
            </a:r>
            <a:r>
              <a:rPr lang="en-US" sz="4000" dirty="0" smtClean="0"/>
              <a:t>pendent Sources: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93" name="Rectangle 17"/>
          <p:cNvSpPr>
            <a:spLocks noChangeArrowheads="1"/>
          </p:cNvSpPr>
          <p:nvPr/>
        </p:nvSpPr>
        <p:spPr bwMode="auto">
          <a:xfrm>
            <a:off x="1219200" y="2979738"/>
            <a:ext cx="7467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 anchor="ctr">
            <a:spAutoFit/>
          </a:bodyPr>
          <a:lstStyle/>
          <a:p>
            <a:pPr algn="ctr"/>
            <a:endParaRPr lang="en-GB" sz="1400" b="1">
              <a:solidFill>
                <a:srgbClr val="0066CC"/>
              </a:solidFill>
              <a:latin typeface="Arial" charset="0"/>
            </a:endParaRPr>
          </a:p>
        </p:txBody>
      </p:sp>
      <p:sp>
        <p:nvSpPr>
          <p:cNvPr id="16394" name="Rectangle 20"/>
          <p:cNvSpPr>
            <a:spLocks noChangeArrowheads="1"/>
          </p:cNvSpPr>
          <p:nvPr/>
        </p:nvSpPr>
        <p:spPr bwMode="auto">
          <a:xfrm>
            <a:off x="713982" y="1061496"/>
            <a:ext cx="87682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buFont typeface="Wingdings" pitchFamily="2" charset="2"/>
              <a:buNone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Four possible types of dependent (or controlled) sources:</a:t>
            </a:r>
          </a:p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VCVS = Voltage Controlled Voltage Source</a:t>
            </a:r>
          </a:p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CCVS = Current Controlled Voltage Source</a:t>
            </a:r>
          </a:p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VCCS = Voltage Controlled Current Source</a:t>
            </a:r>
          </a:p>
          <a:p>
            <a:pPr marL="342900" indent="-342900" eaLnBrk="1" hangingPunct="1">
              <a:buFont typeface="Arial" pitchFamily="34" charset="0"/>
              <a:buChar char="•"/>
              <a:tabLst>
                <a:tab pos="304800" algn="l"/>
              </a:tabLst>
            </a:pPr>
            <a:r>
              <a:rPr lang="en-US" sz="2400" dirty="0" smtClean="0">
                <a:latin typeface="+mj-lt"/>
                <a:cs typeface="Times New Roman" pitchFamily="18" charset="0"/>
              </a:rPr>
              <a:t>CCCS = Current Controlled Current Source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1"/>
          <a:stretch/>
        </p:blipFill>
        <p:spPr bwMode="auto">
          <a:xfrm>
            <a:off x="1033044" y="3369820"/>
            <a:ext cx="7077912" cy="325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79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BF705-55ED-4BAA-8157-39CF59BD89E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4300" y="469900"/>
            <a:ext cx="9029700" cy="1981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PP1-6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A stove element draws 15 A when connected to a 240 V supply.  How long does it take to consume 60 kJ?</a:t>
            </a:r>
            <a:endParaRPr lang="en-ZA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88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BF705-55ED-4BAA-8157-39CF59BD89E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4300" y="469900"/>
            <a:ext cx="9029700" cy="1981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PP1-6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A stove element draws 15 A when connected to a 240 V supply.  How long does it take to consume 60 kJ?</a:t>
            </a:r>
            <a:endParaRPr lang="en-ZA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30366" y="2316073"/>
            <a:ext cx="614871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4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l-GR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ZA" sz="4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/</a:t>
            </a:r>
            <a:r>
              <a:rPr lang="el-GR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Δ </a:t>
            </a:r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 = w/t</a:t>
            </a:r>
          </a:p>
          <a:p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t = w/p = w / (vi)</a:t>
            </a:r>
          </a:p>
          <a:p>
            <a:r>
              <a:rPr lang="en-ZA" sz="4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t = 60x10</a:t>
            </a:r>
            <a:r>
              <a:rPr lang="en-ZA" sz="4400" baseline="300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/ (240  15)</a:t>
            </a:r>
          </a:p>
          <a:p>
            <a:r>
              <a:rPr lang="en-ZA" sz="4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4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= 16.667 s</a:t>
            </a:r>
            <a:endParaRPr lang="en-ZA" sz="4400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ZA" sz="4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8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8765" y="282010"/>
            <a:ext cx="8340768" cy="144658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1.7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Calculate the power supplied or absorbed by each element.</a:t>
            </a:r>
            <a:endParaRPr lang="en-ZA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23"/>
          <a:stretch/>
        </p:blipFill>
        <p:spPr bwMode="auto">
          <a:xfrm>
            <a:off x="51772" y="2154477"/>
            <a:ext cx="4670436" cy="2452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07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31058-579F-4BD1-A1FC-D9A57588992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8765" y="282010"/>
            <a:ext cx="8340768" cy="144658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1.7</a:t>
            </a:r>
            <a:r>
              <a:rPr lang="en-Z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Calculate the power supplied or absorbed by each element.</a:t>
            </a:r>
            <a:endParaRPr lang="en-ZA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23"/>
          <a:stretch/>
        </p:blipFill>
        <p:spPr bwMode="auto">
          <a:xfrm>
            <a:off x="51772" y="2154477"/>
            <a:ext cx="4670436" cy="2452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797362" y="2149519"/>
            <a:ext cx="4346638" cy="321605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algn="l"/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= - vi = -(20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5) </a:t>
            </a:r>
            <a:r>
              <a:rPr lang="en-ZA" sz="2800" smtClean="0">
                <a:latin typeface="Times New Roman" pitchFamily="18" charset="0"/>
                <a:cs typeface="Times New Roman" pitchFamily="18" charset="0"/>
                <a:sym typeface="Symbol"/>
              </a:rPr>
              <a:t>= -100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W</a:t>
            </a:r>
          </a:p>
          <a:p>
            <a:pPr algn="l"/>
            <a:endParaRPr lang="en-ZA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vi =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(12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ZA" sz="2800" dirty="0">
                <a:latin typeface="Times New Roman" pitchFamily="18" charset="0"/>
                <a:cs typeface="Times New Roman" pitchFamily="18" charset="0"/>
                <a:sym typeface="Symbol"/>
              </a:rPr>
              <a:t>5) =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60 W</a:t>
            </a:r>
          </a:p>
          <a:p>
            <a:pPr algn="l"/>
            <a:endParaRPr lang="en-ZA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+ vi 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(8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6) </a:t>
            </a:r>
            <a:r>
              <a:rPr lang="en-ZA" sz="2800" dirty="0">
                <a:latin typeface="Times New Roman" pitchFamily="18" charset="0"/>
                <a:cs typeface="Times New Roman" pitchFamily="18" charset="0"/>
                <a:sym typeface="Symbol"/>
              </a:rPr>
              <a:t>=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 48 W</a:t>
            </a:r>
          </a:p>
          <a:p>
            <a:pPr algn="l"/>
            <a:endParaRPr lang="en-ZA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algn="l"/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ZA" sz="28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= - vi = -(8</a:t>
            </a:r>
            <a:r>
              <a:rPr lang="en-ZA" sz="2800" dirty="0">
                <a:latin typeface="Times New Roman" pitchFamily="18" charset="0"/>
                <a:cs typeface="Times New Roman" pitchFamily="18" charset="0"/>
                <a:sym typeface="Symbol"/>
              </a:rPr>
              <a:t>0.2I) </a:t>
            </a:r>
          </a:p>
          <a:p>
            <a:pPr algn="l"/>
            <a:r>
              <a:rPr lang="en-ZA" sz="2800" dirty="0">
                <a:latin typeface="Times New Roman" pitchFamily="18" charset="0"/>
                <a:cs typeface="Times New Roman" pitchFamily="18" charset="0"/>
                <a:sym typeface="Symbol"/>
              </a:rPr>
              <a:t>    = - (80.25) = -8 W</a:t>
            </a:r>
          </a:p>
          <a:p>
            <a:pPr algn="l"/>
            <a:endParaRPr lang="en-ZA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33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6D40BE-A57C-4A16-A35D-994DFB5D8FCF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>
          <a:xfrm>
            <a:off x="0" y="-27384"/>
            <a:ext cx="9143999" cy="176319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1.5 Power and Energy</a:t>
            </a:r>
          </a:p>
          <a:p>
            <a:pPr eaLnBrk="1" hangingPunct="1">
              <a:defRPr/>
            </a:pPr>
            <a:r>
              <a:rPr lang="en-US" sz="4000" dirty="0" smtClean="0"/>
              <a:t>Passive Sign Convention</a:t>
            </a:r>
          </a:p>
          <a:p>
            <a:pPr eaLnBrk="1" hangingPunct="1">
              <a:defRPr/>
            </a:pPr>
            <a:r>
              <a:rPr lang="en-US" sz="4800" b="1" dirty="0" smtClean="0">
                <a:solidFill>
                  <a:srgbClr val="FF0000"/>
                </a:solidFill>
              </a:rPr>
              <a:t>BEWARE!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4" y="1556792"/>
            <a:ext cx="3620022" cy="52425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37578" y="5033028"/>
            <a:ext cx="2254685" cy="526093"/>
          </a:xfrm>
          <a:prstGeom prst="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 bwMode="auto">
          <a:xfrm flipV="1">
            <a:off x="2292263" y="4681711"/>
            <a:ext cx="1090286" cy="35131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Connector 6"/>
          <p:cNvCxnSpPr/>
          <p:nvPr/>
        </p:nvCxnSpPr>
        <p:spPr bwMode="auto">
          <a:xfrm>
            <a:off x="2292263" y="5559121"/>
            <a:ext cx="1090286" cy="3513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3763037" y="1663931"/>
            <a:ext cx="538096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 smtClean="0"/>
              <a:t>The extracted text on p 11 is very misleading as it is not stated accurately.</a:t>
            </a:r>
          </a:p>
          <a:p>
            <a:endParaRPr lang="en-ZA" sz="1600" dirty="0"/>
          </a:p>
          <a:p>
            <a:r>
              <a:rPr lang="en-ZA" sz="1600" dirty="0" smtClean="0"/>
              <a:t>Please also avoid Fig. 1.8, 1.9 and 1.10 as they will create confusion regarding the passive sign convention and as to when power is being supplied or absorbed.</a:t>
            </a:r>
          </a:p>
          <a:p>
            <a:endParaRPr lang="en-ZA" sz="1600" dirty="0"/>
          </a:p>
          <a:p>
            <a:r>
              <a:rPr lang="en-ZA" sz="1600" dirty="0" smtClean="0"/>
              <a:t>Please refer to the notes and examples provided in class. Specifically slides 18, 19 and 20 of Chapter 1 (Lecture #2)</a:t>
            </a:r>
            <a:endParaRPr lang="en-ZA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549" y="4653136"/>
            <a:ext cx="5448300" cy="1257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81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3454</TotalTime>
  <Words>1433</Words>
  <Application>Microsoft Office PowerPoint</Application>
  <PresentationFormat>On-screen Show (4:3)</PresentationFormat>
  <Paragraphs>319</Paragraphs>
  <Slides>35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Cambria Math</vt:lpstr>
      <vt:lpstr>Symbol</vt:lpstr>
      <vt:lpstr>Times New Roman</vt:lpstr>
      <vt:lpstr>Verdana</vt:lpstr>
      <vt:lpstr>Wingdings</vt:lpstr>
      <vt:lpstr>Balloons</vt:lpstr>
      <vt:lpstr>Equation</vt:lpstr>
      <vt:lpstr>EBN 111/122 ELECTRICITY AND ELECTRONICS</vt:lpstr>
      <vt:lpstr>Basic Concepts - Chapter 1</vt:lpstr>
      <vt:lpstr>Chapter 1: Lecture #1  1.1 System of Units (1)</vt:lpstr>
      <vt:lpstr> 1.1 System of Units (2)</vt:lpstr>
      <vt:lpstr> 1.2 Electric Charge</vt:lpstr>
      <vt:lpstr>1.3 Current (1)</vt:lpstr>
      <vt:lpstr> 1.3 Current (2)</vt:lpstr>
      <vt:lpstr>1.3 Current (3)</vt:lpstr>
      <vt:lpstr>PowerPoint Presentation</vt:lpstr>
      <vt:lpstr>PP1-2 The total charge entering a terminal is given by q =(10 – 10e-2t) mC.  Find the current at t = 0.5s.</vt:lpstr>
      <vt:lpstr>PowerPoint Presentation</vt:lpstr>
      <vt:lpstr>Example 1-3 Determine the total charge entering a terminal between t = 1 s and t =2 s if the current passing the terminal is: i = (3t2 – t) A</vt:lpstr>
      <vt:lpstr>PowerPoint Presentation</vt:lpstr>
      <vt:lpstr> 1.4 Voltage</vt:lpstr>
      <vt:lpstr>PowerPoint Presentation</vt:lpstr>
      <vt:lpstr>Chapter 1: Lecture #2 1.5 Power and Energy</vt:lpstr>
      <vt:lpstr>PowerPoint Presentation</vt:lpstr>
      <vt:lpstr>PowerPoint Presentation</vt:lpstr>
      <vt:lpstr>PowerPoint Presentation</vt:lpstr>
      <vt:lpstr>PowerPoint Presentation</vt:lpstr>
      <vt:lpstr>1.5 Power and 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1.6 Circuit Elements (1)</vt:lpstr>
      <vt:lpstr>Ideal Independent Sources:</vt:lpstr>
      <vt:lpstr>Ideal Dependent Sources:</vt:lpstr>
      <vt:lpstr>Types of Dependent Sources: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User</cp:lastModifiedBy>
  <cp:revision>149</cp:revision>
  <cp:lastPrinted>2018-02-05T06:02:24Z</cp:lastPrinted>
  <dcterms:created xsi:type="dcterms:W3CDTF">2006-09-12T03:52:31Z</dcterms:created>
  <dcterms:modified xsi:type="dcterms:W3CDTF">2018-02-05T12:29:12Z</dcterms:modified>
</cp:coreProperties>
</file>