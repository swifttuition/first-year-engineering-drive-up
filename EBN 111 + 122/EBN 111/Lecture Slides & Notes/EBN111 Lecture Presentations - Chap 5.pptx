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6"/>
  </p:notesMasterIdLst>
  <p:handoutMasterIdLst>
    <p:handoutMasterId r:id="rId37"/>
  </p:handoutMasterIdLst>
  <p:sldIdLst>
    <p:sldId id="287" r:id="rId2"/>
    <p:sldId id="257" r:id="rId3"/>
    <p:sldId id="258" r:id="rId4"/>
    <p:sldId id="259" r:id="rId5"/>
    <p:sldId id="272" r:id="rId6"/>
    <p:sldId id="288" r:id="rId7"/>
    <p:sldId id="289" r:id="rId8"/>
    <p:sldId id="291" r:id="rId9"/>
    <p:sldId id="260" r:id="rId10"/>
    <p:sldId id="293" r:id="rId11"/>
    <p:sldId id="292" r:id="rId12"/>
    <p:sldId id="294" r:id="rId13"/>
    <p:sldId id="262" r:id="rId14"/>
    <p:sldId id="295" r:id="rId15"/>
    <p:sldId id="296" r:id="rId16"/>
    <p:sldId id="297" r:id="rId17"/>
    <p:sldId id="279" r:id="rId18"/>
    <p:sldId id="298" r:id="rId19"/>
    <p:sldId id="299" r:id="rId20"/>
    <p:sldId id="300" r:id="rId21"/>
    <p:sldId id="301" r:id="rId22"/>
    <p:sldId id="280" r:id="rId23"/>
    <p:sldId id="302" r:id="rId24"/>
    <p:sldId id="28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FF3300"/>
    <a:srgbClr val="FF00FF"/>
    <a:srgbClr val="DDDDDD"/>
    <a:srgbClr val="FFFF00"/>
    <a:srgbClr val="0000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21" autoAdjust="0"/>
    <p:restoredTop sz="94581" autoAdjust="0"/>
  </p:normalViewPr>
  <p:slideViewPr>
    <p:cSldViewPr snapToGrid="0">
      <p:cViewPr varScale="1">
        <p:scale>
          <a:sx n="75" d="100"/>
          <a:sy n="75" d="100"/>
        </p:scale>
        <p:origin x="-90" y="-8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69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95680-EAE2-4774-84B2-62D3455788F1}" type="datetimeFigureOut">
              <a:rPr lang="en-ZA" smtClean="0"/>
              <a:t>2012/03/08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22275-0112-4F11-910F-91C41236A0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02457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fld id="{8F12CC27-D309-4479-82D5-83A8C6FAA86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8210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1A4E22-C1E8-4F9C-B1B1-9EBA1F238823}" type="slidenum">
              <a:rPr lang="en-US"/>
              <a:pPr/>
              <a:t>1</a:t>
            </a:fld>
            <a:endParaRPr lang="en-US"/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8D903F-5E0B-4136-951B-B41125788D90}" type="slidenum">
              <a:rPr lang="en-US"/>
              <a:pPr/>
              <a:t>2</a:t>
            </a:fld>
            <a:endParaRPr lang="en-US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38915" name="Group 3"/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38916" name="Freeform 4"/>
              <p:cNvSpPr>
                <a:spLocks/>
              </p:cNvSpPr>
              <p:nvPr userDrawn="1"/>
            </p:nvSpPr>
            <p:spPr bwMode="ltGray">
              <a:xfrm rot="12185230" flipV="1">
                <a:off x="3534" y="778"/>
                <a:ext cx="1333" cy="1485"/>
              </a:xfrm>
              <a:custGeom>
                <a:avLst/>
                <a:gdLst>
                  <a:gd name="T0" fmla="*/ 16 w 596"/>
                  <a:gd name="T1" fmla="*/ 370 h 666"/>
                  <a:gd name="T2" fmla="*/ 6 w 596"/>
                  <a:gd name="T3" fmla="*/ 341 h 666"/>
                  <a:gd name="T4" fmla="*/ 0 w 596"/>
                  <a:gd name="T5" fmla="*/ 289 h 666"/>
                  <a:gd name="T6" fmla="*/ 4 w 596"/>
                  <a:gd name="T7" fmla="*/ 222 h 666"/>
                  <a:gd name="T8" fmla="*/ 25 w 596"/>
                  <a:gd name="T9" fmla="*/ 151 h 666"/>
                  <a:gd name="T10" fmla="*/ 69 w 596"/>
                  <a:gd name="T11" fmla="*/ 84 h 666"/>
                  <a:gd name="T12" fmla="*/ 142 w 596"/>
                  <a:gd name="T13" fmla="*/ 31 h 666"/>
                  <a:gd name="T14" fmla="*/ 247 w 596"/>
                  <a:gd name="T15" fmla="*/ 2 h 666"/>
                  <a:gd name="T16" fmla="*/ 380 w 596"/>
                  <a:gd name="T17" fmla="*/ 9 h 666"/>
                  <a:gd name="T18" fmla="*/ 484 w 596"/>
                  <a:gd name="T19" fmla="*/ 68 h 666"/>
                  <a:gd name="T20" fmla="*/ 554 w 596"/>
                  <a:gd name="T21" fmla="*/ 165 h 666"/>
                  <a:gd name="T22" fmla="*/ 591 w 596"/>
                  <a:gd name="T23" fmla="*/ 284 h 666"/>
                  <a:gd name="T24" fmla="*/ 595 w 596"/>
                  <a:gd name="T25" fmla="*/ 409 h 666"/>
                  <a:gd name="T26" fmla="*/ 566 w 596"/>
                  <a:gd name="T27" fmla="*/ 525 h 666"/>
                  <a:gd name="T28" fmla="*/ 507 w 596"/>
                  <a:gd name="T29" fmla="*/ 615 h 666"/>
                  <a:gd name="T30" fmla="*/ 417 w 596"/>
                  <a:gd name="T31" fmla="*/ 663 h 666"/>
                  <a:gd name="T32" fmla="*/ 389 w 596"/>
                  <a:gd name="T33" fmla="*/ 659 h 666"/>
                  <a:gd name="T34" fmla="*/ 441 w 596"/>
                  <a:gd name="T35" fmla="*/ 617 h 666"/>
                  <a:gd name="T36" fmla="*/ 482 w 596"/>
                  <a:gd name="T37" fmla="*/ 544 h 666"/>
                  <a:gd name="T38" fmla="*/ 509 w 596"/>
                  <a:gd name="T39" fmla="*/ 454 h 666"/>
                  <a:gd name="T40" fmla="*/ 520 w 596"/>
                  <a:gd name="T41" fmla="*/ 355 h 666"/>
                  <a:gd name="T42" fmla="*/ 514 w 596"/>
                  <a:gd name="T43" fmla="*/ 258 h 666"/>
                  <a:gd name="T44" fmla="*/ 485 w 596"/>
                  <a:gd name="T45" fmla="*/ 174 h 666"/>
                  <a:gd name="T46" fmla="*/ 433 w 596"/>
                  <a:gd name="T47" fmla="*/ 112 h 666"/>
                  <a:gd name="T48" fmla="*/ 341 w 596"/>
                  <a:gd name="T49" fmla="*/ 75 h 666"/>
                  <a:gd name="T50" fmla="*/ 246 w 596"/>
                  <a:gd name="T51" fmla="*/ 61 h 666"/>
                  <a:gd name="T52" fmla="*/ 174 w 596"/>
                  <a:gd name="T53" fmla="*/ 71 h 666"/>
                  <a:gd name="T54" fmla="*/ 121 w 596"/>
                  <a:gd name="T55" fmla="*/ 101 h 666"/>
                  <a:gd name="T56" fmla="*/ 84 w 596"/>
                  <a:gd name="T57" fmla="*/ 149 h 666"/>
                  <a:gd name="T58" fmla="*/ 57 w 596"/>
                  <a:gd name="T59" fmla="*/ 206 h 666"/>
                  <a:gd name="T60" fmla="*/ 40 w 596"/>
                  <a:gd name="T61" fmla="*/ 272 h 666"/>
                  <a:gd name="T62" fmla="*/ 28 w 596"/>
                  <a:gd name="T63" fmla="*/ 339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7" name="Freeform 5"/>
              <p:cNvSpPr>
                <a:spLocks/>
              </p:cNvSpPr>
              <p:nvPr userDrawn="1"/>
            </p:nvSpPr>
            <p:spPr bwMode="ltGray">
              <a:xfrm rot="12185230" flipV="1">
                <a:off x="4029" y="1802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5 h 237"/>
                  <a:gd name="T4" fmla="*/ 3 w 257"/>
                  <a:gd name="T5" fmla="*/ 50 h 237"/>
                  <a:gd name="T6" fmla="*/ 6 w 257"/>
                  <a:gd name="T7" fmla="*/ 75 h 237"/>
                  <a:gd name="T8" fmla="*/ 11 w 257"/>
                  <a:gd name="T9" fmla="*/ 98 h 237"/>
                  <a:gd name="T10" fmla="*/ 18 w 257"/>
                  <a:gd name="T11" fmla="*/ 119 h 237"/>
                  <a:gd name="T12" fmla="*/ 27 w 257"/>
                  <a:gd name="T13" fmla="*/ 141 h 237"/>
                  <a:gd name="T14" fmla="*/ 38 w 257"/>
                  <a:gd name="T15" fmla="*/ 161 h 237"/>
                  <a:gd name="T16" fmla="*/ 51 w 257"/>
                  <a:gd name="T17" fmla="*/ 178 h 237"/>
                  <a:gd name="T18" fmla="*/ 67 w 257"/>
                  <a:gd name="T19" fmla="*/ 194 h 237"/>
                  <a:gd name="T20" fmla="*/ 86 w 257"/>
                  <a:gd name="T21" fmla="*/ 208 h 237"/>
                  <a:gd name="T22" fmla="*/ 106 w 257"/>
                  <a:gd name="T23" fmla="*/ 219 h 237"/>
                  <a:gd name="T24" fmla="*/ 131 w 257"/>
                  <a:gd name="T25" fmla="*/ 228 h 237"/>
                  <a:gd name="T26" fmla="*/ 158 w 257"/>
                  <a:gd name="T27" fmla="*/ 234 h 237"/>
                  <a:gd name="T28" fmla="*/ 188 w 257"/>
                  <a:gd name="T29" fmla="*/ 237 h 237"/>
                  <a:gd name="T30" fmla="*/ 220 w 257"/>
                  <a:gd name="T31" fmla="*/ 236 h 237"/>
                  <a:gd name="T32" fmla="*/ 257 w 257"/>
                  <a:gd name="T33" fmla="*/ 232 h 237"/>
                  <a:gd name="T34" fmla="*/ 224 w 257"/>
                  <a:gd name="T35" fmla="*/ 227 h 237"/>
                  <a:gd name="T36" fmla="*/ 195 w 257"/>
                  <a:gd name="T37" fmla="*/ 220 h 237"/>
                  <a:gd name="T38" fmla="*/ 170 w 257"/>
                  <a:gd name="T39" fmla="*/ 212 h 237"/>
                  <a:gd name="T40" fmla="*/ 148 w 257"/>
                  <a:gd name="T41" fmla="*/ 204 h 237"/>
                  <a:gd name="T42" fmla="*/ 128 w 257"/>
                  <a:gd name="T43" fmla="*/ 193 h 237"/>
                  <a:gd name="T44" fmla="*/ 112 w 257"/>
                  <a:gd name="T45" fmla="*/ 182 h 237"/>
                  <a:gd name="T46" fmla="*/ 97 w 257"/>
                  <a:gd name="T47" fmla="*/ 169 h 237"/>
                  <a:gd name="T48" fmla="*/ 84 w 257"/>
                  <a:gd name="T49" fmla="*/ 155 h 237"/>
                  <a:gd name="T50" fmla="*/ 72 w 257"/>
                  <a:gd name="T51" fmla="*/ 141 h 237"/>
                  <a:gd name="T52" fmla="*/ 61 w 257"/>
                  <a:gd name="T53" fmla="*/ 125 h 237"/>
                  <a:gd name="T54" fmla="*/ 52 w 257"/>
                  <a:gd name="T55" fmla="*/ 107 h 237"/>
                  <a:gd name="T56" fmla="*/ 43 w 257"/>
                  <a:gd name="T57" fmla="*/ 88 h 237"/>
                  <a:gd name="T58" fmla="*/ 33 w 257"/>
                  <a:gd name="T59" fmla="*/ 69 h 237"/>
                  <a:gd name="T60" fmla="*/ 23 w 257"/>
                  <a:gd name="T61" fmla="*/ 47 h 237"/>
                  <a:gd name="T62" fmla="*/ 12 w 257"/>
                  <a:gd name="T63" fmla="*/ 24 h 237"/>
                  <a:gd name="T64" fmla="*/ 0 w 257"/>
                  <a:gd name="T65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8" name="Freeform 6"/>
              <p:cNvSpPr>
                <a:spLocks/>
              </p:cNvSpPr>
              <p:nvPr userDrawn="1"/>
            </p:nvSpPr>
            <p:spPr bwMode="ltGray">
              <a:xfrm rot="12185230" flipV="1">
                <a:off x="3639" y="2167"/>
                <a:ext cx="277" cy="249"/>
              </a:xfrm>
              <a:custGeom>
                <a:avLst/>
                <a:gdLst>
                  <a:gd name="T0" fmla="*/ 77 w 124"/>
                  <a:gd name="T1" fmla="*/ 0 h 110"/>
                  <a:gd name="T2" fmla="*/ 124 w 124"/>
                  <a:gd name="T3" fmla="*/ 108 h 110"/>
                  <a:gd name="T4" fmla="*/ 120 w 124"/>
                  <a:gd name="T5" fmla="*/ 107 h 110"/>
                  <a:gd name="T6" fmla="*/ 107 w 124"/>
                  <a:gd name="T7" fmla="*/ 105 h 110"/>
                  <a:gd name="T8" fmla="*/ 89 w 124"/>
                  <a:gd name="T9" fmla="*/ 101 h 110"/>
                  <a:gd name="T10" fmla="*/ 68 w 124"/>
                  <a:gd name="T11" fmla="*/ 99 h 110"/>
                  <a:gd name="T12" fmla="*/ 45 w 124"/>
                  <a:gd name="T13" fmla="*/ 97 h 110"/>
                  <a:gd name="T14" fmla="*/ 25 w 124"/>
                  <a:gd name="T15" fmla="*/ 98 h 110"/>
                  <a:gd name="T16" fmla="*/ 9 w 124"/>
                  <a:gd name="T17" fmla="*/ 102 h 110"/>
                  <a:gd name="T18" fmla="*/ 0 w 124"/>
                  <a:gd name="T19" fmla="*/ 110 h 110"/>
                  <a:gd name="T20" fmla="*/ 4 w 124"/>
                  <a:gd name="T21" fmla="*/ 98 h 110"/>
                  <a:gd name="T22" fmla="*/ 8 w 124"/>
                  <a:gd name="T23" fmla="*/ 89 h 110"/>
                  <a:gd name="T24" fmla="*/ 16 w 124"/>
                  <a:gd name="T25" fmla="*/ 82 h 110"/>
                  <a:gd name="T26" fmla="*/ 25 w 124"/>
                  <a:gd name="T27" fmla="*/ 76 h 110"/>
                  <a:gd name="T28" fmla="*/ 36 w 124"/>
                  <a:gd name="T29" fmla="*/ 72 h 110"/>
                  <a:gd name="T30" fmla="*/ 47 w 124"/>
                  <a:gd name="T31" fmla="*/ 71 h 110"/>
                  <a:gd name="T32" fmla="*/ 59 w 124"/>
                  <a:gd name="T33" fmla="*/ 71 h 110"/>
                  <a:gd name="T34" fmla="*/ 72 w 124"/>
                  <a:gd name="T35" fmla="*/ 74 h 110"/>
                  <a:gd name="T36" fmla="*/ 73 w 124"/>
                  <a:gd name="T37" fmla="*/ 71 h 110"/>
                  <a:gd name="T38" fmla="*/ 70 w 124"/>
                  <a:gd name="T39" fmla="*/ 56 h 110"/>
                  <a:gd name="T40" fmla="*/ 67 w 124"/>
                  <a:gd name="T41" fmla="*/ 38 h 110"/>
                  <a:gd name="T42" fmla="*/ 65 w 124"/>
                  <a:gd name="T43" fmla="*/ 30 h 110"/>
                  <a:gd name="T44" fmla="*/ 63 w 124"/>
                  <a:gd name="T45" fmla="*/ 30 h 110"/>
                  <a:gd name="T46" fmla="*/ 61 w 124"/>
                  <a:gd name="T47" fmla="*/ 29 h 110"/>
                  <a:gd name="T48" fmla="*/ 59 w 124"/>
                  <a:gd name="T49" fmla="*/ 26 h 110"/>
                  <a:gd name="T50" fmla="*/ 57 w 124"/>
                  <a:gd name="T51" fmla="*/ 23 h 110"/>
                  <a:gd name="T52" fmla="*/ 57 w 124"/>
                  <a:gd name="T53" fmla="*/ 19 h 110"/>
                  <a:gd name="T54" fmla="*/ 59 w 124"/>
                  <a:gd name="T55" fmla="*/ 14 h 110"/>
                  <a:gd name="T56" fmla="*/ 66 w 124"/>
                  <a:gd name="T57" fmla="*/ 8 h 110"/>
                  <a:gd name="T58" fmla="*/ 77 w 124"/>
                  <a:gd name="T5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9" name="Freeform 7"/>
              <p:cNvSpPr>
                <a:spLocks/>
              </p:cNvSpPr>
              <p:nvPr userDrawn="1"/>
            </p:nvSpPr>
            <p:spPr bwMode="ltGray">
              <a:xfrm rot="12185230" flipV="1">
                <a:off x="3979" y="977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5 w 109"/>
                  <a:gd name="T3" fmla="*/ 1 h 156"/>
                  <a:gd name="T4" fmla="*/ 18 w 109"/>
                  <a:gd name="T5" fmla="*/ 5 h 156"/>
                  <a:gd name="T6" fmla="*/ 37 w 109"/>
                  <a:gd name="T7" fmla="*/ 12 h 156"/>
                  <a:gd name="T8" fmla="*/ 58 w 109"/>
                  <a:gd name="T9" fmla="*/ 24 h 156"/>
                  <a:gd name="T10" fmla="*/ 78 w 109"/>
                  <a:gd name="T11" fmla="*/ 44 h 156"/>
                  <a:gd name="T12" fmla="*/ 96 w 109"/>
                  <a:gd name="T13" fmla="*/ 71 h 156"/>
                  <a:gd name="T14" fmla="*/ 107 w 109"/>
                  <a:gd name="T15" fmla="*/ 108 h 156"/>
                  <a:gd name="T16" fmla="*/ 109 w 109"/>
                  <a:gd name="T17" fmla="*/ 156 h 156"/>
                  <a:gd name="T18" fmla="*/ 105 w 109"/>
                  <a:gd name="T19" fmla="*/ 156 h 156"/>
                  <a:gd name="T20" fmla="*/ 99 w 109"/>
                  <a:gd name="T21" fmla="*/ 156 h 156"/>
                  <a:gd name="T22" fmla="*/ 93 w 109"/>
                  <a:gd name="T23" fmla="*/ 156 h 156"/>
                  <a:gd name="T24" fmla="*/ 87 w 109"/>
                  <a:gd name="T25" fmla="*/ 154 h 156"/>
                  <a:gd name="T26" fmla="*/ 81 w 109"/>
                  <a:gd name="T27" fmla="*/ 153 h 156"/>
                  <a:gd name="T28" fmla="*/ 74 w 109"/>
                  <a:gd name="T29" fmla="*/ 150 h 156"/>
                  <a:gd name="T30" fmla="*/ 66 w 109"/>
                  <a:gd name="T31" fmla="*/ 145 h 156"/>
                  <a:gd name="T32" fmla="*/ 58 w 109"/>
                  <a:gd name="T33" fmla="*/ 139 h 156"/>
                  <a:gd name="T34" fmla="*/ 53 w 109"/>
                  <a:gd name="T35" fmla="*/ 126 h 156"/>
                  <a:gd name="T36" fmla="*/ 53 w 109"/>
                  <a:gd name="T37" fmla="*/ 111 h 156"/>
                  <a:gd name="T38" fmla="*/ 56 w 109"/>
                  <a:gd name="T39" fmla="*/ 96 h 156"/>
                  <a:gd name="T40" fmla="*/ 59 w 109"/>
                  <a:gd name="T41" fmla="*/ 80 h 156"/>
                  <a:gd name="T42" fmla="*/ 56 w 109"/>
                  <a:gd name="T43" fmla="*/ 62 h 156"/>
                  <a:gd name="T44" fmla="*/ 48 w 109"/>
                  <a:gd name="T45" fmla="*/ 43 h 156"/>
                  <a:gd name="T46" fmla="*/ 31 w 109"/>
                  <a:gd name="T47" fmla="*/ 23 h 156"/>
                  <a:gd name="T48" fmla="*/ 0 w 109"/>
                  <a:gd name="T4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0" name="Freeform 8"/>
              <p:cNvSpPr>
                <a:spLocks/>
              </p:cNvSpPr>
              <p:nvPr userDrawn="1"/>
            </p:nvSpPr>
            <p:spPr bwMode="ltGray">
              <a:xfrm rot="12185230" flipV="1">
                <a:off x="3845" y="2207"/>
                <a:ext cx="103" cy="209"/>
              </a:xfrm>
              <a:custGeom>
                <a:avLst/>
                <a:gdLst>
                  <a:gd name="T0" fmla="*/ 31 w 46"/>
                  <a:gd name="T1" fmla="*/ 0 h 94"/>
                  <a:gd name="T2" fmla="*/ 20 w 46"/>
                  <a:gd name="T3" fmla="*/ 38 h 94"/>
                  <a:gd name="T4" fmla="*/ 15 w 46"/>
                  <a:gd name="T5" fmla="*/ 62 h 94"/>
                  <a:gd name="T6" fmla="*/ 11 w 46"/>
                  <a:gd name="T7" fmla="*/ 79 h 94"/>
                  <a:gd name="T8" fmla="*/ 0 w 46"/>
                  <a:gd name="T9" fmla="*/ 94 h 94"/>
                  <a:gd name="T10" fmla="*/ 12 w 46"/>
                  <a:gd name="T11" fmla="*/ 88 h 94"/>
                  <a:gd name="T12" fmla="*/ 23 w 46"/>
                  <a:gd name="T13" fmla="*/ 80 h 94"/>
                  <a:gd name="T14" fmla="*/ 32 w 46"/>
                  <a:gd name="T15" fmla="*/ 69 h 94"/>
                  <a:gd name="T16" fmla="*/ 40 w 46"/>
                  <a:gd name="T17" fmla="*/ 57 h 94"/>
                  <a:gd name="T18" fmla="*/ 45 w 46"/>
                  <a:gd name="T19" fmla="*/ 44 h 94"/>
                  <a:gd name="T20" fmla="*/ 46 w 46"/>
                  <a:gd name="T21" fmla="*/ 30 h 94"/>
                  <a:gd name="T22" fmla="*/ 42 w 46"/>
                  <a:gd name="T23" fmla="*/ 15 h 94"/>
                  <a:gd name="T24" fmla="*/ 31 w 46"/>
                  <a:gd name="T2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1" name="Freeform 9"/>
              <p:cNvSpPr>
                <a:spLocks/>
              </p:cNvSpPr>
              <p:nvPr userDrawn="1"/>
            </p:nvSpPr>
            <p:spPr bwMode="ltGray">
              <a:xfrm rot="12185230" flipV="1">
                <a:off x="3895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 w 54"/>
                  <a:gd name="T3" fmla="*/ 1 h 40"/>
                  <a:gd name="T4" fmla="*/ 6 w 54"/>
                  <a:gd name="T5" fmla="*/ 3 h 40"/>
                  <a:gd name="T6" fmla="*/ 13 w 54"/>
                  <a:gd name="T7" fmla="*/ 8 h 40"/>
                  <a:gd name="T8" fmla="*/ 21 w 54"/>
                  <a:gd name="T9" fmla="*/ 12 h 40"/>
                  <a:gd name="T10" fmla="*/ 29 w 54"/>
                  <a:gd name="T11" fmla="*/ 15 h 40"/>
                  <a:gd name="T12" fmla="*/ 38 w 54"/>
                  <a:gd name="T13" fmla="*/ 17 h 40"/>
                  <a:gd name="T14" fmla="*/ 46 w 54"/>
                  <a:gd name="T15" fmla="*/ 18 h 40"/>
                  <a:gd name="T16" fmla="*/ 54 w 54"/>
                  <a:gd name="T17" fmla="*/ 16 h 40"/>
                  <a:gd name="T18" fmla="*/ 53 w 54"/>
                  <a:gd name="T19" fmla="*/ 25 h 40"/>
                  <a:gd name="T20" fmla="*/ 50 w 54"/>
                  <a:gd name="T21" fmla="*/ 33 h 40"/>
                  <a:gd name="T22" fmla="*/ 44 w 54"/>
                  <a:gd name="T23" fmla="*/ 38 h 40"/>
                  <a:gd name="T24" fmla="*/ 37 w 54"/>
                  <a:gd name="T25" fmla="*/ 40 h 40"/>
                  <a:gd name="T26" fmla="*/ 28 w 54"/>
                  <a:gd name="T27" fmla="*/ 39 h 40"/>
                  <a:gd name="T28" fmla="*/ 19 w 54"/>
                  <a:gd name="T29" fmla="*/ 32 h 40"/>
                  <a:gd name="T30" fmla="*/ 10 w 54"/>
                  <a:gd name="T31" fmla="*/ 20 h 40"/>
                  <a:gd name="T32" fmla="*/ 0 w 54"/>
                  <a:gd name="T3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2" name="Freeform 10"/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6 w 149"/>
                  <a:gd name="T3" fmla="*/ 6 h 704"/>
                  <a:gd name="T4" fmla="*/ 16 w 149"/>
                  <a:gd name="T5" fmla="*/ 14 h 704"/>
                  <a:gd name="T6" fmla="*/ 28 w 149"/>
                  <a:gd name="T7" fmla="*/ 24 h 704"/>
                  <a:gd name="T8" fmla="*/ 41 w 149"/>
                  <a:gd name="T9" fmla="*/ 37 h 704"/>
                  <a:gd name="T10" fmla="*/ 58 w 149"/>
                  <a:gd name="T11" fmla="*/ 53 h 704"/>
                  <a:gd name="T12" fmla="*/ 73 w 149"/>
                  <a:gd name="T13" fmla="*/ 70 h 704"/>
                  <a:gd name="T14" fmla="*/ 88 w 149"/>
                  <a:gd name="T15" fmla="*/ 90 h 704"/>
                  <a:gd name="T16" fmla="*/ 100 w 149"/>
                  <a:gd name="T17" fmla="*/ 113 h 704"/>
                  <a:gd name="T18" fmla="*/ 112 w 149"/>
                  <a:gd name="T19" fmla="*/ 137 h 704"/>
                  <a:gd name="T20" fmla="*/ 120 w 149"/>
                  <a:gd name="T21" fmla="*/ 165 h 704"/>
                  <a:gd name="T22" fmla="*/ 124 w 149"/>
                  <a:gd name="T23" fmla="*/ 196 h 704"/>
                  <a:gd name="T24" fmla="*/ 126 w 149"/>
                  <a:gd name="T25" fmla="*/ 228 h 704"/>
                  <a:gd name="T26" fmla="*/ 120 w 149"/>
                  <a:gd name="T27" fmla="*/ 264 h 704"/>
                  <a:gd name="T28" fmla="*/ 109 w 149"/>
                  <a:gd name="T29" fmla="*/ 302 h 704"/>
                  <a:gd name="T30" fmla="*/ 92 w 149"/>
                  <a:gd name="T31" fmla="*/ 342 h 704"/>
                  <a:gd name="T32" fmla="*/ 67 w 149"/>
                  <a:gd name="T33" fmla="*/ 386 h 704"/>
                  <a:gd name="T34" fmla="*/ 39 w 149"/>
                  <a:gd name="T35" fmla="*/ 436 h 704"/>
                  <a:gd name="T36" fmla="*/ 21 w 149"/>
                  <a:gd name="T37" fmla="*/ 482 h 704"/>
                  <a:gd name="T38" fmla="*/ 10 w 149"/>
                  <a:gd name="T39" fmla="*/ 525 h 704"/>
                  <a:gd name="T40" fmla="*/ 6 w 149"/>
                  <a:gd name="T41" fmla="*/ 566 h 704"/>
                  <a:gd name="T42" fmla="*/ 6 w 149"/>
                  <a:gd name="T43" fmla="*/ 605 h 704"/>
                  <a:gd name="T44" fmla="*/ 8 w 149"/>
                  <a:gd name="T45" fmla="*/ 641 h 704"/>
                  <a:gd name="T46" fmla="*/ 12 w 149"/>
                  <a:gd name="T47" fmla="*/ 673 h 704"/>
                  <a:gd name="T48" fmla="*/ 14 w 149"/>
                  <a:gd name="T49" fmla="*/ 704 h 704"/>
                  <a:gd name="T50" fmla="*/ 41 w 149"/>
                  <a:gd name="T51" fmla="*/ 688 h 704"/>
                  <a:gd name="T52" fmla="*/ 39 w 149"/>
                  <a:gd name="T53" fmla="*/ 680 h 704"/>
                  <a:gd name="T54" fmla="*/ 36 w 149"/>
                  <a:gd name="T55" fmla="*/ 657 h 704"/>
                  <a:gd name="T56" fmla="*/ 33 w 149"/>
                  <a:gd name="T57" fmla="*/ 622 h 704"/>
                  <a:gd name="T58" fmla="*/ 35 w 149"/>
                  <a:gd name="T59" fmla="*/ 575 h 704"/>
                  <a:gd name="T60" fmla="*/ 41 w 149"/>
                  <a:gd name="T61" fmla="*/ 519 h 704"/>
                  <a:gd name="T62" fmla="*/ 58 w 149"/>
                  <a:gd name="T63" fmla="*/ 455 h 704"/>
                  <a:gd name="T64" fmla="*/ 86 w 149"/>
                  <a:gd name="T65" fmla="*/ 386 h 704"/>
                  <a:gd name="T66" fmla="*/ 129 w 149"/>
                  <a:gd name="T67" fmla="*/ 313 h 704"/>
                  <a:gd name="T68" fmla="*/ 143 w 149"/>
                  <a:gd name="T69" fmla="*/ 279 h 704"/>
                  <a:gd name="T70" fmla="*/ 149 w 149"/>
                  <a:gd name="T71" fmla="*/ 235 h 704"/>
                  <a:gd name="T72" fmla="*/ 144 w 149"/>
                  <a:gd name="T73" fmla="*/ 184 h 704"/>
                  <a:gd name="T74" fmla="*/ 131 w 149"/>
                  <a:gd name="T75" fmla="*/ 134 h 704"/>
                  <a:gd name="T76" fmla="*/ 109 w 149"/>
                  <a:gd name="T77" fmla="*/ 85 h 704"/>
                  <a:gd name="T78" fmla="*/ 81 w 149"/>
                  <a:gd name="T79" fmla="*/ 44 h 704"/>
                  <a:gd name="T80" fmla="*/ 44 w 149"/>
                  <a:gd name="T81" fmla="*/ 14 h 704"/>
                  <a:gd name="T82" fmla="*/ 0 w 149"/>
                  <a:gd name="T83" fmla="*/ 0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8923" name="Freeform 11"/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94 w 128"/>
                <a:gd name="T1" fmla="*/ 0 h 217"/>
                <a:gd name="T2" fmla="*/ 105 w 128"/>
                <a:gd name="T3" fmla="*/ 9 h 217"/>
                <a:gd name="T4" fmla="*/ 115 w 128"/>
                <a:gd name="T5" fmla="*/ 27 h 217"/>
                <a:gd name="T6" fmla="*/ 123 w 128"/>
                <a:gd name="T7" fmla="*/ 50 h 217"/>
                <a:gd name="T8" fmla="*/ 128 w 128"/>
                <a:gd name="T9" fmla="*/ 78 h 217"/>
                <a:gd name="T10" fmla="*/ 127 w 128"/>
                <a:gd name="T11" fmla="*/ 111 h 217"/>
                <a:gd name="T12" fmla="*/ 116 w 128"/>
                <a:gd name="T13" fmla="*/ 145 h 217"/>
                <a:gd name="T14" fmla="*/ 94 w 128"/>
                <a:gd name="T15" fmla="*/ 181 h 217"/>
                <a:gd name="T16" fmla="*/ 60 w 128"/>
                <a:gd name="T17" fmla="*/ 217 h 217"/>
                <a:gd name="T18" fmla="*/ 49 w 128"/>
                <a:gd name="T19" fmla="*/ 213 h 217"/>
                <a:gd name="T20" fmla="*/ 38 w 128"/>
                <a:gd name="T21" fmla="*/ 210 h 217"/>
                <a:gd name="T22" fmla="*/ 26 w 128"/>
                <a:gd name="T23" fmla="*/ 205 h 217"/>
                <a:gd name="T24" fmla="*/ 16 w 128"/>
                <a:gd name="T25" fmla="*/ 201 h 217"/>
                <a:gd name="T26" fmla="*/ 8 w 128"/>
                <a:gd name="T27" fmla="*/ 196 h 217"/>
                <a:gd name="T28" fmla="*/ 2 w 128"/>
                <a:gd name="T29" fmla="*/ 190 h 217"/>
                <a:gd name="T30" fmla="*/ 0 w 128"/>
                <a:gd name="T31" fmla="*/ 183 h 217"/>
                <a:gd name="T32" fmla="*/ 1 w 128"/>
                <a:gd name="T33" fmla="*/ 178 h 217"/>
                <a:gd name="T34" fmla="*/ 13 w 128"/>
                <a:gd name="T35" fmla="*/ 171 h 217"/>
                <a:gd name="T36" fmla="*/ 29 w 128"/>
                <a:gd name="T37" fmla="*/ 161 h 217"/>
                <a:gd name="T38" fmla="*/ 46 w 128"/>
                <a:gd name="T39" fmla="*/ 150 h 217"/>
                <a:gd name="T40" fmla="*/ 63 w 128"/>
                <a:gd name="T41" fmla="*/ 134 h 217"/>
                <a:gd name="T42" fmla="*/ 79 w 128"/>
                <a:gd name="T43" fmla="*/ 112 h 217"/>
                <a:gd name="T44" fmla="*/ 91 w 128"/>
                <a:gd name="T45" fmla="*/ 83 h 217"/>
                <a:gd name="T46" fmla="*/ 97 w 128"/>
                <a:gd name="T47" fmla="*/ 46 h 217"/>
                <a:gd name="T48" fmla="*/ 94 w 128"/>
                <a:gd name="T4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4" name="Freeform 12"/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5" name="Freeform 13"/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6" name="Freeform 14"/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75 w 117"/>
                <a:gd name="T1" fmla="*/ 0 h 132"/>
                <a:gd name="T2" fmla="*/ 0 w 117"/>
                <a:gd name="T3" fmla="*/ 25 h 132"/>
                <a:gd name="T4" fmla="*/ 3 w 117"/>
                <a:gd name="T5" fmla="*/ 26 h 132"/>
                <a:gd name="T6" fmla="*/ 14 w 117"/>
                <a:gd name="T7" fmla="*/ 29 h 132"/>
                <a:gd name="T8" fmla="*/ 29 w 117"/>
                <a:gd name="T9" fmla="*/ 36 h 132"/>
                <a:gd name="T10" fmla="*/ 46 w 117"/>
                <a:gd name="T11" fmla="*/ 47 h 132"/>
                <a:gd name="T12" fmla="*/ 66 w 117"/>
                <a:gd name="T13" fmla="*/ 62 h 132"/>
                <a:gd name="T14" fmla="*/ 84 w 117"/>
                <a:gd name="T15" fmla="*/ 80 h 132"/>
                <a:gd name="T16" fmla="*/ 102 w 117"/>
                <a:gd name="T17" fmla="*/ 103 h 132"/>
                <a:gd name="T18" fmla="*/ 116 w 117"/>
                <a:gd name="T19" fmla="*/ 132 h 132"/>
                <a:gd name="T20" fmla="*/ 117 w 117"/>
                <a:gd name="T21" fmla="*/ 120 h 132"/>
                <a:gd name="T22" fmla="*/ 115 w 117"/>
                <a:gd name="T23" fmla="*/ 107 h 132"/>
                <a:gd name="T24" fmla="*/ 108 w 117"/>
                <a:gd name="T25" fmla="*/ 90 h 132"/>
                <a:gd name="T26" fmla="*/ 99 w 117"/>
                <a:gd name="T27" fmla="*/ 74 h 132"/>
                <a:gd name="T28" fmla="*/ 89 w 117"/>
                <a:gd name="T29" fmla="*/ 58 h 132"/>
                <a:gd name="T30" fmla="*/ 78 w 117"/>
                <a:gd name="T31" fmla="*/ 45 h 132"/>
                <a:gd name="T32" fmla="*/ 67 w 117"/>
                <a:gd name="T33" fmla="*/ 36 h 132"/>
                <a:gd name="T34" fmla="*/ 58 w 117"/>
                <a:gd name="T35" fmla="*/ 32 h 132"/>
                <a:gd name="T36" fmla="*/ 69 w 117"/>
                <a:gd name="T37" fmla="*/ 29 h 132"/>
                <a:gd name="T38" fmla="*/ 79 w 117"/>
                <a:gd name="T39" fmla="*/ 28 h 132"/>
                <a:gd name="T40" fmla="*/ 89 w 117"/>
                <a:gd name="T41" fmla="*/ 26 h 132"/>
                <a:gd name="T42" fmla="*/ 98 w 117"/>
                <a:gd name="T43" fmla="*/ 25 h 132"/>
                <a:gd name="T44" fmla="*/ 105 w 117"/>
                <a:gd name="T45" fmla="*/ 24 h 132"/>
                <a:gd name="T46" fmla="*/ 109 w 117"/>
                <a:gd name="T47" fmla="*/ 22 h 132"/>
                <a:gd name="T48" fmla="*/ 113 w 117"/>
                <a:gd name="T49" fmla="*/ 21 h 132"/>
                <a:gd name="T50" fmla="*/ 114 w 117"/>
                <a:gd name="T51" fmla="*/ 21 h 132"/>
                <a:gd name="T52" fmla="*/ 75 w 117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7" name="Freeform 15"/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29 w 29"/>
                <a:gd name="T1" fmla="*/ 0 h 77"/>
                <a:gd name="T2" fmla="*/ 23 w 29"/>
                <a:gd name="T3" fmla="*/ 0 h 77"/>
                <a:gd name="T4" fmla="*/ 16 w 29"/>
                <a:gd name="T5" fmla="*/ 4 h 77"/>
                <a:gd name="T6" fmla="*/ 9 w 29"/>
                <a:gd name="T7" fmla="*/ 9 h 77"/>
                <a:gd name="T8" fmla="*/ 4 w 29"/>
                <a:gd name="T9" fmla="*/ 19 h 77"/>
                <a:gd name="T10" fmla="*/ 1 w 29"/>
                <a:gd name="T11" fmla="*/ 30 h 77"/>
                <a:gd name="T12" fmla="*/ 0 w 29"/>
                <a:gd name="T13" fmla="*/ 44 h 77"/>
                <a:gd name="T14" fmla="*/ 3 w 29"/>
                <a:gd name="T15" fmla="*/ 60 h 77"/>
                <a:gd name="T16" fmla="*/ 11 w 29"/>
                <a:gd name="T17" fmla="*/ 77 h 77"/>
                <a:gd name="T18" fmla="*/ 15 w 29"/>
                <a:gd name="T19" fmla="*/ 53 h 77"/>
                <a:gd name="T20" fmla="*/ 19 w 29"/>
                <a:gd name="T21" fmla="*/ 37 h 77"/>
                <a:gd name="T22" fmla="*/ 23 w 29"/>
                <a:gd name="T23" fmla="*/ 22 h 77"/>
                <a:gd name="T24" fmla="*/ 29 w 29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8" name="Freeform 16"/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8929" name="Group 17"/>
            <p:cNvGrpSpPr>
              <a:grpSpLocks/>
            </p:cNvGrpSpPr>
            <p:nvPr userDrawn="1"/>
          </p:nvGrpSpPr>
          <p:grpSpPr bwMode="auto"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38930" name="Freeform 1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1" name="Freeform 1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2" name="Freeform 2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33" name="Group 21"/>
            <p:cNvGrpSpPr>
              <a:grpSpLocks/>
            </p:cNvGrpSpPr>
            <p:nvPr userDrawn="1"/>
          </p:nvGrpSpPr>
          <p:grpSpPr bwMode="auto">
            <a:xfrm rot="-6691250">
              <a:off x="3637" y="132"/>
              <a:ext cx="356" cy="607"/>
              <a:chOff x="1727" y="866"/>
              <a:chExt cx="129" cy="157"/>
            </a:xfrm>
          </p:grpSpPr>
          <p:sp>
            <p:nvSpPr>
              <p:cNvPr id="38934" name="Freeform 22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5" name="Freeform 23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6" name="Freeform 24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37" name="Group 25"/>
            <p:cNvGrpSpPr>
              <a:grpSpLocks/>
            </p:cNvGrpSpPr>
            <p:nvPr userDrawn="1"/>
          </p:nvGrpSpPr>
          <p:grpSpPr bwMode="auto">
            <a:xfrm rot="-1307516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38938" name="Freeform 26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9" name="Freeform 27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0" name="Freeform 28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41" name="Group 29"/>
            <p:cNvGrpSpPr>
              <a:grpSpLocks/>
            </p:cNvGrpSpPr>
            <p:nvPr userDrawn="1"/>
          </p:nvGrpSpPr>
          <p:grpSpPr bwMode="auto">
            <a:xfrm rot="4106450" flipH="1">
              <a:off x="393" y="262"/>
              <a:ext cx="709" cy="892"/>
              <a:chOff x="1727" y="866"/>
              <a:chExt cx="129" cy="157"/>
            </a:xfrm>
          </p:grpSpPr>
          <p:sp>
            <p:nvSpPr>
              <p:cNvPr id="38942" name="Freeform 3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3" name="Freeform 3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4" name="Freeform 3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45" name="Group 33"/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38946" name="Freeform 3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7" name="Freeform 3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8" name="Freeform 3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8949" name="Freeform 37"/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0" name="Freeform 38"/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1" name="Freeform 39"/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2" name="Freeform 40"/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3" name="Freeform 41"/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4" name="Freeform 42"/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6 w 149"/>
                <a:gd name="T3" fmla="*/ 6 h 704"/>
                <a:gd name="T4" fmla="*/ 16 w 149"/>
                <a:gd name="T5" fmla="*/ 14 h 704"/>
                <a:gd name="T6" fmla="*/ 28 w 149"/>
                <a:gd name="T7" fmla="*/ 24 h 704"/>
                <a:gd name="T8" fmla="*/ 41 w 149"/>
                <a:gd name="T9" fmla="*/ 37 h 704"/>
                <a:gd name="T10" fmla="*/ 58 w 149"/>
                <a:gd name="T11" fmla="*/ 53 h 704"/>
                <a:gd name="T12" fmla="*/ 73 w 149"/>
                <a:gd name="T13" fmla="*/ 70 h 704"/>
                <a:gd name="T14" fmla="*/ 88 w 149"/>
                <a:gd name="T15" fmla="*/ 90 h 704"/>
                <a:gd name="T16" fmla="*/ 100 w 149"/>
                <a:gd name="T17" fmla="*/ 113 h 704"/>
                <a:gd name="T18" fmla="*/ 112 w 149"/>
                <a:gd name="T19" fmla="*/ 137 h 704"/>
                <a:gd name="T20" fmla="*/ 120 w 149"/>
                <a:gd name="T21" fmla="*/ 165 h 704"/>
                <a:gd name="T22" fmla="*/ 124 w 149"/>
                <a:gd name="T23" fmla="*/ 196 h 704"/>
                <a:gd name="T24" fmla="*/ 126 w 149"/>
                <a:gd name="T25" fmla="*/ 228 h 704"/>
                <a:gd name="T26" fmla="*/ 120 w 149"/>
                <a:gd name="T27" fmla="*/ 264 h 704"/>
                <a:gd name="T28" fmla="*/ 109 w 149"/>
                <a:gd name="T29" fmla="*/ 302 h 704"/>
                <a:gd name="T30" fmla="*/ 92 w 149"/>
                <a:gd name="T31" fmla="*/ 342 h 704"/>
                <a:gd name="T32" fmla="*/ 67 w 149"/>
                <a:gd name="T33" fmla="*/ 386 h 704"/>
                <a:gd name="T34" fmla="*/ 39 w 149"/>
                <a:gd name="T35" fmla="*/ 436 h 704"/>
                <a:gd name="T36" fmla="*/ 21 w 149"/>
                <a:gd name="T37" fmla="*/ 482 h 704"/>
                <a:gd name="T38" fmla="*/ 10 w 149"/>
                <a:gd name="T39" fmla="*/ 525 h 704"/>
                <a:gd name="T40" fmla="*/ 6 w 149"/>
                <a:gd name="T41" fmla="*/ 566 h 704"/>
                <a:gd name="T42" fmla="*/ 6 w 149"/>
                <a:gd name="T43" fmla="*/ 605 h 704"/>
                <a:gd name="T44" fmla="*/ 8 w 149"/>
                <a:gd name="T45" fmla="*/ 641 h 704"/>
                <a:gd name="T46" fmla="*/ 12 w 149"/>
                <a:gd name="T47" fmla="*/ 673 h 704"/>
                <a:gd name="T48" fmla="*/ 14 w 149"/>
                <a:gd name="T49" fmla="*/ 704 h 704"/>
                <a:gd name="T50" fmla="*/ 41 w 149"/>
                <a:gd name="T51" fmla="*/ 688 h 704"/>
                <a:gd name="T52" fmla="*/ 39 w 149"/>
                <a:gd name="T53" fmla="*/ 680 h 704"/>
                <a:gd name="T54" fmla="*/ 36 w 149"/>
                <a:gd name="T55" fmla="*/ 657 h 704"/>
                <a:gd name="T56" fmla="*/ 33 w 149"/>
                <a:gd name="T57" fmla="*/ 622 h 704"/>
                <a:gd name="T58" fmla="*/ 35 w 149"/>
                <a:gd name="T59" fmla="*/ 575 h 704"/>
                <a:gd name="T60" fmla="*/ 41 w 149"/>
                <a:gd name="T61" fmla="*/ 519 h 704"/>
                <a:gd name="T62" fmla="*/ 58 w 149"/>
                <a:gd name="T63" fmla="*/ 455 h 704"/>
                <a:gd name="T64" fmla="*/ 86 w 149"/>
                <a:gd name="T65" fmla="*/ 386 h 704"/>
                <a:gd name="T66" fmla="*/ 129 w 149"/>
                <a:gd name="T67" fmla="*/ 313 h 704"/>
                <a:gd name="T68" fmla="*/ 143 w 149"/>
                <a:gd name="T69" fmla="*/ 279 h 704"/>
                <a:gd name="T70" fmla="*/ 149 w 149"/>
                <a:gd name="T71" fmla="*/ 235 h 704"/>
                <a:gd name="T72" fmla="*/ 144 w 149"/>
                <a:gd name="T73" fmla="*/ 184 h 704"/>
                <a:gd name="T74" fmla="*/ 131 w 149"/>
                <a:gd name="T75" fmla="*/ 134 h 704"/>
                <a:gd name="T76" fmla="*/ 109 w 149"/>
                <a:gd name="T77" fmla="*/ 85 h 704"/>
                <a:gd name="T78" fmla="*/ 81 w 149"/>
                <a:gd name="T79" fmla="*/ 44 h 704"/>
                <a:gd name="T80" fmla="*/ 44 w 149"/>
                <a:gd name="T81" fmla="*/ 14 h 704"/>
                <a:gd name="T82" fmla="*/ 0 w 149"/>
                <a:gd name="T83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5" name="Freeform 43"/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8956" name="Rectangle 4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8957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8958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EE9A34E-43DB-4E36-A17E-BB8D6CFC6A63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8959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200" b="1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8960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5AF545-A7F4-4096-AECE-62D0255419B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01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5CC9DA-DC93-46B9-AC7F-8B22B71B19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58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3FBB1D-2291-4C82-B0EB-53244714F1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40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CF843-F333-4A4B-A92E-E8EF097A95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58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2244EE-B2FE-436B-AF79-A396A7C4FDA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3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666110-A683-4269-B44F-B19EECE266B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46C0C5-E92A-4D87-8444-C30730AA6E0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07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A581DC-1503-4867-929D-82727FBBA4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02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F8BD1A-79A8-4E2B-84FF-7E2024C557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3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58147-8E9F-433F-AA5E-391D40CA45F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02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81FCEA0-6E58-478F-AC7A-DDDF5A94D3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85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42913" y="103188"/>
            <a:ext cx="8243887" cy="5953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571A0C3C-ADFB-4552-BC40-6E6464992D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475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B5BF1C8A-8DD1-4108-BF80-CF0B7EAB257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29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37891" name="Freeform 3"/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7892" name="Group 4"/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37893" name="Freeform 5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4" name="Freeform 6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5" name="Freeform 7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7896" name="Freeform 8"/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7897" name="Group 9"/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37898" name="Freeform 10"/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46 w 217"/>
                  <a:gd name="T1" fmla="*/ 210 h 210"/>
                  <a:gd name="T2" fmla="*/ 37 w 217"/>
                  <a:gd name="T3" fmla="*/ 198 h 210"/>
                  <a:gd name="T4" fmla="*/ 26 w 217"/>
                  <a:gd name="T5" fmla="*/ 181 h 210"/>
                  <a:gd name="T6" fmla="*/ 15 w 217"/>
                  <a:gd name="T7" fmla="*/ 159 h 210"/>
                  <a:gd name="T8" fmla="*/ 5 w 217"/>
                  <a:gd name="T9" fmla="*/ 135 h 210"/>
                  <a:gd name="T10" fmla="*/ 0 w 217"/>
                  <a:gd name="T11" fmla="*/ 109 h 210"/>
                  <a:gd name="T12" fmla="*/ 1 w 217"/>
                  <a:gd name="T13" fmla="*/ 82 h 210"/>
                  <a:gd name="T14" fmla="*/ 9 w 217"/>
                  <a:gd name="T15" fmla="*/ 57 h 210"/>
                  <a:gd name="T16" fmla="*/ 27 w 217"/>
                  <a:gd name="T17" fmla="*/ 35 h 210"/>
                  <a:gd name="T18" fmla="*/ 45 w 217"/>
                  <a:gd name="T19" fmla="*/ 22 h 210"/>
                  <a:gd name="T20" fmla="*/ 60 w 217"/>
                  <a:gd name="T21" fmla="*/ 12 h 210"/>
                  <a:gd name="T22" fmla="*/ 72 w 217"/>
                  <a:gd name="T23" fmla="*/ 7 h 210"/>
                  <a:gd name="T24" fmla="*/ 81 w 217"/>
                  <a:gd name="T25" fmla="*/ 5 h 210"/>
                  <a:gd name="T26" fmla="*/ 88 w 217"/>
                  <a:gd name="T27" fmla="*/ 5 h 210"/>
                  <a:gd name="T28" fmla="*/ 104 w 217"/>
                  <a:gd name="T29" fmla="*/ 0 h 210"/>
                  <a:gd name="T30" fmla="*/ 148 w 217"/>
                  <a:gd name="T31" fmla="*/ 8 h 210"/>
                  <a:gd name="T32" fmla="*/ 160 w 217"/>
                  <a:gd name="T33" fmla="*/ 12 h 210"/>
                  <a:gd name="T34" fmla="*/ 172 w 217"/>
                  <a:gd name="T35" fmla="*/ 15 h 210"/>
                  <a:gd name="T36" fmla="*/ 182 w 217"/>
                  <a:gd name="T37" fmla="*/ 19 h 210"/>
                  <a:gd name="T38" fmla="*/ 190 w 217"/>
                  <a:gd name="T39" fmla="*/ 23 h 210"/>
                  <a:gd name="T40" fmla="*/ 198 w 217"/>
                  <a:gd name="T41" fmla="*/ 27 h 210"/>
                  <a:gd name="T42" fmla="*/ 205 w 217"/>
                  <a:gd name="T43" fmla="*/ 32 h 210"/>
                  <a:gd name="T44" fmla="*/ 211 w 217"/>
                  <a:gd name="T45" fmla="*/ 38 h 210"/>
                  <a:gd name="T46" fmla="*/ 217 w 217"/>
                  <a:gd name="T47" fmla="*/ 45 h 210"/>
                  <a:gd name="T48" fmla="*/ 205 w 217"/>
                  <a:gd name="T49" fmla="*/ 40 h 210"/>
                  <a:gd name="T50" fmla="*/ 194 w 217"/>
                  <a:gd name="T51" fmla="*/ 36 h 210"/>
                  <a:gd name="T52" fmla="*/ 183 w 217"/>
                  <a:gd name="T53" fmla="*/ 33 h 210"/>
                  <a:gd name="T54" fmla="*/ 172 w 217"/>
                  <a:gd name="T55" fmla="*/ 30 h 210"/>
                  <a:gd name="T56" fmla="*/ 163 w 217"/>
                  <a:gd name="T57" fmla="*/ 27 h 210"/>
                  <a:gd name="T58" fmla="*/ 153 w 217"/>
                  <a:gd name="T59" fmla="*/ 26 h 210"/>
                  <a:gd name="T60" fmla="*/ 143 w 217"/>
                  <a:gd name="T61" fmla="*/ 24 h 210"/>
                  <a:gd name="T62" fmla="*/ 134 w 217"/>
                  <a:gd name="T63" fmla="*/ 24 h 210"/>
                  <a:gd name="T64" fmla="*/ 125 w 217"/>
                  <a:gd name="T65" fmla="*/ 24 h 210"/>
                  <a:gd name="T66" fmla="*/ 116 w 217"/>
                  <a:gd name="T67" fmla="*/ 25 h 210"/>
                  <a:gd name="T68" fmla="*/ 107 w 217"/>
                  <a:gd name="T69" fmla="*/ 27 h 210"/>
                  <a:gd name="T70" fmla="*/ 99 w 217"/>
                  <a:gd name="T71" fmla="*/ 29 h 210"/>
                  <a:gd name="T72" fmla="*/ 91 w 217"/>
                  <a:gd name="T73" fmla="*/ 33 h 210"/>
                  <a:gd name="T74" fmla="*/ 82 w 217"/>
                  <a:gd name="T75" fmla="*/ 36 h 210"/>
                  <a:gd name="T76" fmla="*/ 74 w 217"/>
                  <a:gd name="T77" fmla="*/ 41 h 210"/>
                  <a:gd name="T78" fmla="*/ 66 w 217"/>
                  <a:gd name="T79" fmla="*/ 46 h 210"/>
                  <a:gd name="T80" fmla="*/ 52 w 217"/>
                  <a:gd name="T81" fmla="*/ 61 h 210"/>
                  <a:gd name="T82" fmla="*/ 42 w 217"/>
                  <a:gd name="T83" fmla="*/ 80 h 210"/>
                  <a:gd name="T84" fmla="*/ 37 w 217"/>
                  <a:gd name="T85" fmla="*/ 103 h 210"/>
                  <a:gd name="T86" fmla="*/ 35 w 217"/>
                  <a:gd name="T87" fmla="*/ 126 h 210"/>
                  <a:gd name="T88" fmla="*/ 35 w 217"/>
                  <a:gd name="T89" fmla="*/ 151 h 210"/>
                  <a:gd name="T90" fmla="*/ 38 w 217"/>
                  <a:gd name="T91" fmla="*/ 174 h 210"/>
                  <a:gd name="T92" fmla="*/ 41 w 217"/>
                  <a:gd name="T93" fmla="*/ 194 h 210"/>
                  <a:gd name="T94" fmla="*/ 46 w 217"/>
                  <a:gd name="T9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9" name="Freeform 11"/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09 w 182"/>
                  <a:gd name="T1" fmla="*/ 0 h 213"/>
                  <a:gd name="T2" fmla="*/ 112 w 182"/>
                  <a:gd name="T3" fmla="*/ 2 h 213"/>
                  <a:gd name="T4" fmla="*/ 118 w 182"/>
                  <a:gd name="T5" fmla="*/ 8 h 213"/>
                  <a:gd name="T6" fmla="*/ 127 w 182"/>
                  <a:gd name="T7" fmla="*/ 18 h 213"/>
                  <a:gd name="T8" fmla="*/ 137 w 182"/>
                  <a:gd name="T9" fmla="*/ 33 h 213"/>
                  <a:gd name="T10" fmla="*/ 145 w 182"/>
                  <a:gd name="T11" fmla="*/ 52 h 213"/>
                  <a:gd name="T12" fmla="*/ 150 w 182"/>
                  <a:gd name="T13" fmla="*/ 76 h 213"/>
                  <a:gd name="T14" fmla="*/ 150 w 182"/>
                  <a:gd name="T15" fmla="*/ 105 h 213"/>
                  <a:gd name="T16" fmla="*/ 144 w 182"/>
                  <a:gd name="T17" fmla="*/ 139 h 213"/>
                  <a:gd name="T18" fmla="*/ 140 w 182"/>
                  <a:gd name="T19" fmla="*/ 149 h 213"/>
                  <a:gd name="T20" fmla="*/ 136 w 182"/>
                  <a:gd name="T21" fmla="*/ 157 h 213"/>
                  <a:gd name="T22" fmla="*/ 131 w 182"/>
                  <a:gd name="T23" fmla="*/ 165 h 213"/>
                  <a:gd name="T24" fmla="*/ 125 w 182"/>
                  <a:gd name="T25" fmla="*/ 173 h 213"/>
                  <a:gd name="T26" fmla="*/ 117 w 182"/>
                  <a:gd name="T27" fmla="*/ 180 h 213"/>
                  <a:gd name="T28" fmla="*/ 110 w 182"/>
                  <a:gd name="T29" fmla="*/ 185 h 213"/>
                  <a:gd name="T30" fmla="*/ 102 w 182"/>
                  <a:gd name="T31" fmla="*/ 191 h 213"/>
                  <a:gd name="T32" fmla="*/ 92 w 182"/>
                  <a:gd name="T33" fmla="*/ 195 h 213"/>
                  <a:gd name="T34" fmla="*/ 82 w 182"/>
                  <a:gd name="T35" fmla="*/ 197 h 213"/>
                  <a:gd name="T36" fmla="*/ 72 w 182"/>
                  <a:gd name="T37" fmla="*/ 200 h 213"/>
                  <a:gd name="T38" fmla="*/ 61 w 182"/>
                  <a:gd name="T39" fmla="*/ 201 h 213"/>
                  <a:gd name="T40" fmla="*/ 49 w 182"/>
                  <a:gd name="T41" fmla="*/ 201 h 213"/>
                  <a:gd name="T42" fmla="*/ 37 w 182"/>
                  <a:gd name="T43" fmla="*/ 200 h 213"/>
                  <a:gd name="T44" fmla="*/ 25 w 182"/>
                  <a:gd name="T45" fmla="*/ 197 h 213"/>
                  <a:gd name="T46" fmla="*/ 12 w 182"/>
                  <a:gd name="T47" fmla="*/ 193 h 213"/>
                  <a:gd name="T48" fmla="*/ 0 w 182"/>
                  <a:gd name="T49" fmla="*/ 188 h 213"/>
                  <a:gd name="T50" fmla="*/ 11 w 182"/>
                  <a:gd name="T51" fmla="*/ 195 h 213"/>
                  <a:gd name="T52" fmla="*/ 22 w 182"/>
                  <a:gd name="T53" fmla="*/ 200 h 213"/>
                  <a:gd name="T54" fmla="*/ 33 w 182"/>
                  <a:gd name="T55" fmla="*/ 205 h 213"/>
                  <a:gd name="T56" fmla="*/ 43 w 182"/>
                  <a:gd name="T57" fmla="*/ 208 h 213"/>
                  <a:gd name="T58" fmla="*/ 53 w 182"/>
                  <a:gd name="T59" fmla="*/ 211 h 213"/>
                  <a:gd name="T60" fmla="*/ 63 w 182"/>
                  <a:gd name="T61" fmla="*/ 212 h 213"/>
                  <a:gd name="T62" fmla="*/ 73 w 182"/>
                  <a:gd name="T63" fmla="*/ 213 h 213"/>
                  <a:gd name="T64" fmla="*/ 83 w 182"/>
                  <a:gd name="T65" fmla="*/ 213 h 213"/>
                  <a:gd name="T66" fmla="*/ 91 w 182"/>
                  <a:gd name="T67" fmla="*/ 212 h 213"/>
                  <a:gd name="T68" fmla="*/ 100 w 182"/>
                  <a:gd name="T69" fmla="*/ 210 h 213"/>
                  <a:gd name="T70" fmla="*/ 108 w 182"/>
                  <a:gd name="T71" fmla="*/ 208 h 213"/>
                  <a:gd name="T72" fmla="*/ 116 w 182"/>
                  <a:gd name="T73" fmla="*/ 206 h 213"/>
                  <a:gd name="T74" fmla="*/ 123 w 182"/>
                  <a:gd name="T75" fmla="*/ 203 h 213"/>
                  <a:gd name="T76" fmla="*/ 130 w 182"/>
                  <a:gd name="T77" fmla="*/ 199 h 213"/>
                  <a:gd name="T78" fmla="*/ 136 w 182"/>
                  <a:gd name="T79" fmla="*/ 195 h 213"/>
                  <a:gd name="T80" fmla="*/ 142 w 182"/>
                  <a:gd name="T81" fmla="*/ 191 h 213"/>
                  <a:gd name="T82" fmla="*/ 158 w 182"/>
                  <a:gd name="T83" fmla="*/ 176 h 213"/>
                  <a:gd name="T84" fmla="*/ 169 w 182"/>
                  <a:gd name="T85" fmla="*/ 161 h 213"/>
                  <a:gd name="T86" fmla="*/ 176 w 182"/>
                  <a:gd name="T87" fmla="*/ 144 h 213"/>
                  <a:gd name="T88" fmla="*/ 179 w 182"/>
                  <a:gd name="T89" fmla="*/ 128 h 213"/>
                  <a:gd name="T90" fmla="*/ 181 w 182"/>
                  <a:gd name="T91" fmla="*/ 111 h 213"/>
                  <a:gd name="T92" fmla="*/ 181 w 182"/>
                  <a:gd name="T93" fmla="*/ 95 h 213"/>
                  <a:gd name="T94" fmla="*/ 182 w 182"/>
                  <a:gd name="T95" fmla="*/ 79 h 213"/>
                  <a:gd name="T96" fmla="*/ 173 w 182"/>
                  <a:gd name="T97" fmla="*/ 46 h 213"/>
                  <a:gd name="T98" fmla="*/ 156 w 182"/>
                  <a:gd name="T99" fmla="*/ 21 h 213"/>
                  <a:gd name="T100" fmla="*/ 151 w 182"/>
                  <a:gd name="T101" fmla="*/ 18 h 213"/>
                  <a:gd name="T102" fmla="*/ 147 w 182"/>
                  <a:gd name="T103" fmla="*/ 15 h 213"/>
                  <a:gd name="T104" fmla="*/ 142 w 182"/>
                  <a:gd name="T105" fmla="*/ 13 h 213"/>
                  <a:gd name="T106" fmla="*/ 138 w 182"/>
                  <a:gd name="T107" fmla="*/ 11 h 213"/>
                  <a:gd name="T108" fmla="*/ 132 w 182"/>
                  <a:gd name="T109" fmla="*/ 9 h 213"/>
                  <a:gd name="T110" fmla="*/ 126 w 182"/>
                  <a:gd name="T111" fmla="*/ 6 h 213"/>
                  <a:gd name="T112" fmla="*/ 119 w 182"/>
                  <a:gd name="T113" fmla="*/ 3 h 213"/>
                  <a:gd name="T114" fmla="*/ 109 w 182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0" name="Freeform 12"/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94 w 128"/>
                  <a:gd name="T1" fmla="*/ 0 h 217"/>
                  <a:gd name="T2" fmla="*/ 105 w 128"/>
                  <a:gd name="T3" fmla="*/ 9 h 217"/>
                  <a:gd name="T4" fmla="*/ 115 w 128"/>
                  <a:gd name="T5" fmla="*/ 27 h 217"/>
                  <a:gd name="T6" fmla="*/ 123 w 128"/>
                  <a:gd name="T7" fmla="*/ 50 h 217"/>
                  <a:gd name="T8" fmla="*/ 128 w 128"/>
                  <a:gd name="T9" fmla="*/ 78 h 217"/>
                  <a:gd name="T10" fmla="*/ 127 w 128"/>
                  <a:gd name="T11" fmla="*/ 111 h 217"/>
                  <a:gd name="T12" fmla="*/ 116 w 128"/>
                  <a:gd name="T13" fmla="*/ 145 h 217"/>
                  <a:gd name="T14" fmla="*/ 94 w 128"/>
                  <a:gd name="T15" fmla="*/ 181 h 217"/>
                  <a:gd name="T16" fmla="*/ 60 w 128"/>
                  <a:gd name="T17" fmla="*/ 217 h 217"/>
                  <a:gd name="T18" fmla="*/ 49 w 128"/>
                  <a:gd name="T19" fmla="*/ 213 h 217"/>
                  <a:gd name="T20" fmla="*/ 38 w 128"/>
                  <a:gd name="T21" fmla="*/ 210 h 217"/>
                  <a:gd name="T22" fmla="*/ 26 w 128"/>
                  <a:gd name="T23" fmla="*/ 205 h 217"/>
                  <a:gd name="T24" fmla="*/ 16 w 128"/>
                  <a:gd name="T25" fmla="*/ 201 h 217"/>
                  <a:gd name="T26" fmla="*/ 8 w 128"/>
                  <a:gd name="T27" fmla="*/ 196 h 217"/>
                  <a:gd name="T28" fmla="*/ 2 w 128"/>
                  <a:gd name="T29" fmla="*/ 190 h 217"/>
                  <a:gd name="T30" fmla="*/ 0 w 128"/>
                  <a:gd name="T31" fmla="*/ 183 h 217"/>
                  <a:gd name="T32" fmla="*/ 1 w 128"/>
                  <a:gd name="T33" fmla="*/ 178 h 217"/>
                  <a:gd name="T34" fmla="*/ 13 w 128"/>
                  <a:gd name="T35" fmla="*/ 171 h 217"/>
                  <a:gd name="T36" fmla="*/ 29 w 128"/>
                  <a:gd name="T37" fmla="*/ 161 h 217"/>
                  <a:gd name="T38" fmla="*/ 46 w 128"/>
                  <a:gd name="T39" fmla="*/ 150 h 217"/>
                  <a:gd name="T40" fmla="*/ 63 w 128"/>
                  <a:gd name="T41" fmla="*/ 134 h 217"/>
                  <a:gd name="T42" fmla="*/ 79 w 128"/>
                  <a:gd name="T43" fmla="*/ 112 h 217"/>
                  <a:gd name="T44" fmla="*/ 91 w 128"/>
                  <a:gd name="T45" fmla="*/ 83 h 217"/>
                  <a:gd name="T46" fmla="*/ 97 w 128"/>
                  <a:gd name="T47" fmla="*/ 46 h 217"/>
                  <a:gd name="T48" fmla="*/ 94 w 128"/>
                  <a:gd name="T4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1" name="Freeform 13"/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75 w 117"/>
                  <a:gd name="T1" fmla="*/ 0 h 132"/>
                  <a:gd name="T2" fmla="*/ 0 w 117"/>
                  <a:gd name="T3" fmla="*/ 25 h 132"/>
                  <a:gd name="T4" fmla="*/ 3 w 117"/>
                  <a:gd name="T5" fmla="*/ 26 h 132"/>
                  <a:gd name="T6" fmla="*/ 14 w 117"/>
                  <a:gd name="T7" fmla="*/ 29 h 132"/>
                  <a:gd name="T8" fmla="*/ 29 w 117"/>
                  <a:gd name="T9" fmla="*/ 36 h 132"/>
                  <a:gd name="T10" fmla="*/ 46 w 117"/>
                  <a:gd name="T11" fmla="*/ 47 h 132"/>
                  <a:gd name="T12" fmla="*/ 66 w 117"/>
                  <a:gd name="T13" fmla="*/ 62 h 132"/>
                  <a:gd name="T14" fmla="*/ 84 w 117"/>
                  <a:gd name="T15" fmla="*/ 80 h 132"/>
                  <a:gd name="T16" fmla="*/ 102 w 117"/>
                  <a:gd name="T17" fmla="*/ 103 h 132"/>
                  <a:gd name="T18" fmla="*/ 116 w 117"/>
                  <a:gd name="T19" fmla="*/ 132 h 132"/>
                  <a:gd name="T20" fmla="*/ 117 w 117"/>
                  <a:gd name="T21" fmla="*/ 120 h 132"/>
                  <a:gd name="T22" fmla="*/ 115 w 117"/>
                  <a:gd name="T23" fmla="*/ 107 h 132"/>
                  <a:gd name="T24" fmla="*/ 108 w 117"/>
                  <a:gd name="T25" fmla="*/ 90 h 132"/>
                  <a:gd name="T26" fmla="*/ 99 w 117"/>
                  <a:gd name="T27" fmla="*/ 74 h 132"/>
                  <a:gd name="T28" fmla="*/ 89 w 117"/>
                  <a:gd name="T29" fmla="*/ 58 h 132"/>
                  <a:gd name="T30" fmla="*/ 78 w 117"/>
                  <a:gd name="T31" fmla="*/ 45 h 132"/>
                  <a:gd name="T32" fmla="*/ 67 w 117"/>
                  <a:gd name="T33" fmla="*/ 36 h 132"/>
                  <a:gd name="T34" fmla="*/ 58 w 117"/>
                  <a:gd name="T35" fmla="*/ 32 h 132"/>
                  <a:gd name="T36" fmla="*/ 69 w 117"/>
                  <a:gd name="T37" fmla="*/ 29 h 132"/>
                  <a:gd name="T38" fmla="*/ 79 w 117"/>
                  <a:gd name="T39" fmla="*/ 28 h 132"/>
                  <a:gd name="T40" fmla="*/ 89 w 117"/>
                  <a:gd name="T41" fmla="*/ 26 h 132"/>
                  <a:gd name="T42" fmla="*/ 98 w 117"/>
                  <a:gd name="T43" fmla="*/ 25 h 132"/>
                  <a:gd name="T44" fmla="*/ 105 w 117"/>
                  <a:gd name="T45" fmla="*/ 24 h 132"/>
                  <a:gd name="T46" fmla="*/ 109 w 117"/>
                  <a:gd name="T47" fmla="*/ 22 h 132"/>
                  <a:gd name="T48" fmla="*/ 113 w 117"/>
                  <a:gd name="T49" fmla="*/ 21 h 132"/>
                  <a:gd name="T50" fmla="*/ 114 w 117"/>
                  <a:gd name="T51" fmla="*/ 21 h 132"/>
                  <a:gd name="T52" fmla="*/ 75 w 117"/>
                  <a:gd name="T53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2" name="Freeform 14"/>
              <p:cNvSpPr>
                <a:spLocks/>
              </p:cNvSpPr>
              <p:nvPr userDrawn="1"/>
            </p:nvSpPr>
            <p:spPr bwMode="ltGray">
              <a:xfrm rot="373331" flipH="1">
                <a:off x="289" y="3135"/>
                <a:ext cx="21" cy="55"/>
              </a:xfrm>
              <a:custGeom>
                <a:avLst/>
                <a:gdLst>
                  <a:gd name="T0" fmla="*/ 29 w 29"/>
                  <a:gd name="T1" fmla="*/ 0 h 77"/>
                  <a:gd name="T2" fmla="*/ 23 w 29"/>
                  <a:gd name="T3" fmla="*/ 0 h 77"/>
                  <a:gd name="T4" fmla="*/ 16 w 29"/>
                  <a:gd name="T5" fmla="*/ 4 h 77"/>
                  <a:gd name="T6" fmla="*/ 9 w 29"/>
                  <a:gd name="T7" fmla="*/ 9 h 77"/>
                  <a:gd name="T8" fmla="*/ 4 w 29"/>
                  <a:gd name="T9" fmla="*/ 19 h 77"/>
                  <a:gd name="T10" fmla="*/ 1 w 29"/>
                  <a:gd name="T11" fmla="*/ 30 h 77"/>
                  <a:gd name="T12" fmla="*/ 0 w 29"/>
                  <a:gd name="T13" fmla="*/ 44 h 77"/>
                  <a:gd name="T14" fmla="*/ 3 w 29"/>
                  <a:gd name="T15" fmla="*/ 60 h 77"/>
                  <a:gd name="T16" fmla="*/ 11 w 29"/>
                  <a:gd name="T17" fmla="*/ 77 h 77"/>
                  <a:gd name="T18" fmla="*/ 15 w 29"/>
                  <a:gd name="T19" fmla="*/ 53 h 77"/>
                  <a:gd name="T20" fmla="*/ 19 w 29"/>
                  <a:gd name="T21" fmla="*/ 37 h 77"/>
                  <a:gd name="T22" fmla="*/ 23 w 29"/>
                  <a:gd name="T23" fmla="*/ 22 h 77"/>
                  <a:gd name="T24" fmla="*/ 29 w 29"/>
                  <a:gd name="T2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grpSp>
            <p:nvGrpSpPr>
              <p:cNvPr id="37903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37904" name="Freeform 16"/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12 w 207"/>
                    <a:gd name="T1" fmla="*/ 44 h 564"/>
                    <a:gd name="T2" fmla="*/ 6 w 207"/>
                    <a:gd name="T3" fmla="*/ 72 h 564"/>
                    <a:gd name="T4" fmla="*/ 3 w 207"/>
                    <a:gd name="T5" fmla="*/ 99 h 564"/>
                    <a:gd name="T6" fmla="*/ 0 w 207"/>
                    <a:gd name="T7" fmla="*/ 125 h 564"/>
                    <a:gd name="T8" fmla="*/ 0 w 207"/>
                    <a:gd name="T9" fmla="*/ 151 h 564"/>
                    <a:gd name="T10" fmla="*/ 3 w 207"/>
                    <a:gd name="T11" fmla="*/ 180 h 564"/>
                    <a:gd name="T12" fmla="*/ 7 w 207"/>
                    <a:gd name="T13" fmla="*/ 211 h 564"/>
                    <a:gd name="T14" fmla="*/ 16 w 207"/>
                    <a:gd name="T15" fmla="*/ 247 h 564"/>
                    <a:gd name="T16" fmla="*/ 29 w 207"/>
                    <a:gd name="T17" fmla="*/ 287 h 564"/>
                    <a:gd name="T18" fmla="*/ 43 w 207"/>
                    <a:gd name="T19" fmla="*/ 325 h 564"/>
                    <a:gd name="T20" fmla="*/ 61 w 207"/>
                    <a:gd name="T21" fmla="*/ 364 h 564"/>
                    <a:gd name="T22" fmla="*/ 83 w 207"/>
                    <a:gd name="T23" fmla="*/ 406 h 564"/>
                    <a:gd name="T24" fmla="*/ 106 w 207"/>
                    <a:gd name="T25" fmla="*/ 446 h 564"/>
                    <a:gd name="T26" fmla="*/ 132 w 207"/>
                    <a:gd name="T27" fmla="*/ 483 h 564"/>
                    <a:gd name="T28" fmla="*/ 157 w 207"/>
                    <a:gd name="T29" fmla="*/ 516 h 564"/>
                    <a:gd name="T30" fmla="*/ 182 w 207"/>
                    <a:gd name="T31" fmla="*/ 544 h 564"/>
                    <a:gd name="T32" fmla="*/ 207 w 207"/>
                    <a:gd name="T33" fmla="*/ 564 h 564"/>
                    <a:gd name="T34" fmla="*/ 160 w 207"/>
                    <a:gd name="T35" fmla="*/ 501 h 564"/>
                    <a:gd name="T36" fmla="*/ 127 w 207"/>
                    <a:gd name="T37" fmla="*/ 448 h 564"/>
                    <a:gd name="T38" fmla="*/ 103 w 207"/>
                    <a:gd name="T39" fmla="*/ 405 h 564"/>
                    <a:gd name="T40" fmla="*/ 87 w 207"/>
                    <a:gd name="T41" fmla="*/ 368 h 564"/>
                    <a:gd name="T42" fmla="*/ 75 w 207"/>
                    <a:gd name="T43" fmla="*/ 337 h 564"/>
                    <a:gd name="T44" fmla="*/ 68 w 207"/>
                    <a:gd name="T45" fmla="*/ 309 h 564"/>
                    <a:gd name="T46" fmla="*/ 63 w 207"/>
                    <a:gd name="T47" fmla="*/ 285 h 564"/>
                    <a:gd name="T48" fmla="*/ 56 w 207"/>
                    <a:gd name="T49" fmla="*/ 261 h 564"/>
                    <a:gd name="T50" fmla="*/ 44 w 207"/>
                    <a:gd name="T51" fmla="*/ 205 h 564"/>
                    <a:gd name="T52" fmla="*/ 41 w 207"/>
                    <a:gd name="T53" fmla="*/ 140 h 564"/>
                    <a:gd name="T54" fmla="*/ 43 w 207"/>
                    <a:gd name="T55" fmla="*/ 68 h 564"/>
                    <a:gd name="T56" fmla="*/ 50 w 207"/>
                    <a:gd name="T57" fmla="*/ 0 h 564"/>
                    <a:gd name="T58" fmla="*/ 12 w 207"/>
                    <a:gd name="T59" fmla="*/ 4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7905" name="Freeform 17"/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9 h 232"/>
                    <a:gd name="T2" fmla="*/ 14 w 47"/>
                    <a:gd name="T3" fmla="*/ 55 h 232"/>
                    <a:gd name="T4" fmla="*/ 22 w 47"/>
                    <a:gd name="T5" fmla="*/ 101 h 232"/>
                    <a:gd name="T6" fmla="*/ 24 w 47"/>
                    <a:gd name="T7" fmla="*/ 159 h 232"/>
                    <a:gd name="T8" fmla="*/ 19 w 47"/>
                    <a:gd name="T9" fmla="*/ 232 h 232"/>
                    <a:gd name="T10" fmla="*/ 45 w 47"/>
                    <a:gd name="T11" fmla="*/ 217 h 232"/>
                    <a:gd name="T12" fmla="*/ 47 w 47"/>
                    <a:gd name="T13" fmla="*/ 178 h 232"/>
                    <a:gd name="T14" fmla="*/ 47 w 47"/>
                    <a:gd name="T15" fmla="*/ 140 h 232"/>
                    <a:gd name="T16" fmla="*/ 45 w 47"/>
                    <a:gd name="T17" fmla="*/ 103 h 232"/>
                    <a:gd name="T18" fmla="*/ 41 w 47"/>
                    <a:gd name="T19" fmla="*/ 71 h 232"/>
                    <a:gd name="T20" fmla="*/ 36 w 47"/>
                    <a:gd name="T21" fmla="*/ 52 h 232"/>
                    <a:gd name="T22" fmla="*/ 29 w 47"/>
                    <a:gd name="T23" fmla="*/ 34 h 232"/>
                    <a:gd name="T24" fmla="*/ 22 w 47"/>
                    <a:gd name="T25" fmla="*/ 17 h 232"/>
                    <a:gd name="T26" fmla="*/ 13 w 47"/>
                    <a:gd name="T27" fmla="*/ 0 h 232"/>
                    <a:gd name="T28" fmla="*/ 0 w 47"/>
                    <a:gd name="T29" fmla="*/ 19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7906" name="Freeform 18"/>
                <p:cNvSpPr>
                  <a:spLocks/>
                </p:cNvSpPr>
                <p:nvPr userDrawn="1"/>
              </p:nvSpPr>
              <p:spPr bwMode="ltGray">
                <a:xfrm rot="4200091">
                  <a:off x="199" y="1720"/>
                  <a:ext cx="60" cy="27"/>
                </a:xfrm>
                <a:custGeom>
                  <a:avLst/>
                  <a:gdLst>
                    <a:gd name="T0" fmla="*/ 87 w 87"/>
                    <a:gd name="T1" fmla="*/ 22 h 40"/>
                    <a:gd name="T2" fmla="*/ 77 w 87"/>
                    <a:gd name="T3" fmla="*/ 17 h 40"/>
                    <a:gd name="T4" fmla="*/ 68 w 87"/>
                    <a:gd name="T5" fmla="*/ 12 h 40"/>
                    <a:gd name="T6" fmla="*/ 58 w 87"/>
                    <a:gd name="T7" fmla="*/ 7 h 40"/>
                    <a:gd name="T8" fmla="*/ 47 w 87"/>
                    <a:gd name="T9" fmla="*/ 5 h 40"/>
                    <a:gd name="T10" fmla="*/ 37 w 87"/>
                    <a:gd name="T11" fmla="*/ 3 h 40"/>
                    <a:gd name="T12" fmla="*/ 26 w 87"/>
                    <a:gd name="T13" fmla="*/ 2 h 40"/>
                    <a:gd name="T14" fmla="*/ 13 w 87"/>
                    <a:gd name="T15" fmla="*/ 0 h 40"/>
                    <a:gd name="T16" fmla="*/ 0 w 87"/>
                    <a:gd name="T17" fmla="*/ 2 h 40"/>
                    <a:gd name="T18" fmla="*/ 6 w 87"/>
                    <a:gd name="T19" fmla="*/ 6 h 40"/>
                    <a:gd name="T20" fmla="*/ 14 w 87"/>
                    <a:gd name="T21" fmla="*/ 10 h 40"/>
                    <a:gd name="T22" fmla="*/ 22 w 87"/>
                    <a:gd name="T23" fmla="*/ 14 h 40"/>
                    <a:gd name="T24" fmla="*/ 33 w 87"/>
                    <a:gd name="T25" fmla="*/ 18 h 40"/>
                    <a:gd name="T26" fmla="*/ 42 w 87"/>
                    <a:gd name="T27" fmla="*/ 22 h 40"/>
                    <a:gd name="T28" fmla="*/ 52 w 87"/>
                    <a:gd name="T29" fmla="*/ 27 h 40"/>
                    <a:gd name="T30" fmla="*/ 64 w 87"/>
                    <a:gd name="T31" fmla="*/ 33 h 40"/>
                    <a:gd name="T32" fmla="*/ 74 w 87"/>
                    <a:gd name="T33" fmla="*/ 40 h 40"/>
                    <a:gd name="T34" fmla="*/ 87 w 87"/>
                    <a:gd name="T35" fmla="*/ 2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</p:grpSp>
        <p:grpSp>
          <p:nvGrpSpPr>
            <p:cNvPr id="37907" name="Group 19"/>
            <p:cNvGrpSpPr>
              <a:grpSpLocks/>
            </p:cNvGrpSpPr>
            <p:nvPr/>
          </p:nvGrpSpPr>
          <p:grpSpPr bwMode="auto">
            <a:xfrm rot="-15351438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37908" name="Freeform 2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9" name="Freeform 2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0" name="Freeform 2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7911" name="Group 23"/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37912" name="Freeform 2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3" name="Freeform 2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4" name="Freeform 2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7915" name="Group 27"/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37916" name="Freeform 2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7" name="Freeform 2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8" name="Freeform 3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7919" name="Freeform 31"/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0" name="Freeform 32"/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1" name="Freeform 33"/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2" name="Freeform 34"/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3" name="Freeform 35"/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4" name="Freeform 36"/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5" name="Freeform 37"/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6" name="Freeform 38"/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7" name="Freeform 39"/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8" name="Freeform 40"/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9" name="Freeform 41"/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0" name="Freeform 42"/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1" name="Freeform 43"/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2" name="Freeform 44"/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16 w 596"/>
                <a:gd name="T1" fmla="*/ 370 h 666"/>
                <a:gd name="T2" fmla="*/ 6 w 596"/>
                <a:gd name="T3" fmla="*/ 341 h 666"/>
                <a:gd name="T4" fmla="*/ 0 w 596"/>
                <a:gd name="T5" fmla="*/ 289 h 666"/>
                <a:gd name="T6" fmla="*/ 4 w 596"/>
                <a:gd name="T7" fmla="*/ 222 h 666"/>
                <a:gd name="T8" fmla="*/ 25 w 596"/>
                <a:gd name="T9" fmla="*/ 151 h 666"/>
                <a:gd name="T10" fmla="*/ 69 w 596"/>
                <a:gd name="T11" fmla="*/ 84 h 666"/>
                <a:gd name="T12" fmla="*/ 142 w 596"/>
                <a:gd name="T13" fmla="*/ 31 h 666"/>
                <a:gd name="T14" fmla="*/ 247 w 596"/>
                <a:gd name="T15" fmla="*/ 2 h 666"/>
                <a:gd name="T16" fmla="*/ 380 w 596"/>
                <a:gd name="T17" fmla="*/ 9 h 666"/>
                <a:gd name="T18" fmla="*/ 484 w 596"/>
                <a:gd name="T19" fmla="*/ 68 h 666"/>
                <a:gd name="T20" fmla="*/ 554 w 596"/>
                <a:gd name="T21" fmla="*/ 165 h 666"/>
                <a:gd name="T22" fmla="*/ 591 w 596"/>
                <a:gd name="T23" fmla="*/ 284 h 666"/>
                <a:gd name="T24" fmla="*/ 595 w 596"/>
                <a:gd name="T25" fmla="*/ 409 h 666"/>
                <a:gd name="T26" fmla="*/ 566 w 596"/>
                <a:gd name="T27" fmla="*/ 525 h 666"/>
                <a:gd name="T28" fmla="*/ 507 w 596"/>
                <a:gd name="T29" fmla="*/ 615 h 666"/>
                <a:gd name="T30" fmla="*/ 417 w 596"/>
                <a:gd name="T31" fmla="*/ 663 h 666"/>
                <a:gd name="T32" fmla="*/ 389 w 596"/>
                <a:gd name="T33" fmla="*/ 659 h 666"/>
                <a:gd name="T34" fmla="*/ 441 w 596"/>
                <a:gd name="T35" fmla="*/ 617 h 666"/>
                <a:gd name="T36" fmla="*/ 482 w 596"/>
                <a:gd name="T37" fmla="*/ 544 h 666"/>
                <a:gd name="T38" fmla="*/ 509 w 596"/>
                <a:gd name="T39" fmla="*/ 454 h 666"/>
                <a:gd name="T40" fmla="*/ 520 w 596"/>
                <a:gd name="T41" fmla="*/ 355 h 666"/>
                <a:gd name="T42" fmla="*/ 514 w 596"/>
                <a:gd name="T43" fmla="*/ 258 h 666"/>
                <a:gd name="T44" fmla="*/ 485 w 596"/>
                <a:gd name="T45" fmla="*/ 174 h 666"/>
                <a:gd name="T46" fmla="*/ 433 w 596"/>
                <a:gd name="T47" fmla="*/ 112 h 666"/>
                <a:gd name="T48" fmla="*/ 341 w 596"/>
                <a:gd name="T49" fmla="*/ 75 h 666"/>
                <a:gd name="T50" fmla="*/ 246 w 596"/>
                <a:gd name="T51" fmla="*/ 61 h 666"/>
                <a:gd name="T52" fmla="*/ 174 w 596"/>
                <a:gd name="T53" fmla="*/ 71 h 666"/>
                <a:gd name="T54" fmla="*/ 121 w 596"/>
                <a:gd name="T55" fmla="*/ 101 h 666"/>
                <a:gd name="T56" fmla="*/ 84 w 596"/>
                <a:gd name="T57" fmla="*/ 149 h 666"/>
                <a:gd name="T58" fmla="*/ 57 w 596"/>
                <a:gd name="T59" fmla="*/ 206 h 666"/>
                <a:gd name="T60" fmla="*/ 40 w 596"/>
                <a:gd name="T61" fmla="*/ 272 h 666"/>
                <a:gd name="T62" fmla="*/ 28 w 596"/>
                <a:gd name="T63" fmla="*/ 339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7933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7934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7935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7936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7937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6FF155EE-7EB3-4E0D-A0CE-C4A4833CCC6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5.jpeg"/><Relationship Id="rId4" Type="http://schemas.openxmlformats.org/officeDocument/2006/relationships/image" Target="../media/image2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50.png"/><Relationship Id="rId5" Type="http://schemas.openxmlformats.org/officeDocument/2006/relationships/image" Target="../media/image27.wmf"/><Relationship Id="rId4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8.jpeg"/><Relationship Id="rId7" Type="http://schemas.openxmlformats.org/officeDocument/2006/relationships/image" Target="../media/image6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png"/><Relationship Id="rId11" Type="http://schemas.openxmlformats.org/officeDocument/2006/relationships/image" Target="../media/image69.png"/><Relationship Id="rId5" Type="http://schemas.openxmlformats.org/officeDocument/2006/relationships/image" Target="../media/image29.wmf"/><Relationship Id="rId10" Type="http://schemas.openxmlformats.org/officeDocument/2006/relationships/image" Target="../media/image68.png"/><Relationship Id="rId4" Type="http://schemas.openxmlformats.org/officeDocument/2006/relationships/oleObject" Target="../embeddings/oleObject4.bin"/><Relationship Id="rId9" Type="http://schemas.openxmlformats.org/officeDocument/2006/relationships/image" Target="../media/image3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6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70" name="Picture 2" descr="http://t1.gstatic.com/images?q=tbn:ANd9GcRXCEx5BMtncxsXCG2-3wDTOK5ljwAV_HZTehariESHnv53R0vi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2238375" cy="204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22398244-B1B3-469A-825D-6386D5B4F7D8}" type="slidenum">
              <a:rPr lang="en-US"/>
              <a:pPr/>
              <a:t>1</a:t>
            </a:fld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0375" y="2209800"/>
            <a:ext cx="8305799" cy="2819400"/>
          </a:xfrm>
        </p:spPr>
        <p:txBody>
          <a:bodyPr/>
          <a:lstStyle/>
          <a:p>
            <a:r>
              <a:rPr lang="en-US" sz="4800" dirty="0"/>
              <a:t>Chapter </a:t>
            </a:r>
            <a:r>
              <a:rPr lang="en-US" sz="4800" dirty="0" smtClean="0"/>
              <a:t>5</a:t>
            </a:r>
            <a:endParaRPr lang="en-US" sz="4800" dirty="0"/>
          </a:p>
          <a:p>
            <a:r>
              <a:rPr lang="en-US" sz="4800" dirty="0" smtClean="0"/>
              <a:t>Operational Amplifiers</a:t>
            </a:r>
          </a:p>
          <a:p>
            <a:r>
              <a:rPr lang="en-US" sz="4800" dirty="0" smtClean="0"/>
              <a:t>Op Amps</a:t>
            </a:r>
            <a:endParaRPr lang="en-US" sz="4800" dirty="0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736600" y="0"/>
            <a:ext cx="770255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sz="3200" dirty="0" smtClean="0"/>
              <a:t>EBN 122</a:t>
            </a:r>
            <a:br>
              <a:rPr lang="en-US" sz="3200" dirty="0" smtClean="0"/>
            </a:br>
            <a:r>
              <a:rPr lang="en-US" sz="3200" dirty="0" smtClean="0"/>
              <a:t>ELECTRICITY AND ELECTRONICS</a:t>
            </a:r>
            <a:endParaRPr lang="en-US" sz="3200" dirty="0"/>
          </a:p>
        </p:txBody>
      </p:sp>
      <p:sp>
        <p:nvSpPr>
          <p:cNvPr id="2" name="AutoShape 4" descr="data:image/jpg;base64,/9j/4AAQSkZJRgABAQAAAQABAAD/2wCEAAkGBhIOERMUERIQERESEBUVEhYSEhYUEBMQFRQXFRUUFRgYGyYfFxkvGRISIS8hJCcrLCwsFioyNzAqNScrLSkBCQoKDgwOGg8PGi0jHyQsKjU1LSotLCksMCwtLC4vKSwqLDAvKjUqLDQsLS0sLCw0LyksLCw1LCwsLCwpKSwpLP/AABEIAOwA1gMBIgACEQEDEQH/xAAcAAEAAwEBAQEBAAAAAAAAAAAABQYHBAEDAgj/xABMEAABAwIDAwQMCwcDAwUAAAABAAIDBBEFEiEGBzETIkF0FBUXMjNRVGGSk7TTFiM0NVNxgZGUs9EkNkJVdbLCQ3OxJVJiRGVyguL/xAAaAQEAAwEBAQAAAAAAAAAAAAAAAQIEAwUG/8QAOhEAAgECBAIHBAkDBQAAAAAAAAECAxEEEiExQVEFE1JxgZHRFGGxwSIyMzRTcqGy8DVz4SOCktLx/9oADAMBAAIRAxEAPwDcUREAVZpqB1VUVmeeqaIqlkbGxTOjY1nYlNIRYf8AlK8386syhcB8PiHXWewUaAfBdvlNd+KenwXb5TXfinqaRAQvwXb5TXfinp8F2+U134p6mkQEL8F2+U134p6fBdvlNd+KeppEBC/BdvlNf+Kev5/2m2+xKmrKqFlbUhkNVNGwFwJEbJXNZckXPNDdelf00v5836bISU9Waxt3Q1JAcbE8nM1rW5XG1gC1oy6/wu81/S6N6p1stVJprjzKTvbQq3dNxXy6o+9v6J3TcV8uqPvb+iq6L6j2LD9heSOOZ8y0d03FfLqj72/opnYzbjEayvpoJa2qdHLM1rw14BynjqBcfWs+Wz7hdi7l1fK12mZlLrYHvmSvsDr0sF9O+4m1sOPo4ajQbyK70Wi3LRbbNT+C7fKa78U9Pgu3ymu/FPU0i+TO5C/BdvlNd+KenwXb5TXfinqaRAQvwXb5TXfinp8F2+U134p6mkQEL8F2+U134p64cXwo0rY5I6msLhV0jbPqHPYWSVcMb2lp0ILXuH2q0KG2r8CzrtD7dToCYC9XgXqAIiIAi567EIqdhfNIyJgIBc9wa27jYC585AXQptxB+XSAcSB9ZUNs+4Gevtr+2s4dRo1lG+yJpxGO7Wn9hj4tB/1qjxqz7hRahqLAAdsZuAsPBQriql5uHI3VMG4YaGIvpJtW7r+hpaIi6mEIiIAiIgC4sZweKtgkgmaXRStyuAJBtxBBHA3AP2LtRSnbVA/nXafcXXUz70tqyIu5uUtZM0Wvz2uIHmu0/YL2EH3J8W8il9OL3i/qZF6kelsTFWun3opkRguxu4eeVzZMQIgiBuYWnNM8DoLmnLGPqJOnRoRutJSshY2ONrWRsaGsa0Wa1oFgABwFl9UWKviamIlmqMsklsERFnJCIiAIiIAoXax1oGX0/baH26nU0qDvqaDhzbgEdlRcRccHqJOybOlKn1lSMObS82XxkgPAg/Ubr9LG9xcYbU1Vg0fs8XAAf6j/ABLV8WxiGjj5Sd+RlwBZrnOc48GtawFzjx0AOgJ6FFJuok0tzri8O8NWlSbvbj4Hai48KxaKrjEkDw9hJF7FpDhoWua4BzXDxEAortNOzMxVN7eHMfQPlcCXwuh5O55jXPqoGl+Xhny3aHcQHOHSVdgvnU0zJWlsjGvYbXa9oc02IIuDpxAP2L6rpKpemocm/wBbehFtTD99XzizqUf51QrNuH+Q1P8AUZvy4VWd9XzizqUf51QrNuG+Q1P9Rm/LhWCH28vD5Hv4n+l0PzP4yNKREWo8EIiIAiIgCr+0W3dHhsjY6l72vezO0CNzhluW8QPG0qwKubwMbdRUM0kZIlcBHERqRJIcoIseIuSPOOBVZOyudqEVOootXv77fJnTs5tdTYkHmme5wjLQ/MxzLF17d8Ne9K++GbRwVU08MLy6SmcGzc0gNcS4WBIsdWOBt4lTMYqBs/hkcLHNbU1L8r5n5nME7w3lp3kEuNm8LA8Bp0KP3WV1HDX1kNPMXslZT8gXB+aUxxOdM65aLc4uOtuOi553dJmx4WLhOpC9lt4NJt/z4Gi1WPwRVENM5/x84cY2gEmzAXEut3os11r8bG3BSKzmv2eho8aw50YcX1ElbJM97i573cjoPMBmIAC0ZXi273MtanGCi4vdX/Vr5BERXM4REQBERAFQt9Pze3rUX/D1fVQt9Pze3rUX/D1Sp9R9zNOD+8U/zR+KKzuO+U1XV4vzHq77w3ZGUshe6BkdWHPqGtzGmaYZW8pYgt1Lms5wI+M8diKRuO+U1XV4vzHrY0wkskYs1dMffKnevgio7twTBUPuZGyV0z2TuGV1UwhgE5FgBwLeaALRg21JPqtqLtUnnk5HloIiKhJAY9sLRYhIJamJz5GsDARNNHzA5zgLRvaDq933rn2IweGiNbDA3JEyuBa0uc8gvo6V7uc8lx5znHU9Ks6hcB8PiHXWewUaiy3LOcmsrenImkRFJUIiIAiIgCjcZwGOs5DlC8dj1DJ48pA+MjvlvobjXgpJFDVy0ZOLuj5zUzJLZ2tfbhmaDb71G4dsxBT1E9RG20lRyeYWbkbybS0ZABzbg666qWRLIKckmk9yNrsAjnqaeocX8pS8pydiA341uV2YW104ahSSIlg5N2T4BERSVCIiAIiIAq5t7hkdTSsZK0uaayjFg5zTZ9XFE7VpBHMkeOPSrGobavwLOu0Pt1OhKbTuj87PbG0mHOe6miMbpGhryZZZLtBJA+Me62pPBTa8C9RKxMpOTvJ3YREQqEREAULgPh8Q66z2CjVe243mHCqhsIphNmgbKXGfk7ZnyMy25J1/B3vfpXRuy2g7Yx1lQY+SL68jJnz25Olpo++ytvfJfgOKqpJvLxO0qFSNNVWvovZlzREVjiEREARUDaTe/T4fXGlkhlc1mXlZGlvNL2Ne3Kzi4WeL6g8bA9NqwPamlr2g008cl25i0OHKtHDnMPObqRxC2VcDiKVONWcHlaunwt8iqkm7EqiIsZYIiIAiIgIfa7CX1dHNHG8xylmaNwJaRI05m6t1ANrHzHpVaO3g7Sdk5/2nk+Qtbn9m2y5cua9/4+N8utuhX1Z4Ngp+2V/i+1nZHZmTP/6nk8tslreE53C2Xpvouc073Rtw8qbjlqcHfv5rx0LXslhL6SkhikeZJQy8jiS4mR3OdqdSATYeYdCmFTMWpCcSa6eOskaDT9hOgLuTieHP7IMhaQ1rSOSzZ9XNFhfgvzhtI4YnI6eOsdOZpeQlaXdiNoORbkZIb5LZ89m2zZrE+NE7aFZU895t62v/ADXz5ci6oiLoZAobavwLOu0Pt1OplVPeZjJo6NsgZyhFXTGxdkHxc7J+OU8eRtw/i8yhuyuy0YuclGO7LWF6qXsFvDOLSSsNOIOSja+4m5XNmc5tvBst3vnV0RNSV0WqU5UpOE1ZoIiKTmV3aWuxBjrUcVMI2QulklqXHIXC9oWNY4ODrC5eeaAenVSuCYl2XTQz5SzloWSZSbludodlJ+1QO2GEV1XJG2FtHJSNGaWKolmZy0occrX8nG7NELNOW9nHiCBY2Wi5Tk2cqGCTIM4jJMYfbUNLgCW34XAXeeXq47X93zI4mK76vnFnUo/zqhebrdsZaGmnjjw+uqwa2V+enjLowSyMZCbd9zQf/sF7vq+cWdSj/OqFZdw4/Yaj+ozflwrFQlGOIk5K+ndyPfxX9LofmfxkdvdOqP5Li3qT+id06o/kuLepP6K+5V45q9DraX4f6s+fs+ZCbI7Wx4nG9zY5YZIpXRTRSttJHI3+E/Z93BTqoW7Dw+Mf1if/AJKvqpiIKFRxjt/glbGW4fRRz7S4jHKxkkbqFgc17Q5pGWi4grox7crC53K4fLJRTg3FnOMWpN7Ec9hs62htYWt0rzAv3pxDqTP7KNaWvaxeNr4WdN0pNf6dPTg/ordbM5xipJ35syOn2/xPBXiPFqd00N+bPHa+Xh3w5r+A0dldrrxAWgbPbaUeIgdjzxueW3MZOWdtrXuw66XAuLjxEqYqKdsjS17WvY4Wc1wBaR4iDoVQNody1JOS+kc6imzXBYS6K5JJ5hPN4/wkAW4Lj12Bxf2seqlzirx8Y8PAm0o7amhosgj2uxjAiG4jCaymB8O03Ib3o+MtrrbSQBxvx1Cvmzu8ChxHKIJ28o4X5KTmTA2FxY8Tr/CSPFdZsR0ZXox6xfTh2o6rx5eJKmnod+0+0DMNpZamVrnMiaCQy2YlzmsaBf8A8nDVVRu9GcgEYNixBFwRCbEHgeC698XzNV//ABi9oiVowkfEQ/7Mf9gXCCpxpKco3bbW7WyXqTrcpvdOqP5Li3qT+id06o/kuLepP6K+5UyqOtpfh/qxZ8yhd06o/kuLepP6J3Tqj+S4t6k/or7lTKnW0vw/1Ys+ZQu6dUfyXFvUn9E7p1R/JcW9Sf0V9yplTraX4f6sWfMoXdOqP5Li3qT+iq+8TbSWtpWxvw6vpG8ux3KVEZbHcB3NvbibrZcqoW+gf9Pb1qL/AIeuVWpSdOVocHxfI1YNP2in+aPxRWtx3ymq6vF+Y9ajjmNCjY15hqp8z8uWmhMzxoTctHBulr+MhZduO+U1XV4vzHrS9r6+SnoamSFsjpmwP5IRs5R/KuGVhDbG9nOaTodAdDwWfBq8Yr+bmvpj75U718EfTZ7aBlfG6RkdREGyvjIniMT8zLB1gTwBJb9bSOheL67P4WKSmhhAaOSia05SSC8DnEE6m7rm58aLtPLmeXY8xEgiIqAyberslWVlaySnp5JoxSMYXNdGAHiWZxHOeDwe371M7mcLlpKWqinYYpW4hIXNcWkgPgp3tvlJHeuB49K0BQuA+HxDrrPYKNUVNKTlxZqni6k6EaDtljtz1v6k0hRFcylGn3URmaeWOvxOnNRO+aRsFQ2OPO9xcdAzz21ubLzuV/8Au2N/jP8A8q9ItPtVXn8CuVGS7DYV2HtFWw8tPPkoh8ZUP5SZ2bsR3OdYXtmsPMAtaWaYF+9OIdSZ/ZRrS1t6Vd502/w4ftIhx72EVRpN20MVQ2cVWIOc2XlMjqgGInNmyluTVvmurcsFaFOLXVyzeFvUsr8T8vYHAggEEWIIuCPEVRNpNzVBVgmFppJSbh0QvHcknWMm1tf4cvDxK+orYfF1sNLNRk4v3fNcQ4p7mCbZwY3RUU1NVftdJIGXn50hZaRrhd+jm6sA54I53G60rY7ePQVkcUTZhHMI2t5OXmOLmtaCGk812p0ANzY6aK4EXVM2l3TUFcCWximluTykADbk3vnZ3rhc36DpxXqe2YXFxy4mOR9qCVr83H42ZzyyjsXRFj+fHNnuP/UqIfW5zb+fWRnAf9zdfGdLZs3vaw+us0ydjyn+CfmgnTvX947V1hqDpwWet0XVhHrKVqkOcdfNbosprZ6F0REXlFwiIgCpO92hknoGtiYXu7LgFm2vd7uTbxIHfyMH2q7KG2r8CzrtD7dTqGrqxenN05qa3TT8ik7pNl6uinqHVMD4Wvhja0vLDmcHuJAyOPQQtPXgXqiEVFZUdMRXlXqOrPdhERWOAREQBQuA+HxDrrPYKNTShcB8PiHXWewUaAmkREAREQGaYF+9OIdSZ/ZRrS1mmBfvTiHUmf2Ua0ter0p9al/bp/tKQ497CIi8ouEREAREQBVTaXdlQYgCXwtilJJ5WACOQuPEusLP115wJ86taLtRr1KEs9KTT9xDSe5j/anG9n/kz+2FG3gwtc5zb8bR3L2ag94SNb9JVj2c3y0FWGtlcaSU6Fsvg76cJBpbXi7LwPBWvG9oqagZnqZmRN6Mxu53ma0Xc7p4A8FjW1W0MWPO5PD8KMsxefj3NyvF7NzExkAauabyOIGlwvo8NFdJrNiKVudSNo/8r6P321OL+hs/A3ZrgRcag8LcLL1ZVstudmZBarrq2FwJyx0dSWRMabmxuw3NyTppr9qlt2k0sdTiVI6eaeKkqI2wmd+eUB7Xl132F9WjTgPtXiV8LTg59XUzKPutdXsdU3xRf1DbV+BZ12h9up1MqG2r8CzrtD7dTrCWJgL1eBeoAiIgCKq7eSVMURmgmqW8mw8nFTU4ldJUWJYZyQ48hzQCGtHEnMdALDhlTysMTw5r88THZmG7HXaDmaR0Lo4WipcyLmY709sa2irWR01Q6GM0rHlrY4XXeZZmk3kjceDG9PQpjc3istXTVUs7zJK7EJA5xa1pIZBTsbowAd61o0HQqdvq+cWdSj/OqF990u3dDh1LPHVVDYpHV0rw0skddhZE0G7WkcWO+5ZaSqVK0oxTdlsteR7WIo049H0qiSzNu78WbSipvdfwjyxnq5vdp3X8I8sZ6ub3a3ey1uw/Jni5kXJFTe6/hHljPVze7Tuv4R5Yz1c3u09lrdh+TGZENgX704h1Jn9lGtLWT7FYxDW7R1s1O8SRPohlcA4A5RSNOjgDxaRw6FrC3dKpqdNP8OH7SsOPezixauMDGuABzTwR6+KWZkZP1gPJ+xdqrOP7MRuY0tbUOcaqnJtUVBs3siMvdYSWADcxvbS19LKaw/C46e+TlOda+eWSThe1uUcbcTwWKcaSppxbvd8O73ltbnYiIsxIRQG023NHhg/aJWh9riJnOmcCbXyjgNDqbDRUB28HFca5mFUpgizOBnfztAbWzuAYw2c0lozO8Rtdejh+ja9eOeyjHtSdl/nwuUc0tDRtoNraTDm5qmZkZ0s3vpXAmwLWDnEaHW1tFnk+9DEMUJjwmje0ZiOWkAdYaeP4tjuc02JdxUls9uYhY7lsRlfWzuJLg5zuS4AC5JzyHTiSB5tLrRYKdsbQxjWsY0ANa0BrWgcAANAFq6zA4T7OPWy5y0j4R3fiRaUt9DNMF3MCR/LYrUPrJj3zQ9+TzAvNnu08WX9dIo6GOBgZFGyNg4NY0NaPqA0X3RYMVjq+Kf8Aqyulstku5FoxUdgqBsD86Y31qD+yRX9ZDhm2lPhOKYt2S2f46pjLOTiLwQxrwb+mEw0JThUjFXdl+5B8DXlSd7mISQUDXRPLHdlwG4DSbsfyre+BHfxsPDoXN3bMO8VX+Hd+qq+8TeRSYlSthgFQH8ux/wAZEWNs0OvqTx1XGrha8YSk4vRM04XLOvCL1TlH4k1um2rq66aoZUzumayGNzA5kTcri9wPg2NvoBxWmrHNx3ymq6vF+Y9XPeTmfHSwiIzsqK1rJIs/JiVoikkaxz/4WZ42E8dAdDwOfCp1VFN7mnpSnGlipxgrJW08EXBFW9hJY+QkjjjfAaepkhkiMpmZFI0NcWRPOpjs9pGgtmIsF4us45ZNHno++PbNPqZBJDVTUsnJ8lJkayVkkNy7LklBa11yecBfWxvpaVw3D2U0McMYIjijbGwEkkMaA0XJ46BdKI5yaUXsDD99XzizqUf51Qp3cfhsMtFUGSKKQ9sJhd7GuNuTh0uRw1P3qY243ZuxWpbM2pbDlgbFldAZL5XyPzXErbeFta3Qujdls+cOjrKcyCUsryS8MyA8pS00ne5nWtntxPBZoRlGrKfM9Wviqc8DSoL60W7+b9Sy9oqbyen9Uz9E7RU3k9P6pn6LuRaM8uZ5Rw9oqbyen9Uz9E7RU3k9P6pn6LuRM8uYMw2bgbHtPXtY1rGiibYNAa0XbRk2A85K09ZpgX704h1Jn9lGtLXp9KfXpf26f7SkOPewiqO1W9Chw3M10nLTgH4qEhzg69rPdwYb9B183C9OOLY9jgAgjGH0sgzNku5jizi3n9+bgt1Y0A2vwUUOi61SPWTtCHalp5Ld+Ac0tEXnaneJRYYCJZM8oGkUXOlOttehnT3xHDpOio79q8bxuzKGn7Cgdry7iQSzo+McPE5veNJ00Nrqx7L7n6KhIfKOy5gb5pmjkwbW5seo8/OuR9gV6Asu/tGDwmlCHWS7U9vCPqRaUt9DPtmdzdLTO5Wrca2e97yeCBPTkJOc8dXE/VpdfrcuP2Oo/qNR/gtAKz/cv8jqP6jUf4LPVxdbE05yrSbd4+G+y4EqKi1Y0BEReYXCIiALyy9RAeWVC30fN7etRf8AD1flU95mDGso2xh4jJrKYXLM4+MnbBwzDhy1+P8ADbpuqzV4tHfDzUK0Jy2TT8mUjcd8pqurxfmPWrYvg8NZEYp2Z4yWutmc0hzSHNcHNIc0ggagqsbBbvHYTJK91Q2flY2ss2ExZcri6+sj7995ldFWgpU4rmjv0hWhXxM6kNn6I48KwmKkjEcDAxgJPEucXHUuc5xLnOPjJJRdiLq227swhERQAoXAfD4h11nsFGppQuA+HxDrrPYKNATSIiAIiIDFMY2uZhO0FfM6N8pdTRxxsbYZpHR0rhc9Asx3QfqXa5uPY8Be2HUbxcEXY5zbktvryrjYj/tabXstTlwmB8rZXQwumZ3shjaZG9GjiLhda96XS1OMYOnSWdRis0tdlbRbLnfU5ZHxehTdlN1VDh1nZOyJwb8pMAbG1uYzvWjj4zrx4K5Ii8iviauIlnqybfvOiSWwREXAkFZ/uX+R1H9RqP8ABaAVn+5f5HUf1Go/wWqn9hPvj8yr3RoCIiylgiIgCIiAKG2r8CzrtD7dTqZUNtX4FnXaH26nQEwF6vAvUAREQBFzYhiUVMzPPIyJlwMz3BrbuNgNem5XSps7XAULgPh8Q66z2GjVA35Tua+iDXPaCypJyuLbkOprXsdeJ+9Su5FxNFOSST2c7Ukk/J6fpK5Kos+Q2Swco4ZYm6s3a3Hj6GiIiLoYwiIgCIiAKubfS1EdFJLSvLJYLS9FnRs1ka4HQjLc28yn6mASMcwkgPaWktNnAEWuD0HVV/Z/YWGhe97ZaqbPGY3NnlEkeUkE83KNebb6iVWV3ojvRcYvNJ7cLXucu0W2XJ4WKmEjlahjGwC9/jpbCwJbY5ecdQAcnRdWHBaeSKniZM8yTCNvKuJuXSWu8/VmvbzLPcB2QnFaynmid2voJpp6ZxDcr3SFpiZe+YgEvdxPicp2TEScTLJaqaFzZmNp4Gi8dRA6DM97m5T/AKnKDlL2GS2hVIye7NNWlC2SD5yvvpwXlqy4qgbl/kdR/Uaj/Bd2zmImStkEtVN2RmqGvpCLxMhZKGwyAZfiyY8huTz891w7l/kdR/Uaj/BbqTvQn3x+Zhq03CSTNAREWYqEREAREQBQ21fgWddofbqdTKqO9Y2wqotcG8HDQj9piUN2Vy0I5pKK4ltC9WIbmqh5xEgveR2HMbOe4i4lp7GxPnP3rZMTxWGkj5SokZDGCAXPdlbc8BcqtKXWJOK3NGLw0sLVdKTu1bb3q51oubDsSiqoxLBIyWJ18r2HM02JBsR5wR9iLo01ozKZnvdmqHiTPTTdiwcgYZGOZyT53zRZnyXeCLNzRtGU6yEk8LafRzGSNrnMdGXNBLH2zsJ1yuyki48xK/U9O2Rpa9rXtNrhwDmmxBGh84B+xfRdp1lKnGFrWv8AL0IS1Mj36+Eof9uq/upVHbt6zFo6eYUFPSSw9kkudPI5rxLyMNwAHDSwZ96kd+vhKH/bqv7qVS+4/wCRT9ef7PTrFSnkxDdk9OPge9V/pMPz/wDY+vbTaPyPDfXP94nbTaPyPDfXP94tAReh7QuxHyfqeBYz/tptH5Hhvrn+8TtptH5Hhvrn+8WgIntC7EfJ+osZ/wBtNo/I8N9c/wB4nbTaPyPDfXP94tARPaF2I+T9RYz/ALabR+R4b65/vE7abR+R4b65/vFoCJ7QuxHyfqLGf9tNo/IsN9c/3i87Z7ReRYb653vFoKJ7QuxHyfqTb3mfdstovIsN9c73ikd2Gz1RQUkjKprGyvqpZbMdmbleGdP1gq4IoniHKDgopX5f+iwREWYkIiIAiIgCqO9f5qqfrh9piVuVR3r/ADVU/XD7TEqy+qztQ+1j3r4md7mPnI9Sn/Np1pe3cUbmUxlqTSMbVhxkyMdGHCKTJnMnMjs6zmucCA5rbC9lmm5j5yPUp/zadbdUU7ZGlr2te08WuAc0jzg6FUwUssYvvPR6c++z/wBv7UV/YXFJKiGbO8TMiq5IoJwG/tEDQwtkuwBjuc57btAHM8d14rFDC1jQ1jWta0WaGgBoHiAGgCLRUkpSbSseQj9oiKgK9tXsPT4qYjO6ZphDwzk3hukmQuvdpv4Jq5tgsEjoezIIi8sjrRlLyC/nUdK83IA6XHoVqULgPh8Q66z2CjUWV7l+sm45Lu3K+nkTSIikoEREAREQBERAEREAREQBERAEREAREQBV7buibUUZifcNlqaSN2U2cGvrIGmx6DYqwqG2r8CzrtD7dToSm1qiO2Y3c0uGzGaF07nmJ0fxj2uaGucxx0DRreNqtS8C9UJJaItOcpvNNtvm9QiIpKBERAFC4D4fEOus9go1NLGtqt5VVheI1sMEdO5jpopCZWyF2Y0dO0jmvaLWYOhAbKiwju61/wBDRehN71O7rX/Q0XoTe9QG7osI7utf9DRehN71O7rX/Q0XoTe9QG7osI7utf8AQ0XoTe9Tu61/0NF6E3vUBu6LCO7rX/Q0XoTe9Tu61/0NF6E3vUBu6LCO7rX/AENF6E3vU7utf9DRehN71Abuiwju61/0NF6E3vU7utf9DRehN71Abuiwju61/wBDRehN71O7rX/Q0XoTe9QG7osI7utf9DRehN71O7rX/Q0XoTe9QG7osI7utf8AQ0XoTe9Tu61/0NF6E3vUBu6htq/As67Q+3U6yHu61/0NF6E3vV9KTezV189LTyx0rWSV1GHFjZA8Wq4nC15COLR0IDcgvV4F6gCIiA//2Q=="/>
          <p:cNvSpPr>
            <a:spLocks noChangeAspect="1" noChangeArrowheads="1"/>
          </p:cNvSpPr>
          <p:nvPr/>
        </p:nvSpPr>
        <p:spPr bwMode="auto">
          <a:xfrm>
            <a:off x="117475" y="-1087438"/>
            <a:ext cx="2038350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3" name="AutoShape 6" descr="data:image/jpg;base64,/9j/4AAQSkZJRgABAQAAAQABAAD/2wCEAAkGBhIOERMUERIQERESEBUVEhYSEhYUEBMQFRQXFRUUFRgYGyYfFxkvGRISIS8hJCcrLCwsFioyNzAqNScrLSkBCQoKDgwOGg8PGi0jHyQsKjU1LSotLCksMCwtLC4vKSwqLDAvKjUqLDQsLS0sLCw0LyksLCw1LCwsLCwpKSwpLP/AABEIAOwA1gMBIgACEQEDEQH/xAAcAAEAAwEBAQEBAAAAAAAAAAAABQYHBAEDAgj/xABMEAABAwIDAwQMCwcDAwUAAAABAAIDBBEFEiEGBzETIkF0FBUXMjNRVGGSk7TTFiM0NVNxgZGUs9EkNkJVdbLCQ3OxJVJiRGVyguL/xAAaAQEAAwEBAQAAAAAAAAAAAAAAAQIEAwUG/8QAOhEAAgECBAIHBAkDBQAAAAAAAAECAxEEEiExQVEFE1JxgZHRFGGxwSIyMzRTcqGy8DVz4SOCktLx/9oADAMBAAIRAxEAPwDcUREAVZpqB1VUVmeeqaIqlkbGxTOjY1nYlNIRYf8AlK8386syhcB8PiHXWewUaAfBdvlNd+KenwXb5TXfinqaRAQvwXb5TXfinp8F2+U134p6mkQEL8F2+U134p6fBdvlNd+KeppEBC/BdvlNf+Kev5/2m2+xKmrKqFlbUhkNVNGwFwJEbJXNZckXPNDdelf00v5836bISU9Waxt3Q1JAcbE8nM1rW5XG1gC1oy6/wu81/S6N6p1stVJprjzKTvbQq3dNxXy6o+9v6J3TcV8uqPvb+iq6L6j2LD9heSOOZ8y0d03FfLqj72/opnYzbjEayvpoJa2qdHLM1rw14BynjqBcfWs+Wz7hdi7l1fK12mZlLrYHvmSvsDr0sF9O+4m1sOPo4ajQbyK70Wi3LRbbNT+C7fKa78U9Pgu3ymu/FPU0i+TO5C/BdvlNd+KenwXb5TXfinqaRAQvwXb5TXfinp8F2+U134p6mkQEL8F2+U134p64cXwo0rY5I6msLhV0jbPqHPYWSVcMb2lp0ILXuH2q0KG2r8CzrtD7dToCYC9XgXqAIiIAi567EIqdhfNIyJgIBc9wa27jYC585AXQptxB+XSAcSB9ZUNs+4Gevtr+2s4dRo1lG+yJpxGO7Wn9hj4tB/1qjxqz7hRahqLAAdsZuAsPBQriql5uHI3VMG4YaGIvpJtW7r+hpaIi6mEIiIAiIgC4sZweKtgkgmaXRStyuAJBtxBBHA3AP2LtRSnbVA/nXafcXXUz70tqyIu5uUtZM0Wvz2uIHmu0/YL2EH3J8W8il9OL3i/qZF6kelsTFWun3opkRguxu4eeVzZMQIgiBuYWnNM8DoLmnLGPqJOnRoRutJSshY2ONrWRsaGsa0Wa1oFgABwFl9UWKviamIlmqMsklsERFnJCIiAIiIAoXax1oGX0/baH26nU0qDvqaDhzbgEdlRcRccHqJOybOlKn1lSMObS82XxkgPAg/Ubr9LG9xcYbU1Vg0fs8XAAf6j/ABLV8WxiGjj5Sd+RlwBZrnOc48GtawFzjx0AOgJ6FFJuok0tzri8O8NWlSbvbj4Hai48KxaKrjEkDw9hJF7FpDhoWua4BzXDxEAortNOzMxVN7eHMfQPlcCXwuh5O55jXPqoGl+Xhny3aHcQHOHSVdgvnU0zJWlsjGvYbXa9oc02IIuDpxAP2L6rpKpemocm/wBbehFtTD99XzizqUf51QrNuH+Q1P8AUZvy4VWd9XzizqUf51QrNuG+Q1P9Rm/LhWCH28vD5Hv4n+l0PzP4yNKREWo8EIiIAiIgCr+0W3dHhsjY6l72vezO0CNzhluW8QPG0qwKubwMbdRUM0kZIlcBHERqRJIcoIseIuSPOOBVZOyudqEVOootXv77fJnTs5tdTYkHmme5wjLQ/MxzLF17d8Ne9K++GbRwVU08MLy6SmcGzc0gNcS4WBIsdWOBt4lTMYqBs/hkcLHNbU1L8r5n5nME7w3lp3kEuNm8LA8Bp0KP3WV1HDX1kNPMXslZT8gXB+aUxxOdM65aLc4uOtuOi553dJmx4WLhOpC9lt4NJt/z4Gi1WPwRVENM5/x84cY2gEmzAXEut3os11r8bG3BSKzmv2eho8aw50YcX1ElbJM97i573cjoPMBmIAC0ZXi273MtanGCi4vdX/Vr5BERXM4REQBERAFQt9Pze3rUX/D1fVQt9Pze3rUX/D1Sp9R9zNOD+8U/zR+KKzuO+U1XV4vzHq77w3ZGUshe6BkdWHPqGtzGmaYZW8pYgt1Lms5wI+M8diKRuO+U1XV4vzHrY0wkskYs1dMffKnevgio7twTBUPuZGyV0z2TuGV1UwhgE5FgBwLeaALRg21JPqtqLtUnnk5HloIiKhJAY9sLRYhIJamJz5GsDARNNHzA5zgLRvaDq933rn2IweGiNbDA3JEyuBa0uc8gvo6V7uc8lx5znHU9Ks6hcB8PiHXWewUaiy3LOcmsrenImkRFJUIiIAiIgCjcZwGOs5DlC8dj1DJ48pA+MjvlvobjXgpJFDVy0ZOLuj5zUzJLZ2tfbhmaDb71G4dsxBT1E9RG20lRyeYWbkbybS0ZABzbg666qWRLIKckmk9yNrsAjnqaeocX8pS8pydiA341uV2YW104ahSSIlg5N2T4BERSVCIiAIiIAq5t7hkdTSsZK0uaayjFg5zTZ9XFE7VpBHMkeOPSrGobavwLOu0Pt1OhKbTuj87PbG0mHOe6miMbpGhryZZZLtBJA+Me62pPBTa8C9RKxMpOTvJ3YREQqEREAULgPh8Q66z2CjVe243mHCqhsIphNmgbKXGfk7ZnyMy25J1/B3vfpXRuy2g7Yx1lQY+SL68jJnz25Olpo++ytvfJfgOKqpJvLxO0qFSNNVWvovZlzREVjiEREARUDaTe/T4fXGlkhlc1mXlZGlvNL2Ne3Kzi4WeL6g8bA9NqwPamlr2g008cl25i0OHKtHDnMPObqRxC2VcDiKVONWcHlaunwt8iqkm7EqiIsZYIiIAiIgIfa7CX1dHNHG8xylmaNwJaRI05m6t1ANrHzHpVaO3g7Sdk5/2nk+Qtbn9m2y5cua9/4+N8utuhX1Z4Ngp+2V/i+1nZHZmTP/6nk8tslreE53C2Xpvouc073Rtw8qbjlqcHfv5rx0LXslhL6SkhikeZJQy8jiS4mR3OdqdSATYeYdCmFTMWpCcSa6eOskaDT9hOgLuTieHP7IMhaQ1rSOSzZ9XNFhfgvzhtI4YnI6eOsdOZpeQlaXdiNoORbkZIb5LZ89m2zZrE+NE7aFZU895t62v/ADXz5ci6oiLoZAobavwLOu0Pt1OplVPeZjJo6NsgZyhFXTGxdkHxc7J+OU8eRtw/i8yhuyuy0YuclGO7LWF6qXsFvDOLSSsNOIOSja+4m5XNmc5tvBst3vnV0RNSV0WqU5UpOE1ZoIiKTmV3aWuxBjrUcVMI2QulklqXHIXC9oWNY4ODrC5eeaAenVSuCYl2XTQz5SzloWSZSbludodlJ+1QO2GEV1XJG2FtHJSNGaWKolmZy0occrX8nG7NELNOW9nHiCBY2Wi5Tk2cqGCTIM4jJMYfbUNLgCW34XAXeeXq47X93zI4mK76vnFnUo/zqhebrdsZaGmnjjw+uqwa2V+enjLowSyMZCbd9zQf/sF7vq+cWdSj/OqFZdw4/Yaj+ozflwrFQlGOIk5K+ndyPfxX9LofmfxkdvdOqP5Li3qT+id06o/kuLepP6K+5V45q9DraX4f6s+fs+ZCbI7Wx4nG9zY5YZIpXRTRSttJHI3+E/Z93BTqoW7Dw+Mf1if/AJKvqpiIKFRxjt/glbGW4fRRz7S4jHKxkkbqFgc17Q5pGWi4grox7crC53K4fLJRTg3FnOMWpN7Ec9hs62htYWt0rzAv3pxDqTP7KNaWvaxeNr4WdN0pNf6dPTg/ordbM5xipJ35syOn2/xPBXiPFqd00N+bPHa+Xh3w5r+A0dldrrxAWgbPbaUeIgdjzxueW3MZOWdtrXuw66XAuLjxEqYqKdsjS17WvY4Wc1wBaR4iDoVQNody1JOS+kc6imzXBYS6K5JJ5hPN4/wkAW4Lj12Bxf2seqlzirx8Y8PAm0o7amhosgj2uxjAiG4jCaymB8O03Ib3o+MtrrbSQBxvx1Cvmzu8ChxHKIJ28o4X5KTmTA2FxY8Tr/CSPFdZsR0ZXox6xfTh2o6rx5eJKmnod+0+0DMNpZamVrnMiaCQy2YlzmsaBf8A8nDVVRu9GcgEYNixBFwRCbEHgeC698XzNV//ABi9oiVowkfEQ/7Mf9gXCCpxpKco3bbW7WyXqTrcpvdOqP5Li3qT+id06o/kuLepP6K+5UyqOtpfh/qxZ8yhd06o/kuLepP6J3Tqj+S4t6k/or7lTKnW0vw/1Ys+ZQu6dUfyXFvUn9E7p1R/JcW9Sf0V9yplTraX4f6sWfMoXdOqP5Li3qT+iq+8TbSWtpWxvw6vpG8ux3KVEZbHcB3NvbibrZcqoW+gf9Pb1qL/AIeuVWpSdOVocHxfI1YNP2in+aPxRWtx3ymq6vF+Y9ajjmNCjY15hqp8z8uWmhMzxoTctHBulr+MhZduO+U1XV4vzHrS9r6+SnoamSFsjpmwP5IRs5R/KuGVhDbG9nOaTodAdDwWfBq8Yr+bmvpj75U718EfTZ7aBlfG6RkdREGyvjIniMT8zLB1gTwBJb9bSOheL67P4WKSmhhAaOSia05SSC8DnEE6m7rm58aLtPLmeXY8xEgiIqAyberslWVlaySnp5JoxSMYXNdGAHiWZxHOeDwe371M7mcLlpKWqinYYpW4hIXNcWkgPgp3tvlJHeuB49K0BQuA+HxDrrPYKNUVNKTlxZqni6k6EaDtljtz1v6k0hRFcylGn3URmaeWOvxOnNRO+aRsFQ2OPO9xcdAzz21ubLzuV/8Au2N/jP8A8q9ItPtVXn8CuVGS7DYV2HtFWw8tPPkoh8ZUP5SZ2bsR3OdYXtmsPMAtaWaYF+9OIdSZ/ZRrS1t6Vd502/w4ftIhx72EVRpN20MVQ2cVWIOc2XlMjqgGInNmyluTVvmurcsFaFOLXVyzeFvUsr8T8vYHAggEEWIIuCPEVRNpNzVBVgmFppJSbh0QvHcknWMm1tf4cvDxK+orYfF1sNLNRk4v3fNcQ4p7mCbZwY3RUU1NVftdJIGXn50hZaRrhd+jm6sA54I53G60rY7ePQVkcUTZhHMI2t5OXmOLmtaCGk812p0ANzY6aK4EXVM2l3TUFcCWximluTykADbk3vnZ3rhc36DpxXqe2YXFxy4mOR9qCVr83H42ZzyyjsXRFj+fHNnuP/UqIfW5zb+fWRnAf9zdfGdLZs3vaw+us0ydjyn+CfmgnTvX947V1hqDpwWet0XVhHrKVqkOcdfNbosprZ6F0REXlFwiIgCpO92hknoGtiYXu7LgFm2vd7uTbxIHfyMH2q7KG2r8CzrtD7dTqGrqxenN05qa3TT8ik7pNl6uinqHVMD4Wvhja0vLDmcHuJAyOPQQtPXgXqiEVFZUdMRXlXqOrPdhERWOAREQBQuA+HxDrrPYKNTShcB8PiHXWewUaAmkREAREQGaYF+9OIdSZ/ZRrS1mmBfvTiHUmf2Ua0ter0p9al/bp/tKQ497CIi8ouEREAREQBVTaXdlQYgCXwtilJJ5WACOQuPEusLP115wJ86taLtRr1KEs9KTT9xDSe5j/anG9n/kz+2FG3gwtc5zb8bR3L2ag94SNb9JVj2c3y0FWGtlcaSU6Fsvg76cJBpbXi7LwPBWvG9oqagZnqZmRN6Mxu53ma0Xc7p4A8FjW1W0MWPO5PD8KMsxefj3NyvF7NzExkAauabyOIGlwvo8NFdJrNiKVudSNo/8r6P321OL+hs/A3ZrgRcag8LcLL1ZVstudmZBarrq2FwJyx0dSWRMabmxuw3NyTppr9qlt2k0sdTiVI6eaeKkqI2wmd+eUB7Xl132F9WjTgPtXiV8LTg59XUzKPutdXsdU3xRf1DbV+BZ12h9up1MqG2r8CzrtD7dTrCWJgL1eBeoAiIgCKq7eSVMURmgmqW8mw8nFTU4ldJUWJYZyQ48hzQCGtHEnMdALDhlTysMTw5r88THZmG7HXaDmaR0Lo4WipcyLmY709sa2irWR01Q6GM0rHlrY4XXeZZmk3kjceDG9PQpjc3istXTVUs7zJK7EJA5xa1pIZBTsbowAd61o0HQqdvq+cWdSj/OqF990u3dDh1LPHVVDYpHV0rw0skddhZE0G7WkcWO+5ZaSqVK0oxTdlsteR7WIo049H0qiSzNu78WbSipvdfwjyxnq5vdp3X8I8sZ6ub3a3ey1uw/Jni5kXJFTe6/hHljPVze7Tuv4R5Yz1c3u09lrdh+TGZENgX704h1Jn9lGtLWT7FYxDW7R1s1O8SRPohlcA4A5RSNOjgDxaRw6FrC3dKpqdNP8OH7SsOPezixauMDGuABzTwR6+KWZkZP1gPJ+xdqrOP7MRuY0tbUOcaqnJtUVBs3siMvdYSWADcxvbS19LKaw/C46e+TlOda+eWSThe1uUcbcTwWKcaSppxbvd8O73ltbnYiIsxIRQG023NHhg/aJWh9riJnOmcCbXyjgNDqbDRUB28HFca5mFUpgizOBnfztAbWzuAYw2c0lozO8Rtdejh+ja9eOeyjHtSdl/nwuUc0tDRtoNraTDm5qmZkZ0s3vpXAmwLWDnEaHW1tFnk+9DEMUJjwmje0ZiOWkAdYaeP4tjuc02JdxUls9uYhY7lsRlfWzuJLg5zuS4AC5JzyHTiSB5tLrRYKdsbQxjWsY0ANa0BrWgcAANAFq6zA4T7OPWy5y0j4R3fiRaUt9DNMF3MCR/LYrUPrJj3zQ9+TzAvNnu08WX9dIo6GOBgZFGyNg4NY0NaPqA0X3RYMVjq+Kf8Aqyulstku5FoxUdgqBsD86Y31qD+yRX9ZDhm2lPhOKYt2S2f46pjLOTiLwQxrwb+mEw0JThUjFXdl+5B8DXlSd7mISQUDXRPLHdlwG4DSbsfyre+BHfxsPDoXN3bMO8VX+Hd+qq+8TeRSYlSthgFQH8ux/wAZEWNs0OvqTx1XGrha8YSk4vRM04XLOvCL1TlH4k1um2rq66aoZUzumayGNzA5kTcri9wPg2NvoBxWmrHNx3ymq6vF+Y9XPeTmfHSwiIzsqK1rJIs/JiVoikkaxz/4WZ42E8dAdDwOfCp1VFN7mnpSnGlipxgrJW08EXBFW9hJY+QkjjjfAaepkhkiMpmZFI0NcWRPOpjs9pGgtmIsF4us45ZNHno++PbNPqZBJDVTUsnJ8lJkayVkkNy7LklBa11yecBfWxvpaVw3D2U0McMYIjijbGwEkkMaA0XJ46BdKI5yaUXsDD99XzizqUf51Qp3cfhsMtFUGSKKQ9sJhd7GuNuTh0uRw1P3qY243ZuxWpbM2pbDlgbFldAZL5XyPzXErbeFta3Qujdls+cOjrKcyCUsryS8MyA8pS00ne5nWtntxPBZoRlGrKfM9Wviqc8DSoL60W7+b9Sy9oqbyen9Uz9E7RU3k9P6pn6LuRaM8uZ5Rw9oqbyen9Uz9E7RU3k9P6pn6LuRM8uYMw2bgbHtPXtY1rGiibYNAa0XbRk2A85K09ZpgX704h1Jn9lGtLXp9KfXpf26f7SkOPewiqO1W9Chw3M10nLTgH4qEhzg69rPdwYb9B183C9OOLY9jgAgjGH0sgzNku5jizi3n9+bgt1Y0A2vwUUOi61SPWTtCHalp5Ld+Ac0tEXnaneJRYYCJZM8oGkUXOlOttehnT3xHDpOio79q8bxuzKGn7Cgdry7iQSzo+McPE5veNJ00Nrqx7L7n6KhIfKOy5gb5pmjkwbW5seo8/OuR9gV6Asu/tGDwmlCHWS7U9vCPqRaUt9DPtmdzdLTO5Wrca2e97yeCBPTkJOc8dXE/VpdfrcuP2Oo/qNR/gtAKz/cv8jqP6jUf4LPVxdbE05yrSbd4+G+y4EqKi1Y0BEReYXCIiALyy9RAeWVC30fN7etRf8AD1flU95mDGso2xh4jJrKYXLM4+MnbBwzDhy1+P8ADbpuqzV4tHfDzUK0Jy2TT8mUjcd8pqurxfmPWrYvg8NZEYp2Z4yWutmc0hzSHNcHNIc0ggagqsbBbvHYTJK91Q2flY2ss2ExZcri6+sj7995ldFWgpU4rmjv0hWhXxM6kNn6I48KwmKkjEcDAxgJPEucXHUuc5xLnOPjJJRdiLq227swhERQAoXAfD4h11nsFGppQuA+HxDrrPYKNATSIiAIiIDFMY2uZhO0FfM6N8pdTRxxsbYZpHR0rhc9Asx3QfqXa5uPY8Be2HUbxcEXY5zbktvryrjYj/tabXstTlwmB8rZXQwumZ3shjaZG9GjiLhda96XS1OMYOnSWdRis0tdlbRbLnfU5ZHxehTdlN1VDh1nZOyJwb8pMAbG1uYzvWjj4zrx4K5Ii8iviauIlnqybfvOiSWwREXAkFZ/uX+R1H9RqP8ABaAVn+5f5HUf1Go/wWqn9hPvj8yr3RoCIiylgiIgCIiAKG2r8CzrtD7dTqZUNtX4FnXaH26nQEwF6vAvUAREQBFzYhiUVMzPPIyJlwMz3BrbuNgNem5XSps7XAULgPh8Q66z2GjVA35Tua+iDXPaCypJyuLbkOprXsdeJ+9Su5FxNFOSST2c7Ukk/J6fpK5Kos+Q2Swco4ZYm6s3a3Hj6GiIiLoYwiIgCIiAKubfS1EdFJLSvLJYLS9FnRs1ka4HQjLc28yn6mASMcwkgPaWktNnAEWuD0HVV/Z/YWGhe97ZaqbPGY3NnlEkeUkE83KNebb6iVWV3ojvRcYvNJ7cLXucu0W2XJ4WKmEjlahjGwC9/jpbCwJbY5ecdQAcnRdWHBaeSKniZM8yTCNvKuJuXSWu8/VmvbzLPcB2QnFaynmid2voJpp6ZxDcr3SFpiZe+YgEvdxPicp2TEScTLJaqaFzZmNp4Gi8dRA6DM97m5T/AKnKDlL2GS2hVIye7NNWlC2SD5yvvpwXlqy4qgbl/kdR/Uaj/Bd2zmImStkEtVN2RmqGvpCLxMhZKGwyAZfiyY8huTz891w7l/kdR/Uaj/BbqTvQn3x+Zhq03CSTNAREWYqEREAREQBQ21fgWddofbqdTKqO9Y2wqotcG8HDQj9piUN2Vy0I5pKK4ltC9WIbmqh5xEgveR2HMbOe4i4lp7GxPnP3rZMTxWGkj5SokZDGCAXPdlbc8BcqtKXWJOK3NGLw0sLVdKTu1bb3q51oubDsSiqoxLBIyWJ18r2HM02JBsR5wR9iLo01ozKZnvdmqHiTPTTdiwcgYZGOZyT53zRZnyXeCLNzRtGU6yEk8LafRzGSNrnMdGXNBLH2zsJ1yuyki48xK/U9O2Rpa9rXtNrhwDmmxBGh84B+xfRdp1lKnGFrWv8AL0IS1Mj36+Eof9uq/upVHbt6zFo6eYUFPSSw9kkudPI5rxLyMNwAHDSwZ96kd+vhKH/bqv7qVS+4/wCRT9ef7PTrFSnkxDdk9OPge9V/pMPz/wDY+vbTaPyPDfXP94nbTaPyPDfXP94tAReh7QuxHyfqeBYz/tptH5Hhvrn+8TtptH5Hhvrn+8WgIntC7EfJ+osZ/wBtNo/I8N9c/wB4nbTaPyPDfXP94tARPaF2I+T9RYz/ALabR+R4b65/vE7abR+R4b65/vFoCJ7QuxHyfqLGf9tNo/IsN9c/3i87Z7ReRYb653vFoKJ7QuxHyfqTb3mfdstovIsN9c73ikd2Gz1RQUkjKprGyvqpZbMdmbleGdP1gq4IoniHKDgopX5f+iwREWYkIiIAiIgCqO9f5qqfrh9piVuVR3r/ADVU/XD7TEqy+qztQ+1j3r4md7mPnI9Sn/Np1pe3cUbmUxlqTSMbVhxkyMdGHCKTJnMnMjs6zmucCA5rbC9lmm5j5yPUp/zadbdUU7ZGlr2te08WuAc0jzg6FUwUssYvvPR6c++z/wBv7UV/YXFJKiGbO8TMiq5IoJwG/tEDQwtkuwBjuc57btAHM8d14rFDC1jQ1jWta0WaGgBoHiAGgCLRUkpSbSseQj9oiKgK9tXsPT4qYjO6ZphDwzk3hukmQuvdpv4Jq5tgsEjoezIIi8sjrRlLyC/nUdK83IA6XHoVqULgPh8Q66z2CjUWV7l+sm45Lu3K+nkTSIikoEREAREQBERAEREAREQBERAEREAREQBV7buibUUZifcNlqaSN2U2cGvrIGmx6DYqwqG2r8CzrtD7dToSm1qiO2Y3c0uGzGaF07nmJ0fxj2uaGucxx0DRreNqtS8C9UJJaItOcpvNNtvm9QiIpKBERAFC4D4fEOus9go1NLGtqt5VVheI1sMEdO5jpopCZWyF2Y0dO0jmvaLWYOhAbKiwju61/wBDRehN71O7rX/Q0XoTe9QG7osI7utf9DRehN71O7rX/Q0XoTe9QG7osI7utf8AQ0XoTe9Tu61/0NF6E3vUBu6LCO7rX/Q0XoTe9Tu61/0NF6E3vUBu6LCO7rX/AENF6E3vU7utf9DRehN71Abuiwju61/0NF6E3vU7utf9DRehN71Abuiwju61/wBDRehN71O7rX/Q0XoTe9QG7osI7utf9DRehN71O7rX/Q0XoTe9QG7osI7utf8AQ0XoTe9Tu61/0NF6E3vUBu6htq/As67Q+3U6yHu61/0NF6E3vV9KTezV189LTyx0rWSV1GHFjZA8Wq4nC15COLR0IDcgvV4F6gCIiA//2Q=="/>
          <p:cNvSpPr>
            <a:spLocks noChangeAspect="1" noChangeArrowheads="1"/>
          </p:cNvSpPr>
          <p:nvPr/>
        </p:nvSpPr>
        <p:spPr bwMode="auto">
          <a:xfrm>
            <a:off x="269875" y="-935038"/>
            <a:ext cx="2038350" cy="224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sp>
        <p:nvSpPr>
          <p:cNvPr id="4" name="AutoShape 8" descr="data:image/jpg;base64,/9j/4AAQSkZJRgABAQAAAQABAAD/2wCEAAkGBhIOERMUERIQERESEBUVEhYSEhYUEBMQFRQXFRUUFRgYGyYfFxkvGRISIS8hJCcrLCwsFioyNzAqNScrLSkBCQoKDgwOGg8PGi0jHyQsKjU1LSotLCksMCwtLC4vKSwqLDAvKjUqLDQsLS0sLCw0LyksLCw1LCwsLCwpKSwpLP/AABEIAOwA1gMBIgACEQEDEQH/xAAcAAEAAwEBAQEBAAAAAAAAAAAABQYHBAEDAgj/xABMEAABAwIDAwQMCwcDAwUAAAABAAIDBBEFEiEGBzETIkF0FBUXMjNRVGGSk7TTFiM0NVNxgZGUs9EkNkJVdbLCQ3OxJVJiRGVyguL/xAAaAQEAAwEBAQAAAAAAAAAAAAAAAQIEAwUG/8QAOhEAAgECBAIHBAkDBQAAAAAAAAECAxEEEiExQVEFE1JxgZHRFGGxwSIyMzRTcqGy8DVz4SOCktLx/9oADAMBAAIRAxEAPwDcUREAVZpqB1VUVmeeqaIqlkbGxTOjY1nYlNIRYf8AlK8386syhcB8PiHXWewUaAfBdvlNd+KenwXb5TXfinqaRAQvwXb5TXfinp8F2+U134p6mkQEL8F2+U134p6fBdvlNd+KeppEBC/BdvlNf+Kev5/2m2+xKmrKqFlbUhkNVNGwFwJEbJXNZckXPNDdelf00v5836bISU9Waxt3Q1JAcbE8nM1rW5XG1gC1oy6/wu81/S6N6p1stVJprjzKTvbQq3dNxXy6o+9v6J3TcV8uqPvb+iq6L6j2LD9heSOOZ8y0d03FfLqj72/opnYzbjEayvpoJa2qdHLM1rw14BynjqBcfWs+Wz7hdi7l1fK12mZlLrYHvmSvsDr0sF9O+4m1sOPo4ajQbyK70Wi3LRbbNT+C7fKa78U9Pgu3ymu/FPU0i+TO5C/BdvlNd+KenwXb5TXfinqaRAQvwXb5TXfinp8F2+U134p6mkQEL8F2+U134p64cXwo0rY5I6msLhV0jbPqHPYWSVcMb2lp0ILXuH2q0KG2r8CzrtD7dToCYC9XgXqAIiIAi567EIqdhfNIyJgIBc9wa27jYC585AXQptxB+XSAcSB9ZUNs+4Gevtr+2s4dRo1lG+yJpxGO7Wn9hj4tB/1qjxqz7hRahqLAAdsZuAsPBQriql5uHI3VMG4YaGIvpJtW7r+hpaIi6mEIiIAiIgC4sZweKtgkgmaXRStyuAJBtxBBHA3AP2LtRSnbVA/nXafcXXUz70tqyIu5uUtZM0Wvz2uIHmu0/YL2EH3J8W8il9OL3i/qZF6kelsTFWun3opkRguxu4eeVzZMQIgiBuYWnNM8DoLmnLGPqJOnRoRutJSshY2ONrWRsaGsa0Wa1oFgABwFl9UWKviamIlmqMsklsERFnJCIiAIiIAoXax1oGX0/baH26nU0qDvqaDhzbgEdlRcRccHqJOybOlKn1lSMObS82XxkgPAg/Ubr9LG9xcYbU1Vg0fs8XAAf6j/ABLV8WxiGjj5Sd+RlwBZrnOc48GtawFzjx0AOgJ6FFJuok0tzri8O8NWlSbvbj4Hai48KxaKrjEkDw9hJF7FpDhoWua4BzXDxEAortNOzMxVN7eHMfQPlcCXwuh5O55jXPqoGl+Xhny3aHcQHOHSVdgvnU0zJWlsjGvYbXa9oc02IIuDpxAP2L6rpKpemocm/wBbehFtTD99XzizqUf51QrNuH+Q1P8AUZvy4VWd9XzizqUf51QrNuG+Q1P9Rm/LhWCH28vD5Hv4n+l0PzP4yNKREWo8EIiIAiIgCr+0W3dHhsjY6l72vezO0CNzhluW8QPG0qwKubwMbdRUM0kZIlcBHERqRJIcoIseIuSPOOBVZOyudqEVOootXv77fJnTs5tdTYkHmme5wjLQ/MxzLF17d8Ne9K++GbRwVU08MLy6SmcGzc0gNcS4WBIsdWOBt4lTMYqBs/hkcLHNbU1L8r5n5nME7w3lp3kEuNm8LA8Bp0KP3WV1HDX1kNPMXslZT8gXB+aUxxOdM65aLc4uOtuOi553dJmx4WLhOpC9lt4NJt/z4Gi1WPwRVENM5/x84cY2gEmzAXEut3os11r8bG3BSKzmv2eho8aw50YcX1ElbJM97i573cjoPMBmIAC0ZXi273MtanGCi4vdX/Vr5BERXM4REQBERAFQt9Pze3rUX/D1fVQt9Pze3rUX/D1Sp9R9zNOD+8U/zR+KKzuO+U1XV4vzHq77w3ZGUshe6BkdWHPqGtzGmaYZW8pYgt1Lms5wI+M8diKRuO+U1XV4vzHrY0wkskYs1dMffKnevgio7twTBUPuZGyV0z2TuGV1UwhgE5FgBwLeaALRg21JPqtqLtUnnk5HloIiKhJAY9sLRYhIJamJz5GsDARNNHzA5zgLRvaDq933rn2IweGiNbDA3JEyuBa0uc8gvo6V7uc8lx5znHU9Ks6hcB8PiHXWewUaiy3LOcmsrenImkRFJUIiIAiIgCjcZwGOs5DlC8dj1DJ48pA+MjvlvobjXgpJFDVy0ZOLuj5zUzJLZ2tfbhmaDb71G4dsxBT1E9RG20lRyeYWbkbybS0ZABzbg666qWRLIKckmk9yNrsAjnqaeocX8pS8pydiA341uV2YW104ahSSIlg5N2T4BERSVCIiAIiIAq5t7hkdTSsZK0uaayjFg5zTZ9XFE7VpBHMkeOPSrGobavwLOu0Pt1OhKbTuj87PbG0mHOe6miMbpGhryZZZLtBJA+Me62pPBTa8C9RKxMpOTvJ3YREQqEREAULgPh8Q66z2CjVe243mHCqhsIphNmgbKXGfk7ZnyMy25J1/B3vfpXRuy2g7Yx1lQY+SL68jJnz25Olpo++ytvfJfgOKqpJvLxO0qFSNNVWvovZlzREVjiEREARUDaTe/T4fXGlkhlc1mXlZGlvNL2Ne3Kzi4WeL6g8bA9NqwPamlr2g008cl25i0OHKtHDnMPObqRxC2VcDiKVONWcHlaunwt8iqkm7EqiIsZYIiIAiIgIfa7CX1dHNHG8xylmaNwJaRI05m6t1ANrHzHpVaO3g7Sdk5/2nk+Qtbn9m2y5cua9/4+N8utuhX1Z4Ngp+2V/i+1nZHZmTP/6nk8tslreE53C2Xpvouc073Rtw8qbjlqcHfv5rx0LXslhL6SkhikeZJQy8jiS4mR3OdqdSATYeYdCmFTMWpCcSa6eOskaDT9hOgLuTieHP7IMhaQ1rSOSzZ9XNFhfgvzhtI4YnI6eOsdOZpeQlaXdiNoORbkZIb5LZ89m2zZrE+NE7aFZU895t62v/ADXz5ci6oiLoZAobavwLOu0Pt1OplVPeZjJo6NsgZyhFXTGxdkHxc7J+OU8eRtw/i8yhuyuy0YuclGO7LWF6qXsFvDOLSSsNOIOSja+4m5XNmc5tvBst3vnV0RNSV0WqU5UpOE1ZoIiKTmV3aWuxBjrUcVMI2QulklqXHIXC9oWNY4ODrC5eeaAenVSuCYl2XTQz5SzloWSZSbludodlJ+1QO2GEV1XJG2FtHJSNGaWKolmZy0occrX8nG7NELNOW9nHiCBY2Wi5Tk2cqGCTIM4jJMYfbUNLgCW34XAXeeXq47X93zI4mK76vnFnUo/zqhebrdsZaGmnjjw+uqwa2V+enjLowSyMZCbd9zQf/sF7vq+cWdSj/OqFZdw4/Yaj+ozflwrFQlGOIk5K+ndyPfxX9LofmfxkdvdOqP5Li3qT+id06o/kuLepP6K+5V45q9DraX4f6s+fs+ZCbI7Wx4nG9zY5YZIpXRTRSttJHI3+E/Z93BTqoW7Dw+Mf1if/AJKvqpiIKFRxjt/glbGW4fRRz7S4jHKxkkbqFgc17Q5pGWi4grox7crC53K4fLJRTg3FnOMWpN7Ec9hs62htYWt0rzAv3pxDqTP7KNaWvaxeNr4WdN0pNf6dPTg/ordbM5xipJ35syOn2/xPBXiPFqd00N+bPHa+Xh3w5r+A0dldrrxAWgbPbaUeIgdjzxueW3MZOWdtrXuw66XAuLjxEqYqKdsjS17WvY4Wc1wBaR4iDoVQNody1JOS+kc6imzXBYS6K5JJ5hPN4/wkAW4Lj12Bxf2seqlzirx8Y8PAm0o7amhosgj2uxjAiG4jCaymB8O03Ib3o+MtrrbSQBxvx1Cvmzu8ChxHKIJ28o4X5KTmTA2FxY8Tr/CSPFdZsR0ZXox6xfTh2o6rx5eJKmnod+0+0DMNpZamVrnMiaCQy2YlzmsaBf8A8nDVVRu9GcgEYNixBFwRCbEHgeC698XzNV//ABi9oiVowkfEQ/7Mf9gXCCpxpKco3bbW7WyXqTrcpvdOqP5Li3qT+id06o/kuLepP6K+5UyqOtpfh/qxZ8yhd06o/kuLepP6J3Tqj+S4t6k/or7lTKnW0vw/1Ys+ZQu6dUfyXFvUn9E7p1R/JcW9Sf0V9yplTraX4f6sWfMoXdOqP5Li3qT+iq+8TbSWtpWxvw6vpG8ux3KVEZbHcB3NvbibrZcqoW+gf9Pb1qL/AIeuVWpSdOVocHxfI1YNP2in+aPxRWtx3ymq6vF+Y9ajjmNCjY15hqp8z8uWmhMzxoTctHBulr+MhZduO+U1XV4vzHrS9r6+SnoamSFsjpmwP5IRs5R/KuGVhDbG9nOaTodAdDwWfBq8Yr+bmvpj75U718EfTZ7aBlfG6RkdREGyvjIniMT8zLB1gTwBJb9bSOheL67P4WKSmhhAaOSia05SSC8DnEE6m7rm58aLtPLmeXY8xEgiIqAyberslWVlaySnp5JoxSMYXNdGAHiWZxHOeDwe371M7mcLlpKWqinYYpW4hIXNcWkgPgp3tvlJHeuB49K0BQuA+HxDrrPYKNUVNKTlxZqni6k6EaDtljtz1v6k0hRFcylGn3URmaeWOvxOnNRO+aRsFQ2OPO9xcdAzz21ubLzuV/8Au2N/jP8A8q9ItPtVXn8CuVGS7DYV2HtFWw8tPPkoh8ZUP5SZ2bsR3OdYXtmsPMAtaWaYF+9OIdSZ/ZRrS1t6Vd502/w4ftIhx72EVRpN20MVQ2cVWIOc2XlMjqgGInNmyluTVvmurcsFaFOLXVyzeFvUsr8T8vYHAggEEWIIuCPEVRNpNzVBVgmFppJSbh0QvHcknWMm1tf4cvDxK+orYfF1sNLNRk4v3fNcQ4p7mCbZwY3RUU1NVftdJIGXn50hZaRrhd+jm6sA54I53G60rY7ePQVkcUTZhHMI2t5OXmOLmtaCGk812p0ANzY6aK4EXVM2l3TUFcCWximluTykADbk3vnZ3rhc36DpxXqe2YXFxy4mOR9qCVr83H42ZzyyjsXRFj+fHNnuP/UqIfW5zb+fWRnAf9zdfGdLZs3vaw+us0ydjyn+CfmgnTvX947V1hqDpwWet0XVhHrKVqkOcdfNbosprZ6F0REXlFwiIgCpO92hknoGtiYXu7LgFm2vd7uTbxIHfyMH2q7KG2r8CzrtD7dTqGrqxenN05qa3TT8ik7pNl6uinqHVMD4Wvhja0vLDmcHuJAyOPQQtPXgXqiEVFZUdMRXlXqOrPdhERWOAREQBQuA+HxDrrPYKNTShcB8PiHXWewUaAmkREAREQGaYF+9OIdSZ/ZRrS1mmBfvTiHUmf2Ua0ter0p9al/bp/tKQ497CIi8ouEREAREQBVTaXdlQYgCXwtilJJ5WACOQuPEusLP115wJ86taLtRr1KEs9KTT9xDSe5j/anG9n/kz+2FG3gwtc5zb8bR3L2ag94SNb9JVj2c3y0FWGtlcaSU6Fsvg76cJBpbXi7LwPBWvG9oqagZnqZmRN6Mxu53ma0Xc7p4A8FjW1W0MWPO5PD8KMsxefj3NyvF7NzExkAauabyOIGlwvo8NFdJrNiKVudSNo/8r6P321OL+hs/A3ZrgRcag8LcLL1ZVstudmZBarrq2FwJyx0dSWRMabmxuw3NyTppr9qlt2k0sdTiVI6eaeKkqI2wmd+eUB7Xl132F9WjTgPtXiV8LTg59XUzKPutdXsdU3xRf1DbV+BZ12h9up1MqG2r8CzrtD7dTrCWJgL1eBeoAiIgCKq7eSVMURmgmqW8mw8nFTU4ldJUWJYZyQ48hzQCGtHEnMdALDhlTysMTw5r88THZmG7HXaDmaR0Lo4WipcyLmY709sa2irWR01Q6GM0rHlrY4XXeZZmk3kjceDG9PQpjc3istXTVUs7zJK7EJA5xa1pIZBTsbowAd61o0HQqdvq+cWdSj/OqF990u3dDh1LPHVVDYpHV0rw0skddhZE0G7WkcWO+5ZaSqVK0oxTdlsteR7WIo049H0qiSzNu78WbSipvdfwjyxnq5vdp3X8I8sZ6ub3a3ey1uw/Jni5kXJFTe6/hHljPVze7Tuv4R5Yz1c3u09lrdh+TGZENgX704h1Jn9lGtLWT7FYxDW7R1s1O8SRPohlcA4A5RSNOjgDxaRw6FrC3dKpqdNP8OH7SsOPezixauMDGuABzTwR6+KWZkZP1gPJ+xdqrOP7MRuY0tbUOcaqnJtUVBs3siMvdYSWADcxvbS19LKaw/C46e+TlOda+eWSThe1uUcbcTwWKcaSppxbvd8O73ltbnYiIsxIRQG023NHhg/aJWh9riJnOmcCbXyjgNDqbDRUB28HFca5mFUpgizOBnfztAbWzuAYw2c0lozO8Rtdejh+ja9eOeyjHtSdl/nwuUc0tDRtoNraTDm5qmZkZ0s3vpXAmwLWDnEaHW1tFnk+9DEMUJjwmje0ZiOWkAdYaeP4tjuc02JdxUls9uYhY7lsRlfWzuJLg5zuS4AC5JzyHTiSB5tLrRYKdsbQxjWsY0ANa0BrWgcAANAFq6zA4T7OPWy5y0j4R3fiRaUt9DNMF3MCR/LYrUPrJj3zQ9+TzAvNnu08WX9dIo6GOBgZFGyNg4NY0NaPqA0X3RYMVjq+Kf8Aqyulstku5FoxUdgqBsD86Y31qD+yRX9ZDhm2lPhOKYt2S2f46pjLOTiLwQxrwb+mEw0JThUjFXdl+5B8DXlSd7mISQUDXRPLHdlwG4DSbsfyre+BHfxsPDoXN3bMO8VX+Hd+qq+8TeRSYlSthgFQH8ux/wAZEWNs0OvqTx1XGrha8YSk4vRM04XLOvCL1TlH4k1um2rq66aoZUzumayGNzA5kTcri9wPg2NvoBxWmrHNx3ymq6vF+Y9XPeTmfHSwiIzsqK1rJIs/JiVoikkaxz/4WZ42E8dAdDwOfCp1VFN7mnpSnGlipxgrJW08EXBFW9hJY+QkjjjfAaepkhkiMpmZFI0NcWRPOpjs9pGgtmIsF4us45ZNHno++PbNPqZBJDVTUsnJ8lJkayVkkNy7LklBa11yecBfWxvpaVw3D2U0McMYIjijbGwEkkMaA0XJ46BdKI5yaUXsDD99XzizqUf51Qp3cfhsMtFUGSKKQ9sJhd7GuNuTh0uRw1P3qY243ZuxWpbM2pbDlgbFldAZL5XyPzXErbeFta3Qujdls+cOjrKcyCUsryS8MyA8pS00ne5nWtntxPBZoRlGrKfM9Wviqc8DSoL60W7+b9Sy9oqbyen9Uz9E7RU3k9P6pn6LuRaM8uZ5Rw9oqbyen9Uz9E7RU3k9P6pn6LuRM8uYMw2bgbHtPXtY1rGiibYNAa0XbRk2A85K09ZpgX704h1Jn9lGtLXp9KfXpf26f7SkOPewiqO1W9Chw3M10nLTgH4qEhzg69rPdwYb9B183C9OOLY9jgAgjGH0sgzNku5jizi3n9+bgt1Y0A2vwUUOi61SPWTtCHalp5Ld+Ac0tEXnaneJRYYCJZM8oGkUXOlOttehnT3xHDpOio79q8bxuzKGn7Cgdry7iQSzo+McPE5veNJ00Nrqx7L7n6KhIfKOy5gb5pmjkwbW5seo8/OuR9gV6Asu/tGDwmlCHWS7U9vCPqRaUt9DPtmdzdLTO5Wrca2e97yeCBPTkJOc8dXE/VpdfrcuP2Oo/qNR/gtAKz/cv8jqP6jUf4LPVxdbE05yrSbd4+G+y4EqKi1Y0BEReYXCIiALyy9RAeWVC30fN7etRf8AD1flU95mDGso2xh4jJrKYXLM4+MnbBwzDhy1+P8ADbpuqzV4tHfDzUK0Jy2TT8mUjcd8pqurxfmPWrYvg8NZEYp2Z4yWutmc0hzSHNcHNIc0ggagqsbBbvHYTJK91Q2flY2ss2ExZcri6+sj7995ldFWgpU4rmjv0hWhXxM6kNn6I48KwmKkjEcDAxgJPEucXHUuc5xLnOPjJJRdiLq227swhERQAoXAfD4h11nsFGppQuA+HxDrrPYKNATSIiAIiIDFMY2uZhO0FfM6N8pdTRxxsbYZpHR0rhc9Asx3QfqXa5uPY8Be2HUbxcEXY5zbktvryrjYj/tabXstTlwmB8rZXQwumZ3shjaZG9GjiLhda96XS1OMYOnSWdRis0tdlbRbLnfU5ZHxehTdlN1VDh1nZOyJwb8pMAbG1uYzvWjj4zrx4K5Ii8iviauIlnqybfvOiSWwREXAkFZ/uX+R1H9RqP8ABaAVn+5f5HUf1Go/wWqn9hPvj8yr3RoCIiylgiIgCIiAKG2r8CzrtD7dTqZUNtX4FnXaH26nQEwF6vAvUAREQBFzYhiUVMzPPIyJlwMz3BrbuNgNem5XSps7XAULgPh8Q66z2GjVA35Tua+iDXPaCypJyuLbkOprXsdeJ+9Su5FxNFOSST2c7Ukk/J6fpK5Kos+Q2Swco4ZYm6s3a3Hj6GiIiLoYwiIgCIiAKubfS1EdFJLSvLJYLS9FnRs1ka4HQjLc28yn6mASMcwkgPaWktNnAEWuD0HVV/Z/YWGhe97ZaqbPGY3NnlEkeUkE83KNebb6iVWV3ojvRcYvNJ7cLXucu0W2XJ4WKmEjlahjGwC9/jpbCwJbY5ecdQAcnRdWHBaeSKniZM8yTCNvKuJuXSWu8/VmvbzLPcB2QnFaynmid2voJpp6ZxDcr3SFpiZe+YgEvdxPicp2TEScTLJaqaFzZmNp4Gi8dRA6DM97m5T/AKnKDlL2GS2hVIye7NNWlC2SD5yvvpwXlqy4qgbl/kdR/Uaj/Bd2zmImStkEtVN2RmqGvpCLxMhZKGwyAZfiyY8huTz891w7l/kdR/Uaj/BbqTvQn3x+Zhq03CSTNAREWYqEREAREQBQ21fgWddofbqdTKqO9Y2wqotcG8HDQj9piUN2Vy0I5pKK4ltC9WIbmqh5xEgveR2HMbOe4i4lp7GxPnP3rZMTxWGkj5SokZDGCAXPdlbc8BcqtKXWJOK3NGLw0sLVdKTu1bb3q51oubDsSiqoxLBIyWJ18r2HM02JBsR5wR9iLo01ozKZnvdmqHiTPTTdiwcgYZGOZyT53zRZnyXeCLNzRtGU6yEk8LafRzGSNrnMdGXNBLH2zsJ1yuyki48xK/U9O2Rpa9rXtNrhwDmmxBGh84B+xfRdp1lKnGFrWv8AL0IS1Mj36+Eof9uq/upVHbt6zFo6eYUFPSSw9kkudPI5rxLyMNwAHDSwZ96kd+vhKH/bqv7qVS+4/wCRT9ef7PTrFSnkxDdk9OPge9V/pMPz/wDY+vbTaPyPDfXP94nbTaPyPDfXP94tAReh7QuxHyfqeBYz/tptH5Hhvrn+8TtptH5Hhvrn+8WgIntC7EfJ+osZ/wBtNo/I8N9c/wB4nbTaPyPDfXP94tARPaF2I+T9RYz/ALabR+R4b65/vE7abR+R4b65/vFoCJ7QuxHyfqLGf9tNo/IsN9c/3i87Z7ReRYb653vFoKJ7QuxHyfqTb3mfdstovIsN9c73ikd2Gz1RQUkjKprGyvqpZbMdmbleGdP1gq4IoniHKDgopX5f+iwREWYkIiIAiIgCqO9f5qqfrh9piVuVR3r/ADVU/XD7TEqy+qztQ+1j3r4md7mPnI9Sn/Np1pe3cUbmUxlqTSMbVhxkyMdGHCKTJnMnMjs6zmucCA5rbC9lmm5j5yPUp/zadbdUU7ZGlr2te08WuAc0jzg6FUwUssYvvPR6c++z/wBv7UV/YXFJKiGbO8TMiq5IoJwG/tEDQwtkuwBjuc57btAHM8d14rFDC1jQ1jWta0WaGgBoHiAGgCLRUkpSbSseQj9oiKgK9tXsPT4qYjO6ZphDwzk3hukmQuvdpv4Jq5tgsEjoezIIi8sjrRlLyC/nUdK83IA6XHoVqULgPh8Q66z2CjUWV7l+sm45Lu3K+nkTSIikoEREAREQBERAEREAREQBERAEREAREQBV7buibUUZifcNlqaSN2U2cGvrIGmx6DYqwqG2r8CzrtD7dToSm1qiO2Y3c0uGzGaF07nmJ0fxj2uaGucxx0DRreNqtS8C9UJJaItOcpvNNtvm9QiIpKBERAFC4D4fEOus9go1NLGtqt5VVheI1sMEdO5jpopCZWyF2Y0dO0jmvaLWYOhAbKiwju61/wBDRehN71O7rX/Q0XoTe9QG7osI7utf9DRehN71O7rX/Q0XoTe9QG7osI7utf8AQ0XoTe9Tu61/0NF6E3vUBu6LCO7rX/Q0XoTe9Tu61/0NF6E3vUBu6LCO7rX/AENF6E3vU7utf9DRehN71Abuiwju61/0NF6E3vU7utf9DRehN71Abuiwju61/wBDRehN71O7rX/Q0XoTe9QG7osI7utf9DRehN71O7rX/Q0XoTe9QG7osI7utf8AQ0XoTe9Tu61/0NF6E3vUBu6htq/As67Q+3U6yHu61/0NF6E3vV9KTezV189LTyx0rWSV1GHFjZA8Wq4nC15COLR0IDcgvV4F6gCIiA//2Q=="/>
          <p:cNvSpPr>
            <a:spLocks noChangeAspect="1" noChangeArrowheads="1"/>
          </p:cNvSpPr>
          <p:nvPr/>
        </p:nvSpPr>
        <p:spPr bwMode="auto">
          <a:xfrm>
            <a:off x="117475" y="-706438"/>
            <a:ext cx="1323975" cy="145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135179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6576" y="4114800"/>
            <a:ext cx="2071688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30" y="4872724"/>
            <a:ext cx="3833490" cy="18324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367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AA8A7-2479-4058-B0BA-4A6C772319A3}" type="slidenum">
              <a:rPr lang="en-US"/>
              <a:pPr/>
              <a:t>2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03188"/>
            <a:ext cx="8915400" cy="1314450"/>
          </a:xfrm>
        </p:spPr>
        <p:txBody>
          <a:bodyPr/>
          <a:lstStyle/>
          <a:p>
            <a:r>
              <a:rPr lang="en-US" sz="4000"/>
              <a:t>Operational Amplifier - Chapter 5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286000"/>
            <a:ext cx="7620000" cy="3541713"/>
          </a:xfrm>
        </p:spPr>
        <p:txBody>
          <a:bodyPr/>
          <a:lstStyle/>
          <a:p>
            <a:pPr marL="860425" indent="-860425">
              <a:buFontTx/>
              <a:buNone/>
            </a:pPr>
            <a:r>
              <a:rPr lang="en-US" dirty="0"/>
              <a:t> </a:t>
            </a:r>
            <a:r>
              <a:rPr lang="en-US" dirty="0" smtClean="0"/>
              <a:t>5.2</a:t>
            </a:r>
            <a:r>
              <a:rPr lang="en-US" dirty="0"/>
              <a:t>		What is an Op Amp?</a:t>
            </a:r>
          </a:p>
          <a:p>
            <a:pPr marL="860425" indent="-860425">
              <a:buFontTx/>
              <a:buNone/>
            </a:pPr>
            <a:r>
              <a:rPr lang="en-US" dirty="0"/>
              <a:t> </a:t>
            </a:r>
            <a:r>
              <a:rPr lang="en-US" dirty="0" smtClean="0"/>
              <a:t>5.3</a:t>
            </a:r>
            <a:r>
              <a:rPr lang="en-US" dirty="0"/>
              <a:t>		Ideal Op Amp</a:t>
            </a:r>
          </a:p>
          <a:p>
            <a:pPr marL="860425" indent="-860425">
              <a:buFontTx/>
              <a:buNone/>
            </a:pPr>
            <a:r>
              <a:rPr lang="en-US" dirty="0"/>
              <a:t> </a:t>
            </a:r>
            <a:r>
              <a:rPr lang="en-US" dirty="0" smtClean="0"/>
              <a:t>5.4</a:t>
            </a:r>
            <a:r>
              <a:rPr lang="en-US" dirty="0"/>
              <a:t>		Configuration of Op Amp</a:t>
            </a:r>
          </a:p>
          <a:p>
            <a:pPr marL="860425" indent="-860425">
              <a:buFontTx/>
              <a:buNone/>
            </a:pPr>
            <a:r>
              <a:rPr lang="en-US" dirty="0"/>
              <a:t> </a:t>
            </a:r>
            <a:r>
              <a:rPr lang="en-US" dirty="0" smtClean="0"/>
              <a:t>5.5</a:t>
            </a:r>
            <a:r>
              <a:rPr lang="en-US" dirty="0"/>
              <a:t>		Cascaded Op Amp</a:t>
            </a:r>
          </a:p>
          <a:p>
            <a:pPr marL="860425" indent="-860425">
              <a:buFontTx/>
              <a:buNone/>
            </a:pPr>
            <a:r>
              <a:rPr lang="en-US" dirty="0"/>
              <a:t> </a:t>
            </a:r>
            <a:r>
              <a:rPr lang="en-US" dirty="0" smtClean="0"/>
              <a:t>5.6</a:t>
            </a:r>
            <a:r>
              <a:rPr lang="en-US" dirty="0"/>
              <a:t>		Application </a:t>
            </a:r>
          </a:p>
          <a:p>
            <a:pPr marL="1508125" lvl="1" indent="-533400">
              <a:buFontTx/>
              <a:buNone/>
            </a:pPr>
            <a:r>
              <a:rPr lang="en-US" dirty="0"/>
              <a:t>– Digital-to Analog Converter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33E3C-06F2-440F-A9AA-8A95D8DB429F}" type="slidenum">
              <a:rPr lang="en-US"/>
              <a:pPr/>
              <a:t>3</a:t>
            </a:fld>
            <a:endParaRPr lang="en-US"/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 </a:t>
            </a:r>
            <a:r>
              <a:rPr lang="en-US" sz="4000" dirty="0" smtClean="0"/>
              <a:t>5.2 </a:t>
            </a:r>
            <a:r>
              <a:rPr lang="en-US" sz="4000" dirty="0"/>
              <a:t>What is an Op </a:t>
            </a:r>
            <a:r>
              <a:rPr lang="en-US" sz="4000" dirty="0" smtClean="0"/>
              <a:t>Amp</a:t>
            </a:r>
            <a:endParaRPr lang="en-US" sz="4000" dirty="0"/>
          </a:p>
        </p:txBody>
      </p:sp>
      <p:sp>
        <p:nvSpPr>
          <p:cNvPr id="42131" name="Rectangle 147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8305800" cy="4456113"/>
          </a:xfrm>
        </p:spPr>
        <p:txBody>
          <a:bodyPr/>
          <a:lstStyle/>
          <a:p>
            <a:r>
              <a:rPr lang="en-US" sz="2800" dirty="0"/>
              <a:t>It is an electronic unit that behaves like a </a:t>
            </a:r>
            <a:r>
              <a:rPr lang="en-US" sz="2800" u="sng" dirty="0">
                <a:solidFill>
                  <a:srgbClr val="FF3300"/>
                </a:solidFill>
              </a:rPr>
              <a:t>voltage-controlled voltage source</a:t>
            </a:r>
            <a:r>
              <a:rPr lang="en-US" sz="2800" dirty="0"/>
              <a:t>.</a:t>
            </a:r>
          </a:p>
          <a:p>
            <a:r>
              <a:rPr lang="en-US" sz="2800" dirty="0"/>
              <a:t>It is an </a:t>
            </a:r>
            <a:r>
              <a:rPr lang="en-US" sz="2800" u="sng" dirty="0">
                <a:solidFill>
                  <a:srgbClr val="FF3300"/>
                </a:solidFill>
              </a:rPr>
              <a:t>active circuit element</a:t>
            </a:r>
            <a:r>
              <a:rPr lang="en-US" sz="2800" dirty="0"/>
              <a:t> designed to perform mathematical </a:t>
            </a:r>
            <a:r>
              <a:rPr lang="en-US" sz="2800" dirty="0">
                <a:solidFill>
                  <a:srgbClr val="00B050"/>
                </a:solidFill>
              </a:rPr>
              <a:t>operations</a:t>
            </a:r>
            <a:r>
              <a:rPr lang="en-US" sz="2800" dirty="0"/>
              <a:t> of </a:t>
            </a:r>
            <a:r>
              <a:rPr lang="en-US" sz="2800" b="1" i="1" dirty="0">
                <a:solidFill>
                  <a:srgbClr val="FF3300"/>
                </a:solidFill>
              </a:rPr>
              <a:t>addition</a:t>
            </a:r>
            <a:r>
              <a:rPr lang="en-US" sz="2800" dirty="0"/>
              <a:t>, </a:t>
            </a:r>
            <a:r>
              <a:rPr lang="en-US" sz="2800" b="1" i="1" dirty="0">
                <a:solidFill>
                  <a:srgbClr val="FF3300"/>
                </a:solidFill>
              </a:rPr>
              <a:t>subtraction</a:t>
            </a:r>
            <a:r>
              <a:rPr lang="en-US" sz="2800" dirty="0"/>
              <a:t>, </a:t>
            </a:r>
            <a:r>
              <a:rPr lang="en-US" sz="2800" b="1" i="1" dirty="0">
                <a:solidFill>
                  <a:srgbClr val="FF3300"/>
                </a:solidFill>
              </a:rPr>
              <a:t>multiplication</a:t>
            </a:r>
            <a:r>
              <a:rPr lang="en-US" sz="2800" dirty="0"/>
              <a:t>, </a:t>
            </a:r>
            <a:r>
              <a:rPr lang="en-US" sz="2800" b="1" i="1" dirty="0">
                <a:solidFill>
                  <a:srgbClr val="FF3300"/>
                </a:solidFill>
              </a:rPr>
              <a:t>division</a:t>
            </a:r>
            <a:r>
              <a:rPr lang="en-US" sz="2800" dirty="0"/>
              <a:t>, </a:t>
            </a:r>
            <a:r>
              <a:rPr lang="en-US" sz="2800" b="1" i="1" dirty="0">
                <a:solidFill>
                  <a:srgbClr val="FF3300"/>
                </a:solidFill>
              </a:rPr>
              <a:t>differentiation</a:t>
            </a:r>
            <a:r>
              <a:rPr lang="en-US" sz="2800" dirty="0"/>
              <a:t> and </a:t>
            </a:r>
            <a:r>
              <a:rPr lang="en-US" sz="2800" b="1" i="1" dirty="0">
                <a:solidFill>
                  <a:srgbClr val="FF3300"/>
                </a:solidFill>
              </a:rPr>
              <a:t>integration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Hence: </a:t>
            </a:r>
            <a:r>
              <a:rPr lang="en-US" sz="2800" dirty="0" smtClean="0">
                <a:solidFill>
                  <a:srgbClr val="00B050"/>
                </a:solidFill>
              </a:rPr>
              <a:t>OPERATIONAL</a:t>
            </a:r>
            <a:r>
              <a:rPr lang="en-US" sz="2800" dirty="0" smtClean="0"/>
              <a:t> Amplifier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BBBA2-2101-490B-9C5F-10C5946BFD78}" type="slidenum">
              <a:rPr lang="en-US"/>
              <a:pPr/>
              <a:t>4</a:t>
            </a:fld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143000"/>
          </a:xfrm>
        </p:spPr>
        <p:txBody>
          <a:bodyPr/>
          <a:lstStyle/>
          <a:p>
            <a:r>
              <a:rPr lang="en-US" sz="2800" dirty="0"/>
              <a:t> </a:t>
            </a:r>
            <a:r>
              <a:rPr lang="en-US" sz="2800" dirty="0" smtClean="0"/>
              <a:t>5.2 </a:t>
            </a:r>
            <a:r>
              <a:rPr lang="en-US" sz="2800" dirty="0"/>
              <a:t>What is an Op </a:t>
            </a:r>
            <a:r>
              <a:rPr lang="en-US" sz="2800" dirty="0" smtClean="0"/>
              <a:t>Amp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3600" dirty="0" smtClean="0">
                <a:solidFill>
                  <a:srgbClr val="FF0000"/>
                </a:solidFill>
              </a:rPr>
              <a:t>Pin Configuration and Circuit Symbol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9" name="Picture 3" descr="ale29559_0500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17" r="53193" b="10727"/>
          <a:stretch/>
        </p:blipFill>
        <p:spPr bwMode="auto">
          <a:xfrm>
            <a:off x="228599" y="1531257"/>
            <a:ext cx="4259943" cy="2376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73" name="Picture 1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857" y="3913512"/>
            <a:ext cx="5638800" cy="269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99568" y="4564796"/>
            <a:ext cx="2973617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ZA" dirty="0" smtClean="0"/>
              <a:t>Transistors, resistors, capacitors, diodes all integrated into an “IC”, integrated circuit.</a:t>
            </a:r>
            <a:endParaRPr lang="en-ZA" dirty="0"/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1043213" y="3606852"/>
            <a:ext cx="1315357" cy="957944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0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847" y="1654175"/>
            <a:ext cx="2071688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ECE4-C312-4B8D-89AE-C8514CE4AA97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99338" name="Rectangle 10"/>
          <p:cNvSpPr>
            <a:spLocks noChangeArrowheads="1"/>
          </p:cNvSpPr>
          <p:nvPr/>
        </p:nvSpPr>
        <p:spPr bwMode="auto">
          <a:xfrm>
            <a:off x="5069144" y="1760621"/>
            <a:ext cx="2863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1" hangingPunct="1"/>
            <a:r>
              <a:rPr lang="en-US" b="1" dirty="0">
                <a:solidFill>
                  <a:srgbClr val="FF3300"/>
                </a:solidFill>
              </a:rPr>
              <a:t>Op Amp output:</a:t>
            </a:r>
          </a:p>
          <a:p>
            <a:pPr algn="ctr" eaLnBrk="1" hangingPunct="1"/>
            <a:r>
              <a:rPr lang="en-US" b="1" dirty="0" err="1">
                <a:solidFill>
                  <a:srgbClr val="FF3300"/>
                </a:solidFill>
              </a:rPr>
              <a:t>v</a:t>
            </a:r>
            <a:r>
              <a:rPr lang="en-US" b="1" baseline="-25000" dirty="0" err="1">
                <a:solidFill>
                  <a:srgbClr val="FF3300"/>
                </a:solidFill>
              </a:rPr>
              <a:t>o</a:t>
            </a:r>
            <a:r>
              <a:rPr lang="en-US" b="1" dirty="0">
                <a:solidFill>
                  <a:srgbClr val="FF3300"/>
                </a:solidFill>
              </a:rPr>
              <a:t> as a function of </a:t>
            </a:r>
            <a:r>
              <a:rPr lang="en-US" b="1" dirty="0" err="1" smtClean="0">
                <a:solidFill>
                  <a:srgbClr val="FF3300"/>
                </a:solidFill>
              </a:rPr>
              <a:t>v</a:t>
            </a:r>
            <a:r>
              <a:rPr lang="en-US" b="1" baseline="-25000" dirty="0" err="1" smtClean="0">
                <a:solidFill>
                  <a:srgbClr val="FF3300"/>
                </a:solidFill>
              </a:rPr>
              <a:t>d</a:t>
            </a:r>
            <a:endParaRPr lang="en-US" b="1" baseline="-25000" dirty="0">
              <a:solidFill>
                <a:srgbClr val="FF3300"/>
              </a:solidFill>
            </a:endParaRPr>
          </a:p>
        </p:txBody>
      </p:sp>
      <p:pic>
        <p:nvPicPr>
          <p:cNvPr id="12" name="Picture 3" descr="ale29559_05004"/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1"/>
          <a:stretch/>
        </p:blipFill>
        <p:spPr bwMode="auto">
          <a:xfrm>
            <a:off x="259642" y="1126498"/>
            <a:ext cx="4635301" cy="3870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45143"/>
            <a:ext cx="8001000" cy="1531257"/>
          </a:xfrm>
        </p:spPr>
        <p:txBody>
          <a:bodyPr/>
          <a:lstStyle/>
          <a:p>
            <a:r>
              <a:rPr lang="en-US" sz="2800" dirty="0"/>
              <a:t> </a:t>
            </a:r>
            <a:r>
              <a:rPr lang="en-US" sz="2800" dirty="0" smtClean="0"/>
              <a:t>5.2 </a:t>
            </a:r>
            <a:r>
              <a:rPr lang="en-US" sz="2800" dirty="0"/>
              <a:t>What is an Op </a:t>
            </a:r>
            <a:r>
              <a:rPr lang="en-US" sz="2800" dirty="0" smtClean="0"/>
              <a:t>Amp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3600" dirty="0" smtClean="0">
                <a:solidFill>
                  <a:srgbClr val="FF0000"/>
                </a:solidFill>
              </a:rPr>
              <a:t>Equivalent Circuit model of a non-ideal Op Amp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99339" name="Text Box 11"/>
          <p:cNvSpPr txBox="1">
            <a:spLocks noChangeArrowheads="1"/>
          </p:cNvSpPr>
          <p:nvPr/>
        </p:nvSpPr>
        <p:spPr bwMode="auto">
          <a:xfrm>
            <a:off x="4702629" y="2382390"/>
            <a:ext cx="4098925" cy="15696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i="1" dirty="0" err="1">
                <a:solidFill>
                  <a:srgbClr val="080808"/>
                </a:solidFill>
                <a:latin typeface="Times New Roman" pitchFamily="18" charset="0"/>
              </a:rPr>
              <a:t>v</a:t>
            </a:r>
            <a:r>
              <a:rPr lang="en-US" sz="2400" i="1" baseline="-25000" dirty="0" err="1">
                <a:solidFill>
                  <a:srgbClr val="080808"/>
                </a:solidFill>
                <a:latin typeface="Times New Roman" pitchFamily="18" charset="0"/>
              </a:rPr>
              <a:t>d</a:t>
            </a:r>
            <a:r>
              <a:rPr lang="en-US" sz="2400" i="1" dirty="0">
                <a:solidFill>
                  <a:srgbClr val="080808"/>
                </a:solidFill>
                <a:latin typeface="Times New Roman" pitchFamily="18" charset="0"/>
              </a:rPr>
              <a:t> = v</a:t>
            </a:r>
            <a:r>
              <a:rPr lang="en-US" sz="2400" i="1" baseline="-25000" dirty="0">
                <a:solidFill>
                  <a:srgbClr val="080808"/>
                </a:solidFill>
                <a:latin typeface="Times New Roman" pitchFamily="18" charset="0"/>
              </a:rPr>
              <a:t>2</a:t>
            </a:r>
            <a:r>
              <a:rPr lang="en-US" sz="2400" i="1" dirty="0">
                <a:solidFill>
                  <a:srgbClr val="080808"/>
                </a:solidFill>
                <a:latin typeface="Times New Roman" pitchFamily="18" charset="0"/>
              </a:rPr>
              <a:t> – </a:t>
            </a:r>
            <a:r>
              <a:rPr lang="en-US" sz="2400" i="1" dirty="0" smtClean="0">
                <a:solidFill>
                  <a:srgbClr val="080808"/>
                </a:solidFill>
                <a:latin typeface="Times New Roman" pitchFamily="18" charset="0"/>
              </a:rPr>
              <a:t>v</a:t>
            </a:r>
            <a:r>
              <a:rPr lang="en-US" sz="2400" i="1" baseline="-25000" dirty="0" smtClean="0">
                <a:solidFill>
                  <a:srgbClr val="080808"/>
                </a:solidFill>
                <a:latin typeface="Times New Roman" pitchFamily="18" charset="0"/>
              </a:rPr>
              <a:t>1</a:t>
            </a:r>
            <a:r>
              <a:rPr lang="en-US" sz="2400" i="1" dirty="0" smtClean="0">
                <a:solidFill>
                  <a:srgbClr val="080808"/>
                </a:solidFill>
                <a:latin typeface="Times New Roman" pitchFamily="18" charset="0"/>
              </a:rPr>
              <a:t>  </a:t>
            </a:r>
          </a:p>
          <a:p>
            <a:pPr algn="ctr">
              <a:spcBef>
                <a:spcPct val="50000"/>
              </a:spcBef>
            </a:pPr>
            <a:r>
              <a:rPr lang="en-US" sz="2400" i="1" dirty="0" err="1" smtClean="0">
                <a:solidFill>
                  <a:srgbClr val="080808"/>
                </a:solidFill>
                <a:latin typeface="Times New Roman" pitchFamily="18" charset="0"/>
              </a:rPr>
              <a:t>v</a:t>
            </a:r>
            <a:r>
              <a:rPr lang="en-US" sz="2400" i="1" baseline="-25000" dirty="0" err="1" smtClean="0">
                <a:solidFill>
                  <a:srgbClr val="080808"/>
                </a:solidFill>
                <a:latin typeface="Times New Roman" pitchFamily="18" charset="0"/>
              </a:rPr>
              <a:t>o</a:t>
            </a:r>
            <a:r>
              <a:rPr lang="en-US" sz="2400" i="1" dirty="0" smtClean="0">
                <a:solidFill>
                  <a:srgbClr val="080808"/>
                </a:solidFill>
                <a:latin typeface="Times New Roman" pitchFamily="18" charset="0"/>
              </a:rPr>
              <a:t> </a:t>
            </a:r>
            <a:r>
              <a:rPr lang="en-US" sz="2400" i="1" dirty="0">
                <a:solidFill>
                  <a:srgbClr val="080808"/>
                </a:solidFill>
                <a:latin typeface="Times New Roman" pitchFamily="18" charset="0"/>
              </a:rPr>
              <a:t>= </a:t>
            </a:r>
            <a:r>
              <a:rPr lang="en-US" sz="2400" i="1" dirty="0" err="1">
                <a:solidFill>
                  <a:srgbClr val="080808"/>
                </a:solidFill>
                <a:latin typeface="Times New Roman" pitchFamily="18" charset="0"/>
              </a:rPr>
              <a:t>Av</a:t>
            </a:r>
            <a:r>
              <a:rPr lang="en-US" sz="2400" i="1" baseline="-25000" dirty="0" err="1">
                <a:solidFill>
                  <a:srgbClr val="080808"/>
                </a:solidFill>
                <a:latin typeface="Times New Roman" pitchFamily="18" charset="0"/>
              </a:rPr>
              <a:t>d</a:t>
            </a:r>
            <a:r>
              <a:rPr lang="en-US" sz="2400" i="1" dirty="0">
                <a:solidFill>
                  <a:srgbClr val="080808"/>
                </a:solidFill>
                <a:latin typeface="Times New Roman" pitchFamily="18" charset="0"/>
              </a:rPr>
              <a:t> = A(v</a:t>
            </a:r>
            <a:r>
              <a:rPr lang="en-US" sz="2400" i="1" baseline="-25000" dirty="0">
                <a:solidFill>
                  <a:srgbClr val="080808"/>
                </a:solidFill>
                <a:latin typeface="Times New Roman" pitchFamily="18" charset="0"/>
              </a:rPr>
              <a:t>2</a:t>
            </a:r>
            <a:r>
              <a:rPr lang="en-US" sz="2400" i="1" dirty="0">
                <a:solidFill>
                  <a:srgbClr val="080808"/>
                </a:solidFill>
                <a:latin typeface="Times New Roman" pitchFamily="18" charset="0"/>
              </a:rPr>
              <a:t> –v</a:t>
            </a:r>
            <a:r>
              <a:rPr lang="en-US" sz="2400" i="1" baseline="-25000" dirty="0">
                <a:solidFill>
                  <a:srgbClr val="080808"/>
                </a:solidFill>
                <a:latin typeface="Times New Roman" pitchFamily="18" charset="0"/>
              </a:rPr>
              <a:t>1</a:t>
            </a:r>
            <a:r>
              <a:rPr lang="en-US" sz="2400" i="1" dirty="0" smtClean="0">
                <a:solidFill>
                  <a:srgbClr val="080808"/>
                </a:solidFill>
                <a:latin typeface="Times New Roman" pitchFamily="18" charset="0"/>
              </a:rPr>
              <a:t>)</a:t>
            </a:r>
          </a:p>
          <a:p>
            <a:pPr algn="ctr">
              <a:spcBef>
                <a:spcPct val="50000"/>
              </a:spcBef>
            </a:pPr>
            <a:r>
              <a:rPr lang="en-US" sz="2400" i="1" dirty="0" smtClean="0">
                <a:solidFill>
                  <a:srgbClr val="080808"/>
                </a:solidFill>
                <a:latin typeface="Times New Roman" pitchFamily="18" charset="0"/>
              </a:rPr>
              <a:t>A = </a:t>
            </a:r>
            <a:r>
              <a:rPr lang="en-US" sz="2400" b="1" i="1" dirty="0" smtClean="0">
                <a:solidFill>
                  <a:srgbClr val="080808"/>
                </a:solidFill>
                <a:latin typeface="Times New Roman" pitchFamily="18" charset="0"/>
              </a:rPr>
              <a:t>Open-loop</a:t>
            </a:r>
            <a:r>
              <a:rPr lang="en-US" sz="2400" i="1" dirty="0" smtClean="0">
                <a:solidFill>
                  <a:srgbClr val="080808"/>
                </a:solidFill>
                <a:latin typeface="Times New Roman" pitchFamily="18" charset="0"/>
              </a:rPr>
              <a:t> voltage gain</a:t>
            </a:r>
            <a:endParaRPr lang="en-US" sz="2400" i="1" dirty="0">
              <a:solidFill>
                <a:srgbClr val="080808"/>
              </a:solidFill>
              <a:latin typeface="Times New Roman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515237"/>
              </p:ext>
            </p:extLst>
          </p:nvPr>
        </p:nvGraphicFramePr>
        <p:xfrm>
          <a:off x="2593159" y="4864510"/>
          <a:ext cx="4218940" cy="1858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3218"/>
                <a:gridCol w="1676717"/>
                <a:gridCol w="929005"/>
              </a:tblGrid>
              <a:tr h="375074">
                <a:tc>
                  <a:txBody>
                    <a:bodyPr/>
                    <a:lstStyle/>
                    <a:p>
                      <a:pPr algn="ctr"/>
                      <a:r>
                        <a:rPr lang="en-ZA" b="1" dirty="0" smtClean="0"/>
                        <a:t>Parameter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b="1" dirty="0" smtClean="0"/>
                        <a:t>Range</a:t>
                      </a:r>
                      <a:endParaRPr lang="en-ZA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b="1" dirty="0" smtClean="0"/>
                        <a:t>Ideal</a:t>
                      </a:r>
                      <a:endParaRPr lang="en-ZA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A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10</a:t>
                      </a:r>
                      <a:r>
                        <a:rPr lang="en-ZA" baseline="30000" dirty="0" smtClean="0"/>
                        <a:t>5</a:t>
                      </a:r>
                      <a:r>
                        <a:rPr lang="en-ZA" baseline="0" dirty="0" smtClean="0"/>
                        <a:t> – 10</a:t>
                      </a:r>
                      <a:r>
                        <a:rPr lang="en-ZA" baseline="30000" dirty="0" smtClean="0"/>
                        <a:t>8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 smtClean="0">
                          <a:sym typeface="Symbol"/>
                        </a:rPr>
                        <a:t></a:t>
                      </a:r>
                      <a:endParaRPr lang="en-Z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ZA" dirty="0" err="1" smtClean="0"/>
                        <a:t>R</a:t>
                      </a:r>
                      <a:r>
                        <a:rPr lang="en-ZA" baseline="-25000" dirty="0" err="1" smtClean="0"/>
                        <a:t>i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 smtClean="0"/>
                        <a:t>10</a:t>
                      </a:r>
                      <a:r>
                        <a:rPr lang="en-ZA" baseline="30000" dirty="0" smtClean="0"/>
                        <a:t>5</a:t>
                      </a:r>
                      <a:r>
                        <a:rPr lang="en-ZA" baseline="0" dirty="0" smtClean="0"/>
                        <a:t> – 10</a:t>
                      </a:r>
                      <a:r>
                        <a:rPr lang="en-ZA" baseline="30000" dirty="0" smtClean="0"/>
                        <a:t>13 </a:t>
                      </a:r>
                      <a:r>
                        <a:rPr lang="en-ZA" baseline="0" dirty="0" smtClean="0">
                          <a:sym typeface="Symbol"/>
                        </a:rPr>
                        <a:t></a:t>
                      </a:r>
                      <a:endParaRPr lang="en-ZA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 smtClean="0">
                          <a:sym typeface="Symbol"/>
                        </a:rPr>
                        <a:t> </a:t>
                      </a:r>
                      <a:endParaRPr lang="en-ZA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R</a:t>
                      </a:r>
                      <a:r>
                        <a:rPr lang="en-ZA" baseline="-25000" dirty="0" smtClean="0"/>
                        <a:t>o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 smtClean="0"/>
                        <a:t>10</a:t>
                      </a:r>
                      <a:r>
                        <a:rPr lang="en-ZA" baseline="0" dirty="0" smtClean="0"/>
                        <a:t> – 100</a:t>
                      </a:r>
                      <a:r>
                        <a:rPr lang="en-ZA" baseline="30000" dirty="0" smtClean="0"/>
                        <a:t> </a:t>
                      </a:r>
                      <a:r>
                        <a:rPr lang="en-ZA" baseline="0" dirty="0" smtClean="0">
                          <a:sym typeface="Symbol"/>
                        </a:rPr>
                        <a:t></a:t>
                      </a:r>
                      <a:endParaRPr lang="en-ZA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0 </a:t>
                      </a:r>
                      <a:r>
                        <a:rPr lang="en-ZA" dirty="0" smtClean="0">
                          <a:sym typeface="Symbol"/>
                        </a:rPr>
                        <a:t></a:t>
                      </a:r>
                      <a:endParaRPr lang="en-ZA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V</a:t>
                      </a:r>
                      <a:r>
                        <a:rPr lang="en-ZA" baseline="-25000" dirty="0" smtClean="0"/>
                        <a:t>CC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5 – 24 V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544791" y="4407961"/>
            <a:ext cx="41154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 smtClean="0">
                <a:solidFill>
                  <a:srgbClr val="08080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Typical ranges for op amp parameters</a:t>
            </a:r>
            <a:endParaRPr lang="en-US" sz="2000" dirty="0">
              <a:solidFill>
                <a:srgbClr val="08080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95584" y="3952050"/>
            <a:ext cx="629371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i="1" dirty="0" smtClean="0">
                <a:solidFill>
                  <a:srgbClr val="080808"/>
                </a:solidFill>
                <a:latin typeface="Times New Roman" pitchFamily="18" charset="0"/>
              </a:rPr>
              <a:t>Open-loop</a:t>
            </a:r>
            <a:r>
              <a:rPr lang="en-US" sz="2000" dirty="0" smtClean="0">
                <a:solidFill>
                  <a:srgbClr val="080808"/>
                </a:solidFill>
                <a:latin typeface="Times New Roman" pitchFamily="18" charset="0"/>
              </a:rPr>
              <a:t>: No external feedback from output </a:t>
            </a:r>
            <a:r>
              <a:rPr lang="en-US" sz="2000" i="1" dirty="0" smtClean="0">
                <a:solidFill>
                  <a:srgbClr val="080808"/>
                </a:solidFill>
                <a:latin typeface="Times New Roman" pitchFamily="18" charset="0"/>
              </a:rPr>
              <a:t>v</a:t>
            </a:r>
            <a:r>
              <a:rPr lang="en-US" sz="2000" i="1" baseline="-25000" dirty="0" smtClean="0">
                <a:solidFill>
                  <a:srgbClr val="080808"/>
                </a:solidFill>
                <a:latin typeface="Times New Roman" pitchFamily="18" charset="0"/>
              </a:rPr>
              <a:t>0</a:t>
            </a:r>
            <a:r>
              <a:rPr lang="en-US" sz="2000" dirty="0" smtClean="0">
                <a:solidFill>
                  <a:srgbClr val="080808"/>
                </a:solidFill>
                <a:latin typeface="Times New Roman" pitchFamily="18" charset="0"/>
              </a:rPr>
              <a:t> to input </a:t>
            </a:r>
            <a:r>
              <a:rPr lang="en-US" sz="2000" i="1" dirty="0" err="1" smtClean="0">
                <a:solidFill>
                  <a:srgbClr val="080808"/>
                </a:solidFill>
                <a:latin typeface="Times New Roman" pitchFamily="18" charset="0"/>
              </a:rPr>
              <a:t>v</a:t>
            </a:r>
            <a:r>
              <a:rPr lang="en-US" sz="2000" i="1" baseline="-25000" dirty="0" err="1" smtClean="0">
                <a:solidFill>
                  <a:srgbClr val="080808"/>
                </a:solidFill>
                <a:latin typeface="Times New Roman" pitchFamily="18" charset="0"/>
              </a:rPr>
              <a:t>d</a:t>
            </a:r>
            <a:endParaRPr lang="en-US" sz="2000" i="1" dirty="0">
              <a:solidFill>
                <a:srgbClr val="080808"/>
              </a:solidFill>
              <a:latin typeface="Times New Roman" pitchFamily="18" charset="0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0" y="6332303"/>
            <a:ext cx="23919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en-US" b="1" dirty="0" smtClean="0">
                <a:solidFill>
                  <a:srgbClr val="FF3300"/>
                </a:solidFill>
              </a:rPr>
              <a:t>Supply voltage</a:t>
            </a:r>
            <a:endParaRPr lang="en-US" b="1" baseline="-25000" dirty="0">
              <a:solidFill>
                <a:srgbClr val="FF330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2391909" y="6577354"/>
            <a:ext cx="627336" cy="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6891" y="4558719"/>
            <a:ext cx="431482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3" descr="ale29559_0500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54"/>
          <a:stretch/>
        </p:blipFill>
        <p:spPr bwMode="auto">
          <a:xfrm>
            <a:off x="5294082" y="145143"/>
            <a:ext cx="3696234" cy="1891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BB1D-2291-4C82-B0EB-53244714F1B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304801" y="145143"/>
            <a:ext cx="5241758" cy="1531257"/>
          </a:xfrm>
          <a:prstGeom prst="rect">
            <a:avLst/>
          </a:prstGeom>
        </p:spPr>
        <p:txBody>
          <a:bodyPr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 5.2 What is an Op Amp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3600" dirty="0" smtClean="0">
                <a:solidFill>
                  <a:srgbClr val="FF0000"/>
                </a:solidFill>
              </a:rPr>
              <a:t>A Practical Limitation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7" name="Picture 3" descr="ale29559_0500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3" b="14026"/>
          <a:stretch/>
        </p:blipFill>
        <p:spPr bwMode="auto">
          <a:xfrm>
            <a:off x="304799" y="1128099"/>
            <a:ext cx="4811157" cy="3468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5294082" y="2396418"/>
            <a:ext cx="3429004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ZA" dirty="0" smtClean="0"/>
              <a:t>Output cannot exceed |V</a:t>
            </a:r>
            <a:r>
              <a:rPr lang="en-ZA" baseline="-25000" dirty="0" smtClean="0"/>
              <a:t>CC</a:t>
            </a:r>
            <a:r>
              <a:rPr lang="en-ZA" dirty="0" smtClean="0"/>
              <a:t>|</a:t>
            </a:r>
            <a:endParaRPr lang="en-ZA" dirty="0"/>
          </a:p>
        </p:txBody>
      </p:sp>
      <p:grpSp>
        <p:nvGrpSpPr>
          <p:cNvPr id="3" name="Group 2"/>
          <p:cNvGrpSpPr/>
          <p:nvPr/>
        </p:nvGrpSpPr>
        <p:grpSpPr>
          <a:xfrm>
            <a:off x="2467144" y="2473519"/>
            <a:ext cx="5123826" cy="2015132"/>
            <a:chOff x="2467144" y="2473519"/>
            <a:chExt cx="5123826" cy="2015132"/>
          </a:xfrm>
        </p:grpSpPr>
        <p:sp>
          <p:nvSpPr>
            <p:cNvPr id="10" name="Right Brace 9"/>
            <p:cNvSpPr/>
            <p:nvPr/>
          </p:nvSpPr>
          <p:spPr bwMode="auto">
            <a:xfrm rot="2684164">
              <a:off x="2467144" y="2473519"/>
              <a:ext cx="486465" cy="1924862"/>
            </a:xfrm>
            <a:prstGeom prst="rightBrace">
              <a:avLst>
                <a:gd name="adj1" fmla="val 39285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cxnSp>
          <p:nvCxnSpPr>
            <p:cNvPr id="22" name="Straight Arrow Connector 21"/>
            <p:cNvCxnSpPr>
              <a:stCxn id="10" idx="1"/>
              <a:endCxn id="9" idx="1"/>
            </p:cNvCxnSpPr>
            <p:nvPr/>
          </p:nvCxnSpPr>
          <p:spPr bwMode="auto">
            <a:xfrm>
              <a:off x="2883158" y="3607147"/>
              <a:ext cx="836123" cy="466006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3719281" y="3657654"/>
              <a:ext cx="3871689" cy="83099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ZA" sz="2400" dirty="0" smtClean="0">
                  <a:latin typeface="Times New Roman" pitchFamily="18" charset="0"/>
                  <a:cs typeface="Times New Roman" pitchFamily="18" charset="0"/>
                </a:rPr>
                <a:t>Linear  region where </a:t>
              </a:r>
              <a:r>
                <a:rPr lang="en-ZA" sz="2400" i="1" dirty="0" err="1" smtClean="0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err="1" smtClean="0">
                  <a:latin typeface="Times New Roman" pitchFamily="18" charset="0"/>
                  <a:cs typeface="Times New Roman" pitchFamily="18" charset="0"/>
                </a:rPr>
                <a:t>o</a:t>
              </a:r>
              <a:r>
                <a:rPr lang="en-ZA" sz="2400" dirty="0" smtClean="0">
                  <a:latin typeface="Times New Roman" pitchFamily="18" charset="0"/>
                  <a:cs typeface="Times New Roman" pitchFamily="18" charset="0"/>
                </a:rPr>
                <a:t> = </a:t>
              </a:r>
              <a:r>
                <a:rPr lang="en-ZA" sz="2400" dirty="0" err="1" smtClean="0">
                  <a:latin typeface="Times New Roman" pitchFamily="18" charset="0"/>
                  <a:cs typeface="Times New Roman" pitchFamily="18" charset="0"/>
                </a:rPr>
                <a:t>A</a:t>
              </a:r>
              <a:r>
                <a:rPr lang="en-ZA" sz="2400" i="1" dirty="0" err="1" smtClean="0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err="1" smtClean="0">
                  <a:latin typeface="Times New Roman" pitchFamily="18" charset="0"/>
                  <a:cs typeface="Times New Roman" pitchFamily="18" charset="0"/>
                </a:rPr>
                <a:t>d</a:t>
              </a:r>
              <a:endParaRPr lang="en-ZA" sz="2400" dirty="0" smtClean="0">
                <a:latin typeface="Times New Roman" pitchFamily="18" charset="0"/>
                <a:cs typeface="Times New Roman" pitchFamily="18" charset="0"/>
              </a:endParaRPr>
            </a:p>
            <a:p>
              <a:r>
                <a:rPr lang="en-ZA" sz="2400" i="1" dirty="0" err="1" smtClean="0">
                  <a:latin typeface="Times New Roman" pitchFamily="18" charset="0"/>
                  <a:cs typeface="Times New Roman" pitchFamily="18" charset="0"/>
                </a:rPr>
                <a:t>v</a:t>
              </a:r>
              <a:r>
                <a:rPr lang="en-ZA" sz="2400" i="1" baseline="-25000" dirty="0" err="1" smtClean="0">
                  <a:latin typeface="Times New Roman" pitchFamily="18" charset="0"/>
                  <a:cs typeface="Times New Roman" pitchFamily="18" charset="0"/>
                </a:rPr>
                <a:t>d</a:t>
              </a:r>
              <a:r>
                <a:rPr lang="en-ZA" sz="2400" i="1" dirty="0" smtClean="0">
                  <a:latin typeface="Times New Roman" pitchFamily="18" charset="0"/>
                  <a:cs typeface="Times New Roman" pitchFamily="18" charset="0"/>
                </a:rPr>
                <a:t> = v</a:t>
              </a:r>
              <a:r>
                <a:rPr lang="en-ZA" sz="2400" i="1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ZA" sz="2400" i="1" dirty="0" smtClean="0">
                  <a:latin typeface="Times New Roman" pitchFamily="18" charset="0"/>
                  <a:cs typeface="Times New Roman" pitchFamily="18" charset="0"/>
                </a:rPr>
                <a:t> – v</a:t>
              </a:r>
              <a:r>
                <a:rPr lang="en-ZA" sz="2400" i="1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ZA" sz="2400" i="1" dirty="0" smtClean="0">
                  <a:latin typeface="Times New Roman" pitchFamily="18" charset="0"/>
                  <a:cs typeface="Times New Roman" pitchFamily="18" charset="0"/>
                </a:rPr>
                <a:t> = v</a:t>
              </a:r>
              <a:r>
                <a:rPr lang="en-ZA" sz="2400" i="1" baseline="300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ZA" sz="2400" i="1" dirty="0" smtClean="0">
                  <a:latin typeface="Times New Roman" pitchFamily="18" charset="0"/>
                  <a:cs typeface="Times New Roman" pitchFamily="18" charset="0"/>
                </a:rPr>
                <a:t> – v</a:t>
              </a:r>
              <a:r>
                <a:rPr lang="en-ZA" sz="2400" i="1" baseline="30000" dirty="0" smtClean="0">
                  <a:latin typeface="Times New Roman" pitchFamily="18" charset="0"/>
                  <a:cs typeface="Times New Roman" pitchFamily="18" charset="0"/>
                </a:rPr>
                <a:t>-</a:t>
              </a:r>
              <a:r>
                <a:rPr lang="en-ZA" sz="2400" i="1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</a:p>
          </p:txBody>
        </p:sp>
      </p:grpSp>
      <p:pic>
        <p:nvPicPr>
          <p:cNvPr id="28" name="Picture 3" descr="ale29559_0500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1"/>
          <a:stretch/>
        </p:blipFill>
        <p:spPr bwMode="auto">
          <a:xfrm>
            <a:off x="632927" y="4558720"/>
            <a:ext cx="2668292" cy="2227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Equal 29"/>
          <p:cNvSpPr/>
          <p:nvPr/>
        </p:nvSpPr>
        <p:spPr bwMode="auto">
          <a:xfrm>
            <a:off x="3300377" y="5389865"/>
            <a:ext cx="1004081" cy="565485"/>
          </a:xfrm>
          <a:prstGeom prst="mathEqual">
            <a:avLst/>
          </a:prstGeom>
          <a:solidFill>
            <a:schemeClr val="accent3">
              <a:lumMod val="50000"/>
            </a:schemeClr>
          </a:solidFill>
          <a:ln w="9525" cap="flat" cmpd="sng" algn="ctr">
            <a:solidFill>
              <a:schemeClr val="accent3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05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72518" y="114300"/>
            <a:ext cx="4710038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5.1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Use a 741 Op Amp with A = 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10</a:t>
            </a:r>
            <a:r>
              <a:rPr lang="en-ZA" sz="2400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5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R</a:t>
            </a:r>
            <a:r>
              <a:rPr lang="en-ZA" sz="2400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= 2 M, R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o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= 50 .</a:t>
            </a:r>
            <a:endParaRPr lang="en-ZA" sz="2400" dirty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Determine the closed-loop gain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o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/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s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500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" t="7268" r="4016"/>
          <a:stretch/>
        </p:blipFill>
        <p:spPr bwMode="auto">
          <a:xfrm>
            <a:off x="4896853" y="66172"/>
            <a:ext cx="4006135" cy="2935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7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7" y="2006867"/>
            <a:ext cx="3411261" cy="2651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852" y="3086433"/>
            <a:ext cx="2590463" cy="12409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Freeform 5"/>
          <p:cNvSpPr/>
          <p:nvPr/>
        </p:nvSpPr>
        <p:spPr>
          <a:xfrm>
            <a:off x="758189" y="2410159"/>
            <a:ext cx="2743011" cy="2277377"/>
          </a:xfrm>
          <a:custGeom>
            <a:avLst/>
            <a:gdLst>
              <a:gd name="connsiteX0" fmla="*/ 2476500 w 2476500"/>
              <a:gd name="connsiteY0" fmla="*/ 0 h 2171700"/>
              <a:gd name="connsiteX1" fmla="*/ 0 w 2476500"/>
              <a:gd name="connsiteY1" fmla="*/ 30480 h 2171700"/>
              <a:gd name="connsiteX2" fmla="*/ 22860 w 2476500"/>
              <a:gd name="connsiteY2" fmla="*/ 990600 h 2171700"/>
              <a:gd name="connsiteX3" fmla="*/ 708660 w 2476500"/>
              <a:gd name="connsiteY3" fmla="*/ 982980 h 2171700"/>
              <a:gd name="connsiteX4" fmla="*/ 739140 w 2476500"/>
              <a:gd name="connsiteY4" fmla="*/ 2156460 h 2171700"/>
              <a:gd name="connsiteX5" fmla="*/ 2385060 w 2476500"/>
              <a:gd name="connsiteY5" fmla="*/ 2171700 h 2171700"/>
              <a:gd name="connsiteX6" fmla="*/ 2423160 w 2476500"/>
              <a:gd name="connsiteY6" fmla="*/ 144780 h 2171700"/>
              <a:gd name="connsiteX0" fmla="*/ 2476500 w 2476500"/>
              <a:gd name="connsiteY0" fmla="*/ 0 h 2171700"/>
              <a:gd name="connsiteX1" fmla="*/ 0 w 2476500"/>
              <a:gd name="connsiteY1" fmla="*/ 30480 h 2171700"/>
              <a:gd name="connsiteX2" fmla="*/ 22860 w 2476500"/>
              <a:gd name="connsiteY2" fmla="*/ 990600 h 2171700"/>
              <a:gd name="connsiteX3" fmla="*/ 708660 w 2476500"/>
              <a:gd name="connsiteY3" fmla="*/ 982980 h 2171700"/>
              <a:gd name="connsiteX4" fmla="*/ 739140 w 2476500"/>
              <a:gd name="connsiteY4" fmla="*/ 2156460 h 2171700"/>
              <a:gd name="connsiteX5" fmla="*/ 2385060 w 2476500"/>
              <a:gd name="connsiteY5" fmla="*/ 2171700 h 2171700"/>
              <a:gd name="connsiteX6" fmla="*/ 2423160 w 2476500"/>
              <a:gd name="connsiteY6" fmla="*/ 144780 h 2171700"/>
              <a:gd name="connsiteX7" fmla="*/ 2476500 w 2476500"/>
              <a:gd name="connsiteY7" fmla="*/ 0 h 2171700"/>
              <a:gd name="connsiteX0" fmla="*/ 2476500 w 2476500"/>
              <a:gd name="connsiteY0" fmla="*/ 0 h 2171700"/>
              <a:gd name="connsiteX1" fmla="*/ 0 w 2476500"/>
              <a:gd name="connsiteY1" fmla="*/ 4287 h 2171700"/>
              <a:gd name="connsiteX2" fmla="*/ 22860 w 2476500"/>
              <a:gd name="connsiteY2" fmla="*/ 990600 h 2171700"/>
              <a:gd name="connsiteX3" fmla="*/ 708660 w 2476500"/>
              <a:gd name="connsiteY3" fmla="*/ 982980 h 2171700"/>
              <a:gd name="connsiteX4" fmla="*/ 739140 w 2476500"/>
              <a:gd name="connsiteY4" fmla="*/ 2156460 h 2171700"/>
              <a:gd name="connsiteX5" fmla="*/ 2385060 w 2476500"/>
              <a:gd name="connsiteY5" fmla="*/ 2171700 h 2171700"/>
              <a:gd name="connsiteX6" fmla="*/ 2423160 w 2476500"/>
              <a:gd name="connsiteY6" fmla="*/ 144780 h 2171700"/>
              <a:gd name="connsiteX7" fmla="*/ 2476500 w 2476500"/>
              <a:gd name="connsiteY7" fmla="*/ 0 h 2171700"/>
              <a:gd name="connsiteX0" fmla="*/ 2453640 w 2453640"/>
              <a:gd name="connsiteY0" fmla="*/ 0 h 2171700"/>
              <a:gd name="connsiteX1" fmla="*/ 12859 w 2453640"/>
              <a:gd name="connsiteY1" fmla="*/ 23337 h 2171700"/>
              <a:gd name="connsiteX2" fmla="*/ 0 w 2453640"/>
              <a:gd name="connsiteY2" fmla="*/ 990600 h 2171700"/>
              <a:gd name="connsiteX3" fmla="*/ 685800 w 2453640"/>
              <a:gd name="connsiteY3" fmla="*/ 982980 h 2171700"/>
              <a:gd name="connsiteX4" fmla="*/ 716280 w 2453640"/>
              <a:gd name="connsiteY4" fmla="*/ 2156460 h 2171700"/>
              <a:gd name="connsiteX5" fmla="*/ 2362200 w 2453640"/>
              <a:gd name="connsiteY5" fmla="*/ 2171700 h 2171700"/>
              <a:gd name="connsiteX6" fmla="*/ 2400300 w 2453640"/>
              <a:gd name="connsiteY6" fmla="*/ 144780 h 2171700"/>
              <a:gd name="connsiteX7" fmla="*/ 2453640 w 2453640"/>
              <a:gd name="connsiteY7" fmla="*/ 0 h 2171700"/>
              <a:gd name="connsiteX0" fmla="*/ 2453640 w 2453640"/>
              <a:gd name="connsiteY0" fmla="*/ 475 h 2172175"/>
              <a:gd name="connsiteX1" fmla="*/ 5715 w 2453640"/>
              <a:gd name="connsiteY1" fmla="*/ 0 h 2172175"/>
              <a:gd name="connsiteX2" fmla="*/ 0 w 2453640"/>
              <a:gd name="connsiteY2" fmla="*/ 991075 h 2172175"/>
              <a:gd name="connsiteX3" fmla="*/ 685800 w 2453640"/>
              <a:gd name="connsiteY3" fmla="*/ 983455 h 2172175"/>
              <a:gd name="connsiteX4" fmla="*/ 716280 w 2453640"/>
              <a:gd name="connsiteY4" fmla="*/ 2156935 h 2172175"/>
              <a:gd name="connsiteX5" fmla="*/ 2362200 w 2453640"/>
              <a:gd name="connsiteY5" fmla="*/ 2172175 h 2172175"/>
              <a:gd name="connsiteX6" fmla="*/ 2400300 w 2453640"/>
              <a:gd name="connsiteY6" fmla="*/ 145255 h 2172175"/>
              <a:gd name="connsiteX7" fmla="*/ 2453640 w 2453640"/>
              <a:gd name="connsiteY7" fmla="*/ 475 h 2172175"/>
              <a:gd name="connsiteX0" fmla="*/ 2453640 w 2453640"/>
              <a:gd name="connsiteY0" fmla="*/ 475 h 2172175"/>
              <a:gd name="connsiteX1" fmla="*/ 5715 w 2453640"/>
              <a:gd name="connsiteY1" fmla="*/ 0 h 2172175"/>
              <a:gd name="connsiteX2" fmla="*/ 0 w 2453640"/>
              <a:gd name="connsiteY2" fmla="*/ 991075 h 2172175"/>
              <a:gd name="connsiteX3" fmla="*/ 685800 w 2453640"/>
              <a:gd name="connsiteY3" fmla="*/ 995362 h 2172175"/>
              <a:gd name="connsiteX4" fmla="*/ 716280 w 2453640"/>
              <a:gd name="connsiteY4" fmla="*/ 2156935 h 2172175"/>
              <a:gd name="connsiteX5" fmla="*/ 2362200 w 2453640"/>
              <a:gd name="connsiteY5" fmla="*/ 2172175 h 2172175"/>
              <a:gd name="connsiteX6" fmla="*/ 2400300 w 2453640"/>
              <a:gd name="connsiteY6" fmla="*/ 145255 h 2172175"/>
              <a:gd name="connsiteX7" fmla="*/ 2453640 w 2453640"/>
              <a:gd name="connsiteY7" fmla="*/ 475 h 2172175"/>
              <a:gd name="connsiteX0" fmla="*/ 2453640 w 2453640"/>
              <a:gd name="connsiteY0" fmla="*/ 475 h 2172175"/>
              <a:gd name="connsiteX1" fmla="*/ 5715 w 2453640"/>
              <a:gd name="connsiteY1" fmla="*/ 0 h 2172175"/>
              <a:gd name="connsiteX2" fmla="*/ 0 w 2453640"/>
              <a:gd name="connsiteY2" fmla="*/ 991075 h 2172175"/>
              <a:gd name="connsiteX3" fmla="*/ 721519 w 2453640"/>
              <a:gd name="connsiteY3" fmla="*/ 990600 h 2172175"/>
              <a:gd name="connsiteX4" fmla="*/ 716280 w 2453640"/>
              <a:gd name="connsiteY4" fmla="*/ 2156935 h 2172175"/>
              <a:gd name="connsiteX5" fmla="*/ 2362200 w 2453640"/>
              <a:gd name="connsiteY5" fmla="*/ 2172175 h 2172175"/>
              <a:gd name="connsiteX6" fmla="*/ 2400300 w 2453640"/>
              <a:gd name="connsiteY6" fmla="*/ 145255 h 2172175"/>
              <a:gd name="connsiteX7" fmla="*/ 2453640 w 2453640"/>
              <a:gd name="connsiteY7" fmla="*/ 475 h 2172175"/>
              <a:gd name="connsiteX0" fmla="*/ 2453640 w 2453640"/>
              <a:gd name="connsiteY0" fmla="*/ 475 h 2172175"/>
              <a:gd name="connsiteX1" fmla="*/ 5715 w 2453640"/>
              <a:gd name="connsiteY1" fmla="*/ 0 h 2172175"/>
              <a:gd name="connsiteX2" fmla="*/ 0 w 2453640"/>
              <a:gd name="connsiteY2" fmla="*/ 991075 h 2172175"/>
              <a:gd name="connsiteX3" fmla="*/ 721519 w 2453640"/>
              <a:gd name="connsiteY3" fmla="*/ 990600 h 2172175"/>
              <a:gd name="connsiteX4" fmla="*/ 728186 w 2453640"/>
              <a:gd name="connsiteY4" fmla="*/ 2156935 h 2172175"/>
              <a:gd name="connsiteX5" fmla="*/ 2362200 w 2453640"/>
              <a:gd name="connsiteY5" fmla="*/ 2172175 h 2172175"/>
              <a:gd name="connsiteX6" fmla="*/ 2400300 w 2453640"/>
              <a:gd name="connsiteY6" fmla="*/ 145255 h 2172175"/>
              <a:gd name="connsiteX7" fmla="*/ 2453640 w 2453640"/>
              <a:gd name="connsiteY7" fmla="*/ 475 h 2172175"/>
              <a:gd name="connsiteX0" fmla="*/ 2453640 w 2453640"/>
              <a:gd name="connsiteY0" fmla="*/ 475 h 2156935"/>
              <a:gd name="connsiteX1" fmla="*/ 5715 w 2453640"/>
              <a:gd name="connsiteY1" fmla="*/ 0 h 2156935"/>
              <a:gd name="connsiteX2" fmla="*/ 0 w 2453640"/>
              <a:gd name="connsiteY2" fmla="*/ 991075 h 2156935"/>
              <a:gd name="connsiteX3" fmla="*/ 721519 w 2453640"/>
              <a:gd name="connsiteY3" fmla="*/ 990600 h 2156935"/>
              <a:gd name="connsiteX4" fmla="*/ 728186 w 2453640"/>
              <a:gd name="connsiteY4" fmla="*/ 2156935 h 2156935"/>
              <a:gd name="connsiteX5" fmla="*/ 2359819 w 2453640"/>
              <a:gd name="connsiteY5" fmla="*/ 2155506 h 2156935"/>
              <a:gd name="connsiteX6" fmla="*/ 2400300 w 2453640"/>
              <a:gd name="connsiteY6" fmla="*/ 145255 h 2156935"/>
              <a:gd name="connsiteX7" fmla="*/ 2453640 w 2453640"/>
              <a:gd name="connsiteY7" fmla="*/ 475 h 2156935"/>
              <a:gd name="connsiteX0" fmla="*/ 2453640 w 2453640"/>
              <a:gd name="connsiteY0" fmla="*/ 475 h 2156935"/>
              <a:gd name="connsiteX1" fmla="*/ 5715 w 2453640"/>
              <a:gd name="connsiteY1" fmla="*/ 0 h 2156935"/>
              <a:gd name="connsiteX2" fmla="*/ 0 w 2453640"/>
              <a:gd name="connsiteY2" fmla="*/ 991075 h 2156935"/>
              <a:gd name="connsiteX3" fmla="*/ 721519 w 2453640"/>
              <a:gd name="connsiteY3" fmla="*/ 990600 h 2156935"/>
              <a:gd name="connsiteX4" fmla="*/ 728186 w 2453640"/>
              <a:gd name="connsiteY4" fmla="*/ 2156935 h 2156935"/>
              <a:gd name="connsiteX5" fmla="*/ 2359819 w 2453640"/>
              <a:gd name="connsiteY5" fmla="*/ 2155506 h 2156935"/>
              <a:gd name="connsiteX6" fmla="*/ 2453640 w 2453640"/>
              <a:gd name="connsiteY6" fmla="*/ 475 h 2156935"/>
              <a:gd name="connsiteX0" fmla="*/ 2453640 w 2459831"/>
              <a:gd name="connsiteY0" fmla="*/ 475 h 2156935"/>
              <a:gd name="connsiteX1" fmla="*/ 5715 w 2459831"/>
              <a:gd name="connsiteY1" fmla="*/ 0 h 2156935"/>
              <a:gd name="connsiteX2" fmla="*/ 0 w 2459831"/>
              <a:gd name="connsiteY2" fmla="*/ 991075 h 2156935"/>
              <a:gd name="connsiteX3" fmla="*/ 721519 w 2459831"/>
              <a:gd name="connsiteY3" fmla="*/ 990600 h 2156935"/>
              <a:gd name="connsiteX4" fmla="*/ 728186 w 2459831"/>
              <a:gd name="connsiteY4" fmla="*/ 2156935 h 2156935"/>
              <a:gd name="connsiteX5" fmla="*/ 2459831 w 2459831"/>
              <a:gd name="connsiteY5" fmla="*/ 2150744 h 2156935"/>
              <a:gd name="connsiteX6" fmla="*/ 2453640 w 2459831"/>
              <a:gd name="connsiteY6" fmla="*/ 475 h 2156935"/>
              <a:gd name="connsiteX0" fmla="*/ 2453640 w 2633560"/>
              <a:gd name="connsiteY0" fmla="*/ 475 h 2156935"/>
              <a:gd name="connsiteX1" fmla="*/ 5715 w 2633560"/>
              <a:gd name="connsiteY1" fmla="*/ 0 h 2156935"/>
              <a:gd name="connsiteX2" fmla="*/ 0 w 2633560"/>
              <a:gd name="connsiteY2" fmla="*/ 991075 h 2156935"/>
              <a:gd name="connsiteX3" fmla="*/ 721519 w 2633560"/>
              <a:gd name="connsiteY3" fmla="*/ 990600 h 2156935"/>
              <a:gd name="connsiteX4" fmla="*/ 728186 w 2633560"/>
              <a:gd name="connsiteY4" fmla="*/ 2156935 h 2156935"/>
              <a:gd name="connsiteX5" fmla="*/ 2459831 w 2633560"/>
              <a:gd name="connsiteY5" fmla="*/ 2150744 h 2156935"/>
              <a:gd name="connsiteX6" fmla="*/ 2450086 w 2633560"/>
              <a:gd name="connsiteY6" fmla="*/ 556736 h 2156935"/>
              <a:gd name="connsiteX7" fmla="*/ 2453640 w 2633560"/>
              <a:gd name="connsiteY7" fmla="*/ 475 h 2156935"/>
              <a:gd name="connsiteX0" fmla="*/ 2453640 w 2552661"/>
              <a:gd name="connsiteY0" fmla="*/ 475 h 2156935"/>
              <a:gd name="connsiteX1" fmla="*/ 5715 w 2552661"/>
              <a:gd name="connsiteY1" fmla="*/ 0 h 2156935"/>
              <a:gd name="connsiteX2" fmla="*/ 0 w 2552661"/>
              <a:gd name="connsiteY2" fmla="*/ 991075 h 2156935"/>
              <a:gd name="connsiteX3" fmla="*/ 721519 w 2552661"/>
              <a:gd name="connsiteY3" fmla="*/ 990600 h 2156935"/>
              <a:gd name="connsiteX4" fmla="*/ 728186 w 2552661"/>
              <a:gd name="connsiteY4" fmla="*/ 2156935 h 2156935"/>
              <a:gd name="connsiteX5" fmla="*/ 2459831 w 2552661"/>
              <a:gd name="connsiteY5" fmla="*/ 2150744 h 2156935"/>
              <a:gd name="connsiteX6" fmla="*/ 1880638 w 2552661"/>
              <a:gd name="connsiteY6" fmla="*/ 723424 h 2156935"/>
              <a:gd name="connsiteX7" fmla="*/ 2453640 w 2552661"/>
              <a:gd name="connsiteY7" fmla="*/ 475 h 2156935"/>
              <a:gd name="connsiteX0" fmla="*/ 2453640 w 2586846"/>
              <a:gd name="connsiteY0" fmla="*/ 475 h 2156935"/>
              <a:gd name="connsiteX1" fmla="*/ 5715 w 2586846"/>
              <a:gd name="connsiteY1" fmla="*/ 0 h 2156935"/>
              <a:gd name="connsiteX2" fmla="*/ 0 w 2586846"/>
              <a:gd name="connsiteY2" fmla="*/ 991075 h 2156935"/>
              <a:gd name="connsiteX3" fmla="*/ 721519 w 2586846"/>
              <a:gd name="connsiteY3" fmla="*/ 990600 h 2156935"/>
              <a:gd name="connsiteX4" fmla="*/ 728186 w 2586846"/>
              <a:gd name="connsiteY4" fmla="*/ 2156935 h 2156935"/>
              <a:gd name="connsiteX5" fmla="*/ 2459831 w 2586846"/>
              <a:gd name="connsiteY5" fmla="*/ 2150744 h 2156935"/>
              <a:gd name="connsiteX6" fmla="*/ 2391682 w 2586846"/>
              <a:gd name="connsiteY6" fmla="*/ 1652111 h 2156935"/>
              <a:gd name="connsiteX7" fmla="*/ 1880638 w 2586846"/>
              <a:gd name="connsiteY7" fmla="*/ 723424 h 2156935"/>
              <a:gd name="connsiteX8" fmla="*/ 2453640 w 2586846"/>
              <a:gd name="connsiteY8" fmla="*/ 475 h 2156935"/>
              <a:gd name="connsiteX0" fmla="*/ 2453640 w 2552661"/>
              <a:gd name="connsiteY0" fmla="*/ 475 h 2156935"/>
              <a:gd name="connsiteX1" fmla="*/ 5715 w 2552661"/>
              <a:gd name="connsiteY1" fmla="*/ 0 h 2156935"/>
              <a:gd name="connsiteX2" fmla="*/ 0 w 2552661"/>
              <a:gd name="connsiteY2" fmla="*/ 991075 h 2156935"/>
              <a:gd name="connsiteX3" fmla="*/ 721519 w 2552661"/>
              <a:gd name="connsiteY3" fmla="*/ 990600 h 2156935"/>
              <a:gd name="connsiteX4" fmla="*/ 728186 w 2552661"/>
              <a:gd name="connsiteY4" fmla="*/ 2156935 h 2156935"/>
              <a:gd name="connsiteX5" fmla="*/ 2459831 w 2552661"/>
              <a:gd name="connsiteY5" fmla="*/ 2150744 h 2156935"/>
              <a:gd name="connsiteX6" fmla="*/ 1982848 w 2552661"/>
              <a:gd name="connsiteY6" fmla="*/ 1452086 h 2156935"/>
              <a:gd name="connsiteX7" fmla="*/ 1880638 w 2552661"/>
              <a:gd name="connsiteY7" fmla="*/ 723424 h 2156935"/>
              <a:gd name="connsiteX8" fmla="*/ 2453640 w 2552661"/>
              <a:gd name="connsiteY8" fmla="*/ 475 h 2156935"/>
              <a:gd name="connsiteX0" fmla="*/ 2453640 w 2552661"/>
              <a:gd name="connsiteY0" fmla="*/ 475 h 2272671"/>
              <a:gd name="connsiteX1" fmla="*/ 5715 w 2552661"/>
              <a:gd name="connsiteY1" fmla="*/ 0 h 2272671"/>
              <a:gd name="connsiteX2" fmla="*/ 0 w 2552661"/>
              <a:gd name="connsiteY2" fmla="*/ 991075 h 2272671"/>
              <a:gd name="connsiteX3" fmla="*/ 721519 w 2552661"/>
              <a:gd name="connsiteY3" fmla="*/ 990600 h 2272671"/>
              <a:gd name="connsiteX4" fmla="*/ 728186 w 2552661"/>
              <a:gd name="connsiteY4" fmla="*/ 2156935 h 2272671"/>
              <a:gd name="connsiteX5" fmla="*/ 2459831 w 2552661"/>
              <a:gd name="connsiteY5" fmla="*/ 2150744 h 2272671"/>
              <a:gd name="connsiteX6" fmla="*/ 1982848 w 2552661"/>
              <a:gd name="connsiteY6" fmla="*/ 1452086 h 2272671"/>
              <a:gd name="connsiteX7" fmla="*/ 1880638 w 2552661"/>
              <a:gd name="connsiteY7" fmla="*/ 723424 h 2272671"/>
              <a:gd name="connsiteX8" fmla="*/ 2453640 w 2552661"/>
              <a:gd name="connsiteY8" fmla="*/ 475 h 2272671"/>
              <a:gd name="connsiteX0" fmla="*/ 2453640 w 2552661"/>
              <a:gd name="connsiteY0" fmla="*/ 475 h 2272671"/>
              <a:gd name="connsiteX1" fmla="*/ 5715 w 2552661"/>
              <a:gd name="connsiteY1" fmla="*/ 0 h 2272671"/>
              <a:gd name="connsiteX2" fmla="*/ 0 w 2552661"/>
              <a:gd name="connsiteY2" fmla="*/ 991075 h 2272671"/>
              <a:gd name="connsiteX3" fmla="*/ 721519 w 2552661"/>
              <a:gd name="connsiteY3" fmla="*/ 990600 h 2272671"/>
              <a:gd name="connsiteX4" fmla="*/ 728186 w 2552661"/>
              <a:gd name="connsiteY4" fmla="*/ 2156935 h 2272671"/>
              <a:gd name="connsiteX5" fmla="*/ 2459831 w 2552661"/>
              <a:gd name="connsiteY5" fmla="*/ 2150744 h 2272671"/>
              <a:gd name="connsiteX6" fmla="*/ 1982848 w 2552661"/>
              <a:gd name="connsiteY6" fmla="*/ 1452086 h 2272671"/>
              <a:gd name="connsiteX7" fmla="*/ 1880638 w 2552661"/>
              <a:gd name="connsiteY7" fmla="*/ 723424 h 2272671"/>
              <a:gd name="connsiteX8" fmla="*/ 2453640 w 2552661"/>
              <a:gd name="connsiteY8" fmla="*/ 475 h 2272671"/>
              <a:gd name="connsiteX0" fmla="*/ 2453640 w 2552661"/>
              <a:gd name="connsiteY0" fmla="*/ 475 h 2272671"/>
              <a:gd name="connsiteX1" fmla="*/ 5715 w 2552661"/>
              <a:gd name="connsiteY1" fmla="*/ 0 h 2272671"/>
              <a:gd name="connsiteX2" fmla="*/ 0 w 2552661"/>
              <a:gd name="connsiteY2" fmla="*/ 991075 h 2272671"/>
              <a:gd name="connsiteX3" fmla="*/ 721519 w 2552661"/>
              <a:gd name="connsiteY3" fmla="*/ 990600 h 2272671"/>
              <a:gd name="connsiteX4" fmla="*/ 728186 w 2552661"/>
              <a:gd name="connsiteY4" fmla="*/ 2156935 h 2272671"/>
              <a:gd name="connsiteX5" fmla="*/ 2459831 w 2552661"/>
              <a:gd name="connsiteY5" fmla="*/ 2150744 h 2272671"/>
              <a:gd name="connsiteX6" fmla="*/ 1982848 w 2552661"/>
              <a:gd name="connsiteY6" fmla="*/ 1452086 h 2272671"/>
              <a:gd name="connsiteX7" fmla="*/ 1880638 w 2552661"/>
              <a:gd name="connsiteY7" fmla="*/ 723424 h 2272671"/>
              <a:gd name="connsiteX8" fmla="*/ 2453640 w 2552661"/>
              <a:gd name="connsiteY8" fmla="*/ 475 h 2272671"/>
              <a:gd name="connsiteX0" fmla="*/ 2453640 w 2552661"/>
              <a:gd name="connsiteY0" fmla="*/ 475 h 2272671"/>
              <a:gd name="connsiteX1" fmla="*/ 5715 w 2552661"/>
              <a:gd name="connsiteY1" fmla="*/ 0 h 2272671"/>
              <a:gd name="connsiteX2" fmla="*/ 0 w 2552661"/>
              <a:gd name="connsiteY2" fmla="*/ 991075 h 2272671"/>
              <a:gd name="connsiteX3" fmla="*/ 721519 w 2552661"/>
              <a:gd name="connsiteY3" fmla="*/ 990600 h 2272671"/>
              <a:gd name="connsiteX4" fmla="*/ 728186 w 2552661"/>
              <a:gd name="connsiteY4" fmla="*/ 2156935 h 2272671"/>
              <a:gd name="connsiteX5" fmla="*/ 2459831 w 2552661"/>
              <a:gd name="connsiteY5" fmla="*/ 2150744 h 2272671"/>
              <a:gd name="connsiteX6" fmla="*/ 1982848 w 2552661"/>
              <a:gd name="connsiteY6" fmla="*/ 1452086 h 2272671"/>
              <a:gd name="connsiteX7" fmla="*/ 1880638 w 2552661"/>
              <a:gd name="connsiteY7" fmla="*/ 723424 h 2272671"/>
              <a:gd name="connsiteX8" fmla="*/ 2453640 w 2552661"/>
              <a:gd name="connsiteY8" fmla="*/ 475 h 2272671"/>
              <a:gd name="connsiteX0" fmla="*/ 2453640 w 2552661"/>
              <a:gd name="connsiteY0" fmla="*/ 475 h 2272671"/>
              <a:gd name="connsiteX1" fmla="*/ 5715 w 2552661"/>
              <a:gd name="connsiteY1" fmla="*/ 0 h 2272671"/>
              <a:gd name="connsiteX2" fmla="*/ 0 w 2552661"/>
              <a:gd name="connsiteY2" fmla="*/ 991075 h 2272671"/>
              <a:gd name="connsiteX3" fmla="*/ 721519 w 2552661"/>
              <a:gd name="connsiteY3" fmla="*/ 990600 h 2272671"/>
              <a:gd name="connsiteX4" fmla="*/ 610332 w 2552661"/>
              <a:gd name="connsiteY4" fmla="*/ 1575911 h 2272671"/>
              <a:gd name="connsiteX5" fmla="*/ 728186 w 2552661"/>
              <a:gd name="connsiteY5" fmla="*/ 2156935 h 2272671"/>
              <a:gd name="connsiteX6" fmla="*/ 2459831 w 2552661"/>
              <a:gd name="connsiteY6" fmla="*/ 2150744 h 2272671"/>
              <a:gd name="connsiteX7" fmla="*/ 1982848 w 2552661"/>
              <a:gd name="connsiteY7" fmla="*/ 1452086 h 2272671"/>
              <a:gd name="connsiteX8" fmla="*/ 1880638 w 2552661"/>
              <a:gd name="connsiteY8" fmla="*/ 723424 h 2272671"/>
              <a:gd name="connsiteX9" fmla="*/ 2453640 w 2552661"/>
              <a:gd name="connsiteY9" fmla="*/ 475 h 2272671"/>
              <a:gd name="connsiteX0" fmla="*/ 2453640 w 2552661"/>
              <a:gd name="connsiteY0" fmla="*/ 475 h 2272671"/>
              <a:gd name="connsiteX1" fmla="*/ 5715 w 2552661"/>
              <a:gd name="connsiteY1" fmla="*/ 0 h 2272671"/>
              <a:gd name="connsiteX2" fmla="*/ 0 w 2552661"/>
              <a:gd name="connsiteY2" fmla="*/ 991075 h 2272671"/>
              <a:gd name="connsiteX3" fmla="*/ 721519 w 2552661"/>
              <a:gd name="connsiteY3" fmla="*/ 990600 h 2272671"/>
              <a:gd name="connsiteX4" fmla="*/ 728186 w 2552661"/>
              <a:gd name="connsiteY4" fmla="*/ 2156935 h 2272671"/>
              <a:gd name="connsiteX5" fmla="*/ 2459831 w 2552661"/>
              <a:gd name="connsiteY5" fmla="*/ 2150744 h 2272671"/>
              <a:gd name="connsiteX6" fmla="*/ 1982848 w 2552661"/>
              <a:gd name="connsiteY6" fmla="*/ 1452086 h 2272671"/>
              <a:gd name="connsiteX7" fmla="*/ 1880638 w 2552661"/>
              <a:gd name="connsiteY7" fmla="*/ 723424 h 2272671"/>
              <a:gd name="connsiteX8" fmla="*/ 2453640 w 2552661"/>
              <a:gd name="connsiteY8" fmla="*/ 475 h 2272671"/>
              <a:gd name="connsiteX0" fmla="*/ 2453640 w 2552661"/>
              <a:gd name="connsiteY0" fmla="*/ 475 h 2272671"/>
              <a:gd name="connsiteX1" fmla="*/ 5715 w 2552661"/>
              <a:gd name="connsiteY1" fmla="*/ 0 h 2272671"/>
              <a:gd name="connsiteX2" fmla="*/ 0 w 2552661"/>
              <a:gd name="connsiteY2" fmla="*/ 991075 h 2272671"/>
              <a:gd name="connsiteX3" fmla="*/ 575507 w 2552661"/>
              <a:gd name="connsiteY3" fmla="*/ 1243012 h 2272671"/>
              <a:gd name="connsiteX4" fmla="*/ 728186 w 2552661"/>
              <a:gd name="connsiteY4" fmla="*/ 2156935 h 2272671"/>
              <a:gd name="connsiteX5" fmla="*/ 2459831 w 2552661"/>
              <a:gd name="connsiteY5" fmla="*/ 2150744 h 2272671"/>
              <a:gd name="connsiteX6" fmla="*/ 1982848 w 2552661"/>
              <a:gd name="connsiteY6" fmla="*/ 1452086 h 2272671"/>
              <a:gd name="connsiteX7" fmla="*/ 1880638 w 2552661"/>
              <a:gd name="connsiteY7" fmla="*/ 723424 h 2272671"/>
              <a:gd name="connsiteX8" fmla="*/ 2453640 w 2552661"/>
              <a:gd name="connsiteY8" fmla="*/ 475 h 2272671"/>
              <a:gd name="connsiteX0" fmla="*/ 2654490 w 2753511"/>
              <a:gd name="connsiteY0" fmla="*/ 475 h 2272671"/>
              <a:gd name="connsiteX1" fmla="*/ 206565 w 2753511"/>
              <a:gd name="connsiteY1" fmla="*/ 0 h 2272671"/>
              <a:gd name="connsiteX2" fmla="*/ 200850 w 2753511"/>
              <a:gd name="connsiteY2" fmla="*/ 991075 h 2272671"/>
              <a:gd name="connsiteX3" fmla="*/ 776357 w 2753511"/>
              <a:gd name="connsiteY3" fmla="*/ 1243012 h 2272671"/>
              <a:gd name="connsiteX4" fmla="*/ 929036 w 2753511"/>
              <a:gd name="connsiteY4" fmla="*/ 2156935 h 2272671"/>
              <a:gd name="connsiteX5" fmla="*/ 2660681 w 2753511"/>
              <a:gd name="connsiteY5" fmla="*/ 2150744 h 2272671"/>
              <a:gd name="connsiteX6" fmla="*/ 2183698 w 2753511"/>
              <a:gd name="connsiteY6" fmla="*/ 1452086 h 2272671"/>
              <a:gd name="connsiteX7" fmla="*/ 2081488 w 2753511"/>
              <a:gd name="connsiteY7" fmla="*/ 723424 h 2272671"/>
              <a:gd name="connsiteX8" fmla="*/ 2654490 w 2753511"/>
              <a:gd name="connsiteY8" fmla="*/ 475 h 2272671"/>
              <a:gd name="connsiteX0" fmla="*/ 2654490 w 2753511"/>
              <a:gd name="connsiteY0" fmla="*/ 108034 h 2380230"/>
              <a:gd name="connsiteX1" fmla="*/ 206565 w 2753511"/>
              <a:gd name="connsiteY1" fmla="*/ 107559 h 2380230"/>
              <a:gd name="connsiteX2" fmla="*/ 200850 w 2753511"/>
              <a:gd name="connsiteY2" fmla="*/ 1098634 h 2380230"/>
              <a:gd name="connsiteX3" fmla="*/ 776357 w 2753511"/>
              <a:gd name="connsiteY3" fmla="*/ 1350571 h 2380230"/>
              <a:gd name="connsiteX4" fmla="*/ 929036 w 2753511"/>
              <a:gd name="connsiteY4" fmla="*/ 2264494 h 2380230"/>
              <a:gd name="connsiteX5" fmla="*/ 2660681 w 2753511"/>
              <a:gd name="connsiteY5" fmla="*/ 2258303 h 2380230"/>
              <a:gd name="connsiteX6" fmla="*/ 2183698 w 2753511"/>
              <a:gd name="connsiteY6" fmla="*/ 1559645 h 2380230"/>
              <a:gd name="connsiteX7" fmla="*/ 2081488 w 2753511"/>
              <a:gd name="connsiteY7" fmla="*/ 830983 h 2380230"/>
              <a:gd name="connsiteX8" fmla="*/ 2654490 w 2753511"/>
              <a:gd name="connsiteY8" fmla="*/ 108034 h 2380230"/>
              <a:gd name="connsiteX0" fmla="*/ 2561889 w 2660910"/>
              <a:gd name="connsiteY0" fmla="*/ 127988 h 2400184"/>
              <a:gd name="connsiteX1" fmla="*/ 269711 w 2660910"/>
              <a:gd name="connsiteY1" fmla="*/ 94175 h 2400184"/>
              <a:gd name="connsiteX2" fmla="*/ 108249 w 2660910"/>
              <a:gd name="connsiteY2" fmla="*/ 1118588 h 2400184"/>
              <a:gd name="connsiteX3" fmla="*/ 683756 w 2660910"/>
              <a:gd name="connsiteY3" fmla="*/ 1370525 h 2400184"/>
              <a:gd name="connsiteX4" fmla="*/ 836435 w 2660910"/>
              <a:gd name="connsiteY4" fmla="*/ 2284448 h 2400184"/>
              <a:gd name="connsiteX5" fmla="*/ 2568080 w 2660910"/>
              <a:gd name="connsiteY5" fmla="*/ 2278257 h 2400184"/>
              <a:gd name="connsiteX6" fmla="*/ 2091097 w 2660910"/>
              <a:gd name="connsiteY6" fmla="*/ 1579599 h 2400184"/>
              <a:gd name="connsiteX7" fmla="*/ 1988887 w 2660910"/>
              <a:gd name="connsiteY7" fmla="*/ 850937 h 2400184"/>
              <a:gd name="connsiteX8" fmla="*/ 2561889 w 2660910"/>
              <a:gd name="connsiteY8" fmla="*/ 127988 h 2400184"/>
              <a:gd name="connsiteX0" fmla="*/ 2566893 w 2665914"/>
              <a:gd name="connsiteY0" fmla="*/ 127988 h 2400184"/>
              <a:gd name="connsiteX1" fmla="*/ 274715 w 2665914"/>
              <a:gd name="connsiteY1" fmla="*/ 94175 h 2400184"/>
              <a:gd name="connsiteX2" fmla="*/ 103519 w 2665914"/>
              <a:gd name="connsiteY2" fmla="*/ 994763 h 2400184"/>
              <a:gd name="connsiteX3" fmla="*/ 688760 w 2665914"/>
              <a:gd name="connsiteY3" fmla="*/ 1370525 h 2400184"/>
              <a:gd name="connsiteX4" fmla="*/ 841439 w 2665914"/>
              <a:gd name="connsiteY4" fmla="*/ 2284448 h 2400184"/>
              <a:gd name="connsiteX5" fmla="*/ 2573084 w 2665914"/>
              <a:gd name="connsiteY5" fmla="*/ 2278257 h 2400184"/>
              <a:gd name="connsiteX6" fmla="*/ 2096101 w 2665914"/>
              <a:gd name="connsiteY6" fmla="*/ 1579599 h 2400184"/>
              <a:gd name="connsiteX7" fmla="*/ 1993891 w 2665914"/>
              <a:gd name="connsiteY7" fmla="*/ 850937 h 2400184"/>
              <a:gd name="connsiteX8" fmla="*/ 2566893 w 2665914"/>
              <a:gd name="connsiteY8" fmla="*/ 127988 h 2400184"/>
              <a:gd name="connsiteX0" fmla="*/ 2566893 w 2665914"/>
              <a:gd name="connsiteY0" fmla="*/ 127988 h 2400184"/>
              <a:gd name="connsiteX1" fmla="*/ 274715 w 2665914"/>
              <a:gd name="connsiteY1" fmla="*/ 94175 h 2400184"/>
              <a:gd name="connsiteX2" fmla="*/ 103519 w 2665914"/>
              <a:gd name="connsiteY2" fmla="*/ 994763 h 2400184"/>
              <a:gd name="connsiteX3" fmla="*/ 679026 w 2665914"/>
              <a:gd name="connsiteY3" fmla="*/ 1213362 h 2400184"/>
              <a:gd name="connsiteX4" fmla="*/ 841439 w 2665914"/>
              <a:gd name="connsiteY4" fmla="*/ 2284448 h 2400184"/>
              <a:gd name="connsiteX5" fmla="*/ 2573084 w 2665914"/>
              <a:gd name="connsiteY5" fmla="*/ 2278257 h 2400184"/>
              <a:gd name="connsiteX6" fmla="*/ 2096101 w 2665914"/>
              <a:gd name="connsiteY6" fmla="*/ 1579599 h 2400184"/>
              <a:gd name="connsiteX7" fmla="*/ 1993891 w 2665914"/>
              <a:gd name="connsiteY7" fmla="*/ 850937 h 2400184"/>
              <a:gd name="connsiteX8" fmla="*/ 2566893 w 2665914"/>
              <a:gd name="connsiteY8" fmla="*/ 127988 h 2400184"/>
              <a:gd name="connsiteX0" fmla="*/ 2581507 w 2680528"/>
              <a:gd name="connsiteY0" fmla="*/ 102830 h 2375026"/>
              <a:gd name="connsiteX1" fmla="*/ 260126 w 2680528"/>
              <a:gd name="connsiteY1" fmla="*/ 111879 h 2375026"/>
              <a:gd name="connsiteX2" fmla="*/ 118133 w 2680528"/>
              <a:gd name="connsiteY2" fmla="*/ 969605 h 2375026"/>
              <a:gd name="connsiteX3" fmla="*/ 693640 w 2680528"/>
              <a:gd name="connsiteY3" fmla="*/ 1188204 h 2375026"/>
              <a:gd name="connsiteX4" fmla="*/ 856053 w 2680528"/>
              <a:gd name="connsiteY4" fmla="*/ 2259290 h 2375026"/>
              <a:gd name="connsiteX5" fmla="*/ 2587698 w 2680528"/>
              <a:gd name="connsiteY5" fmla="*/ 2253099 h 2375026"/>
              <a:gd name="connsiteX6" fmla="*/ 2110715 w 2680528"/>
              <a:gd name="connsiteY6" fmla="*/ 1554441 h 2375026"/>
              <a:gd name="connsiteX7" fmla="*/ 2008505 w 2680528"/>
              <a:gd name="connsiteY7" fmla="*/ 825779 h 2375026"/>
              <a:gd name="connsiteX8" fmla="*/ 2581507 w 2680528"/>
              <a:gd name="connsiteY8" fmla="*/ 102830 h 2375026"/>
              <a:gd name="connsiteX0" fmla="*/ 2211609 w 2655392"/>
              <a:gd name="connsiteY0" fmla="*/ 113468 h 2366614"/>
              <a:gd name="connsiteX1" fmla="*/ 260126 w 2655392"/>
              <a:gd name="connsiteY1" fmla="*/ 103467 h 2366614"/>
              <a:gd name="connsiteX2" fmla="*/ 118133 w 2655392"/>
              <a:gd name="connsiteY2" fmla="*/ 961193 h 2366614"/>
              <a:gd name="connsiteX3" fmla="*/ 693640 w 2655392"/>
              <a:gd name="connsiteY3" fmla="*/ 1179792 h 2366614"/>
              <a:gd name="connsiteX4" fmla="*/ 856053 w 2655392"/>
              <a:gd name="connsiteY4" fmla="*/ 2250878 h 2366614"/>
              <a:gd name="connsiteX5" fmla="*/ 2587698 w 2655392"/>
              <a:gd name="connsiteY5" fmla="*/ 2244687 h 2366614"/>
              <a:gd name="connsiteX6" fmla="*/ 2110715 w 2655392"/>
              <a:gd name="connsiteY6" fmla="*/ 1546029 h 2366614"/>
              <a:gd name="connsiteX7" fmla="*/ 2008505 w 2655392"/>
              <a:gd name="connsiteY7" fmla="*/ 817367 h 2366614"/>
              <a:gd name="connsiteX8" fmla="*/ 2211609 w 2655392"/>
              <a:gd name="connsiteY8" fmla="*/ 113468 h 2366614"/>
              <a:gd name="connsiteX0" fmla="*/ 2211609 w 2655392"/>
              <a:gd name="connsiteY0" fmla="*/ 113468 h 2366614"/>
              <a:gd name="connsiteX1" fmla="*/ 260126 w 2655392"/>
              <a:gd name="connsiteY1" fmla="*/ 103467 h 2366614"/>
              <a:gd name="connsiteX2" fmla="*/ 118133 w 2655392"/>
              <a:gd name="connsiteY2" fmla="*/ 961193 h 2366614"/>
              <a:gd name="connsiteX3" fmla="*/ 693640 w 2655392"/>
              <a:gd name="connsiteY3" fmla="*/ 1179792 h 2366614"/>
              <a:gd name="connsiteX4" fmla="*/ 856053 w 2655392"/>
              <a:gd name="connsiteY4" fmla="*/ 2250878 h 2366614"/>
              <a:gd name="connsiteX5" fmla="*/ 2587698 w 2655392"/>
              <a:gd name="connsiteY5" fmla="*/ 2244687 h 2366614"/>
              <a:gd name="connsiteX6" fmla="*/ 2110715 w 2655392"/>
              <a:gd name="connsiteY6" fmla="*/ 1546029 h 2366614"/>
              <a:gd name="connsiteX7" fmla="*/ 2066910 w 2655392"/>
              <a:gd name="connsiteY7" fmla="*/ 888805 h 2366614"/>
              <a:gd name="connsiteX8" fmla="*/ 2211609 w 2655392"/>
              <a:gd name="connsiteY8" fmla="*/ 113468 h 2366614"/>
              <a:gd name="connsiteX0" fmla="*/ 2211609 w 2655392"/>
              <a:gd name="connsiteY0" fmla="*/ 113468 h 2314761"/>
              <a:gd name="connsiteX1" fmla="*/ 260126 w 2655392"/>
              <a:gd name="connsiteY1" fmla="*/ 103467 h 2314761"/>
              <a:gd name="connsiteX2" fmla="*/ 118133 w 2655392"/>
              <a:gd name="connsiteY2" fmla="*/ 961193 h 2314761"/>
              <a:gd name="connsiteX3" fmla="*/ 693640 w 2655392"/>
              <a:gd name="connsiteY3" fmla="*/ 1179792 h 2314761"/>
              <a:gd name="connsiteX4" fmla="*/ 802516 w 2655392"/>
              <a:gd name="connsiteY4" fmla="*/ 2141341 h 2314761"/>
              <a:gd name="connsiteX5" fmla="*/ 2587698 w 2655392"/>
              <a:gd name="connsiteY5" fmla="*/ 2244687 h 2314761"/>
              <a:gd name="connsiteX6" fmla="*/ 2110715 w 2655392"/>
              <a:gd name="connsiteY6" fmla="*/ 1546029 h 2314761"/>
              <a:gd name="connsiteX7" fmla="*/ 2066910 w 2655392"/>
              <a:gd name="connsiteY7" fmla="*/ 888805 h 2314761"/>
              <a:gd name="connsiteX8" fmla="*/ 2211609 w 2655392"/>
              <a:gd name="connsiteY8" fmla="*/ 113468 h 2314761"/>
              <a:gd name="connsiteX0" fmla="*/ 2211609 w 2361347"/>
              <a:gd name="connsiteY0" fmla="*/ 113468 h 2265078"/>
              <a:gd name="connsiteX1" fmla="*/ 260126 w 2361347"/>
              <a:gd name="connsiteY1" fmla="*/ 103467 h 2265078"/>
              <a:gd name="connsiteX2" fmla="*/ 118133 w 2361347"/>
              <a:gd name="connsiteY2" fmla="*/ 961193 h 2265078"/>
              <a:gd name="connsiteX3" fmla="*/ 693640 w 2361347"/>
              <a:gd name="connsiteY3" fmla="*/ 1179792 h 2265078"/>
              <a:gd name="connsiteX4" fmla="*/ 802516 w 2361347"/>
              <a:gd name="connsiteY4" fmla="*/ 2141341 h 2265078"/>
              <a:gd name="connsiteX5" fmla="*/ 2212933 w 2361347"/>
              <a:gd name="connsiteY5" fmla="*/ 2154199 h 2265078"/>
              <a:gd name="connsiteX6" fmla="*/ 2110715 w 2361347"/>
              <a:gd name="connsiteY6" fmla="*/ 1546029 h 2265078"/>
              <a:gd name="connsiteX7" fmla="*/ 2066910 w 2361347"/>
              <a:gd name="connsiteY7" fmla="*/ 888805 h 2265078"/>
              <a:gd name="connsiteX8" fmla="*/ 2211609 w 2361347"/>
              <a:gd name="connsiteY8" fmla="*/ 113468 h 2265078"/>
              <a:gd name="connsiteX0" fmla="*/ 2211609 w 2365709"/>
              <a:gd name="connsiteY0" fmla="*/ 113468 h 2265078"/>
              <a:gd name="connsiteX1" fmla="*/ 260126 w 2365709"/>
              <a:gd name="connsiteY1" fmla="*/ 103467 h 2265078"/>
              <a:gd name="connsiteX2" fmla="*/ 118133 w 2365709"/>
              <a:gd name="connsiteY2" fmla="*/ 961193 h 2265078"/>
              <a:gd name="connsiteX3" fmla="*/ 693640 w 2365709"/>
              <a:gd name="connsiteY3" fmla="*/ 1179792 h 2265078"/>
              <a:gd name="connsiteX4" fmla="*/ 802516 w 2365709"/>
              <a:gd name="connsiteY4" fmla="*/ 2141341 h 2265078"/>
              <a:gd name="connsiteX5" fmla="*/ 2212933 w 2365709"/>
              <a:gd name="connsiteY5" fmla="*/ 2154199 h 2265078"/>
              <a:gd name="connsiteX6" fmla="*/ 2227525 w 2365709"/>
              <a:gd name="connsiteY6" fmla="*/ 1641279 h 2265078"/>
              <a:gd name="connsiteX7" fmla="*/ 2066910 w 2365709"/>
              <a:gd name="connsiteY7" fmla="*/ 888805 h 2265078"/>
              <a:gd name="connsiteX8" fmla="*/ 2211609 w 2365709"/>
              <a:gd name="connsiteY8" fmla="*/ 113468 h 2265078"/>
              <a:gd name="connsiteX0" fmla="*/ 2211609 w 2361347"/>
              <a:gd name="connsiteY0" fmla="*/ 113468 h 2265078"/>
              <a:gd name="connsiteX1" fmla="*/ 260126 w 2361347"/>
              <a:gd name="connsiteY1" fmla="*/ 103467 h 2265078"/>
              <a:gd name="connsiteX2" fmla="*/ 118133 w 2361347"/>
              <a:gd name="connsiteY2" fmla="*/ 961193 h 2265078"/>
              <a:gd name="connsiteX3" fmla="*/ 693640 w 2361347"/>
              <a:gd name="connsiteY3" fmla="*/ 1179792 h 2265078"/>
              <a:gd name="connsiteX4" fmla="*/ 802516 w 2361347"/>
              <a:gd name="connsiteY4" fmla="*/ 2141341 h 2265078"/>
              <a:gd name="connsiteX5" fmla="*/ 2212933 w 2361347"/>
              <a:gd name="connsiteY5" fmla="*/ 2154199 h 2265078"/>
              <a:gd name="connsiteX6" fmla="*/ 2135050 w 2361347"/>
              <a:gd name="connsiteY6" fmla="*/ 1484117 h 2265078"/>
              <a:gd name="connsiteX7" fmla="*/ 2066910 w 2361347"/>
              <a:gd name="connsiteY7" fmla="*/ 888805 h 2265078"/>
              <a:gd name="connsiteX8" fmla="*/ 2211609 w 2361347"/>
              <a:gd name="connsiteY8" fmla="*/ 113468 h 2265078"/>
              <a:gd name="connsiteX0" fmla="*/ 2198241 w 2347979"/>
              <a:gd name="connsiteY0" fmla="*/ 113468 h 2265078"/>
              <a:gd name="connsiteX1" fmla="*/ 246758 w 2347979"/>
              <a:gd name="connsiteY1" fmla="*/ 103467 h 2265078"/>
              <a:gd name="connsiteX2" fmla="*/ 133968 w 2347979"/>
              <a:gd name="connsiteY2" fmla="*/ 1018343 h 2265078"/>
              <a:gd name="connsiteX3" fmla="*/ 680272 w 2347979"/>
              <a:gd name="connsiteY3" fmla="*/ 1179792 h 2265078"/>
              <a:gd name="connsiteX4" fmla="*/ 789148 w 2347979"/>
              <a:gd name="connsiteY4" fmla="*/ 2141341 h 2265078"/>
              <a:gd name="connsiteX5" fmla="*/ 2199565 w 2347979"/>
              <a:gd name="connsiteY5" fmla="*/ 2154199 h 2265078"/>
              <a:gd name="connsiteX6" fmla="*/ 2121682 w 2347979"/>
              <a:gd name="connsiteY6" fmla="*/ 1484117 h 2265078"/>
              <a:gd name="connsiteX7" fmla="*/ 2053542 w 2347979"/>
              <a:gd name="connsiteY7" fmla="*/ 888805 h 2265078"/>
              <a:gd name="connsiteX8" fmla="*/ 2198241 w 2347979"/>
              <a:gd name="connsiteY8" fmla="*/ 113468 h 2265078"/>
              <a:gd name="connsiteX0" fmla="*/ 2268443 w 2418181"/>
              <a:gd name="connsiteY0" fmla="*/ 80349 h 2231959"/>
              <a:gd name="connsiteX1" fmla="*/ 205018 w 2418181"/>
              <a:gd name="connsiteY1" fmla="*/ 137023 h 2231959"/>
              <a:gd name="connsiteX2" fmla="*/ 204170 w 2418181"/>
              <a:gd name="connsiteY2" fmla="*/ 985224 h 2231959"/>
              <a:gd name="connsiteX3" fmla="*/ 750474 w 2418181"/>
              <a:gd name="connsiteY3" fmla="*/ 1146673 h 2231959"/>
              <a:gd name="connsiteX4" fmla="*/ 859350 w 2418181"/>
              <a:gd name="connsiteY4" fmla="*/ 2108222 h 2231959"/>
              <a:gd name="connsiteX5" fmla="*/ 2269767 w 2418181"/>
              <a:gd name="connsiteY5" fmla="*/ 2121080 h 2231959"/>
              <a:gd name="connsiteX6" fmla="*/ 2191884 w 2418181"/>
              <a:gd name="connsiteY6" fmla="*/ 1450998 h 2231959"/>
              <a:gd name="connsiteX7" fmla="*/ 2123744 w 2418181"/>
              <a:gd name="connsiteY7" fmla="*/ 855686 h 2231959"/>
              <a:gd name="connsiteX8" fmla="*/ 2268443 w 2418181"/>
              <a:gd name="connsiteY8" fmla="*/ 80349 h 2231959"/>
              <a:gd name="connsiteX0" fmla="*/ 2306914 w 2456652"/>
              <a:gd name="connsiteY0" fmla="*/ 80349 h 2231959"/>
              <a:gd name="connsiteX1" fmla="*/ 243489 w 2456652"/>
              <a:gd name="connsiteY1" fmla="*/ 137023 h 2231959"/>
              <a:gd name="connsiteX2" fmla="*/ 40168 w 2456652"/>
              <a:gd name="connsiteY2" fmla="*/ 465161 h 2231959"/>
              <a:gd name="connsiteX3" fmla="*/ 242641 w 2456652"/>
              <a:gd name="connsiteY3" fmla="*/ 985224 h 2231959"/>
              <a:gd name="connsiteX4" fmla="*/ 788945 w 2456652"/>
              <a:gd name="connsiteY4" fmla="*/ 1146673 h 2231959"/>
              <a:gd name="connsiteX5" fmla="*/ 897821 w 2456652"/>
              <a:gd name="connsiteY5" fmla="*/ 2108222 h 2231959"/>
              <a:gd name="connsiteX6" fmla="*/ 2308238 w 2456652"/>
              <a:gd name="connsiteY6" fmla="*/ 2121080 h 2231959"/>
              <a:gd name="connsiteX7" fmla="*/ 2230355 w 2456652"/>
              <a:gd name="connsiteY7" fmla="*/ 1450998 h 2231959"/>
              <a:gd name="connsiteX8" fmla="*/ 2162215 w 2456652"/>
              <a:gd name="connsiteY8" fmla="*/ 855686 h 2231959"/>
              <a:gd name="connsiteX9" fmla="*/ 2306914 w 2456652"/>
              <a:gd name="connsiteY9" fmla="*/ 80349 h 2231959"/>
              <a:gd name="connsiteX0" fmla="*/ 2258762 w 2408500"/>
              <a:gd name="connsiteY0" fmla="*/ 80349 h 2231959"/>
              <a:gd name="connsiteX1" fmla="*/ 195337 w 2408500"/>
              <a:gd name="connsiteY1" fmla="*/ 137023 h 2231959"/>
              <a:gd name="connsiteX2" fmla="*/ 103959 w 2408500"/>
              <a:gd name="connsiteY2" fmla="*/ 660423 h 2231959"/>
              <a:gd name="connsiteX3" fmla="*/ 194489 w 2408500"/>
              <a:gd name="connsiteY3" fmla="*/ 985224 h 2231959"/>
              <a:gd name="connsiteX4" fmla="*/ 740793 w 2408500"/>
              <a:gd name="connsiteY4" fmla="*/ 1146673 h 2231959"/>
              <a:gd name="connsiteX5" fmla="*/ 849669 w 2408500"/>
              <a:gd name="connsiteY5" fmla="*/ 2108222 h 2231959"/>
              <a:gd name="connsiteX6" fmla="*/ 2260086 w 2408500"/>
              <a:gd name="connsiteY6" fmla="*/ 2121080 h 2231959"/>
              <a:gd name="connsiteX7" fmla="*/ 2182203 w 2408500"/>
              <a:gd name="connsiteY7" fmla="*/ 1450998 h 2231959"/>
              <a:gd name="connsiteX8" fmla="*/ 2114063 w 2408500"/>
              <a:gd name="connsiteY8" fmla="*/ 855686 h 2231959"/>
              <a:gd name="connsiteX9" fmla="*/ 2258762 w 2408500"/>
              <a:gd name="connsiteY9" fmla="*/ 80349 h 2231959"/>
              <a:gd name="connsiteX0" fmla="*/ 2180267 w 2330005"/>
              <a:gd name="connsiteY0" fmla="*/ 124981 h 2276591"/>
              <a:gd name="connsiteX1" fmla="*/ 262855 w 2330005"/>
              <a:gd name="connsiteY1" fmla="*/ 95930 h 2276591"/>
              <a:gd name="connsiteX2" fmla="*/ 25464 w 2330005"/>
              <a:gd name="connsiteY2" fmla="*/ 705055 h 2276591"/>
              <a:gd name="connsiteX3" fmla="*/ 115994 w 2330005"/>
              <a:gd name="connsiteY3" fmla="*/ 1029856 h 2276591"/>
              <a:gd name="connsiteX4" fmla="*/ 662298 w 2330005"/>
              <a:gd name="connsiteY4" fmla="*/ 1191305 h 2276591"/>
              <a:gd name="connsiteX5" fmla="*/ 771174 w 2330005"/>
              <a:gd name="connsiteY5" fmla="*/ 2152854 h 2276591"/>
              <a:gd name="connsiteX6" fmla="*/ 2181591 w 2330005"/>
              <a:gd name="connsiteY6" fmla="*/ 2165712 h 2276591"/>
              <a:gd name="connsiteX7" fmla="*/ 2103708 w 2330005"/>
              <a:gd name="connsiteY7" fmla="*/ 1495630 h 2276591"/>
              <a:gd name="connsiteX8" fmla="*/ 2035568 w 2330005"/>
              <a:gd name="connsiteY8" fmla="*/ 900318 h 2276591"/>
              <a:gd name="connsiteX9" fmla="*/ 2180267 w 2330005"/>
              <a:gd name="connsiteY9" fmla="*/ 124981 h 2276591"/>
              <a:gd name="connsiteX0" fmla="*/ 2202603 w 2352341"/>
              <a:gd name="connsiteY0" fmla="*/ 124981 h 2276591"/>
              <a:gd name="connsiteX1" fmla="*/ 285191 w 2352341"/>
              <a:gd name="connsiteY1" fmla="*/ 95930 h 2276591"/>
              <a:gd name="connsiteX2" fmla="*/ 13730 w 2352341"/>
              <a:gd name="connsiteY2" fmla="*/ 562180 h 2276591"/>
              <a:gd name="connsiteX3" fmla="*/ 138330 w 2352341"/>
              <a:gd name="connsiteY3" fmla="*/ 1029856 h 2276591"/>
              <a:gd name="connsiteX4" fmla="*/ 684634 w 2352341"/>
              <a:gd name="connsiteY4" fmla="*/ 1191305 h 2276591"/>
              <a:gd name="connsiteX5" fmla="*/ 793510 w 2352341"/>
              <a:gd name="connsiteY5" fmla="*/ 2152854 h 2276591"/>
              <a:gd name="connsiteX6" fmla="*/ 2203927 w 2352341"/>
              <a:gd name="connsiteY6" fmla="*/ 2165712 h 2276591"/>
              <a:gd name="connsiteX7" fmla="*/ 2126044 w 2352341"/>
              <a:gd name="connsiteY7" fmla="*/ 1495630 h 2276591"/>
              <a:gd name="connsiteX8" fmla="*/ 2057904 w 2352341"/>
              <a:gd name="connsiteY8" fmla="*/ 900318 h 2276591"/>
              <a:gd name="connsiteX9" fmla="*/ 2202603 w 2352341"/>
              <a:gd name="connsiteY9" fmla="*/ 124981 h 2276591"/>
              <a:gd name="connsiteX0" fmla="*/ 2190305 w 2340043"/>
              <a:gd name="connsiteY0" fmla="*/ 116266 h 2267876"/>
              <a:gd name="connsiteX1" fmla="*/ 336164 w 2340043"/>
              <a:gd name="connsiteY1" fmla="*/ 101503 h 2267876"/>
              <a:gd name="connsiteX2" fmla="*/ 1432 w 2340043"/>
              <a:gd name="connsiteY2" fmla="*/ 553465 h 2267876"/>
              <a:gd name="connsiteX3" fmla="*/ 126032 w 2340043"/>
              <a:gd name="connsiteY3" fmla="*/ 1021141 h 2267876"/>
              <a:gd name="connsiteX4" fmla="*/ 672336 w 2340043"/>
              <a:gd name="connsiteY4" fmla="*/ 1182590 h 2267876"/>
              <a:gd name="connsiteX5" fmla="*/ 781212 w 2340043"/>
              <a:gd name="connsiteY5" fmla="*/ 2144139 h 2267876"/>
              <a:gd name="connsiteX6" fmla="*/ 2191629 w 2340043"/>
              <a:gd name="connsiteY6" fmla="*/ 2156997 h 2267876"/>
              <a:gd name="connsiteX7" fmla="*/ 2113746 w 2340043"/>
              <a:gd name="connsiteY7" fmla="*/ 1486915 h 2267876"/>
              <a:gd name="connsiteX8" fmla="*/ 2045606 w 2340043"/>
              <a:gd name="connsiteY8" fmla="*/ 891603 h 2267876"/>
              <a:gd name="connsiteX9" fmla="*/ 2190305 w 2340043"/>
              <a:gd name="connsiteY9" fmla="*/ 116266 h 2267876"/>
              <a:gd name="connsiteX0" fmla="*/ 2375255 w 2497910"/>
              <a:gd name="connsiteY0" fmla="*/ 122024 h 2264109"/>
              <a:gd name="connsiteX1" fmla="*/ 336164 w 2497910"/>
              <a:gd name="connsiteY1" fmla="*/ 97736 h 2264109"/>
              <a:gd name="connsiteX2" fmla="*/ 1432 w 2497910"/>
              <a:gd name="connsiteY2" fmla="*/ 549698 h 2264109"/>
              <a:gd name="connsiteX3" fmla="*/ 126032 w 2497910"/>
              <a:gd name="connsiteY3" fmla="*/ 1017374 h 2264109"/>
              <a:gd name="connsiteX4" fmla="*/ 672336 w 2497910"/>
              <a:gd name="connsiteY4" fmla="*/ 1178823 h 2264109"/>
              <a:gd name="connsiteX5" fmla="*/ 781212 w 2497910"/>
              <a:gd name="connsiteY5" fmla="*/ 2140372 h 2264109"/>
              <a:gd name="connsiteX6" fmla="*/ 2191629 w 2497910"/>
              <a:gd name="connsiteY6" fmla="*/ 2153230 h 2264109"/>
              <a:gd name="connsiteX7" fmla="*/ 2113746 w 2497910"/>
              <a:gd name="connsiteY7" fmla="*/ 1483148 h 2264109"/>
              <a:gd name="connsiteX8" fmla="*/ 2045606 w 2497910"/>
              <a:gd name="connsiteY8" fmla="*/ 887836 h 2264109"/>
              <a:gd name="connsiteX9" fmla="*/ 2375255 w 2497910"/>
              <a:gd name="connsiteY9" fmla="*/ 122024 h 2264109"/>
              <a:gd name="connsiteX0" fmla="*/ 2180572 w 2332067"/>
              <a:gd name="connsiteY0" fmla="*/ 110723 h 2271858"/>
              <a:gd name="connsiteX1" fmla="*/ 336164 w 2332067"/>
              <a:gd name="connsiteY1" fmla="*/ 105485 h 2271858"/>
              <a:gd name="connsiteX2" fmla="*/ 1432 w 2332067"/>
              <a:gd name="connsiteY2" fmla="*/ 557447 h 2271858"/>
              <a:gd name="connsiteX3" fmla="*/ 126032 w 2332067"/>
              <a:gd name="connsiteY3" fmla="*/ 1025123 h 2271858"/>
              <a:gd name="connsiteX4" fmla="*/ 672336 w 2332067"/>
              <a:gd name="connsiteY4" fmla="*/ 1186572 h 2271858"/>
              <a:gd name="connsiteX5" fmla="*/ 781212 w 2332067"/>
              <a:gd name="connsiteY5" fmla="*/ 2148121 h 2271858"/>
              <a:gd name="connsiteX6" fmla="*/ 2191629 w 2332067"/>
              <a:gd name="connsiteY6" fmla="*/ 2160979 h 2271858"/>
              <a:gd name="connsiteX7" fmla="*/ 2113746 w 2332067"/>
              <a:gd name="connsiteY7" fmla="*/ 1490897 h 2271858"/>
              <a:gd name="connsiteX8" fmla="*/ 2045606 w 2332067"/>
              <a:gd name="connsiteY8" fmla="*/ 895585 h 2271858"/>
              <a:gd name="connsiteX9" fmla="*/ 2180572 w 2332067"/>
              <a:gd name="connsiteY9" fmla="*/ 110723 h 2271858"/>
              <a:gd name="connsiteX0" fmla="*/ 2180572 w 2332067"/>
              <a:gd name="connsiteY0" fmla="*/ 110723 h 2214752"/>
              <a:gd name="connsiteX1" fmla="*/ 336164 w 2332067"/>
              <a:gd name="connsiteY1" fmla="*/ 105485 h 2214752"/>
              <a:gd name="connsiteX2" fmla="*/ 1432 w 2332067"/>
              <a:gd name="connsiteY2" fmla="*/ 557447 h 2214752"/>
              <a:gd name="connsiteX3" fmla="*/ 126032 w 2332067"/>
              <a:gd name="connsiteY3" fmla="*/ 1025123 h 2214752"/>
              <a:gd name="connsiteX4" fmla="*/ 672336 w 2332067"/>
              <a:gd name="connsiteY4" fmla="*/ 1186572 h 2214752"/>
              <a:gd name="connsiteX5" fmla="*/ 781212 w 2332067"/>
              <a:gd name="connsiteY5" fmla="*/ 2148121 h 2214752"/>
              <a:gd name="connsiteX6" fmla="*/ 2162427 w 2332067"/>
              <a:gd name="connsiteY6" fmla="*/ 1946667 h 2214752"/>
              <a:gd name="connsiteX7" fmla="*/ 2113746 w 2332067"/>
              <a:gd name="connsiteY7" fmla="*/ 1490897 h 2214752"/>
              <a:gd name="connsiteX8" fmla="*/ 2045606 w 2332067"/>
              <a:gd name="connsiteY8" fmla="*/ 895585 h 2214752"/>
              <a:gd name="connsiteX9" fmla="*/ 2180572 w 2332067"/>
              <a:gd name="connsiteY9" fmla="*/ 110723 h 2214752"/>
              <a:gd name="connsiteX0" fmla="*/ 2239673 w 2391168"/>
              <a:gd name="connsiteY0" fmla="*/ 129205 h 2233234"/>
              <a:gd name="connsiteX1" fmla="*/ 223944 w 2391168"/>
              <a:gd name="connsiteY1" fmla="*/ 93487 h 2233234"/>
              <a:gd name="connsiteX2" fmla="*/ 60533 w 2391168"/>
              <a:gd name="connsiteY2" fmla="*/ 575929 h 2233234"/>
              <a:gd name="connsiteX3" fmla="*/ 185133 w 2391168"/>
              <a:gd name="connsiteY3" fmla="*/ 1043605 h 2233234"/>
              <a:gd name="connsiteX4" fmla="*/ 731437 w 2391168"/>
              <a:gd name="connsiteY4" fmla="*/ 1205054 h 2233234"/>
              <a:gd name="connsiteX5" fmla="*/ 840313 w 2391168"/>
              <a:gd name="connsiteY5" fmla="*/ 2166603 h 2233234"/>
              <a:gd name="connsiteX6" fmla="*/ 2221528 w 2391168"/>
              <a:gd name="connsiteY6" fmla="*/ 1965149 h 2233234"/>
              <a:gd name="connsiteX7" fmla="*/ 2172847 w 2391168"/>
              <a:gd name="connsiteY7" fmla="*/ 1509379 h 2233234"/>
              <a:gd name="connsiteX8" fmla="*/ 2104707 w 2391168"/>
              <a:gd name="connsiteY8" fmla="*/ 914067 h 2233234"/>
              <a:gd name="connsiteX9" fmla="*/ 2239673 w 2391168"/>
              <a:gd name="connsiteY9" fmla="*/ 129205 h 2233234"/>
              <a:gd name="connsiteX0" fmla="*/ 2397185 w 2548680"/>
              <a:gd name="connsiteY0" fmla="*/ 129205 h 2233234"/>
              <a:gd name="connsiteX1" fmla="*/ 381456 w 2548680"/>
              <a:gd name="connsiteY1" fmla="*/ 93487 h 2233234"/>
              <a:gd name="connsiteX2" fmla="*/ 0 w 2548680"/>
              <a:gd name="connsiteY2" fmla="*/ 659749 h 2233234"/>
              <a:gd name="connsiteX3" fmla="*/ 342645 w 2548680"/>
              <a:gd name="connsiteY3" fmla="*/ 1043605 h 2233234"/>
              <a:gd name="connsiteX4" fmla="*/ 888949 w 2548680"/>
              <a:gd name="connsiteY4" fmla="*/ 1205054 h 2233234"/>
              <a:gd name="connsiteX5" fmla="*/ 997825 w 2548680"/>
              <a:gd name="connsiteY5" fmla="*/ 2166603 h 2233234"/>
              <a:gd name="connsiteX6" fmla="*/ 2379040 w 2548680"/>
              <a:gd name="connsiteY6" fmla="*/ 1965149 h 2233234"/>
              <a:gd name="connsiteX7" fmla="*/ 2330359 w 2548680"/>
              <a:gd name="connsiteY7" fmla="*/ 1509379 h 2233234"/>
              <a:gd name="connsiteX8" fmla="*/ 2262219 w 2548680"/>
              <a:gd name="connsiteY8" fmla="*/ 914067 h 2233234"/>
              <a:gd name="connsiteX9" fmla="*/ 2397185 w 2548680"/>
              <a:gd name="connsiteY9" fmla="*/ 129205 h 2233234"/>
              <a:gd name="connsiteX0" fmla="*/ 2397185 w 2548680"/>
              <a:gd name="connsiteY0" fmla="*/ 129205 h 2233234"/>
              <a:gd name="connsiteX1" fmla="*/ 381456 w 2548680"/>
              <a:gd name="connsiteY1" fmla="*/ 93487 h 2233234"/>
              <a:gd name="connsiteX2" fmla="*/ 0 w 2548680"/>
              <a:gd name="connsiteY2" fmla="*/ 659749 h 2233234"/>
              <a:gd name="connsiteX3" fmla="*/ 163537 w 2548680"/>
              <a:gd name="connsiteY3" fmla="*/ 1028365 h 2233234"/>
              <a:gd name="connsiteX4" fmla="*/ 888949 w 2548680"/>
              <a:gd name="connsiteY4" fmla="*/ 1205054 h 2233234"/>
              <a:gd name="connsiteX5" fmla="*/ 997825 w 2548680"/>
              <a:gd name="connsiteY5" fmla="*/ 2166603 h 2233234"/>
              <a:gd name="connsiteX6" fmla="*/ 2379040 w 2548680"/>
              <a:gd name="connsiteY6" fmla="*/ 1965149 h 2233234"/>
              <a:gd name="connsiteX7" fmla="*/ 2330359 w 2548680"/>
              <a:gd name="connsiteY7" fmla="*/ 1509379 h 2233234"/>
              <a:gd name="connsiteX8" fmla="*/ 2262219 w 2548680"/>
              <a:gd name="connsiteY8" fmla="*/ 914067 h 2233234"/>
              <a:gd name="connsiteX9" fmla="*/ 2397185 w 2548680"/>
              <a:gd name="connsiteY9" fmla="*/ 129205 h 2233234"/>
              <a:gd name="connsiteX0" fmla="*/ 2397185 w 2734466"/>
              <a:gd name="connsiteY0" fmla="*/ 129205 h 2233234"/>
              <a:gd name="connsiteX1" fmla="*/ 381456 w 2734466"/>
              <a:gd name="connsiteY1" fmla="*/ 93487 h 2233234"/>
              <a:gd name="connsiteX2" fmla="*/ 0 w 2734466"/>
              <a:gd name="connsiteY2" fmla="*/ 659749 h 2233234"/>
              <a:gd name="connsiteX3" fmla="*/ 163537 w 2734466"/>
              <a:gd name="connsiteY3" fmla="*/ 1028365 h 2233234"/>
              <a:gd name="connsiteX4" fmla="*/ 888949 w 2734466"/>
              <a:gd name="connsiteY4" fmla="*/ 1205054 h 2233234"/>
              <a:gd name="connsiteX5" fmla="*/ 997825 w 2734466"/>
              <a:gd name="connsiteY5" fmla="*/ 2166603 h 2233234"/>
              <a:gd name="connsiteX6" fmla="*/ 2379040 w 2734466"/>
              <a:gd name="connsiteY6" fmla="*/ 1965149 h 2233234"/>
              <a:gd name="connsiteX7" fmla="*/ 2330359 w 2734466"/>
              <a:gd name="connsiteY7" fmla="*/ 1509379 h 2233234"/>
              <a:gd name="connsiteX8" fmla="*/ 2729458 w 2734466"/>
              <a:gd name="connsiteY8" fmla="*/ 875967 h 2233234"/>
              <a:gd name="connsiteX9" fmla="*/ 2397185 w 2734466"/>
              <a:gd name="connsiteY9" fmla="*/ 129205 h 2233234"/>
              <a:gd name="connsiteX0" fmla="*/ 2397185 w 2848782"/>
              <a:gd name="connsiteY0" fmla="*/ 129205 h 2233234"/>
              <a:gd name="connsiteX1" fmla="*/ 381456 w 2848782"/>
              <a:gd name="connsiteY1" fmla="*/ 93487 h 2233234"/>
              <a:gd name="connsiteX2" fmla="*/ 0 w 2848782"/>
              <a:gd name="connsiteY2" fmla="*/ 659749 h 2233234"/>
              <a:gd name="connsiteX3" fmla="*/ 163537 w 2848782"/>
              <a:gd name="connsiteY3" fmla="*/ 1028365 h 2233234"/>
              <a:gd name="connsiteX4" fmla="*/ 888949 w 2848782"/>
              <a:gd name="connsiteY4" fmla="*/ 1205054 h 2233234"/>
              <a:gd name="connsiteX5" fmla="*/ 997825 w 2848782"/>
              <a:gd name="connsiteY5" fmla="*/ 2166603 h 2233234"/>
              <a:gd name="connsiteX6" fmla="*/ 2379040 w 2848782"/>
              <a:gd name="connsiteY6" fmla="*/ 1965149 h 2233234"/>
              <a:gd name="connsiteX7" fmla="*/ 2828748 w 2848782"/>
              <a:gd name="connsiteY7" fmla="*/ 1494139 h 2233234"/>
              <a:gd name="connsiteX8" fmla="*/ 2729458 w 2848782"/>
              <a:gd name="connsiteY8" fmla="*/ 875967 h 2233234"/>
              <a:gd name="connsiteX9" fmla="*/ 2397185 w 2848782"/>
              <a:gd name="connsiteY9" fmla="*/ 129205 h 2233234"/>
              <a:gd name="connsiteX0" fmla="*/ 2397185 w 2848782"/>
              <a:gd name="connsiteY0" fmla="*/ 129205 h 2233234"/>
              <a:gd name="connsiteX1" fmla="*/ 381456 w 2848782"/>
              <a:gd name="connsiteY1" fmla="*/ 93487 h 2233234"/>
              <a:gd name="connsiteX2" fmla="*/ 0 w 2848782"/>
              <a:gd name="connsiteY2" fmla="*/ 659749 h 2233234"/>
              <a:gd name="connsiteX3" fmla="*/ 163537 w 2848782"/>
              <a:gd name="connsiteY3" fmla="*/ 1028365 h 2233234"/>
              <a:gd name="connsiteX4" fmla="*/ 888949 w 2848782"/>
              <a:gd name="connsiteY4" fmla="*/ 1205054 h 2233234"/>
              <a:gd name="connsiteX5" fmla="*/ 997825 w 2848782"/>
              <a:gd name="connsiteY5" fmla="*/ 2166603 h 2233234"/>
              <a:gd name="connsiteX6" fmla="*/ 2379040 w 2848782"/>
              <a:gd name="connsiteY6" fmla="*/ 1965149 h 2233234"/>
              <a:gd name="connsiteX7" fmla="*/ 2828748 w 2848782"/>
              <a:gd name="connsiteY7" fmla="*/ 1494139 h 2233234"/>
              <a:gd name="connsiteX8" fmla="*/ 2397185 w 2848782"/>
              <a:gd name="connsiteY8" fmla="*/ 129205 h 2233234"/>
              <a:gd name="connsiteX0" fmla="*/ 2584081 w 2862247"/>
              <a:gd name="connsiteY0" fmla="*/ 129205 h 2233234"/>
              <a:gd name="connsiteX1" fmla="*/ 381456 w 2862247"/>
              <a:gd name="connsiteY1" fmla="*/ 93487 h 2233234"/>
              <a:gd name="connsiteX2" fmla="*/ 0 w 2862247"/>
              <a:gd name="connsiteY2" fmla="*/ 659749 h 2233234"/>
              <a:gd name="connsiteX3" fmla="*/ 163537 w 2862247"/>
              <a:gd name="connsiteY3" fmla="*/ 1028365 h 2233234"/>
              <a:gd name="connsiteX4" fmla="*/ 888949 w 2862247"/>
              <a:gd name="connsiteY4" fmla="*/ 1205054 h 2233234"/>
              <a:gd name="connsiteX5" fmla="*/ 997825 w 2862247"/>
              <a:gd name="connsiteY5" fmla="*/ 2166603 h 2233234"/>
              <a:gd name="connsiteX6" fmla="*/ 2379040 w 2862247"/>
              <a:gd name="connsiteY6" fmla="*/ 1965149 h 2233234"/>
              <a:gd name="connsiteX7" fmla="*/ 2828748 w 2862247"/>
              <a:gd name="connsiteY7" fmla="*/ 1494139 h 2233234"/>
              <a:gd name="connsiteX8" fmla="*/ 2584081 w 2862247"/>
              <a:gd name="connsiteY8" fmla="*/ 129205 h 2233234"/>
              <a:gd name="connsiteX0" fmla="*/ 2584081 w 2737658"/>
              <a:gd name="connsiteY0" fmla="*/ 129205 h 2233234"/>
              <a:gd name="connsiteX1" fmla="*/ 381456 w 2737658"/>
              <a:gd name="connsiteY1" fmla="*/ 93487 h 2233234"/>
              <a:gd name="connsiteX2" fmla="*/ 0 w 2737658"/>
              <a:gd name="connsiteY2" fmla="*/ 659749 h 2233234"/>
              <a:gd name="connsiteX3" fmla="*/ 163537 w 2737658"/>
              <a:gd name="connsiteY3" fmla="*/ 1028365 h 2233234"/>
              <a:gd name="connsiteX4" fmla="*/ 888949 w 2737658"/>
              <a:gd name="connsiteY4" fmla="*/ 1205054 h 2233234"/>
              <a:gd name="connsiteX5" fmla="*/ 997825 w 2737658"/>
              <a:gd name="connsiteY5" fmla="*/ 2166603 h 2233234"/>
              <a:gd name="connsiteX6" fmla="*/ 2379040 w 2737658"/>
              <a:gd name="connsiteY6" fmla="*/ 1965149 h 2233234"/>
              <a:gd name="connsiteX7" fmla="*/ 2584081 w 2737658"/>
              <a:gd name="connsiteY7" fmla="*/ 129205 h 2233234"/>
              <a:gd name="connsiteX0" fmla="*/ 2584081 w 2811207"/>
              <a:gd name="connsiteY0" fmla="*/ 129205 h 2233234"/>
              <a:gd name="connsiteX1" fmla="*/ 381456 w 2811207"/>
              <a:gd name="connsiteY1" fmla="*/ 93487 h 2233234"/>
              <a:gd name="connsiteX2" fmla="*/ 0 w 2811207"/>
              <a:gd name="connsiteY2" fmla="*/ 659749 h 2233234"/>
              <a:gd name="connsiteX3" fmla="*/ 163537 w 2811207"/>
              <a:gd name="connsiteY3" fmla="*/ 1028365 h 2233234"/>
              <a:gd name="connsiteX4" fmla="*/ 888949 w 2811207"/>
              <a:gd name="connsiteY4" fmla="*/ 1205054 h 2233234"/>
              <a:gd name="connsiteX5" fmla="*/ 997825 w 2811207"/>
              <a:gd name="connsiteY5" fmla="*/ 2166603 h 2233234"/>
              <a:gd name="connsiteX6" fmla="*/ 2589298 w 2811207"/>
              <a:gd name="connsiteY6" fmla="*/ 1965149 h 2233234"/>
              <a:gd name="connsiteX7" fmla="*/ 2584081 w 2811207"/>
              <a:gd name="connsiteY7" fmla="*/ 129205 h 2233234"/>
              <a:gd name="connsiteX0" fmla="*/ 2584081 w 2811207"/>
              <a:gd name="connsiteY0" fmla="*/ 129205 h 2277377"/>
              <a:gd name="connsiteX1" fmla="*/ 381456 w 2811207"/>
              <a:gd name="connsiteY1" fmla="*/ 93487 h 2277377"/>
              <a:gd name="connsiteX2" fmla="*/ 0 w 2811207"/>
              <a:gd name="connsiteY2" fmla="*/ 659749 h 2277377"/>
              <a:gd name="connsiteX3" fmla="*/ 163537 w 2811207"/>
              <a:gd name="connsiteY3" fmla="*/ 1028365 h 2277377"/>
              <a:gd name="connsiteX4" fmla="*/ 888949 w 2811207"/>
              <a:gd name="connsiteY4" fmla="*/ 1205054 h 2277377"/>
              <a:gd name="connsiteX5" fmla="*/ 997825 w 2811207"/>
              <a:gd name="connsiteY5" fmla="*/ 2166603 h 2277377"/>
              <a:gd name="connsiteX6" fmla="*/ 2589298 w 2811207"/>
              <a:gd name="connsiteY6" fmla="*/ 1965149 h 2277377"/>
              <a:gd name="connsiteX7" fmla="*/ 2584081 w 2811207"/>
              <a:gd name="connsiteY7" fmla="*/ 129205 h 2277377"/>
              <a:gd name="connsiteX0" fmla="*/ 2584081 w 2803243"/>
              <a:gd name="connsiteY0" fmla="*/ 129205 h 2277377"/>
              <a:gd name="connsiteX1" fmla="*/ 381456 w 2803243"/>
              <a:gd name="connsiteY1" fmla="*/ 93487 h 2277377"/>
              <a:gd name="connsiteX2" fmla="*/ 0 w 2803243"/>
              <a:gd name="connsiteY2" fmla="*/ 659749 h 2277377"/>
              <a:gd name="connsiteX3" fmla="*/ 163537 w 2803243"/>
              <a:gd name="connsiteY3" fmla="*/ 1028365 h 2277377"/>
              <a:gd name="connsiteX4" fmla="*/ 888949 w 2803243"/>
              <a:gd name="connsiteY4" fmla="*/ 1205054 h 2277377"/>
              <a:gd name="connsiteX5" fmla="*/ 997825 w 2803243"/>
              <a:gd name="connsiteY5" fmla="*/ 2166603 h 2277377"/>
              <a:gd name="connsiteX6" fmla="*/ 2589298 w 2803243"/>
              <a:gd name="connsiteY6" fmla="*/ 1965149 h 2277377"/>
              <a:gd name="connsiteX7" fmla="*/ 2584081 w 2803243"/>
              <a:gd name="connsiteY7" fmla="*/ 129205 h 227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03243" h="2277377">
                <a:moveTo>
                  <a:pt x="2584081" y="129205"/>
                </a:moveTo>
                <a:cubicBezTo>
                  <a:pt x="2271594" y="8634"/>
                  <a:pt x="790396" y="-71613"/>
                  <a:pt x="381456" y="93487"/>
                </a:cubicBezTo>
                <a:cubicBezTo>
                  <a:pt x="3665" y="157622"/>
                  <a:pt x="141" y="518382"/>
                  <a:pt x="0" y="659749"/>
                </a:cubicBezTo>
                <a:cubicBezTo>
                  <a:pt x="-141" y="801116"/>
                  <a:pt x="38741" y="914780"/>
                  <a:pt x="163537" y="1028365"/>
                </a:cubicBezTo>
                <a:cubicBezTo>
                  <a:pt x="282838" y="1193465"/>
                  <a:pt x="767585" y="1010744"/>
                  <a:pt x="888949" y="1205054"/>
                </a:cubicBezTo>
                <a:cubicBezTo>
                  <a:pt x="1010313" y="1399364"/>
                  <a:pt x="708106" y="1973246"/>
                  <a:pt x="997825" y="2166603"/>
                </a:cubicBezTo>
                <a:cubicBezTo>
                  <a:pt x="1287544" y="2359960"/>
                  <a:pt x="2324922" y="2304715"/>
                  <a:pt x="2589298" y="1965149"/>
                </a:cubicBezTo>
                <a:cubicBezTo>
                  <a:pt x="2853674" y="1625583"/>
                  <a:pt x="2896568" y="249776"/>
                  <a:pt x="2584081" y="129205"/>
                </a:cubicBezTo>
                <a:close/>
              </a:path>
            </a:pathLst>
          </a:custGeom>
          <a:ln w="19050">
            <a:solidFill>
              <a:srgbClr val="FF3300"/>
            </a:solidFill>
            <a:prstDash val="sys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927433" y="4658075"/>
            <a:ext cx="5867651" cy="2022248"/>
            <a:chOff x="2927433" y="4658075"/>
            <a:chExt cx="5867651" cy="2022248"/>
          </a:xfrm>
        </p:grpSpPr>
        <p:pic>
          <p:nvPicPr>
            <p:cNvPr id="137221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7433" y="4687536"/>
              <a:ext cx="5867651" cy="1992787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6264818" y="4658075"/>
              <a:ext cx="39831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000" i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  <a:sym typeface="Symbol"/>
                </a:rPr>
                <a:t>V</a:t>
              </a:r>
              <a:r>
                <a:rPr lang="en-ZA" sz="2000" i="1" baseline="-25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  <a:sym typeface="Symbol"/>
                </a:rPr>
                <a:t>o</a:t>
              </a:r>
              <a:endParaRPr lang="en-ZA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74769" y="4687536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000" i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  <a:sym typeface="Symbol"/>
                </a:rPr>
                <a:t>V</a:t>
              </a:r>
              <a:r>
                <a:rPr lang="en-ZA" sz="2000" i="1" baseline="-25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  <a:sym typeface="Symbol"/>
                </a:rPr>
                <a:t>1</a:t>
              </a:r>
              <a:endParaRPr lang="en-ZA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691267" y="5495906"/>
              <a:ext cx="5709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i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 V</a:t>
              </a:r>
              <a:endParaRPr lang="en-ZA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89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4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261937" y="1333793"/>
            <a:ext cx="5243407" cy="1807106"/>
            <a:chOff x="1579897" y="904222"/>
            <a:chExt cx="5867651" cy="2022248"/>
          </a:xfrm>
        </p:grpSpPr>
        <p:pic>
          <p:nvPicPr>
            <p:cNvPr id="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9897" y="933683"/>
              <a:ext cx="5867651" cy="1992787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4917282" y="904222"/>
              <a:ext cx="39831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000" i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  <a:sym typeface="Symbol"/>
                </a:rPr>
                <a:t>V</a:t>
              </a:r>
              <a:r>
                <a:rPr lang="en-ZA" sz="2000" i="1" baseline="-25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  <a:sym typeface="Symbol"/>
                </a:rPr>
                <a:t>o</a:t>
              </a:r>
              <a:endParaRPr lang="en-ZA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Rectangle 4"/>
            <p:cNvSpPr/>
            <p:nvPr/>
          </p:nvSpPr>
          <p:spPr>
            <a:xfrm>
              <a:off x="3327233" y="933683"/>
              <a:ext cx="42672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sz="2000" i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  <a:sym typeface="Symbol"/>
                </a:rPr>
                <a:t>V</a:t>
              </a:r>
              <a:r>
                <a:rPr lang="en-ZA" sz="2000" i="1" baseline="-25000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  <a:cs typeface="Times New Roman" pitchFamily="18" charset="0"/>
                  <a:sym typeface="Symbol"/>
                </a:rPr>
                <a:t>1</a:t>
              </a:r>
              <a:endParaRPr lang="en-ZA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941948" y="114299"/>
            <a:ext cx="7403524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5.1 </a:t>
            </a:r>
            <a:r>
              <a:rPr lang="en-ZA" sz="2400" b="1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Use a 741 Op Amp with A = 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10</a:t>
            </a:r>
            <a:r>
              <a:rPr lang="en-ZA" sz="2400" baseline="30000" dirty="0" smtClean="0">
                <a:latin typeface="Times New Roman" pitchFamily="18" charset="0"/>
                <a:cs typeface="Times New Roman" pitchFamily="18" charset="0"/>
                <a:sym typeface="Symbol"/>
              </a:rPr>
              <a:t>5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,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R</a:t>
            </a:r>
            <a:r>
              <a:rPr lang="en-ZA" sz="2400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= 2 M, R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o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= 50 .</a:t>
            </a:r>
            <a:endParaRPr lang="en-ZA" sz="2400" dirty="0"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Determine the closed-loop gain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o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/v</a:t>
            </a:r>
            <a:r>
              <a:rPr lang="en-ZA" sz="2400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s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. </a:t>
            </a:r>
          </a:p>
        </p:txBody>
      </p:sp>
      <p:sp>
        <p:nvSpPr>
          <p:cNvPr id="9" name="Rectangle 8"/>
          <p:cNvSpPr/>
          <p:nvPr/>
        </p:nvSpPr>
        <p:spPr>
          <a:xfrm>
            <a:off x="3036159" y="3209067"/>
            <a:ext cx="18565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b="1" dirty="0" smtClean="0">
                <a:latin typeface="Times New Roman" pitchFamily="18" charset="0"/>
                <a:cs typeface="Times New Roman" pitchFamily="18" charset="0"/>
              </a:rPr>
              <a:t>Nodal analysis:</a:t>
            </a:r>
            <a:endParaRPr lang="en-ZA" sz="2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2486" y="3956106"/>
                <a:ext cx="4160241" cy="16204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80808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effectLst/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effectLst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2</m:t>
                          </m:r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ZA" sz="2000" b="0" i="1" smtClean="0">
                          <a:effectLst/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effectLst/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effectLst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5</m:t>
                          </m:r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ZA" sz="2000" b="0" i="1" smtClean="0">
                          <a:effectLst/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effectLst/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effectLst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40</m:t>
                          </m:r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ZA" sz="2000" b="0" i="1" smtClean="0">
                          <a:effectLst/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effectLst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+400</m:t>
                      </m:r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+50</m:t>
                      </m:r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−50</m:t>
                      </m:r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b="0" dirty="0" smtClean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</a:rPr>
                        <m:t>451</m:t>
                      </m:r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−50</m:t>
                      </m:r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ZA" sz="2000" dirty="0" smtClean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86" y="3956106"/>
                <a:ext cx="4160241" cy="162044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42105" y="3597618"/>
            <a:ext cx="20561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u="sng" dirty="0" smtClean="0">
                <a:latin typeface="Times New Roman" pitchFamily="18" charset="0"/>
                <a:cs typeface="Times New Roman" pitchFamily="18" charset="0"/>
              </a:rPr>
              <a:t>KCL @ Node V</a:t>
            </a:r>
            <a:r>
              <a:rPr lang="en-ZA" sz="2000" u="sng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ZA" sz="20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62203" y="3561522"/>
            <a:ext cx="20561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u="sng" dirty="0" smtClean="0">
                <a:latin typeface="Times New Roman" pitchFamily="18" charset="0"/>
                <a:cs typeface="Times New Roman" pitchFamily="18" charset="0"/>
              </a:rPr>
              <a:t>KCL @ Node V</a:t>
            </a:r>
            <a:r>
              <a:rPr lang="en-ZA" sz="2000" u="sng" baseline="-25000" dirty="0">
                <a:latin typeface="Times New Roman" pitchFamily="18" charset="0"/>
                <a:cs typeface="Times New Roman" pitchFamily="18" charset="0"/>
              </a:rPr>
              <a:t>o</a:t>
            </a:r>
            <a:endParaRPr lang="en-ZA" sz="2000" u="sng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325617" y="3964122"/>
                <a:ext cx="4773935" cy="205556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80808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effectLst/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effectLst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40</m:t>
                          </m:r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ZA" sz="2000" b="0" i="1" smtClean="0">
                          <a:effectLst/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effectLst/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effectLst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20</m:t>
                          </m:r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ZA" sz="2000" b="0" i="1" smtClean="0">
                          <a:effectLst/>
                          <a:latin typeface="Cambria Math"/>
                          <a:ea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effectLst/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effectLst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−</m:t>
                          </m:r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50</m:t>
                          </m:r>
                        </m:den>
                      </m:f>
                      <m:r>
                        <a:rPr lang="en-ZA" sz="2000" b="0" i="1" smtClean="0">
                          <a:effectLst/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effectLst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effectLst/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effectLst/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sz="2000" b="0" i="1" smtClean="0">
                              <a:effectLst/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+2</m:t>
                      </m:r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+800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ZA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ZA" sz="2000" b="0" i="1" smtClean="0">
                              <a:latin typeface="Cambria Math"/>
                            </a:rPr>
                            <m:t>𝐴</m:t>
                          </m:r>
                          <m:d>
                            <m:dPr>
                              <m:ctrlPr>
                                <a:rPr lang="en-ZA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ZA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ZA" sz="2000" b="0" i="1" smtClean="0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ZA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ZA" sz="2000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ZA" sz="200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ZA" sz="2000" b="0" i="1" smtClean="0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ZA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ZA" sz="20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b="0" dirty="0" smtClean="0"/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sz="2000" i="1">
                          <a:latin typeface="Cambria Math"/>
                        </a:rPr>
                        <m:t>1</m:t>
                      </m:r>
                      <m:r>
                        <a:rPr lang="en-ZA" sz="2000" b="0" i="1" smtClean="0">
                          <a:latin typeface="Cambria Math"/>
                        </a:rPr>
                        <m:t>60</m:t>
                      </m:r>
                      <m:r>
                        <a:rPr lang="en-ZA" sz="2000" b="0" i="1" smtClean="0">
                          <a:effectLst/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+803</m:t>
                      </m:r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r>
                        <a:rPr lang="en-ZA" sz="2000" i="1" smtClean="0">
                          <a:latin typeface="Cambria Math"/>
                        </a:rPr>
                        <m:t>1</m:t>
                      </m:r>
                      <m:r>
                        <a:rPr lang="en-ZA" sz="2000" b="0" i="1" smtClean="0">
                          <a:latin typeface="Cambria Math"/>
                        </a:rPr>
                        <m:t>60</m:t>
                      </m:r>
                      <m:r>
                        <a:rPr lang="en-ZA" sz="2000" b="0" i="1" smtClean="0">
                          <a:effectLst/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6</m:t>
                          </m:r>
                        </m:sup>
                      </m:sSup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ZA" sz="2000" b="0" dirty="0" smtClean="0">
                  <a:effectLst/>
                  <a:ea typeface="Cambria Math"/>
                </a:endParaRPr>
              </a:p>
              <a:p>
                <a:pPr algn="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</a:rPr>
                        <m:t>451</m:t>
                      </m:r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+2.263</m:t>
                      </m:r>
                      <m:r>
                        <a:rPr lang="en-ZA" sz="20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ZA" sz="20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ZA" sz="2000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ZA" sz="2000" b="0" i="1" smtClean="0">
                              <a:latin typeface="Cambria Math"/>
                              <a:ea typeface="Cambria Math"/>
                            </a:rPr>
                            <m:t>−3</m:t>
                          </m:r>
                        </m:sup>
                      </m:sSup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r>
                        <a:rPr lang="en-ZA" sz="2000" i="1" smtClean="0">
                          <a:latin typeface="Cambria Math"/>
                        </a:rPr>
                        <m:t>4</m:t>
                      </m:r>
                      <m:r>
                        <a:rPr lang="en-ZA" sz="2000" b="0" i="1" smtClean="0">
                          <a:latin typeface="Cambria Math"/>
                        </a:rPr>
                        <m:t>51</m:t>
                      </m:r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ZA" sz="2000" dirty="0" smtClean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617" y="3964122"/>
                <a:ext cx="4773935" cy="205556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 bwMode="auto">
          <a:xfrm>
            <a:off x="3263861" y="5115491"/>
            <a:ext cx="381783" cy="381783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1</a:t>
            </a:r>
          </a:p>
        </p:txBody>
      </p:sp>
      <p:sp>
        <p:nvSpPr>
          <p:cNvPr id="20" name="Oval 19"/>
          <p:cNvSpPr/>
          <p:nvPr/>
        </p:nvSpPr>
        <p:spPr bwMode="auto">
          <a:xfrm>
            <a:off x="8587523" y="5520177"/>
            <a:ext cx="381783" cy="381783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ZA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Verdana" pitchFamily="34" charset="0"/>
              </a:rPr>
              <a:t>2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51213" y="5828793"/>
            <a:ext cx="1045161" cy="381783"/>
            <a:chOff x="151213" y="5828793"/>
            <a:chExt cx="1045161" cy="381783"/>
          </a:xfrm>
        </p:grpSpPr>
        <p:sp>
          <p:nvSpPr>
            <p:cNvPr id="21" name="Oval 20"/>
            <p:cNvSpPr/>
            <p:nvPr/>
          </p:nvSpPr>
          <p:spPr bwMode="auto">
            <a:xfrm>
              <a:off x="151213" y="5828793"/>
              <a:ext cx="381783" cy="381783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</a:rPr>
                <a:t>1</a:t>
              </a:r>
            </a:p>
          </p:txBody>
        </p:sp>
        <p:sp>
          <p:nvSpPr>
            <p:cNvPr id="22" name="Oval 21"/>
            <p:cNvSpPr/>
            <p:nvPr/>
          </p:nvSpPr>
          <p:spPr bwMode="auto">
            <a:xfrm>
              <a:off x="814591" y="5828793"/>
              <a:ext cx="381783" cy="381783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ZA" sz="1800" b="0" i="0" u="none" strike="noStrike" cap="none" normalizeH="0" baseline="0" dirty="0" smtClean="0">
                  <a:ln>
                    <a:noFill/>
                  </a:ln>
                  <a:solidFill>
                    <a:srgbClr val="FF0000"/>
                  </a:solidFill>
                  <a:effectLst/>
                  <a:latin typeface="Verdana" pitchFamily="34" charset="0"/>
                </a:rPr>
                <a:t>2</a:t>
              </a:r>
            </a:p>
          </p:txBody>
        </p:sp>
        <p:cxnSp>
          <p:nvCxnSpPr>
            <p:cNvPr id="25" name="Straight Connector 24"/>
            <p:cNvCxnSpPr/>
            <p:nvPr/>
          </p:nvCxnSpPr>
          <p:spPr bwMode="auto">
            <a:xfrm>
              <a:off x="605188" y="6002107"/>
              <a:ext cx="12452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1687571" y="5711067"/>
                <a:ext cx="2952796" cy="94211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ZA" b="0" i="1" smtClean="0">
                          <a:latin typeface="Cambria Math"/>
                        </a:rPr>
                        <m:t>−50.00226=−</m:t>
                      </m:r>
                      <m:r>
                        <a:rPr lang="en-ZA" i="1" smtClean="0">
                          <a:latin typeface="Cambria Math"/>
                        </a:rPr>
                        <m:t>4</m:t>
                      </m:r>
                      <m:r>
                        <a:rPr lang="en-ZA" b="0" i="1" smtClean="0">
                          <a:latin typeface="Cambria Math"/>
                        </a:rPr>
                        <m:t>50</m:t>
                      </m:r>
                      <m:sSub>
                        <m:sSubPr>
                          <m:ctrlPr>
                            <a:rPr lang="en-ZA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ZA" b="0" dirty="0" smtClean="0"/>
              </a:p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−450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−50.00226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=8.9996 </m:t>
                      </m:r>
                    </m:oMath>
                  </m:oMathPara>
                </a14:m>
                <a:endParaRPr lang="en-ZA" dirty="0" smtClean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571" y="5711067"/>
                <a:ext cx="2952796" cy="94211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83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81902-0347-4736-A67B-184D0DECCBBA}" type="slidenum">
              <a:rPr lang="en-US"/>
              <a:pPr/>
              <a:t>9</a:t>
            </a:fld>
            <a:endParaRPr lang="en-US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06818" y="144378"/>
            <a:ext cx="8243887" cy="695743"/>
          </a:xfrm>
        </p:spPr>
        <p:txBody>
          <a:bodyPr/>
          <a:lstStyle/>
          <a:p>
            <a:r>
              <a:rPr lang="en-US" sz="4000" dirty="0"/>
              <a:t> </a:t>
            </a:r>
            <a:r>
              <a:rPr lang="en-US" sz="4000" dirty="0" smtClean="0"/>
              <a:t>5.3 </a:t>
            </a:r>
            <a:r>
              <a:rPr lang="en-US" sz="4000" dirty="0"/>
              <a:t>Ideal Op </a:t>
            </a:r>
            <a:r>
              <a:rPr lang="en-US" sz="4000" dirty="0" smtClean="0"/>
              <a:t>Amp</a:t>
            </a:r>
            <a:endParaRPr lang="en-US" sz="4000" dirty="0"/>
          </a:p>
        </p:txBody>
      </p:sp>
      <p:pic>
        <p:nvPicPr>
          <p:cNvPr id="9" name="Picture 3" descr="ale29559_0500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0"/>
          <a:stretch/>
        </p:blipFill>
        <p:spPr bwMode="auto">
          <a:xfrm>
            <a:off x="733927" y="3644822"/>
            <a:ext cx="4565649" cy="29242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002548"/>
            <a:ext cx="8458200" cy="2270041"/>
          </a:xfrm>
          <a:noFill/>
        </p:spPr>
        <p:txBody>
          <a:bodyPr lIns="0" rIns="0"/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 dirty="0"/>
              <a:t>     </a:t>
            </a:r>
            <a:r>
              <a:rPr lang="en-US" sz="2400" dirty="0"/>
              <a:t>An ideal op amp has the following characteristics:</a:t>
            </a:r>
          </a:p>
          <a:p>
            <a:pPr marL="1111250" lvl="1" indent="-533400">
              <a:spcBef>
                <a:spcPct val="40000"/>
              </a:spcBef>
              <a:spcAft>
                <a:spcPct val="15000"/>
              </a:spcAft>
              <a:buFontTx/>
              <a:buAutoNum type="arabicPeriod"/>
            </a:pPr>
            <a:r>
              <a:rPr lang="en-US" sz="2400" dirty="0" smtClean="0"/>
              <a:t>Infinite </a:t>
            </a:r>
            <a:r>
              <a:rPr lang="en-US" sz="2400" dirty="0"/>
              <a:t>open-loop gain, A ≈ ∞</a:t>
            </a:r>
          </a:p>
          <a:p>
            <a:pPr marL="1111250" lvl="1" indent="-533400">
              <a:spcBef>
                <a:spcPct val="40000"/>
              </a:spcBef>
              <a:spcAft>
                <a:spcPct val="15000"/>
              </a:spcAft>
              <a:buFontTx/>
              <a:buAutoNum type="arabicPeriod"/>
            </a:pPr>
            <a:r>
              <a:rPr lang="en-US" sz="2400" dirty="0"/>
              <a:t>Infinite input resistance, </a:t>
            </a:r>
            <a:r>
              <a:rPr lang="en-US" sz="2400" dirty="0" err="1"/>
              <a:t>R</a:t>
            </a:r>
            <a:r>
              <a:rPr lang="en-US" sz="2400" baseline="-25000" dirty="0" err="1"/>
              <a:t>i</a:t>
            </a:r>
            <a:r>
              <a:rPr lang="en-US" sz="2400" dirty="0"/>
              <a:t> ≈ ∞</a:t>
            </a:r>
          </a:p>
          <a:p>
            <a:pPr marL="1111250" lvl="1" indent="-533400">
              <a:spcBef>
                <a:spcPct val="40000"/>
              </a:spcBef>
              <a:spcAft>
                <a:spcPct val="15000"/>
              </a:spcAft>
              <a:buFontTx/>
              <a:buAutoNum type="arabicPeriod"/>
            </a:pPr>
            <a:r>
              <a:rPr lang="en-US" sz="2400" dirty="0"/>
              <a:t>Zero output resistance, R</a:t>
            </a:r>
            <a:r>
              <a:rPr lang="en-US" sz="2400" baseline="-25000" dirty="0"/>
              <a:t>o</a:t>
            </a:r>
            <a:r>
              <a:rPr lang="en-US" sz="2400" dirty="0"/>
              <a:t> ≈ </a:t>
            </a:r>
            <a:r>
              <a:rPr lang="en-US" sz="2400" dirty="0" smtClean="0"/>
              <a:t>0</a:t>
            </a:r>
            <a:endParaRPr lang="en-US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5775157" y="3320716"/>
            <a:ext cx="28274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Since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:</a:t>
            </a:r>
            <a:endParaRPr lang="en-ZA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0</a:t>
            </a:r>
          </a:p>
          <a:p>
            <a:pPr>
              <a:lnSpc>
                <a:spcPct val="150000"/>
              </a:lnSpc>
            </a:pP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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d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=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– 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0</a:t>
            </a:r>
          </a:p>
          <a:p>
            <a:pPr>
              <a:lnSpc>
                <a:spcPct val="150000"/>
              </a:lnSpc>
            </a:pP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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ZA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5721013" y="4018548"/>
            <a:ext cx="1377619" cy="44794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5721012" y="5187468"/>
            <a:ext cx="1377619" cy="36094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FCEA0-6E58-478F-AC7A-DDDF5A94D3EE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4655" y="114300"/>
            <a:ext cx="4792671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5.1 for ideal </a:t>
            </a:r>
            <a:r>
              <a:rPr lang="en-ZA" sz="2400" b="1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opamp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Assume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= 1 V and determine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500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9" t="7268" r="4016"/>
          <a:stretch/>
        </p:blipFill>
        <p:spPr bwMode="auto">
          <a:xfrm>
            <a:off x="4896853" y="120320"/>
            <a:ext cx="4006135" cy="2935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230473" y="1052186"/>
            <a:ext cx="1666379" cy="12003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Remember: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0</a:t>
            </a:r>
          </a:p>
          <a:p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v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ZA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6575" y="1684421"/>
            <a:ext cx="2827421" cy="156966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1 V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= v-</a:t>
            </a:r>
            <a:endParaRPr lang="en-ZA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0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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baseline="-250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d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=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– 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0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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= 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ZA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74021" y="132352"/>
            <a:ext cx="573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V 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74021" y="831424"/>
            <a:ext cx="573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V 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84655" y="3397563"/>
            <a:ext cx="303447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u="sng" dirty="0" smtClean="0">
                <a:latin typeface="Times New Roman" pitchFamily="18" charset="0"/>
                <a:cs typeface="Times New Roman" pitchFamily="18" charset="0"/>
              </a:rPr>
              <a:t>KCL @ Node v- to get </a:t>
            </a:r>
            <a:r>
              <a:rPr lang="en-ZA" sz="2000" b="1" i="1" u="sng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b="1" i="1" u="sng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000" u="sng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ZA" sz="2000" u="sng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6575" y="3797673"/>
                <a:ext cx="2992550" cy="15938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80808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effectLst/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i="1" smtClean="0">
                              <a:effectLst/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5</m:t>
                          </m:r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ZA" sz="2000" b="0" i="1" smtClean="0">
                          <a:effectLst/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effectLst/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i="1" smtClean="0">
                              <a:effectLst/>
                              <a:latin typeface="Cambria Math"/>
                            </a:rPr>
                            <m:t>1</m:t>
                          </m:r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sz="2000" b="0" i="1" smtClean="0">
                                  <a:effectLst/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40</m:t>
                          </m:r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ZA" sz="2000" b="0" i="1" smtClean="0">
                          <a:effectLst/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dirty="0">
                  <a:effectLst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ZA" sz="2000" i="1" smtClean="0">
                          <a:latin typeface="Cambria Math"/>
                        </a:rPr>
                        <m:t>8</m:t>
                      </m:r>
                      <m:r>
                        <a:rPr lang="en-ZA" sz="2000" b="0" i="1" smtClean="0">
                          <a:latin typeface="Cambria Math"/>
                        </a:rPr>
                        <m:t>+1−</m:t>
                      </m:r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b="0" dirty="0" smtClean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r>
                        <a:rPr lang="en-ZA" sz="2000" b="0" i="0" smtClean="0">
                          <a:latin typeface="Cambria Math"/>
                        </a:rPr>
                        <m:t>9 </m:t>
                      </m:r>
                      <m:r>
                        <m:rPr>
                          <m:sty m:val="p"/>
                        </m:rPr>
                        <a:rPr lang="en-ZA" sz="2000" b="0" i="0" smtClean="0">
                          <a:latin typeface="Cambria Math"/>
                        </a:rPr>
                        <m:t>V</m:t>
                      </m:r>
                    </m:oMath>
                  </m:oMathPara>
                </a14:m>
                <a:endParaRPr lang="en-ZA" sz="2000" dirty="0" smtClean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5" y="3797673"/>
                <a:ext cx="2992550" cy="159389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263097" y="3397563"/>
            <a:ext cx="29438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u="sng" dirty="0" smtClean="0">
                <a:latin typeface="Times New Roman" pitchFamily="18" charset="0"/>
                <a:cs typeface="Times New Roman" pitchFamily="18" charset="0"/>
              </a:rPr>
              <a:t>KCL @ Node V</a:t>
            </a:r>
            <a:r>
              <a:rPr lang="en-ZA" sz="2000" u="sng" baseline="-25000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000" u="sng" dirty="0" smtClean="0">
                <a:latin typeface="Times New Roman" pitchFamily="18" charset="0"/>
                <a:cs typeface="Times New Roman" pitchFamily="18" charset="0"/>
              </a:rPr>
              <a:t> to get </a:t>
            </a:r>
            <a:r>
              <a:rPr lang="en-ZA" sz="2000" b="1" i="1" u="sng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b="1" i="1" u="sng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000" u="sng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ZA" sz="2000" u="sng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345164" y="3809705"/>
                <a:ext cx="3096873" cy="1132233"/>
              </a:xfrm>
              <a:prstGeom prst="rect">
                <a:avLst/>
              </a:prstGeom>
              <a:noFill/>
              <a:ln>
                <a:solidFill>
                  <a:srgbClr val="080808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000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i="1" smtClean="0">
                              <a:effectLst/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9−1</m:t>
                          </m:r>
                        </m:num>
                        <m:den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40</m:t>
                          </m:r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ZA" sz="2000" b="0" i="1" smtClean="0">
                          <a:effectLst/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 smtClean="0">
                              <a:effectLst/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9</m:t>
                          </m:r>
                        </m:num>
                        <m:den>
                          <m:r>
                            <a:rPr lang="en-ZA" sz="2000" b="0" i="1" smtClean="0">
                              <a:effectLst/>
                              <a:latin typeface="Cambria Math"/>
                            </a:rPr>
                            <m:t>20</m:t>
                          </m:r>
                          <m:r>
                            <a:rPr lang="en-ZA" sz="2000" b="0" i="1" smtClean="0">
                              <a:effectLst/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effectLst/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ZA" sz="2000" b="0" dirty="0" smtClean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000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r>
                        <a:rPr lang="en-ZA" sz="2000" b="0" i="0" smtClean="0">
                          <a:latin typeface="Cambria Math"/>
                        </a:rPr>
                        <m:t>650 </m:t>
                      </m:r>
                      <m:r>
                        <a:rPr lang="en-ZA" sz="2000" b="0" i="1" smtClean="0">
                          <a:latin typeface="Cambria Math"/>
                          <a:sym typeface="Symbol"/>
                        </a:rPr>
                        <m:t></m:t>
                      </m:r>
                      <m:r>
                        <m:rPr>
                          <m:sty m:val="p"/>
                        </m:rPr>
                        <a:rPr lang="en-ZA" sz="2000" b="0" i="0" smtClean="0">
                          <a:latin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sz="2000" dirty="0" smtClean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164" y="3809705"/>
                <a:ext cx="3096873" cy="113223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7916779" y="1224651"/>
            <a:ext cx="433136" cy="563964"/>
            <a:chOff x="7916779" y="1224651"/>
            <a:chExt cx="433136" cy="563964"/>
          </a:xfrm>
        </p:grpSpPr>
        <p:cxnSp>
          <p:nvCxnSpPr>
            <p:cNvPr id="14" name="Straight Arrow Connector 13"/>
            <p:cNvCxnSpPr/>
            <p:nvPr/>
          </p:nvCxnSpPr>
          <p:spPr bwMode="auto">
            <a:xfrm flipH="1">
              <a:off x="7916779" y="1224651"/>
              <a:ext cx="433136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 bwMode="auto">
            <a:xfrm>
              <a:off x="8337883" y="1387394"/>
              <a:ext cx="0" cy="401221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  <a:ex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Rectangle 16"/>
          <p:cNvSpPr/>
          <p:nvPr/>
        </p:nvSpPr>
        <p:spPr>
          <a:xfrm>
            <a:off x="8509965" y="1129629"/>
            <a:ext cx="573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9 </a:t>
            </a:r>
            <a:r>
              <a:rPr lang="en-Z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 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161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2" grpId="0"/>
      <p:bldP spid="9" grpId="0"/>
      <p:bldP spid="10" grpId="0"/>
      <p:bldP spid="12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FCEA0-6E58-478F-AC7A-DDDF5A94D3EE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3" descr="ale29559_0504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3"/>
          <a:stretch/>
        </p:blipFill>
        <p:spPr bwMode="auto">
          <a:xfrm>
            <a:off x="1540036" y="529798"/>
            <a:ext cx="5704595" cy="3438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/>
          <p:cNvSpPr/>
          <p:nvPr/>
        </p:nvSpPr>
        <p:spPr>
          <a:xfrm>
            <a:off x="284655" y="114300"/>
            <a:ext cx="479267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5.8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for both circuits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cxnSp>
        <p:nvCxnSpPr>
          <p:cNvPr id="3" name="Straight Connector 2"/>
          <p:cNvCxnSpPr/>
          <p:nvPr/>
        </p:nvCxnSpPr>
        <p:spPr bwMode="auto">
          <a:xfrm>
            <a:off x="4728411" y="529798"/>
            <a:ext cx="0" cy="61838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55384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3" name="Picture 3" descr="ale29559_0504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5"/>
          <a:stretch/>
        </p:blipFill>
        <p:spPr bwMode="auto">
          <a:xfrm>
            <a:off x="133891" y="945297"/>
            <a:ext cx="4219934" cy="5262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84655" y="114300"/>
            <a:ext cx="479267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5.9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for both circuits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133891" y="3826039"/>
            <a:ext cx="872135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2145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9B143-1C4D-47B3-AA55-950D0C9A7943}" type="slidenum">
              <a:rPr lang="en-US"/>
              <a:pPr/>
              <a:t>13</a:t>
            </a:fld>
            <a:endParaRPr lang="en-US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314450"/>
          </a:xfrm>
        </p:spPr>
        <p:txBody>
          <a:bodyPr/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Ch. 5 L#2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5.4 Inverting Amplifier</a:t>
            </a:r>
            <a:endParaRPr lang="en-US" sz="4000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1600199"/>
            <a:ext cx="8001000" cy="669531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Inverting amplifier reverses the polarity of the input signal while amplifying </a:t>
            </a:r>
            <a:r>
              <a:rPr lang="en-US" sz="2400" dirty="0" smtClean="0"/>
              <a:t>it</a:t>
            </a:r>
          </a:p>
        </p:txBody>
      </p:sp>
      <p:pic>
        <p:nvPicPr>
          <p:cNvPr id="10" name="Picture 3" descr="ale29559_0501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09"/>
          <a:stretch/>
        </p:blipFill>
        <p:spPr bwMode="auto">
          <a:xfrm>
            <a:off x="354849" y="2269730"/>
            <a:ext cx="4863473" cy="3529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58044" y="3813324"/>
                <a:ext cx="2170722" cy="690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0−</m:t>
                          </m:r>
                          <m:sSub>
                            <m:sSubPr>
                              <m:ctrlPr>
                                <a:rPr lang="en-ZA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ZA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i="1">
                              <a:latin typeface="Cambria Math"/>
                            </a:rPr>
                            <m:t>0−</m:t>
                          </m:r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ZA" b="0" i="0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b="0" dirty="0" smtClean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044" y="3813324"/>
                <a:ext cx="2170722" cy="6908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5420997" y="2606347"/>
            <a:ext cx="152958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ZA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= v- = 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0V</a:t>
            </a:r>
          </a:p>
          <a:p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KCL at </a:t>
            </a:r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v-</a:t>
            </a:r>
            <a:endParaRPr lang="en-ZA" sz="2000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6736159" y="4452405"/>
                <a:ext cx="1227708" cy="665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ZA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6159" y="4452405"/>
                <a:ext cx="1227708" cy="66563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699112" y="5249203"/>
                <a:ext cx="1594604" cy="727700"/>
              </a:xfrm>
              <a:prstGeom prst="rect">
                <a:avLst/>
              </a:prstGeom>
              <a:ln>
                <a:solidFill>
                  <a:srgbClr val="080808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ZA" sz="20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000" i="1"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000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9112" y="5249203"/>
                <a:ext cx="1594604" cy="7277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06326" y="3307160"/>
                <a:ext cx="14963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b="0" i="1" smtClean="0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ZA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i="1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b="0" i="0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b="0" dirty="0" smtClean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6326" y="3307160"/>
                <a:ext cx="1496372" cy="369332"/>
              </a:xfrm>
              <a:prstGeom prst="rect">
                <a:avLst/>
              </a:prstGeom>
              <a:blipFill rotWithShape="1"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4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ale29559_0501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7"/>
          <a:stretch/>
        </p:blipFill>
        <p:spPr bwMode="auto">
          <a:xfrm>
            <a:off x="3745282" y="178123"/>
            <a:ext cx="5192595" cy="2817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BB1D-2291-4C82-B0EB-53244714F1B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4655" y="114300"/>
            <a:ext cx="4792671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5.3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Determine the output voltage and current through the feedback resistor.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4141846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ale29559_0501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1" t="8151"/>
          <a:stretch/>
        </p:blipFill>
        <p:spPr bwMode="auto">
          <a:xfrm>
            <a:off x="3609473" y="209138"/>
            <a:ext cx="5526589" cy="371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2705704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5.4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Determine V</a:t>
            </a:r>
            <a:r>
              <a:rPr lang="en-ZA" sz="2400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170262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4" name="Picture 3" descr="ale29559_0501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00" r="53690" b="11223"/>
          <a:stretch/>
        </p:blipFill>
        <p:spPr bwMode="auto">
          <a:xfrm>
            <a:off x="427839" y="1399676"/>
            <a:ext cx="4227178" cy="3056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1967553" y="2159629"/>
            <a:ext cx="573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V 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78277" y="2664694"/>
            <a:ext cx="573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 V 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95795" y="1771249"/>
            <a:ext cx="152958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ZA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= v- = 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0V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595795" y="2663801"/>
                <a:ext cx="2927103" cy="527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ZA" sz="2000" dirty="0">
                    <a:latin typeface="Times New Roman" pitchFamily="18" charset="0"/>
                    <a:cs typeface="Times New Roman" pitchFamily="18" charset="0"/>
                  </a:rPr>
                  <a:t>KCL at </a:t>
                </a:r>
                <a:r>
                  <a:rPr lang="en-ZA" sz="2000" i="1" dirty="0">
                    <a:latin typeface="Times New Roman" pitchFamily="18" charset="0"/>
                    <a:cs typeface="Times New Roman" pitchFamily="18" charset="0"/>
                  </a:rPr>
                  <a:t>v-: </a:t>
                </a:r>
                <a:r>
                  <a:rPr lang="en-ZA" sz="2000" i="1" dirty="0" smtClean="0">
                    <a:latin typeface="Times New Roman" pitchFamily="18" charset="0"/>
                    <a:cs typeface="Times New Roman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ZA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ZA" sz="2000" b="0" i="1" smtClean="0">
                            <a:latin typeface="Cambria Math"/>
                          </a:rPr>
                          <m:t>𝑖</m:t>
                        </m:r>
                      </m:e>
                      <m:sub>
                        <m:r>
                          <a:rPr lang="en-ZA" sz="20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ZA" sz="2000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ZA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ZA" sz="2000" b="0" i="1" smtClean="0">
                            <a:latin typeface="Cambria Math"/>
                          </a:rPr>
                          <m:t>0</m:t>
                        </m:r>
                        <m:r>
                          <a:rPr lang="en-ZA" sz="2000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ZA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ZA" sz="2000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ZA" sz="2000" b="0" i="1" smtClean="0">
                                <a:latin typeface="Cambria Math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ZA" sz="2000" b="0" i="1" smtClean="0">
                            <a:latin typeface="Cambria Math"/>
                          </a:rPr>
                          <m:t>𝑅</m:t>
                        </m:r>
                      </m:den>
                    </m:f>
                  </m:oMath>
                </a14:m>
                <a:endParaRPr lang="en-ZA" sz="2000" b="0" dirty="0" smtClean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795" y="2663801"/>
                <a:ext cx="2927103" cy="527773"/>
              </a:xfrm>
              <a:prstGeom prst="rect">
                <a:avLst/>
              </a:prstGeom>
              <a:blipFill rotWithShape="1">
                <a:blip r:embed="rId3"/>
                <a:stretch>
                  <a:fillRect l="-2292" b="-6897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595795" y="3629746"/>
                <a:ext cx="1385828" cy="400110"/>
              </a:xfrm>
              <a:prstGeom prst="rect">
                <a:avLst/>
              </a:prstGeom>
              <a:noFill/>
              <a:ln>
                <a:solidFill>
                  <a:srgbClr val="080808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=−</m:t>
                      </m:r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𝑅</m:t>
                      </m:r>
                    </m:oMath>
                  </m:oMathPara>
                </a14:m>
                <a:endParaRPr lang="en-ZA" sz="2000" b="0" dirty="0" smtClean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5795" y="3629746"/>
                <a:ext cx="1385828" cy="4001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0" y="103188"/>
            <a:ext cx="9144000" cy="1015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5.4 Inverting Amplifier</a:t>
            </a:r>
          </a:p>
          <a:p>
            <a:r>
              <a:rPr lang="en-US" sz="3200" dirty="0" smtClean="0">
                <a:solidFill>
                  <a:srgbClr val="FF0000"/>
                </a:solidFill>
              </a:rPr>
              <a:t>Special Case:  Current-to-Voltage converter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526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49D77-5C3F-43C7-AF55-4A92F3310802}" type="slidenum">
              <a:rPr lang="en-US"/>
              <a:pPr/>
              <a:t>17</a:t>
            </a:fld>
            <a:endParaRPr lang="en-US"/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05063" y="1215189"/>
            <a:ext cx="8001000" cy="609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Non-inverting amplifier is designed to produce positive voltage gain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739023"/>
          </a:xfrm>
        </p:spPr>
        <p:txBody>
          <a:bodyPr/>
          <a:lstStyle/>
          <a:p>
            <a:r>
              <a:rPr lang="en-US" sz="4000" dirty="0" smtClean="0"/>
              <a:t>5.5 Non-inverting Amplifier</a:t>
            </a:r>
            <a:endParaRPr lang="en-US" sz="4000" dirty="0"/>
          </a:p>
        </p:txBody>
      </p:sp>
      <p:pic>
        <p:nvPicPr>
          <p:cNvPr id="10" name="Picture 3" descr="ale29559_0501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8"/>
          <a:stretch/>
        </p:blipFill>
        <p:spPr bwMode="auto">
          <a:xfrm>
            <a:off x="809042" y="1921299"/>
            <a:ext cx="4797674" cy="3339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6227113" y="1921299"/>
            <a:ext cx="14656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ZA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= v- = V</a:t>
            </a:r>
            <a:r>
              <a:rPr lang="en-ZA" sz="2000" i="1" baseline="-250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ZA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KCL at </a:t>
            </a:r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v-</a:t>
            </a:r>
            <a:endParaRPr lang="en-ZA" sz="2000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814564" y="2900156"/>
                <a:ext cx="2230739" cy="6908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ZA" b="0" i="1" smtClean="0">
                              <a:latin typeface="Cambria Math"/>
                            </a:rPr>
                            <m:t>−0</m:t>
                          </m:r>
                        </m:num>
                        <m:den>
                          <m:sSub>
                            <m:sSubPr>
                              <m:ctrlPr>
                                <a:rPr lang="en-ZA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ZA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ZA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  <m:r>
                        <a:rPr lang="en-ZA" b="0" i="0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b="0" dirty="0" smtClean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564" y="2900156"/>
                <a:ext cx="2230739" cy="6908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6565034" y="3584530"/>
                <a:ext cx="1691682" cy="665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ZA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ZA" i="1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ZA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ZA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ZA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034" y="3584530"/>
                <a:ext cx="1691682" cy="66563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711744" y="5439748"/>
                <a:ext cx="2102820" cy="783869"/>
              </a:xfrm>
              <a:prstGeom prst="rect">
                <a:avLst/>
              </a:prstGeom>
              <a:ln>
                <a:solidFill>
                  <a:srgbClr val="080808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i="1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i="1">
                              <a:latin typeface="Cambria Math"/>
                            </a:rPr>
                            <m:t>1+</m:t>
                          </m:r>
                          <m:f>
                            <m:f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ZA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ZA" sz="20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ZA" sz="2000" i="1">
                                      <a:latin typeface="Cambria Math"/>
                                    </a:rPr>
                                    <m:t>𝑓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ZA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ZA" sz="20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ZA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744" y="5439748"/>
                <a:ext cx="2102820" cy="78386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080808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6638251" y="4250161"/>
                <a:ext cx="1631664" cy="665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b="0" i="1" smtClean="0">
                          <a:latin typeface="Cambria Math"/>
                        </a:rPr>
                        <m:t>1−</m:t>
                      </m:r>
                      <m:f>
                        <m:fPr>
                          <m:ctrlPr>
                            <a:rPr lang="en-ZA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ZA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251" y="4250161"/>
                <a:ext cx="1631664" cy="66563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041784" y="5006988"/>
                <a:ext cx="1420069" cy="6656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ZA" i="1">
                          <a:latin typeface="Cambria Math"/>
                        </a:rPr>
                        <m:t>=</m:t>
                      </m:r>
                      <m:r>
                        <a:rPr lang="en-ZA" b="0" i="1" smtClean="0">
                          <a:latin typeface="Cambria Math"/>
                        </a:rPr>
                        <m:t>1+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784" y="5006988"/>
                <a:ext cx="1420069" cy="66563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3424250" y="2792015"/>
            <a:ext cx="3465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en-ZA" i="1" dirty="0">
              <a:solidFill>
                <a:srgbClr val="FF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434974" y="3357240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en-ZA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BB1D-2291-4C82-B0EB-53244714F1B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0" y="103188"/>
            <a:ext cx="9144000" cy="1015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5.5 Non-inverting Amplifier</a:t>
            </a:r>
          </a:p>
          <a:p>
            <a:r>
              <a:rPr lang="en-US" sz="3200" dirty="0" smtClean="0">
                <a:solidFill>
                  <a:srgbClr val="FF0000"/>
                </a:solidFill>
              </a:rPr>
              <a:t>Special Case:  Voltage Follower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7" name="Picture 3" descr="ale29559_0501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12" t="6590" r="13094"/>
          <a:stretch/>
        </p:blipFill>
        <p:spPr bwMode="auto">
          <a:xfrm>
            <a:off x="445170" y="1973178"/>
            <a:ext cx="3535812" cy="2863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126832" y="1973178"/>
            <a:ext cx="462012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ZA" dirty="0" smtClean="0"/>
              <a:t>Output = Input</a:t>
            </a:r>
          </a:p>
          <a:p>
            <a:endParaRPr lang="en-ZA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ZA" dirty="0" smtClean="0"/>
              <a:t>Advantage:  V</a:t>
            </a:r>
            <a:r>
              <a:rPr lang="en-ZA" baseline="-25000" dirty="0" smtClean="0"/>
              <a:t>i</a:t>
            </a:r>
            <a:r>
              <a:rPr lang="en-ZA" dirty="0" smtClean="0"/>
              <a:t> sources a very low current while V</a:t>
            </a:r>
            <a:r>
              <a:rPr lang="en-ZA" baseline="-25000" dirty="0" smtClean="0"/>
              <a:t>o</a:t>
            </a:r>
            <a:r>
              <a:rPr lang="en-ZA" dirty="0" smtClean="0"/>
              <a:t> can source high current. </a:t>
            </a:r>
            <a:r>
              <a:rPr lang="en-ZA" sz="1600" dirty="0" smtClean="0"/>
              <a:t>(Remember Op Amp is an Active element getting energy via V</a:t>
            </a:r>
            <a:r>
              <a:rPr lang="en-ZA" sz="1600" baseline="-25000" dirty="0" smtClean="0"/>
              <a:t>CC</a:t>
            </a:r>
            <a:r>
              <a:rPr lang="en-ZA" sz="1600" dirty="0" smtClean="0"/>
              <a:t> and –V</a:t>
            </a:r>
            <a:r>
              <a:rPr lang="en-ZA" sz="1600" baseline="-25000" dirty="0" smtClean="0"/>
              <a:t>CC</a:t>
            </a:r>
            <a:r>
              <a:rPr lang="en-ZA" sz="1600" dirty="0" smtClean="0"/>
              <a:t>)</a:t>
            </a:r>
            <a:r>
              <a:rPr lang="en-ZA" dirty="0" smtClean="0"/>
              <a:t>.</a:t>
            </a:r>
          </a:p>
          <a:p>
            <a:endParaRPr lang="en-ZA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ZA" dirty="0" smtClean="0"/>
              <a:t>Circuit is used a BUFFER to isolate one stage of a circuit from another.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7927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5" y="114300"/>
            <a:ext cx="4792671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5.5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Calculate </a:t>
            </a:r>
            <a:r>
              <a:rPr lang="en-ZA" sz="2400" i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502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3"/>
          <a:stretch/>
        </p:blipFill>
        <p:spPr bwMode="auto">
          <a:xfrm>
            <a:off x="3982453" y="114300"/>
            <a:ext cx="4628982" cy="3152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9" name="Group 18"/>
          <p:cNvGrpSpPr/>
          <p:nvPr/>
        </p:nvGrpSpPr>
        <p:grpSpPr>
          <a:xfrm>
            <a:off x="5762711" y="187058"/>
            <a:ext cx="517358" cy="369332"/>
            <a:chOff x="5762711" y="187058"/>
            <a:chExt cx="517358" cy="369332"/>
          </a:xfrm>
        </p:grpSpPr>
        <p:cxnSp>
          <p:nvCxnSpPr>
            <p:cNvPr id="5" name="Straight Arrow Connector 4"/>
            <p:cNvCxnSpPr/>
            <p:nvPr/>
          </p:nvCxnSpPr>
          <p:spPr bwMode="auto">
            <a:xfrm>
              <a:off x="5762711" y="556390"/>
              <a:ext cx="517358" cy="0"/>
            </a:xfrm>
            <a:prstGeom prst="straightConnector1">
              <a:avLst/>
            </a:prstGeom>
            <a:ln>
              <a:solidFill>
                <a:srgbClr val="FF3300"/>
              </a:solidFill>
              <a:headEnd type="none" w="med" len="med"/>
              <a:tailEnd type="arrow"/>
            </a:ln>
            <a:extLst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5762711" y="187058"/>
              <a:ext cx="409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i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ZA" i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ZA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274158" y="1190989"/>
            <a:ext cx="394892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2000" i="1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 = 0 A</a:t>
            </a:r>
          </a:p>
          <a:p>
            <a:r>
              <a:rPr lang="en-ZA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Because of this, the 3V is divided across the 4 </a:t>
            </a:r>
            <a:r>
              <a:rPr lang="en-ZA" sz="2000" dirty="0">
                <a:latin typeface="Times New Roman" pitchFamily="18" charset="0"/>
                <a:cs typeface="Times New Roman" pitchFamily="18" charset="0"/>
                <a:sym typeface="Symbol"/>
              </a:rPr>
              <a:t>k 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and 8 k resistors, hence a basic voltage divider.</a:t>
            </a:r>
          </a:p>
          <a:p>
            <a:r>
              <a:rPr lang="en-ZA" sz="2000" dirty="0" smtClean="0">
                <a:latin typeface="Times New Roman" pitchFamily="18" charset="0"/>
                <a:cs typeface="Times New Roman" pitchFamily="18" charset="0"/>
                <a:sym typeface="Symbol"/>
              </a:rPr>
              <a:t>So: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92705" y="2851780"/>
                <a:ext cx="2697598" cy="6173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+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=3</m:t>
                      </m:r>
                      <m:f>
                        <m:f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8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4+8</m:t>
                          </m:r>
                        </m:den>
                      </m:f>
                      <m:r>
                        <a:rPr lang="en-ZA" b="0" i="1" smtClean="0">
                          <a:latin typeface="Cambria Math"/>
                        </a:rPr>
                        <m:t>=2 </m:t>
                      </m:r>
                      <m:r>
                        <a:rPr lang="en-ZA" b="0" i="1" smtClean="0">
                          <a:latin typeface="Cambria Math"/>
                        </a:rPr>
                        <m:t>𝑉</m:t>
                      </m:r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705" y="2851780"/>
                <a:ext cx="2697598" cy="61734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6469705" y="823792"/>
            <a:ext cx="573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V 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69706" y="311564"/>
            <a:ext cx="5738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V 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08564" y="3811086"/>
            <a:ext cx="13373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u="sng" dirty="0" smtClean="0">
                <a:latin typeface="Times New Roman" pitchFamily="18" charset="0"/>
                <a:cs typeface="Times New Roman" pitchFamily="18" charset="0"/>
                <a:sym typeface="Symbol"/>
              </a:rPr>
              <a:t>KCL @ v-: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350581" y="4211196"/>
                <a:ext cx="2110706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2−0</m:t>
                          </m:r>
                        </m:num>
                        <m:den>
                          <m:r>
                            <a:rPr lang="en-ZA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ZA" b="0" i="1" smtClean="0">
                              <a:latin typeface="Cambria Math"/>
                            </a:rPr>
                            <m:t>𝑘</m:t>
                          </m:r>
                        </m:den>
                      </m:f>
                      <m:r>
                        <a:rPr lang="en-ZA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ZA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ZA" i="1" smtClean="0">
                              <a:latin typeface="Cambria Math"/>
                            </a:rPr>
                            <m:t>5</m:t>
                          </m:r>
                          <m:r>
                            <a:rPr lang="en-ZA" b="0" i="1" smtClean="0">
                              <a:latin typeface="Cambria Math"/>
                            </a:rPr>
                            <m:t>𝑘</m:t>
                          </m:r>
                        </m:den>
                      </m:f>
                      <m:r>
                        <a:rPr lang="en-ZA" b="0" i="0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b="0" dirty="0" smtClean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581" y="4211196"/>
                <a:ext cx="2110706" cy="6127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21159" y="4873354"/>
                <a:ext cx="216091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</a:rPr>
                        <m:t>10+4</m:t>
                      </m:r>
                      <m:r>
                        <a:rPr lang="en-ZA" sz="2000" b="0" i="0" smtClean="0">
                          <a:latin typeface="Cambria Math"/>
                        </a:rPr>
                        <m:t>−</m:t>
                      </m:r>
                      <m:r>
                        <a:rPr lang="en-ZA" sz="2000" b="0" i="1" smtClean="0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b="0" dirty="0" smtClean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1159" y="4873354"/>
                <a:ext cx="2160913" cy="40011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02190" y="5285496"/>
                <a:ext cx="12020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ZA" sz="20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=7 </m:t>
                      </m:r>
                      <m:r>
                        <a:rPr lang="en-ZA" sz="20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000" b="0" dirty="0" smtClean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2190" y="5285496"/>
                <a:ext cx="1202060" cy="40011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 bwMode="auto">
          <a:xfrm>
            <a:off x="4967108" y="5635049"/>
            <a:ext cx="69353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19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7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5" y="114300"/>
            <a:ext cx="2975903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5.19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Calculate </a:t>
            </a:r>
            <a:r>
              <a:rPr lang="en-ZA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505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8"/>
          <a:stretch/>
        </p:blipFill>
        <p:spPr bwMode="auto">
          <a:xfrm>
            <a:off x="3753853" y="114300"/>
            <a:ext cx="5164054" cy="2403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684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5" y="114300"/>
            <a:ext cx="2975903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5.25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Calculate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506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79"/>
          <a:stretch/>
        </p:blipFill>
        <p:spPr bwMode="auto">
          <a:xfrm>
            <a:off x="1323473" y="1167446"/>
            <a:ext cx="5708650" cy="3208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2888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69716-4DB4-4C60-B5D4-4FA578DC739C}" type="slidenum">
              <a:rPr lang="en-US"/>
              <a:pPr/>
              <a:t>22</a:t>
            </a:fld>
            <a:endParaRPr lang="en-US"/>
          </a:p>
        </p:txBody>
      </p:sp>
      <p:sp>
        <p:nvSpPr>
          <p:cNvPr id="121860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1600199"/>
            <a:ext cx="8077200" cy="156410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Summing Amplifier is an op amp circuit that combines several inputs and produces an output that is the weighted sum of the inputs</a:t>
            </a:r>
            <a:r>
              <a:rPr lang="en-US" sz="2400" dirty="0" smtClean="0"/>
              <a:t>.</a:t>
            </a:r>
          </a:p>
          <a:p>
            <a:pPr>
              <a:lnSpc>
                <a:spcPct val="80000"/>
              </a:lnSpc>
            </a:pPr>
            <a:r>
              <a:rPr lang="en-US" sz="2400" dirty="0" smtClean="0"/>
              <a:t>Basic configuration of an inverting amplifier but with multiple inputs.</a:t>
            </a:r>
            <a:endParaRPr lang="en-US" sz="2400" dirty="0"/>
          </a:p>
        </p:txBody>
      </p:sp>
      <p:sp>
        <p:nvSpPr>
          <p:cNvPr id="121861" name="Text Box 5"/>
          <p:cNvSpPr txBox="1">
            <a:spLocks noChangeArrowheads="1"/>
          </p:cNvSpPr>
          <p:nvPr/>
        </p:nvSpPr>
        <p:spPr bwMode="auto">
          <a:xfrm>
            <a:off x="6400800" y="3657600"/>
            <a:ext cx="2209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graphicFrame>
        <p:nvGraphicFramePr>
          <p:cNvPr id="121862" name="Object 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30667369"/>
              </p:ext>
            </p:extLst>
          </p:nvPr>
        </p:nvGraphicFramePr>
        <p:xfrm>
          <a:off x="5105400" y="3733800"/>
          <a:ext cx="37338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969" name="Equation" r:id="rId3" imgW="1854000" imgH="482400" progId="Equation.3">
                  <p:embed/>
                </p:oleObj>
              </mc:Choice>
              <mc:Fallback>
                <p:oleObj name="Equation" r:id="rId3" imgW="185400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733800"/>
                        <a:ext cx="3733800" cy="971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314450"/>
          </a:xfrm>
        </p:spPr>
        <p:txBody>
          <a:bodyPr/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Ch. 5 L#3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5.6 Summing Amplifier</a:t>
            </a:r>
            <a:endParaRPr lang="en-US" sz="4000" dirty="0"/>
          </a:p>
        </p:txBody>
      </p:sp>
      <p:pic>
        <p:nvPicPr>
          <p:cNvPr id="10" name="Picture 3" descr="ale29559_05021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73"/>
          <a:stretch/>
        </p:blipFill>
        <p:spPr bwMode="auto">
          <a:xfrm>
            <a:off x="203962" y="3164305"/>
            <a:ext cx="4793100" cy="3355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5" y="114300"/>
            <a:ext cx="2975903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5-6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for the following circuit: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502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6"/>
          <a:stretch/>
        </p:blipFill>
        <p:spPr bwMode="auto">
          <a:xfrm>
            <a:off x="2971800" y="114300"/>
            <a:ext cx="5880267" cy="2959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6" name="Object 15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554779500"/>
              </p:ext>
            </p:extLst>
          </p:nvPr>
        </p:nvGraphicFramePr>
        <p:xfrm>
          <a:off x="284655" y="1808747"/>
          <a:ext cx="3192471" cy="830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76" name="Equation" r:id="rId4" imgW="1854200" imgH="482600" progId="Equation.3">
                  <p:embed/>
                </p:oleObj>
              </mc:Choice>
              <mc:Fallback>
                <p:oleObj name="Equation" r:id="rId4" imgW="1854200" imgH="482600" progId="Equation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55" y="1808747"/>
                        <a:ext cx="3192471" cy="830694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23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B3758-ABB3-4ED9-8816-193433196D64}" type="slidenum">
              <a:rPr lang="en-US"/>
              <a:pPr/>
              <a:t>24</a:t>
            </a:fld>
            <a:endParaRPr lang="en-US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20316"/>
            <a:ext cx="9144000" cy="1314450"/>
          </a:xfrm>
        </p:spPr>
        <p:txBody>
          <a:bodyPr/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Ch. 5 L#3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5.7 Difference Amplifier</a:t>
            </a:r>
            <a:endParaRPr lang="en-US" sz="4000" dirty="0"/>
          </a:p>
        </p:txBody>
      </p:sp>
      <p:pic>
        <p:nvPicPr>
          <p:cNvPr id="10" name="Picture 3" descr="ale29559_0502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1"/>
          <a:stretch/>
        </p:blipFill>
        <p:spPr bwMode="auto">
          <a:xfrm>
            <a:off x="541419" y="2526630"/>
            <a:ext cx="5123503" cy="2806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425114" y="1239252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 smtClean="0"/>
              <a:t>Difference amplifier is a device that amplifies the difference between two inputs but rejects any signals common to the two inputs.</a:t>
            </a:r>
          </a:p>
          <a:p>
            <a:pPr>
              <a:lnSpc>
                <a:spcPct val="80000"/>
              </a:lnSpc>
            </a:pPr>
            <a:r>
              <a:rPr lang="en-US" sz="2400" dirty="0" smtClean="0"/>
              <a:t>Combination of the inverting and non-inverting op amps.</a:t>
            </a:r>
            <a:endParaRPr lang="en-US" sz="2400" dirty="0"/>
          </a:p>
        </p:txBody>
      </p:sp>
      <p:graphicFrame>
        <p:nvGraphicFramePr>
          <p:cNvPr id="3" name="Object 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613353716"/>
              </p:ext>
            </p:extLst>
          </p:nvPr>
        </p:nvGraphicFramePr>
        <p:xfrm>
          <a:off x="244640" y="5399853"/>
          <a:ext cx="3605465" cy="857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99" name="Equation" r:id="rId4" imgW="1815840" imgH="431640" progId="Equation.3">
                  <p:embed/>
                </p:oleObj>
              </mc:Choice>
              <mc:Fallback>
                <p:oleObj name="Equation" r:id="rId4" imgW="1815840" imgH="431640" progId="Equation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640" y="5399853"/>
                        <a:ext cx="3605465" cy="85709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919535" y="3096236"/>
                <a:ext cx="2390783" cy="6576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𝑏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a:rPr lang="en-ZA" b="0" i="1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ZA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ZA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ZA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b="0" i="1" smtClean="0">
                              <a:latin typeface="Cambria Math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ZA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9535" y="3096236"/>
                <a:ext cx="2390783" cy="65761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919536" y="3753852"/>
            <a:ext cx="3068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See derivation from 1</a:t>
            </a:r>
            <a:r>
              <a:rPr lang="en-ZA" baseline="30000" dirty="0" smtClean="0"/>
              <a:t>st</a:t>
            </a:r>
            <a:r>
              <a:rPr lang="en-ZA" dirty="0" smtClean="0"/>
              <a:t> principles  in textbook p187 and p188</a:t>
            </a:r>
            <a:endParaRPr lang="en-ZA" dirty="0"/>
          </a:p>
        </p:txBody>
      </p:sp>
      <p:sp>
        <p:nvSpPr>
          <p:cNvPr id="15" name="TextBox 14"/>
          <p:cNvSpPr txBox="1"/>
          <p:nvPr/>
        </p:nvSpPr>
        <p:spPr>
          <a:xfrm>
            <a:off x="3994481" y="5333621"/>
            <a:ext cx="4896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ZA" dirty="0" smtClean="0"/>
              <a:t>If R</a:t>
            </a:r>
            <a:r>
              <a:rPr lang="en-ZA" baseline="-25000" dirty="0" smtClean="0"/>
              <a:t>1</a:t>
            </a:r>
            <a:r>
              <a:rPr lang="en-ZA" dirty="0" smtClean="0"/>
              <a:t>/R</a:t>
            </a:r>
            <a:r>
              <a:rPr lang="en-ZA" baseline="-25000" dirty="0" smtClean="0"/>
              <a:t>2</a:t>
            </a:r>
            <a:r>
              <a:rPr lang="en-ZA" dirty="0" smtClean="0"/>
              <a:t> = R</a:t>
            </a:r>
            <a:r>
              <a:rPr lang="en-ZA" baseline="-25000" dirty="0" smtClean="0"/>
              <a:t>3</a:t>
            </a:r>
            <a:r>
              <a:rPr lang="en-ZA" dirty="0" smtClean="0"/>
              <a:t>/R</a:t>
            </a:r>
            <a:r>
              <a:rPr lang="en-ZA" baseline="-25000" dirty="0" smtClean="0"/>
              <a:t>4</a:t>
            </a:r>
            <a:r>
              <a:rPr lang="en-ZA" dirty="0" smtClean="0"/>
              <a:t>:  V</a:t>
            </a:r>
            <a:r>
              <a:rPr lang="en-ZA" baseline="-25000" dirty="0" smtClean="0"/>
              <a:t>o</a:t>
            </a:r>
            <a:r>
              <a:rPr lang="en-ZA" dirty="0" smtClean="0"/>
              <a:t> = 0 if V</a:t>
            </a:r>
            <a:r>
              <a:rPr lang="en-ZA" baseline="-25000" dirty="0" smtClean="0"/>
              <a:t>1</a:t>
            </a:r>
            <a:r>
              <a:rPr lang="en-ZA" dirty="0" smtClean="0"/>
              <a:t> = V</a:t>
            </a:r>
            <a:r>
              <a:rPr lang="en-ZA" baseline="-25000" dirty="0" smtClean="0"/>
              <a:t>2</a:t>
            </a:r>
          </a:p>
          <a:p>
            <a:pPr marL="342900" indent="-342900">
              <a:buAutoNum type="arabicPeriod"/>
            </a:pPr>
            <a:endParaRPr lang="en-ZA" dirty="0" smtClean="0"/>
          </a:p>
          <a:p>
            <a:pPr marL="342900" indent="-342900">
              <a:buAutoNum type="arabicPeriod"/>
            </a:pPr>
            <a:r>
              <a:rPr lang="en-ZA" dirty="0" smtClean="0"/>
              <a:t>If R</a:t>
            </a:r>
            <a:r>
              <a:rPr lang="en-ZA" baseline="-25000" dirty="0" smtClean="0"/>
              <a:t>2</a:t>
            </a:r>
            <a:r>
              <a:rPr lang="en-ZA" dirty="0" smtClean="0"/>
              <a:t> = R</a:t>
            </a:r>
            <a:r>
              <a:rPr lang="en-ZA" baseline="-25000" dirty="0" smtClean="0"/>
              <a:t>1</a:t>
            </a:r>
            <a:r>
              <a:rPr lang="en-ZA" dirty="0" smtClean="0"/>
              <a:t> and R</a:t>
            </a:r>
            <a:r>
              <a:rPr lang="en-ZA" baseline="-25000" dirty="0" smtClean="0"/>
              <a:t>3</a:t>
            </a:r>
            <a:r>
              <a:rPr lang="en-ZA" dirty="0" smtClean="0"/>
              <a:t> = R</a:t>
            </a:r>
            <a:r>
              <a:rPr lang="en-ZA" baseline="-25000" dirty="0" smtClean="0"/>
              <a:t>4</a:t>
            </a:r>
            <a:r>
              <a:rPr lang="en-ZA" dirty="0" smtClean="0"/>
              <a:t>: V</a:t>
            </a:r>
            <a:r>
              <a:rPr lang="en-ZA" baseline="-25000" dirty="0" smtClean="0"/>
              <a:t>o</a:t>
            </a:r>
            <a:r>
              <a:rPr lang="en-ZA" dirty="0" smtClean="0"/>
              <a:t> = V</a:t>
            </a:r>
            <a:r>
              <a:rPr lang="en-ZA" baseline="-25000" dirty="0" smtClean="0"/>
              <a:t>2</a:t>
            </a:r>
            <a:r>
              <a:rPr lang="en-ZA" dirty="0" smtClean="0"/>
              <a:t> – V</a:t>
            </a:r>
            <a:r>
              <a:rPr lang="en-ZA" baseline="-25000" dirty="0" smtClean="0"/>
              <a:t>1</a:t>
            </a:r>
            <a:endParaRPr lang="en-ZA" dirty="0"/>
          </a:p>
        </p:txBody>
      </p:sp>
      <p:sp>
        <p:nvSpPr>
          <p:cNvPr id="2" name="Freeform 1"/>
          <p:cNvSpPr/>
          <p:nvPr/>
        </p:nvSpPr>
        <p:spPr>
          <a:xfrm>
            <a:off x="3031957" y="3429001"/>
            <a:ext cx="2887579" cy="1051852"/>
          </a:xfrm>
          <a:custGeom>
            <a:avLst/>
            <a:gdLst>
              <a:gd name="connsiteX0" fmla="*/ 0 w 3140242"/>
              <a:gd name="connsiteY0" fmla="*/ 601579 h 1022684"/>
              <a:gd name="connsiteX1" fmla="*/ 998621 w 3140242"/>
              <a:gd name="connsiteY1" fmla="*/ 1022684 h 1022684"/>
              <a:gd name="connsiteX2" fmla="*/ 3140242 w 3140242"/>
              <a:gd name="connsiteY2" fmla="*/ 0 h 1022684"/>
              <a:gd name="connsiteX0" fmla="*/ 0 w 3140242"/>
              <a:gd name="connsiteY0" fmla="*/ 601579 h 1022684"/>
              <a:gd name="connsiteX1" fmla="*/ 998621 w 3140242"/>
              <a:gd name="connsiteY1" fmla="*/ 1022684 h 1022684"/>
              <a:gd name="connsiteX2" fmla="*/ 3140242 w 3140242"/>
              <a:gd name="connsiteY2" fmla="*/ 0 h 1022684"/>
              <a:gd name="connsiteX0" fmla="*/ 0 w 3140242"/>
              <a:gd name="connsiteY0" fmla="*/ 601579 h 1039279"/>
              <a:gd name="connsiteX1" fmla="*/ 998621 w 3140242"/>
              <a:gd name="connsiteY1" fmla="*/ 1022684 h 1039279"/>
              <a:gd name="connsiteX2" fmla="*/ 3140242 w 3140242"/>
              <a:gd name="connsiteY2" fmla="*/ 0 h 1039279"/>
              <a:gd name="connsiteX0" fmla="*/ 0 w 3140242"/>
              <a:gd name="connsiteY0" fmla="*/ 601579 h 1039279"/>
              <a:gd name="connsiteX1" fmla="*/ 998621 w 3140242"/>
              <a:gd name="connsiteY1" fmla="*/ 1022684 h 1039279"/>
              <a:gd name="connsiteX2" fmla="*/ 3140242 w 3140242"/>
              <a:gd name="connsiteY2" fmla="*/ 0 h 1039279"/>
              <a:gd name="connsiteX0" fmla="*/ 0 w 2887579"/>
              <a:gd name="connsiteY0" fmla="*/ 613611 h 1051852"/>
              <a:gd name="connsiteX1" fmla="*/ 998621 w 2887579"/>
              <a:gd name="connsiteY1" fmla="*/ 1034716 h 1051852"/>
              <a:gd name="connsiteX2" fmla="*/ 2887579 w 2887579"/>
              <a:gd name="connsiteY2" fmla="*/ 0 h 1051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87579" h="1051852">
                <a:moveTo>
                  <a:pt x="0" y="613611"/>
                </a:moveTo>
                <a:cubicBezTo>
                  <a:pt x="332874" y="753979"/>
                  <a:pt x="517358" y="1136984"/>
                  <a:pt x="998621" y="1034716"/>
                </a:cubicBezTo>
                <a:cubicBezTo>
                  <a:pt x="1479884" y="932448"/>
                  <a:pt x="2173705" y="340895"/>
                  <a:pt x="2887579" y="0"/>
                </a:cubicBezTo>
              </a:path>
            </a:pathLst>
          </a:custGeom>
          <a:ln w="28575">
            <a:solidFill>
              <a:srgbClr val="FF0000"/>
            </a:solidFill>
            <a:headEnd type="oval" w="lg" len="med"/>
            <a:tailEnd type="triangle" w="lg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5" grpId="0"/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FBB1D-2291-4C82-B0EB-53244714F1B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4655" y="114300"/>
            <a:ext cx="6753819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5.7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Design an Op Amp circuit with inputs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such that </a:t>
            </a:r>
            <a:r>
              <a:rPr lang="en-ZA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-5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+ 3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9336" y="1547881"/>
            <a:ext cx="51050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Design 1:  Using only 1 Op Amp</a:t>
            </a:r>
            <a:endParaRPr lang="en-ZA" sz="2400" b="1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3" descr="ale29559_0502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1"/>
          <a:stretch/>
        </p:blipFill>
        <p:spPr bwMode="auto">
          <a:xfrm>
            <a:off x="541420" y="2009546"/>
            <a:ext cx="3666960" cy="200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Object 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631619823"/>
              </p:ext>
            </p:extLst>
          </p:nvPr>
        </p:nvGraphicFramePr>
        <p:xfrm>
          <a:off x="5087783" y="1580921"/>
          <a:ext cx="360521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89" name="Equation" r:id="rId4" imgW="1815840" imgH="431640" progId="Equation.3">
                  <p:embed/>
                </p:oleObj>
              </mc:Choice>
              <mc:Fallback>
                <p:oleObj name="Equation" r:id="rId4" imgW="1815840" imgH="431640" progId="Equation.3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783" y="1580921"/>
                        <a:ext cx="3605213" cy="857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6514825" y="3100498"/>
                <a:ext cx="1030730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ZA" sz="20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825" y="3100498"/>
                <a:ext cx="1030730" cy="71885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028049" y="4059903"/>
                <a:ext cx="2295692" cy="1099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latin typeface="Cambria Math"/>
                            </a:rPr>
                            <m:t>5</m:t>
                          </m:r>
                          <m:d>
                            <m:d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000" i="1">
                                  <a:latin typeface="Cambria Math"/>
                                </a:rPr>
                                <m:t>1+</m:t>
                              </m:r>
                              <m:f>
                                <m:fPr>
                                  <m:type m:val="skw"/>
                                  <m:ctrlPr>
                                    <a:rPr lang="en-ZA" sz="20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ZA" sz="20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ZA" sz="2000" b="0" i="1" smtClean="0">
                                      <a:latin typeface="Cambria Math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ZA" sz="2000" b="0" i="1" smtClean="0">
                              <a:latin typeface="Cambria Math"/>
                            </a:rPr>
                            <m:t>1</m:t>
                          </m:r>
                          <m:d>
                            <m:d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000" i="1">
                                  <a:latin typeface="Cambria Math"/>
                                </a:rPr>
                                <m:t>1+</m:t>
                              </m:r>
                              <m:f>
                                <m:fPr>
                                  <m:type m:val="skw"/>
                                  <m:ctrlPr>
                                    <a:rPr lang="en-ZA" sz="20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ZA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ZA" sz="2000" i="1">
                                          <a:latin typeface="Cambria Math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ZA" sz="2000" b="0" i="1" smtClean="0">
                                          <a:latin typeface="Cambria Math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ZA" sz="2000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ZA" sz="2000" i="1">
                                          <a:latin typeface="Cambria Math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ZA" sz="2000" b="0" i="1" smtClean="0">
                                          <a:latin typeface="Cambria Math"/>
                                        </a:rPr>
                                        <m:t>4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=3</m:t>
                      </m:r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049" y="4059903"/>
                <a:ext cx="2295692" cy="109959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Object 12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3835623873"/>
              </p:ext>
            </p:extLst>
          </p:nvPr>
        </p:nvGraphicFramePr>
        <p:xfrm>
          <a:off x="1230910" y="4248653"/>
          <a:ext cx="1806575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090" name="Equation" r:id="rId8" imgW="1028520" imgH="431640" progId="Equation.3">
                  <p:embed/>
                </p:oleObj>
              </mc:Choice>
              <mc:Fallback>
                <p:oleObj name="Equation" r:id="rId8" imgW="1028520" imgH="431640" progId="Equation.3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910" y="4248653"/>
                        <a:ext cx="1806575" cy="7588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18502" y="5145255"/>
                <a:ext cx="3196323" cy="8408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latin typeface="Cambria Math"/>
                            </a:rPr>
                            <m:t>5</m:t>
                          </m:r>
                          <m:d>
                            <m:d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000" i="1">
                                  <a:latin typeface="Cambria Math"/>
                                </a:rPr>
                                <m:t>1+</m:t>
                              </m:r>
                              <m:f>
                                <m:fPr>
                                  <m:type m:val="skw"/>
                                  <m:ctrlPr>
                                    <a:rPr lang="en-ZA" sz="2000" i="1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ZA" sz="2000" i="1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ZA" sz="2000" b="0" i="1" smtClean="0">
                                      <a:latin typeface="Cambria Math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ZA" sz="20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ZA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i="1">
                              <a:latin typeface="Cambria Math"/>
                            </a:rPr>
                            <m:t>1+</m:t>
                          </m:r>
                          <m:f>
                            <m:fPr>
                              <m:type m:val="skw"/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ZA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ZA" sz="20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ZA" sz="2000" i="1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ZA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ZA" sz="20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ZA" sz="2000" i="1">
                                      <a:latin typeface="Cambria Math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502" y="5145255"/>
                <a:ext cx="3196323" cy="840808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422600" y="5991039"/>
                <a:ext cx="2336281" cy="5947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i="1" smtClean="0">
                          <a:latin typeface="Cambria Math"/>
                        </a:rPr>
                        <m:t>2</m:t>
                      </m:r>
                      <m:r>
                        <a:rPr lang="en-ZA" sz="2000" b="0" i="1" smtClean="0">
                          <a:latin typeface="Cambria Math"/>
                        </a:rPr>
                        <m:t>−1=1=</m:t>
                      </m:r>
                      <m:f>
                        <m:fPr>
                          <m:type m:val="skw"/>
                          <m:ctrlPr>
                            <a:rPr lang="en-ZA" sz="2000" i="1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000" i="1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ZA" sz="2000" i="1">
                                  <a:latin typeface="Cambria Math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2600" y="5991039"/>
                <a:ext cx="2336281" cy="594715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5758881" y="6064640"/>
            <a:ext cx="25930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Choose R</a:t>
            </a:r>
            <a:r>
              <a:rPr lang="en-ZA" sz="20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R</a:t>
            </a:r>
            <a:r>
              <a:rPr lang="en-ZA" sz="20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4</a:t>
            </a:r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2 k</a:t>
            </a:r>
            <a:endParaRPr lang="en-ZA" sz="2000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546724" y="2638833"/>
            <a:ext cx="19976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i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= 3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–  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ZA" sz="2400" i="1" dirty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424748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9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063" y="2657610"/>
            <a:ext cx="3321322" cy="2705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5" y="114300"/>
            <a:ext cx="6753819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Example 5.7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Design an Op Amp circuit with inputs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such that </a:t>
            </a:r>
            <a:r>
              <a:rPr lang="en-ZA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-5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+ 3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9336" y="1547881"/>
            <a:ext cx="51050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Design 2:  Using 2 Op Amps</a:t>
            </a:r>
            <a:endParaRPr lang="en-ZA" sz="2400" b="1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68758" y="2041448"/>
            <a:ext cx="31098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Build 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an inverting 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amp to obtain </a:t>
            </a:r>
            <a:r>
              <a:rPr lang="en-ZA" sz="20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0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-3</a:t>
            </a:r>
            <a:r>
              <a:rPr lang="en-ZA" sz="20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775" y="2872527"/>
            <a:ext cx="2519823" cy="2033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3972582" y="2029689"/>
            <a:ext cx="40665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2.  Feed </a:t>
            </a:r>
            <a:r>
              <a:rPr lang="en-ZA" sz="2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output </a:t>
            </a:r>
            <a:r>
              <a:rPr lang="en-ZA" sz="20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into </a:t>
            </a:r>
            <a:r>
              <a:rPr lang="en-ZA" sz="2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 summing amplifier along with v</a:t>
            </a:r>
            <a:r>
              <a:rPr lang="en-ZA" sz="2000" baseline="-25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ZA" sz="2000" dirty="0"/>
          </a:p>
        </p:txBody>
      </p:sp>
      <p:sp>
        <p:nvSpPr>
          <p:cNvPr id="8" name="Rectangle 7"/>
          <p:cNvSpPr/>
          <p:nvPr/>
        </p:nvSpPr>
        <p:spPr>
          <a:xfrm>
            <a:off x="1633445" y="5038859"/>
            <a:ext cx="202811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– 3R</a:t>
            </a:r>
            <a:r>
              <a:rPr lang="en-ZA" sz="2000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/R</a:t>
            </a:r>
            <a:r>
              <a:rPr lang="en-ZA" sz="2000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 </a:t>
            </a:r>
            <a:r>
              <a:rPr lang="en-ZA" sz="20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0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endParaRPr lang="en-ZA" sz="2000" i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  </a:t>
            </a:r>
            <a:r>
              <a:rPr lang="en-ZA" sz="2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= – 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0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0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endParaRPr lang="en-ZA" sz="20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69623" y="5362880"/>
            <a:ext cx="3780202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– (5R</a:t>
            </a:r>
            <a:r>
              <a:rPr lang="en-ZA" sz="2000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/R</a:t>
            </a:r>
            <a:r>
              <a:rPr lang="en-ZA" sz="2000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 </a:t>
            </a:r>
            <a:r>
              <a:rPr lang="en-ZA" sz="20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0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ZA" sz="20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+ 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5R</a:t>
            </a:r>
            <a:r>
              <a:rPr lang="en-ZA" sz="2000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/5R</a:t>
            </a:r>
            <a:r>
              <a:rPr lang="en-ZA" sz="2000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 </a:t>
            </a:r>
            <a:r>
              <a:rPr lang="en-ZA" sz="20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0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a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endParaRPr lang="en-ZA" sz="20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  </a:t>
            </a:r>
            <a:r>
              <a:rPr lang="en-ZA" sz="2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= – 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ZA" sz="20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0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ZA" sz="20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– </a:t>
            </a:r>
            <a:r>
              <a:rPr lang="en-ZA" sz="20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0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a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</a:p>
          <a:p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= </a:t>
            </a:r>
            <a:r>
              <a:rPr lang="en-ZA" sz="2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5</a:t>
            </a:r>
            <a:r>
              <a:rPr lang="en-ZA" sz="2000" i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000" i="1" baseline="-25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ZA" sz="2000" i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– 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n-ZA" sz="2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ZA" sz="20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0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</a:p>
          <a:p>
            <a:r>
              <a:rPr lang="en-ZA" sz="2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 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ZA" sz="2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– 5</a:t>
            </a:r>
            <a:r>
              <a:rPr lang="en-ZA" sz="2000" i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000" i="1" baseline="-25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ZA" sz="2000" i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0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+ 3v</a:t>
            </a:r>
            <a:r>
              <a:rPr lang="en-ZA" sz="20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endParaRPr lang="en-ZA" sz="20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3501188" y="3671888"/>
            <a:ext cx="1482767" cy="368215"/>
          </a:xfrm>
          <a:custGeom>
            <a:avLst/>
            <a:gdLst>
              <a:gd name="connsiteX0" fmla="*/ 0 w 1443790"/>
              <a:gd name="connsiteY0" fmla="*/ 336884 h 336884"/>
              <a:gd name="connsiteX1" fmla="*/ 770022 w 1443790"/>
              <a:gd name="connsiteY1" fmla="*/ 336884 h 336884"/>
              <a:gd name="connsiteX2" fmla="*/ 770022 w 1443790"/>
              <a:gd name="connsiteY2" fmla="*/ 0 h 336884"/>
              <a:gd name="connsiteX3" fmla="*/ 1443790 w 1443790"/>
              <a:gd name="connsiteY3" fmla="*/ 0 h 336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3790" h="336884">
                <a:moveTo>
                  <a:pt x="0" y="336884"/>
                </a:moveTo>
                <a:lnTo>
                  <a:pt x="770022" y="336884"/>
                </a:lnTo>
                <a:lnTo>
                  <a:pt x="770022" y="0"/>
                </a:lnTo>
                <a:lnTo>
                  <a:pt x="1443790" y="0"/>
                </a:lnTo>
              </a:path>
            </a:pathLst>
          </a:cu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flipH="1">
            <a:off x="2762250" y="4362450"/>
            <a:ext cx="570497" cy="676409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 bwMode="auto">
          <a:xfrm flipH="1">
            <a:off x="6924675" y="4040103"/>
            <a:ext cx="694065" cy="132277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92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84655" y="114300"/>
            <a:ext cx="5033303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5-8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for the following circuit: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502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0"/>
          <a:stretch/>
        </p:blipFill>
        <p:spPr bwMode="auto">
          <a:xfrm>
            <a:off x="284655" y="1175201"/>
            <a:ext cx="5033303" cy="2711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625624" y="2043260"/>
            <a:ext cx="4806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endParaRPr lang="en-ZA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83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0" y="103188"/>
            <a:ext cx="91440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Ch. 5 L#4 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5.8 Cascaded Op Amp Circuits</a:t>
            </a:r>
            <a:endParaRPr lang="en-US" sz="4000" dirty="0"/>
          </a:p>
        </p:txBody>
      </p:sp>
      <p:pic>
        <p:nvPicPr>
          <p:cNvPr id="4" name="Picture 3" descr="ale29559_0502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84"/>
          <a:stretch/>
        </p:blipFill>
        <p:spPr bwMode="auto">
          <a:xfrm>
            <a:off x="248235" y="3079537"/>
            <a:ext cx="8647530" cy="1452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12935" y="4710081"/>
                <a:ext cx="52382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ZA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ZA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ZA" sz="24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ZA" sz="24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935" y="4710081"/>
                <a:ext cx="5238229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2498996" y="5663675"/>
            <a:ext cx="41460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4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Total Amplification </a:t>
            </a:r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A = A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i="1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ZA" sz="2400" i="1" baseline="-25000" dirty="0" smtClean="0">
                <a:solidFill>
                  <a:srgbClr val="080808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ZA" sz="2400" i="1" dirty="0">
              <a:solidFill>
                <a:srgbClr val="080808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81000" y="1676400"/>
            <a:ext cx="8229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smtClean="0"/>
              <a:t>It is a head-to-tail arrangement of two or more op amp circuits such that the output to one is the input of the next.</a:t>
            </a:r>
            <a:endParaRPr lang="en-US" sz="2000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56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5" y="114300"/>
            <a:ext cx="5033303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5-9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503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1"/>
          <a:stretch/>
        </p:blipFill>
        <p:spPr bwMode="auto">
          <a:xfrm>
            <a:off x="48137" y="1851660"/>
            <a:ext cx="4772236" cy="3213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1" name="Group 20"/>
          <p:cNvGrpSpPr/>
          <p:nvPr/>
        </p:nvGrpSpPr>
        <p:grpSpPr>
          <a:xfrm>
            <a:off x="796003" y="982110"/>
            <a:ext cx="4024369" cy="1056803"/>
            <a:chOff x="796003" y="982110"/>
            <a:chExt cx="4024369" cy="1056803"/>
          </a:xfrm>
        </p:grpSpPr>
        <p:sp>
          <p:nvSpPr>
            <p:cNvPr id="6" name="Rectangle 5"/>
            <p:cNvSpPr/>
            <p:nvPr/>
          </p:nvSpPr>
          <p:spPr>
            <a:xfrm>
              <a:off x="808035" y="982110"/>
              <a:ext cx="1934014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ZA" sz="2000" dirty="0" smtClean="0">
                  <a:solidFill>
                    <a:schemeClr val="accent6">
                      <a:lumMod val="5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Voltage Follower or  Buffer</a:t>
              </a:r>
              <a:endParaRPr lang="en-ZA" sz="2000" dirty="0"/>
            </a:p>
          </p:txBody>
        </p:sp>
        <p:sp>
          <p:nvSpPr>
            <p:cNvPr id="9" name="Right Brace 8"/>
            <p:cNvSpPr/>
            <p:nvPr/>
          </p:nvSpPr>
          <p:spPr bwMode="auto">
            <a:xfrm rot="16200000" flipV="1">
              <a:off x="1647769" y="825436"/>
              <a:ext cx="348916" cy="2052447"/>
            </a:xfrm>
            <a:prstGeom prst="rightBrace">
              <a:avLst>
                <a:gd name="adj1" fmla="val 56609"/>
                <a:gd name="adj2" fmla="val 50000"/>
              </a:avLst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0" name="Right Brace 9"/>
            <p:cNvSpPr/>
            <p:nvPr/>
          </p:nvSpPr>
          <p:spPr bwMode="auto">
            <a:xfrm rot="16200000" flipV="1">
              <a:off x="3688026" y="906566"/>
              <a:ext cx="348916" cy="1915777"/>
            </a:xfrm>
            <a:prstGeom prst="rightBrace">
              <a:avLst>
                <a:gd name="adj1" fmla="val 56609"/>
                <a:gd name="adj2" fmla="val 50000"/>
              </a:avLst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ZA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48451" y="1263358"/>
              <a:ext cx="193401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ZA" sz="2000" b="1" dirty="0" smtClean="0">
                  <a:solidFill>
                    <a:schemeClr val="accent6">
                      <a:lumMod val="5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Non-</a:t>
              </a:r>
              <a:r>
                <a:rPr lang="en-ZA" sz="2000" dirty="0" smtClean="0">
                  <a:solidFill>
                    <a:schemeClr val="accent6">
                      <a:lumMod val="5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Inverter</a:t>
              </a:r>
              <a:endParaRPr lang="en-ZA" sz="2000" dirty="0"/>
            </a:p>
          </p:txBody>
        </p:sp>
      </p:grpSp>
      <p:sp>
        <p:nvSpPr>
          <p:cNvPr id="12" name="Rectangle 11"/>
          <p:cNvSpPr/>
          <p:nvPr/>
        </p:nvSpPr>
        <p:spPr>
          <a:xfrm>
            <a:off x="2939383" y="2472696"/>
            <a:ext cx="5298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 V </a:t>
            </a:r>
            <a:endParaRPr lang="en-ZA" sz="16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939383" y="2026118"/>
            <a:ext cx="5298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 V </a:t>
            </a:r>
            <a:endParaRPr lang="en-ZA" sz="1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392312" y="1851867"/>
                <a:ext cx="2348848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latin typeface="Cambria Math"/>
                            </a:rPr>
                            <m:t>8−0</m:t>
                          </m:r>
                        </m:num>
                        <m:den>
                          <m:r>
                            <a:rPr lang="en-ZA" sz="20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ZA" sz="2000" b="0" i="1" smtClean="0">
                              <a:latin typeface="Cambria Math"/>
                            </a:rPr>
                            <m:t>𝑘</m:t>
                          </m:r>
                        </m:den>
                      </m:f>
                      <m:r>
                        <a:rPr lang="en-ZA" sz="2000" b="0" i="0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ZA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latin typeface="Cambria Math"/>
                            </a:rPr>
                            <m:t>8</m:t>
                          </m:r>
                          <m:r>
                            <a:rPr lang="en-ZA" sz="20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sz="2000" b="0" i="1" smtClean="0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latin typeface="Cambria Math"/>
                            </a:rPr>
                            <m:t>8</m:t>
                          </m:r>
                          <m:r>
                            <a:rPr lang="en-ZA" sz="2000" b="0" i="1" smtClean="0">
                              <a:latin typeface="Cambria Math"/>
                            </a:rPr>
                            <m:t>𝑘</m:t>
                          </m:r>
                        </m:den>
                      </m:f>
                      <m:r>
                        <a:rPr lang="en-ZA" sz="2000" b="0" i="0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ZA" sz="2000" b="0" dirty="0" smtClean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2312" y="1851867"/>
                <a:ext cx="2348848" cy="67056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5317958" y="1109470"/>
            <a:ext cx="165320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000" i="1" baseline="-25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ZA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= v- = 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8 V</a:t>
            </a:r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ZA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KCL at </a:t>
            </a:r>
            <a:r>
              <a:rPr lang="en-ZA" sz="2000" i="1" dirty="0" smtClean="0">
                <a:latin typeface="Times New Roman" pitchFamily="18" charset="0"/>
                <a:cs typeface="Times New Roman" pitchFamily="18" charset="0"/>
              </a:rPr>
              <a:t>v-</a:t>
            </a:r>
            <a:endParaRPr lang="en-ZA" sz="2000" i="1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351906" y="2488374"/>
                <a:ext cx="15934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</a:rPr>
                        <m:t>16+8=</m:t>
                      </m:r>
                      <m:sSub>
                        <m:sSubPr>
                          <m:ctrlPr>
                            <a:rPr lang="en-ZA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sz="2000" i="1">
                              <a:latin typeface="Cambria Math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1906" y="2488374"/>
                <a:ext cx="1593450" cy="40011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813195" y="2853567"/>
                <a:ext cx="136896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sz="2000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=24 </m:t>
                      </m:r>
                      <m:r>
                        <a:rPr lang="en-ZA" sz="2000" b="0" i="1" smtClean="0">
                          <a:latin typeface="Cambria Math"/>
                        </a:rPr>
                        <m:t>𝑉</m:t>
                      </m:r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195" y="2853567"/>
                <a:ext cx="1368965" cy="40011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/>
          <p:nvPr/>
        </p:nvCxnSpPr>
        <p:spPr bwMode="auto">
          <a:xfrm>
            <a:off x="7286130" y="3240903"/>
            <a:ext cx="77002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377213" y="3836146"/>
                <a:ext cx="2646494" cy="670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000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ZA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sz="2000" b="0" i="1" smtClean="0">
                                  <a:latin typeface="Cambria Math"/>
                                </a:rPr>
                                <m:t>−</m:t>
                              </m:r>
                            </m:sub>
                          </m:sSub>
                        </m:num>
                        <m:den>
                          <m:r>
                            <a:rPr lang="en-ZA" sz="2000" b="0" i="1" smtClean="0">
                              <a:latin typeface="Cambria Math"/>
                            </a:rPr>
                            <m:t>4</m:t>
                          </m:r>
                          <m:r>
                            <a:rPr lang="en-ZA" sz="2000" b="0" i="1" smtClean="0">
                              <a:latin typeface="Cambria Math"/>
                            </a:rPr>
                            <m:t>𝑘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latin typeface="Cambria Math"/>
                            </a:rPr>
                            <m:t>8</m:t>
                          </m:r>
                        </m:num>
                        <m:den>
                          <m:r>
                            <a:rPr lang="en-ZA" sz="2000" i="1">
                              <a:latin typeface="Cambria Math"/>
                            </a:rPr>
                            <m:t>4</m:t>
                          </m:r>
                          <m:r>
                            <a:rPr lang="en-ZA" sz="2000" i="1">
                              <a:latin typeface="Cambria Math"/>
                            </a:rPr>
                            <m:t>𝑘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</a:rPr>
                        <m:t>=2 </m:t>
                      </m:r>
                      <m:r>
                        <a:rPr lang="en-ZA" sz="2000" b="0" i="1" smtClean="0">
                          <a:latin typeface="Cambria Math"/>
                        </a:rPr>
                        <m:t>𝑚𝐴</m:t>
                      </m:r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213" y="3836146"/>
                <a:ext cx="2646494" cy="67050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 bwMode="auto">
          <a:xfrm>
            <a:off x="7253687" y="4332165"/>
            <a:ext cx="77002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55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4973144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5-10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4 V and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3 V, determine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503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5"/>
          <a:stretch/>
        </p:blipFill>
        <p:spPr bwMode="auto">
          <a:xfrm>
            <a:off x="661836" y="1518005"/>
            <a:ext cx="6112338" cy="3932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10801" y="2545905"/>
            <a:ext cx="779622" cy="5011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 V</a:t>
            </a:r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ZA" sz="20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1769" y="4319016"/>
            <a:ext cx="779622" cy="5011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 V</a:t>
            </a:r>
            <a:r>
              <a:rPr lang="en-ZA" sz="2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ZA" sz="20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06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le29559_0503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5"/>
          <a:stretch/>
        </p:blipFill>
        <p:spPr bwMode="auto">
          <a:xfrm>
            <a:off x="192292" y="864914"/>
            <a:ext cx="6112338" cy="3932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8354018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5-10 (continued)</a:t>
            </a:r>
            <a:endParaRPr lang="en-ZA" sz="2400" b="1" u="sng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4 V and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3 V, determine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4225934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8354018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 5-39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such that </a:t>
            </a:r>
            <a:r>
              <a:rPr lang="en-ZA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-16.5 V. 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507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73"/>
          <a:stretch/>
        </p:blipFill>
        <p:spPr bwMode="auto">
          <a:xfrm>
            <a:off x="626311" y="945297"/>
            <a:ext cx="7928142" cy="3201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560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le29559_05079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2"/>
          <a:stretch/>
        </p:blipFill>
        <p:spPr bwMode="auto">
          <a:xfrm>
            <a:off x="2689393" y="114300"/>
            <a:ext cx="5949281" cy="32899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4888923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 5-39</a:t>
            </a:r>
          </a:p>
          <a:p>
            <a:r>
              <a:rPr lang="en-ZA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ZA" sz="2400" i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ZA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 and </a:t>
            </a:r>
            <a:r>
              <a:rPr lang="en-ZA" sz="2400" i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ZA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V, determine </a:t>
            </a:r>
            <a:r>
              <a:rPr lang="en-ZA" sz="2400" i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graphicFrame>
        <p:nvGraphicFramePr>
          <p:cNvPr id="15" name="Object 14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75933653"/>
              </p:ext>
            </p:extLst>
          </p:nvPr>
        </p:nvGraphicFramePr>
        <p:xfrm>
          <a:off x="5173579" y="3513293"/>
          <a:ext cx="360521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40" name="Equation" r:id="rId4" imgW="1815840" imgH="431640" progId="Equation.3">
                  <p:embed/>
                </p:oleObj>
              </mc:Choice>
              <mc:Fallback>
                <p:oleObj name="Equation" r:id="rId4" imgW="1815840" imgH="431640" progId="Equation.3">
                  <p:embed/>
                  <p:pic>
                    <p:nvPicPr>
                      <p:cNvPr id="0" name="Object 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3579" y="3513293"/>
                        <a:ext cx="3605212" cy="8572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3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6110-A683-4269-B44F-B19EECE266B1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6" y="114300"/>
            <a:ext cx="4888923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 5-59</a:t>
            </a:r>
          </a:p>
          <a:p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ZA" sz="2400" i="1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if </a:t>
            </a:r>
            <a:r>
              <a:rPr lang="en-ZA" sz="2400" i="1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= 20 k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</a:t>
            </a:r>
            <a:r>
              <a:rPr lang="en-ZA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508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2"/>
          <a:stretch/>
        </p:blipFill>
        <p:spPr bwMode="auto">
          <a:xfrm>
            <a:off x="2339798" y="3011231"/>
            <a:ext cx="5667562" cy="352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287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2165</TotalTime>
  <Words>1746</Words>
  <Application>Microsoft Office PowerPoint</Application>
  <PresentationFormat>On-screen Show (4:3)</PresentationFormat>
  <Paragraphs>252</Paragraphs>
  <Slides>34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6" baseType="lpstr">
      <vt:lpstr>Balloons</vt:lpstr>
      <vt:lpstr>Equation</vt:lpstr>
      <vt:lpstr>PowerPoint Presentation</vt:lpstr>
      <vt:lpstr>Operational Amplifier - Chapter 5</vt:lpstr>
      <vt:lpstr> 5.2 What is an Op Amp</vt:lpstr>
      <vt:lpstr> 5.2 What is an Op Amp Pin Configuration and Circuit Symbol</vt:lpstr>
      <vt:lpstr> 5.2 What is an Op Amp Equivalent Circuit model of a non-ideal Op Amp</vt:lpstr>
      <vt:lpstr>PowerPoint Presentation</vt:lpstr>
      <vt:lpstr>PowerPoint Presentation</vt:lpstr>
      <vt:lpstr>PowerPoint Presentation</vt:lpstr>
      <vt:lpstr> 5.3 Ideal Op Amp</vt:lpstr>
      <vt:lpstr>PowerPoint Presentation</vt:lpstr>
      <vt:lpstr>PowerPoint Presentation</vt:lpstr>
      <vt:lpstr>PowerPoint Presentation</vt:lpstr>
      <vt:lpstr>Ch. 5 L#2  5.4 Inverting Amplifier</vt:lpstr>
      <vt:lpstr>PowerPoint Presentation</vt:lpstr>
      <vt:lpstr>PowerPoint Presentation</vt:lpstr>
      <vt:lpstr>PowerPoint Presentation</vt:lpstr>
      <vt:lpstr>5.5 Non-inverting Amplifier</vt:lpstr>
      <vt:lpstr>PowerPoint Presentation</vt:lpstr>
      <vt:lpstr>PowerPoint Presentation</vt:lpstr>
      <vt:lpstr>PowerPoint Presentation</vt:lpstr>
      <vt:lpstr>PowerPoint Presentation</vt:lpstr>
      <vt:lpstr>Ch. 5 L#3  5.6 Summing Amplifier</vt:lpstr>
      <vt:lpstr>PowerPoint Presentation</vt:lpstr>
      <vt:lpstr>Ch. 5 L#3  5.7 Difference Amplifier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EE2003  Circuit Theory</dc:title>
  <dc:creator>EE</dc:creator>
  <cp:lastModifiedBy>User</cp:lastModifiedBy>
  <cp:revision>193</cp:revision>
  <cp:lastPrinted>2011-09-26T14:02:50Z</cp:lastPrinted>
  <dcterms:created xsi:type="dcterms:W3CDTF">2006-09-12T03:52:31Z</dcterms:created>
  <dcterms:modified xsi:type="dcterms:W3CDTF">2012-03-08T12:04:42Z</dcterms:modified>
</cp:coreProperties>
</file>