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wdp" ContentType="image/vnd.ms-photo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0" r:id="rId1"/>
  </p:sldMasterIdLst>
  <p:notesMasterIdLst>
    <p:notesMasterId r:id="rId44"/>
  </p:notesMasterIdLst>
  <p:handoutMasterIdLst>
    <p:handoutMasterId r:id="rId45"/>
  </p:handoutMasterIdLst>
  <p:sldIdLst>
    <p:sldId id="256" r:id="rId2"/>
    <p:sldId id="257" r:id="rId3"/>
    <p:sldId id="408" r:id="rId4"/>
    <p:sldId id="425" r:id="rId5"/>
    <p:sldId id="426" r:id="rId6"/>
    <p:sldId id="322" r:id="rId7"/>
    <p:sldId id="427" r:id="rId8"/>
    <p:sldId id="428" r:id="rId9"/>
    <p:sldId id="437" r:id="rId10"/>
    <p:sldId id="429" r:id="rId11"/>
    <p:sldId id="430" r:id="rId12"/>
    <p:sldId id="431" r:id="rId13"/>
    <p:sldId id="434" r:id="rId14"/>
    <p:sldId id="433" r:id="rId15"/>
    <p:sldId id="436" r:id="rId16"/>
    <p:sldId id="435" r:id="rId17"/>
    <p:sldId id="389" r:id="rId18"/>
    <p:sldId id="438" r:id="rId19"/>
    <p:sldId id="440" r:id="rId20"/>
    <p:sldId id="390" r:id="rId21"/>
    <p:sldId id="439" r:id="rId22"/>
    <p:sldId id="441" r:id="rId23"/>
    <p:sldId id="443" r:id="rId24"/>
    <p:sldId id="391" r:id="rId25"/>
    <p:sldId id="444" r:id="rId26"/>
    <p:sldId id="445" r:id="rId27"/>
    <p:sldId id="446" r:id="rId28"/>
    <p:sldId id="447" r:id="rId29"/>
    <p:sldId id="448" r:id="rId30"/>
    <p:sldId id="398" r:id="rId31"/>
    <p:sldId id="399" r:id="rId32"/>
    <p:sldId id="401" r:id="rId33"/>
    <p:sldId id="402" r:id="rId34"/>
    <p:sldId id="403" r:id="rId35"/>
    <p:sldId id="449" r:id="rId36"/>
    <p:sldId id="423" r:id="rId37"/>
    <p:sldId id="450" r:id="rId38"/>
    <p:sldId id="451" r:id="rId39"/>
    <p:sldId id="405" r:id="rId40"/>
    <p:sldId id="452" r:id="rId41"/>
    <p:sldId id="453" r:id="rId42"/>
    <p:sldId id="455" r:id="rId43"/>
  </p:sldIdLst>
  <p:sldSz cx="9144000" cy="6858000" type="screen4x3"/>
  <p:notesSz cx="7099300" cy="10234613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Times New Roman" pitchFamily="18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Times New Roman" pitchFamily="18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Times New Roman" pitchFamily="18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Times New Roman" pitchFamily="18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Times New Roman" pitchFamily="18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Times New Roman" pitchFamily="18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Times New Roman" pitchFamily="18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Times New Roman" pitchFamily="18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Times New Roman" pitchFamily="18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00"/>
    <a:srgbClr val="000000"/>
    <a:srgbClr val="FF0000"/>
    <a:srgbClr val="0066CC"/>
    <a:srgbClr val="FF3300"/>
    <a:srgbClr val="FFFF00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57" autoAdjust="0"/>
    <p:restoredTop sz="94660"/>
  </p:normalViewPr>
  <p:slideViewPr>
    <p:cSldViewPr snapToGrid="0">
      <p:cViewPr varScale="1">
        <p:scale>
          <a:sx n="65" d="100"/>
          <a:sy n="65" d="100"/>
        </p:scale>
        <p:origin x="-444" y="-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User\Desktop\Documents\Voorgraads\EBN%20122\Lecture%20Slides\Sinusoids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ZA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4.1847112860892391E-2"/>
          <c:y val="5.0226499465344611E-2"/>
          <c:w val="0.93303933126658611"/>
          <c:h val="0.89954700106931074"/>
        </c:manualLayout>
      </c:layout>
      <c:scatterChart>
        <c:scatterStyle val="lineMarker"/>
        <c:varyColors val="0"/>
        <c:ser>
          <c:idx val="0"/>
          <c:order val="0"/>
          <c:spPr>
            <a:ln w="28575">
              <a:noFill/>
            </a:ln>
          </c:spPr>
          <c:marker>
            <c:symbol val="none"/>
          </c:marker>
          <c:xVal>
            <c:numRef>
              <c:f>Sheet1!$K$3:$K$8</c:f>
              <c:numCache>
                <c:formatCode>General</c:formatCode>
                <c:ptCount val="6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</c:numCache>
            </c:numRef>
          </c:xVal>
          <c:yVal>
            <c:numRef>
              <c:f>Sheet1!$L$3:$L$8</c:f>
              <c:numCache>
                <c:formatCode>General</c:formatCode>
                <c:ptCount val="6"/>
                <c:pt idx="0">
                  <c:v>0</c:v>
                </c:pt>
                <c:pt idx="3">
                  <c:v>2</c:v>
                </c:pt>
              </c:numCache>
            </c:numRef>
          </c:y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32110848"/>
        <c:axId val="33296384"/>
      </c:scatterChart>
      <c:valAx>
        <c:axId val="32110848"/>
        <c:scaling>
          <c:orientation val="minMax"/>
          <c:max val="4"/>
          <c:min val="-4"/>
        </c:scaling>
        <c:delete val="0"/>
        <c:axPos val="b"/>
        <c:majorGridlines>
          <c:spPr>
            <a:ln>
              <a:noFill/>
              <a:prstDash val="dash"/>
            </a:ln>
          </c:spPr>
        </c:majorGridlines>
        <c:numFmt formatCode="General" sourceLinked="1"/>
        <c:majorTickMark val="out"/>
        <c:minorTickMark val="none"/>
        <c:tickLblPos val="nextTo"/>
        <c:spPr>
          <a:solidFill>
            <a:schemeClr val="bg1"/>
          </a:solidFill>
          <a:ln w="25400">
            <a:solidFill>
              <a:schemeClr val="tx1"/>
            </a:solidFill>
          </a:ln>
        </c:spPr>
        <c:txPr>
          <a:bodyPr/>
          <a:lstStyle/>
          <a:p>
            <a:pPr>
              <a:defRPr sz="1200"/>
            </a:pPr>
            <a:endParaRPr lang="en-US"/>
          </a:p>
        </c:txPr>
        <c:crossAx val="33296384"/>
        <c:crosses val="autoZero"/>
        <c:crossBetween val="midCat"/>
        <c:majorUnit val="1"/>
        <c:minorUnit val="0.5"/>
      </c:valAx>
      <c:valAx>
        <c:axId val="33296384"/>
        <c:scaling>
          <c:orientation val="minMax"/>
          <c:max val="3"/>
          <c:min val="-3"/>
        </c:scaling>
        <c:delete val="0"/>
        <c:axPos val="l"/>
        <c:majorGridlines>
          <c:spPr>
            <a:ln>
              <a:noFill/>
              <a:prstDash val="dash"/>
            </a:ln>
          </c:spPr>
        </c:majorGridlines>
        <c:numFmt formatCode="General" sourceLinked="1"/>
        <c:majorTickMark val="out"/>
        <c:minorTickMark val="none"/>
        <c:tickLblPos val="nextTo"/>
        <c:spPr>
          <a:solidFill>
            <a:schemeClr val="bg1"/>
          </a:solidFill>
          <a:ln w="25400">
            <a:solidFill>
              <a:schemeClr val="tx1"/>
            </a:solidFill>
          </a:ln>
        </c:spPr>
        <c:txPr>
          <a:bodyPr/>
          <a:lstStyle/>
          <a:p>
            <a:pPr>
              <a:defRPr sz="1200"/>
            </a:pPr>
            <a:endParaRPr lang="en-US"/>
          </a:p>
        </c:txPr>
        <c:crossAx val="32110848"/>
        <c:crosses val="autoZero"/>
        <c:crossBetween val="midCat"/>
        <c:majorUnit val="1"/>
      </c:valAx>
    </c:plotArea>
    <c:plotVisOnly val="1"/>
    <c:dispBlanksAs val="gap"/>
    <c:showDLblsOverMax val="0"/>
  </c:chart>
  <c:spPr>
    <a:ln>
      <a:noFill/>
    </a:ln>
  </c:spPr>
  <c:externalData r:id="rId1">
    <c:autoUpdate val="0"/>
  </c:externalData>
</c:chartSpace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28.wmf"/><Relationship Id="rId1" Type="http://schemas.openxmlformats.org/officeDocument/2006/relationships/image" Target="../media/image27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34.wmf"/><Relationship Id="rId1" Type="http://schemas.openxmlformats.org/officeDocument/2006/relationships/image" Target="../media/image33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37.wmf"/><Relationship Id="rId2" Type="http://schemas.openxmlformats.org/officeDocument/2006/relationships/image" Target="../media/image36.wmf"/><Relationship Id="rId1" Type="http://schemas.openxmlformats.org/officeDocument/2006/relationships/image" Target="../media/image35.wmf"/><Relationship Id="rId4" Type="http://schemas.openxmlformats.org/officeDocument/2006/relationships/image" Target="../media/image38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48.wmf"/><Relationship Id="rId2" Type="http://schemas.openxmlformats.org/officeDocument/2006/relationships/image" Target="../media/image47.wmf"/><Relationship Id="rId1" Type="http://schemas.openxmlformats.org/officeDocument/2006/relationships/image" Target="../media/image46.wmf"/><Relationship Id="rId6" Type="http://schemas.openxmlformats.org/officeDocument/2006/relationships/image" Target="../media/image51.wmf"/><Relationship Id="rId5" Type="http://schemas.openxmlformats.org/officeDocument/2006/relationships/image" Target="../media/image50.wmf"/><Relationship Id="rId4" Type="http://schemas.openxmlformats.org/officeDocument/2006/relationships/image" Target="../media/image49.w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53.wmf"/><Relationship Id="rId1" Type="http://schemas.openxmlformats.org/officeDocument/2006/relationships/image" Target="../media/image52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56.wmf"/><Relationship Id="rId2" Type="http://schemas.openxmlformats.org/officeDocument/2006/relationships/image" Target="../media/image55.wmf"/><Relationship Id="rId1" Type="http://schemas.openxmlformats.org/officeDocument/2006/relationships/image" Target="../media/image54.wmf"/><Relationship Id="rId6" Type="http://schemas.openxmlformats.org/officeDocument/2006/relationships/image" Target="../media/image59.wmf"/><Relationship Id="rId5" Type="http://schemas.openxmlformats.org/officeDocument/2006/relationships/image" Target="../media/image58.wmf"/><Relationship Id="rId4" Type="http://schemas.openxmlformats.org/officeDocument/2006/relationships/image" Target="../media/image57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60.wmf"/><Relationship Id="rId2" Type="http://schemas.openxmlformats.org/officeDocument/2006/relationships/image" Target="../media/image59.wmf"/><Relationship Id="rId1" Type="http://schemas.openxmlformats.org/officeDocument/2006/relationships/image" Target="../media/image58.wmf"/><Relationship Id="rId4" Type="http://schemas.openxmlformats.org/officeDocument/2006/relationships/image" Target="../media/image61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/>
            </a:lvl1pPr>
          </a:lstStyle>
          <a:p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1294" y="0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/>
            </a:lvl1pPr>
          </a:lstStyle>
          <a:p>
            <a:fld id="{E6106FE8-F01F-4ADC-A4D0-05EAFB5D23FE}" type="datetimeFigureOut">
              <a:rPr lang="en-ZA" smtClean="0"/>
              <a:t>2012/05/15</a:t>
            </a:fld>
            <a:endParaRPr lang="en-Z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721106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/>
            </a:lvl1pPr>
          </a:lstStyle>
          <a:p>
            <a:endParaRPr lang="en-Z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/>
            </a:lvl1pPr>
          </a:lstStyle>
          <a:p>
            <a:fld id="{9B8F337B-D476-47B6-A4A0-94A3587C3CE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07000858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363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>
              <a:defRPr sz="1300"/>
            </a:lvl1pPr>
          </a:lstStyle>
          <a:p>
            <a:endParaRPr lang="en-US"/>
          </a:p>
        </p:txBody>
      </p:sp>
      <p:sp>
        <p:nvSpPr>
          <p:cNvPr id="6246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294" y="0"/>
            <a:ext cx="3076363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>
              <a:defRPr sz="1300"/>
            </a:lvl1pPr>
          </a:lstStyle>
          <a:p>
            <a:endParaRPr lang="en-US"/>
          </a:p>
        </p:txBody>
      </p:sp>
      <p:sp>
        <p:nvSpPr>
          <p:cNvPr id="6246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2188" y="768350"/>
            <a:ext cx="5114925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6246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930" y="4861441"/>
            <a:ext cx="5679440" cy="46055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6247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1106"/>
            <a:ext cx="3076363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>
              <a:defRPr sz="1300"/>
            </a:lvl1pPr>
          </a:lstStyle>
          <a:p>
            <a:endParaRPr lang="en-US"/>
          </a:p>
        </p:txBody>
      </p:sp>
      <p:sp>
        <p:nvSpPr>
          <p:cNvPr id="6247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>
              <a:defRPr sz="1300"/>
            </a:lvl1pPr>
          </a:lstStyle>
          <a:p>
            <a:fld id="{90D7AE16-FD53-416D-B5D9-43EE2DB3714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31044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47DD97A-FF7F-41A8-B40F-CDE7261BBA8B}" type="slidenum">
              <a:rPr lang="en-US"/>
              <a:pPr/>
              <a:t>17</a:t>
            </a:fld>
            <a:endParaRPr lang="en-US"/>
          </a:p>
        </p:txBody>
      </p:sp>
      <p:sp>
        <p:nvSpPr>
          <p:cNvPr id="3962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62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7BB50B2-F8AB-471A-B60B-F3353B0ED4DA}" type="slidenum">
              <a:rPr lang="en-US"/>
              <a:pPr/>
              <a:t>20</a:t>
            </a:fld>
            <a:endParaRPr lang="en-US"/>
          </a:p>
        </p:txBody>
      </p:sp>
      <p:sp>
        <p:nvSpPr>
          <p:cNvPr id="3901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01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7BB50B2-F8AB-471A-B60B-F3353B0ED4DA}" type="slidenum">
              <a:rPr lang="en-US"/>
              <a:pPr/>
              <a:t>21</a:t>
            </a:fld>
            <a:endParaRPr lang="en-US"/>
          </a:p>
        </p:txBody>
      </p:sp>
      <p:sp>
        <p:nvSpPr>
          <p:cNvPr id="3901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01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3C8AE8C-C165-45D0-BF92-8C0633AFCAB9}" type="slidenum">
              <a:rPr lang="en-US"/>
              <a:pPr/>
              <a:t>30</a:t>
            </a:fld>
            <a:endParaRPr lang="en-US"/>
          </a:p>
        </p:txBody>
      </p:sp>
      <p:sp>
        <p:nvSpPr>
          <p:cNvPr id="394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4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4E2E5C4-1791-44A9-9A37-5A371068AF64}" type="slidenum">
              <a:rPr lang="en-US"/>
              <a:pPr/>
              <a:t>39</a:t>
            </a:fld>
            <a:endParaRPr lang="en-US"/>
          </a:p>
        </p:txBody>
      </p:sp>
      <p:sp>
        <p:nvSpPr>
          <p:cNvPr id="3952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52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154" name="Group 2"/>
          <p:cNvGrpSpPr>
            <a:grpSpLocks/>
          </p:cNvGrpSpPr>
          <p:nvPr/>
        </p:nvGrpSpPr>
        <p:grpSpPr bwMode="auto">
          <a:xfrm>
            <a:off x="0" y="0"/>
            <a:ext cx="8805863" cy="6858000"/>
            <a:chOff x="0" y="0"/>
            <a:chExt cx="5547" cy="4320"/>
          </a:xfrm>
        </p:grpSpPr>
        <p:grpSp>
          <p:nvGrpSpPr>
            <p:cNvPr id="305155" name="Group 3"/>
            <p:cNvGrpSpPr>
              <a:grpSpLocks/>
            </p:cNvGrpSpPr>
            <p:nvPr userDrawn="1"/>
          </p:nvGrpSpPr>
          <p:grpSpPr bwMode="auto">
            <a:xfrm rot="-215207">
              <a:off x="3690" y="234"/>
              <a:ext cx="1857" cy="3625"/>
              <a:chOff x="3010" y="778"/>
              <a:chExt cx="1857" cy="3625"/>
            </a:xfrm>
          </p:grpSpPr>
          <p:sp>
            <p:nvSpPr>
              <p:cNvPr id="305156" name="Freeform 4"/>
              <p:cNvSpPr>
                <a:spLocks/>
              </p:cNvSpPr>
              <p:nvPr userDrawn="1"/>
            </p:nvSpPr>
            <p:spPr bwMode="ltGray">
              <a:xfrm rot="12185230" flipV="1">
                <a:off x="3534" y="778"/>
                <a:ext cx="1333" cy="1485"/>
              </a:xfrm>
              <a:custGeom>
                <a:avLst/>
                <a:gdLst>
                  <a:gd name="T0" fmla="*/ 16 w 596"/>
                  <a:gd name="T1" fmla="*/ 370 h 666"/>
                  <a:gd name="T2" fmla="*/ 6 w 596"/>
                  <a:gd name="T3" fmla="*/ 341 h 666"/>
                  <a:gd name="T4" fmla="*/ 0 w 596"/>
                  <a:gd name="T5" fmla="*/ 289 h 666"/>
                  <a:gd name="T6" fmla="*/ 4 w 596"/>
                  <a:gd name="T7" fmla="*/ 222 h 666"/>
                  <a:gd name="T8" fmla="*/ 25 w 596"/>
                  <a:gd name="T9" fmla="*/ 151 h 666"/>
                  <a:gd name="T10" fmla="*/ 69 w 596"/>
                  <a:gd name="T11" fmla="*/ 84 h 666"/>
                  <a:gd name="T12" fmla="*/ 142 w 596"/>
                  <a:gd name="T13" fmla="*/ 31 h 666"/>
                  <a:gd name="T14" fmla="*/ 247 w 596"/>
                  <a:gd name="T15" fmla="*/ 2 h 666"/>
                  <a:gd name="T16" fmla="*/ 380 w 596"/>
                  <a:gd name="T17" fmla="*/ 9 h 666"/>
                  <a:gd name="T18" fmla="*/ 484 w 596"/>
                  <a:gd name="T19" fmla="*/ 68 h 666"/>
                  <a:gd name="T20" fmla="*/ 554 w 596"/>
                  <a:gd name="T21" fmla="*/ 165 h 666"/>
                  <a:gd name="T22" fmla="*/ 591 w 596"/>
                  <a:gd name="T23" fmla="*/ 284 h 666"/>
                  <a:gd name="T24" fmla="*/ 595 w 596"/>
                  <a:gd name="T25" fmla="*/ 409 h 666"/>
                  <a:gd name="T26" fmla="*/ 566 w 596"/>
                  <a:gd name="T27" fmla="*/ 525 h 666"/>
                  <a:gd name="T28" fmla="*/ 507 w 596"/>
                  <a:gd name="T29" fmla="*/ 615 h 666"/>
                  <a:gd name="T30" fmla="*/ 417 w 596"/>
                  <a:gd name="T31" fmla="*/ 663 h 666"/>
                  <a:gd name="T32" fmla="*/ 389 w 596"/>
                  <a:gd name="T33" fmla="*/ 659 h 666"/>
                  <a:gd name="T34" fmla="*/ 441 w 596"/>
                  <a:gd name="T35" fmla="*/ 617 h 666"/>
                  <a:gd name="T36" fmla="*/ 482 w 596"/>
                  <a:gd name="T37" fmla="*/ 544 h 666"/>
                  <a:gd name="T38" fmla="*/ 509 w 596"/>
                  <a:gd name="T39" fmla="*/ 454 h 666"/>
                  <a:gd name="T40" fmla="*/ 520 w 596"/>
                  <a:gd name="T41" fmla="*/ 355 h 666"/>
                  <a:gd name="T42" fmla="*/ 514 w 596"/>
                  <a:gd name="T43" fmla="*/ 258 h 666"/>
                  <a:gd name="T44" fmla="*/ 485 w 596"/>
                  <a:gd name="T45" fmla="*/ 174 h 666"/>
                  <a:gd name="T46" fmla="*/ 433 w 596"/>
                  <a:gd name="T47" fmla="*/ 112 h 666"/>
                  <a:gd name="T48" fmla="*/ 341 w 596"/>
                  <a:gd name="T49" fmla="*/ 75 h 666"/>
                  <a:gd name="T50" fmla="*/ 246 w 596"/>
                  <a:gd name="T51" fmla="*/ 61 h 666"/>
                  <a:gd name="T52" fmla="*/ 174 w 596"/>
                  <a:gd name="T53" fmla="*/ 71 h 666"/>
                  <a:gd name="T54" fmla="*/ 121 w 596"/>
                  <a:gd name="T55" fmla="*/ 101 h 666"/>
                  <a:gd name="T56" fmla="*/ 84 w 596"/>
                  <a:gd name="T57" fmla="*/ 149 h 666"/>
                  <a:gd name="T58" fmla="*/ 57 w 596"/>
                  <a:gd name="T59" fmla="*/ 206 h 666"/>
                  <a:gd name="T60" fmla="*/ 40 w 596"/>
                  <a:gd name="T61" fmla="*/ 272 h 666"/>
                  <a:gd name="T62" fmla="*/ 28 w 596"/>
                  <a:gd name="T63" fmla="*/ 339 h 6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596" h="666">
                    <a:moveTo>
                      <a:pt x="22" y="372"/>
                    </a:moveTo>
                    <a:lnTo>
                      <a:pt x="16" y="370"/>
                    </a:lnTo>
                    <a:lnTo>
                      <a:pt x="10" y="360"/>
                    </a:lnTo>
                    <a:lnTo>
                      <a:pt x="6" y="341"/>
                    </a:lnTo>
                    <a:lnTo>
                      <a:pt x="1" y="318"/>
                    </a:lnTo>
                    <a:lnTo>
                      <a:pt x="0" y="289"/>
                    </a:lnTo>
                    <a:lnTo>
                      <a:pt x="0" y="257"/>
                    </a:lnTo>
                    <a:lnTo>
                      <a:pt x="4" y="222"/>
                    </a:lnTo>
                    <a:lnTo>
                      <a:pt x="13" y="187"/>
                    </a:lnTo>
                    <a:lnTo>
                      <a:pt x="25" y="151"/>
                    </a:lnTo>
                    <a:lnTo>
                      <a:pt x="45" y="116"/>
                    </a:lnTo>
                    <a:lnTo>
                      <a:pt x="69" y="84"/>
                    </a:lnTo>
                    <a:lnTo>
                      <a:pt x="101" y="55"/>
                    </a:lnTo>
                    <a:lnTo>
                      <a:pt x="142" y="31"/>
                    </a:lnTo>
                    <a:lnTo>
                      <a:pt x="190" y="13"/>
                    </a:lnTo>
                    <a:lnTo>
                      <a:pt x="247" y="2"/>
                    </a:lnTo>
                    <a:lnTo>
                      <a:pt x="314" y="0"/>
                    </a:lnTo>
                    <a:lnTo>
                      <a:pt x="380" y="9"/>
                    </a:lnTo>
                    <a:lnTo>
                      <a:pt x="436" y="33"/>
                    </a:lnTo>
                    <a:lnTo>
                      <a:pt x="484" y="68"/>
                    </a:lnTo>
                    <a:lnTo>
                      <a:pt x="524" y="113"/>
                    </a:lnTo>
                    <a:lnTo>
                      <a:pt x="554" y="165"/>
                    </a:lnTo>
                    <a:lnTo>
                      <a:pt x="577" y="222"/>
                    </a:lnTo>
                    <a:lnTo>
                      <a:pt x="591" y="284"/>
                    </a:lnTo>
                    <a:lnTo>
                      <a:pt x="596" y="347"/>
                    </a:lnTo>
                    <a:lnTo>
                      <a:pt x="595" y="409"/>
                    </a:lnTo>
                    <a:lnTo>
                      <a:pt x="585" y="469"/>
                    </a:lnTo>
                    <a:lnTo>
                      <a:pt x="566" y="525"/>
                    </a:lnTo>
                    <a:lnTo>
                      <a:pt x="540" y="574"/>
                    </a:lnTo>
                    <a:lnTo>
                      <a:pt x="507" y="615"/>
                    </a:lnTo>
                    <a:lnTo>
                      <a:pt x="465" y="645"/>
                    </a:lnTo>
                    <a:lnTo>
                      <a:pt x="417" y="663"/>
                    </a:lnTo>
                    <a:lnTo>
                      <a:pt x="360" y="666"/>
                    </a:lnTo>
                    <a:lnTo>
                      <a:pt x="389" y="659"/>
                    </a:lnTo>
                    <a:lnTo>
                      <a:pt x="417" y="642"/>
                    </a:lnTo>
                    <a:lnTo>
                      <a:pt x="441" y="617"/>
                    </a:lnTo>
                    <a:lnTo>
                      <a:pt x="463" y="583"/>
                    </a:lnTo>
                    <a:lnTo>
                      <a:pt x="482" y="544"/>
                    </a:lnTo>
                    <a:lnTo>
                      <a:pt x="497" y="501"/>
                    </a:lnTo>
                    <a:lnTo>
                      <a:pt x="509" y="454"/>
                    </a:lnTo>
                    <a:lnTo>
                      <a:pt x="517" y="404"/>
                    </a:lnTo>
                    <a:lnTo>
                      <a:pt x="520" y="355"/>
                    </a:lnTo>
                    <a:lnTo>
                      <a:pt x="519" y="305"/>
                    </a:lnTo>
                    <a:lnTo>
                      <a:pt x="514" y="258"/>
                    </a:lnTo>
                    <a:lnTo>
                      <a:pt x="502" y="213"/>
                    </a:lnTo>
                    <a:lnTo>
                      <a:pt x="485" y="174"/>
                    </a:lnTo>
                    <a:lnTo>
                      <a:pt x="462" y="139"/>
                    </a:lnTo>
                    <a:lnTo>
                      <a:pt x="433" y="112"/>
                    </a:lnTo>
                    <a:lnTo>
                      <a:pt x="397" y="93"/>
                    </a:lnTo>
                    <a:lnTo>
                      <a:pt x="341" y="75"/>
                    </a:lnTo>
                    <a:lnTo>
                      <a:pt x="290" y="65"/>
                    </a:lnTo>
                    <a:lnTo>
                      <a:pt x="246" y="61"/>
                    </a:lnTo>
                    <a:lnTo>
                      <a:pt x="207" y="63"/>
                    </a:lnTo>
                    <a:lnTo>
                      <a:pt x="174" y="71"/>
                    </a:lnTo>
                    <a:lnTo>
                      <a:pt x="146" y="84"/>
                    </a:lnTo>
                    <a:lnTo>
                      <a:pt x="121" y="101"/>
                    </a:lnTo>
                    <a:lnTo>
                      <a:pt x="101" y="123"/>
                    </a:lnTo>
                    <a:lnTo>
                      <a:pt x="84" y="149"/>
                    </a:lnTo>
                    <a:lnTo>
                      <a:pt x="69" y="176"/>
                    </a:lnTo>
                    <a:lnTo>
                      <a:pt x="57" y="206"/>
                    </a:lnTo>
                    <a:lnTo>
                      <a:pt x="48" y="239"/>
                    </a:lnTo>
                    <a:lnTo>
                      <a:pt x="40" y="272"/>
                    </a:lnTo>
                    <a:lnTo>
                      <a:pt x="33" y="305"/>
                    </a:lnTo>
                    <a:lnTo>
                      <a:pt x="28" y="339"/>
                    </a:lnTo>
                    <a:lnTo>
                      <a:pt x="22" y="372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305157" name="Freeform 5"/>
              <p:cNvSpPr>
                <a:spLocks/>
              </p:cNvSpPr>
              <p:nvPr userDrawn="1"/>
            </p:nvSpPr>
            <p:spPr bwMode="ltGray">
              <a:xfrm rot="12185230" flipV="1">
                <a:off x="4029" y="1802"/>
                <a:ext cx="571" cy="531"/>
              </a:xfrm>
              <a:custGeom>
                <a:avLst/>
                <a:gdLst>
                  <a:gd name="T0" fmla="*/ 0 w 257"/>
                  <a:gd name="T1" fmla="*/ 0 h 237"/>
                  <a:gd name="T2" fmla="*/ 0 w 257"/>
                  <a:gd name="T3" fmla="*/ 25 h 237"/>
                  <a:gd name="T4" fmla="*/ 3 w 257"/>
                  <a:gd name="T5" fmla="*/ 50 h 237"/>
                  <a:gd name="T6" fmla="*/ 6 w 257"/>
                  <a:gd name="T7" fmla="*/ 75 h 237"/>
                  <a:gd name="T8" fmla="*/ 11 w 257"/>
                  <a:gd name="T9" fmla="*/ 98 h 237"/>
                  <a:gd name="T10" fmla="*/ 18 w 257"/>
                  <a:gd name="T11" fmla="*/ 119 h 237"/>
                  <a:gd name="T12" fmla="*/ 27 w 257"/>
                  <a:gd name="T13" fmla="*/ 141 h 237"/>
                  <a:gd name="T14" fmla="*/ 38 w 257"/>
                  <a:gd name="T15" fmla="*/ 161 h 237"/>
                  <a:gd name="T16" fmla="*/ 51 w 257"/>
                  <a:gd name="T17" fmla="*/ 178 h 237"/>
                  <a:gd name="T18" fmla="*/ 67 w 257"/>
                  <a:gd name="T19" fmla="*/ 194 h 237"/>
                  <a:gd name="T20" fmla="*/ 86 w 257"/>
                  <a:gd name="T21" fmla="*/ 208 h 237"/>
                  <a:gd name="T22" fmla="*/ 106 w 257"/>
                  <a:gd name="T23" fmla="*/ 219 h 237"/>
                  <a:gd name="T24" fmla="*/ 131 w 257"/>
                  <a:gd name="T25" fmla="*/ 228 h 237"/>
                  <a:gd name="T26" fmla="*/ 158 w 257"/>
                  <a:gd name="T27" fmla="*/ 234 h 237"/>
                  <a:gd name="T28" fmla="*/ 188 w 257"/>
                  <a:gd name="T29" fmla="*/ 237 h 237"/>
                  <a:gd name="T30" fmla="*/ 220 w 257"/>
                  <a:gd name="T31" fmla="*/ 236 h 237"/>
                  <a:gd name="T32" fmla="*/ 257 w 257"/>
                  <a:gd name="T33" fmla="*/ 232 h 237"/>
                  <a:gd name="T34" fmla="*/ 224 w 257"/>
                  <a:gd name="T35" fmla="*/ 227 h 237"/>
                  <a:gd name="T36" fmla="*/ 195 w 257"/>
                  <a:gd name="T37" fmla="*/ 220 h 237"/>
                  <a:gd name="T38" fmla="*/ 170 w 257"/>
                  <a:gd name="T39" fmla="*/ 212 h 237"/>
                  <a:gd name="T40" fmla="*/ 148 w 257"/>
                  <a:gd name="T41" fmla="*/ 204 h 237"/>
                  <a:gd name="T42" fmla="*/ 128 w 257"/>
                  <a:gd name="T43" fmla="*/ 193 h 237"/>
                  <a:gd name="T44" fmla="*/ 112 w 257"/>
                  <a:gd name="T45" fmla="*/ 182 h 237"/>
                  <a:gd name="T46" fmla="*/ 97 w 257"/>
                  <a:gd name="T47" fmla="*/ 169 h 237"/>
                  <a:gd name="T48" fmla="*/ 84 w 257"/>
                  <a:gd name="T49" fmla="*/ 155 h 237"/>
                  <a:gd name="T50" fmla="*/ 72 w 257"/>
                  <a:gd name="T51" fmla="*/ 141 h 237"/>
                  <a:gd name="T52" fmla="*/ 61 w 257"/>
                  <a:gd name="T53" fmla="*/ 125 h 237"/>
                  <a:gd name="T54" fmla="*/ 52 w 257"/>
                  <a:gd name="T55" fmla="*/ 107 h 237"/>
                  <a:gd name="T56" fmla="*/ 43 w 257"/>
                  <a:gd name="T57" fmla="*/ 88 h 237"/>
                  <a:gd name="T58" fmla="*/ 33 w 257"/>
                  <a:gd name="T59" fmla="*/ 69 h 237"/>
                  <a:gd name="T60" fmla="*/ 23 w 257"/>
                  <a:gd name="T61" fmla="*/ 47 h 237"/>
                  <a:gd name="T62" fmla="*/ 12 w 257"/>
                  <a:gd name="T63" fmla="*/ 24 h 237"/>
                  <a:gd name="T64" fmla="*/ 0 w 257"/>
                  <a:gd name="T65" fmla="*/ 0 h 2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57" h="237">
                    <a:moveTo>
                      <a:pt x="0" y="0"/>
                    </a:moveTo>
                    <a:lnTo>
                      <a:pt x="0" y="25"/>
                    </a:lnTo>
                    <a:lnTo>
                      <a:pt x="3" y="50"/>
                    </a:lnTo>
                    <a:lnTo>
                      <a:pt x="6" y="75"/>
                    </a:lnTo>
                    <a:lnTo>
                      <a:pt x="11" y="98"/>
                    </a:lnTo>
                    <a:lnTo>
                      <a:pt x="18" y="119"/>
                    </a:lnTo>
                    <a:lnTo>
                      <a:pt x="27" y="141"/>
                    </a:lnTo>
                    <a:lnTo>
                      <a:pt x="38" y="161"/>
                    </a:lnTo>
                    <a:lnTo>
                      <a:pt x="51" y="178"/>
                    </a:lnTo>
                    <a:lnTo>
                      <a:pt x="67" y="194"/>
                    </a:lnTo>
                    <a:lnTo>
                      <a:pt x="86" y="208"/>
                    </a:lnTo>
                    <a:lnTo>
                      <a:pt x="106" y="219"/>
                    </a:lnTo>
                    <a:lnTo>
                      <a:pt x="131" y="228"/>
                    </a:lnTo>
                    <a:lnTo>
                      <a:pt x="158" y="234"/>
                    </a:lnTo>
                    <a:lnTo>
                      <a:pt x="188" y="237"/>
                    </a:lnTo>
                    <a:lnTo>
                      <a:pt x="220" y="236"/>
                    </a:lnTo>
                    <a:lnTo>
                      <a:pt x="257" y="232"/>
                    </a:lnTo>
                    <a:lnTo>
                      <a:pt x="224" y="227"/>
                    </a:lnTo>
                    <a:lnTo>
                      <a:pt x="195" y="220"/>
                    </a:lnTo>
                    <a:lnTo>
                      <a:pt x="170" y="212"/>
                    </a:lnTo>
                    <a:lnTo>
                      <a:pt x="148" y="204"/>
                    </a:lnTo>
                    <a:lnTo>
                      <a:pt x="128" y="193"/>
                    </a:lnTo>
                    <a:lnTo>
                      <a:pt x="112" y="182"/>
                    </a:lnTo>
                    <a:lnTo>
                      <a:pt x="97" y="169"/>
                    </a:lnTo>
                    <a:lnTo>
                      <a:pt x="84" y="155"/>
                    </a:lnTo>
                    <a:lnTo>
                      <a:pt x="72" y="141"/>
                    </a:lnTo>
                    <a:lnTo>
                      <a:pt x="61" y="125"/>
                    </a:lnTo>
                    <a:lnTo>
                      <a:pt x="52" y="107"/>
                    </a:lnTo>
                    <a:lnTo>
                      <a:pt x="43" y="88"/>
                    </a:lnTo>
                    <a:lnTo>
                      <a:pt x="33" y="69"/>
                    </a:lnTo>
                    <a:lnTo>
                      <a:pt x="23" y="47"/>
                    </a:lnTo>
                    <a:lnTo>
                      <a:pt x="12" y="2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305158" name="Freeform 6"/>
              <p:cNvSpPr>
                <a:spLocks/>
              </p:cNvSpPr>
              <p:nvPr userDrawn="1"/>
            </p:nvSpPr>
            <p:spPr bwMode="ltGray">
              <a:xfrm rot="12185230" flipV="1">
                <a:off x="3639" y="2167"/>
                <a:ext cx="277" cy="249"/>
              </a:xfrm>
              <a:custGeom>
                <a:avLst/>
                <a:gdLst>
                  <a:gd name="T0" fmla="*/ 77 w 124"/>
                  <a:gd name="T1" fmla="*/ 0 h 110"/>
                  <a:gd name="T2" fmla="*/ 124 w 124"/>
                  <a:gd name="T3" fmla="*/ 108 h 110"/>
                  <a:gd name="T4" fmla="*/ 120 w 124"/>
                  <a:gd name="T5" fmla="*/ 107 h 110"/>
                  <a:gd name="T6" fmla="*/ 107 w 124"/>
                  <a:gd name="T7" fmla="*/ 105 h 110"/>
                  <a:gd name="T8" fmla="*/ 89 w 124"/>
                  <a:gd name="T9" fmla="*/ 101 h 110"/>
                  <a:gd name="T10" fmla="*/ 68 w 124"/>
                  <a:gd name="T11" fmla="*/ 99 h 110"/>
                  <a:gd name="T12" fmla="*/ 45 w 124"/>
                  <a:gd name="T13" fmla="*/ 97 h 110"/>
                  <a:gd name="T14" fmla="*/ 25 w 124"/>
                  <a:gd name="T15" fmla="*/ 98 h 110"/>
                  <a:gd name="T16" fmla="*/ 9 w 124"/>
                  <a:gd name="T17" fmla="*/ 102 h 110"/>
                  <a:gd name="T18" fmla="*/ 0 w 124"/>
                  <a:gd name="T19" fmla="*/ 110 h 110"/>
                  <a:gd name="T20" fmla="*/ 4 w 124"/>
                  <a:gd name="T21" fmla="*/ 98 h 110"/>
                  <a:gd name="T22" fmla="*/ 8 w 124"/>
                  <a:gd name="T23" fmla="*/ 89 h 110"/>
                  <a:gd name="T24" fmla="*/ 16 w 124"/>
                  <a:gd name="T25" fmla="*/ 82 h 110"/>
                  <a:gd name="T26" fmla="*/ 25 w 124"/>
                  <a:gd name="T27" fmla="*/ 76 h 110"/>
                  <a:gd name="T28" fmla="*/ 36 w 124"/>
                  <a:gd name="T29" fmla="*/ 72 h 110"/>
                  <a:gd name="T30" fmla="*/ 47 w 124"/>
                  <a:gd name="T31" fmla="*/ 71 h 110"/>
                  <a:gd name="T32" fmla="*/ 59 w 124"/>
                  <a:gd name="T33" fmla="*/ 71 h 110"/>
                  <a:gd name="T34" fmla="*/ 72 w 124"/>
                  <a:gd name="T35" fmla="*/ 74 h 110"/>
                  <a:gd name="T36" fmla="*/ 73 w 124"/>
                  <a:gd name="T37" fmla="*/ 71 h 110"/>
                  <a:gd name="T38" fmla="*/ 70 w 124"/>
                  <a:gd name="T39" fmla="*/ 56 h 110"/>
                  <a:gd name="T40" fmla="*/ 67 w 124"/>
                  <a:gd name="T41" fmla="*/ 38 h 110"/>
                  <a:gd name="T42" fmla="*/ 65 w 124"/>
                  <a:gd name="T43" fmla="*/ 30 h 110"/>
                  <a:gd name="T44" fmla="*/ 63 w 124"/>
                  <a:gd name="T45" fmla="*/ 30 h 110"/>
                  <a:gd name="T46" fmla="*/ 61 w 124"/>
                  <a:gd name="T47" fmla="*/ 29 h 110"/>
                  <a:gd name="T48" fmla="*/ 59 w 124"/>
                  <a:gd name="T49" fmla="*/ 26 h 110"/>
                  <a:gd name="T50" fmla="*/ 57 w 124"/>
                  <a:gd name="T51" fmla="*/ 23 h 110"/>
                  <a:gd name="T52" fmla="*/ 57 w 124"/>
                  <a:gd name="T53" fmla="*/ 19 h 110"/>
                  <a:gd name="T54" fmla="*/ 59 w 124"/>
                  <a:gd name="T55" fmla="*/ 14 h 110"/>
                  <a:gd name="T56" fmla="*/ 66 w 124"/>
                  <a:gd name="T57" fmla="*/ 8 h 110"/>
                  <a:gd name="T58" fmla="*/ 77 w 124"/>
                  <a:gd name="T59" fmla="*/ 0 h 1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124" h="110">
                    <a:moveTo>
                      <a:pt x="77" y="0"/>
                    </a:moveTo>
                    <a:lnTo>
                      <a:pt x="124" y="108"/>
                    </a:lnTo>
                    <a:lnTo>
                      <a:pt x="120" y="107"/>
                    </a:lnTo>
                    <a:lnTo>
                      <a:pt x="107" y="105"/>
                    </a:lnTo>
                    <a:lnTo>
                      <a:pt x="89" y="101"/>
                    </a:lnTo>
                    <a:lnTo>
                      <a:pt x="68" y="99"/>
                    </a:lnTo>
                    <a:lnTo>
                      <a:pt x="45" y="97"/>
                    </a:lnTo>
                    <a:lnTo>
                      <a:pt x="25" y="98"/>
                    </a:lnTo>
                    <a:lnTo>
                      <a:pt x="9" y="102"/>
                    </a:lnTo>
                    <a:lnTo>
                      <a:pt x="0" y="110"/>
                    </a:lnTo>
                    <a:lnTo>
                      <a:pt x="4" y="98"/>
                    </a:lnTo>
                    <a:lnTo>
                      <a:pt x="8" y="89"/>
                    </a:lnTo>
                    <a:lnTo>
                      <a:pt x="16" y="82"/>
                    </a:lnTo>
                    <a:lnTo>
                      <a:pt x="25" y="76"/>
                    </a:lnTo>
                    <a:lnTo>
                      <a:pt x="36" y="72"/>
                    </a:lnTo>
                    <a:lnTo>
                      <a:pt x="47" y="71"/>
                    </a:lnTo>
                    <a:lnTo>
                      <a:pt x="59" y="71"/>
                    </a:lnTo>
                    <a:lnTo>
                      <a:pt x="72" y="74"/>
                    </a:lnTo>
                    <a:lnTo>
                      <a:pt x="73" y="71"/>
                    </a:lnTo>
                    <a:lnTo>
                      <a:pt x="70" y="56"/>
                    </a:lnTo>
                    <a:lnTo>
                      <a:pt x="67" y="38"/>
                    </a:lnTo>
                    <a:lnTo>
                      <a:pt x="65" y="30"/>
                    </a:lnTo>
                    <a:lnTo>
                      <a:pt x="63" y="30"/>
                    </a:lnTo>
                    <a:lnTo>
                      <a:pt x="61" y="29"/>
                    </a:lnTo>
                    <a:lnTo>
                      <a:pt x="59" y="26"/>
                    </a:lnTo>
                    <a:lnTo>
                      <a:pt x="57" y="23"/>
                    </a:lnTo>
                    <a:lnTo>
                      <a:pt x="57" y="19"/>
                    </a:lnTo>
                    <a:lnTo>
                      <a:pt x="59" y="14"/>
                    </a:lnTo>
                    <a:lnTo>
                      <a:pt x="66" y="8"/>
                    </a:lnTo>
                    <a:lnTo>
                      <a:pt x="77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305159" name="Freeform 7"/>
              <p:cNvSpPr>
                <a:spLocks/>
              </p:cNvSpPr>
              <p:nvPr userDrawn="1"/>
            </p:nvSpPr>
            <p:spPr bwMode="ltGray">
              <a:xfrm rot="12185230" flipV="1">
                <a:off x="3979" y="977"/>
                <a:ext cx="245" cy="347"/>
              </a:xfrm>
              <a:custGeom>
                <a:avLst/>
                <a:gdLst>
                  <a:gd name="T0" fmla="*/ 0 w 109"/>
                  <a:gd name="T1" fmla="*/ 0 h 156"/>
                  <a:gd name="T2" fmla="*/ 5 w 109"/>
                  <a:gd name="T3" fmla="*/ 1 h 156"/>
                  <a:gd name="T4" fmla="*/ 18 w 109"/>
                  <a:gd name="T5" fmla="*/ 5 h 156"/>
                  <a:gd name="T6" fmla="*/ 37 w 109"/>
                  <a:gd name="T7" fmla="*/ 12 h 156"/>
                  <a:gd name="T8" fmla="*/ 58 w 109"/>
                  <a:gd name="T9" fmla="*/ 24 h 156"/>
                  <a:gd name="T10" fmla="*/ 78 w 109"/>
                  <a:gd name="T11" fmla="*/ 44 h 156"/>
                  <a:gd name="T12" fmla="*/ 96 w 109"/>
                  <a:gd name="T13" fmla="*/ 71 h 156"/>
                  <a:gd name="T14" fmla="*/ 107 w 109"/>
                  <a:gd name="T15" fmla="*/ 108 h 156"/>
                  <a:gd name="T16" fmla="*/ 109 w 109"/>
                  <a:gd name="T17" fmla="*/ 156 h 156"/>
                  <a:gd name="T18" fmla="*/ 105 w 109"/>
                  <a:gd name="T19" fmla="*/ 156 h 156"/>
                  <a:gd name="T20" fmla="*/ 99 w 109"/>
                  <a:gd name="T21" fmla="*/ 156 h 156"/>
                  <a:gd name="T22" fmla="*/ 93 w 109"/>
                  <a:gd name="T23" fmla="*/ 156 h 156"/>
                  <a:gd name="T24" fmla="*/ 87 w 109"/>
                  <a:gd name="T25" fmla="*/ 154 h 156"/>
                  <a:gd name="T26" fmla="*/ 81 w 109"/>
                  <a:gd name="T27" fmla="*/ 153 h 156"/>
                  <a:gd name="T28" fmla="*/ 74 w 109"/>
                  <a:gd name="T29" fmla="*/ 150 h 156"/>
                  <a:gd name="T30" fmla="*/ 66 w 109"/>
                  <a:gd name="T31" fmla="*/ 145 h 156"/>
                  <a:gd name="T32" fmla="*/ 58 w 109"/>
                  <a:gd name="T33" fmla="*/ 139 h 156"/>
                  <a:gd name="T34" fmla="*/ 53 w 109"/>
                  <a:gd name="T35" fmla="*/ 126 h 156"/>
                  <a:gd name="T36" fmla="*/ 53 w 109"/>
                  <a:gd name="T37" fmla="*/ 111 h 156"/>
                  <a:gd name="T38" fmla="*/ 56 w 109"/>
                  <a:gd name="T39" fmla="*/ 96 h 156"/>
                  <a:gd name="T40" fmla="*/ 59 w 109"/>
                  <a:gd name="T41" fmla="*/ 80 h 156"/>
                  <a:gd name="T42" fmla="*/ 56 w 109"/>
                  <a:gd name="T43" fmla="*/ 62 h 156"/>
                  <a:gd name="T44" fmla="*/ 48 w 109"/>
                  <a:gd name="T45" fmla="*/ 43 h 156"/>
                  <a:gd name="T46" fmla="*/ 31 w 109"/>
                  <a:gd name="T47" fmla="*/ 23 h 156"/>
                  <a:gd name="T48" fmla="*/ 0 w 109"/>
                  <a:gd name="T49" fmla="*/ 0 h 1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09" h="156">
                    <a:moveTo>
                      <a:pt x="0" y="0"/>
                    </a:moveTo>
                    <a:lnTo>
                      <a:pt x="5" y="1"/>
                    </a:lnTo>
                    <a:lnTo>
                      <a:pt x="18" y="5"/>
                    </a:lnTo>
                    <a:lnTo>
                      <a:pt x="37" y="12"/>
                    </a:lnTo>
                    <a:lnTo>
                      <a:pt x="58" y="24"/>
                    </a:lnTo>
                    <a:lnTo>
                      <a:pt x="78" y="44"/>
                    </a:lnTo>
                    <a:lnTo>
                      <a:pt x="96" y="71"/>
                    </a:lnTo>
                    <a:lnTo>
                      <a:pt x="107" y="108"/>
                    </a:lnTo>
                    <a:lnTo>
                      <a:pt x="109" y="156"/>
                    </a:lnTo>
                    <a:lnTo>
                      <a:pt x="105" y="156"/>
                    </a:lnTo>
                    <a:lnTo>
                      <a:pt x="99" y="156"/>
                    </a:lnTo>
                    <a:lnTo>
                      <a:pt x="93" y="156"/>
                    </a:lnTo>
                    <a:lnTo>
                      <a:pt x="87" y="154"/>
                    </a:lnTo>
                    <a:lnTo>
                      <a:pt x="81" y="153"/>
                    </a:lnTo>
                    <a:lnTo>
                      <a:pt x="74" y="150"/>
                    </a:lnTo>
                    <a:lnTo>
                      <a:pt x="66" y="145"/>
                    </a:lnTo>
                    <a:lnTo>
                      <a:pt x="58" y="139"/>
                    </a:lnTo>
                    <a:lnTo>
                      <a:pt x="53" y="126"/>
                    </a:lnTo>
                    <a:lnTo>
                      <a:pt x="53" y="111"/>
                    </a:lnTo>
                    <a:lnTo>
                      <a:pt x="56" y="96"/>
                    </a:lnTo>
                    <a:lnTo>
                      <a:pt x="59" y="80"/>
                    </a:lnTo>
                    <a:lnTo>
                      <a:pt x="56" y="62"/>
                    </a:lnTo>
                    <a:lnTo>
                      <a:pt x="48" y="43"/>
                    </a:lnTo>
                    <a:lnTo>
                      <a:pt x="31" y="2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305160" name="Freeform 8"/>
              <p:cNvSpPr>
                <a:spLocks/>
              </p:cNvSpPr>
              <p:nvPr userDrawn="1"/>
            </p:nvSpPr>
            <p:spPr bwMode="ltGray">
              <a:xfrm rot="12185230" flipV="1">
                <a:off x="3845" y="2207"/>
                <a:ext cx="103" cy="209"/>
              </a:xfrm>
              <a:custGeom>
                <a:avLst/>
                <a:gdLst>
                  <a:gd name="T0" fmla="*/ 31 w 46"/>
                  <a:gd name="T1" fmla="*/ 0 h 94"/>
                  <a:gd name="T2" fmla="*/ 20 w 46"/>
                  <a:gd name="T3" fmla="*/ 38 h 94"/>
                  <a:gd name="T4" fmla="*/ 15 w 46"/>
                  <a:gd name="T5" fmla="*/ 62 h 94"/>
                  <a:gd name="T6" fmla="*/ 11 w 46"/>
                  <a:gd name="T7" fmla="*/ 79 h 94"/>
                  <a:gd name="T8" fmla="*/ 0 w 46"/>
                  <a:gd name="T9" fmla="*/ 94 h 94"/>
                  <a:gd name="T10" fmla="*/ 12 w 46"/>
                  <a:gd name="T11" fmla="*/ 88 h 94"/>
                  <a:gd name="T12" fmla="*/ 23 w 46"/>
                  <a:gd name="T13" fmla="*/ 80 h 94"/>
                  <a:gd name="T14" fmla="*/ 32 w 46"/>
                  <a:gd name="T15" fmla="*/ 69 h 94"/>
                  <a:gd name="T16" fmla="*/ 40 w 46"/>
                  <a:gd name="T17" fmla="*/ 57 h 94"/>
                  <a:gd name="T18" fmla="*/ 45 w 46"/>
                  <a:gd name="T19" fmla="*/ 44 h 94"/>
                  <a:gd name="T20" fmla="*/ 46 w 46"/>
                  <a:gd name="T21" fmla="*/ 30 h 94"/>
                  <a:gd name="T22" fmla="*/ 42 w 46"/>
                  <a:gd name="T23" fmla="*/ 15 h 94"/>
                  <a:gd name="T24" fmla="*/ 31 w 46"/>
                  <a:gd name="T25" fmla="*/ 0 h 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6" h="94">
                    <a:moveTo>
                      <a:pt x="31" y="0"/>
                    </a:moveTo>
                    <a:lnTo>
                      <a:pt x="20" y="38"/>
                    </a:lnTo>
                    <a:lnTo>
                      <a:pt x="15" y="62"/>
                    </a:lnTo>
                    <a:lnTo>
                      <a:pt x="11" y="79"/>
                    </a:lnTo>
                    <a:lnTo>
                      <a:pt x="0" y="94"/>
                    </a:lnTo>
                    <a:lnTo>
                      <a:pt x="12" y="88"/>
                    </a:lnTo>
                    <a:lnTo>
                      <a:pt x="23" y="80"/>
                    </a:lnTo>
                    <a:lnTo>
                      <a:pt x="32" y="69"/>
                    </a:lnTo>
                    <a:lnTo>
                      <a:pt x="40" y="57"/>
                    </a:lnTo>
                    <a:lnTo>
                      <a:pt x="45" y="44"/>
                    </a:lnTo>
                    <a:lnTo>
                      <a:pt x="46" y="30"/>
                    </a:lnTo>
                    <a:lnTo>
                      <a:pt x="42" y="15"/>
                    </a:lnTo>
                    <a:lnTo>
                      <a:pt x="31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305161" name="Freeform 9"/>
              <p:cNvSpPr>
                <a:spLocks/>
              </p:cNvSpPr>
              <p:nvPr userDrawn="1"/>
            </p:nvSpPr>
            <p:spPr bwMode="ltGray">
              <a:xfrm rot="12185230" flipV="1">
                <a:off x="3895" y="1325"/>
                <a:ext cx="120" cy="90"/>
              </a:xfrm>
              <a:custGeom>
                <a:avLst/>
                <a:gdLst>
                  <a:gd name="T0" fmla="*/ 0 w 54"/>
                  <a:gd name="T1" fmla="*/ 0 h 40"/>
                  <a:gd name="T2" fmla="*/ 1 w 54"/>
                  <a:gd name="T3" fmla="*/ 1 h 40"/>
                  <a:gd name="T4" fmla="*/ 6 w 54"/>
                  <a:gd name="T5" fmla="*/ 3 h 40"/>
                  <a:gd name="T6" fmla="*/ 13 w 54"/>
                  <a:gd name="T7" fmla="*/ 8 h 40"/>
                  <a:gd name="T8" fmla="*/ 21 w 54"/>
                  <a:gd name="T9" fmla="*/ 12 h 40"/>
                  <a:gd name="T10" fmla="*/ 29 w 54"/>
                  <a:gd name="T11" fmla="*/ 15 h 40"/>
                  <a:gd name="T12" fmla="*/ 38 w 54"/>
                  <a:gd name="T13" fmla="*/ 17 h 40"/>
                  <a:gd name="T14" fmla="*/ 46 w 54"/>
                  <a:gd name="T15" fmla="*/ 18 h 40"/>
                  <a:gd name="T16" fmla="*/ 54 w 54"/>
                  <a:gd name="T17" fmla="*/ 16 h 40"/>
                  <a:gd name="T18" fmla="*/ 53 w 54"/>
                  <a:gd name="T19" fmla="*/ 25 h 40"/>
                  <a:gd name="T20" fmla="*/ 50 w 54"/>
                  <a:gd name="T21" fmla="*/ 33 h 40"/>
                  <a:gd name="T22" fmla="*/ 44 w 54"/>
                  <a:gd name="T23" fmla="*/ 38 h 40"/>
                  <a:gd name="T24" fmla="*/ 37 w 54"/>
                  <a:gd name="T25" fmla="*/ 40 h 40"/>
                  <a:gd name="T26" fmla="*/ 28 w 54"/>
                  <a:gd name="T27" fmla="*/ 39 h 40"/>
                  <a:gd name="T28" fmla="*/ 19 w 54"/>
                  <a:gd name="T29" fmla="*/ 32 h 40"/>
                  <a:gd name="T30" fmla="*/ 10 w 54"/>
                  <a:gd name="T31" fmla="*/ 20 h 40"/>
                  <a:gd name="T32" fmla="*/ 0 w 54"/>
                  <a:gd name="T33" fmla="*/ 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54" h="40">
                    <a:moveTo>
                      <a:pt x="0" y="0"/>
                    </a:moveTo>
                    <a:lnTo>
                      <a:pt x="1" y="1"/>
                    </a:lnTo>
                    <a:lnTo>
                      <a:pt x="6" y="3"/>
                    </a:lnTo>
                    <a:lnTo>
                      <a:pt x="13" y="8"/>
                    </a:lnTo>
                    <a:lnTo>
                      <a:pt x="21" y="12"/>
                    </a:lnTo>
                    <a:lnTo>
                      <a:pt x="29" y="15"/>
                    </a:lnTo>
                    <a:lnTo>
                      <a:pt x="38" y="17"/>
                    </a:lnTo>
                    <a:lnTo>
                      <a:pt x="46" y="18"/>
                    </a:lnTo>
                    <a:lnTo>
                      <a:pt x="54" y="16"/>
                    </a:lnTo>
                    <a:lnTo>
                      <a:pt x="53" y="25"/>
                    </a:lnTo>
                    <a:lnTo>
                      <a:pt x="50" y="33"/>
                    </a:lnTo>
                    <a:lnTo>
                      <a:pt x="44" y="38"/>
                    </a:lnTo>
                    <a:lnTo>
                      <a:pt x="37" y="40"/>
                    </a:lnTo>
                    <a:lnTo>
                      <a:pt x="28" y="39"/>
                    </a:lnTo>
                    <a:lnTo>
                      <a:pt x="19" y="32"/>
                    </a:lnTo>
                    <a:lnTo>
                      <a:pt x="10" y="2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305162" name="Freeform 10"/>
              <p:cNvSpPr>
                <a:spLocks/>
              </p:cNvSpPr>
              <p:nvPr userDrawn="1"/>
            </p:nvSpPr>
            <p:spPr bwMode="ltGray">
              <a:xfrm rot="12185230" flipV="1">
                <a:off x="3010" y="2344"/>
                <a:ext cx="330" cy="2059"/>
              </a:xfrm>
              <a:custGeom>
                <a:avLst/>
                <a:gdLst>
                  <a:gd name="T0" fmla="*/ 0 w 149"/>
                  <a:gd name="T1" fmla="*/ 0 h 704"/>
                  <a:gd name="T2" fmla="*/ 6 w 149"/>
                  <a:gd name="T3" fmla="*/ 6 h 704"/>
                  <a:gd name="T4" fmla="*/ 16 w 149"/>
                  <a:gd name="T5" fmla="*/ 14 h 704"/>
                  <a:gd name="T6" fmla="*/ 28 w 149"/>
                  <a:gd name="T7" fmla="*/ 24 h 704"/>
                  <a:gd name="T8" fmla="*/ 41 w 149"/>
                  <a:gd name="T9" fmla="*/ 37 h 704"/>
                  <a:gd name="T10" fmla="*/ 58 w 149"/>
                  <a:gd name="T11" fmla="*/ 53 h 704"/>
                  <a:gd name="T12" fmla="*/ 73 w 149"/>
                  <a:gd name="T13" fmla="*/ 70 h 704"/>
                  <a:gd name="T14" fmla="*/ 88 w 149"/>
                  <a:gd name="T15" fmla="*/ 90 h 704"/>
                  <a:gd name="T16" fmla="*/ 100 w 149"/>
                  <a:gd name="T17" fmla="*/ 113 h 704"/>
                  <a:gd name="T18" fmla="*/ 112 w 149"/>
                  <a:gd name="T19" fmla="*/ 137 h 704"/>
                  <a:gd name="T20" fmla="*/ 120 w 149"/>
                  <a:gd name="T21" fmla="*/ 165 h 704"/>
                  <a:gd name="T22" fmla="*/ 124 w 149"/>
                  <a:gd name="T23" fmla="*/ 196 h 704"/>
                  <a:gd name="T24" fmla="*/ 126 w 149"/>
                  <a:gd name="T25" fmla="*/ 228 h 704"/>
                  <a:gd name="T26" fmla="*/ 120 w 149"/>
                  <a:gd name="T27" fmla="*/ 264 h 704"/>
                  <a:gd name="T28" fmla="*/ 109 w 149"/>
                  <a:gd name="T29" fmla="*/ 302 h 704"/>
                  <a:gd name="T30" fmla="*/ 92 w 149"/>
                  <a:gd name="T31" fmla="*/ 342 h 704"/>
                  <a:gd name="T32" fmla="*/ 67 w 149"/>
                  <a:gd name="T33" fmla="*/ 386 h 704"/>
                  <a:gd name="T34" fmla="*/ 39 w 149"/>
                  <a:gd name="T35" fmla="*/ 436 h 704"/>
                  <a:gd name="T36" fmla="*/ 21 w 149"/>
                  <a:gd name="T37" fmla="*/ 482 h 704"/>
                  <a:gd name="T38" fmla="*/ 10 w 149"/>
                  <a:gd name="T39" fmla="*/ 525 h 704"/>
                  <a:gd name="T40" fmla="*/ 6 w 149"/>
                  <a:gd name="T41" fmla="*/ 566 h 704"/>
                  <a:gd name="T42" fmla="*/ 6 w 149"/>
                  <a:gd name="T43" fmla="*/ 605 h 704"/>
                  <a:gd name="T44" fmla="*/ 8 w 149"/>
                  <a:gd name="T45" fmla="*/ 641 h 704"/>
                  <a:gd name="T46" fmla="*/ 12 w 149"/>
                  <a:gd name="T47" fmla="*/ 673 h 704"/>
                  <a:gd name="T48" fmla="*/ 14 w 149"/>
                  <a:gd name="T49" fmla="*/ 704 h 704"/>
                  <a:gd name="T50" fmla="*/ 41 w 149"/>
                  <a:gd name="T51" fmla="*/ 688 h 704"/>
                  <a:gd name="T52" fmla="*/ 39 w 149"/>
                  <a:gd name="T53" fmla="*/ 680 h 704"/>
                  <a:gd name="T54" fmla="*/ 36 w 149"/>
                  <a:gd name="T55" fmla="*/ 657 h 704"/>
                  <a:gd name="T56" fmla="*/ 33 w 149"/>
                  <a:gd name="T57" fmla="*/ 622 h 704"/>
                  <a:gd name="T58" fmla="*/ 35 w 149"/>
                  <a:gd name="T59" fmla="*/ 575 h 704"/>
                  <a:gd name="T60" fmla="*/ 41 w 149"/>
                  <a:gd name="T61" fmla="*/ 519 h 704"/>
                  <a:gd name="T62" fmla="*/ 58 w 149"/>
                  <a:gd name="T63" fmla="*/ 455 h 704"/>
                  <a:gd name="T64" fmla="*/ 86 w 149"/>
                  <a:gd name="T65" fmla="*/ 386 h 704"/>
                  <a:gd name="T66" fmla="*/ 129 w 149"/>
                  <a:gd name="T67" fmla="*/ 313 h 704"/>
                  <a:gd name="T68" fmla="*/ 143 w 149"/>
                  <a:gd name="T69" fmla="*/ 279 h 704"/>
                  <a:gd name="T70" fmla="*/ 149 w 149"/>
                  <a:gd name="T71" fmla="*/ 235 h 704"/>
                  <a:gd name="T72" fmla="*/ 144 w 149"/>
                  <a:gd name="T73" fmla="*/ 184 h 704"/>
                  <a:gd name="T74" fmla="*/ 131 w 149"/>
                  <a:gd name="T75" fmla="*/ 134 h 704"/>
                  <a:gd name="T76" fmla="*/ 109 w 149"/>
                  <a:gd name="T77" fmla="*/ 85 h 704"/>
                  <a:gd name="T78" fmla="*/ 81 w 149"/>
                  <a:gd name="T79" fmla="*/ 44 h 704"/>
                  <a:gd name="T80" fmla="*/ 44 w 149"/>
                  <a:gd name="T81" fmla="*/ 14 h 704"/>
                  <a:gd name="T82" fmla="*/ 0 w 149"/>
                  <a:gd name="T83" fmla="*/ 0 h 7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0" t="0" r="r" b="b"/>
                <a:pathLst>
                  <a:path w="149" h="704">
                    <a:moveTo>
                      <a:pt x="0" y="0"/>
                    </a:moveTo>
                    <a:lnTo>
                      <a:pt x="6" y="6"/>
                    </a:lnTo>
                    <a:lnTo>
                      <a:pt x="16" y="14"/>
                    </a:lnTo>
                    <a:lnTo>
                      <a:pt x="28" y="24"/>
                    </a:lnTo>
                    <a:lnTo>
                      <a:pt x="41" y="37"/>
                    </a:lnTo>
                    <a:lnTo>
                      <a:pt x="58" y="53"/>
                    </a:lnTo>
                    <a:lnTo>
                      <a:pt x="73" y="70"/>
                    </a:lnTo>
                    <a:lnTo>
                      <a:pt x="88" y="90"/>
                    </a:lnTo>
                    <a:lnTo>
                      <a:pt x="100" y="113"/>
                    </a:lnTo>
                    <a:lnTo>
                      <a:pt x="112" y="137"/>
                    </a:lnTo>
                    <a:lnTo>
                      <a:pt x="120" y="165"/>
                    </a:lnTo>
                    <a:lnTo>
                      <a:pt x="124" y="196"/>
                    </a:lnTo>
                    <a:lnTo>
                      <a:pt x="126" y="228"/>
                    </a:lnTo>
                    <a:lnTo>
                      <a:pt x="120" y="264"/>
                    </a:lnTo>
                    <a:lnTo>
                      <a:pt x="109" y="302"/>
                    </a:lnTo>
                    <a:lnTo>
                      <a:pt x="92" y="342"/>
                    </a:lnTo>
                    <a:lnTo>
                      <a:pt x="67" y="386"/>
                    </a:lnTo>
                    <a:lnTo>
                      <a:pt x="39" y="436"/>
                    </a:lnTo>
                    <a:lnTo>
                      <a:pt x="21" y="482"/>
                    </a:lnTo>
                    <a:lnTo>
                      <a:pt x="10" y="525"/>
                    </a:lnTo>
                    <a:lnTo>
                      <a:pt x="6" y="566"/>
                    </a:lnTo>
                    <a:lnTo>
                      <a:pt x="6" y="605"/>
                    </a:lnTo>
                    <a:lnTo>
                      <a:pt x="8" y="641"/>
                    </a:lnTo>
                    <a:lnTo>
                      <a:pt x="12" y="673"/>
                    </a:lnTo>
                    <a:lnTo>
                      <a:pt x="14" y="704"/>
                    </a:lnTo>
                    <a:lnTo>
                      <a:pt x="41" y="688"/>
                    </a:lnTo>
                    <a:lnTo>
                      <a:pt x="39" y="680"/>
                    </a:lnTo>
                    <a:lnTo>
                      <a:pt x="36" y="657"/>
                    </a:lnTo>
                    <a:lnTo>
                      <a:pt x="33" y="622"/>
                    </a:lnTo>
                    <a:lnTo>
                      <a:pt x="35" y="575"/>
                    </a:lnTo>
                    <a:lnTo>
                      <a:pt x="41" y="519"/>
                    </a:lnTo>
                    <a:lnTo>
                      <a:pt x="58" y="455"/>
                    </a:lnTo>
                    <a:lnTo>
                      <a:pt x="86" y="386"/>
                    </a:lnTo>
                    <a:lnTo>
                      <a:pt x="129" y="313"/>
                    </a:lnTo>
                    <a:lnTo>
                      <a:pt x="143" y="279"/>
                    </a:lnTo>
                    <a:lnTo>
                      <a:pt x="149" y="235"/>
                    </a:lnTo>
                    <a:lnTo>
                      <a:pt x="144" y="184"/>
                    </a:lnTo>
                    <a:lnTo>
                      <a:pt x="131" y="134"/>
                    </a:lnTo>
                    <a:lnTo>
                      <a:pt x="109" y="85"/>
                    </a:lnTo>
                    <a:lnTo>
                      <a:pt x="81" y="44"/>
                    </a:lnTo>
                    <a:lnTo>
                      <a:pt x="44" y="1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</p:grpSp>
        <p:sp>
          <p:nvSpPr>
            <p:cNvPr id="305163" name="Freeform 11"/>
            <p:cNvSpPr>
              <a:spLocks/>
            </p:cNvSpPr>
            <p:nvPr userDrawn="1"/>
          </p:nvSpPr>
          <p:spPr bwMode="ltGray">
            <a:xfrm rot="373331" flipH="1">
              <a:off x="22" y="1957"/>
              <a:ext cx="323" cy="649"/>
            </a:xfrm>
            <a:custGeom>
              <a:avLst/>
              <a:gdLst>
                <a:gd name="T0" fmla="*/ 94 w 128"/>
                <a:gd name="T1" fmla="*/ 0 h 217"/>
                <a:gd name="T2" fmla="*/ 105 w 128"/>
                <a:gd name="T3" fmla="*/ 9 h 217"/>
                <a:gd name="T4" fmla="*/ 115 w 128"/>
                <a:gd name="T5" fmla="*/ 27 h 217"/>
                <a:gd name="T6" fmla="*/ 123 w 128"/>
                <a:gd name="T7" fmla="*/ 50 h 217"/>
                <a:gd name="T8" fmla="*/ 128 w 128"/>
                <a:gd name="T9" fmla="*/ 78 h 217"/>
                <a:gd name="T10" fmla="*/ 127 w 128"/>
                <a:gd name="T11" fmla="*/ 111 h 217"/>
                <a:gd name="T12" fmla="*/ 116 w 128"/>
                <a:gd name="T13" fmla="*/ 145 h 217"/>
                <a:gd name="T14" fmla="*/ 94 w 128"/>
                <a:gd name="T15" fmla="*/ 181 h 217"/>
                <a:gd name="T16" fmla="*/ 60 w 128"/>
                <a:gd name="T17" fmla="*/ 217 h 217"/>
                <a:gd name="T18" fmla="*/ 49 w 128"/>
                <a:gd name="T19" fmla="*/ 213 h 217"/>
                <a:gd name="T20" fmla="*/ 38 w 128"/>
                <a:gd name="T21" fmla="*/ 210 h 217"/>
                <a:gd name="T22" fmla="*/ 26 w 128"/>
                <a:gd name="T23" fmla="*/ 205 h 217"/>
                <a:gd name="T24" fmla="*/ 16 w 128"/>
                <a:gd name="T25" fmla="*/ 201 h 217"/>
                <a:gd name="T26" fmla="*/ 8 w 128"/>
                <a:gd name="T27" fmla="*/ 196 h 217"/>
                <a:gd name="T28" fmla="*/ 2 w 128"/>
                <a:gd name="T29" fmla="*/ 190 h 217"/>
                <a:gd name="T30" fmla="*/ 0 w 128"/>
                <a:gd name="T31" fmla="*/ 183 h 217"/>
                <a:gd name="T32" fmla="*/ 1 w 128"/>
                <a:gd name="T33" fmla="*/ 178 h 217"/>
                <a:gd name="T34" fmla="*/ 13 w 128"/>
                <a:gd name="T35" fmla="*/ 171 h 217"/>
                <a:gd name="T36" fmla="*/ 29 w 128"/>
                <a:gd name="T37" fmla="*/ 161 h 217"/>
                <a:gd name="T38" fmla="*/ 46 w 128"/>
                <a:gd name="T39" fmla="*/ 150 h 217"/>
                <a:gd name="T40" fmla="*/ 63 w 128"/>
                <a:gd name="T41" fmla="*/ 134 h 217"/>
                <a:gd name="T42" fmla="*/ 79 w 128"/>
                <a:gd name="T43" fmla="*/ 112 h 217"/>
                <a:gd name="T44" fmla="*/ 91 w 128"/>
                <a:gd name="T45" fmla="*/ 83 h 217"/>
                <a:gd name="T46" fmla="*/ 97 w 128"/>
                <a:gd name="T47" fmla="*/ 46 h 217"/>
                <a:gd name="T48" fmla="*/ 94 w 128"/>
                <a:gd name="T49" fmla="*/ 0 h 2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28" h="217">
                  <a:moveTo>
                    <a:pt x="94" y="0"/>
                  </a:moveTo>
                  <a:lnTo>
                    <a:pt x="105" y="9"/>
                  </a:lnTo>
                  <a:lnTo>
                    <a:pt x="115" y="27"/>
                  </a:lnTo>
                  <a:lnTo>
                    <a:pt x="123" y="50"/>
                  </a:lnTo>
                  <a:lnTo>
                    <a:pt x="128" y="78"/>
                  </a:lnTo>
                  <a:lnTo>
                    <a:pt x="127" y="111"/>
                  </a:lnTo>
                  <a:lnTo>
                    <a:pt x="116" y="145"/>
                  </a:lnTo>
                  <a:lnTo>
                    <a:pt x="94" y="181"/>
                  </a:lnTo>
                  <a:lnTo>
                    <a:pt x="60" y="217"/>
                  </a:lnTo>
                  <a:lnTo>
                    <a:pt x="49" y="213"/>
                  </a:lnTo>
                  <a:lnTo>
                    <a:pt x="38" y="210"/>
                  </a:lnTo>
                  <a:lnTo>
                    <a:pt x="26" y="205"/>
                  </a:lnTo>
                  <a:lnTo>
                    <a:pt x="16" y="201"/>
                  </a:lnTo>
                  <a:lnTo>
                    <a:pt x="8" y="196"/>
                  </a:lnTo>
                  <a:lnTo>
                    <a:pt x="2" y="190"/>
                  </a:lnTo>
                  <a:lnTo>
                    <a:pt x="0" y="183"/>
                  </a:lnTo>
                  <a:lnTo>
                    <a:pt x="1" y="178"/>
                  </a:lnTo>
                  <a:lnTo>
                    <a:pt x="13" y="171"/>
                  </a:lnTo>
                  <a:lnTo>
                    <a:pt x="29" y="161"/>
                  </a:lnTo>
                  <a:lnTo>
                    <a:pt x="46" y="150"/>
                  </a:lnTo>
                  <a:lnTo>
                    <a:pt x="63" y="134"/>
                  </a:lnTo>
                  <a:lnTo>
                    <a:pt x="79" y="112"/>
                  </a:lnTo>
                  <a:lnTo>
                    <a:pt x="91" y="83"/>
                  </a:lnTo>
                  <a:lnTo>
                    <a:pt x="97" y="46"/>
                  </a:lnTo>
                  <a:lnTo>
                    <a:pt x="94" y="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305164" name="Freeform 12"/>
            <p:cNvSpPr>
              <a:spLocks/>
            </p:cNvSpPr>
            <p:nvPr userDrawn="1"/>
          </p:nvSpPr>
          <p:spPr bwMode="ltGray">
            <a:xfrm>
              <a:off x="168" y="1260"/>
              <a:ext cx="1259" cy="1532"/>
            </a:xfrm>
            <a:custGeom>
              <a:avLst/>
              <a:gdLst>
                <a:gd name="T0" fmla="*/ 891 w 1259"/>
                <a:gd name="T1" fmla="*/ 1532 h 1532"/>
                <a:gd name="T2" fmla="*/ 954 w 1259"/>
                <a:gd name="T3" fmla="*/ 1452 h 1532"/>
                <a:gd name="T4" fmla="*/ 1032 w 1259"/>
                <a:gd name="T5" fmla="*/ 1338 h 1532"/>
                <a:gd name="T6" fmla="*/ 1115 w 1259"/>
                <a:gd name="T7" fmla="*/ 1188 h 1532"/>
                <a:gd name="T8" fmla="*/ 1194 w 1259"/>
                <a:gd name="T9" fmla="*/ 1023 h 1532"/>
                <a:gd name="T10" fmla="*/ 1244 w 1259"/>
                <a:gd name="T11" fmla="*/ 841 h 1532"/>
                <a:gd name="T12" fmla="*/ 1259 w 1259"/>
                <a:gd name="T13" fmla="*/ 647 h 1532"/>
                <a:gd name="T14" fmla="*/ 1230 w 1259"/>
                <a:gd name="T15" fmla="*/ 463 h 1532"/>
                <a:gd name="T16" fmla="*/ 1140 w 1259"/>
                <a:gd name="T17" fmla="*/ 294 h 1532"/>
                <a:gd name="T18" fmla="*/ 1043 w 1259"/>
                <a:gd name="T19" fmla="*/ 190 h 1532"/>
                <a:gd name="T20" fmla="*/ 961 w 1259"/>
                <a:gd name="T21" fmla="*/ 109 h 1532"/>
                <a:gd name="T22" fmla="*/ 894 w 1259"/>
                <a:gd name="T23" fmla="*/ 65 h 1532"/>
                <a:gd name="T24" fmla="*/ 786 w 1259"/>
                <a:gd name="T25" fmla="*/ 18 h 1532"/>
                <a:gd name="T26" fmla="*/ 642 w 1259"/>
                <a:gd name="T27" fmla="*/ 0 h 1532"/>
                <a:gd name="T28" fmla="*/ 440 w 1259"/>
                <a:gd name="T29" fmla="*/ 23 h 1532"/>
                <a:gd name="T30" fmla="*/ 366 w 1259"/>
                <a:gd name="T31" fmla="*/ 44 h 1532"/>
                <a:gd name="T32" fmla="*/ 292 w 1259"/>
                <a:gd name="T33" fmla="*/ 58 h 1532"/>
                <a:gd name="T34" fmla="*/ 229 w 1259"/>
                <a:gd name="T35" fmla="*/ 79 h 1532"/>
                <a:gd name="T36" fmla="*/ 178 w 1259"/>
                <a:gd name="T37" fmla="*/ 103 h 1532"/>
                <a:gd name="T38" fmla="*/ 127 w 1259"/>
                <a:gd name="T39" fmla="*/ 127 h 1532"/>
                <a:gd name="T40" fmla="*/ 82 w 1259"/>
                <a:gd name="T41" fmla="*/ 158 h 1532"/>
                <a:gd name="T42" fmla="*/ 41 w 1259"/>
                <a:gd name="T43" fmla="*/ 197 h 1532"/>
                <a:gd name="T44" fmla="*/ 0 w 1259"/>
                <a:gd name="T45" fmla="*/ 243 h 1532"/>
                <a:gd name="T46" fmla="*/ 76 w 1259"/>
                <a:gd name="T47" fmla="*/ 215 h 1532"/>
                <a:gd name="T48" fmla="*/ 144 w 1259"/>
                <a:gd name="T49" fmla="*/ 194 h 1532"/>
                <a:gd name="T50" fmla="*/ 212 w 1259"/>
                <a:gd name="T51" fmla="*/ 179 h 1532"/>
                <a:gd name="T52" fmla="*/ 280 w 1259"/>
                <a:gd name="T53" fmla="*/ 164 h 1532"/>
                <a:gd name="T54" fmla="*/ 336 w 1259"/>
                <a:gd name="T55" fmla="*/ 149 h 1532"/>
                <a:gd name="T56" fmla="*/ 397 w 1259"/>
                <a:gd name="T57" fmla="*/ 149 h 1532"/>
                <a:gd name="T58" fmla="*/ 458 w 1259"/>
                <a:gd name="T59" fmla="*/ 141 h 1532"/>
                <a:gd name="T60" fmla="*/ 511 w 1259"/>
                <a:gd name="T61" fmla="*/ 146 h 1532"/>
                <a:gd name="T62" fmla="*/ 565 w 1259"/>
                <a:gd name="T63" fmla="*/ 152 h 1532"/>
                <a:gd name="T64" fmla="*/ 618 w 1259"/>
                <a:gd name="T65" fmla="*/ 166 h 1532"/>
                <a:gd name="T66" fmla="*/ 669 w 1259"/>
                <a:gd name="T67" fmla="*/ 186 h 1532"/>
                <a:gd name="T68" fmla="*/ 715 w 1259"/>
                <a:gd name="T69" fmla="*/ 205 h 1532"/>
                <a:gd name="T70" fmla="*/ 760 w 1259"/>
                <a:gd name="T71" fmla="*/ 239 h 1532"/>
                <a:gd name="T72" fmla="*/ 811 w 1259"/>
                <a:gd name="T73" fmla="*/ 267 h 1532"/>
                <a:gd name="T74" fmla="*/ 855 w 1259"/>
                <a:gd name="T75" fmla="*/ 307 h 1532"/>
                <a:gd name="T76" fmla="*/ 899 w 1259"/>
                <a:gd name="T77" fmla="*/ 348 h 1532"/>
                <a:gd name="T78" fmla="*/ 971 w 1259"/>
                <a:gd name="T79" fmla="*/ 464 h 1532"/>
                <a:gd name="T80" fmla="*/ 1016 w 1259"/>
                <a:gd name="T81" fmla="*/ 606 h 1532"/>
                <a:gd name="T82" fmla="*/ 1027 w 1259"/>
                <a:gd name="T83" fmla="*/ 774 h 1532"/>
                <a:gd name="T84" fmla="*/ 1022 w 1259"/>
                <a:gd name="T85" fmla="*/ 939 h 1532"/>
                <a:gd name="T86" fmla="*/ 1002 w 1259"/>
                <a:gd name="T87" fmla="*/ 1117 h 1532"/>
                <a:gd name="T88" fmla="*/ 966 w 1259"/>
                <a:gd name="T89" fmla="*/ 1279 h 1532"/>
                <a:gd name="T90" fmla="*/ 933 w 1259"/>
                <a:gd name="T91" fmla="*/ 1421 h 1532"/>
                <a:gd name="T92" fmla="*/ 891 w 1259"/>
                <a:gd name="T93" fmla="*/ 1532 h 15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1259" h="1532">
                  <a:moveTo>
                    <a:pt x="891" y="1532"/>
                  </a:moveTo>
                  <a:lnTo>
                    <a:pt x="954" y="1452"/>
                  </a:lnTo>
                  <a:lnTo>
                    <a:pt x="1032" y="1338"/>
                  </a:lnTo>
                  <a:lnTo>
                    <a:pt x="1115" y="1188"/>
                  </a:lnTo>
                  <a:lnTo>
                    <a:pt x="1194" y="1023"/>
                  </a:lnTo>
                  <a:lnTo>
                    <a:pt x="1244" y="841"/>
                  </a:lnTo>
                  <a:lnTo>
                    <a:pt x="1259" y="647"/>
                  </a:lnTo>
                  <a:lnTo>
                    <a:pt x="1230" y="463"/>
                  </a:lnTo>
                  <a:lnTo>
                    <a:pt x="1140" y="294"/>
                  </a:lnTo>
                  <a:lnTo>
                    <a:pt x="1043" y="190"/>
                  </a:lnTo>
                  <a:lnTo>
                    <a:pt x="961" y="109"/>
                  </a:lnTo>
                  <a:lnTo>
                    <a:pt x="894" y="65"/>
                  </a:lnTo>
                  <a:lnTo>
                    <a:pt x="786" y="18"/>
                  </a:lnTo>
                  <a:lnTo>
                    <a:pt x="642" y="0"/>
                  </a:lnTo>
                  <a:lnTo>
                    <a:pt x="440" y="23"/>
                  </a:lnTo>
                  <a:lnTo>
                    <a:pt x="366" y="44"/>
                  </a:lnTo>
                  <a:lnTo>
                    <a:pt x="292" y="58"/>
                  </a:lnTo>
                  <a:lnTo>
                    <a:pt x="229" y="79"/>
                  </a:lnTo>
                  <a:lnTo>
                    <a:pt x="178" y="103"/>
                  </a:lnTo>
                  <a:lnTo>
                    <a:pt x="127" y="127"/>
                  </a:lnTo>
                  <a:lnTo>
                    <a:pt x="82" y="158"/>
                  </a:lnTo>
                  <a:lnTo>
                    <a:pt x="41" y="197"/>
                  </a:lnTo>
                  <a:lnTo>
                    <a:pt x="0" y="243"/>
                  </a:lnTo>
                  <a:lnTo>
                    <a:pt x="76" y="215"/>
                  </a:lnTo>
                  <a:lnTo>
                    <a:pt x="144" y="194"/>
                  </a:lnTo>
                  <a:lnTo>
                    <a:pt x="212" y="179"/>
                  </a:lnTo>
                  <a:lnTo>
                    <a:pt x="280" y="164"/>
                  </a:lnTo>
                  <a:lnTo>
                    <a:pt x="336" y="149"/>
                  </a:lnTo>
                  <a:lnTo>
                    <a:pt x="397" y="149"/>
                  </a:lnTo>
                  <a:lnTo>
                    <a:pt x="458" y="141"/>
                  </a:lnTo>
                  <a:lnTo>
                    <a:pt x="511" y="146"/>
                  </a:lnTo>
                  <a:lnTo>
                    <a:pt x="565" y="152"/>
                  </a:lnTo>
                  <a:lnTo>
                    <a:pt x="618" y="166"/>
                  </a:lnTo>
                  <a:lnTo>
                    <a:pt x="669" y="186"/>
                  </a:lnTo>
                  <a:lnTo>
                    <a:pt x="715" y="205"/>
                  </a:lnTo>
                  <a:lnTo>
                    <a:pt x="760" y="239"/>
                  </a:lnTo>
                  <a:lnTo>
                    <a:pt x="811" y="267"/>
                  </a:lnTo>
                  <a:lnTo>
                    <a:pt x="855" y="307"/>
                  </a:lnTo>
                  <a:lnTo>
                    <a:pt x="899" y="348"/>
                  </a:lnTo>
                  <a:lnTo>
                    <a:pt x="971" y="464"/>
                  </a:lnTo>
                  <a:lnTo>
                    <a:pt x="1016" y="606"/>
                  </a:lnTo>
                  <a:lnTo>
                    <a:pt x="1027" y="774"/>
                  </a:lnTo>
                  <a:lnTo>
                    <a:pt x="1022" y="939"/>
                  </a:lnTo>
                  <a:lnTo>
                    <a:pt x="1002" y="1117"/>
                  </a:lnTo>
                  <a:lnTo>
                    <a:pt x="966" y="1279"/>
                  </a:lnTo>
                  <a:lnTo>
                    <a:pt x="933" y="1421"/>
                  </a:lnTo>
                  <a:lnTo>
                    <a:pt x="891" y="1532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305165" name="Freeform 13"/>
            <p:cNvSpPr>
              <a:spLocks/>
            </p:cNvSpPr>
            <p:nvPr userDrawn="1"/>
          </p:nvSpPr>
          <p:spPr bwMode="ltGray">
            <a:xfrm>
              <a:off x="0" y="2610"/>
              <a:ext cx="801" cy="459"/>
            </a:xfrm>
            <a:custGeom>
              <a:avLst/>
              <a:gdLst>
                <a:gd name="T0" fmla="*/ 0 w 801"/>
                <a:gd name="T1" fmla="*/ 0 h 459"/>
                <a:gd name="T2" fmla="*/ 37 w 801"/>
                <a:gd name="T3" fmla="*/ 69 h 459"/>
                <a:gd name="T4" fmla="*/ 68 w 801"/>
                <a:gd name="T5" fmla="*/ 132 h 459"/>
                <a:gd name="T6" fmla="*/ 110 w 801"/>
                <a:gd name="T7" fmla="*/ 188 h 459"/>
                <a:gd name="T8" fmla="*/ 149 w 801"/>
                <a:gd name="T9" fmla="*/ 229 h 459"/>
                <a:gd name="T10" fmla="*/ 192 w 801"/>
                <a:gd name="T11" fmla="*/ 278 h 459"/>
                <a:gd name="T12" fmla="*/ 250 w 801"/>
                <a:gd name="T13" fmla="*/ 314 h 459"/>
                <a:gd name="T14" fmla="*/ 308 w 801"/>
                <a:gd name="T15" fmla="*/ 336 h 459"/>
                <a:gd name="T16" fmla="*/ 365 w 801"/>
                <a:gd name="T17" fmla="*/ 365 h 459"/>
                <a:gd name="T18" fmla="*/ 430 w 801"/>
                <a:gd name="T19" fmla="*/ 381 h 459"/>
                <a:gd name="T20" fmla="*/ 501 w 801"/>
                <a:gd name="T21" fmla="*/ 390 h 459"/>
                <a:gd name="T22" fmla="*/ 573 w 801"/>
                <a:gd name="T23" fmla="*/ 392 h 459"/>
                <a:gd name="T24" fmla="*/ 646 w 801"/>
                <a:gd name="T25" fmla="*/ 381 h 459"/>
                <a:gd name="T26" fmla="*/ 726 w 801"/>
                <a:gd name="T27" fmla="*/ 362 h 459"/>
                <a:gd name="T28" fmla="*/ 801 w 801"/>
                <a:gd name="T29" fmla="*/ 335 h 459"/>
                <a:gd name="T30" fmla="*/ 731 w 801"/>
                <a:gd name="T31" fmla="*/ 377 h 459"/>
                <a:gd name="T32" fmla="*/ 662 w 801"/>
                <a:gd name="T33" fmla="*/ 404 h 459"/>
                <a:gd name="T34" fmla="*/ 594 w 801"/>
                <a:gd name="T35" fmla="*/ 432 h 459"/>
                <a:gd name="T36" fmla="*/ 532 w 801"/>
                <a:gd name="T37" fmla="*/ 445 h 459"/>
                <a:gd name="T38" fmla="*/ 471 w 801"/>
                <a:gd name="T39" fmla="*/ 459 h 459"/>
                <a:gd name="T40" fmla="*/ 411 w 801"/>
                <a:gd name="T41" fmla="*/ 458 h 459"/>
                <a:gd name="T42" fmla="*/ 350 w 801"/>
                <a:gd name="T43" fmla="*/ 458 h 459"/>
                <a:gd name="T44" fmla="*/ 291 w 801"/>
                <a:gd name="T45" fmla="*/ 450 h 459"/>
                <a:gd name="T46" fmla="*/ 244 w 801"/>
                <a:gd name="T47" fmla="*/ 436 h 459"/>
                <a:gd name="T48" fmla="*/ 192 w 801"/>
                <a:gd name="T49" fmla="*/ 415 h 459"/>
                <a:gd name="T50" fmla="*/ 145 w 801"/>
                <a:gd name="T51" fmla="*/ 394 h 459"/>
                <a:gd name="T52" fmla="*/ 100 w 801"/>
                <a:gd name="T53" fmla="*/ 373 h 459"/>
                <a:gd name="T54" fmla="*/ 60 w 801"/>
                <a:gd name="T55" fmla="*/ 347 h 459"/>
                <a:gd name="T56" fmla="*/ 0 w 801"/>
                <a:gd name="T57" fmla="*/ 294 h 459"/>
                <a:gd name="T58" fmla="*/ 0 w 801"/>
                <a:gd name="T59" fmla="*/ 0 h 4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801" h="459">
                  <a:moveTo>
                    <a:pt x="0" y="0"/>
                  </a:moveTo>
                  <a:lnTo>
                    <a:pt x="37" y="69"/>
                  </a:lnTo>
                  <a:lnTo>
                    <a:pt x="68" y="132"/>
                  </a:lnTo>
                  <a:lnTo>
                    <a:pt x="110" y="188"/>
                  </a:lnTo>
                  <a:lnTo>
                    <a:pt x="149" y="229"/>
                  </a:lnTo>
                  <a:lnTo>
                    <a:pt x="192" y="278"/>
                  </a:lnTo>
                  <a:lnTo>
                    <a:pt x="250" y="314"/>
                  </a:lnTo>
                  <a:lnTo>
                    <a:pt x="308" y="336"/>
                  </a:lnTo>
                  <a:lnTo>
                    <a:pt x="365" y="365"/>
                  </a:lnTo>
                  <a:lnTo>
                    <a:pt x="430" y="381"/>
                  </a:lnTo>
                  <a:lnTo>
                    <a:pt x="501" y="390"/>
                  </a:lnTo>
                  <a:lnTo>
                    <a:pt x="573" y="392"/>
                  </a:lnTo>
                  <a:lnTo>
                    <a:pt x="646" y="381"/>
                  </a:lnTo>
                  <a:lnTo>
                    <a:pt x="726" y="362"/>
                  </a:lnTo>
                  <a:lnTo>
                    <a:pt x="801" y="335"/>
                  </a:lnTo>
                  <a:lnTo>
                    <a:pt x="731" y="377"/>
                  </a:lnTo>
                  <a:lnTo>
                    <a:pt x="662" y="404"/>
                  </a:lnTo>
                  <a:lnTo>
                    <a:pt x="594" y="432"/>
                  </a:lnTo>
                  <a:lnTo>
                    <a:pt x="532" y="445"/>
                  </a:lnTo>
                  <a:lnTo>
                    <a:pt x="471" y="459"/>
                  </a:lnTo>
                  <a:lnTo>
                    <a:pt x="411" y="458"/>
                  </a:lnTo>
                  <a:lnTo>
                    <a:pt x="350" y="458"/>
                  </a:lnTo>
                  <a:lnTo>
                    <a:pt x="291" y="450"/>
                  </a:lnTo>
                  <a:lnTo>
                    <a:pt x="244" y="436"/>
                  </a:lnTo>
                  <a:lnTo>
                    <a:pt x="192" y="415"/>
                  </a:lnTo>
                  <a:lnTo>
                    <a:pt x="145" y="394"/>
                  </a:lnTo>
                  <a:lnTo>
                    <a:pt x="100" y="373"/>
                  </a:lnTo>
                  <a:lnTo>
                    <a:pt x="60" y="347"/>
                  </a:lnTo>
                  <a:lnTo>
                    <a:pt x="0" y="29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305166" name="Freeform 14"/>
            <p:cNvSpPr>
              <a:spLocks/>
            </p:cNvSpPr>
            <p:nvPr userDrawn="1"/>
          </p:nvSpPr>
          <p:spPr bwMode="ltGray">
            <a:xfrm rot="373331" flipH="1">
              <a:off x="898" y="2855"/>
              <a:ext cx="354" cy="464"/>
            </a:xfrm>
            <a:custGeom>
              <a:avLst/>
              <a:gdLst>
                <a:gd name="T0" fmla="*/ 75 w 117"/>
                <a:gd name="T1" fmla="*/ 0 h 132"/>
                <a:gd name="T2" fmla="*/ 0 w 117"/>
                <a:gd name="T3" fmla="*/ 25 h 132"/>
                <a:gd name="T4" fmla="*/ 3 w 117"/>
                <a:gd name="T5" fmla="*/ 26 h 132"/>
                <a:gd name="T6" fmla="*/ 14 w 117"/>
                <a:gd name="T7" fmla="*/ 29 h 132"/>
                <a:gd name="T8" fmla="*/ 29 w 117"/>
                <a:gd name="T9" fmla="*/ 36 h 132"/>
                <a:gd name="T10" fmla="*/ 46 w 117"/>
                <a:gd name="T11" fmla="*/ 47 h 132"/>
                <a:gd name="T12" fmla="*/ 66 w 117"/>
                <a:gd name="T13" fmla="*/ 62 h 132"/>
                <a:gd name="T14" fmla="*/ 84 w 117"/>
                <a:gd name="T15" fmla="*/ 80 h 132"/>
                <a:gd name="T16" fmla="*/ 102 w 117"/>
                <a:gd name="T17" fmla="*/ 103 h 132"/>
                <a:gd name="T18" fmla="*/ 116 w 117"/>
                <a:gd name="T19" fmla="*/ 132 h 132"/>
                <a:gd name="T20" fmla="*/ 117 w 117"/>
                <a:gd name="T21" fmla="*/ 120 h 132"/>
                <a:gd name="T22" fmla="*/ 115 w 117"/>
                <a:gd name="T23" fmla="*/ 107 h 132"/>
                <a:gd name="T24" fmla="*/ 108 w 117"/>
                <a:gd name="T25" fmla="*/ 90 h 132"/>
                <a:gd name="T26" fmla="*/ 99 w 117"/>
                <a:gd name="T27" fmla="*/ 74 h 132"/>
                <a:gd name="T28" fmla="*/ 89 w 117"/>
                <a:gd name="T29" fmla="*/ 58 h 132"/>
                <a:gd name="T30" fmla="*/ 78 w 117"/>
                <a:gd name="T31" fmla="*/ 45 h 132"/>
                <a:gd name="T32" fmla="*/ 67 w 117"/>
                <a:gd name="T33" fmla="*/ 36 h 132"/>
                <a:gd name="T34" fmla="*/ 58 w 117"/>
                <a:gd name="T35" fmla="*/ 32 h 132"/>
                <a:gd name="T36" fmla="*/ 69 w 117"/>
                <a:gd name="T37" fmla="*/ 29 h 132"/>
                <a:gd name="T38" fmla="*/ 79 w 117"/>
                <a:gd name="T39" fmla="*/ 28 h 132"/>
                <a:gd name="T40" fmla="*/ 89 w 117"/>
                <a:gd name="T41" fmla="*/ 26 h 132"/>
                <a:gd name="T42" fmla="*/ 98 w 117"/>
                <a:gd name="T43" fmla="*/ 25 h 132"/>
                <a:gd name="T44" fmla="*/ 105 w 117"/>
                <a:gd name="T45" fmla="*/ 24 h 132"/>
                <a:gd name="T46" fmla="*/ 109 w 117"/>
                <a:gd name="T47" fmla="*/ 22 h 132"/>
                <a:gd name="T48" fmla="*/ 113 w 117"/>
                <a:gd name="T49" fmla="*/ 21 h 132"/>
                <a:gd name="T50" fmla="*/ 114 w 117"/>
                <a:gd name="T51" fmla="*/ 21 h 132"/>
                <a:gd name="T52" fmla="*/ 75 w 117"/>
                <a:gd name="T53" fmla="*/ 0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17" h="132">
                  <a:moveTo>
                    <a:pt x="75" y="0"/>
                  </a:moveTo>
                  <a:lnTo>
                    <a:pt x="0" y="25"/>
                  </a:lnTo>
                  <a:lnTo>
                    <a:pt x="3" y="26"/>
                  </a:lnTo>
                  <a:lnTo>
                    <a:pt x="14" y="29"/>
                  </a:lnTo>
                  <a:lnTo>
                    <a:pt x="29" y="36"/>
                  </a:lnTo>
                  <a:lnTo>
                    <a:pt x="46" y="47"/>
                  </a:lnTo>
                  <a:lnTo>
                    <a:pt x="66" y="62"/>
                  </a:lnTo>
                  <a:lnTo>
                    <a:pt x="84" y="80"/>
                  </a:lnTo>
                  <a:lnTo>
                    <a:pt x="102" y="103"/>
                  </a:lnTo>
                  <a:lnTo>
                    <a:pt x="116" y="132"/>
                  </a:lnTo>
                  <a:lnTo>
                    <a:pt x="117" y="120"/>
                  </a:lnTo>
                  <a:lnTo>
                    <a:pt x="115" y="107"/>
                  </a:lnTo>
                  <a:lnTo>
                    <a:pt x="108" y="90"/>
                  </a:lnTo>
                  <a:lnTo>
                    <a:pt x="99" y="74"/>
                  </a:lnTo>
                  <a:lnTo>
                    <a:pt x="89" y="58"/>
                  </a:lnTo>
                  <a:lnTo>
                    <a:pt x="78" y="45"/>
                  </a:lnTo>
                  <a:lnTo>
                    <a:pt x="67" y="36"/>
                  </a:lnTo>
                  <a:lnTo>
                    <a:pt x="58" y="32"/>
                  </a:lnTo>
                  <a:lnTo>
                    <a:pt x="69" y="29"/>
                  </a:lnTo>
                  <a:lnTo>
                    <a:pt x="79" y="28"/>
                  </a:lnTo>
                  <a:lnTo>
                    <a:pt x="89" y="26"/>
                  </a:lnTo>
                  <a:lnTo>
                    <a:pt x="98" y="25"/>
                  </a:lnTo>
                  <a:lnTo>
                    <a:pt x="105" y="24"/>
                  </a:lnTo>
                  <a:lnTo>
                    <a:pt x="109" y="22"/>
                  </a:lnTo>
                  <a:lnTo>
                    <a:pt x="113" y="21"/>
                  </a:lnTo>
                  <a:lnTo>
                    <a:pt x="114" y="21"/>
                  </a:lnTo>
                  <a:lnTo>
                    <a:pt x="75" y="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305167" name="Freeform 15"/>
            <p:cNvSpPr>
              <a:spLocks/>
            </p:cNvSpPr>
            <p:nvPr userDrawn="1"/>
          </p:nvSpPr>
          <p:spPr bwMode="ltGray">
            <a:xfrm rot="373331" flipH="1">
              <a:off x="799" y="2979"/>
              <a:ext cx="87" cy="274"/>
            </a:xfrm>
            <a:custGeom>
              <a:avLst/>
              <a:gdLst>
                <a:gd name="T0" fmla="*/ 29 w 29"/>
                <a:gd name="T1" fmla="*/ 0 h 77"/>
                <a:gd name="T2" fmla="*/ 23 w 29"/>
                <a:gd name="T3" fmla="*/ 0 h 77"/>
                <a:gd name="T4" fmla="*/ 16 w 29"/>
                <a:gd name="T5" fmla="*/ 4 h 77"/>
                <a:gd name="T6" fmla="*/ 9 w 29"/>
                <a:gd name="T7" fmla="*/ 9 h 77"/>
                <a:gd name="T8" fmla="*/ 4 w 29"/>
                <a:gd name="T9" fmla="*/ 19 h 77"/>
                <a:gd name="T10" fmla="*/ 1 w 29"/>
                <a:gd name="T11" fmla="*/ 30 h 77"/>
                <a:gd name="T12" fmla="*/ 0 w 29"/>
                <a:gd name="T13" fmla="*/ 44 h 77"/>
                <a:gd name="T14" fmla="*/ 3 w 29"/>
                <a:gd name="T15" fmla="*/ 60 h 77"/>
                <a:gd name="T16" fmla="*/ 11 w 29"/>
                <a:gd name="T17" fmla="*/ 77 h 77"/>
                <a:gd name="T18" fmla="*/ 15 w 29"/>
                <a:gd name="T19" fmla="*/ 53 h 77"/>
                <a:gd name="T20" fmla="*/ 19 w 29"/>
                <a:gd name="T21" fmla="*/ 37 h 77"/>
                <a:gd name="T22" fmla="*/ 23 w 29"/>
                <a:gd name="T23" fmla="*/ 22 h 77"/>
                <a:gd name="T24" fmla="*/ 29 w 29"/>
                <a:gd name="T25" fmla="*/ 0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9" h="77">
                  <a:moveTo>
                    <a:pt x="29" y="0"/>
                  </a:moveTo>
                  <a:lnTo>
                    <a:pt x="23" y="0"/>
                  </a:lnTo>
                  <a:lnTo>
                    <a:pt x="16" y="4"/>
                  </a:lnTo>
                  <a:lnTo>
                    <a:pt x="9" y="9"/>
                  </a:lnTo>
                  <a:lnTo>
                    <a:pt x="4" y="19"/>
                  </a:lnTo>
                  <a:lnTo>
                    <a:pt x="1" y="30"/>
                  </a:lnTo>
                  <a:lnTo>
                    <a:pt x="0" y="44"/>
                  </a:lnTo>
                  <a:lnTo>
                    <a:pt x="3" y="60"/>
                  </a:lnTo>
                  <a:lnTo>
                    <a:pt x="11" y="77"/>
                  </a:lnTo>
                  <a:lnTo>
                    <a:pt x="15" y="53"/>
                  </a:lnTo>
                  <a:lnTo>
                    <a:pt x="19" y="37"/>
                  </a:lnTo>
                  <a:lnTo>
                    <a:pt x="23" y="22"/>
                  </a:lnTo>
                  <a:lnTo>
                    <a:pt x="29" y="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305168" name="Freeform 16"/>
            <p:cNvSpPr>
              <a:spLocks/>
            </p:cNvSpPr>
            <p:nvPr userDrawn="1"/>
          </p:nvSpPr>
          <p:spPr bwMode="ltGray">
            <a:xfrm>
              <a:off x="1190" y="3273"/>
              <a:ext cx="1108" cy="1047"/>
            </a:xfrm>
            <a:custGeom>
              <a:avLst/>
              <a:gdLst>
                <a:gd name="T0" fmla="*/ 784 w 1108"/>
                <a:gd name="T1" fmla="*/ 1047 h 1047"/>
                <a:gd name="T2" fmla="*/ 692 w 1108"/>
                <a:gd name="T3" fmla="*/ 1011 h 1047"/>
                <a:gd name="T4" fmla="*/ 607 w 1108"/>
                <a:gd name="T5" fmla="*/ 945 h 1047"/>
                <a:gd name="T6" fmla="*/ 517 w 1108"/>
                <a:gd name="T7" fmla="*/ 861 h 1047"/>
                <a:gd name="T8" fmla="*/ 432 w 1108"/>
                <a:gd name="T9" fmla="*/ 776 h 1047"/>
                <a:gd name="T10" fmla="*/ 350 w 1108"/>
                <a:gd name="T11" fmla="*/ 677 h 1047"/>
                <a:gd name="T12" fmla="*/ 266 w 1108"/>
                <a:gd name="T13" fmla="*/ 563 h 1047"/>
                <a:gd name="T14" fmla="*/ 188 w 1108"/>
                <a:gd name="T15" fmla="*/ 447 h 1047"/>
                <a:gd name="T16" fmla="*/ 122 w 1108"/>
                <a:gd name="T17" fmla="*/ 325 h 1047"/>
                <a:gd name="T18" fmla="*/ 65 w 1108"/>
                <a:gd name="T19" fmla="*/ 211 h 1047"/>
                <a:gd name="T20" fmla="*/ 21 w 1108"/>
                <a:gd name="T21" fmla="*/ 101 h 1047"/>
                <a:gd name="T22" fmla="*/ 0 w 1108"/>
                <a:gd name="T23" fmla="*/ 0 h 1047"/>
                <a:gd name="T24" fmla="*/ 109 w 1108"/>
                <a:gd name="T25" fmla="*/ 217 h 1047"/>
                <a:gd name="T26" fmla="*/ 209 w 1108"/>
                <a:gd name="T27" fmla="*/ 378 h 1047"/>
                <a:gd name="T28" fmla="*/ 294 w 1108"/>
                <a:gd name="T29" fmla="*/ 500 h 1047"/>
                <a:gd name="T30" fmla="*/ 373 w 1108"/>
                <a:gd name="T31" fmla="*/ 590 h 1047"/>
                <a:gd name="T32" fmla="*/ 441 w 1108"/>
                <a:gd name="T33" fmla="*/ 661 h 1047"/>
                <a:gd name="T34" fmla="*/ 506 w 1108"/>
                <a:gd name="T35" fmla="*/ 713 h 1047"/>
                <a:gd name="T36" fmla="*/ 564 w 1108"/>
                <a:gd name="T37" fmla="*/ 754 h 1047"/>
                <a:gd name="T38" fmla="*/ 620 w 1108"/>
                <a:gd name="T39" fmla="*/ 801 h 1047"/>
                <a:gd name="T40" fmla="*/ 754 w 1108"/>
                <a:gd name="T41" fmla="*/ 899 h 1047"/>
                <a:gd name="T42" fmla="*/ 925 w 1108"/>
                <a:gd name="T43" fmla="*/ 977 h 1047"/>
                <a:gd name="T44" fmla="*/ 1108 w 1108"/>
                <a:gd name="T45" fmla="*/ 1047 h 1047"/>
                <a:gd name="T46" fmla="*/ 784 w 1108"/>
                <a:gd name="T47" fmla="*/ 1047 h 10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108" h="1047">
                  <a:moveTo>
                    <a:pt x="784" y="1047"/>
                  </a:moveTo>
                  <a:lnTo>
                    <a:pt x="692" y="1011"/>
                  </a:lnTo>
                  <a:lnTo>
                    <a:pt x="607" y="945"/>
                  </a:lnTo>
                  <a:lnTo>
                    <a:pt x="517" y="861"/>
                  </a:lnTo>
                  <a:lnTo>
                    <a:pt x="432" y="776"/>
                  </a:lnTo>
                  <a:lnTo>
                    <a:pt x="350" y="677"/>
                  </a:lnTo>
                  <a:lnTo>
                    <a:pt x="266" y="563"/>
                  </a:lnTo>
                  <a:lnTo>
                    <a:pt x="188" y="447"/>
                  </a:lnTo>
                  <a:lnTo>
                    <a:pt x="122" y="325"/>
                  </a:lnTo>
                  <a:lnTo>
                    <a:pt x="65" y="211"/>
                  </a:lnTo>
                  <a:lnTo>
                    <a:pt x="21" y="101"/>
                  </a:lnTo>
                  <a:lnTo>
                    <a:pt x="0" y="0"/>
                  </a:lnTo>
                  <a:lnTo>
                    <a:pt x="109" y="217"/>
                  </a:lnTo>
                  <a:lnTo>
                    <a:pt x="209" y="378"/>
                  </a:lnTo>
                  <a:lnTo>
                    <a:pt x="294" y="500"/>
                  </a:lnTo>
                  <a:lnTo>
                    <a:pt x="373" y="590"/>
                  </a:lnTo>
                  <a:lnTo>
                    <a:pt x="441" y="661"/>
                  </a:lnTo>
                  <a:lnTo>
                    <a:pt x="506" y="713"/>
                  </a:lnTo>
                  <a:lnTo>
                    <a:pt x="564" y="754"/>
                  </a:lnTo>
                  <a:lnTo>
                    <a:pt x="620" y="801"/>
                  </a:lnTo>
                  <a:lnTo>
                    <a:pt x="754" y="899"/>
                  </a:lnTo>
                  <a:lnTo>
                    <a:pt x="925" y="977"/>
                  </a:lnTo>
                  <a:lnTo>
                    <a:pt x="1108" y="1047"/>
                  </a:lnTo>
                  <a:lnTo>
                    <a:pt x="784" y="1047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grpSp>
          <p:nvGrpSpPr>
            <p:cNvPr id="305169" name="Group 17"/>
            <p:cNvGrpSpPr>
              <a:grpSpLocks/>
            </p:cNvGrpSpPr>
            <p:nvPr userDrawn="1"/>
          </p:nvGrpSpPr>
          <p:grpSpPr bwMode="auto">
            <a:xfrm rot="3220060">
              <a:off x="2631" y="754"/>
              <a:ext cx="569" cy="637"/>
              <a:chOff x="1727" y="866"/>
              <a:chExt cx="129" cy="157"/>
            </a:xfrm>
          </p:grpSpPr>
          <p:sp>
            <p:nvSpPr>
              <p:cNvPr id="305170" name="Freeform 18"/>
              <p:cNvSpPr>
                <a:spLocks/>
              </p:cNvSpPr>
              <p:nvPr userDrawn="1"/>
            </p:nvSpPr>
            <p:spPr bwMode="ltGray">
              <a:xfrm>
                <a:off x="1727" y="866"/>
                <a:ext cx="41" cy="59"/>
              </a:xfrm>
              <a:custGeom>
                <a:avLst/>
                <a:gdLst>
                  <a:gd name="T0" fmla="*/ 83 w 83"/>
                  <a:gd name="T1" fmla="*/ 28 h 117"/>
                  <a:gd name="T2" fmla="*/ 27 w 83"/>
                  <a:gd name="T3" fmla="*/ 0 h 117"/>
                  <a:gd name="T4" fmla="*/ 0 w 83"/>
                  <a:gd name="T5" fmla="*/ 117 h 117"/>
                  <a:gd name="T6" fmla="*/ 83 w 83"/>
                  <a:gd name="T7" fmla="*/ 28 h 1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83" h="117">
                    <a:moveTo>
                      <a:pt x="83" y="28"/>
                    </a:moveTo>
                    <a:lnTo>
                      <a:pt x="27" y="0"/>
                    </a:lnTo>
                    <a:lnTo>
                      <a:pt x="0" y="117"/>
                    </a:lnTo>
                    <a:lnTo>
                      <a:pt x="83" y="2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305171" name="Freeform 19"/>
              <p:cNvSpPr>
                <a:spLocks/>
              </p:cNvSpPr>
              <p:nvPr userDrawn="1"/>
            </p:nvSpPr>
            <p:spPr bwMode="ltGray">
              <a:xfrm>
                <a:off x="1786" y="894"/>
                <a:ext cx="70" cy="49"/>
              </a:xfrm>
              <a:custGeom>
                <a:avLst/>
                <a:gdLst>
                  <a:gd name="T0" fmla="*/ 0 w 140"/>
                  <a:gd name="T1" fmla="*/ 98 h 98"/>
                  <a:gd name="T2" fmla="*/ 118 w 140"/>
                  <a:gd name="T3" fmla="*/ 0 h 98"/>
                  <a:gd name="T4" fmla="*/ 140 w 140"/>
                  <a:gd name="T5" fmla="*/ 49 h 98"/>
                  <a:gd name="T6" fmla="*/ 0 w 140"/>
                  <a:gd name="T7" fmla="*/ 98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0" h="98">
                    <a:moveTo>
                      <a:pt x="0" y="98"/>
                    </a:moveTo>
                    <a:lnTo>
                      <a:pt x="118" y="0"/>
                    </a:lnTo>
                    <a:lnTo>
                      <a:pt x="140" y="49"/>
                    </a:lnTo>
                    <a:lnTo>
                      <a:pt x="0" y="9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305172" name="Freeform 20"/>
              <p:cNvSpPr>
                <a:spLocks/>
              </p:cNvSpPr>
              <p:nvPr userDrawn="1"/>
            </p:nvSpPr>
            <p:spPr bwMode="ltGray">
              <a:xfrm>
                <a:off x="1772" y="998"/>
                <a:ext cx="73" cy="25"/>
              </a:xfrm>
              <a:custGeom>
                <a:avLst/>
                <a:gdLst>
                  <a:gd name="T0" fmla="*/ 0 w 145"/>
                  <a:gd name="T1" fmla="*/ 7 h 49"/>
                  <a:gd name="T2" fmla="*/ 145 w 145"/>
                  <a:gd name="T3" fmla="*/ 0 h 49"/>
                  <a:gd name="T4" fmla="*/ 131 w 145"/>
                  <a:gd name="T5" fmla="*/ 49 h 49"/>
                  <a:gd name="T6" fmla="*/ 0 w 145"/>
                  <a:gd name="T7" fmla="*/ 7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5" h="49">
                    <a:moveTo>
                      <a:pt x="0" y="7"/>
                    </a:moveTo>
                    <a:lnTo>
                      <a:pt x="145" y="0"/>
                    </a:lnTo>
                    <a:lnTo>
                      <a:pt x="131" y="49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</p:grpSp>
        <p:grpSp>
          <p:nvGrpSpPr>
            <p:cNvPr id="305173" name="Group 21"/>
            <p:cNvGrpSpPr>
              <a:grpSpLocks/>
            </p:cNvGrpSpPr>
            <p:nvPr userDrawn="1"/>
          </p:nvGrpSpPr>
          <p:grpSpPr bwMode="auto">
            <a:xfrm rot="-6691250">
              <a:off x="3637" y="132"/>
              <a:ext cx="356" cy="607"/>
              <a:chOff x="1727" y="866"/>
              <a:chExt cx="129" cy="157"/>
            </a:xfrm>
          </p:grpSpPr>
          <p:sp>
            <p:nvSpPr>
              <p:cNvPr id="305174" name="Freeform 22"/>
              <p:cNvSpPr>
                <a:spLocks/>
              </p:cNvSpPr>
              <p:nvPr userDrawn="1"/>
            </p:nvSpPr>
            <p:spPr bwMode="ltGray">
              <a:xfrm>
                <a:off x="1727" y="866"/>
                <a:ext cx="41" cy="59"/>
              </a:xfrm>
              <a:custGeom>
                <a:avLst/>
                <a:gdLst>
                  <a:gd name="T0" fmla="*/ 83 w 83"/>
                  <a:gd name="T1" fmla="*/ 28 h 117"/>
                  <a:gd name="T2" fmla="*/ 27 w 83"/>
                  <a:gd name="T3" fmla="*/ 0 h 117"/>
                  <a:gd name="T4" fmla="*/ 0 w 83"/>
                  <a:gd name="T5" fmla="*/ 117 h 117"/>
                  <a:gd name="T6" fmla="*/ 83 w 83"/>
                  <a:gd name="T7" fmla="*/ 28 h 1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83" h="117">
                    <a:moveTo>
                      <a:pt x="83" y="28"/>
                    </a:moveTo>
                    <a:lnTo>
                      <a:pt x="27" y="0"/>
                    </a:lnTo>
                    <a:lnTo>
                      <a:pt x="0" y="117"/>
                    </a:lnTo>
                    <a:lnTo>
                      <a:pt x="83" y="2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305175" name="Freeform 23"/>
              <p:cNvSpPr>
                <a:spLocks/>
              </p:cNvSpPr>
              <p:nvPr userDrawn="1"/>
            </p:nvSpPr>
            <p:spPr bwMode="ltGray">
              <a:xfrm>
                <a:off x="1786" y="894"/>
                <a:ext cx="70" cy="49"/>
              </a:xfrm>
              <a:custGeom>
                <a:avLst/>
                <a:gdLst>
                  <a:gd name="T0" fmla="*/ 0 w 140"/>
                  <a:gd name="T1" fmla="*/ 98 h 98"/>
                  <a:gd name="T2" fmla="*/ 118 w 140"/>
                  <a:gd name="T3" fmla="*/ 0 h 98"/>
                  <a:gd name="T4" fmla="*/ 140 w 140"/>
                  <a:gd name="T5" fmla="*/ 49 h 98"/>
                  <a:gd name="T6" fmla="*/ 0 w 140"/>
                  <a:gd name="T7" fmla="*/ 98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0" h="98">
                    <a:moveTo>
                      <a:pt x="0" y="98"/>
                    </a:moveTo>
                    <a:lnTo>
                      <a:pt x="118" y="0"/>
                    </a:lnTo>
                    <a:lnTo>
                      <a:pt x="140" y="49"/>
                    </a:lnTo>
                    <a:lnTo>
                      <a:pt x="0" y="9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305176" name="Freeform 24"/>
              <p:cNvSpPr>
                <a:spLocks/>
              </p:cNvSpPr>
              <p:nvPr userDrawn="1"/>
            </p:nvSpPr>
            <p:spPr bwMode="ltGray">
              <a:xfrm>
                <a:off x="1772" y="998"/>
                <a:ext cx="73" cy="25"/>
              </a:xfrm>
              <a:custGeom>
                <a:avLst/>
                <a:gdLst>
                  <a:gd name="T0" fmla="*/ 0 w 145"/>
                  <a:gd name="T1" fmla="*/ 7 h 49"/>
                  <a:gd name="T2" fmla="*/ 145 w 145"/>
                  <a:gd name="T3" fmla="*/ 0 h 49"/>
                  <a:gd name="T4" fmla="*/ 131 w 145"/>
                  <a:gd name="T5" fmla="*/ 49 h 49"/>
                  <a:gd name="T6" fmla="*/ 0 w 145"/>
                  <a:gd name="T7" fmla="*/ 7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5" h="49">
                    <a:moveTo>
                      <a:pt x="0" y="7"/>
                    </a:moveTo>
                    <a:lnTo>
                      <a:pt x="145" y="0"/>
                    </a:lnTo>
                    <a:lnTo>
                      <a:pt x="131" y="49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</p:grpSp>
        <p:grpSp>
          <p:nvGrpSpPr>
            <p:cNvPr id="305177" name="Group 25"/>
            <p:cNvGrpSpPr>
              <a:grpSpLocks/>
            </p:cNvGrpSpPr>
            <p:nvPr userDrawn="1"/>
          </p:nvGrpSpPr>
          <p:grpSpPr bwMode="auto">
            <a:xfrm rot="-13075160">
              <a:off x="668" y="3321"/>
              <a:ext cx="501" cy="502"/>
              <a:chOff x="1727" y="866"/>
              <a:chExt cx="129" cy="157"/>
            </a:xfrm>
          </p:grpSpPr>
          <p:sp>
            <p:nvSpPr>
              <p:cNvPr id="305178" name="Freeform 26"/>
              <p:cNvSpPr>
                <a:spLocks/>
              </p:cNvSpPr>
              <p:nvPr userDrawn="1"/>
            </p:nvSpPr>
            <p:spPr bwMode="ltGray">
              <a:xfrm>
                <a:off x="1727" y="866"/>
                <a:ext cx="41" cy="59"/>
              </a:xfrm>
              <a:custGeom>
                <a:avLst/>
                <a:gdLst>
                  <a:gd name="T0" fmla="*/ 83 w 83"/>
                  <a:gd name="T1" fmla="*/ 28 h 117"/>
                  <a:gd name="T2" fmla="*/ 27 w 83"/>
                  <a:gd name="T3" fmla="*/ 0 h 117"/>
                  <a:gd name="T4" fmla="*/ 0 w 83"/>
                  <a:gd name="T5" fmla="*/ 117 h 117"/>
                  <a:gd name="T6" fmla="*/ 83 w 83"/>
                  <a:gd name="T7" fmla="*/ 28 h 1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83" h="117">
                    <a:moveTo>
                      <a:pt x="83" y="28"/>
                    </a:moveTo>
                    <a:lnTo>
                      <a:pt x="27" y="0"/>
                    </a:lnTo>
                    <a:lnTo>
                      <a:pt x="0" y="117"/>
                    </a:lnTo>
                    <a:lnTo>
                      <a:pt x="83" y="2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305179" name="Freeform 27"/>
              <p:cNvSpPr>
                <a:spLocks/>
              </p:cNvSpPr>
              <p:nvPr userDrawn="1"/>
            </p:nvSpPr>
            <p:spPr bwMode="ltGray">
              <a:xfrm>
                <a:off x="1786" y="894"/>
                <a:ext cx="70" cy="49"/>
              </a:xfrm>
              <a:custGeom>
                <a:avLst/>
                <a:gdLst>
                  <a:gd name="T0" fmla="*/ 0 w 140"/>
                  <a:gd name="T1" fmla="*/ 98 h 98"/>
                  <a:gd name="T2" fmla="*/ 118 w 140"/>
                  <a:gd name="T3" fmla="*/ 0 h 98"/>
                  <a:gd name="T4" fmla="*/ 140 w 140"/>
                  <a:gd name="T5" fmla="*/ 49 h 98"/>
                  <a:gd name="T6" fmla="*/ 0 w 140"/>
                  <a:gd name="T7" fmla="*/ 98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0" h="98">
                    <a:moveTo>
                      <a:pt x="0" y="98"/>
                    </a:moveTo>
                    <a:lnTo>
                      <a:pt x="118" y="0"/>
                    </a:lnTo>
                    <a:lnTo>
                      <a:pt x="140" y="49"/>
                    </a:lnTo>
                    <a:lnTo>
                      <a:pt x="0" y="9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305180" name="Freeform 28"/>
              <p:cNvSpPr>
                <a:spLocks/>
              </p:cNvSpPr>
              <p:nvPr userDrawn="1"/>
            </p:nvSpPr>
            <p:spPr bwMode="ltGray">
              <a:xfrm>
                <a:off x="1772" y="998"/>
                <a:ext cx="73" cy="25"/>
              </a:xfrm>
              <a:custGeom>
                <a:avLst/>
                <a:gdLst>
                  <a:gd name="T0" fmla="*/ 0 w 145"/>
                  <a:gd name="T1" fmla="*/ 7 h 49"/>
                  <a:gd name="T2" fmla="*/ 145 w 145"/>
                  <a:gd name="T3" fmla="*/ 0 h 49"/>
                  <a:gd name="T4" fmla="*/ 131 w 145"/>
                  <a:gd name="T5" fmla="*/ 49 h 49"/>
                  <a:gd name="T6" fmla="*/ 0 w 145"/>
                  <a:gd name="T7" fmla="*/ 7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5" h="49">
                    <a:moveTo>
                      <a:pt x="0" y="7"/>
                    </a:moveTo>
                    <a:lnTo>
                      <a:pt x="145" y="0"/>
                    </a:lnTo>
                    <a:lnTo>
                      <a:pt x="131" y="49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</p:grpSp>
        <p:grpSp>
          <p:nvGrpSpPr>
            <p:cNvPr id="305181" name="Group 29"/>
            <p:cNvGrpSpPr>
              <a:grpSpLocks/>
            </p:cNvGrpSpPr>
            <p:nvPr userDrawn="1"/>
          </p:nvGrpSpPr>
          <p:grpSpPr bwMode="auto">
            <a:xfrm rot="4106450" flipH="1">
              <a:off x="393" y="262"/>
              <a:ext cx="709" cy="892"/>
              <a:chOff x="1727" y="866"/>
              <a:chExt cx="129" cy="157"/>
            </a:xfrm>
          </p:grpSpPr>
          <p:sp>
            <p:nvSpPr>
              <p:cNvPr id="305182" name="Freeform 30"/>
              <p:cNvSpPr>
                <a:spLocks/>
              </p:cNvSpPr>
              <p:nvPr userDrawn="1"/>
            </p:nvSpPr>
            <p:spPr bwMode="ltGray">
              <a:xfrm>
                <a:off x="1727" y="866"/>
                <a:ext cx="41" cy="59"/>
              </a:xfrm>
              <a:custGeom>
                <a:avLst/>
                <a:gdLst>
                  <a:gd name="T0" fmla="*/ 83 w 83"/>
                  <a:gd name="T1" fmla="*/ 28 h 117"/>
                  <a:gd name="T2" fmla="*/ 27 w 83"/>
                  <a:gd name="T3" fmla="*/ 0 h 117"/>
                  <a:gd name="T4" fmla="*/ 0 w 83"/>
                  <a:gd name="T5" fmla="*/ 117 h 117"/>
                  <a:gd name="T6" fmla="*/ 83 w 83"/>
                  <a:gd name="T7" fmla="*/ 28 h 1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83" h="117">
                    <a:moveTo>
                      <a:pt x="83" y="28"/>
                    </a:moveTo>
                    <a:lnTo>
                      <a:pt x="27" y="0"/>
                    </a:lnTo>
                    <a:lnTo>
                      <a:pt x="0" y="117"/>
                    </a:lnTo>
                    <a:lnTo>
                      <a:pt x="83" y="2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305183" name="Freeform 31"/>
              <p:cNvSpPr>
                <a:spLocks/>
              </p:cNvSpPr>
              <p:nvPr userDrawn="1"/>
            </p:nvSpPr>
            <p:spPr bwMode="ltGray">
              <a:xfrm>
                <a:off x="1786" y="894"/>
                <a:ext cx="70" cy="49"/>
              </a:xfrm>
              <a:custGeom>
                <a:avLst/>
                <a:gdLst>
                  <a:gd name="T0" fmla="*/ 0 w 140"/>
                  <a:gd name="T1" fmla="*/ 98 h 98"/>
                  <a:gd name="T2" fmla="*/ 118 w 140"/>
                  <a:gd name="T3" fmla="*/ 0 h 98"/>
                  <a:gd name="T4" fmla="*/ 140 w 140"/>
                  <a:gd name="T5" fmla="*/ 49 h 98"/>
                  <a:gd name="T6" fmla="*/ 0 w 140"/>
                  <a:gd name="T7" fmla="*/ 98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0" h="98">
                    <a:moveTo>
                      <a:pt x="0" y="98"/>
                    </a:moveTo>
                    <a:lnTo>
                      <a:pt x="118" y="0"/>
                    </a:lnTo>
                    <a:lnTo>
                      <a:pt x="140" y="49"/>
                    </a:lnTo>
                    <a:lnTo>
                      <a:pt x="0" y="9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305184" name="Freeform 32"/>
              <p:cNvSpPr>
                <a:spLocks/>
              </p:cNvSpPr>
              <p:nvPr userDrawn="1"/>
            </p:nvSpPr>
            <p:spPr bwMode="ltGray">
              <a:xfrm>
                <a:off x="1772" y="998"/>
                <a:ext cx="73" cy="25"/>
              </a:xfrm>
              <a:custGeom>
                <a:avLst/>
                <a:gdLst>
                  <a:gd name="T0" fmla="*/ 0 w 145"/>
                  <a:gd name="T1" fmla="*/ 7 h 49"/>
                  <a:gd name="T2" fmla="*/ 145 w 145"/>
                  <a:gd name="T3" fmla="*/ 0 h 49"/>
                  <a:gd name="T4" fmla="*/ 131 w 145"/>
                  <a:gd name="T5" fmla="*/ 49 h 49"/>
                  <a:gd name="T6" fmla="*/ 0 w 145"/>
                  <a:gd name="T7" fmla="*/ 7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5" h="49">
                    <a:moveTo>
                      <a:pt x="0" y="7"/>
                    </a:moveTo>
                    <a:lnTo>
                      <a:pt x="145" y="0"/>
                    </a:lnTo>
                    <a:lnTo>
                      <a:pt x="131" y="49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</p:grpSp>
        <p:grpSp>
          <p:nvGrpSpPr>
            <p:cNvPr id="305185" name="Group 33"/>
            <p:cNvGrpSpPr>
              <a:grpSpLocks/>
            </p:cNvGrpSpPr>
            <p:nvPr userDrawn="1"/>
          </p:nvGrpSpPr>
          <p:grpSpPr bwMode="auto">
            <a:xfrm rot="10015322" flipH="1">
              <a:off x="4625" y="2382"/>
              <a:ext cx="709" cy="892"/>
              <a:chOff x="1727" y="866"/>
              <a:chExt cx="129" cy="157"/>
            </a:xfrm>
          </p:grpSpPr>
          <p:sp>
            <p:nvSpPr>
              <p:cNvPr id="305186" name="Freeform 34"/>
              <p:cNvSpPr>
                <a:spLocks/>
              </p:cNvSpPr>
              <p:nvPr userDrawn="1"/>
            </p:nvSpPr>
            <p:spPr bwMode="ltGray">
              <a:xfrm>
                <a:off x="1727" y="866"/>
                <a:ext cx="41" cy="59"/>
              </a:xfrm>
              <a:custGeom>
                <a:avLst/>
                <a:gdLst>
                  <a:gd name="T0" fmla="*/ 83 w 83"/>
                  <a:gd name="T1" fmla="*/ 28 h 117"/>
                  <a:gd name="T2" fmla="*/ 27 w 83"/>
                  <a:gd name="T3" fmla="*/ 0 h 117"/>
                  <a:gd name="T4" fmla="*/ 0 w 83"/>
                  <a:gd name="T5" fmla="*/ 117 h 117"/>
                  <a:gd name="T6" fmla="*/ 83 w 83"/>
                  <a:gd name="T7" fmla="*/ 28 h 1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83" h="117">
                    <a:moveTo>
                      <a:pt x="83" y="28"/>
                    </a:moveTo>
                    <a:lnTo>
                      <a:pt x="27" y="0"/>
                    </a:lnTo>
                    <a:lnTo>
                      <a:pt x="0" y="117"/>
                    </a:lnTo>
                    <a:lnTo>
                      <a:pt x="83" y="2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305187" name="Freeform 35"/>
              <p:cNvSpPr>
                <a:spLocks/>
              </p:cNvSpPr>
              <p:nvPr userDrawn="1"/>
            </p:nvSpPr>
            <p:spPr bwMode="ltGray">
              <a:xfrm>
                <a:off x="1786" y="894"/>
                <a:ext cx="70" cy="49"/>
              </a:xfrm>
              <a:custGeom>
                <a:avLst/>
                <a:gdLst>
                  <a:gd name="T0" fmla="*/ 0 w 140"/>
                  <a:gd name="T1" fmla="*/ 98 h 98"/>
                  <a:gd name="T2" fmla="*/ 118 w 140"/>
                  <a:gd name="T3" fmla="*/ 0 h 98"/>
                  <a:gd name="T4" fmla="*/ 140 w 140"/>
                  <a:gd name="T5" fmla="*/ 49 h 98"/>
                  <a:gd name="T6" fmla="*/ 0 w 140"/>
                  <a:gd name="T7" fmla="*/ 98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0" h="98">
                    <a:moveTo>
                      <a:pt x="0" y="98"/>
                    </a:moveTo>
                    <a:lnTo>
                      <a:pt x="118" y="0"/>
                    </a:lnTo>
                    <a:lnTo>
                      <a:pt x="140" y="49"/>
                    </a:lnTo>
                    <a:lnTo>
                      <a:pt x="0" y="9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305188" name="Freeform 36"/>
              <p:cNvSpPr>
                <a:spLocks/>
              </p:cNvSpPr>
              <p:nvPr userDrawn="1"/>
            </p:nvSpPr>
            <p:spPr bwMode="ltGray">
              <a:xfrm>
                <a:off x="1772" y="998"/>
                <a:ext cx="73" cy="25"/>
              </a:xfrm>
              <a:custGeom>
                <a:avLst/>
                <a:gdLst>
                  <a:gd name="T0" fmla="*/ 0 w 145"/>
                  <a:gd name="T1" fmla="*/ 7 h 49"/>
                  <a:gd name="T2" fmla="*/ 145 w 145"/>
                  <a:gd name="T3" fmla="*/ 0 h 49"/>
                  <a:gd name="T4" fmla="*/ 131 w 145"/>
                  <a:gd name="T5" fmla="*/ 49 h 49"/>
                  <a:gd name="T6" fmla="*/ 0 w 145"/>
                  <a:gd name="T7" fmla="*/ 7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5" h="49">
                    <a:moveTo>
                      <a:pt x="0" y="7"/>
                    </a:moveTo>
                    <a:lnTo>
                      <a:pt x="145" y="0"/>
                    </a:lnTo>
                    <a:lnTo>
                      <a:pt x="131" y="49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</p:grpSp>
        <p:sp>
          <p:nvSpPr>
            <p:cNvPr id="305189" name="Freeform 37"/>
            <p:cNvSpPr>
              <a:spLocks/>
            </p:cNvSpPr>
            <p:nvPr userDrawn="1"/>
          </p:nvSpPr>
          <p:spPr bwMode="ltGray">
            <a:xfrm>
              <a:off x="1217" y="2"/>
              <a:ext cx="862" cy="886"/>
            </a:xfrm>
            <a:custGeom>
              <a:avLst/>
              <a:gdLst>
                <a:gd name="T0" fmla="*/ 0 w 862"/>
                <a:gd name="T1" fmla="*/ 0 h 886"/>
                <a:gd name="T2" fmla="*/ 6 w 862"/>
                <a:gd name="T3" fmla="*/ 107 h 886"/>
                <a:gd name="T4" fmla="*/ 37 w 862"/>
                <a:gd name="T5" fmla="*/ 262 h 886"/>
                <a:gd name="T6" fmla="*/ 83 w 862"/>
                <a:gd name="T7" fmla="*/ 410 h 886"/>
                <a:gd name="T8" fmla="*/ 149 w 862"/>
                <a:gd name="T9" fmla="*/ 546 h 886"/>
                <a:gd name="T10" fmla="*/ 237 w 862"/>
                <a:gd name="T11" fmla="*/ 666 h 886"/>
                <a:gd name="T12" fmla="*/ 338 w 862"/>
                <a:gd name="T13" fmla="*/ 764 h 886"/>
                <a:gd name="T14" fmla="*/ 450 w 862"/>
                <a:gd name="T15" fmla="*/ 838 h 886"/>
                <a:gd name="T16" fmla="*/ 579 w 862"/>
                <a:gd name="T17" fmla="*/ 879 h 886"/>
                <a:gd name="T18" fmla="*/ 714 w 862"/>
                <a:gd name="T19" fmla="*/ 886 h 886"/>
                <a:gd name="T20" fmla="*/ 862 w 862"/>
                <a:gd name="T21" fmla="*/ 851 h 886"/>
                <a:gd name="T22" fmla="*/ 784 w 862"/>
                <a:gd name="T23" fmla="*/ 856 h 886"/>
                <a:gd name="T24" fmla="*/ 700 w 862"/>
                <a:gd name="T25" fmla="*/ 835 h 886"/>
                <a:gd name="T26" fmla="*/ 621 w 862"/>
                <a:gd name="T27" fmla="*/ 794 h 886"/>
                <a:gd name="T28" fmla="*/ 542 w 862"/>
                <a:gd name="T29" fmla="*/ 728 h 886"/>
                <a:gd name="T30" fmla="*/ 466 w 862"/>
                <a:gd name="T31" fmla="*/ 649 h 886"/>
                <a:gd name="T32" fmla="*/ 397 w 862"/>
                <a:gd name="T33" fmla="*/ 557 h 886"/>
                <a:gd name="T34" fmla="*/ 334 w 862"/>
                <a:gd name="T35" fmla="*/ 454 h 886"/>
                <a:gd name="T36" fmla="*/ 279 w 862"/>
                <a:gd name="T37" fmla="*/ 339 h 886"/>
                <a:gd name="T38" fmla="*/ 238 w 862"/>
                <a:gd name="T39" fmla="*/ 225 h 886"/>
                <a:gd name="T40" fmla="*/ 205 w 862"/>
                <a:gd name="T41" fmla="*/ 105 h 886"/>
                <a:gd name="T42" fmla="*/ 184 w 862"/>
                <a:gd name="T43" fmla="*/ 3 h 8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862" h="886">
                  <a:moveTo>
                    <a:pt x="0" y="0"/>
                  </a:moveTo>
                  <a:lnTo>
                    <a:pt x="6" y="107"/>
                  </a:lnTo>
                  <a:lnTo>
                    <a:pt x="37" y="262"/>
                  </a:lnTo>
                  <a:lnTo>
                    <a:pt x="83" y="410"/>
                  </a:lnTo>
                  <a:lnTo>
                    <a:pt x="149" y="546"/>
                  </a:lnTo>
                  <a:lnTo>
                    <a:pt x="237" y="666"/>
                  </a:lnTo>
                  <a:lnTo>
                    <a:pt x="338" y="764"/>
                  </a:lnTo>
                  <a:lnTo>
                    <a:pt x="450" y="838"/>
                  </a:lnTo>
                  <a:lnTo>
                    <a:pt x="579" y="879"/>
                  </a:lnTo>
                  <a:lnTo>
                    <a:pt x="714" y="886"/>
                  </a:lnTo>
                  <a:lnTo>
                    <a:pt x="862" y="851"/>
                  </a:lnTo>
                  <a:lnTo>
                    <a:pt x="784" y="856"/>
                  </a:lnTo>
                  <a:lnTo>
                    <a:pt x="700" y="835"/>
                  </a:lnTo>
                  <a:lnTo>
                    <a:pt x="621" y="794"/>
                  </a:lnTo>
                  <a:lnTo>
                    <a:pt x="542" y="728"/>
                  </a:lnTo>
                  <a:lnTo>
                    <a:pt x="466" y="649"/>
                  </a:lnTo>
                  <a:lnTo>
                    <a:pt x="397" y="557"/>
                  </a:lnTo>
                  <a:lnTo>
                    <a:pt x="334" y="454"/>
                  </a:lnTo>
                  <a:lnTo>
                    <a:pt x="279" y="339"/>
                  </a:lnTo>
                  <a:lnTo>
                    <a:pt x="238" y="225"/>
                  </a:lnTo>
                  <a:lnTo>
                    <a:pt x="205" y="105"/>
                  </a:lnTo>
                  <a:lnTo>
                    <a:pt x="184" y="3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305190" name="Freeform 38"/>
            <p:cNvSpPr>
              <a:spLocks/>
            </p:cNvSpPr>
            <p:nvPr userDrawn="1"/>
          </p:nvSpPr>
          <p:spPr bwMode="ltGray">
            <a:xfrm rot="9832527" flipV="1">
              <a:off x="2158" y="102"/>
              <a:ext cx="681" cy="593"/>
            </a:xfrm>
            <a:custGeom>
              <a:avLst/>
              <a:gdLst>
                <a:gd name="T0" fmla="*/ 0 w 257"/>
                <a:gd name="T1" fmla="*/ 0 h 237"/>
                <a:gd name="T2" fmla="*/ 0 w 257"/>
                <a:gd name="T3" fmla="*/ 25 h 237"/>
                <a:gd name="T4" fmla="*/ 3 w 257"/>
                <a:gd name="T5" fmla="*/ 50 h 237"/>
                <a:gd name="T6" fmla="*/ 6 w 257"/>
                <a:gd name="T7" fmla="*/ 75 h 237"/>
                <a:gd name="T8" fmla="*/ 11 w 257"/>
                <a:gd name="T9" fmla="*/ 98 h 237"/>
                <a:gd name="T10" fmla="*/ 18 w 257"/>
                <a:gd name="T11" fmla="*/ 119 h 237"/>
                <a:gd name="T12" fmla="*/ 27 w 257"/>
                <a:gd name="T13" fmla="*/ 141 h 237"/>
                <a:gd name="T14" fmla="*/ 38 w 257"/>
                <a:gd name="T15" fmla="*/ 161 h 237"/>
                <a:gd name="T16" fmla="*/ 51 w 257"/>
                <a:gd name="T17" fmla="*/ 178 h 237"/>
                <a:gd name="T18" fmla="*/ 67 w 257"/>
                <a:gd name="T19" fmla="*/ 194 h 237"/>
                <a:gd name="T20" fmla="*/ 86 w 257"/>
                <a:gd name="T21" fmla="*/ 208 h 237"/>
                <a:gd name="T22" fmla="*/ 106 w 257"/>
                <a:gd name="T23" fmla="*/ 219 h 237"/>
                <a:gd name="T24" fmla="*/ 131 w 257"/>
                <a:gd name="T25" fmla="*/ 228 h 237"/>
                <a:gd name="T26" fmla="*/ 158 w 257"/>
                <a:gd name="T27" fmla="*/ 234 h 237"/>
                <a:gd name="T28" fmla="*/ 188 w 257"/>
                <a:gd name="T29" fmla="*/ 237 h 237"/>
                <a:gd name="T30" fmla="*/ 220 w 257"/>
                <a:gd name="T31" fmla="*/ 236 h 237"/>
                <a:gd name="T32" fmla="*/ 257 w 257"/>
                <a:gd name="T33" fmla="*/ 232 h 237"/>
                <a:gd name="T34" fmla="*/ 224 w 257"/>
                <a:gd name="T35" fmla="*/ 227 h 237"/>
                <a:gd name="T36" fmla="*/ 195 w 257"/>
                <a:gd name="T37" fmla="*/ 220 h 237"/>
                <a:gd name="T38" fmla="*/ 170 w 257"/>
                <a:gd name="T39" fmla="*/ 212 h 237"/>
                <a:gd name="T40" fmla="*/ 148 w 257"/>
                <a:gd name="T41" fmla="*/ 204 h 237"/>
                <a:gd name="T42" fmla="*/ 128 w 257"/>
                <a:gd name="T43" fmla="*/ 193 h 237"/>
                <a:gd name="T44" fmla="*/ 112 w 257"/>
                <a:gd name="T45" fmla="*/ 182 h 237"/>
                <a:gd name="T46" fmla="*/ 97 w 257"/>
                <a:gd name="T47" fmla="*/ 169 h 237"/>
                <a:gd name="T48" fmla="*/ 84 w 257"/>
                <a:gd name="T49" fmla="*/ 155 h 237"/>
                <a:gd name="T50" fmla="*/ 72 w 257"/>
                <a:gd name="T51" fmla="*/ 141 h 237"/>
                <a:gd name="T52" fmla="*/ 61 w 257"/>
                <a:gd name="T53" fmla="*/ 125 h 237"/>
                <a:gd name="T54" fmla="*/ 52 w 257"/>
                <a:gd name="T55" fmla="*/ 107 h 237"/>
                <a:gd name="T56" fmla="*/ 43 w 257"/>
                <a:gd name="T57" fmla="*/ 88 h 237"/>
                <a:gd name="T58" fmla="*/ 33 w 257"/>
                <a:gd name="T59" fmla="*/ 69 h 237"/>
                <a:gd name="T60" fmla="*/ 23 w 257"/>
                <a:gd name="T61" fmla="*/ 47 h 237"/>
                <a:gd name="T62" fmla="*/ 12 w 257"/>
                <a:gd name="T63" fmla="*/ 24 h 237"/>
                <a:gd name="T64" fmla="*/ 0 w 257"/>
                <a:gd name="T65" fmla="*/ 0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57" h="237">
                  <a:moveTo>
                    <a:pt x="0" y="0"/>
                  </a:moveTo>
                  <a:lnTo>
                    <a:pt x="0" y="25"/>
                  </a:lnTo>
                  <a:lnTo>
                    <a:pt x="3" y="50"/>
                  </a:lnTo>
                  <a:lnTo>
                    <a:pt x="6" y="75"/>
                  </a:lnTo>
                  <a:lnTo>
                    <a:pt x="11" y="98"/>
                  </a:lnTo>
                  <a:lnTo>
                    <a:pt x="18" y="119"/>
                  </a:lnTo>
                  <a:lnTo>
                    <a:pt x="27" y="141"/>
                  </a:lnTo>
                  <a:lnTo>
                    <a:pt x="38" y="161"/>
                  </a:lnTo>
                  <a:lnTo>
                    <a:pt x="51" y="178"/>
                  </a:lnTo>
                  <a:lnTo>
                    <a:pt x="67" y="194"/>
                  </a:lnTo>
                  <a:lnTo>
                    <a:pt x="86" y="208"/>
                  </a:lnTo>
                  <a:lnTo>
                    <a:pt x="106" y="219"/>
                  </a:lnTo>
                  <a:lnTo>
                    <a:pt x="131" y="228"/>
                  </a:lnTo>
                  <a:lnTo>
                    <a:pt x="158" y="234"/>
                  </a:lnTo>
                  <a:lnTo>
                    <a:pt x="188" y="237"/>
                  </a:lnTo>
                  <a:lnTo>
                    <a:pt x="220" y="236"/>
                  </a:lnTo>
                  <a:lnTo>
                    <a:pt x="257" y="232"/>
                  </a:lnTo>
                  <a:lnTo>
                    <a:pt x="224" y="227"/>
                  </a:lnTo>
                  <a:lnTo>
                    <a:pt x="195" y="220"/>
                  </a:lnTo>
                  <a:lnTo>
                    <a:pt x="170" y="212"/>
                  </a:lnTo>
                  <a:lnTo>
                    <a:pt x="148" y="204"/>
                  </a:lnTo>
                  <a:lnTo>
                    <a:pt x="128" y="193"/>
                  </a:lnTo>
                  <a:lnTo>
                    <a:pt x="112" y="182"/>
                  </a:lnTo>
                  <a:lnTo>
                    <a:pt x="97" y="169"/>
                  </a:lnTo>
                  <a:lnTo>
                    <a:pt x="84" y="155"/>
                  </a:lnTo>
                  <a:lnTo>
                    <a:pt x="72" y="141"/>
                  </a:lnTo>
                  <a:lnTo>
                    <a:pt x="61" y="125"/>
                  </a:lnTo>
                  <a:lnTo>
                    <a:pt x="52" y="107"/>
                  </a:lnTo>
                  <a:lnTo>
                    <a:pt x="43" y="88"/>
                  </a:lnTo>
                  <a:lnTo>
                    <a:pt x="33" y="69"/>
                  </a:lnTo>
                  <a:lnTo>
                    <a:pt x="23" y="47"/>
                  </a:lnTo>
                  <a:lnTo>
                    <a:pt x="12" y="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305191" name="Freeform 39"/>
            <p:cNvSpPr>
              <a:spLocks/>
            </p:cNvSpPr>
            <p:nvPr userDrawn="1"/>
          </p:nvSpPr>
          <p:spPr bwMode="ltGray">
            <a:xfrm rot="9832527" flipV="1">
              <a:off x="1997" y="858"/>
              <a:ext cx="330" cy="278"/>
            </a:xfrm>
            <a:custGeom>
              <a:avLst/>
              <a:gdLst>
                <a:gd name="T0" fmla="*/ 77 w 124"/>
                <a:gd name="T1" fmla="*/ 0 h 110"/>
                <a:gd name="T2" fmla="*/ 124 w 124"/>
                <a:gd name="T3" fmla="*/ 108 h 110"/>
                <a:gd name="T4" fmla="*/ 120 w 124"/>
                <a:gd name="T5" fmla="*/ 107 h 110"/>
                <a:gd name="T6" fmla="*/ 107 w 124"/>
                <a:gd name="T7" fmla="*/ 105 h 110"/>
                <a:gd name="T8" fmla="*/ 89 w 124"/>
                <a:gd name="T9" fmla="*/ 101 h 110"/>
                <a:gd name="T10" fmla="*/ 68 w 124"/>
                <a:gd name="T11" fmla="*/ 99 h 110"/>
                <a:gd name="T12" fmla="*/ 45 w 124"/>
                <a:gd name="T13" fmla="*/ 97 h 110"/>
                <a:gd name="T14" fmla="*/ 25 w 124"/>
                <a:gd name="T15" fmla="*/ 98 h 110"/>
                <a:gd name="T16" fmla="*/ 9 w 124"/>
                <a:gd name="T17" fmla="*/ 102 h 110"/>
                <a:gd name="T18" fmla="*/ 0 w 124"/>
                <a:gd name="T19" fmla="*/ 110 h 110"/>
                <a:gd name="T20" fmla="*/ 4 w 124"/>
                <a:gd name="T21" fmla="*/ 98 h 110"/>
                <a:gd name="T22" fmla="*/ 8 w 124"/>
                <a:gd name="T23" fmla="*/ 89 h 110"/>
                <a:gd name="T24" fmla="*/ 16 w 124"/>
                <a:gd name="T25" fmla="*/ 82 h 110"/>
                <a:gd name="T26" fmla="*/ 25 w 124"/>
                <a:gd name="T27" fmla="*/ 76 h 110"/>
                <a:gd name="T28" fmla="*/ 36 w 124"/>
                <a:gd name="T29" fmla="*/ 72 h 110"/>
                <a:gd name="T30" fmla="*/ 47 w 124"/>
                <a:gd name="T31" fmla="*/ 71 h 110"/>
                <a:gd name="T32" fmla="*/ 59 w 124"/>
                <a:gd name="T33" fmla="*/ 71 h 110"/>
                <a:gd name="T34" fmla="*/ 72 w 124"/>
                <a:gd name="T35" fmla="*/ 74 h 110"/>
                <a:gd name="T36" fmla="*/ 73 w 124"/>
                <a:gd name="T37" fmla="*/ 71 h 110"/>
                <a:gd name="T38" fmla="*/ 70 w 124"/>
                <a:gd name="T39" fmla="*/ 56 h 110"/>
                <a:gd name="T40" fmla="*/ 67 w 124"/>
                <a:gd name="T41" fmla="*/ 38 h 110"/>
                <a:gd name="T42" fmla="*/ 65 w 124"/>
                <a:gd name="T43" fmla="*/ 30 h 110"/>
                <a:gd name="T44" fmla="*/ 63 w 124"/>
                <a:gd name="T45" fmla="*/ 30 h 110"/>
                <a:gd name="T46" fmla="*/ 61 w 124"/>
                <a:gd name="T47" fmla="*/ 29 h 110"/>
                <a:gd name="T48" fmla="*/ 59 w 124"/>
                <a:gd name="T49" fmla="*/ 26 h 110"/>
                <a:gd name="T50" fmla="*/ 57 w 124"/>
                <a:gd name="T51" fmla="*/ 23 h 110"/>
                <a:gd name="T52" fmla="*/ 57 w 124"/>
                <a:gd name="T53" fmla="*/ 19 h 110"/>
                <a:gd name="T54" fmla="*/ 59 w 124"/>
                <a:gd name="T55" fmla="*/ 14 h 110"/>
                <a:gd name="T56" fmla="*/ 66 w 124"/>
                <a:gd name="T57" fmla="*/ 8 h 110"/>
                <a:gd name="T58" fmla="*/ 77 w 124"/>
                <a:gd name="T59" fmla="*/ 0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124" h="110">
                  <a:moveTo>
                    <a:pt x="77" y="0"/>
                  </a:moveTo>
                  <a:lnTo>
                    <a:pt x="124" y="108"/>
                  </a:lnTo>
                  <a:lnTo>
                    <a:pt x="120" y="107"/>
                  </a:lnTo>
                  <a:lnTo>
                    <a:pt x="107" y="105"/>
                  </a:lnTo>
                  <a:lnTo>
                    <a:pt x="89" y="101"/>
                  </a:lnTo>
                  <a:lnTo>
                    <a:pt x="68" y="99"/>
                  </a:lnTo>
                  <a:lnTo>
                    <a:pt x="45" y="97"/>
                  </a:lnTo>
                  <a:lnTo>
                    <a:pt x="25" y="98"/>
                  </a:lnTo>
                  <a:lnTo>
                    <a:pt x="9" y="102"/>
                  </a:lnTo>
                  <a:lnTo>
                    <a:pt x="0" y="110"/>
                  </a:lnTo>
                  <a:lnTo>
                    <a:pt x="4" y="98"/>
                  </a:lnTo>
                  <a:lnTo>
                    <a:pt x="8" y="89"/>
                  </a:lnTo>
                  <a:lnTo>
                    <a:pt x="16" y="82"/>
                  </a:lnTo>
                  <a:lnTo>
                    <a:pt x="25" y="76"/>
                  </a:lnTo>
                  <a:lnTo>
                    <a:pt x="36" y="72"/>
                  </a:lnTo>
                  <a:lnTo>
                    <a:pt x="47" y="71"/>
                  </a:lnTo>
                  <a:lnTo>
                    <a:pt x="59" y="71"/>
                  </a:lnTo>
                  <a:lnTo>
                    <a:pt x="72" y="74"/>
                  </a:lnTo>
                  <a:lnTo>
                    <a:pt x="73" y="71"/>
                  </a:lnTo>
                  <a:lnTo>
                    <a:pt x="70" y="56"/>
                  </a:lnTo>
                  <a:lnTo>
                    <a:pt x="67" y="38"/>
                  </a:lnTo>
                  <a:lnTo>
                    <a:pt x="65" y="30"/>
                  </a:lnTo>
                  <a:lnTo>
                    <a:pt x="63" y="30"/>
                  </a:lnTo>
                  <a:lnTo>
                    <a:pt x="61" y="29"/>
                  </a:lnTo>
                  <a:lnTo>
                    <a:pt x="59" y="26"/>
                  </a:lnTo>
                  <a:lnTo>
                    <a:pt x="57" y="23"/>
                  </a:lnTo>
                  <a:lnTo>
                    <a:pt x="57" y="19"/>
                  </a:lnTo>
                  <a:lnTo>
                    <a:pt x="59" y="14"/>
                  </a:lnTo>
                  <a:lnTo>
                    <a:pt x="66" y="8"/>
                  </a:lnTo>
                  <a:lnTo>
                    <a:pt x="7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305192" name="Freeform 40"/>
            <p:cNvSpPr>
              <a:spLocks/>
            </p:cNvSpPr>
            <p:nvPr userDrawn="1"/>
          </p:nvSpPr>
          <p:spPr bwMode="ltGray">
            <a:xfrm rot="9832527" flipV="1">
              <a:off x="2224" y="808"/>
              <a:ext cx="123" cy="233"/>
            </a:xfrm>
            <a:custGeom>
              <a:avLst/>
              <a:gdLst>
                <a:gd name="T0" fmla="*/ 31 w 46"/>
                <a:gd name="T1" fmla="*/ 0 h 94"/>
                <a:gd name="T2" fmla="*/ 20 w 46"/>
                <a:gd name="T3" fmla="*/ 38 h 94"/>
                <a:gd name="T4" fmla="*/ 15 w 46"/>
                <a:gd name="T5" fmla="*/ 62 h 94"/>
                <a:gd name="T6" fmla="*/ 11 w 46"/>
                <a:gd name="T7" fmla="*/ 79 h 94"/>
                <a:gd name="T8" fmla="*/ 0 w 46"/>
                <a:gd name="T9" fmla="*/ 94 h 94"/>
                <a:gd name="T10" fmla="*/ 12 w 46"/>
                <a:gd name="T11" fmla="*/ 88 h 94"/>
                <a:gd name="T12" fmla="*/ 23 w 46"/>
                <a:gd name="T13" fmla="*/ 80 h 94"/>
                <a:gd name="T14" fmla="*/ 32 w 46"/>
                <a:gd name="T15" fmla="*/ 69 h 94"/>
                <a:gd name="T16" fmla="*/ 40 w 46"/>
                <a:gd name="T17" fmla="*/ 57 h 94"/>
                <a:gd name="T18" fmla="*/ 45 w 46"/>
                <a:gd name="T19" fmla="*/ 44 h 94"/>
                <a:gd name="T20" fmla="*/ 46 w 46"/>
                <a:gd name="T21" fmla="*/ 30 h 94"/>
                <a:gd name="T22" fmla="*/ 42 w 46"/>
                <a:gd name="T23" fmla="*/ 15 h 94"/>
                <a:gd name="T24" fmla="*/ 31 w 46"/>
                <a:gd name="T25" fmla="*/ 0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6" h="94">
                  <a:moveTo>
                    <a:pt x="31" y="0"/>
                  </a:moveTo>
                  <a:lnTo>
                    <a:pt x="20" y="38"/>
                  </a:lnTo>
                  <a:lnTo>
                    <a:pt x="15" y="62"/>
                  </a:lnTo>
                  <a:lnTo>
                    <a:pt x="11" y="79"/>
                  </a:lnTo>
                  <a:lnTo>
                    <a:pt x="0" y="94"/>
                  </a:lnTo>
                  <a:lnTo>
                    <a:pt x="12" y="88"/>
                  </a:lnTo>
                  <a:lnTo>
                    <a:pt x="23" y="80"/>
                  </a:lnTo>
                  <a:lnTo>
                    <a:pt x="32" y="69"/>
                  </a:lnTo>
                  <a:lnTo>
                    <a:pt x="40" y="57"/>
                  </a:lnTo>
                  <a:lnTo>
                    <a:pt x="45" y="44"/>
                  </a:lnTo>
                  <a:lnTo>
                    <a:pt x="46" y="30"/>
                  </a:lnTo>
                  <a:lnTo>
                    <a:pt x="42" y="15"/>
                  </a:lnTo>
                  <a:lnTo>
                    <a:pt x="3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305193" name="Freeform 41"/>
            <p:cNvSpPr>
              <a:spLocks/>
            </p:cNvSpPr>
            <p:nvPr userDrawn="1"/>
          </p:nvSpPr>
          <p:spPr bwMode="ltGray">
            <a:xfrm>
              <a:off x="1603" y="0"/>
              <a:ext cx="124" cy="121"/>
            </a:xfrm>
            <a:custGeom>
              <a:avLst/>
              <a:gdLst>
                <a:gd name="T0" fmla="*/ 124 w 124"/>
                <a:gd name="T1" fmla="*/ 0 h 121"/>
                <a:gd name="T2" fmla="*/ 113 w 124"/>
                <a:gd name="T3" fmla="*/ 9 h 121"/>
                <a:gd name="T4" fmla="*/ 99 w 124"/>
                <a:gd name="T5" fmla="*/ 25 h 121"/>
                <a:gd name="T6" fmla="*/ 81 w 124"/>
                <a:gd name="T7" fmla="*/ 41 h 121"/>
                <a:gd name="T8" fmla="*/ 63 w 124"/>
                <a:gd name="T9" fmla="*/ 54 h 121"/>
                <a:gd name="T10" fmla="*/ 41 w 124"/>
                <a:gd name="T11" fmla="*/ 66 h 121"/>
                <a:gd name="T12" fmla="*/ 22 w 124"/>
                <a:gd name="T13" fmla="*/ 74 h 121"/>
                <a:gd name="T14" fmla="*/ 0 w 124"/>
                <a:gd name="T15" fmla="*/ 75 h 121"/>
                <a:gd name="T16" fmla="*/ 10 w 124"/>
                <a:gd name="T17" fmla="*/ 96 h 121"/>
                <a:gd name="T18" fmla="*/ 23 w 124"/>
                <a:gd name="T19" fmla="*/ 113 h 121"/>
                <a:gd name="T20" fmla="*/ 41 w 124"/>
                <a:gd name="T21" fmla="*/ 121 h 121"/>
                <a:gd name="T22" fmla="*/ 60 w 124"/>
                <a:gd name="T23" fmla="*/ 121 h 121"/>
                <a:gd name="T24" fmla="*/ 83 w 124"/>
                <a:gd name="T25" fmla="*/ 111 h 121"/>
                <a:gd name="T26" fmla="*/ 101 w 124"/>
                <a:gd name="T27" fmla="*/ 88 h 121"/>
                <a:gd name="T28" fmla="*/ 116 w 124"/>
                <a:gd name="T29" fmla="*/ 53 h 121"/>
                <a:gd name="T30" fmla="*/ 124 w 124"/>
                <a:gd name="T31" fmla="*/ 0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24" h="121">
                  <a:moveTo>
                    <a:pt x="124" y="0"/>
                  </a:moveTo>
                  <a:lnTo>
                    <a:pt x="113" y="9"/>
                  </a:lnTo>
                  <a:lnTo>
                    <a:pt x="99" y="25"/>
                  </a:lnTo>
                  <a:lnTo>
                    <a:pt x="81" y="41"/>
                  </a:lnTo>
                  <a:lnTo>
                    <a:pt x="63" y="54"/>
                  </a:lnTo>
                  <a:lnTo>
                    <a:pt x="41" y="66"/>
                  </a:lnTo>
                  <a:lnTo>
                    <a:pt x="22" y="74"/>
                  </a:lnTo>
                  <a:lnTo>
                    <a:pt x="0" y="75"/>
                  </a:lnTo>
                  <a:lnTo>
                    <a:pt x="10" y="96"/>
                  </a:lnTo>
                  <a:lnTo>
                    <a:pt x="23" y="113"/>
                  </a:lnTo>
                  <a:lnTo>
                    <a:pt x="41" y="121"/>
                  </a:lnTo>
                  <a:lnTo>
                    <a:pt x="60" y="121"/>
                  </a:lnTo>
                  <a:lnTo>
                    <a:pt x="83" y="111"/>
                  </a:lnTo>
                  <a:lnTo>
                    <a:pt x="101" y="88"/>
                  </a:lnTo>
                  <a:lnTo>
                    <a:pt x="116" y="53"/>
                  </a:lnTo>
                  <a:lnTo>
                    <a:pt x="12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305194" name="Freeform 42"/>
            <p:cNvSpPr>
              <a:spLocks/>
            </p:cNvSpPr>
            <p:nvPr userDrawn="1"/>
          </p:nvSpPr>
          <p:spPr bwMode="ltGray">
            <a:xfrm rot="9832527" flipV="1">
              <a:off x="2173" y="1238"/>
              <a:ext cx="393" cy="2300"/>
            </a:xfrm>
            <a:custGeom>
              <a:avLst/>
              <a:gdLst>
                <a:gd name="T0" fmla="*/ 0 w 149"/>
                <a:gd name="T1" fmla="*/ 0 h 704"/>
                <a:gd name="T2" fmla="*/ 6 w 149"/>
                <a:gd name="T3" fmla="*/ 6 h 704"/>
                <a:gd name="T4" fmla="*/ 16 w 149"/>
                <a:gd name="T5" fmla="*/ 14 h 704"/>
                <a:gd name="T6" fmla="*/ 28 w 149"/>
                <a:gd name="T7" fmla="*/ 24 h 704"/>
                <a:gd name="T8" fmla="*/ 41 w 149"/>
                <a:gd name="T9" fmla="*/ 37 h 704"/>
                <a:gd name="T10" fmla="*/ 58 w 149"/>
                <a:gd name="T11" fmla="*/ 53 h 704"/>
                <a:gd name="T12" fmla="*/ 73 w 149"/>
                <a:gd name="T13" fmla="*/ 70 h 704"/>
                <a:gd name="T14" fmla="*/ 88 w 149"/>
                <a:gd name="T15" fmla="*/ 90 h 704"/>
                <a:gd name="T16" fmla="*/ 100 w 149"/>
                <a:gd name="T17" fmla="*/ 113 h 704"/>
                <a:gd name="T18" fmla="*/ 112 w 149"/>
                <a:gd name="T19" fmla="*/ 137 h 704"/>
                <a:gd name="T20" fmla="*/ 120 w 149"/>
                <a:gd name="T21" fmla="*/ 165 h 704"/>
                <a:gd name="T22" fmla="*/ 124 w 149"/>
                <a:gd name="T23" fmla="*/ 196 h 704"/>
                <a:gd name="T24" fmla="*/ 126 w 149"/>
                <a:gd name="T25" fmla="*/ 228 h 704"/>
                <a:gd name="T26" fmla="*/ 120 w 149"/>
                <a:gd name="T27" fmla="*/ 264 h 704"/>
                <a:gd name="T28" fmla="*/ 109 w 149"/>
                <a:gd name="T29" fmla="*/ 302 h 704"/>
                <a:gd name="T30" fmla="*/ 92 w 149"/>
                <a:gd name="T31" fmla="*/ 342 h 704"/>
                <a:gd name="T32" fmla="*/ 67 w 149"/>
                <a:gd name="T33" fmla="*/ 386 h 704"/>
                <a:gd name="T34" fmla="*/ 39 w 149"/>
                <a:gd name="T35" fmla="*/ 436 h 704"/>
                <a:gd name="T36" fmla="*/ 21 w 149"/>
                <a:gd name="T37" fmla="*/ 482 h 704"/>
                <a:gd name="T38" fmla="*/ 10 w 149"/>
                <a:gd name="T39" fmla="*/ 525 h 704"/>
                <a:gd name="T40" fmla="*/ 6 w 149"/>
                <a:gd name="T41" fmla="*/ 566 h 704"/>
                <a:gd name="T42" fmla="*/ 6 w 149"/>
                <a:gd name="T43" fmla="*/ 605 h 704"/>
                <a:gd name="T44" fmla="*/ 8 w 149"/>
                <a:gd name="T45" fmla="*/ 641 h 704"/>
                <a:gd name="T46" fmla="*/ 12 w 149"/>
                <a:gd name="T47" fmla="*/ 673 h 704"/>
                <a:gd name="T48" fmla="*/ 14 w 149"/>
                <a:gd name="T49" fmla="*/ 704 h 704"/>
                <a:gd name="T50" fmla="*/ 41 w 149"/>
                <a:gd name="T51" fmla="*/ 688 h 704"/>
                <a:gd name="T52" fmla="*/ 39 w 149"/>
                <a:gd name="T53" fmla="*/ 680 h 704"/>
                <a:gd name="T54" fmla="*/ 36 w 149"/>
                <a:gd name="T55" fmla="*/ 657 h 704"/>
                <a:gd name="T56" fmla="*/ 33 w 149"/>
                <a:gd name="T57" fmla="*/ 622 h 704"/>
                <a:gd name="T58" fmla="*/ 35 w 149"/>
                <a:gd name="T59" fmla="*/ 575 h 704"/>
                <a:gd name="T60" fmla="*/ 41 w 149"/>
                <a:gd name="T61" fmla="*/ 519 h 704"/>
                <a:gd name="T62" fmla="*/ 58 w 149"/>
                <a:gd name="T63" fmla="*/ 455 h 704"/>
                <a:gd name="T64" fmla="*/ 86 w 149"/>
                <a:gd name="T65" fmla="*/ 386 h 704"/>
                <a:gd name="T66" fmla="*/ 129 w 149"/>
                <a:gd name="T67" fmla="*/ 313 h 704"/>
                <a:gd name="T68" fmla="*/ 143 w 149"/>
                <a:gd name="T69" fmla="*/ 279 h 704"/>
                <a:gd name="T70" fmla="*/ 149 w 149"/>
                <a:gd name="T71" fmla="*/ 235 h 704"/>
                <a:gd name="T72" fmla="*/ 144 w 149"/>
                <a:gd name="T73" fmla="*/ 184 h 704"/>
                <a:gd name="T74" fmla="*/ 131 w 149"/>
                <a:gd name="T75" fmla="*/ 134 h 704"/>
                <a:gd name="T76" fmla="*/ 109 w 149"/>
                <a:gd name="T77" fmla="*/ 85 h 704"/>
                <a:gd name="T78" fmla="*/ 81 w 149"/>
                <a:gd name="T79" fmla="*/ 44 h 704"/>
                <a:gd name="T80" fmla="*/ 44 w 149"/>
                <a:gd name="T81" fmla="*/ 14 h 704"/>
                <a:gd name="T82" fmla="*/ 0 w 149"/>
                <a:gd name="T83" fmla="*/ 0 h 7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149" h="704">
                  <a:moveTo>
                    <a:pt x="0" y="0"/>
                  </a:moveTo>
                  <a:lnTo>
                    <a:pt x="6" y="6"/>
                  </a:lnTo>
                  <a:lnTo>
                    <a:pt x="16" y="14"/>
                  </a:lnTo>
                  <a:lnTo>
                    <a:pt x="28" y="24"/>
                  </a:lnTo>
                  <a:lnTo>
                    <a:pt x="41" y="37"/>
                  </a:lnTo>
                  <a:lnTo>
                    <a:pt x="58" y="53"/>
                  </a:lnTo>
                  <a:lnTo>
                    <a:pt x="73" y="70"/>
                  </a:lnTo>
                  <a:lnTo>
                    <a:pt x="88" y="90"/>
                  </a:lnTo>
                  <a:lnTo>
                    <a:pt x="100" y="113"/>
                  </a:lnTo>
                  <a:lnTo>
                    <a:pt x="112" y="137"/>
                  </a:lnTo>
                  <a:lnTo>
                    <a:pt x="120" y="165"/>
                  </a:lnTo>
                  <a:lnTo>
                    <a:pt x="124" y="196"/>
                  </a:lnTo>
                  <a:lnTo>
                    <a:pt x="126" y="228"/>
                  </a:lnTo>
                  <a:lnTo>
                    <a:pt x="120" y="264"/>
                  </a:lnTo>
                  <a:lnTo>
                    <a:pt x="109" y="302"/>
                  </a:lnTo>
                  <a:lnTo>
                    <a:pt x="92" y="342"/>
                  </a:lnTo>
                  <a:lnTo>
                    <a:pt x="67" y="386"/>
                  </a:lnTo>
                  <a:lnTo>
                    <a:pt x="39" y="436"/>
                  </a:lnTo>
                  <a:lnTo>
                    <a:pt x="21" y="482"/>
                  </a:lnTo>
                  <a:lnTo>
                    <a:pt x="10" y="525"/>
                  </a:lnTo>
                  <a:lnTo>
                    <a:pt x="6" y="566"/>
                  </a:lnTo>
                  <a:lnTo>
                    <a:pt x="6" y="605"/>
                  </a:lnTo>
                  <a:lnTo>
                    <a:pt x="8" y="641"/>
                  </a:lnTo>
                  <a:lnTo>
                    <a:pt x="12" y="673"/>
                  </a:lnTo>
                  <a:lnTo>
                    <a:pt x="14" y="704"/>
                  </a:lnTo>
                  <a:lnTo>
                    <a:pt x="41" y="688"/>
                  </a:lnTo>
                  <a:lnTo>
                    <a:pt x="39" y="680"/>
                  </a:lnTo>
                  <a:lnTo>
                    <a:pt x="36" y="657"/>
                  </a:lnTo>
                  <a:lnTo>
                    <a:pt x="33" y="622"/>
                  </a:lnTo>
                  <a:lnTo>
                    <a:pt x="35" y="575"/>
                  </a:lnTo>
                  <a:lnTo>
                    <a:pt x="41" y="519"/>
                  </a:lnTo>
                  <a:lnTo>
                    <a:pt x="58" y="455"/>
                  </a:lnTo>
                  <a:lnTo>
                    <a:pt x="86" y="386"/>
                  </a:lnTo>
                  <a:lnTo>
                    <a:pt x="129" y="313"/>
                  </a:lnTo>
                  <a:lnTo>
                    <a:pt x="143" y="279"/>
                  </a:lnTo>
                  <a:lnTo>
                    <a:pt x="149" y="235"/>
                  </a:lnTo>
                  <a:lnTo>
                    <a:pt x="144" y="184"/>
                  </a:lnTo>
                  <a:lnTo>
                    <a:pt x="131" y="134"/>
                  </a:lnTo>
                  <a:lnTo>
                    <a:pt x="109" y="85"/>
                  </a:lnTo>
                  <a:lnTo>
                    <a:pt x="81" y="44"/>
                  </a:lnTo>
                  <a:lnTo>
                    <a:pt x="44" y="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305195" name="Freeform 43"/>
            <p:cNvSpPr>
              <a:spLocks/>
            </p:cNvSpPr>
            <p:nvPr userDrawn="1"/>
          </p:nvSpPr>
          <p:spPr bwMode="ltGray">
            <a:xfrm>
              <a:off x="0" y="1848"/>
              <a:ext cx="36" cy="132"/>
            </a:xfrm>
            <a:custGeom>
              <a:avLst/>
              <a:gdLst>
                <a:gd name="T0" fmla="*/ 0 w 36"/>
                <a:gd name="T1" fmla="*/ 0 h 132"/>
                <a:gd name="T2" fmla="*/ 36 w 36"/>
                <a:gd name="T3" fmla="*/ 12 h 132"/>
                <a:gd name="T4" fmla="*/ 0 w 36"/>
                <a:gd name="T5" fmla="*/ 132 h 132"/>
                <a:gd name="T6" fmla="*/ 0 w 36"/>
                <a:gd name="T7" fmla="*/ 0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32">
                  <a:moveTo>
                    <a:pt x="0" y="0"/>
                  </a:moveTo>
                  <a:lnTo>
                    <a:pt x="36" y="12"/>
                  </a:lnTo>
                  <a:lnTo>
                    <a:pt x="0" y="1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ZA"/>
            </a:p>
          </p:txBody>
        </p:sp>
      </p:grpSp>
      <p:sp>
        <p:nvSpPr>
          <p:cNvPr id="305196" name="Rectangle 44"/>
          <p:cNvSpPr>
            <a:spLocks noGrp="1" noChangeArrowheads="1"/>
          </p:cNvSpPr>
          <p:nvPr>
            <p:ph type="dt" sz="half" idx="2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05197" name="Rectangle 45"/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05198" name="Rectangle 46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fld id="{16502E16-BBBE-4FA3-A2B0-F39D30D5491C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305199" name="Rectangle 47"/>
          <p:cNvSpPr>
            <a:spLocks noGrp="1" noChangeArrowheads="1"/>
          </p:cNvSpPr>
          <p:nvPr>
            <p:ph type="ctrTitle"/>
          </p:nvPr>
        </p:nvSpPr>
        <p:spPr>
          <a:xfrm>
            <a:off x="2455863" y="596900"/>
            <a:ext cx="6192837" cy="3581400"/>
          </a:xfrm>
          <a:extLst>
            <a:ext uri="{909E8E84-426E-40DD-AFC4-6F175D3DCCD1}">
              <a14:hiddenFill xmlns:a14="http://schemas.microsoft.com/office/drawing/2010/main">
                <a:solidFill>
                  <a:srgbClr val="FF33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45791" dir="3378596" algn="ctr" rotWithShape="0">
                    <a:srgbClr val="993366"/>
                  </a:outerShdw>
                </a:effectLst>
              </a14:hiddenEffects>
            </a:ext>
          </a:extLst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 smtClean="0"/>
              <a:t>Click to edit Master title style</a:t>
            </a:r>
          </a:p>
        </p:txBody>
      </p:sp>
      <p:sp>
        <p:nvSpPr>
          <p:cNvPr id="305200" name="Rectangle 48"/>
          <p:cNvSpPr>
            <a:spLocks noGrp="1" noChangeArrowheads="1"/>
          </p:cNvSpPr>
          <p:nvPr>
            <p:ph type="subTitle" idx="1"/>
          </p:nvPr>
        </p:nvSpPr>
        <p:spPr>
          <a:xfrm>
            <a:off x="2489200" y="4279900"/>
            <a:ext cx="6146800" cy="14859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pPr lvl="0"/>
            <a:r>
              <a:rPr lang="en-US" noProof="0" smtClean="0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Z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Z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45C97FB-FCD0-4F4A-A6B0-21C6B845E1FE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63055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Z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9AD04D8-773B-4500-BE3F-43FDC54F4799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33427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ZA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4561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ZA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4561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ZA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64A03D1-2F7E-4CDA-B9FD-716C50EB0D2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54640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Z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ZA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ZA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81DA7C5-AB8B-4A38-9B41-37ABF44903D9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81175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43C4EA8-65B4-4CC3-A7A7-2A8DA843762F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20614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6DBEB72-C004-46D1-9992-458CC43F3DD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82903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Z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Z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C3CBB8C-B900-4C3E-97BA-C1E4A0385F1C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29871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ZA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Z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DF55082-1EDE-4E45-BF9B-258FCDE9B7A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18282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Z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Z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4D7D22C-3963-4965-A639-4F2088B1DD81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63505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6225" y="103188"/>
            <a:ext cx="2060575" cy="59531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Z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42913" y="103188"/>
            <a:ext cx="6030912" cy="59531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Z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A2CA73-3E2F-4961-96C1-4D40D3FFE069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10965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2913" y="103188"/>
            <a:ext cx="8243887" cy="131445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ZA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45611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ZA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45611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ZA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243638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243638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fld id="{A0C22A78-8182-438C-B4E0-076DB970EBDC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12167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2913" y="103188"/>
            <a:ext cx="8243887" cy="131445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ZA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45611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ZA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510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ZA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903663"/>
            <a:ext cx="4038600" cy="215265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ZA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457200" y="6243638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6553200" y="6243638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fld id="{5AC86000-E02F-4816-ACED-1F45A858122F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96636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442913" y="103188"/>
            <a:ext cx="8243887" cy="131445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ZA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4038600" cy="21510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ZA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510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ZA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57200" y="3903663"/>
            <a:ext cx="4038600" cy="215265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ZA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8200" y="3903663"/>
            <a:ext cx="4038600" cy="215265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ZA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6243638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553200" y="6243638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fld id="{89AA80E6-D1DE-4446-B1C2-9530E968EA01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50626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4130" name="Group 2"/>
          <p:cNvGrpSpPr>
            <a:grpSpLocks/>
          </p:cNvGrpSpPr>
          <p:nvPr/>
        </p:nvGrpSpPr>
        <p:grpSpPr bwMode="auto">
          <a:xfrm>
            <a:off x="-7938" y="0"/>
            <a:ext cx="2833688" cy="6856413"/>
            <a:chOff x="-5" y="0"/>
            <a:chExt cx="1785" cy="4319"/>
          </a:xfrm>
        </p:grpSpPr>
        <p:sp>
          <p:nvSpPr>
            <p:cNvPr id="304131" name="Freeform 3"/>
            <p:cNvSpPr>
              <a:spLocks/>
            </p:cNvSpPr>
            <p:nvPr/>
          </p:nvSpPr>
          <p:spPr bwMode="ltGray">
            <a:xfrm>
              <a:off x="-5" y="3262"/>
              <a:ext cx="472" cy="802"/>
            </a:xfrm>
            <a:custGeom>
              <a:avLst/>
              <a:gdLst>
                <a:gd name="T0" fmla="*/ 5 w 472"/>
                <a:gd name="T1" fmla="*/ 32 h 802"/>
                <a:gd name="T2" fmla="*/ 189 w 472"/>
                <a:gd name="T3" fmla="*/ 26 h 802"/>
                <a:gd name="T4" fmla="*/ 309 w 472"/>
                <a:gd name="T5" fmla="*/ 66 h 802"/>
                <a:gd name="T6" fmla="*/ 357 w 472"/>
                <a:gd name="T7" fmla="*/ 98 h 802"/>
                <a:gd name="T8" fmla="*/ 413 w 472"/>
                <a:gd name="T9" fmla="*/ 162 h 802"/>
                <a:gd name="T10" fmla="*/ 437 w 472"/>
                <a:gd name="T11" fmla="*/ 250 h 802"/>
                <a:gd name="T12" fmla="*/ 397 w 472"/>
                <a:gd name="T13" fmla="*/ 530 h 802"/>
                <a:gd name="T14" fmla="*/ 341 w 472"/>
                <a:gd name="T15" fmla="*/ 634 h 802"/>
                <a:gd name="T16" fmla="*/ 173 w 472"/>
                <a:gd name="T17" fmla="*/ 714 h 802"/>
                <a:gd name="T18" fmla="*/ 77 w 472"/>
                <a:gd name="T19" fmla="*/ 730 h 802"/>
                <a:gd name="T20" fmla="*/ 69 w 472"/>
                <a:gd name="T21" fmla="*/ 802 h 802"/>
                <a:gd name="T22" fmla="*/ 7 w 472"/>
                <a:gd name="T23" fmla="*/ 788 h 802"/>
                <a:gd name="T24" fmla="*/ 5 w 472"/>
                <a:gd name="T25" fmla="*/ 751 h 802"/>
                <a:gd name="T26" fmla="*/ 37 w 472"/>
                <a:gd name="T27" fmla="*/ 722 h 802"/>
                <a:gd name="T28" fmla="*/ 5 w 472"/>
                <a:gd name="T29" fmla="*/ 670 h 802"/>
                <a:gd name="T30" fmla="*/ 5 w 472"/>
                <a:gd name="T31" fmla="*/ 32 h 8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472" h="802">
                  <a:moveTo>
                    <a:pt x="5" y="32"/>
                  </a:moveTo>
                  <a:cubicBezTo>
                    <a:pt x="101" y="0"/>
                    <a:pt x="20" y="17"/>
                    <a:pt x="189" y="26"/>
                  </a:cubicBezTo>
                  <a:cubicBezTo>
                    <a:pt x="221" y="37"/>
                    <a:pt x="280" y="47"/>
                    <a:pt x="309" y="66"/>
                  </a:cubicBezTo>
                  <a:cubicBezTo>
                    <a:pt x="325" y="77"/>
                    <a:pt x="357" y="98"/>
                    <a:pt x="357" y="98"/>
                  </a:cubicBezTo>
                  <a:cubicBezTo>
                    <a:pt x="394" y="154"/>
                    <a:pt x="373" y="135"/>
                    <a:pt x="413" y="162"/>
                  </a:cubicBezTo>
                  <a:cubicBezTo>
                    <a:pt x="433" y="223"/>
                    <a:pt x="426" y="193"/>
                    <a:pt x="437" y="250"/>
                  </a:cubicBezTo>
                  <a:cubicBezTo>
                    <a:pt x="433" y="370"/>
                    <a:pt x="472" y="455"/>
                    <a:pt x="397" y="530"/>
                  </a:cubicBezTo>
                  <a:cubicBezTo>
                    <a:pt x="385" y="567"/>
                    <a:pt x="368" y="607"/>
                    <a:pt x="341" y="634"/>
                  </a:cubicBezTo>
                  <a:cubicBezTo>
                    <a:pt x="319" y="701"/>
                    <a:pt x="233" y="707"/>
                    <a:pt x="173" y="714"/>
                  </a:cubicBezTo>
                  <a:cubicBezTo>
                    <a:pt x="142" y="724"/>
                    <a:pt x="100" y="707"/>
                    <a:pt x="77" y="730"/>
                  </a:cubicBezTo>
                  <a:cubicBezTo>
                    <a:pt x="60" y="747"/>
                    <a:pt x="72" y="778"/>
                    <a:pt x="69" y="802"/>
                  </a:cubicBezTo>
                  <a:cubicBezTo>
                    <a:pt x="53" y="799"/>
                    <a:pt x="23" y="792"/>
                    <a:pt x="7" y="788"/>
                  </a:cubicBezTo>
                  <a:cubicBezTo>
                    <a:pt x="5" y="788"/>
                    <a:pt x="0" y="762"/>
                    <a:pt x="5" y="751"/>
                  </a:cubicBezTo>
                  <a:cubicBezTo>
                    <a:pt x="10" y="740"/>
                    <a:pt x="37" y="735"/>
                    <a:pt x="37" y="722"/>
                  </a:cubicBezTo>
                  <a:cubicBezTo>
                    <a:pt x="26" y="682"/>
                    <a:pt x="22" y="685"/>
                    <a:pt x="5" y="670"/>
                  </a:cubicBezTo>
                  <a:cubicBezTo>
                    <a:pt x="5" y="541"/>
                    <a:pt x="5" y="233"/>
                    <a:pt x="5" y="32"/>
                  </a:cubicBezTo>
                  <a:close/>
                </a:path>
              </a:pathLst>
            </a:custGeom>
            <a:solidFill>
              <a:schemeClr val="folHlink">
                <a:alpha val="5000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ZA"/>
            </a:p>
          </p:txBody>
        </p:sp>
        <p:grpSp>
          <p:nvGrpSpPr>
            <p:cNvPr id="304132" name="Group 4"/>
            <p:cNvGrpSpPr>
              <a:grpSpLocks/>
            </p:cNvGrpSpPr>
            <p:nvPr/>
          </p:nvGrpSpPr>
          <p:grpSpPr bwMode="auto">
            <a:xfrm rot="14964908" flipH="1">
              <a:off x="104" y="2441"/>
              <a:ext cx="452" cy="444"/>
              <a:chOff x="1727" y="866"/>
              <a:chExt cx="129" cy="157"/>
            </a:xfrm>
          </p:grpSpPr>
          <p:sp>
            <p:nvSpPr>
              <p:cNvPr id="304133" name="Freeform 5"/>
              <p:cNvSpPr>
                <a:spLocks/>
              </p:cNvSpPr>
              <p:nvPr userDrawn="1"/>
            </p:nvSpPr>
            <p:spPr bwMode="ltGray">
              <a:xfrm>
                <a:off x="1727" y="866"/>
                <a:ext cx="41" cy="59"/>
              </a:xfrm>
              <a:custGeom>
                <a:avLst/>
                <a:gdLst>
                  <a:gd name="T0" fmla="*/ 83 w 83"/>
                  <a:gd name="T1" fmla="*/ 28 h 117"/>
                  <a:gd name="T2" fmla="*/ 27 w 83"/>
                  <a:gd name="T3" fmla="*/ 0 h 117"/>
                  <a:gd name="T4" fmla="*/ 0 w 83"/>
                  <a:gd name="T5" fmla="*/ 117 h 117"/>
                  <a:gd name="T6" fmla="*/ 83 w 83"/>
                  <a:gd name="T7" fmla="*/ 28 h 1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83" h="117">
                    <a:moveTo>
                      <a:pt x="83" y="28"/>
                    </a:moveTo>
                    <a:lnTo>
                      <a:pt x="27" y="0"/>
                    </a:lnTo>
                    <a:lnTo>
                      <a:pt x="0" y="117"/>
                    </a:lnTo>
                    <a:lnTo>
                      <a:pt x="83" y="2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304134" name="Freeform 6"/>
              <p:cNvSpPr>
                <a:spLocks/>
              </p:cNvSpPr>
              <p:nvPr userDrawn="1"/>
            </p:nvSpPr>
            <p:spPr bwMode="ltGray">
              <a:xfrm>
                <a:off x="1786" y="894"/>
                <a:ext cx="70" cy="49"/>
              </a:xfrm>
              <a:custGeom>
                <a:avLst/>
                <a:gdLst>
                  <a:gd name="T0" fmla="*/ 0 w 140"/>
                  <a:gd name="T1" fmla="*/ 98 h 98"/>
                  <a:gd name="T2" fmla="*/ 118 w 140"/>
                  <a:gd name="T3" fmla="*/ 0 h 98"/>
                  <a:gd name="T4" fmla="*/ 140 w 140"/>
                  <a:gd name="T5" fmla="*/ 49 h 98"/>
                  <a:gd name="T6" fmla="*/ 0 w 140"/>
                  <a:gd name="T7" fmla="*/ 98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0" h="98">
                    <a:moveTo>
                      <a:pt x="0" y="98"/>
                    </a:moveTo>
                    <a:lnTo>
                      <a:pt x="118" y="0"/>
                    </a:lnTo>
                    <a:lnTo>
                      <a:pt x="140" y="49"/>
                    </a:lnTo>
                    <a:lnTo>
                      <a:pt x="0" y="9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304135" name="Freeform 7"/>
              <p:cNvSpPr>
                <a:spLocks/>
              </p:cNvSpPr>
              <p:nvPr userDrawn="1"/>
            </p:nvSpPr>
            <p:spPr bwMode="ltGray">
              <a:xfrm>
                <a:off x="1772" y="998"/>
                <a:ext cx="73" cy="25"/>
              </a:xfrm>
              <a:custGeom>
                <a:avLst/>
                <a:gdLst>
                  <a:gd name="T0" fmla="*/ 0 w 145"/>
                  <a:gd name="T1" fmla="*/ 7 h 49"/>
                  <a:gd name="T2" fmla="*/ 145 w 145"/>
                  <a:gd name="T3" fmla="*/ 0 h 49"/>
                  <a:gd name="T4" fmla="*/ 131 w 145"/>
                  <a:gd name="T5" fmla="*/ 49 h 49"/>
                  <a:gd name="T6" fmla="*/ 0 w 145"/>
                  <a:gd name="T7" fmla="*/ 7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5" h="49">
                    <a:moveTo>
                      <a:pt x="0" y="7"/>
                    </a:moveTo>
                    <a:lnTo>
                      <a:pt x="145" y="0"/>
                    </a:lnTo>
                    <a:lnTo>
                      <a:pt x="131" y="49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</p:grpSp>
        <p:sp>
          <p:nvSpPr>
            <p:cNvPr id="304136" name="Freeform 8"/>
            <p:cNvSpPr>
              <a:spLocks/>
            </p:cNvSpPr>
            <p:nvPr/>
          </p:nvSpPr>
          <p:spPr bwMode="ltGray">
            <a:xfrm>
              <a:off x="90" y="1736"/>
              <a:ext cx="710" cy="768"/>
            </a:xfrm>
            <a:custGeom>
              <a:avLst/>
              <a:gdLst>
                <a:gd name="T0" fmla="*/ 14 w 710"/>
                <a:gd name="T1" fmla="*/ 416 h 768"/>
                <a:gd name="T2" fmla="*/ 14 w 710"/>
                <a:gd name="T3" fmla="*/ 272 h 768"/>
                <a:gd name="T4" fmla="*/ 102 w 710"/>
                <a:gd name="T5" fmla="*/ 144 h 768"/>
                <a:gd name="T6" fmla="*/ 150 w 710"/>
                <a:gd name="T7" fmla="*/ 96 h 768"/>
                <a:gd name="T8" fmla="*/ 198 w 710"/>
                <a:gd name="T9" fmla="*/ 64 h 768"/>
                <a:gd name="T10" fmla="*/ 350 w 710"/>
                <a:gd name="T11" fmla="*/ 0 h 768"/>
                <a:gd name="T12" fmla="*/ 534 w 710"/>
                <a:gd name="T13" fmla="*/ 8 h 768"/>
                <a:gd name="T14" fmla="*/ 662 w 710"/>
                <a:gd name="T15" fmla="*/ 96 h 768"/>
                <a:gd name="T16" fmla="*/ 710 w 710"/>
                <a:gd name="T17" fmla="*/ 200 h 768"/>
                <a:gd name="T18" fmla="*/ 702 w 710"/>
                <a:gd name="T19" fmla="*/ 400 h 768"/>
                <a:gd name="T20" fmla="*/ 678 w 710"/>
                <a:gd name="T21" fmla="*/ 448 h 768"/>
                <a:gd name="T22" fmla="*/ 550 w 710"/>
                <a:gd name="T23" fmla="*/ 632 h 768"/>
                <a:gd name="T24" fmla="*/ 518 w 710"/>
                <a:gd name="T25" fmla="*/ 656 h 768"/>
                <a:gd name="T26" fmla="*/ 470 w 710"/>
                <a:gd name="T27" fmla="*/ 664 h 768"/>
                <a:gd name="T28" fmla="*/ 518 w 710"/>
                <a:gd name="T29" fmla="*/ 680 h 768"/>
                <a:gd name="T30" fmla="*/ 566 w 710"/>
                <a:gd name="T31" fmla="*/ 696 h 768"/>
                <a:gd name="T32" fmla="*/ 574 w 710"/>
                <a:gd name="T33" fmla="*/ 720 h 768"/>
                <a:gd name="T34" fmla="*/ 526 w 710"/>
                <a:gd name="T35" fmla="*/ 736 h 768"/>
                <a:gd name="T36" fmla="*/ 502 w 710"/>
                <a:gd name="T37" fmla="*/ 752 h 768"/>
                <a:gd name="T38" fmla="*/ 454 w 710"/>
                <a:gd name="T39" fmla="*/ 768 h 768"/>
                <a:gd name="T40" fmla="*/ 438 w 710"/>
                <a:gd name="T41" fmla="*/ 712 h 768"/>
                <a:gd name="T42" fmla="*/ 246 w 710"/>
                <a:gd name="T43" fmla="*/ 688 h 768"/>
                <a:gd name="T44" fmla="*/ 134 w 710"/>
                <a:gd name="T45" fmla="*/ 648 h 768"/>
                <a:gd name="T46" fmla="*/ 110 w 710"/>
                <a:gd name="T47" fmla="*/ 624 h 768"/>
                <a:gd name="T48" fmla="*/ 78 w 710"/>
                <a:gd name="T49" fmla="*/ 576 h 768"/>
                <a:gd name="T50" fmla="*/ 54 w 710"/>
                <a:gd name="T51" fmla="*/ 464 h 768"/>
                <a:gd name="T52" fmla="*/ 30 w 710"/>
                <a:gd name="T53" fmla="*/ 408 h 768"/>
                <a:gd name="T54" fmla="*/ 22 w 710"/>
                <a:gd name="T55" fmla="*/ 384 h 768"/>
                <a:gd name="T56" fmla="*/ 14 w 710"/>
                <a:gd name="T57" fmla="*/ 416 h 7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710" h="768">
                  <a:moveTo>
                    <a:pt x="14" y="416"/>
                  </a:moveTo>
                  <a:cubicBezTo>
                    <a:pt x="6" y="353"/>
                    <a:pt x="0" y="339"/>
                    <a:pt x="14" y="272"/>
                  </a:cubicBezTo>
                  <a:cubicBezTo>
                    <a:pt x="24" y="227"/>
                    <a:pt x="72" y="178"/>
                    <a:pt x="102" y="144"/>
                  </a:cubicBezTo>
                  <a:cubicBezTo>
                    <a:pt x="117" y="127"/>
                    <a:pt x="134" y="112"/>
                    <a:pt x="150" y="96"/>
                  </a:cubicBezTo>
                  <a:cubicBezTo>
                    <a:pt x="164" y="82"/>
                    <a:pt x="198" y="64"/>
                    <a:pt x="198" y="64"/>
                  </a:cubicBezTo>
                  <a:cubicBezTo>
                    <a:pt x="231" y="14"/>
                    <a:pt x="294" y="7"/>
                    <a:pt x="350" y="0"/>
                  </a:cubicBezTo>
                  <a:cubicBezTo>
                    <a:pt x="411" y="3"/>
                    <a:pt x="473" y="1"/>
                    <a:pt x="534" y="8"/>
                  </a:cubicBezTo>
                  <a:cubicBezTo>
                    <a:pt x="582" y="13"/>
                    <a:pt x="624" y="71"/>
                    <a:pt x="662" y="96"/>
                  </a:cubicBezTo>
                  <a:cubicBezTo>
                    <a:pt x="691" y="140"/>
                    <a:pt x="698" y="151"/>
                    <a:pt x="710" y="200"/>
                  </a:cubicBezTo>
                  <a:cubicBezTo>
                    <a:pt x="707" y="267"/>
                    <a:pt x="707" y="333"/>
                    <a:pt x="702" y="400"/>
                  </a:cubicBezTo>
                  <a:cubicBezTo>
                    <a:pt x="700" y="423"/>
                    <a:pt x="688" y="428"/>
                    <a:pt x="678" y="448"/>
                  </a:cubicBezTo>
                  <a:cubicBezTo>
                    <a:pt x="646" y="512"/>
                    <a:pt x="626" y="607"/>
                    <a:pt x="550" y="632"/>
                  </a:cubicBezTo>
                  <a:cubicBezTo>
                    <a:pt x="539" y="640"/>
                    <a:pt x="530" y="651"/>
                    <a:pt x="518" y="656"/>
                  </a:cubicBezTo>
                  <a:cubicBezTo>
                    <a:pt x="503" y="662"/>
                    <a:pt x="470" y="648"/>
                    <a:pt x="470" y="664"/>
                  </a:cubicBezTo>
                  <a:cubicBezTo>
                    <a:pt x="470" y="681"/>
                    <a:pt x="502" y="675"/>
                    <a:pt x="518" y="680"/>
                  </a:cubicBezTo>
                  <a:cubicBezTo>
                    <a:pt x="534" y="685"/>
                    <a:pt x="566" y="696"/>
                    <a:pt x="566" y="696"/>
                  </a:cubicBezTo>
                  <a:cubicBezTo>
                    <a:pt x="569" y="704"/>
                    <a:pt x="580" y="714"/>
                    <a:pt x="574" y="720"/>
                  </a:cubicBezTo>
                  <a:cubicBezTo>
                    <a:pt x="562" y="732"/>
                    <a:pt x="542" y="731"/>
                    <a:pt x="526" y="736"/>
                  </a:cubicBezTo>
                  <a:cubicBezTo>
                    <a:pt x="517" y="739"/>
                    <a:pt x="511" y="748"/>
                    <a:pt x="502" y="752"/>
                  </a:cubicBezTo>
                  <a:cubicBezTo>
                    <a:pt x="487" y="759"/>
                    <a:pt x="454" y="768"/>
                    <a:pt x="454" y="768"/>
                  </a:cubicBezTo>
                  <a:cubicBezTo>
                    <a:pt x="448" y="750"/>
                    <a:pt x="453" y="725"/>
                    <a:pt x="438" y="712"/>
                  </a:cubicBezTo>
                  <a:cubicBezTo>
                    <a:pt x="407" y="685"/>
                    <a:pt x="256" y="689"/>
                    <a:pt x="246" y="688"/>
                  </a:cubicBezTo>
                  <a:cubicBezTo>
                    <a:pt x="207" y="680"/>
                    <a:pt x="166" y="674"/>
                    <a:pt x="134" y="648"/>
                  </a:cubicBezTo>
                  <a:cubicBezTo>
                    <a:pt x="125" y="641"/>
                    <a:pt x="117" y="633"/>
                    <a:pt x="110" y="624"/>
                  </a:cubicBezTo>
                  <a:cubicBezTo>
                    <a:pt x="98" y="609"/>
                    <a:pt x="78" y="576"/>
                    <a:pt x="78" y="576"/>
                  </a:cubicBezTo>
                  <a:cubicBezTo>
                    <a:pt x="66" y="506"/>
                    <a:pt x="74" y="544"/>
                    <a:pt x="54" y="464"/>
                  </a:cubicBezTo>
                  <a:cubicBezTo>
                    <a:pt x="37" y="397"/>
                    <a:pt x="58" y="463"/>
                    <a:pt x="30" y="408"/>
                  </a:cubicBezTo>
                  <a:cubicBezTo>
                    <a:pt x="26" y="400"/>
                    <a:pt x="30" y="380"/>
                    <a:pt x="22" y="384"/>
                  </a:cubicBezTo>
                  <a:cubicBezTo>
                    <a:pt x="12" y="389"/>
                    <a:pt x="17" y="405"/>
                    <a:pt x="14" y="416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ZA"/>
            </a:p>
          </p:txBody>
        </p:sp>
        <p:grpSp>
          <p:nvGrpSpPr>
            <p:cNvPr id="304137" name="Group 9"/>
            <p:cNvGrpSpPr>
              <a:grpSpLocks/>
            </p:cNvGrpSpPr>
            <p:nvPr/>
          </p:nvGrpSpPr>
          <p:grpSpPr bwMode="auto">
            <a:xfrm rot="416244">
              <a:off x="9" y="1746"/>
              <a:ext cx="1771" cy="1741"/>
              <a:chOff x="41" y="2787"/>
              <a:chExt cx="902" cy="833"/>
            </a:xfrm>
          </p:grpSpPr>
          <p:sp>
            <p:nvSpPr>
              <p:cNvPr id="304138" name="Freeform 10"/>
              <p:cNvSpPr>
                <a:spLocks/>
              </p:cNvSpPr>
              <p:nvPr userDrawn="1"/>
            </p:nvSpPr>
            <p:spPr bwMode="ltGray">
              <a:xfrm rot="373331" flipH="1">
                <a:off x="125" y="2787"/>
                <a:ext cx="313" cy="303"/>
              </a:xfrm>
              <a:custGeom>
                <a:avLst/>
                <a:gdLst>
                  <a:gd name="T0" fmla="*/ 46 w 217"/>
                  <a:gd name="T1" fmla="*/ 210 h 210"/>
                  <a:gd name="T2" fmla="*/ 37 w 217"/>
                  <a:gd name="T3" fmla="*/ 198 h 210"/>
                  <a:gd name="T4" fmla="*/ 26 w 217"/>
                  <a:gd name="T5" fmla="*/ 181 h 210"/>
                  <a:gd name="T6" fmla="*/ 15 w 217"/>
                  <a:gd name="T7" fmla="*/ 159 h 210"/>
                  <a:gd name="T8" fmla="*/ 5 w 217"/>
                  <a:gd name="T9" fmla="*/ 135 h 210"/>
                  <a:gd name="T10" fmla="*/ 0 w 217"/>
                  <a:gd name="T11" fmla="*/ 109 h 210"/>
                  <a:gd name="T12" fmla="*/ 1 w 217"/>
                  <a:gd name="T13" fmla="*/ 82 h 210"/>
                  <a:gd name="T14" fmla="*/ 9 w 217"/>
                  <a:gd name="T15" fmla="*/ 57 h 210"/>
                  <a:gd name="T16" fmla="*/ 27 w 217"/>
                  <a:gd name="T17" fmla="*/ 35 h 210"/>
                  <a:gd name="T18" fmla="*/ 45 w 217"/>
                  <a:gd name="T19" fmla="*/ 22 h 210"/>
                  <a:gd name="T20" fmla="*/ 60 w 217"/>
                  <a:gd name="T21" fmla="*/ 12 h 210"/>
                  <a:gd name="T22" fmla="*/ 72 w 217"/>
                  <a:gd name="T23" fmla="*/ 7 h 210"/>
                  <a:gd name="T24" fmla="*/ 81 w 217"/>
                  <a:gd name="T25" fmla="*/ 5 h 210"/>
                  <a:gd name="T26" fmla="*/ 88 w 217"/>
                  <a:gd name="T27" fmla="*/ 5 h 210"/>
                  <a:gd name="T28" fmla="*/ 104 w 217"/>
                  <a:gd name="T29" fmla="*/ 0 h 210"/>
                  <a:gd name="T30" fmla="*/ 148 w 217"/>
                  <a:gd name="T31" fmla="*/ 8 h 210"/>
                  <a:gd name="T32" fmla="*/ 160 w 217"/>
                  <a:gd name="T33" fmla="*/ 12 h 210"/>
                  <a:gd name="T34" fmla="*/ 172 w 217"/>
                  <a:gd name="T35" fmla="*/ 15 h 210"/>
                  <a:gd name="T36" fmla="*/ 182 w 217"/>
                  <a:gd name="T37" fmla="*/ 19 h 210"/>
                  <a:gd name="T38" fmla="*/ 190 w 217"/>
                  <a:gd name="T39" fmla="*/ 23 h 210"/>
                  <a:gd name="T40" fmla="*/ 198 w 217"/>
                  <a:gd name="T41" fmla="*/ 27 h 210"/>
                  <a:gd name="T42" fmla="*/ 205 w 217"/>
                  <a:gd name="T43" fmla="*/ 32 h 210"/>
                  <a:gd name="T44" fmla="*/ 211 w 217"/>
                  <a:gd name="T45" fmla="*/ 38 h 210"/>
                  <a:gd name="T46" fmla="*/ 217 w 217"/>
                  <a:gd name="T47" fmla="*/ 45 h 210"/>
                  <a:gd name="T48" fmla="*/ 205 w 217"/>
                  <a:gd name="T49" fmla="*/ 40 h 210"/>
                  <a:gd name="T50" fmla="*/ 194 w 217"/>
                  <a:gd name="T51" fmla="*/ 36 h 210"/>
                  <a:gd name="T52" fmla="*/ 183 w 217"/>
                  <a:gd name="T53" fmla="*/ 33 h 210"/>
                  <a:gd name="T54" fmla="*/ 172 w 217"/>
                  <a:gd name="T55" fmla="*/ 30 h 210"/>
                  <a:gd name="T56" fmla="*/ 163 w 217"/>
                  <a:gd name="T57" fmla="*/ 27 h 210"/>
                  <a:gd name="T58" fmla="*/ 153 w 217"/>
                  <a:gd name="T59" fmla="*/ 26 h 210"/>
                  <a:gd name="T60" fmla="*/ 143 w 217"/>
                  <a:gd name="T61" fmla="*/ 24 h 210"/>
                  <a:gd name="T62" fmla="*/ 134 w 217"/>
                  <a:gd name="T63" fmla="*/ 24 h 210"/>
                  <a:gd name="T64" fmla="*/ 125 w 217"/>
                  <a:gd name="T65" fmla="*/ 24 h 210"/>
                  <a:gd name="T66" fmla="*/ 116 w 217"/>
                  <a:gd name="T67" fmla="*/ 25 h 210"/>
                  <a:gd name="T68" fmla="*/ 107 w 217"/>
                  <a:gd name="T69" fmla="*/ 27 h 210"/>
                  <a:gd name="T70" fmla="*/ 99 w 217"/>
                  <a:gd name="T71" fmla="*/ 29 h 210"/>
                  <a:gd name="T72" fmla="*/ 91 w 217"/>
                  <a:gd name="T73" fmla="*/ 33 h 210"/>
                  <a:gd name="T74" fmla="*/ 82 w 217"/>
                  <a:gd name="T75" fmla="*/ 36 h 210"/>
                  <a:gd name="T76" fmla="*/ 74 w 217"/>
                  <a:gd name="T77" fmla="*/ 41 h 210"/>
                  <a:gd name="T78" fmla="*/ 66 w 217"/>
                  <a:gd name="T79" fmla="*/ 46 h 210"/>
                  <a:gd name="T80" fmla="*/ 52 w 217"/>
                  <a:gd name="T81" fmla="*/ 61 h 210"/>
                  <a:gd name="T82" fmla="*/ 42 w 217"/>
                  <a:gd name="T83" fmla="*/ 80 h 210"/>
                  <a:gd name="T84" fmla="*/ 37 w 217"/>
                  <a:gd name="T85" fmla="*/ 103 h 210"/>
                  <a:gd name="T86" fmla="*/ 35 w 217"/>
                  <a:gd name="T87" fmla="*/ 126 h 210"/>
                  <a:gd name="T88" fmla="*/ 35 w 217"/>
                  <a:gd name="T89" fmla="*/ 151 h 210"/>
                  <a:gd name="T90" fmla="*/ 38 w 217"/>
                  <a:gd name="T91" fmla="*/ 174 h 210"/>
                  <a:gd name="T92" fmla="*/ 41 w 217"/>
                  <a:gd name="T93" fmla="*/ 194 h 210"/>
                  <a:gd name="T94" fmla="*/ 46 w 217"/>
                  <a:gd name="T9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217" h="210">
                    <a:moveTo>
                      <a:pt x="46" y="210"/>
                    </a:moveTo>
                    <a:lnTo>
                      <a:pt x="37" y="198"/>
                    </a:lnTo>
                    <a:lnTo>
                      <a:pt x="26" y="181"/>
                    </a:lnTo>
                    <a:lnTo>
                      <a:pt x="15" y="159"/>
                    </a:lnTo>
                    <a:lnTo>
                      <a:pt x="5" y="135"/>
                    </a:lnTo>
                    <a:lnTo>
                      <a:pt x="0" y="109"/>
                    </a:lnTo>
                    <a:lnTo>
                      <a:pt x="1" y="82"/>
                    </a:lnTo>
                    <a:lnTo>
                      <a:pt x="9" y="57"/>
                    </a:lnTo>
                    <a:lnTo>
                      <a:pt x="27" y="35"/>
                    </a:lnTo>
                    <a:lnTo>
                      <a:pt x="45" y="22"/>
                    </a:lnTo>
                    <a:lnTo>
                      <a:pt x="60" y="12"/>
                    </a:lnTo>
                    <a:lnTo>
                      <a:pt x="72" y="7"/>
                    </a:lnTo>
                    <a:lnTo>
                      <a:pt x="81" y="5"/>
                    </a:lnTo>
                    <a:lnTo>
                      <a:pt x="88" y="5"/>
                    </a:lnTo>
                    <a:lnTo>
                      <a:pt x="104" y="0"/>
                    </a:lnTo>
                    <a:lnTo>
                      <a:pt x="148" y="8"/>
                    </a:lnTo>
                    <a:lnTo>
                      <a:pt x="160" y="12"/>
                    </a:lnTo>
                    <a:lnTo>
                      <a:pt x="172" y="15"/>
                    </a:lnTo>
                    <a:lnTo>
                      <a:pt x="182" y="19"/>
                    </a:lnTo>
                    <a:lnTo>
                      <a:pt x="190" y="23"/>
                    </a:lnTo>
                    <a:lnTo>
                      <a:pt x="198" y="27"/>
                    </a:lnTo>
                    <a:lnTo>
                      <a:pt x="205" y="32"/>
                    </a:lnTo>
                    <a:lnTo>
                      <a:pt x="211" y="38"/>
                    </a:lnTo>
                    <a:lnTo>
                      <a:pt x="217" y="45"/>
                    </a:lnTo>
                    <a:lnTo>
                      <a:pt x="205" y="40"/>
                    </a:lnTo>
                    <a:lnTo>
                      <a:pt x="194" y="36"/>
                    </a:lnTo>
                    <a:lnTo>
                      <a:pt x="183" y="33"/>
                    </a:lnTo>
                    <a:lnTo>
                      <a:pt x="172" y="30"/>
                    </a:lnTo>
                    <a:lnTo>
                      <a:pt x="163" y="27"/>
                    </a:lnTo>
                    <a:lnTo>
                      <a:pt x="153" y="26"/>
                    </a:lnTo>
                    <a:lnTo>
                      <a:pt x="143" y="24"/>
                    </a:lnTo>
                    <a:lnTo>
                      <a:pt x="134" y="24"/>
                    </a:lnTo>
                    <a:lnTo>
                      <a:pt x="125" y="24"/>
                    </a:lnTo>
                    <a:lnTo>
                      <a:pt x="116" y="25"/>
                    </a:lnTo>
                    <a:lnTo>
                      <a:pt x="107" y="27"/>
                    </a:lnTo>
                    <a:lnTo>
                      <a:pt x="99" y="29"/>
                    </a:lnTo>
                    <a:lnTo>
                      <a:pt x="91" y="33"/>
                    </a:lnTo>
                    <a:lnTo>
                      <a:pt x="82" y="36"/>
                    </a:lnTo>
                    <a:lnTo>
                      <a:pt x="74" y="41"/>
                    </a:lnTo>
                    <a:lnTo>
                      <a:pt x="66" y="46"/>
                    </a:lnTo>
                    <a:lnTo>
                      <a:pt x="52" y="61"/>
                    </a:lnTo>
                    <a:lnTo>
                      <a:pt x="42" y="80"/>
                    </a:lnTo>
                    <a:lnTo>
                      <a:pt x="37" y="103"/>
                    </a:lnTo>
                    <a:lnTo>
                      <a:pt x="35" y="126"/>
                    </a:lnTo>
                    <a:lnTo>
                      <a:pt x="35" y="151"/>
                    </a:lnTo>
                    <a:lnTo>
                      <a:pt x="38" y="174"/>
                    </a:lnTo>
                    <a:lnTo>
                      <a:pt x="41" y="194"/>
                    </a:lnTo>
                    <a:lnTo>
                      <a:pt x="46" y="21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304139" name="Freeform 11"/>
              <p:cNvSpPr>
                <a:spLocks/>
              </p:cNvSpPr>
              <p:nvPr userDrawn="1"/>
            </p:nvSpPr>
            <p:spPr bwMode="ltGray">
              <a:xfrm rot="373331" flipH="1">
                <a:off x="41" y="2843"/>
                <a:ext cx="262" cy="308"/>
              </a:xfrm>
              <a:custGeom>
                <a:avLst/>
                <a:gdLst>
                  <a:gd name="T0" fmla="*/ 109 w 182"/>
                  <a:gd name="T1" fmla="*/ 0 h 213"/>
                  <a:gd name="T2" fmla="*/ 112 w 182"/>
                  <a:gd name="T3" fmla="*/ 2 h 213"/>
                  <a:gd name="T4" fmla="*/ 118 w 182"/>
                  <a:gd name="T5" fmla="*/ 8 h 213"/>
                  <a:gd name="T6" fmla="*/ 127 w 182"/>
                  <a:gd name="T7" fmla="*/ 18 h 213"/>
                  <a:gd name="T8" fmla="*/ 137 w 182"/>
                  <a:gd name="T9" fmla="*/ 33 h 213"/>
                  <a:gd name="T10" fmla="*/ 145 w 182"/>
                  <a:gd name="T11" fmla="*/ 52 h 213"/>
                  <a:gd name="T12" fmla="*/ 150 w 182"/>
                  <a:gd name="T13" fmla="*/ 76 h 213"/>
                  <a:gd name="T14" fmla="*/ 150 w 182"/>
                  <a:gd name="T15" fmla="*/ 105 h 213"/>
                  <a:gd name="T16" fmla="*/ 144 w 182"/>
                  <a:gd name="T17" fmla="*/ 139 h 213"/>
                  <a:gd name="T18" fmla="*/ 140 w 182"/>
                  <a:gd name="T19" fmla="*/ 149 h 213"/>
                  <a:gd name="T20" fmla="*/ 136 w 182"/>
                  <a:gd name="T21" fmla="*/ 157 h 213"/>
                  <a:gd name="T22" fmla="*/ 131 w 182"/>
                  <a:gd name="T23" fmla="*/ 165 h 213"/>
                  <a:gd name="T24" fmla="*/ 125 w 182"/>
                  <a:gd name="T25" fmla="*/ 173 h 213"/>
                  <a:gd name="T26" fmla="*/ 117 w 182"/>
                  <a:gd name="T27" fmla="*/ 180 h 213"/>
                  <a:gd name="T28" fmla="*/ 110 w 182"/>
                  <a:gd name="T29" fmla="*/ 185 h 213"/>
                  <a:gd name="T30" fmla="*/ 102 w 182"/>
                  <a:gd name="T31" fmla="*/ 191 h 213"/>
                  <a:gd name="T32" fmla="*/ 92 w 182"/>
                  <a:gd name="T33" fmla="*/ 195 h 213"/>
                  <a:gd name="T34" fmla="*/ 82 w 182"/>
                  <a:gd name="T35" fmla="*/ 197 h 213"/>
                  <a:gd name="T36" fmla="*/ 72 w 182"/>
                  <a:gd name="T37" fmla="*/ 200 h 213"/>
                  <a:gd name="T38" fmla="*/ 61 w 182"/>
                  <a:gd name="T39" fmla="*/ 201 h 213"/>
                  <a:gd name="T40" fmla="*/ 49 w 182"/>
                  <a:gd name="T41" fmla="*/ 201 h 213"/>
                  <a:gd name="T42" fmla="*/ 37 w 182"/>
                  <a:gd name="T43" fmla="*/ 200 h 213"/>
                  <a:gd name="T44" fmla="*/ 25 w 182"/>
                  <a:gd name="T45" fmla="*/ 197 h 213"/>
                  <a:gd name="T46" fmla="*/ 12 w 182"/>
                  <a:gd name="T47" fmla="*/ 193 h 213"/>
                  <a:gd name="T48" fmla="*/ 0 w 182"/>
                  <a:gd name="T49" fmla="*/ 188 h 213"/>
                  <a:gd name="T50" fmla="*/ 11 w 182"/>
                  <a:gd name="T51" fmla="*/ 195 h 213"/>
                  <a:gd name="T52" fmla="*/ 22 w 182"/>
                  <a:gd name="T53" fmla="*/ 200 h 213"/>
                  <a:gd name="T54" fmla="*/ 33 w 182"/>
                  <a:gd name="T55" fmla="*/ 205 h 213"/>
                  <a:gd name="T56" fmla="*/ 43 w 182"/>
                  <a:gd name="T57" fmla="*/ 208 h 213"/>
                  <a:gd name="T58" fmla="*/ 53 w 182"/>
                  <a:gd name="T59" fmla="*/ 211 h 213"/>
                  <a:gd name="T60" fmla="*/ 63 w 182"/>
                  <a:gd name="T61" fmla="*/ 212 h 213"/>
                  <a:gd name="T62" fmla="*/ 73 w 182"/>
                  <a:gd name="T63" fmla="*/ 213 h 213"/>
                  <a:gd name="T64" fmla="*/ 83 w 182"/>
                  <a:gd name="T65" fmla="*/ 213 h 213"/>
                  <a:gd name="T66" fmla="*/ 91 w 182"/>
                  <a:gd name="T67" fmla="*/ 212 h 213"/>
                  <a:gd name="T68" fmla="*/ 100 w 182"/>
                  <a:gd name="T69" fmla="*/ 210 h 213"/>
                  <a:gd name="T70" fmla="*/ 108 w 182"/>
                  <a:gd name="T71" fmla="*/ 208 h 213"/>
                  <a:gd name="T72" fmla="*/ 116 w 182"/>
                  <a:gd name="T73" fmla="*/ 206 h 213"/>
                  <a:gd name="T74" fmla="*/ 123 w 182"/>
                  <a:gd name="T75" fmla="*/ 203 h 213"/>
                  <a:gd name="T76" fmla="*/ 130 w 182"/>
                  <a:gd name="T77" fmla="*/ 199 h 213"/>
                  <a:gd name="T78" fmla="*/ 136 w 182"/>
                  <a:gd name="T79" fmla="*/ 195 h 213"/>
                  <a:gd name="T80" fmla="*/ 142 w 182"/>
                  <a:gd name="T81" fmla="*/ 191 h 213"/>
                  <a:gd name="T82" fmla="*/ 158 w 182"/>
                  <a:gd name="T83" fmla="*/ 176 h 213"/>
                  <a:gd name="T84" fmla="*/ 169 w 182"/>
                  <a:gd name="T85" fmla="*/ 161 h 213"/>
                  <a:gd name="T86" fmla="*/ 176 w 182"/>
                  <a:gd name="T87" fmla="*/ 144 h 213"/>
                  <a:gd name="T88" fmla="*/ 179 w 182"/>
                  <a:gd name="T89" fmla="*/ 128 h 213"/>
                  <a:gd name="T90" fmla="*/ 181 w 182"/>
                  <a:gd name="T91" fmla="*/ 111 h 213"/>
                  <a:gd name="T92" fmla="*/ 181 w 182"/>
                  <a:gd name="T93" fmla="*/ 95 h 213"/>
                  <a:gd name="T94" fmla="*/ 182 w 182"/>
                  <a:gd name="T95" fmla="*/ 79 h 213"/>
                  <a:gd name="T96" fmla="*/ 173 w 182"/>
                  <a:gd name="T97" fmla="*/ 46 h 213"/>
                  <a:gd name="T98" fmla="*/ 156 w 182"/>
                  <a:gd name="T99" fmla="*/ 21 h 213"/>
                  <a:gd name="T100" fmla="*/ 151 w 182"/>
                  <a:gd name="T101" fmla="*/ 18 h 213"/>
                  <a:gd name="T102" fmla="*/ 147 w 182"/>
                  <a:gd name="T103" fmla="*/ 15 h 213"/>
                  <a:gd name="T104" fmla="*/ 142 w 182"/>
                  <a:gd name="T105" fmla="*/ 13 h 213"/>
                  <a:gd name="T106" fmla="*/ 138 w 182"/>
                  <a:gd name="T107" fmla="*/ 11 h 213"/>
                  <a:gd name="T108" fmla="*/ 132 w 182"/>
                  <a:gd name="T109" fmla="*/ 9 h 213"/>
                  <a:gd name="T110" fmla="*/ 126 w 182"/>
                  <a:gd name="T111" fmla="*/ 6 h 213"/>
                  <a:gd name="T112" fmla="*/ 119 w 182"/>
                  <a:gd name="T113" fmla="*/ 3 h 213"/>
                  <a:gd name="T114" fmla="*/ 109 w 182"/>
                  <a:gd name="T115" fmla="*/ 0 h 2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182" h="213">
                    <a:moveTo>
                      <a:pt x="109" y="0"/>
                    </a:moveTo>
                    <a:lnTo>
                      <a:pt x="112" y="2"/>
                    </a:lnTo>
                    <a:lnTo>
                      <a:pt x="118" y="8"/>
                    </a:lnTo>
                    <a:lnTo>
                      <a:pt x="127" y="18"/>
                    </a:lnTo>
                    <a:lnTo>
                      <a:pt x="137" y="33"/>
                    </a:lnTo>
                    <a:lnTo>
                      <a:pt x="145" y="52"/>
                    </a:lnTo>
                    <a:lnTo>
                      <a:pt x="150" y="76"/>
                    </a:lnTo>
                    <a:lnTo>
                      <a:pt x="150" y="105"/>
                    </a:lnTo>
                    <a:lnTo>
                      <a:pt x="144" y="139"/>
                    </a:lnTo>
                    <a:lnTo>
                      <a:pt x="140" y="149"/>
                    </a:lnTo>
                    <a:lnTo>
                      <a:pt x="136" y="157"/>
                    </a:lnTo>
                    <a:lnTo>
                      <a:pt x="131" y="165"/>
                    </a:lnTo>
                    <a:lnTo>
                      <a:pt x="125" y="173"/>
                    </a:lnTo>
                    <a:lnTo>
                      <a:pt x="117" y="180"/>
                    </a:lnTo>
                    <a:lnTo>
                      <a:pt x="110" y="185"/>
                    </a:lnTo>
                    <a:lnTo>
                      <a:pt x="102" y="191"/>
                    </a:lnTo>
                    <a:lnTo>
                      <a:pt x="92" y="195"/>
                    </a:lnTo>
                    <a:lnTo>
                      <a:pt x="82" y="197"/>
                    </a:lnTo>
                    <a:lnTo>
                      <a:pt x="72" y="200"/>
                    </a:lnTo>
                    <a:lnTo>
                      <a:pt x="61" y="201"/>
                    </a:lnTo>
                    <a:lnTo>
                      <a:pt x="49" y="201"/>
                    </a:lnTo>
                    <a:lnTo>
                      <a:pt x="37" y="200"/>
                    </a:lnTo>
                    <a:lnTo>
                      <a:pt x="25" y="197"/>
                    </a:lnTo>
                    <a:lnTo>
                      <a:pt x="12" y="193"/>
                    </a:lnTo>
                    <a:lnTo>
                      <a:pt x="0" y="188"/>
                    </a:lnTo>
                    <a:lnTo>
                      <a:pt x="11" y="195"/>
                    </a:lnTo>
                    <a:lnTo>
                      <a:pt x="22" y="200"/>
                    </a:lnTo>
                    <a:lnTo>
                      <a:pt x="33" y="205"/>
                    </a:lnTo>
                    <a:lnTo>
                      <a:pt x="43" y="208"/>
                    </a:lnTo>
                    <a:lnTo>
                      <a:pt x="53" y="211"/>
                    </a:lnTo>
                    <a:lnTo>
                      <a:pt x="63" y="212"/>
                    </a:lnTo>
                    <a:lnTo>
                      <a:pt x="73" y="213"/>
                    </a:lnTo>
                    <a:lnTo>
                      <a:pt x="83" y="213"/>
                    </a:lnTo>
                    <a:lnTo>
                      <a:pt x="91" y="212"/>
                    </a:lnTo>
                    <a:lnTo>
                      <a:pt x="100" y="210"/>
                    </a:lnTo>
                    <a:lnTo>
                      <a:pt x="108" y="208"/>
                    </a:lnTo>
                    <a:lnTo>
                      <a:pt x="116" y="206"/>
                    </a:lnTo>
                    <a:lnTo>
                      <a:pt x="123" y="203"/>
                    </a:lnTo>
                    <a:lnTo>
                      <a:pt x="130" y="199"/>
                    </a:lnTo>
                    <a:lnTo>
                      <a:pt x="136" y="195"/>
                    </a:lnTo>
                    <a:lnTo>
                      <a:pt x="142" y="191"/>
                    </a:lnTo>
                    <a:lnTo>
                      <a:pt x="158" y="176"/>
                    </a:lnTo>
                    <a:lnTo>
                      <a:pt x="169" y="161"/>
                    </a:lnTo>
                    <a:lnTo>
                      <a:pt x="176" y="144"/>
                    </a:lnTo>
                    <a:lnTo>
                      <a:pt x="179" y="128"/>
                    </a:lnTo>
                    <a:lnTo>
                      <a:pt x="181" y="111"/>
                    </a:lnTo>
                    <a:lnTo>
                      <a:pt x="181" y="95"/>
                    </a:lnTo>
                    <a:lnTo>
                      <a:pt x="182" y="79"/>
                    </a:lnTo>
                    <a:lnTo>
                      <a:pt x="173" y="46"/>
                    </a:lnTo>
                    <a:lnTo>
                      <a:pt x="156" y="21"/>
                    </a:lnTo>
                    <a:lnTo>
                      <a:pt x="151" y="18"/>
                    </a:lnTo>
                    <a:lnTo>
                      <a:pt x="147" y="15"/>
                    </a:lnTo>
                    <a:lnTo>
                      <a:pt x="142" y="13"/>
                    </a:lnTo>
                    <a:lnTo>
                      <a:pt x="138" y="11"/>
                    </a:lnTo>
                    <a:lnTo>
                      <a:pt x="132" y="9"/>
                    </a:lnTo>
                    <a:lnTo>
                      <a:pt x="126" y="6"/>
                    </a:lnTo>
                    <a:lnTo>
                      <a:pt x="119" y="3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304140" name="Freeform 12"/>
              <p:cNvSpPr>
                <a:spLocks/>
              </p:cNvSpPr>
              <p:nvPr userDrawn="1"/>
            </p:nvSpPr>
            <p:spPr bwMode="ltGray">
              <a:xfrm rot="373331" flipH="1">
                <a:off x="121" y="2907"/>
                <a:ext cx="93" cy="156"/>
              </a:xfrm>
              <a:custGeom>
                <a:avLst/>
                <a:gdLst>
                  <a:gd name="T0" fmla="*/ 94 w 128"/>
                  <a:gd name="T1" fmla="*/ 0 h 217"/>
                  <a:gd name="T2" fmla="*/ 105 w 128"/>
                  <a:gd name="T3" fmla="*/ 9 h 217"/>
                  <a:gd name="T4" fmla="*/ 115 w 128"/>
                  <a:gd name="T5" fmla="*/ 27 h 217"/>
                  <a:gd name="T6" fmla="*/ 123 w 128"/>
                  <a:gd name="T7" fmla="*/ 50 h 217"/>
                  <a:gd name="T8" fmla="*/ 128 w 128"/>
                  <a:gd name="T9" fmla="*/ 78 h 217"/>
                  <a:gd name="T10" fmla="*/ 127 w 128"/>
                  <a:gd name="T11" fmla="*/ 111 h 217"/>
                  <a:gd name="T12" fmla="*/ 116 w 128"/>
                  <a:gd name="T13" fmla="*/ 145 h 217"/>
                  <a:gd name="T14" fmla="*/ 94 w 128"/>
                  <a:gd name="T15" fmla="*/ 181 h 217"/>
                  <a:gd name="T16" fmla="*/ 60 w 128"/>
                  <a:gd name="T17" fmla="*/ 217 h 217"/>
                  <a:gd name="T18" fmla="*/ 49 w 128"/>
                  <a:gd name="T19" fmla="*/ 213 h 217"/>
                  <a:gd name="T20" fmla="*/ 38 w 128"/>
                  <a:gd name="T21" fmla="*/ 210 h 217"/>
                  <a:gd name="T22" fmla="*/ 26 w 128"/>
                  <a:gd name="T23" fmla="*/ 205 h 217"/>
                  <a:gd name="T24" fmla="*/ 16 w 128"/>
                  <a:gd name="T25" fmla="*/ 201 h 217"/>
                  <a:gd name="T26" fmla="*/ 8 w 128"/>
                  <a:gd name="T27" fmla="*/ 196 h 217"/>
                  <a:gd name="T28" fmla="*/ 2 w 128"/>
                  <a:gd name="T29" fmla="*/ 190 h 217"/>
                  <a:gd name="T30" fmla="*/ 0 w 128"/>
                  <a:gd name="T31" fmla="*/ 183 h 217"/>
                  <a:gd name="T32" fmla="*/ 1 w 128"/>
                  <a:gd name="T33" fmla="*/ 178 h 217"/>
                  <a:gd name="T34" fmla="*/ 13 w 128"/>
                  <a:gd name="T35" fmla="*/ 171 h 217"/>
                  <a:gd name="T36" fmla="*/ 29 w 128"/>
                  <a:gd name="T37" fmla="*/ 161 h 217"/>
                  <a:gd name="T38" fmla="*/ 46 w 128"/>
                  <a:gd name="T39" fmla="*/ 150 h 217"/>
                  <a:gd name="T40" fmla="*/ 63 w 128"/>
                  <a:gd name="T41" fmla="*/ 134 h 217"/>
                  <a:gd name="T42" fmla="*/ 79 w 128"/>
                  <a:gd name="T43" fmla="*/ 112 h 217"/>
                  <a:gd name="T44" fmla="*/ 91 w 128"/>
                  <a:gd name="T45" fmla="*/ 83 h 217"/>
                  <a:gd name="T46" fmla="*/ 97 w 128"/>
                  <a:gd name="T47" fmla="*/ 46 h 217"/>
                  <a:gd name="T48" fmla="*/ 94 w 128"/>
                  <a:gd name="T49" fmla="*/ 0 h 2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28" h="217">
                    <a:moveTo>
                      <a:pt x="94" y="0"/>
                    </a:moveTo>
                    <a:lnTo>
                      <a:pt x="105" y="9"/>
                    </a:lnTo>
                    <a:lnTo>
                      <a:pt x="115" y="27"/>
                    </a:lnTo>
                    <a:lnTo>
                      <a:pt x="123" y="50"/>
                    </a:lnTo>
                    <a:lnTo>
                      <a:pt x="128" y="78"/>
                    </a:lnTo>
                    <a:lnTo>
                      <a:pt x="127" y="111"/>
                    </a:lnTo>
                    <a:lnTo>
                      <a:pt x="116" y="145"/>
                    </a:lnTo>
                    <a:lnTo>
                      <a:pt x="94" y="181"/>
                    </a:lnTo>
                    <a:lnTo>
                      <a:pt x="60" y="217"/>
                    </a:lnTo>
                    <a:lnTo>
                      <a:pt x="49" y="213"/>
                    </a:lnTo>
                    <a:lnTo>
                      <a:pt x="38" y="210"/>
                    </a:lnTo>
                    <a:lnTo>
                      <a:pt x="26" y="205"/>
                    </a:lnTo>
                    <a:lnTo>
                      <a:pt x="16" y="201"/>
                    </a:lnTo>
                    <a:lnTo>
                      <a:pt x="8" y="196"/>
                    </a:lnTo>
                    <a:lnTo>
                      <a:pt x="2" y="190"/>
                    </a:lnTo>
                    <a:lnTo>
                      <a:pt x="0" y="183"/>
                    </a:lnTo>
                    <a:lnTo>
                      <a:pt x="1" y="178"/>
                    </a:lnTo>
                    <a:lnTo>
                      <a:pt x="13" y="171"/>
                    </a:lnTo>
                    <a:lnTo>
                      <a:pt x="29" y="161"/>
                    </a:lnTo>
                    <a:lnTo>
                      <a:pt x="46" y="150"/>
                    </a:lnTo>
                    <a:lnTo>
                      <a:pt x="63" y="134"/>
                    </a:lnTo>
                    <a:lnTo>
                      <a:pt x="79" y="112"/>
                    </a:lnTo>
                    <a:lnTo>
                      <a:pt x="91" y="83"/>
                    </a:lnTo>
                    <a:lnTo>
                      <a:pt x="97" y="46"/>
                    </a:lnTo>
                    <a:lnTo>
                      <a:pt x="94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304141" name="Freeform 13"/>
              <p:cNvSpPr>
                <a:spLocks/>
              </p:cNvSpPr>
              <p:nvPr userDrawn="1"/>
            </p:nvSpPr>
            <p:spPr bwMode="ltGray">
              <a:xfrm rot="373331" flipH="1">
                <a:off x="313" y="3110"/>
                <a:ext cx="85" cy="93"/>
              </a:xfrm>
              <a:custGeom>
                <a:avLst/>
                <a:gdLst>
                  <a:gd name="T0" fmla="*/ 75 w 117"/>
                  <a:gd name="T1" fmla="*/ 0 h 132"/>
                  <a:gd name="T2" fmla="*/ 0 w 117"/>
                  <a:gd name="T3" fmla="*/ 25 h 132"/>
                  <a:gd name="T4" fmla="*/ 3 w 117"/>
                  <a:gd name="T5" fmla="*/ 26 h 132"/>
                  <a:gd name="T6" fmla="*/ 14 w 117"/>
                  <a:gd name="T7" fmla="*/ 29 h 132"/>
                  <a:gd name="T8" fmla="*/ 29 w 117"/>
                  <a:gd name="T9" fmla="*/ 36 h 132"/>
                  <a:gd name="T10" fmla="*/ 46 w 117"/>
                  <a:gd name="T11" fmla="*/ 47 h 132"/>
                  <a:gd name="T12" fmla="*/ 66 w 117"/>
                  <a:gd name="T13" fmla="*/ 62 h 132"/>
                  <a:gd name="T14" fmla="*/ 84 w 117"/>
                  <a:gd name="T15" fmla="*/ 80 h 132"/>
                  <a:gd name="T16" fmla="*/ 102 w 117"/>
                  <a:gd name="T17" fmla="*/ 103 h 132"/>
                  <a:gd name="T18" fmla="*/ 116 w 117"/>
                  <a:gd name="T19" fmla="*/ 132 h 132"/>
                  <a:gd name="T20" fmla="*/ 117 w 117"/>
                  <a:gd name="T21" fmla="*/ 120 h 132"/>
                  <a:gd name="T22" fmla="*/ 115 w 117"/>
                  <a:gd name="T23" fmla="*/ 107 h 132"/>
                  <a:gd name="T24" fmla="*/ 108 w 117"/>
                  <a:gd name="T25" fmla="*/ 90 h 132"/>
                  <a:gd name="T26" fmla="*/ 99 w 117"/>
                  <a:gd name="T27" fmla="*/ 74 h 132"/>
                  <a:gd name="T28" fmla="*/ 89 w 117"/>
                  <a:gd name="T29" fmla="*/ 58 h 132"/>
                  <a:gd name="T30" fmla="*/ 78 w 117"/>
                  <a:gd name="T31" fmla="*/ 45 h 132"/>
                  <a:gd name="T32" fmla="*/ 67 w 117"/>
                  <a:gd name="T33" fmla="*/ 36 h 132"/>
                  <a:gd name="T34" fmla="*/ 58 w 117"/>
                  <a:gd name="T35" fmla="*/ 32 h 132"/>
                  <a:gd name="T36" fmla="*/ 69 w 117"/>
                  <a:gd name="T37" fmla="*/ 29 h 132"/>
                  <a:gd name="T38" fmla="*/ 79 w 117"/>
                  <a:gd name="T39" fmla="*/ 28 h 132"/>
                  <a:gd name="T40" fmla="*/ 89 w 117"/>
                  <a:gd name="T41" fmla="*/ 26 h 132"/>
                  <a:gd name="T42" fmla="*/ 98 w 117"/>
                  <a:gd name="T43" fmla="*/ 25 h 132"/>
                  <a:gd name="T44" fmla="*/ 105 w 117"/>
                  <a:gd name="T45" fmla="*/ 24 h 132"/>
                  <a:gd name="T46" fmla="*/ 109 w 117"/>
                  <a:gd name="T47" fmla="*/ 22 h 132"/>
                  <a:gd name="T48" fmla="*/ 113 w 117"/>
                  <a:gd name="T49" fmla="*/ 21 h 132"/>
                  <a:gd name="T50" fmla="*/ 114 w 117"/>
                  <a:gd name="T51" fmla="*/ 21 h 132"/>
                  <a:gd name="T52" fmla="*/ 75 w 117"/>
                  <a:gd name="T53" fmla="*/ 0 h 1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17" h="132">
                    <a:moveTo>
                      <a:pt x="75" y="0"/>
                    </a:moveTo>
                    <a:lnTo>
                      <a:pt x="0" y="25"/>
                    </a:lnTo>
                    <a:lnTo>
                      <a:pt x="3" y="26"/>
                    </a:lnTo>
                    <a:lnTo>
                      <a:pt x="14" y="29"/>
                    </a:lnTo>
                    <a:lnTo>
                      <a:pt x="29" y="36"/>
                    </a:lnTo>
                    <a:lnTo>
                      <a:pt x="46" y="47"/>
                    </a:lnTo>
                    <a:lnTo>
                      <a:pt x="66" y="62"/>
                    </a:lnTo>
                    <a:lnTo>
                      <a:pt x="84" y="80"/>
                    </a:lnTo>
                    <a:lnTo>
                      <a:pt x="102" y="103"/>
                    </a:lnTo>
                    <a:lnTo>
                      <a:pt x="116" y="132"/>
                    </a:lnTo>
                    <a:lnTo>
                      <a:pt x="117" y="120"/>
                    </a:lnTo>
                    <a:lnTo>
                      <a:pt x="115" y="107"/>
                    </a:lnTo>
                    <a:lnTo>
                      <a:pt x="108" y="90"/>
                    </a:lnTo>
                    <a:lnTo>
                      <a:pt x="99" y="74"/>
                    </a:lnTo>
                    <a:lnTo>
                      <a:pt x="89" y="58"/>
                    </a:lnTo>
                    <a:lnTo>
                      <a:pt x="78" y="45"/>
                    </a:lnTo>
                    <a:lnTo>
                      <a:pt x="67" y="36"/>
                    </a:lnTo>
                    <a:lnTo>
                      <a:pt x="58" y="32"/>
                    </a:lnTo>
                    <a:lnTo>
                      <a:pt x="69" y="29"/>
                    </a:lnTo>
                    <a:lnTo>
                      <a:pt x="79" y="28"/>
                    </a:lnTo>
                    <a:lnTo>
                      <a:pt x="89" y="26"/>
                    </a:lnTo>
                    <a:lnTo>
                      <a:pt x="98" y="25"/>
                    </a:lnTo>
                    <a:lnTo>
                      <a:pt x="105" y="24"/>
                    </a:lnTo>
                    <a:lnTo>
                      <a:pt x="109" y="22"/>
                    </a:lnTo>
                    <a:lnTo>
                      <a:pt x="113" y="21"/>
                    </a:lnTo>
                    <a:lnTo>
                      <a:pt x="114" y="21"/>
                    </a:lnTo>
                    <a:lnTo>
                      <a:pt x="75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304142" name="Freeform 14"/>
              <p:cNvSpPr>
                <a:spLocks/>
              </p:cNvSpPr>
              <p:nvPr userDrawn="1"/>
            </p:nvSpPr>
            <p:spPr bwMode="ltGray">
              <a:xfrm rot="373331" flipH="1">
                <a:off x="289" y="3135"/>
                <a:ext cx="21" cy="55"/>
              </a:xfrm>
              <a:custGeom>
                <a:avLst/>
                <a:gdLst>
                  <a:gd name="T0" fmla="*/ 29 w 29"/>
                  <a:gd name="T1" fmla="*/ 0 h 77"/>
                  <a:gd name="T2" fmla="*/ 23 w 29"/>
                  <a:gd name="T3" fmla="*/ 0 h 77"/>
                  <a:gd name="T4" fmla="*/ 16 w 29"/>
                  <a:gd name="T5" fmla="*/ 4 h 77"/>
                  <a:gd name="T6" fmla="*/ 9 w 29"/>
                  <a:gd name="T7" fmla="*/ 9 h 77"/>
                  <a:gd name="T8" fmla="*/ 4 w 29"/>
                  <a:gd name="T9" fmla="*/ 19 h 77"/>
                  <a:gd name="T10" fmla="*/ 1 w 29"/>
                  <a:gd name="T11" fmla="*/ 30 h 77"/>
                  <a:gd name="T12" fmla="*/ 0 w 29"/>
                  <a:gd name="T13" fmla="*/ 44 h 77"/>
                  <a:gd name="T14" fmla="*/ 3 w 29"/>
                  <a:gd name="T15" fmla="*/ 60 h 77"/>
                  <a:gd name="T16" fmla="*/ 11 w 29"/>
                  <a:gd name="T17" fmla="*/ 77 h 77"/>
                  <a:gd name="T18" fmla="*/ 15 w 29"/>
                  <a:gd name="T19" fmla="*/ 53 h 77"/>
                  <a:gd name="T20" fmla="*/ 19 w 29"/>
                  <a:gd name="T21" fmla="*/ 37 h 77"/>
                  <a:gd name="T22" fmla="*/ 23 w 29"/>
                  <a:gd name="T23" fmla="*/ 22 h 77"/>
                  <a:gd name="T24" fmla="*/ 29 w 29"/>
                  <a:gd name="T25" fmla="*/ 0 h 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9" h="77">
                    <a:moveTo>
                      <a:pt x="29" y="0"/>
                    </a:moveTo>
                    <a:lnTo>
                      <a:pt x="23" y="0"/>
                    </a:lnTo>
                    <a:lnTo>
                      <a:pt x="16" y="4"/>
                    </a:lnTo>
                    <a:lnTo>
                      <a:pt x="9" y="9"/>
                    </a:lnTo>
                    <a:lnTo>
                      <a:pt x="4" y="19"/>
                    </a:lnTo>
                    <a:lnTo>
                      <a:pt x="1" y="30"/>
                    </a:lnTo>
                    <a:lnTo>
                      <a:pt x="0" y="44"/>
                    </a:lnTo>
                    <a:lnTo>
                      <a:pt x="3" y="60"/>
                    </a:lnTo>
                    <a:lnTo>
                      <a:pt x="11" y="77"/>
                    </a:lnTo>
                    <a:lnTo>
                      <a:pt x="15" y="53"/>
                    </a:lnTo>
                    <a:lnTo>
                      <a:pt x="19" y="37"/>
                    </a:lnTo>
                    <a:lnTo>
                      <a:pt x="23" y="22"/>
                    </a:lnTo>
                    <a:lnTo>
                      <a:pt x="29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grpSp>
            <p:nvGrpSpPr>
              <p:cNvPr id="304143" name="Group 15"/>
              <p:cNvGrpSpPr>
                <a:grpSpLocks/>
              </p:cNvGrpSpPr>
              <p:nvPr userDrawn="1"/>
            </p:nvGrpSpPr>
            <p:grpSpPr bwMode="auto">
              <a:xfrm rot="10886446" flipH="1">
                <a:off x="335" y="3251"/>
                <a:ext cx="608" cy="369"/>
                <a:chOff x="-366" y="1704"/>
                <a:chExt cx="608" cy="369"/>
              </a:xfrm>
            </p:grpSpPr>
            <p:sp>
              <p:nvSpPr>
                <p:cNvPr id="304144" name="Freeform 16"/>
                <p:cNvSpPr>
                  <a:spLocks/>
                </p:cNvSpPr>
                <p:nvPr userDrawn="1"/>
              </p:nvSpPr>
              <p:spPr bwMode="ltGray">
                <a:xfrm rot="4200091">
                  <a:off x="-243" y="1807"/>
                  <a:ext cx="143" cy="390"/>
                </a:xfrm>
                <a:custGeom>
                  <a:avLst/>
                  <a:gdLst>
                    <a:gd name="T0" fmla="*/ 12 w 207"/>
                    <a:gd name="T1" fmla="*/ 44 h 564"/>
                    <a:gd name="T2" fmla="*/ 6 w 207"/>
                    <a:gd name="T3" fmla="*/ 72 h 564"/>
                    <a:gd name="T4" fmla="*/ 3 w 207"/>
                    <a:gd name="T5" fmla="*/ 99 h 564"/>
                    <a:gd name="T6" fmla="*/ 0 w 207"/>
                    <a:gd name="T7" fmla="*/ 125 h 564"/>
                    <a:gd name="T8" fmla="*/ 0 w 207"/>
                    <a:gd name="T9" fmla="*/ 151 h 564"/>
                    <a:gd name="T10" fmla="*/ 3 w 207"/>
                    <a:gd name="T11" fmla="*/ 180 h 564"/>
                    <a:gd name="T12" fmla="*/ 7 w 207"/>
                    <a:gd name="T13" fmla="*/ 211 h 564"/>
                    <a:gd name="T14" fmla="*/ 16 w 207"/>
                    <a:gd name="T15" fmla="*/ 247 h 564"/>
                    <a:gd name="T16" fmla="*/ 29 w 207"/>
                    <a:gd name="T17" fmla="*/ 287 h 564"/>
                    <a:gd name="T18" fmla="*/ 43 w 207"/>
                    <a:gd name="T19" fmla="*/ 325 h 564"/>
                    <a:gd name="T20" fmla="*/ 61 w 207"/>
                    <a:gd name="T21" fmla="*/ 364 h 564"/>
                    <a:gd name="T22" fmla="*/ 83 w 207"/>
                    <a:gd name="T23" fmla="*/ 406 h 564"/>
                    <a:gd name="T24" fmla="*/ 106 w 207"/>
                    <a:gd name="T25" fmla="*/ 446 h 564"/>
                    <a:gd name="T26" fmla="*/ 132 w 207"/>
                    <a:gd name="T27" fmla="*/ 483 h 564"/>
                    <a:gd name="T28" fmla="*/ 157 w 207"/>
                    <a:gd name="T29" fmla="*/ 516 h 564"/>
                    <a:gd name="T30" fmla="*/ 182 w 207"/>
                    <a:gd name="T31" fmla="*/ 544 h 564"/>
                    <a:gd name="T32" fmla="*/ 207 w 207"/>
                    <a:gd name="T33" fmla="*/ 564 h 564"/>
                    <a:gd name="T34" fmla="*/ 160 w 207"/>
                    <a:gd name="T35" fmla="*/ 501 h 564"/>
                    <a:gd name="T36" fmla="*/ 127 w 207"/>
                    <a:gd name="T37" fmla="*/ 448 h 564"/>
                    <a:gd name="T38" fmla="*/ 103 w 207"/>
                    <a:gd name="T39" fmla="*/ 405 h 564"/>
                    <a:gd name="T40" fmla="*/ 87 w 207"/>
                    <a:gd name="T41" fmla="*/ 368 h 564"/>
                    <a:gd name="T42" fmla="*/ 75 w 207"/>
                    <a:gd name="T43" fmla="*/ 337 h 564"/>
                    <a:gd name="T44" fmla="*/ 68 w 207"/>
                    <a:gd name="T45" fmla="*/ 309 h 564"/>
                    <a:gd name="T46" fmla="*/ 63 w 207"/>
                    <a:gd name="T47" fmla="*/ 285 h 564"/>
                    <a:gd name="T48" fmla="*/ 56 w 207"/>
                    <a:gd name="T49" fmla="*/ 261 h 564"/>
                    <a:gd name="T50" fmla="*/ 44 w 207"/>
                    <a:gd name="T51" fmla="*/ 205 h 564"/>
                    <a:gd name="T52" fmla="*/ 41 w 207"/>
                    <a:gd name="T53" fmla="*/ 140 h 564"/>
                    <a:gd name="T54" fmla="*/ 43 w 207"/>
                    <a:gd name="T55" fmla="*/ 68 h 564"/>
                    <a:gd name="T56" fmla="*/ 50 w 207"/>
                    <a:gd name="T57" fmla="*/ 0 h 564"/>
                    <a:gd name="T58" fmla="*/ 12 w 207"/>
                    <a:gd name="T59" fmla="*/ 44 h 56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</a:cxnLst>
                  <a:rect l="0" t="0" r="r" b="b"/>
                  <a:pathLst>
                    <a:path w="207" h="564">
                      <a:moveTo>
                        <a:pt x="12" y="44"/>
                      </a:moveTo>
                      <a:lnTo>
                        <a:pt x="6" y="72"/>
                      </a:lnTo>
                      <a:lnTo>
                        <a:pt x="3" y="99"/>
                      </a:lnTo>
                      <a:lnTo>
                        <a:pt x="0" y="125"/>
                      </a:lnTo>
                      <a:lnTo>
                        <a:pt x="0" y="151"/>
                      </a:lnTo>
                      <a:lnTo>
                        <a:pt x="3" y="180"/>
                      </a:lnTo>
                      <a:lnTo>
                        <a:pt x="7" y="211"/>
                      </a:lnTo>
                      <a:lnTo>
                        <a:pt x="16" y="247"/>
                      </a:lnTo>
                      <a:lnTo>
                        <a:pt x="29" y="287"/>
                      </a:lnTo>
                      <a:lnTo>
                        <a:pt x="43" y="325"/>
                      </a:lnTo>
                      <a:lnTo>
                        <a:pt x="61" y="364"/>
                      </a:lnTo>
                      <a:lnTo>
                        <a:pt x="83" y="406"/>
                      </a:lnTo>
                      <a:lnTo>
                        <a:pt x="106" y="446"/>
                      </a:lnTo>
                      <a:lnTo>
                        <a:pt x="132" y="483"/>
                      </a:lnTo>
                      <a:lnTo>
                        <a:pt x="157" y="516"/>
                      </a:lnTo>
                      <a:lnTo>
                        <a:pt x="182" y="544"/>
                      </a:lnTo>
                      <a:lnTo>
                        <a:pt x="207" y="564"/>
                      </a:lnTo>
                      <a:lnTo>
                        <a:pt x="160" y="501"/>
                      </a:lnTo>
                      <a:lnTo>
                        <a:pt x="127" y="448"/>
                      </a:lnTo>
                      <a:lnTo>
                        <a:pt x="103" y="405"/>
                      </a:lnTo>
                      <a:lnTo>
                        <a:pt x="87" y="368"/>
                      </a:lnTo>
                      <a:lnTo>
                        <a:pt x="75" y="337"/>
                      </a:lnTo>
                      <a:lnTo>
                        <a:pt x="68" y="309"/>
                      </a:lnTo>
                      <a:lnTo>
                        <a:pt x="63" y="285"/>
                      </a:lnTo>
                      <a:lnTo>
                        <a:pt x="56" y="261"/>
                      </a:lnTo>
                      <a:lnTo>
                        <a:pt x="44" y="205"/>
                      </a:lnTo>
                      <a:lnTo>
                        <a:pt x="41" y="140"/>
                      </a:lnTo>
                      <a:lnTo>
                        <a:pt x="43" y="68"/>
                      </a:lnTo>
                      <a:lnTo>
                        <a:pt x="50" y="0"/>
                      </a:lnTo>
                      <a:lnTo>
                        <a:pt x="12" y="44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ZA"/>
                </a:p>
              </p:txBody>
            </p:sp>
            <p:sp>
              <p:nvSpPr>
                <p:cNvPr id="304145" name="Freeform 17"/>
                <p:cNvSpPr>
                  <a:spLocks/>
                </p:cNvSpPr>
                <p:nvPr userDrawn="1"/>
              </p:nvSpPr>
              <p:spPr bwMode="ltGray">
                <a:xfrm rot="4200091">
                  <a:off x="124" y="1761"/>
                  <a:ext cx="33" cy="160"/>
                </a:xfrm>
                <a:custGeom>
                  <a:avLst/>
                  <a:gdLst>
                    <a:gd name="T0" fmla="*/ 0 w 47"/>
                    <a:gd name="T1" fmla="*/ 19 h 232"/>
                    <a:gd name="T2" fmla="*/ 14 w 47"/>
                    <a:gd name="T3" fmla="*/ 55 h 232"/>
                    <a:gd name="T4" fmla="*/ 22 w 47"/>
                    <a:gd name="T5" fmla="*/ 101 h 232"/>
                    <a:gd name="T6" fmla="*/ 24 w 47"/>
                    <a:gd name="T7" fmla="*/ 159 h 232"/>
                    <a:gd name="T8" fmla="*/ 19 w 47"/>
                    <a:gd name="T9" fmla="*/ 232 h 232"/>
                    <a:gd name="T10" fmla="*/ 45 w 47"/>
                    <a:gd name="T11" fmla="*/ 217 h 232"/>
                    <a:gd name="T12" fmla="*/ 47 w 47"/>
                    <a:gd name="T13" fmla="*/ 178 h 232"/>
                    <a:gd name="T14" fmla="*/ 47 w 47"/>
                    <a:gd name="T15" fmla="*/ 140 h 232"/>
                    <a:gd name="T16" fmla="*/ 45 w 47"/>
                    <a:gd name="T17" fmla="*/ 103 h 232"/>
                    <a:gd name="T18" fmla="*/ 41 w 47"/>
                    <a:gd name="T19" fmla="*/ 71 h 232"/>
                    <a:gd name="T20" fmla="*/ 36 w 47"/>
                    <a:gd name="T21" fmla="*/ 52 h 232"/>
                    <a:gd name="T22" fmla="*/ 29 w 47"/>
                    <a:gd name="T23" fmla="*/ 34 h 232"/>
                    <a:gd name="T24" fmla="*/ 22 w 47"/>
                    <a:gd name="T25" fmla="*/ 17 h 232"/>
                    <a:gd name="T26" fmla="*/ 13 w 47"/>
                    <a:gd name="T27" fmla="*/ 0 h 232"/>
                    <a:gd name="T28" fmla="*/ 0 w 47"/>
                    <a:gd name="T29" fmla="*/ 19 h 23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47" h="232">
                      <a:moveTo>
                        <a:pt x="0" y="19"/>
                      </a:moveTo>
                      <a:lnTo>
                        <a:pt x="14" y="55"/>
                      </a:lnTo>
                      <a:lnTo>
                        <a:pt x="22" y="101"/>
                      </a:lnTo>
                      <a:lnTo>
                        <a:pt x="24" y="159"/>
                      </a:lnTo>
                      <a:lnTo>
                        <a:pt x="19" y="232"/>
                      </a:lnTo>
                      <a:lnTo>
                        <a:pt x="45" y="217"/>
                      </a:lnTo>
                      <a:lnTo>
                        <a:pt x="47" y="178"/>
                      </a:lnTo>
                      <a:lnTo>
                        <a:pt x="47" y="140"/>
                      </a:lnTo>
                      <a:lnTo>
                        <a:pt x="45" y="103"/>
                      </a:lnTo>
                      <a:lnTo>
                        <a:pt x="41" y="71"/>
                      </a:lnTo>
                      <a:lnTo>
                        <a:pt x="36" y="52"/>
                      </a:lnTo>
                      <a:lnTo>
                        <a:pt x="29" y="34"/>
                      </a:lnTo>
                      <a:lnTo>
                        <a:pt x="22" y="17"/>
                      </a:lnTo>
                      <a:lnTo>
                        <a:pt x="13" y="0"/>
                      </a:lnTo>
                      <a:lnTo>
                        <a:pt x="0" y="19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ZA"/>
                </a:p>
              </p:txBody>
            </p:sp>
            <p:sp>
              <p:nvSpPr>
                <p:cNvPr id="304146" name="Freeform 18"/>
                <p:cNvSpPr>
                  <a:spLocks/>
                </p:cNvSpPr>
                <p:nvPr userDrawn="1"/>
              </p:nvSpPr>
              <p:spPr bwMode="ltGray">
                <a:xfrm rot="4200091">
                  <a:off x="199" y="1720"/>
                  <a:ext cx="60" cy="27"/>
                </a:xfrm>
                <a:custGeom>
                  <a:avLst/>
                  <a:gdLst>
                    <a:gd name="T0" fmla="*/ 87 w 87"/>
                    <a:gd name="T1" fmla="*/ 22 h 40"/>
                    <a:gd name="T2" fmla="*/ 77 w 87"/>
                    <a:gd name="T3" fmla="*/ 17 h 40"/>
                    <a:gd name="T4" fmla="*/ 68 w 87"/>
                    <a:gd name="T5" fmla="*/ 12 h 40"/>
                    <a:gd name="T6" fmla="*/ 58 w 87"/>
                    <a:gd name="T7" fmla="*/ 7 h 40"/>
                    <a:gd name="T8" fmla="*/ 47 w 87"/>
                    <a:gd name="T9" fmla="*/ 5 h 40"/>
                    <a:gd name="T10" fmla="*/ 37 w 87"/>
                    <a:gd name="T11" fmla="*/ 3 h 40"/>
                    <a:gd name="T12" fmla="*/ 26 w 87"/>
                    <a:gd name="T13" fmla="*/ 2 h 40"/>
                    <a:gd name="T14" fmla="*/ 13 w 87"/>
                    <a:gd name="T15" fmla="*/ 0 h 40"/>
                    <a:gd name="T16" fmla="*/ 0 w 87"/>
                    <a:gd name="T17" fmla="*/ 2 h 40"/>
                    <a:gd name="T18" fmla="*/ 6 w 87"/>
                    <a:gd name="T19" fmla="*/ 6 h 40"/>
                    <a:gd name="T20" fmla="*/ 14 w 87"/>
                    <a:gd name="T21" fmla="*/ 10 h 40"/>
                    <a:gd name="T22" fmla="*/ 22 w 87"/>
                    <a:gd name="T23" fmla="*/ 14 h 40"/>
                    <a:gd name="T24" fmla="*/ 33 w 87"/>
                    <a:gd name="T25" fmla="*/ 18 h 40"/>
                    <a:gd name="T26" fmla="*/ 42 w 87"/>
                    <a:gd name="T27" fmla="*/ 22 h 40"/>
                    <a:gd name="T28" fmla="*/ 52 w 87"/>
                    <a:gd name="T29" fmla="*/ 27 h 40"/>
                    <a:gd name="T30" fmla="*/ 64 w 87"/>
                    <a:gd name="T31" fmla="*/ 33 h 40"/>
                    <a:gd name="T32" fmla="*/ 74 w 87"/>
                    <a:gd name="T33" fmla="*/ 40 h 40"/>
                    <a:gd name="T34" fmla="*/ 87 w 87"/>
                    <a:gd name="T35" fmla="*/ 22 h 4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87" h="40">
                      <a:moveTo>
                        <a:pt x="87" y="22"/>
                      </a:moveTo>
                      <a:lnTo>
                        <a:pt x="77" y="17"/>
                      </a:lnTo>
                      <a:lnTo>
                        <a:pt x="68" y="12"/>
                      </a:lnTo>
                      <a:lnTo>
                        <a:pt x="58" y="7"/>
                      </a:lnTo>
                      <a:lnTo>
                        <a:pt x="47" y="5"/>
                      </a:lnTo>
                      <a:lnTo>
                        <a:pt x="37" y="3"/>
                      </a:lnTo>
                      <a:lnTo>
                        <a:pt x="26" y="2"/>
                      </a:lnTo>
                      <a:lnTo>
                        <a:pt x="13" y="0"/>
                      </a:lnTo>
                      <a:lnTo>
                        <a:pt x="0" y="2"/>
                      </a:lnTo>
                      <a:lnTo>
                        <a:pt x="6" y="6"/>
                      </a:lnTo>
                      <a:lnTo>
                        <a:pt x="14" y="10"/>
                      </a:lnTo>
                      <a:lnTo>
                        <a:pt x="22" y="14"/>
                      </a:lnTo>
                      <a:lnTo>
                        <a:pt x="33" y="18"/>
                      </a:lnTo>
                      <a:lnTo>
                        <a:pt x="42" y="22"/>
                      </a:lnTo>
                      <a:lnTo>
                        <a:pt x="52" y="27"/>
                      </a:lnTo>
                      <a:lnTo>
                        <a:pt x="64" y="33"/>
                      </a:lnTo>
                      <a:lnTo>
                        <a:pt x="74" y="40"/>
                      </a:lnTo>
                      <a:lnTo>
                        <a:pt x="87" y="22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ZA"/>
                </a:p>
              </p:txBody>
            </p:sp>
          </p:grpSp>
        </p:grpSp>
        <p:grpSp>
          <p:nvGrpSpPr>
            <p:cNvPr id="304147" name="Group 19"/>
            <p:cNvGrpSpPr>
              <a:grpSpLocks/>
            </p:cNvGrpSpPr>
            <p:nvPr/>
          </p:nvGrpSpPr>
          <p:grpSpPr bwMode="auto">
            <a:xfrm rot="-15351438">
              <a:off x="343" y="3854"/>
              <a:ext cx="392" cy="424"/>
              <a:chOff x="1727" y="866"/>
              <a:chExt cx="129" cy="157"/>
            </a:xfrm>
          </p:grpSpPr>
          <p:sp>
            <p:nvSpPr>
              <p:cNvPr id="304148" name="Freeform 20"/>
              <p:cNvSpPr>
                <a:spLocks/>
              </p:cNvSpPr>
              <p:nvPr userDrawn="1"/>
            </p:nvSpPr>
            <p:spPr bwMode="ltGray">
              <a:xfrm>
                <a:off x="1727" y="866"/>
                <a:ext cx="41" cy="59"/>
              </a:xfrm>
              <a:custGeom>
                <a:avLst/>
                <a:gdLst>
                  <a:gd name="T0" fmla="*/ 83 w 83"/>
                  <a:gd name="T1" fmla="*/ 28 h 117"/>
                  <a:gd name="T2" fmla="*/ 27 w 83"/>
                  <a:gd name="T3" fmla="*/ 0 h 117"/>
                  <a:gd name="T4" fmla="*/ 0 w 83"/>
                  <a:gd name="T5" fmla="*/ 117 h 117"/>
                  <a:gd name="T6" fmla="*/ 83 w 83"/>
                  <a:gd name="T7" fmla="*/ 28 h 1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83" h="117">
                    <a:moveTo>
                      <a:pt x="83" y="28"/>
                    </a:moveTo>
                    <a:lnTo>
                      <a:pt x="27" y="0"/>
                    </a:lnTo>
                    <a:lnTo>
                      <a:pt x="0" y="117"/>
                    </a:lnTo>
                    <a:lnTo>
                      <a:pt x="83" y="2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304149" name="Freeform 21"/>
              <p:cNvSpPr>
                <a:spLocks/>
              </p:cNvSpPr>
              <p:nvPr userDrawn="1"/>
            </p:nvSpPr>
            <p:spPr bwMode="ltGray">
              <a:xfrm>
                <a:off x="1786" y="894"/>
                <a:ext cx="70" cy="49"/>
              </a:xfrm>
              <a:custGeom>
                <a:avLst/>
                <a:gdLst>
                  <a:gd name="T0" fmla="*/ 0 w 140"/>
                  <a:gd name="T1" fmla="*/ 98 h 98"/>
                  <a:gd name="T2" fmla="*/ 118 w 140"/>
                  <a:gd name="T3" fmla="*/ 0 h 98"/>
                  <a:gd name="T4" fmla="*/ 140 w 140"/>
                  <a:gd name="T5" fmla="*/ 49 h 98"/>
                  <a:gd name="T6" fmla="*/ 0 w 140"/>
                  <a:gd name="T7" fmla="*/ 98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0" h="98">
                    <a:moveTo>
                      <a:pt x="0" y="98"/>
                    </a:moveTo>
                    <a:lnTo>
                      <a:pt x="118" y="0"/>
                    </a:lnTo>
                    <a:lnTo>
                      <a:pt x="140" y="49"/>
                    </a:lnTo>
                    <a:lnTo>
                      <a:pt x="0" y="9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304150" name="Freeform 22"/>
              <p:cNvSpPr>
                <a:spLocks/>
              </p:cNvSpPr>
              <p:nvPr userDrawn="1"/>
            </p:nvSpPr>
            <p:spPr bwMode="ltGray">
              <a:xfrm>
                <a:off x="1772" y="998"/>
                <a:ext cx="73" cy="25"/>
              </a:xfrm>
              <a:custGeom>
                <a:avLst/>
                <a:gdLst>
                  <a:gd name="T0" fmla="*/ 0 w 145"/>
                  <a:gd name="T1" fmla="*/ 7 h 49"/>
                  <a:gd name="T2" fmla="*/ 145 w 145"/>
                  <a:gd name="T3" fmla="*/ 0 h 49"/>
                  <a:gd name="T4" fmla="*/ 131 w 145"/>
                  <a:gd name="T5" fmla="*/ 49 h 49"/>
                  <a:gd name="T6" fmla="*/ 0 w 145"/>
                  <a:gd name="T7" fmla="*/ 7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5" h="49">
                    <a:moveTo>
                      <a:pt x="0" y="7"/>
                    </a:moveTo>
                    <a:lnTo>
                      <a:pt x="145" y="0"/>
                    </a:lnTo>
                    <a:lnTo>
                      <a:pt x="131" y="49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</p:grpSp>
        <p:grpSp>
          <p:nvGrpSpPr>
            <p:cNvPr id="304151" name="Group 23"/>
            <p:cNvGrpSpPr>
              <a:grpSpLocks/>
            </p:cNvGrpSpPr>
            <p:nvPr/>
          </p:nvGrpSpPr>
          <p:grpSpPr bwMode="auto">
            <a:xfrm rot="5003157">
              <a:off x="249" y="1102"/>
              <a:ext cx="412" cy="500"/>
              <a:chOff x="1727" y="866"/>
              <a:chExt cx="129" cy="157"/>
            </a:xfrm>
          </p:grpSpPr>
          <p:sp>
            <p:nvSpPr>
              <p:cNvPr id="304152" name="Freeform 24"/>
              <p:cNvSpPr>
                <a:spLocks/>
              </p:cNvSpPr>
              <p:nvPr userDrawn="1"/>
            </p:nvSpPr>
            <p:spPr bwMode="ltGray">
              <a:xfrm>
                <a:off x="1727" y="866"/>
                <a:ext cx="41" cy="59"/>
              </a:xfrm>
              <a:custGeom>
                <a:avLst/>
                <a:gdLst>
                  <a:gd name="T0" fmla="*/ 83 w 83"/>
                  <a:gd name="T1" fmla="*/ 28 h 117"/>
                  <a:gd name="T2" fmla="*/ 27 w 83"/>
                  <a:gd name="T3" fmla="*/ 0 h 117"/>
                  <a:gd name="T4" fmla="*/ 0 w 83"/>
                  <a:gd name="T5" fmla="*/ 117 h 117"/>
                  <a:gd name="T6" fmla="*/ 83 w 83"/>
                  <a:gd name="T7" fmla="*/ 28 h 1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83" h="117">
                    <a:moveTo>
                      <a:pt x="83" y="28"/>
                    </a:moveTo>
                    <a:lnTo>
                      <a:pt x="27" y="0"/>
                    </a:lnTo>
                    <a:lnTo>
                      <a:pt x="0" y="117"/>
                    </a:lnTo>
                    <a:lnTo>
                      <a:pt x="83" y="2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304153" name="Freeform 25"/>
              <p:cNvSpPr>
                <a:spLocks/>
              </p:cNvSpPr>
              <p:nvPr userDrawn="1"/>
            </p:nvSpPr>
            <p:spPr bwMode="ltGray">
              <a:xfrm>
                <a:off x="1786" y="894"/>
                <a:ext cx="70" cy="49"/>
              </a:xfrm>
              <a:custGeom>
                <a:avLst/>
                <a:gdLst>
                  <a:gd name="T0" fmla="*/ 0 w 140"/>
                  <a:gd name="T1" fmla="*/ 98 h 98"/>
                  <a:gd name="T2" fmla="*/ 118 w 140"/>
                  <a:gd name="T3" fmla="*/ 0 h 98"/>
                  <a:gd name="T4" fmla="*/ 140 w 140"/>
                  <a:gd name="T5" fmla="*/ 49 h 98"/>
                  <a:gd name="T6" fmla="*/ 0 w 140"/>
                  <a:gd name="T7" fmla="*/ 98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0" h="98">
                    <a:moveTo>
                      <a:pt x="0" y="98"/>
                    </a:moveTo>
                    <a:lnTo>
                      <a:pt x="118" y="0"/>
                    </a:lnTo>
                    <a:lnTo>
                      <a:pt x="140" y="49"/>
                    </a:lnTo>
                    <a:lnTo>
                      <a:pt x="0" y="9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304154" name="Freeform 26"/>
              <p:cNvSpPr>
                <a:spLocks/>
              </p:cNvSpPr>
              <p:nvPr userDrawn="1"/>
            </p:nvSpPr>
            <p:spPr bwMode="ltGray">
              <a:xfrm>
                <a:off x="1772" y="998"/>
                <a:ext cx="73" cy="25"/>
              </a:xfrm>
              <a:custGeom>
                <a:avLst/>
                <a:gdLst>
                  <a:gd name="T0" fmla="*/ 0 w 145"/>
                  <a:gd name="T1" fmla="*/ 7 h 49"/>
                  <a:gd name="T2" fmla="*/ 145 w 145"/>
                  <a:gd name="T3" fmla="*/ 0 h 49"/>
                  <a:gd name="T4" fmla="*/ 131 w 145"/>
                  <a:gd name="T5" fmla="*/ 49 h 49"/>
                  <a:gd name="T6" fmla="*/ 0 w 145"/>
                  <a:gd name="T7" fmla="*/ 7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5" h="49">
                    <a:moveTo>
                      <a:pt x="0" y="7"/>
                    </a:moveTo>
                    <a:lnTo>
                      <a:pt x="145" y="0"/>
                    </a:lnTo>
                    <a:lnTo>
                      <a:pt x="131" y="49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</p:grpSp>
        <p:grpSp>
          <p:nvGrpSpPr>
            <p:cNvPr id="304155" name="Group 27"/>
            <p:cNvGrpSpPr>
              <a:grpSpLocks/>
            </p:cNvGrpSpPr>
            <p:nvPr/>
          </p:nvGrpSpPr>
          <p:grpSpPr bwMode="auto">
            <a:xfrm>
              <a:off x="815" y="0"/>
              <a:ext cx="345" cy="367"/>
              <a:chOff x="1727" y="866"/>
              <a:chExt cx="129" cy="157"/>
            </a:xfrm>
          </p:grpSpPr>
          <p:sp>
            <p:nvSpPr>
              <p:cNvPr id="304156" name="Freeform 28"/>
              <p:cNvSpPr>
                <a:spLocks/>
              </p:cNvSpPr>
              <p:nvPr userDrawn="1"/>
            </p:nvSpPr>
            <p:spPr bwMode="ltGray">
              <a:xfrm>
                <a:off x="1727" y="866"/>
                <a:ext cx="41" cy="59"/>
              </a:xfrm>
              <a:custGeom>
                <a:avLst/>
                <a:gdLst>
                  <a:gd name="T0" fmla="*/ 83 w 83"/>
                  <a:gd name="T1" fmla="*/ 28 h 117"/>
                  <a:gd name="T2" fmla="*/ 27 w 83"/>
                  <a:gd name="T3" fmla="*/ 0 h 117"/>
                  <a:gd name="T4" fmla="*/ 0 w 83"/>
                  <a:gd name="T5" fmla="*/ 117 h 117"/>
                  <a:gd name="T6" fmla="*/ 83 w 83"/>
                  <a:gd name="T7" fmla="*/ 28 h 1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83" h="117">
                    <a:moveTo>
                      <a:pt x="83" y="28"/>
                    </a:moveTo>
                    <a:lnTo>
                      <a:pt x="27" y="0"/>
                    </a:lnTo>
                    <a:lnTo>
                      <a:pt x="0" y="117"/>
                    </a:lnTo>
                    <a:lnTo>
                      <a:pt x="83" y="2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304157" name="Freeform 29"/>
              <p:cNvSpPr>
                <a:spLocks/>
              </p:cNvSpPr>
              <p:nvPr userDrawn="1"/>
            </p:nvSpPr>
            <p:spPr bwMode="ltGray">
              <a:xfrm>
                <a:off x="1786" y="894"/>
                <a:ext cx="70" cy="49"/>
              </a:xfrm>
              <a:custGeom>
                <a:avLst/>
                <a:gdLst>
                  <a:gd name="T0" fmla="*/ 0 w 140"/>
                  <a:gd name="T1" fmla="*/ 98 h 98"/>
                  <a:gd name="T2" fmla="*/ 118 w 140"/>
                  <a:gd name="T3" fmla="*/ 0 h 98"/>
                  <a:gd name="T4" fmla="*/ 140 w 140"/>
                  <a:gd name="T5" fmla="*/ 49 h 98"/>
                  <a:gd name="T6" fmla="*/ 0 w 140"/>
                  <a:gd name="T7" fmla="*/ 98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0" h="98">
                    <a:moveTo>
                      <a:pt x="0" y="98"/>
                    </a:moveTo>
                    <a:lnTo>
                      <a:pt x="118" y="0"/>
                    </a:lnTo>
                    <a:lnTo>
                      <a:pt x="140" y="49"/>
                    </a:lnTo>
                    <a:lnTo>
                      <a:pt x="0" y="9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304158" name="Freeform 30"/>
              <p:cNvSpPr>
                <a:spLocks/>
              </p:cNvSpPr>
              <p:nvPr userDrawn="1"/>
            </p:nvSpPr>
            <p:spPr bwMode="ltGray">
              <a:xfrm>
                <a:off x="1772" y="998"/>
                <a:ext cx="73" cy="25"/>
              </a:xfrm>
              <a:custGeom>
                <a:avLst/>
                <a:gdLst>
                  <a:gd name="T0" fmla="*/ 0 w 145"/>
                  <a:gd name="T1" fmla="*/ 7 h 49"/>
                  <a:gd name="T2" fmla="*/ 145 w 145"/>
                  <a:gd name="T3" fmla="*/ 0 h 49"/>
                  <a:gd name="T4" fmla="*/ 131 w 145"/>
                  <a:gd name="T5" fmla="*/ 49 h 49"/>
                  <a:gd name="T6" fmla="*/ 0 w 145"/>
                  <a:gd name="T7" fmla="*/ 7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5" h="49">
                    <a:moveTo>
                      <a:pt x="0" y="7"/>
                    </a:moveTo>
                    <a:lnTo>
                      <a:pt x="145" y="0"/>
                    </a:lnTo>
                    <a:lnTo>
                      <a:pt x="131" y="49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</p:grpSp>
        <p:sp>
          <p:nvSpPr>
            <p:cNvPr id="304159" name="Freeform 31"/>
            <p:cNvSpPr>
              <a:spLocks/>
            </p:cNvSpPr>
            <p:nvPr/>
          </p:nvSpPr>
          <p:spPr bwMode="ltGray">
            <a:xfrm>
              <a:off x="87" y="94"/>
              <a:ext cx="699" cy="756"/>
            </a:xfrm>
            <a:custGeom>
              <a:avLst/>
              <a:gdLst>
                <a:gd name="T0" fmla="*/ 1 w 699"/>
                <a:gd name="T1" fmla="*/ 392 h 756"/>
                <a:gd name="T2" fmla="*/ 3 w 699"/>
                <a:gd name="T3" fmla="*/ 252 h 756"/>
                <a:gd name="T4" fmla="*/ 21 w 699"/>
                <a:gd name="T5" fmla="*/ 210 h 756"/>
                <a:gd name="T6" fmla="*/ 29 w 699"/>
                <a:gd name="T7" fmla="*/ 182 h 756"/>
                <a:gd name="T8" fmla="*/ 39 w 699"/>
                <a:gd name="T9" fmla="*/ 154 h 756"/>
                <a:gd name="T10" fmla="*/ 51 w 699"/>
                <a:gd name="T11" fmla="*/ 138 h 756"/>
                <a:gd name="T12" fmla="*/ 111 w 699"/>
                <a:gd name="T13" fmla="*/ 74 h 756"/>
                <a:gd name="T14" fmla="*/ 169 w 699"/>
                <a:gd name="T15" fmla="*/ 30 h 756"/>
                <a:gd name="T16" fmla="*/ 225 w 699"/>
                <a:gd name="T17" fmla="*/ 10 h 756"/>
                <a:gd name="T18" fmla="*/ 249 w 699"/>
                <a:gd name="T19" fmla="*/ 4 h 756"/>
                <a:gd name="T20" fmla="*/ 265 w 699"/>
                <a:gd name="T21" fmla="*/ 0 h 756"/>
                <a:gd name="T22" fmla="*/ 357 w 699"/>
                <a:gd name="T23" fmla="*/ 2 h 756"/>
                <a:gd name="T24" fmla="*/ 385 w 699"/>
                <a:gd name="T25" fmla="*/ 6 h 756"/>
                <a:gd name="T26" fmla="*/ 489 w 699"/>
                <a:gd name="T27" fmla="*/ 40 h 756"/>
                <a:gd name="T28" fmla="*/ 619 w 699"/>
                <a:gd name="T29" fmla="*/ 128 h 756"/>
                <a:gd name="T30" fmla="*/ 653 w 699"/>
                <a:gd name="T31" fmla="*/ 178 h 756"/>
                <a:gd name="T32" fmla="*/ 693 w 699"/>
                <a:gd name="T33" fmla="*/ 322 h 756"/>
                <a:gd name="T34" fmla="*/ 687 w 699"/>
                <a:gd name="T35" fmla="*/ 434 h 756"/>
                <a:gd name="T36" fmla="*/ 665 w 699"/>
                <a:gd name="T37" fmla="*/ 538 h 756"/>
                <a:gd name="T38" fmla="*/ 639 w 699"/>
                <a:gd name="T39" fmla="*/ 564 h 756"/>
                <a:gd name="T40" fmla="*/ 631 w 699"/>
                <a:gd name="T41" fmla="*/ 580 h 756"/>
                <a:gd name="T42" fmla="*/ 607 w 699"/>
                <a:gd name="T43" fmla="*/ 588 h 756"/>
                <a:gd name="T44" fmla="*/ 473 w 699"/>
                <a:gd name="T45" fmla="*/ 664 h 756"/>
                <a:gd name="T46" fmla="*/ 449 w 699"/>
                <a:gd name="T47" fmla="*/ 678 h 756"/>
                <a:gd name="T48" fmla="*/ 405 w 699"/>
                <a:gd name="T49" fmla="*/ 684 h 756"/>
                <a:gd name="T50" fmla="*/ 375 w 699"/>
                <a:gd name="T51" fmla="*/ 690 h 756"/>
                <a:gd name="T52" fmla="*/ 267 w 699"/>
                <a:gd name="T53" fmla="*/ 684 h 756"/>
                <a:gd name="T54" fmla="*/ 259 w 699"/>
                <a:gd name="T55" fmla="*/ 722 h 756"/>
                <a:gd name="T56" fmla="*/ 241 w 699"/>
                <a:gd name="T57" fmla="*/ 756 h 756"/>
                <a:gd name="T58" fmla="*/ 185 w 699"/>
                <a:gd name="T59" fmla="*/ 728 h 756"/>
                <a:gd name="T60" fmla="*/ 163 w 699"/>
                <a:gd name="T61" fmla="*/ 720 h 756"/>
                <a:gd name="T62" fmla="*/ 151 w 699"/>
                <a:gd name="T63" fmla="*/ 716 h 756"/>
                <a:gd name="T64" fmla="*/ 195 w 699"/>
                <a:gd name="T65" fmla="*/ 674 h 756"/>
                <a:gd name="T66" fmla="*/ 211 w 699"/>
                <a:gd name="T67" fmla="*/ 644 h 756"/>
                <a:gd name="T68" fmla="*/ 209 w 699"/>
                <a:gd name="T69" fmla="*/ 626 h 756"/>
                <a:gd name="T70" fmla="*/ 195 w 699"/>
                <a:gd name="T71" fmla="*/ 620 h 756"/>
                <a:gd name="T72" fmla="*/ 165 w 699"/>
                <a:gd name="T73" fmla="*/ 596 h 756"/>
                <a:gd name="T74" fmla="*/ 99 w 699"/>
                <a:gd name="T75" fmla="*/ 534 h 756"/>
                <a:gd name="T76" fmla="*/ 61 w 699"/>
                <a:gd name="T77" fmla="*/ 506 h 756"/>
                <a:gd name="T78" fmla="*/ 23 w 699"/>
                <a:gd name="T79" fmla="*/ 470 h 756"/>
                <a:gd name="T80" fmla="*/ 7 w 699"/>
                <a:gd name="T81" fmla="*/ 434 h 756"/>
                <a:gd name="T82" fmla="*/ 5 w 699"/>
                <a:gd name="T83" fmla="*/ 396 h 756"/>
                <a:gd name="T84" fmla="*/ 1 w 699"/>
                <a:gd name="T85" fmla="*/ 392 h 7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699" h="756">
                  <a:moveTo>
                    <a:pt x="1" y="392"/>
                  </a:moveTo>
                  <a:cubicBezTo>
                    <a:pt x="2" y="345"/>
                    <a:pt x="2" y="299"/>
                    <a:pt x="3" y="252"/>
                  </a:cubicBezTo>
                  <a:cubicBezTo>
                    <a:pt x="3" y="238"/>
                    <a:pt x="16" y="224"/>
                    <a:pt x="21" y="210"/>
                  </a:cubicBezTo>
                  <a:cubicBezTo>
                    <a:pt x="24" y="202"/>
                    <a:pt x="29" y="182"/>
                    <a:pt x="29" y="182"/>
                  </a:cubicBezTo>
                  <a:cubicBezTo>
                    <a:pt x="32" y="173"/>
                    <a:pt x="34" y="163"/>
                    <a:pt x="39" y="154"/>
                  </a:cubicBezTo>
                  <a:cubicBezTo>
                    <a:pt x="42" y="148"/>
                    <a:pt x="51" y="138"/>
                    <a:pt x="51" y="138"/>
                  </a:cubicBezTo>
                  <a:cubicBezTo>
                    <a:pt x="58" y="116"/>
                    <a:pt x="88" y="82"/>
                    <a:pt x="111" y="74"/>
                  </a:cubicBezTo>
                  <a:cubicBezTo>
                    <a:pt x="128" y="61"/>
                    <a:pt x="149" y="37"/>
                    <a:pt x="169" y="30"/>
                  </a:cubicBezTo>
                  <a:cubicBezTo>
                    <a:pt x="182" y="17"/>
                    <a:pt x="207" y="15"/>
                    <a:pt x="225" y="10"/>
                  </a:cubicBezTo>
                  <a:cubicBezTo>
                    <a:pt x="233" y="8"/>
                    <a:pt x="241" y="6"/>
                    <a:pt x="249" y="4"/>
                  </a:cubicBezTo>
                  <a:cubicBezTo>
                    <a:pt x="254" y="3"/>
                    <a:pt x="265" y="0"/>
                    <a:pt x="265" y="0"/>
                  </a:cubicBezTo>
                  <a:cubicBezTo>
                    <a:pt x="296" y="1"/>
                    <a:pt x="326" y="0"/>
                    <a:pt x="357" y="2"/>
                  </a:cubicBezTo>
                  <a:cubicBezTo>
                    <a:pt x="366" y="2"/>
                    <a:pt x="385" y="6"/>
                    <a:pt x="385" y="6"/>
                  </a:cubicBezTo>
                  <a:cubicBezTo>
                    <a:pt x="417" y="17"/>
                    <a:pt x="463" y="14"/>
                    <a:pt x="489" y="40"/>
                  </a:cubicBezTo>
                  <a:cubicBezTo>
                    <a:pt x="528" y="60"/>
                    <a:pt x="592" y="105"/>
                    <a:pt x="619" y="128"/>
                  </a:cubicBezTo>
                  <a:cubicBezTo>
                    <a:pt x="635" y="134"/>
                    <a:pt x="643" y="164"/>
                    <a:pt x="653" y="178"/>
                  </a:cubicBezTo>
                  <a:cubicBezTo>
                    <a:pt x="667" y="234"/>
                    <a:pt x="687" y="265"/>
                    <a:pt x="693" y="322"/>
                  </a:cubicBezTo>
                  <a:cubicBezTo>
                    <a:pt x="699" y="365"/>
                    <a:pt x="692" y="398"/>
                    <a:pt x="687" y="434"/>
                  </a:cubicBezTo>
                  <a:cubicBezTo>
                    <a:pt x="686" y="469"/>
                    <a:pt x="691" y="510"/>
                    <a:pt x="665" y="538"/>
                  </a:cubicBezTo>
                  <a:cubicBezTo>
                    <a:pt x="657" y="547"/>
                    <a:pt x="644" y="553"/>
                    <a:pt x="639" y="564"/>
                  </a:cubicBezTo>
                  <a:cubicBezTo>
                    <a:pt x="636" y="569"/>
                    <a:pt x="636" y="576"/>
                    <a:pt x="631" y="580"/>
                  </a:cubicBezTo>
                  <a:cubicBezTo>
                    <a:pt x="624" y="585"/>
                    <a:pt x="607" y="588"/>
                    <a:pt x="607" y="588"/>
                  </a:cubicBezTo>
                  <a:cubicBezTo>
                    <a:pt x="581" y="602"/>
                    <a:pt x="499" y="649"/>
                    <a:pt x="473" y="664"/>
                  </a:cubicBezTo>
                  <a:cubicBezTo>
                    <a:pt x="465" y="666"/>
                    <a:pt x="449" y="678"/>
                    <a:pt x="449" y="678"/>
                  </a:cubicBezTo>
                  <a:cubicBezTo>
                    <a:pt x="438" y="685"/>
                    <a:pt x="417" y="679"/>
                    <a:pt x="405" y="684"/>
                  </a:cubicBezTo>
                  <a:cubicBezTo>
                    <a:pt x="396" y="687"/>
                    <a:pt x="385" y="688"/>
                    <a:pt x="375" y="690"/>
                  </a:cubicBezTo>
                  <a:cubicBezTo>
                    <a:pt x="328" y="689"/>
                    <a:pt x="307" y="687"/>
                    <a:pt x="267" y="684"/>
                  </a:cubicBezTo>
                  <a:cubicBezTo>
                    <a:pt x="249" y="690"/>
                    <a:pt x="264" y="683"/>
                    <a:pt x="259" y="722"/>
                  </a:cubicBezTo>
                  <a:cubicBezTo>
                    <a:pt x="258" y="733"/>
                    <a:pt x="250" y="750"/>
                    <a:pt x="241" y="756"/>
                  </a:cubicBezTo>
                  <a:cubicBezTo>
                    <a:pt x="218" y="752"/>
                    <a:pt x="207" y="735"/>
                    <a:pt x="185" y="728"/>
                  </a:cubicBezTo>
                  <a:cubicBezTo>
                    <a:pt x="176" y="725"/>
                    <a:pt x="171" y="724"/>
                    <a:pt x="163" y="720"/>
                  </a:cubicBezTo>
                  <a:cubicBezTo>
                    <a:pt x="159" y="718"/>
                    <a:pt x="151" y="716"/>
                    <a:pt x="151" y="716"/>
                  </a:cubicBezTo>
                  <a:cubicBezTo>
                    <a:pt x="157" y="695"/>
                    <a:pt x="180" y="689"/>
                    <a:pt x="195" y="674"/>
                  </a:cubicBezTo>
                  <a:cubicBezTo>
                    <a:pt x="198" y="665"/>
                    <a:pt x="205" y="652"/>
                    <a:pt x="211" y="644"/>
                  </a:cubicBezTo>
                  <a:cubicBezTo>
                    <a:pt x="210" y="638"/>
                    <a:pt x="212" y="631"/>
                    <a:pt x="209" y="626"/>
                  </a:cubicBezTo>
                  <a:cubicBezTo>
                    <a:pt x="207" y="621"/>
                    <a:pt x="199" y="623"/>
                    <a:pt x="195" y="620"/>
                  </a:cubicBezTo>
                  <a:cubicBezTo>
                    <a:pt x="185" y="612"/>
                    <a:pt x="173" y="606"/>
                    <a:pt x="165" y="596"/>
                  </a:cubicBezTo>
                  <a:cubicBezTo>
                    <a:pt x="146" y="573"/>
                    <a:pt x="123" y="552"/>
                    <a:pt x="99" y="534"/>
                  </a:cubicBezTo>
                  <a:cubicBezTo>
                    <a:pt x="87" y="525"/>
                    <a:pt x="72" y="517"/>
                    <a:pt x="61" y="506"/>
                  </a:cubicBezTo>
                  <a:cubicBezTo>
                    <a:pt x="49" y="494"/>
                    <a:pt x="37" y="480"/>
                    <a:pt x="23" y="470"/>
                  </a:cubicBezTo>
                  <a:cubicBezTo>
                    <a:pt x="13" y="456"/>
                    <a:pt x="10" y="451"/>
                    <a:pt x="7" y="434"/>
                  </a:cubicBezTo>
                  <a:cubicBezTo>
                    <a:pt x="6" y="421"/>
                    <a:pt x="7" y="408"/>
                    <a:pt x="5" y="396"/>
                  </a:cubicBezTo>
                  <a:cubicBezTo>
                    <a:pt x="5" y="394"/>
                    <a:pt x="0" y="391"/>
                    <a:pt x="1" y="392"/>
                  </a:cubicBezTo>
                  <a:close/>
                </a:path>
              </a:pathLst>
            </a:custGeom>
            <a:solidFill>
              <a:schemeClr val="accent1">
                <a:alpha val="5000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304160" name="Freeform 32"/>
            <p:cNvSpPr>
              <a:spLocks/>
            </p:cNvSpPr>
            <p:nvPr/>
          </p:nvSpPr>
          <p:spPr bwMode="ltGray">
            <a:xfrm rot="828663">
              <a:off x="242" y="3404"/>
              <a:ext cx="132" cy="167"/>
            </a:xfrm>
            <a:custGeom>
              <a:avLst/>
              <a:gdLst>
                <a:gd name="T0" fmla="*/ 0 w 109"/>
                <a:gd name="T1" fmla="*/ 0 h 156"/>
                <a:gd name="T2" fmla="*/ 5 w 109"/>
                <a:gd name="T3" fmla="*/ 1 h 156"/>
                <a:gd name="T4" fmla="*/ 18 w 109"/>
                <a:gd name="T5" fmla="*/ 5 h 156"/>
                <a:gd name="T6" fmla="*/ 37 w 109"/>
                <a:gd name="T7" fmla="*/ 12 h 156"/>
                <a:gd name="T8" fmla="*/ 58 w 109"/>
                <a:gd name="T9" fmla="*/ 24 h 156"/>
                <a:gd name="T10" fmla="*/ 78 w 109"/>
                <a:gd name="T11" fmla="*/ 44 h 156"/>
                <a:gd name="T12" fmla="*/ 96 w 109"/>
                <a:gd name="T13" fmla="*/ 71 h 156"/>
                <a:gd name="T14" fmla="*/ 107 w 109"/>
                <a:gd name="T15" fmla="*/ 108 h 156"/>
                <a:gd name="T16" fmla="*/ 109 w 109"/>
                <a:gd name="T17" fmla="*/ 156 h 156"/>
                <a:gd name="T18" fmla="*/ 105 w 109"/>
                <a:gd name="T19" fmla="*/ 156 h 156"/>
                <a:gd name="T20" fmla="*/ 99 w 109"/>
                <a:gd name="T21" fmla="*/ 156 h 156"/>
                <a:gd name="T22" fmla="*/ 93 w 109"/>
                <a:gd name="T23" fmla="*/ 156 h 156"/>
                <a:gd name="T24" fmla="*/ 87 w 109"/>
                <a:gd name="T25" fmla="*/ 154 h 156"/>
                <a:gd name="T26" fmla="*/ 81 w 109"/>
                <a:gd name="T27" fmla="*/ 153 h 156"/>
                <a:gd name="T28" fmla="*/ 74 w 109"/>
                <a:gd name="T29" fmla="*/ 150 h 156"/>
                <a:gd name="T30" fmla="*/ 66 w 109"/>
                <a:gd name="T31" fmla="*/ 145 h 156"/>
                <a:gd name="T32" fmla="*/ 58 w 109"/>
                <a:gd name="T33" fmla="*/ 139 h 156"/>
                <a:gd name="T34" fmla="*/ 53 w 109"/>
                <a:gd name="T35" fmla="*/ 126 h 156"/>
                <a:gd name="T36" fmla="*/ 53 w 109"/>
                <a:gd name="T37" fmla="*/ 111 h 156"/>
                <a:gd name="T38" fmla="*/ 56 w 109"/>
                <a:gd name="T39" fmla="*/ 96 h 156"/>
                <a:gd name="T40" fmla="*/ 59 w 109"/>
                <a:gd name="T41" fmla="*/ 80 h 156"/>
                <a:gd name="T42" fmla="*/ 56 w 109"/>
                <a:gd name="T43" fmla="*/ 62 h 156"/>
                <a:gd name="T44" fmla="*/ 48 w 109"/>
                <a:gd name="T45" fmla="*/ 43 h 156"/>
                <a:gd name="T46" fmla="*/ 31 w 109"/>
                <a:gd name="T47" fmla="*/ 23 h 156"/>
                <a:gd name="T48" fmla="*/ 0 w 109"/>
                <a:gd name="T49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09" h="156">
                  <a:moveTo>
                    <a:pt x="0" y="0"/>
                  </a:moveTo>
                  <a:lnTo>
                    <a:pt x="5" y="1"/>
                  </a:lnTo>
                  <a:lnTo>
                    <a:pt x="18" y="5"/>
                  </a:lnTo>
                  <a:lnTo>
                    <a:pt x="37" y="12"/>
                  </a:lnTo>
                  <a:lnTo>
                    <a:pt x="58" y="24"/>
                  </a:lnTo>
                  <a:lnTo>
                    <a:pt x="78" y="44"/>
                  </a:lnTo>
                  <a:lnTo>
                    <a:pt x="96" y="71"/>
                  </a:lnTo>
                  <a:lnTo>
                    <a:pt x="107" y="108"/>
                  </a:lnTo>
                  <a:lnTo>
                    <a:pt x="109" y="156"/>
                  </a:lnTo>
                  <a:lnTo>
                    <a:pt x="105" y="156"/>
                  </a:lnTo>
                  <a:lnTo>
                    <a:pt x="99" y="156"/>
                  </a:lnTo>
                  <a:lnTo>
                    <a:pt x="93" y="156"/>
                  </a:lnTo>
                  <a:lnTo>
                    <a:pt x="87" y="154"/>
                  </a:lnTo>
                  <a:lnTo>
                    <a:pt x="81" y="153"/>
                  </a:lnTo>
                  <a:lnTo>
                    <a:pt x="74" y="150"/>
                  </a:lnTo>
                  <a:lnTo>
                    <a:pt x="66" y="145"/>
                  </a:lnTo>
                  <a:lnTo>
                    <a:pt x="58" y="139"/>
                  </a:lnTo>
                  <a:lnTo>
                    <a:pt x="53" y="126"/>
                  </a:lnTo>
                  <a:lnTo>
                    <a:pt x="53" y="111"/>
                  </a:lnTo>
                  <a:lnTo>
                    <a:pt x="56" y="96"/>
                  </a:lnTo>
                  <a:lnTo>
                    <a:pt x="59" y="80"/>
                  </a:lnTo>
                  <a:lnTo>
                    <a:pt x="56" y="62"/>
                  </a:lnTo>
                  <a:lnTo>
                    <a:pt x="48" y="43"/>
                  </a:lnTo>
                  <a:lnTo>
                    <a:pt x="31" y="2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304161" name="Freeform 33"/>
            <p:cNvSpPr>
              <a:spLocks/>
            </p:cNvSpPr>
            <p:nvPr/>
          </p:nvSpPr>
          <p:spPr bwMode="ltGray">
            <a:xfrm rot="828663">
              <a:off x="266" y="3592"/>
              <a:ext cx="66" cy="43"/>
            </a:xfrm>
            <a:custGeom>
              <a:avLst/>
              <a:gdLst>
                <a:gd name="T0" fmla="*/ 0 w 54"/>
                <a:gd name="T1" fmla="*/ 0 h 40"/>
                <a:gd name="T2" fmla="*/ 1 w 54"/>
                <a:gd name="T3" fmla="*/ 1 h 40"/>
                <a:gd name="T4" fmla="*/ 6 w 54"/>
                <a:gd name="T5" fmla="*/ 3 h 40"/>
                <a:gd name="T6" fmla="*/ 13 w 54"/>
                <a:gd name="T7" fmla="*/ 8 h 40"/>
                <a:gd name="T8" fmla="*/ 21 w 54"/>
                <a:gd name="T9" fmla="*/ 12 h 40"/>
                <a:gd name="T10" fmla="*/ 29 w 54"/>
                <a:gd name="T11" fmla="*/ 15 h 40"/>
                <a:gd name="T12" fmla="*/ 38 w 54"/>
                <a:gd name="T13" fmla="*/ 17 h 40"/>
                <a:gd name="T14" fmla="*/ 46 w 54"/>
                <a:gd name="T15" fmla="*/ 18 h 40"/>
                <a:gd name="T16" fmla="*/ 54 w 54"/>
                <a:gd name="T17" fmla="*/ 16 h 40"/>
                <a:gd name="T18" fmla="*/ 53 w 54"/>
                <a:gd name="T19" fmla="*/ 25 h 40"/>
                <a:gd name="T20" fmla="*/ 50 w 54"/>
                <a:gd name="T21" fmla="*/ 33 h 40"/>
                <a:gd name="T22" fmla="*/ 44 w 54"/>
                <a:gd name="T23" fmla="*/ 38 h 40"/>
                <a:gd name="T24" fmla="*/ 37 w 54"/>
                <a:gd name="T25" fmla="*/ 40 h 40"/>
                <a:gd name="T26" fmla="*/ 28 w 54"/>
                <a:gd name="T27" fmla="*/ 39 h 40"/>
                <a:gd name="T28" fmla="*/ 19 w 54"/>
                <a:gd name="T29" fmla="*/ 32 h 40"/>
                <a:gd name="T30" fmla="*/ 10 w 54"/>
                <a:gd name="T31" fmla="*/ 20 h 40"/>
                <a:gd name="T32" fmla="*/ 0 w 54"/>
                <a:gd name="T33" fmla="*/ 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4" h="40">
                  <a:moveTo>
                    <a:pt x="0" y="0"/>
                  </a:moveTo>
                  <a:lnTo>
                    <a:pt x="1" y="1"/>
                  </a:lnTo>
                  <a:lnTo>
                    <a:pt x="6" y="3"/>
                  </a:lnTo>
                  <a:lnTo>
                    <a:pt x="13" y="8"/>
                  </a:lnTo>
                  <a:lnTo>
                    <a:pt x="21" y="12"/>
                  </a:lnTo>
                  <a:lnTo>
                    <a:pt x="29" y="15"/>
                  </a:lnTo>
                  <a:lnTo>
                    <a:pt x="38" y="17"/>
                  </a:lnTo>
                  <a:lnTo>
                    <a:pt x="46" y="18"/>
                  </a:lnTo>
                  <a:lnTo>
                    <a:pt x="54" y="16"/>
                  </a:lnTo>
                  <a:lnTo>
                    <a:pt x="53" y="25"/>
                  </a:lnTo>
                  <a:lnTo>
                    <a:pt x="50" y="33"/>
                  </a:lnTo>
                  <a:lnTo>
                    <a:pt x="44" y="38"/>
                  </a:lnTo>
                  <a:lnTo>
                    <a:pt x="37" y="40"/>
                  </a:lnTo>
                  <a:lnTo>
                    <a:pt x="28" y="39"/>
                  </a:lnTo>
                  <a:lnTo>
                    <a:pt x="19" y="32"/>
                  </a:lnTo>
                  <a:lnTo>
                    <a:pt x="10" y="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304162" name="Freeform 34"/>
            <p:cNvSpPr>
              <a:spLocks/>
            </p:cNvSpPr>
            <p:nvPr/>
          </p:nvSpPr>
          <p:spPr bwMode="ltGray">
            <a:xfrm>
              <a:off x="11" y="4110"/>
              <a:ext cx="118" cy="209"/>
            </a:xfrm>
            <a:custGeom>
              <a:avLst/>
              <a:gdLst>
                <a:gd name="T0" fmla="*/ 0 w 118"/>
                <a:gd name="T1" fmla="*/ 0 h 209"/>
                <a:gd name="T2" fmla="*/ 6 w 118"/>
                <a:gd name="T3" fmla="*/ 8 h 209"/>
                <a:gd name="T4" fmla="*/ 15 w 118"/>
                <a:gd name="T5" fmla="*/ 19 h 209"/>
                <a:gd name="T6" fmla="*/ 26 w 118"/>
                <a:gd name="T7" fmla="*/ 33 h 209"/>
                <a:gd name="T8" fmla="*/ 38 w 118"/>
                <a:gd name="T9" fmla="*/ 51 h 209"/>
                <a:gd name="T10" fmla="*/ 54 w 118"/>
                <a:gd name="T11" fmla="*/ 72 h 209"/>
                <a:gd name="T12" fmla="*/ 67 w 118"/>
                <a:gd name="T13" fmla="*/ 94 h 209"/>
                <a:gd name="T14" fmla="*/ 79 w 118"/>
                <a:gd name="T15" fmla="*/ 119 h 209"/>
                <a:gd name="T16" fmla="*/ 87 w 118"/>
                <a:gd name="T17" fmla="*/ 146 h 209"/>
                <a:gd name="T18" fmla="*/ 94 w 118"/>
                <a:gd name="T19" fmla="*/ 175 h 209"/>
                <a:gd name="T20" fmla="*/ 91 w 118"/>
                <a:gd name="T21" fmla="*/ 209 h 209"/>
                <a:gd name="T22" fmla="*/ 118 w 118"/>
                <a:gd name="T23" fmla="*/ 209 h 209"/>
                <a:gd name="T24" fmla="*/ 117 w 118"/>
                <a:gd name="T25" fmla="*/ 177 h 209"/>
                <a:gd name="T26" fmla="*/ 104 w 118"/>
                <a:gd name="T27" fmla="*/ 119 h 209"/>
                <a:gd name="T28" fmla="*/ 82 w 118"/>
                <a:gd name="T29" fmla="*/ 69 h 209"/>
                <a:gd name="T30" fmla="*/ 47 w 118"/>
                <a:gd name="T31" fmla="*/ 27 h 209"/>
                <a:gd name="T32" fmla="*/ 0 w 118"/>
                <a:gd name="T33" fmla="*/ 0 h 2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18" h="209">
                  <a:moveTo>
                    <a:pt x="0" y="0"/>
                  </a:moveTo>
                  <a:lnTo>
                    <a:pt x="6" y="8"/>
                  </a:lnTo>
                  <a:lnTo>
                    <a:pt x="15" y="19"/>
                  </a:lnTo>
                  <a:lnTo>
                    <a:pt x="26" y="33"/>
                  </a:lnTo>
                  <a:lnTo>
                    <a:pt x="38" y="51"/>
                  </a:lnTo>
                  <a:lnTo>
                    <a:pt x="54" y="72"/>
                  </a:lnTo>
                  <a:lnTo>
                    <a:pt x="67" y="94"/>
                  </a:lnTo>
                  <a:lnTo>
                    <a:pt x="79" y="119"/>
                  </a:lnTo>
                  <a:lnTo>
                    <a:pt x="87" y="146"/>
                  </a:lnTo>
                  <a:lnTo>
                    <a:pt x="94" y="175"/>
                  </a:lnTo>
                  <a:lnTo>
                    <a:pt x="91" y="209"/>
                  </a:lnTo>
                  <a:lnTo>
                    <a:pt x="118" y="209"/>
                  </a:lnTo>
                  <a:lnTo>
                    <a:pt x="117" y="177"/>
                  </a:lnTo>
                  <a:lnTo>
                    <a:pt x="104" y="119"/>
                  </a:lnTo>
                  <a:lnTo>
                    <a:pt x="82" y="69"/>
                  </a:lnTo>
                  <a:lnTo>
                    <a:pt x="47" y="2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304163" name="Freeform 35"/>
            <p:cNvSpPr>
              <a:spLocks/>
            </p:cNvSpPr>
            <p:nvPr/>
          </p:nvSpPr>
          <p:spPr bwMode="ltGray">
            <a:xfrm>
              <a:off x="0" y="3968"/>
              <a:ext cx="130" cy="128"/>
            </a:xfrm>
            <a:custGeom>
              <a:avLst/>
              <a:gdLst>
                <a:gd name="T0" fmla="*/ 103 w 130"/>
                <a:gd name="T1" fmla="*/ 0 h 128"/>
                <a:gd name="T2" fmla="*/ 130 w 130"/>
                <a:gd name="T3" fmla="*/ 128 h 128"/>
                <a:gd name="T4" fmla="*/ 125 w 130"/>
                <a:gd name="T5" fmla="*/ 126 h 128"/>
                <a:gd name="T6" fmla="*/ 111 w 130"/>
                <a:gd name="T7" fmla="*/ 121 h 128"/>
                <a:gd name="T8" fmla="*/ 92 w 130"/>
                <a:gd name="T9" fmla="*/ 111 h 128"/>
                <a:gd name="T10" fmla="*/ 68 w 130"/>
                <a:gd name="T11" fmla="*/ 103 h 128"/>
                <a:gd name="T12" fmla="*/ 41 w 130"/>
                <a:gd name="T13" fmla="*/ 94 h 128"/>
                <a:gd name="T14" fmla="*/ 19 w 130"/>
                <a:gd name="T15" fmla="*/ 90 h 128"/>
                <a:gd name="T16" fmla="*/ 0 w 130"/>
                <a:gd name="T17" fmla="*/ 93 h 128"/>
                <a:gd name="T18" fmla="*/ 0 w 130"/>
                <a:gd name="T19" fmla="*/ 72 h 128"/>
                <a:gd name="T20" fmla="*/ 12 w 130"/>
                <a:gd name="T21" fmla="*/ 70 h 128"/>
                <a:gd name="T22" fmla="*/ 24 w 130"/>
                <a:gd name="T23" fmla="*/ 66 h 128"/>
                <a:gd name="T24" fmla="*/ 38 w 130"/>
                <a:gd name="T25" fmla="*/ 66 h 128"/>
                <a:gd name="T26" fmla="*/ 51 w 130"/>
                <a:gd name="T27" fmla="*/ 67 h 128"/>
                <a:gd name="T28" fmla="*/ 65 w 130"/>
                <a:gd name="T29" fmla="*/ 70 h 128"/>
                <a:gd name="T30" fmla="*/ 78 w 130"/>
                <a:gd name="T31" fmla="*/ 78 h 128"/>
                <a:gd name="T32" fmla="*/ 81 w 130"/>
                <a:gd name="T33" fmla="*/ 74 h 128"/>
                <a:gd name="T34" fmla="*/ 81 w 130"/>
                <a:gd name="T35" fmla="*/ 58 h 128"/>
                <a:gd name="T36" fmla="*/ 82 w 130"/>
                <a:gd name="T37" fmla="*/ 37 h 128"/>
                <a:gd name="T38" fmla="*/ 82 w 130"/>
                <a:gd name="T39" fmla="*/ 29 h 128"/>
                <a:gd name="T40" fmla="*/ 80 w 130"/>
                <a:gd name="T41" fmla="*/ 29 h 128"/>
                <a:gd name="T42" fmla="*/ 77 w 130"/>
                <a:gd name="T43" fmla="*/ 27 h 128"/>
                <a:gd name="T44" fmla="*/ 76 w 130"/>
                <a:gd name="T45" fmla="*/ 22 h 128"/>
                <a:gd name="T46" fmla="*/ 75 w 130"/>
                <a:gd name="T47" fmla="*/ 19 h 128"/>
                <a:gd name="T48" fmla="*/ 76 w 130"/>
                <a:gd name="T49" fmla="*/ 15 h 128"/>
                <a:gd name="T50" fmla="*/ 79 w 130"/>
                <a:gd name="T51" fmla="*/ 10 h 128"/>
                <a:gd name="T52" fmla="*/ 89 w 130"/>
                <a:gd name="T53" fmla="*/ 6 h 128"/>
                <a:gd name="T54" fmla="*/ 103 w 130"/>
                <a:gd name="T55" fmla="*/ 0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30" h="128">
                  <a:moveTo>
                    <a:pt x="103" y="0"/>
                  </a:moveTo>
                  <a:lnTo>
                    <a:pt x="130" y="128"/>
                  </a:lnTo>
                  <a:lnTo>
                    <a:pt x="125" y="126"/>
                  </a:lnTo>
                  <a:lnTo>
                    <a:pt x="111" y="121"/>
                  </a:lnTo>
                  <a:lnTo>
                    <a:pt x="92" y="111"/>
                  </a:lnTo>
                  <a:lnTo>
                    <a:pt x="68" y="103"/>
                  </a:lnTo>
                  <a:lnTo>
                    <a:pt x="41" y="94"/>
                  </a:lnTo>
                  <a:lnTo>
                    <a:pt x="19" y="90"/>
                  </a:lnTo>
                  <a:lnTo>
                    <a:pt x="0" y="93"/>
                  </a:lnTo>
                  <a:lnTo>
                    <a:pt x="0" y="72"/>
                  </a:lnTo>
                  <a:lnTo>
                    <a:pt x="12" y="70"/>
                  </a:lnTo>
                  <a:lnTo>
                    <a:pt x="24" y="66"/>
                  </a:lnTo>
                  <a:lnTo>
                    <a:pt x="38" y="66"/>
                  </a:lnTo>
                  <a:lnTo>
                    <a:pt x="51" y="67"/>
                  </a:lnTo>
                  <a:lnTo>
                    <a:pt x="65" y="70"/>
                  </a:lnTo>
                  <a:lnTo>
                    <a:pt x="78" y="78"/>
                  </a:lnTo>
                  <a:lnTo>
                    <a:pt x="81" y="74"/>
                  </a:lnTo>
                  <a:lnTo>
                    <a:pt x="81" y="58"/>
                  </a:lnTo>
                  <a:lnTo>
                    <a:pt x="82" y="37"/>
                  </a:lnTo>
                  <a:lnTo>
                    <a:pt x="82" y="29"/>
                  </a:lnTo>
                  <a:lnTo>
                    <a:pt x="80" y="29"/>
                  </a:lnTo>
                  <a:lnTo>
                    <a:pt x="77" y="27"/>
                  </a:lnTo>
                  <a:lnTo>
                    <a:pt x="76" y="22"/>
                  </a:lnTo>
                  <a:lnTo>
                    <a:pt x="75" y="19"/>
                  </a:lnTo>
                  <a:lnTo>
                    <a:pt x="76" y="15"/>
                  </a:lnTo>
                  <a:lnTo>
                    <a:pt x="79" y="10"/>
                  </a:lnTo>
                  <a:lnTo>
                    <a:pt x="89" y="6"/>
                  </a:lnTo>
                  <a:lnTo>
                    <a:pt x="103" y="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304164" name="Freeform 36"/>
            <p:cNvSpPr>
              <a:spLocks/>
            </p:cNvSpPr>
            <p:nvPr/>
          </p:nvSpPr>
          <p:spPr bwMode="ltGray">
            <a:xfrm>
              <a:off x="0" y="3949"/>
              <a:ext cx="47" cy="86"/>
            </a:xfrm>
            <a:custGeom>
              <a:avLst/>
              <a:gdLst>
                <a:gd name="T0" fmla="*/ 37 w 47"/>
                <a:gd name="T1" fmla="*/ 0 h 86"/>
                <a:gd name="T2" fmla="*/ 15 w 47"/>
                <a:gd name="T3" fmla="*/ 37 h 86"/>
                <a:gd name="T4" fmla="*/ 0 w 47"/>
                <a:gd name="T5" fmla="*/ 59 h 86"/>
                <a:gd name="T6" fmla="*/ 0 w 47"/>
                <a:gd name="T7" fmla="*/ 86 h 86"/>
                <a:gd name="T8" fmla="*/ 8 w 47"/>
                <a:gd name="T9" fmla="*/ 82 h 86"/>
                <a:gd name="T10" fmla="*/ 20 w 47"/>
                <a:gd name="T11" fmla="*/ 73 h 86"/>
                <a:gd name="T12" fmla="*/ 33 w 47"/>
                <a:gd name="T13" fmla="*/ 63 h 86"/>
                <a:gd name="T14" fmla="*/ 42 w 47"/>
                <a:gd name="T15" fmla="*/ 51 h 86"/>
                <a:gd name="T16" fmla="*/ 47 w 47"/>
                <a:gd name="T17" fmla="*/ 36 h 86"/>
                <a:gd name="T18" fmla="*/ 46 w 47"/>
                <a:gd name="T19" fmla="*/ 19 h 86"/>
                <a:gd name="T20" fmla="*/ 37 w 47"/>
                <a:gd name="T21" fmla="*/ 0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7" h="86">
                  <a:moveTo>
                    <a:pt x="37" y="0"/>
                  </a:moveTo>
                  <a:lnTo>
                    <a:pt x="15" y="37"/>
                  </a:lnTo>
                  <a:lnTo>
                    <a:pt x="0" y="59"/>
                  </a:lnTo>
                  <a:lnTo>
                    <a:pt x="0" y="86"/>
                  </a:lnTo>
                  <a:lnTo>
                    <a:pt x="8" y="82"/>
                  </a:lnTo>
                  <a:lnTo>
                    <a:pt x="20" y="73"/>
                  </a:lnTo>
                  <a:lnTo>
                    <a:pt x="33" y="63"/>
                  </a:lnTo>
                  <a:lnTo>
                    <a:pt x="42" y="51"/>
                  </a:lnTo>
                  <a:lnTo>
                    <a:pt x="47" y="36"/>
                  </a:lnTo>
                  <a:lnTo>
                    <a:pt x="46" y="19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304165" name="Freeform 37"/>
            <p:cNvSpPr>
              <a:spLocks/>
            </p:cNvSpPr>
            <p:nvPr/>
          </p:nvSpPr>
          <p:spPr bwMode="ltGray">
            <a:xfrm>
              <a:off x="0" y="3239"/>
              <a:ext cx="497" cy="740"/>
            </a:xfrm>
            <a:custGeom>
              <a:avLst/>
              <a:gdLst>
                <a:gd name="T0" fmla="*/ 0 w 497"/>
                <a:gd name="T1" fmla="*/ 13 h 740"/>
                <a:gd name="T2" fmla="*/ 41 w 497"/>
                <a:gd name="T3" fmla="*/ 4 h 740"/>
                <a:gd name="T4" fmla="*/ 101 w 497"/>
                <a:gd name="T5" fmla="*/ 0 h 740"/>
                <a:gd name="T6" fmla="*/ 170 w 497"/>
                <a:gd name="T7" fmla="*/ 4 h 740"/>
                <a:gd name="T8" fmla="*/ 248 w 497"/>
                <a:gd name="T9" fmla="*/ 21 h 740"/>
                <a:gd name="T10" fmla="*/ 323 w 497"/>
                <a:gd name="T11" fmla="*/ 50 h 740"/>
                <a:gd name="T12" fmla="*/ 382 w 497"/>
                <a:gd name="T13" fmla="*/ 90 h 740"/>
                <a:gd name="T14" fmla="*/ 428 w 497"/>
                <a:gd name="T15" fmla="*/ 141 h 740"/>
                <a:gd name="T16" fmla="*/ 463 w 497"/>
                <a:gd name="T17" fmla="*/ 199 h 740"/>
                <a:gd name="T18" fmla="*/ 485 w 497"/>
                <a:gd name="T19" fmla="*/ 262 h 740"/>
                <a:gd name="T20" fmla="*/ 496 w 497"/>
                <a:gd name="T21" fmla="*/ 327 h 740"/>
                <a:gd name="T22" fmla="*/ 497 w 497"/>
                <a:gd name="T23" fmla="*/ 396 h 740"/>
                <a:gd name="T24" fmla="*/ 487 w 497"/>
                <a:gd name="T25" fmla="*/ 462 h 740"/>
                <a:gd name="T26" fmla="*/ 470 w 497"/>
                <a:gd name="T27" fmla="*/ 527 h 740"/>
                <a:gd name="T28" fmla="*/ 443 w 497"/>
                <a:gd name="T29" fmla="*/ 586 h 740"/>
                <a:gd name="T30" fmla="*/ 406 w 497"/>
                <a:gd name="T31" fmla="*/ 639 h 740"/>
                <a:gd name="T32" fmla="*/ 364 w 497"/>
                <a:gd name="T33" fmla="*/ 683 h 740"/>
                <a:gd name="T34" fmla="*/ 315 w 497"/>
                <a:gd name="T35" fmla="*/ 715 h 740"/>
                <a:gd name="T36" fmla="*/ 259 w 497"/>
                <a:gd name="T37" fmla="*/ 736 h 740"/>
                <a:gd name="T38" fmla="*/ 198 w 497"/>
                <a:gd name="T39" fmla="*/ 740 h 740"/>
                <a:gd name="T40" fmla="*/ 131 w 497"/>
                <a:gd name="T41" fmla="*/ 727 h 740"/>
                <a:gd name="T42" fmla="*/ 167 w 497"/>
                <a:gd name="T43" fmla="*/ 728 h 740"/>
                <a:gd name="T44" fmla="*/ 204 w 497"/>
                <a:gd name="T45" fmla="*/ 718 h 740"/>
                <a:gd name="T46" fmla="*/ 238 w 497"/>
                <a:gd name="T47" fmla="*/ 700 h 740"/>
                <a:gd name="T48" fmla="*/ 272 w 497"/>
                <a:gd name="T49" fmla="*/ 670 h 740"/>
                <a:gd name="T50" fmla="*/ 304 w 497"/>
                <a:gd name="T51" fmla="*/ 635 h 740"/>
                <a:gd name="T52" fmla="*/ 333 w 497"/>
                <a:gd name="T53" fmla="*/ 594 h 740"/>
                <a:gd name="T54" fmla="*/ 358 w 497"/>
                <a:gd name="T55" fmla="*/ 549 h 740"/>
                <a:gd name="T56" fmla="*/ 381 w 497"/>
                <a:gd name="T57" fmla="*/ 500 h 740"/>
                <a:gd name="T58" fmla="*/ 396 w 497"/>
                <a:gd name="T59" fmla="*/ 449 h 740"/>
                <a:gd name="T60" fmla="*/ 408 w 497"/>
                <a:gd name="T61" fmla="*/ 397 h 740"/>
                <a:gd name="T62" fmla="*/ 414 w 497"/>
                <a:gd name="T63" fmla="*/ 346 h 740"/>
                <a:gd name="T64" fmla="*/ 412 w 497"/>
                <a:gd name="T65" fmla="*/ 296 h 740"/>
                <a:gd name="T66" fmla="*/ 402 w 497"/>
                <a:gd name="T67" fmla="*/ 251 h 740"/>
                <a:gd name="T68" fmla="*/ 384 w 497"/>
                <a:gd name="T69" fmla="*/ 208 h 740"/>
                <a:gd name="T70" fmla="*/ 357 w 497"/>
                <a:gd name="T71" fmla="*/ 172 h 740"/>
                <a:gd name="T72" fmla="*/ 320 w 497"/>
                <a:gd name="T73" fmla="*/ 142 h 740"/>
                <a:gd name="T74" fmla="*/ 260 w 497"/>
                <a:gd name="T75" fmla="*/ 107 h 740"/>
                <a:gd name="T76" fmla="*/ 203 w 497"/>
                <a:gd name="T77" fmla="*/ 82 h 740"/>
                <a:gd name="T78" fmla="*/ 154 w 497"/>
                <a:gd name="T79" fmla="*/ 65 h 740"/>
                <a:gd name="T80" fmla="*/ 108 w 497"/>
                <a:gd name="T81" fmla="*/ 56 h 740"/>
                <a:gd name="T82" fmla="*/ 68 w 497"/>
                <a:gd name="T83" fmla="*/ 55 h 740"/>
                <a:gd name="T84" fmla="*/ 32 w 497"/>
                <a:gd name="T85" fmla="*/ 61 h 740"/>
                <a:gd name="T86" fmla="*/ 0 w 497"/>
                <a:gd name="T87" fmla="*/ 70 h 740"/>
                <a:gd name="T88" fmla="*/ 0 w 497"/>
                <a:gd name="T89" fmla="*/ 13 h 7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497" h="740">
                  <a:moveTo>
                    <a:pt x="0" y="13"/>
                  </a:moveTo>
                  <a:lnTo>
                    <a:pt x="41" y="4"/>
                  </a:lnTo>
                  <a:lnTo>
                    <a:pt x="101" y="0"/>
                  </a:lnTo>
                  <a:lnTo>
                    <a:pt x="170" y="4"/>
                  </a:lnTo>
                  <a:lnTo>
                    <a:pt x="248" y="21"/>
                  </a:lnTo>
                  <a:lnTo>
                    <a:pt x="323" y="50"/>
                  </a:lnTo>
                  <a:lnTo>
                    <a:pt x="382" y="90"/>
                  </a:lnTo>
                  <a:lnTo>
                    <a:pt x="428" y="141"/>
                  </a:lnTo>
                  <a:lnTo>
                    <a:pt x="463" y="199"/>
                  </a:lnTo>
                  <a:lnTo>
                    <a:pt x="485" y="262"/>
                  </a:lnTo>
                  <a:lnTo>
                    <a:pt x="496" y="327"/>
                  </a:lnTo>
                  <a:lnTo>
                    <a:pt x="497" y="396"/>
                  </a:lnTo>
                  <a:lnTo>
                    <a:pt x="487" y="462"/>
                  </a:lnTo>
                  <a:lnTo>
                    <a:pt x="470" y="527"/>
                  </a:lnTo>
                  <a:lnTo>
                    <a:pt x="443" y="586"/>
                  </a:lnTo>
                  <a:lnTo>
                    <a:pt x="406" y="639"/>
                  </a:lnTo>
                  <a:lnTo>
                    <a:pt x="364" y="683"/>
                  </a:lnTo>
                  <a:lnTo>
                    <a:pt x="315" y="715"/>
                  </a:lnTo>
                  <a:lnTo>
                    <a:pt x="259" y="736"/>
                  </a:lnTo>
                  <a:lnTo>
                    <a:pt x="198" y="740"/>
                  </a:lnTo>
                  <a:lnTo>
                    <a:pt x="131" y="727"/>
                  </a:lnTo>
                  <a:lnTo>
                    <a:pt x="167" y="728"/>
                  </a:lnTo>
                  <a:lnTo>
                    <a:pt x="204" y="718"/>
                  </a:lnTo>
                  <a:lnTo>
                    <a:pt x="238" y="700"/>
                  </a:lnTo>
                  <a:lnTo>
                    <a:pt x="272" y="670"/>
                  </a:lnTo>
                  <a:lnTo>
                    <a:pt x="304" y="635"/>
                  </a:lnTo>
                  <a:lnTo>
                    <a:pt x="333" y="594"/>
                  </a:lnTo>
                  <a:lnTo>
                    <a:pt x="358" y="549"/>
                  </a:lnTo>
                  <a:lnTo>
                    <a:pt x="381" y="500"/>
                  </a:lnTo>
                  <a:lnTo>
                    <a:pt x="396" y="449"/>
                  </a:lnTo>
                  <a:lnTo>
                    <a:pt x="408" y="397"/>
                  </a:lnTo>
                  <a:lnTo>
                    <a:pt x="414" y="346"/>
                  </a:lnTo>
                  <a:lnTo>
                    <a:pt x="412" y="296"/>
                  </a:lnTo>
                  <a:lnTo>
                    <a:pt x="402" y="251"/>
                  </a:lnTo>
                  <a:lnTo>
                    <a:pt x="384" y="208"/>
                  </a:lnTo>
                  <a:lnTo>
                    <a:pt x="357" y="172"/>
                  </a:lnTo>
                  <a:lnTo>
                    <a:pt x="320" y="142"/>
                  </a:lnTo>
                  <a:lnTo>
                    <a:pt x="260" y="107"/>
                  </a:lnTo>
                  <a:lnTo>
                    <a:pt x="203" y="82"/>
                  </a:lnTo>
                  <a:lnTo>
                    <a:pt x="154" y="65"/>
                  </a:lnTo>
                  <a:lnTo>
                    <a:pt x="108" y="56"/>
                  </a:lnTo>
                  <a:lnTo>
                    <a:pt x="68" y="55"/>
                  </a:lnTo>
                  <a:lnTo>
                    <a:pt x="32" y="61"/>
                  </a:lnTo>
                  <a:lnTo>
                    <a:pt x="0" y="70"/>
                  </a:lnTo>
                  <a:lnTo>
                    <a:pt x="0" y="13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304166" name="Freeform 38"/>
            <p:cNvSpPr>
              <a:spLocks/>
            </p:cNvSpPr>
            <p:nvPr/>
          </p:nvSpPr>
          <p:spPr bwMode="ltGray">
            <a:xfrm rot="1584153">
              <a:off x="20" y="410"/>
              <a:ext cx="344" cy="245"/>
            </a:xfrm>
            <a:custGeom>
              <a:avLst/>
              <a:gdLst>
                <a:gd name="T0" fmla="*/ 0 w 257"/>
                <a:gd name="T1" fmla="*/ 0 h 237"/>
                <a:gd name="T2" fmla="*/ 0 w 257"/>
                <a:gd name="T3" fmla="*/ 25 h 237"/>
                <a:gd name="T4" fmla="*/ 3 w 257"/>
                <a:gd name="T5" fmla="*/ 50 h 237"/>
                <a:gd name="T6" fmla="*/ 6 w 257"/>
                <a:gd name="T7" fmla="*/ 75 h 237"/>
                <a:gd name="T8" fmla="*/ 11 w 257"/>
                <a:gd name="T9" fmla="*/ 98 h 237"/>
                <a:gd name="T10" fmla="*/ 18 w 257"/>
                <a:gd name="T11" fmla="*/ 119 h 237"/>
                <a:gd name="T12" fmla="*/ 27 w 257"/>
                <a:gd name="T13" fmla="*/ 141 h 237"/>
                <a:gd name="T14" fmla="*/ 38 w 257"/>
                <a:gd name="T15" fmla="*/ 161 h 237"/>
                <a:gd name="T16" fmla="*/ 51 w 257"/>
                <a:gd name="T17" fmla="*/ 178 h 237"/>
                <a:gd name="T18" fmla="*/ 67 w 257"/>
                <a:gd name="T19" fmla="*/ 194 h 237"/>
                <a:gd name="T20" fmla="*/ 86 w 257"/>
                <a:gd name="T21" fmla="*/ 208 h 237"/>
                <a:gd name="T22" fmla="*/ 106 w 257"/>
                <a:gd name="T23" fmla="*/ 219 h 237"/>
                <a:gd name="T24" fmla="*/ 131 w 257"/>
                <a:gd name="T25" fmla="*/ 228 h 237"/>
                <a:gd name="T26" fmla="*/ 158 w 257"/>
                <a:gd name="T27" fmla="*/ 234 h 237"/>
                <a:gd name="T28" fmla="*/ 188 w 257"/>
                <a:gd name="T29" fmla="*/ 237 h 237"/>
                <a:gd name="T30" fmla="*/ 220 w 257"/>
                <a:gd name="T31" fmla="*/ 236 h 237"/>
                <a:gd name="T32" fmla="*/ 257 w 257"/>
                <a:gd name="T33" fmla="*/ 232 h 237"/>
                <a:gd name="T34" fmla="*/ 224 w 257"/>
                <a:gd name="T35" fmla="*/ 227 h 237"/>
                <a:gd name="T36" fmla="*/ 195 w 257"/>
                <a:gd name="T37" fmla="*/ 220 h 237"/>
                <a:gd name="T38" fmla="*/ 170 w 257"/>
                <a:gd name="T39" fmla="*/ 212 h 237"/>
                <a:gd name="T40" fmla="*/ 148 w 257"/>
                <a:gd name="T41" fmla="*/ 204 h 237"/>
                <a:gd name="T42" fmla="*/ 128 w 257"/>
                <a:gd name="T43" fmla="*/ 193 h 237"/>
                <a:gd name="T44" fmla="*/ 112 w 257"/>
                <a:gd name="T45" fmla="*/ 182 h 237"/>
                <a:gd name="T46" fmla="*/ 97 w 257"/>
                <a:gd name="T47" fmla="*/ 169 h 237"/>
                <a:gd name="T48" fmla="*/ 84 w 257"/>
                <a:gd name="T49" fmla="*/ 155 h 237"/>
                <a:gd name="T50" fmla="*/ 72 w 257"/>
                <a:gd name="T51" fmla="*/ 141 h 237"/>
                <a:gd name="T52" fmla="*/ 61 w 257"/>
                <a:gd name="T53" fmla="*/ 125 h 237"/>
                <a:gd name="T54" fmla="*/ 52 w 257"/>
                <a:gd name="T55" fmla="*/ 107 h 237"/>
                <a:gd name="T56" fmla="*/ 43 w 257"/>
                <a:gd name="T57" fmla="*/ 88 h 237"/>
                <a:gd name="T58" fmla="*/ 33 w 257"/>
                <a:gd name="T59" fmla="*/ 69 h 237"/>
                <a:gd name="T60" fmla="*/ 23 w 257"/>
                <a:gd name="T61" fmla="*/ 47 h 237"/>
                <a:gd name="T62" fmla="*/ 12 w 257"/>
                <a:gd name="T63" fmla="*/ 24 h 237"/>
                <a:gd name="T64" fmla="*/ 0 w 257"/>
                <a:gd name="T65" fmla="*/ 0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57" h="237">
                  <a:moveTo>
                    <a:pt x="0" y="0"/>
                  </a:moveTo>
                  <a:lnTo>
                    <a:pt x="0" y="25"/>
                  </a:lnTo>
                  <a:lnTo>
                    <a:pt x="3" y="50"/>
                  </a:lnTo>
                  <a:lnTo>
                    <a:pt x="6" y="75"/>
                  </a:lnTo>
                  <a:lnTo>
                    <a:pt x="11" y="98"/>
                  </a:lnTo>
                  <a:lnTo>
                    <a:pt x="18" y="119"/>
                  </a:lnTo>
                  <a:lnTo>
                    <a:pt x="27" y="141"/>
                  </a:lnTo>
                  <a:lnTo>
                    <a:pt x="38" y="161"/>
                  </a:lnTo>
                  <a:lnTo>
                    <a:pt x="51" y="178"/>
                  </a:lnTo>
                  <a:lnTo>
                    <a:pt x="67" y="194"/>
                  </a:lnTo>
                  <a:lnTo>
                    <a:pt x="86" y="208"/>
                  </a:lnTo>
                  <a:lnTo>
                    <a:pt x="106" y="219"/>
                  </a:lnTo>
                  <a:lnTo>
                    <a:pt x="131" y="228"/>
                  </a:lnTo>
                  <a:lnTo>
                    <a:pt x="158" y="234"/>
                  </a:lnTo>
                  <a:lnTo>
                    <a:pt x="188" y="237"/>
                  </a:lnTo>
                  <a:lnTo>
                    <a:pt x="220" y="236"/>
                  </a:lnTo>
                  <a:lnTo>
                    <a:pt x="257" y="232"/>
                  </a:lnTo>
                  <a:lnTo>
                    <a:pt x="224" y="227"/>
                  </a:lnTo>
                  <a:lnTo>
                    <a:pt x="195" y="220"/>
                  </a:lnTo>
                  <a:lnTo>
                    <a:pt x="170" y="212"/>
                  </a:lnTo>
                  <a:lnTo>
                    <a:pt x="148" y="204"/>
                  </a:lnTo>
                  <a:lnTo>
                    <a:pt x="128" y="193"/>
                  </a:lnTo>
                  <a:lnTo>
                    <a:pt x="112" y="182"/>
                  </a:lnTo>
                  <a:lnTo>
                    <a:pt x="97" y="169"/>
                  </a:lnTo>
                  <a:lnTo>
                    <a:pt x="84" y="155"/>
                  </a:lnTo>
                  <a:lnTo>
                    <a:pt x="72" y="141"/>
                  </a:lnTo>
                  <a:lnTo>
                    <a:pt x="61" y="125"/>
                  </a:lnTo>
                  <a:lnTo>
                    <a:pt x="52" y="107"/>
                  </a:lnTo>
                  <a:lnTo>
                    <a:pt x="43" y="88"/>
                  </a:lnTo>
                  <a:lnTo>
                    <a:pt x="33" y="69"/>
                  </a:lnTo>
                  <a:lnTo>
                    <a:pt x="23" y="47"/>
                  </a:lnTo>
                  <a:lnTo>
                    <a:pt x="12" y="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304167" name="Freeform 39"/>
            <p:cNvSpPr>
              <a:spLocks/>
            </p:cNvSpPr>
            <p:nvPr/>
          </p:nvSpPr>
          <p:spPr bwMode="ltGray">
            <a:xfrm rot="1584153">
              <a:off x="242" y="756"/>
              <a:ext cx="167" cy="115"/>
            </a:xfrm>
            <a:custGeom>
              <a:avLst/>
              <a:gdLst>
                <a:gd name="T0" fmla="*/ 77 w 124"/>
                <a:gd name="T1" fmla="*/ 0 h 110"/>
                <a:gd name="T2" fmla="*/ 124 w 124"/>
                <a:gd name="T3" fmla="*/ 108 h 110"/>
                <a:gd name="T4" fmla="*/ 120 w 124"/>
                <a:gd name="T5" fmla="*/ 107 h 110"/>
                <a:gd name="T6" fmla="*/ 107 w 124"/>
                <a:gd name="T7" fmla="*/ 105 h 110"/>
                <a:gd name="T8" fmla="*/ 89 w 124"/>
                <a:gd name="T9" fmla="*/ 101 h 110"/>
                <a:gd name="T10" fmla="*/ 68 w 124"/>
                <a:gd name="T11" fmla="*/ 99 h 110"/>
                <a:gd name="T12" fmla="*/ 45 w 124"/>
                <a:gd name="T13" fmla="*/ 97 h 110"/>
                <a:gd name="T14" fmla="*/ 25 w 124"/>
                <a:gd name="T15" fmla="*/ 98 h 110"/>
                <a:gd name="T16" fmla="*/ 9 w 124"/>
                <a:gd name="T17" fmla="*/ 102 h 110"/>
                <a:gd name="T18" fmla="*/ 0 w 124"/>
                <a:gd name="T19" fmla="*/ 110 h 110"/>
                <a:gd name="T20" fmla="*/ 4 w 124"/>
                <a:gd name="T21" fmla="*/ 98 h 110"/>
                <a:gd name="T22" fmla="*/ 8 w 124"/>
                <a:gd name="T23" fmla="*/ 89 h 110"/>
                <a:gd name="T24" fmla="*/ 16 w 124"/>
                <a:gd name="T25" fmla="*/ 82 h 110"/>
                <a:gd name="T26" fmla="*/ 25 w 124"/>
                <a:gd name="T27" fmla="*/ 76 h 110"/>
                <a:gd name="T28" fmla="*/ 36 w 124"/>
                <a:gd name="T29" fmla="*/ 72 h 110"/>
                <a:gd name="T30" fmla="*/ 47 w 124"/>
                <a:gd name="T31" fmla="*/ 71 h 110"/>
                <a:gd name="T32" fmla="*/ 59 w 124"/>
                <a:gd name="T33" fmla="*/ 71 h 110"/>
                <a:gd name="T34" fmla="*/ 72 w 124"/>
                <a:gd name="T35" fmla="*/ 74 h 110"/>
                <a:gd name="T36" fmla="*/ 73 w 124"/>
                <a:gd name="T37" fmla="*/ 71 h 110"/>
                <a:gd name="T38" fmla="*/ 70 w 124"/>
                <a:gd name="T39" fmla="*/ 56 h 110"/>
                <a:gd name="T40" fmla="*/ 67 w 124"/>
                <a:gd name="T41" fmla="*/ 38 h 110"/>
                <a:gd name="T42" fmla="*/ 65 w 124"/>
                <a:gd name="T43" fmla="*/ 30 h 110"/>
                <a:gd name="T44" fmla="*/ 63 w 124"/>
                <a:gd name="T45" fmla="*/ 30 h 110"/>
                <a:gd name="T46" fmla="*/ 61 w 124"/>
                <a:gd name="T47" fmla="*/ 29 h 110"/>
                <a:gd name="T48" fmla="*/ 59 w 124"/>
                <a:gd name="T49" fmla="*/ 26 h 110"/>
                <a:gd name="T50" fmla="*/ 57 w 124"/>
                <a:gd name="T51" fmla="*/ 23 h 110"/>
                <a:gd name="T52" fmla="*/ 57 w 124"/>
                <a:gd name="T53" fmla="*/ 19 h 110"/>
                <a:gd name="T54" fmla="*/ 59 w 124"/>
                <a:gd name="T55" fmla="*/ 14 h 110"/>
                <a:gd name="T56" fmla="*/ 66 w 124"/>
                <a:gd name="T57" fmla="*/ 8 h 110"/>
                <a:gd name="T58" fmla="*/ 77 w 124"/>
                <a:gd name="T59" fmla="*/ 0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124" h="110">
                  <a:moveTo>
                    <a:pt x="77" y="0"/>
                  </a:moveTo>
                  <a:lnTo>
                    <a:pt x="124" y="108"/>
                  </a:lnTo>
                  <a:lnTo>
                    <a:pt x="120" y="107"/>
                  </a:lnTo>
                  <a:lnTo>
                    <a:pt x="107" y="105"/>
                  </a:lnTo>
                  <a:lnTo>
                    <a:pt x="89" y="101"/>
                  </a:lnTo>
                  <a:lnTo>
                    <a:pt x="68" y="99"/>
                  </a:lnTo>
                  <a:lnTo>
                    <a:pt x="45" y="97"/>
                  </a:lnTo>
                  <a:lnTo>
                    <a:pt x="25" y="98"/>
                  </a:lnTo>
                  <a:lnTo>
                    <a:pt x="9" y="102"/>
                  </a:lnTo>
                  <a:lnTo>
                    <a:pt x="0" y="110"/>
                  </a:lnTo>
                  <a:lnTo>
                    <a:pt x="4" y="98"/>
                  </a:lnTo>
                  <a:lnTo>
                    <a:pt x="8" y="89"/>
                  </a:lnTo>
                  <a:lnTo>
                    <a:pt x="16" y="82"/>
                  </a:lnTo>
                  <a:lnTo>
                    <a:pt x="25" y="76"/>
                  </a:lnTo>
                  <a:lnTo>
                    <a:pt x="36" y="72"/>
                  </a:lnTo>
                  <a:lnTo>
                    <a:pt x="47" y="71"/>
                  </a:lnTo>
                  <a:lnTo>
                    <a:pt x="59" y="71"/>
                  </a:lnTo>
                  <a:lnTo>
                    <a:pt x="72" y="74"/>
                  </a:lnTo>
                  <a:lnTo>
                    <a:pt x="73" y="71"/>
                  </a:lnTo>
                  <a:lnTo>
                    <a:pt x="70" y="56"/>
                  </a:lnTo>
                  <a:lnTo>
                    <a:pt x="67" y="38"/>
                  </a:lnTo>
                  <a:lnTo>
                    <a:pt x="65" y="30"/>
                  </a:lnTo>
                  <a:lnTo>
                    <a:pt x="63" y="30"/>
                  </a:lnTo>
                  <a:lnTo>
                    <a:pt x="61" y="29"/>
                  </a:lnTo>
                  <a:lnTo>
                    <a:pt x="59" y="26"/>
                  </a:lnTo>
                  <a:lnTo>
                    <a:pt x="57" y="23"/>
                  </a:lnTo>
                  <a:lnTo>
                    <a:pt x="57" y="19"/>
                  </a:lnTo>
                  <a:lnTo>
                    <a:pt x="59" y="14"/>
                  </a:lnTo>
                  <a:lnTo>
                    <a:pt x="66" y="8"/>
                  </a:lnTo>
                  <a:lnTo>
                    <a:pt x="7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304168" name="Freeform 40"/>
            <p:cNvSpPr>
              <a:spLocks/>
            </p:cNvSpPr>
            <p:nvPr/>
          </p:nvSpPr>
          <p:spPr bwMode="ltGray">
            <a:xfrm rot="1584153">
              <a:off x="574" y="286"/>
              <a:ext cx="147" cy="160"/>
            </a:xfrm>
            <a:custGeom>
              <a:avLst/>
              <a:gdLst>
                <a:gd name="T0" fmla="*/ 0 w 109"/>
                <a:gd name="T1" fmla="*/ 0 h 156"/>
                <a:gd name="T2" fmla="*/ 5 w 109"/>
                <a:gd name="T3" fmla="*/ 1 h 156"/>
                <a:gd name="T4" fmla="*/ 18 w 109"/>
                <a:gd name="T5" fmla="*/ 5 h 156"/>
                <a:gd name="T6" fmla="*/ 37 w 109"/>
                <a:gd name="T7" fmla="*/ 12 h 156"/>
                <a:gd name="T8" fmla="*/ 58 w 109"/>
                <a:gd name="T9" fmla="*/ 24 h 156"/>
                <a:gd name="T10" fmla="*/ 78 w 109"/>
                <a:gd name="T11" fmla="*/ 44 h 156"/>
                <a:gd name="T12" fmla="*/ 96 w 109"/>
                <a:gd name="T13" fmla="*/ 71 h 156"/>
                <a:gd name="T14" fmla="*/ 107 w 109"/>
                <a:gd name="T15" fmla="*/ 108 h 156"/>
                <a:gd name="T16" fmla="*/ 109 w 109"/>
                <a:gd name="T17" fmla="*/ 156 h 156"/>
                <a:gd name="T18" fmla="*/ 105 w 109"/>
                <a:gd name="T19" fmla="*/ 156 h 156"/>
                <a:gd name="T20" fmla="*/ 99 w 109"/>
                <a:gd name="T21" fmla="*/ 156 h 156"/>
                <a:gd name="T22" fmla="*/ 93 w 109"/>
                <a:gd name="T23" fmla="*/ 156 h 156"/>
                <a:gd name="T24" fmla="*/ 87 w 109"/>
                <a:gd name="T25" fmla="*/ 154 h 156"/>
                <a:gd name="T26" fmla="*/ 81 w 109"/>
                <a:gd name="T27" fmla="*/ 153 h 156"/>
                <a:gd name="T28" fmla="*/ 74 w 109"/>
                <a:gd name="T29" fmla="*/ 150 h 156"/>
                <a:gd name="T30" fmla="*/ 66 w 109"/>
                <a:gd name="T31" fmla="*/ 145 h 156"/>
                <a:gd name="T32" fmla="*/ 58 w 109"/>
                <a:gd name="T33" fmla="*/ 139 h 156"/>
                <a:gd name="T34" fmla="*/ 53 w 109"/>
                <a:gd name="T35" fmla="*/ 126 h 156"/>
                <a:gd name="T36" fmla="*/ 53 w 109"/>
                <a:gd name="T37" fmla="*/ 111 h 156"/>
                <a:gd name="T38" fmla="*/ 56 w 109"/>
                <a:gd name="T39" fmla="*/ 96 h 156"/>
                <a:gd name="T40" fmla="*/ 59 w 109"/>
                <a:gd name="T41" fmla="*/ 80 h 156"/>
                <a:gd name="T42" fmla="*/ 56 w 109"/>
                <a:gd name="T43" fmla="*/ 62 h 156"/>
                <a:gd name="T44" fmla="*/ 48 w 109"/>
                <a:gd name="T45" fmla="*/ 43 h 156"/>
                <a:gd name="T46" fmla="*/ 31 w 109"/>
                <a:gd name="T47" fmla="*/ 23 h 156"/>
                <a:gd name="T48" fmla="*/ 0 w 109"/>
                <a:gd name="T49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09" h="156">
                  <a:moveTo>
                    <a:pt x="0" y="0"/>
                  </a:moveTo>
                  <a:lnTo>
                    <a:pt x="5" y="1"/>
                  </a:lnTo>
                  <a:lnTo>
                    <a:pt x="18" y="5"/>
                  </a:lnTo>
                  <a:lnTo>
                    <a:pt x="37" y="12"/>
                  </a:lnTo>
                  <a:lnTo>
                    <a:pt x="58" y="24"/>
                  </a:lnTo>
                  <a:lnTo>
                    <a:pt x="78" y="44"/>
                  </a:lnTo>
                  <a:lnTo>
                    <a:pt x="96" y="71"/>
                  </a:lnTo>
                  <a:lnTo>
                    <a:pt x="107" y="108"/>
                  </a:lnTo>
                  <a:lnTo>
                    <a:pt x="109" y="156"/>
                  </a:lnTo>
                  <a:lnTo>
                    <a:pt x="105" y="156"/>
                  </a:lnTo>
                  <a:lnTo>
                    <a:pt x="99" y="156"/>
                  </a:lnTo>
                  <a:lnTo>
                    <a:pt x="93" y="156"/>
                  </a:lnTo>
                  <a:lnTo>
                    <a:pt x="87" y="154"/>
                  </a:lnTo>
                  <a:lnTo>
                    <a:pt x="81" y="153"/>
                  </a:lnTo>
                  <a:lnTo>
                    <a:pt x="74" y="150"/>
                  </a:lnTo>
                  <a:lnTo>
                    <a:pt x="66" y="145"/>
                  </a:lnTo>
                  <a:lnTo>
                    <a:pt x="58" y="139"/>
                  </a:lnTo>
                  <a:lnTo>
                    <a:pt x="53" y="126"/>
                  </a:lnTo>
                  <a:lnTo>
                    <a:pt x="53" y="111"/>
                  </a:lnTo>
                  <a:lnTo>
                    <a:pt x="56" y="96"/>
                  </a:lnTo>
                  <a:lnTo>
                    <a:pt x="59" y="80"/>
                  </a:lnTo>
                  <a:lnTo>
                    <a:pt x="56" y="62"/>
                  </a:lnTo>
                  <a:lnTo>
                    <a:pt x="48" y="43"/>
                  </a:lnTo>
                  <a:lnTo>
                    <a:pt x="31" y="2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304169" name="Freeform 41"/>
            <p:cNvSpPr>
              <a:spLocks/>
            </p:cNvSpPr>
            <p:nvPr/>
          </p:nvSpPr>
          <p:spPr bwMode="ltGray">
            <a:xfrm rot="1584153">
              <a:off x="236" y="721"/>
              <a:ext cx="62" cy="97"/>
            </a:xfrm>
            <a:custGeom>
              <a:avLst/>
              <a:gdLst>
                <a:gd name="T0" fmla="*/ 31 w 46"/>
                <a:gd name="T1" fmla="*/ 0 h 94"/>
                <a:gd name="T2" fmla="*/ 20 w 46"/>
                <a:gd name="T3" fmla="*/ 38 h 94"/>
                <a:gd name="T4" fmla="*/ 15 w 46"/>
                <a:gd name="T5" fmla="*/ 62 h 94"/>
                <a:gd name="T6" fmla="*/ 11 w 46"/>
                <a:gd name="T7" fmla="*/ 79 h 94"/>
                <a:gd name="T8" fmla="*/ 0 w 46"/>
                <a:gd name="T9" fmla="*/ 94 h 94"/>
                <a:gd name="T10" fmla="*/ 12 w 46"/>
                <a:gd name="T11" fmla="*/ 88 h 94"/>
                <a:gd name="T12" fmla="*/ 23 w 46"/>
                <a:gd name="T13" fmla="*/ 80 h 94"/>
                <a:gd name="T14" fmla="*/ 32 w 46"/>
                <a:gd name="T15" fmla="*/ 69 h 94"/>
                <a:gd name="T16" fmla="*/ 40 w 46"/>
                <a:gd name="T17" fmla="*/ 57 h 94"/>
                <a:gd name="T18" fmla="*/ 45 w 46"/>
                <a:gd name="T19" fmla="*/ 44 h 94"/>
                <a:gd name="T20" fmla="*/ 46 w 46"/>
                <a:gd name="T21" fmla="*/ 30 h 94"/>
                <a:gd name="T22" fmla="*/ 42 w 46"/>
                <a:gd name="T23" fmla="*/ 15 h 94"/>
                <a:gd name="T24" fmla="*/ 31 w 46"/>
                <a:gd name="T25" fmla="*/ 0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6" h="94">
                  <a:moveTo>
                    <a:pt x="31" y="0"/>
                  </a:moveTo>
                  <a:lnTo>
                    <a:pt x="20" y="38"/>
                  </a:lnTo>
                  <a:lnTo>
                    <a:pt x="15" y="62"/>
                  </a:lnTo>
                  <a:lnTo>
                    <a:pt x="11" y="79"/>
                  </a:lnTo>
                  <a:lnTo>
                    <a:pt x="0" y="94"/>
                  </a:lnTo>
                  <a:lnTo>
                    <a:pt x="12" y="88"/>
                  </a:lnTo>
                  <a:lnTo>
                    <a:pt x="23" y="80"/>
                  </a:lnTo>
                  <a:lnTo>
                    <a:pt x="32" y="69"/>
                  </a:lnTo>
                  <a:lnTo>
                    <a:pt x="40" y="57"/>
                  </a:lnTo>
                  <a:lnTo>
                    <a:pt x="45" y="44"/>
                  </a:lnTo>
                  <a:lnTo>
                    <a:pt x="46" y="30"/>
                  </a:lnTo>
                  <a:lnTo>
                    <a:pt x="42" y="15"/>
                  </a:lnTo>
                  <a:lnTo>
                    <a:pt x="3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304170" name="Freeform 42"/>
            <p:cNvSpPr>
              <a:spLocks/>
            </p:cNvSpPr>
            <p:nvPr/>
          </p:nvSpPr>
          <p:spPr bwMode="ltGray">
            <a:xfrm rot="1584153">
              <a:off x="585" y="466"/>
              <a:ext cx="72" cy="41"/>
            </a:xfrm>
            <a:custGeom>
              <a:avLst/>
              <a:gdLst>
                <a:gd name="T0" fmla="*/ 0 w 54"/>
                <a:gd name="T1" fmla="*/ 0 h 40"/>
                <a:gd name="T2" fmla="*/ 1 w 54"/>
                <a:gd name="T3" fmla="*/ 1 h 40"/>
                <a:gd name="T4" fmla="*/ 6 w 54"/>
                <a:gd name="T5" fmla="*/ 3 h 40"/>
                <a:gd name="T6" fmla="*/ 13 w 54"/>
                <a:gd name="T7" fmla="*/ 8 h 40"/>
                <a:gd name="T8" fmla="*/ 21 w 54"/>
                <a:gd name="T9" fmla="*/ 12 h 40"/>
                <a:gd name="T10" fmla="*/ 29 w 54"/>
                <a:gd name="T11" fmla="*/ 15 h 40"/>
                <a:gd name="T12" fmla="*/ 38 w 54"/>
                <a:gd name="T13" fmla="*/ 17 h 40"/>
                <a:gd name="T14" fmla="*/ 46 w 54"/>
                <a:gd name="T15" fmla="*/ 18 h 40"/>
                <a:gd name="T16" fmla="*/ 54 w 54"/>
                <a:gd name="T17" fmla="*/ 16 h 40"/>
                <a:gd name="T18" fmla="*/ 53 w 54"/>
                <a:gd name="T19" fmla="*/ 25 h 40"/>
                <a:gd name="T20" fmla="*/ 50 w 54"/>
                <a:gd name="T21" fmla="*/ 33 h 40"/>
                <a:gd name="T22" fmla="*/ 44 w 54"/>
                <a:gd name="T23" fmla="*/ 38 h 40"/>
                <a:gd name="T24" fmla="*/ 37 w 54"/>
                <a:gd name="T25" fmla="*/ 40 h 40"/>
                <a:gd name="T26" fmla="*/ 28 w 54"/>
                <a:gd name="T27" fmla="*/ 39 h 40"/>
                <a:gd name="T28" fmla="*/ 19 w 54"/>
                <a:gd name="T29" fmla="*/ 32 h 40"/>
                <a:gd name="T30" fmla="*/ 10 w 54"/>
                <a:gd name="T31" fmla="*/ 20 h 40"/>
                <a:gd name="T32" fmla="*/ 0 w 54"/>
                <a:gd name="T33" fmla="*/ 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4" h="40">
                  <a:moveTo>
                    <a:pt x="0" y="0"/>
                  </a:moveTo>
                  <a:lnTo>
                    <a:pt x="1" y="1"/>
                  </a:lnTo>
                  <a:lnTo>
                    <a:pt x="6" y="3"/>
                  </a:lnTo>
                  <a:lnTo>
                    <a:pt x="13" y="8"/>
                  </a:lnTo>
                  <a:lnTo>
                    <a:pt x="21" y="12"/>
                  </a:lnTo>
                  <a:lnTo>
                    <a:pt x="29" y="15"/>
                  </a:lnTo>
                  <a:lnTo>
                    <a:pt x="38" y="17"/>
                  </a:lnTo>
                  <a:lnTo>
                    <a:pt x="46" y="18"/>
                  </a:lnTo>
                  <a:lnTo>
                    <a:pt x="54" y="16"/>
                  </a:lnTo>
                  <a:lnTo>
                    <a:pt x="53" y="25"/>
                  </a:lnTo>
                  <a:lnTo>
                    <a:pt x="50" y="33"/>
                  </a:lnTo>
                  <a:lnTo>
                    <a:pt x="44" y="38"/>
                  </a:lnTo>
                  <a:lnTo>
                    <a:pt x="37" y="40"/>
                  </a:lnTo>
                  <a:lnTo>
                    <a:pt x="28" y="39"/>
                  </a:lnTo>
                  <a:lnTo>
                    <a:pt x="19" y="32"/>
                  </a:lnTo>
                  <a:lnTo>
                    <a:pt x="10" y="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304171" name="Freeform 43"/>
            <p:cNvSpPr>
              <a:spLocks/>
            </p:cNvSpPr>
            <p:nvPr/>
          </p:nvSpPr>
          <p:spPr bwMode="ltGray">
            <a:xfrm>
              <a:off x="0" y="886"/>
              <a:ext cx="360" cy="650"/>
            </a:xfrm>
            <a:custGeom>
              <a:avLst/>
              <a:gdLst>
                <a:gd name="T0" fmla="*/ 264 w 360"/>
                <a:gd name="T1" fmla="*/ 0 h 650"/>
                <a:gd name="T2" fmla="*/ 269 w 360"/>
                <a:gd name="T3" fmla="*/ 9 h 650"/>
                <a:gd name="T4" fmla="*/ 277 w 360"/>
                <a:gd name="T5" fmla="*/ 22 h 650"/>
                <a:gd name="T6" fmla="*/ 286 w 360"/>
                <a:gd name="T7" fmla="*/ 39 h 650"/>
                <a:gd name="T8" fmla="*/ 297 w 360"/>
                <a:gd name="T9" fmla="*/ 58 h 650"/>
                <a:gd name="T10" fmla="*/ 309 w 360"/>
                <a:gd name="T11" fmla="*/ 83 h 650"/>
                <a:gd name="T12" fmla="*/ 319 w 360"/>
                <a:gd name="T13" fmla="*/ 108 h 650"/>
                <a:gd name="T14" fmla="*/ 329 w 360"/>
                <a:gd name="T15" fmla="*/ 136 h 650"/>
                <a:gd name="T16" fmla="*/ 333 w 360"/>
                <a:gd name="T17" fmla="*/ 163 h 650"/>
                <a:gd name="T18" fmla="*/ 336 w 360"/>
                <a:gd name="T19" fmla="*/ 193 h 650"/>
                <a:gd name="T20" fmla="*/ 332 w 360"/>
                <a:gd name="T21" fmla="*/ 223 h 650"/>
                <a:gd name="T22" fmla="*/ 323 w 360"/>
                <a:gd name="T23" fmla="*/ 255 h 650"/>
                <a:gd name="T24" fmla="*/ 310 w 360"/>
                <a:gd name="T25" fmla="*/ 285 h 650"/>
                <a:gd name="T26" fmla="*/ 287 w 360"/>
                <a:gd name="T27" fmla="*/ 315 h 650"/>
                <a:gd name="T28" fmla="*/ 257 w 360"/>
                <a:gd name="T29" fmla="*/ 343 h 650"/>
                <a:gd name="T30" fmla="*/ 218 w 360"/>
                <a:gd name="T31" fmla="*/ 370 h 650"/>
                <a:gd name="T32" fmla="*/ 167 w 360"/>
                <a:gd name="T33" fmla="*/ 396 h 650"/>
                <a:gd name="T34" fmla="*/ 111 w 360"/>
                <a:gd name="T35" fmla="*/ 425 h 650"/>
                <a:gd name="T36" fmla="*/ 69 w 360"/>
                <a:gd name="T37" fmla="*/ 457 h 650"/>
                <a:gd name="T38" fmla="*/ 35 w 360"/>
                <a:gd name="T39" fmla="*/ 490 h 650"/>
                <a:gd name="T40" fmla="*/ 12 w 360"/>
                <a:gd name="T41" fmla="*/ 526 h 650"/>
                <a:gd name="T42" fmla="*/ 0 w 360"/>
                <a:gd name="T43" fmla="*/ 553 h 650"/>
                <a:gd name="T44" fmla="*/ 0 w 360"/>
                <a:gd name="T45" fmla="*/ 650 h 650"/>
                <a:gd name="T46" fmla="*/ 6 w 360"/>
                <a:gd name="T47" fmla="*/ 628 h 650"/>
                <a:gd name="T48" fmla="*/ 19 w 360"/>
                <a:gd name="T49" fmla="*/ 594 h 650"/>
                <a:gd name="T50" fmla="*/ 43 w 360"/>
                <a:gd name="T51" fmla="*/ 551 h 650"/>
                <a:gd name="T52" fmla="*/ 76 w 360"/>
                <a:gd name="T53" fmla="*/ 503 h 650"/>
                <a:gd name="T54" fmla="*/ 125 w 360"/>
                <a:gd name="T55" fmla="*/ 454 h 650"/>
                <a:gd name="T56" fmla="*/ 190 w 360"/>
                <a:gd name="T57" fmla="*/ 408 h 650"/>
                <a:gd name="T58" fmla="*/ 275 w 360"/>
                <a:gd name="T59" fmla="*/ 365 h 650"/>
                <a:gd name="T60" fmla="*/ 308 w 360"/>
                <a:gd name="T61" fmla="*/ 342 h 650"/>
                <a:gd name="T62" fmla="*/ 335 w 360"/>
                <a:gd name="T63" fmla="*/ 305 h 650"/>
                <a:gd name="T64" fmla="*/ 352 w 360"/>
                <a:gd name="T65" fmla="*/ 255 h 650"/>
                <a:gd name="T66" fmla="*/ 360 w 360"/>
                <a:gd name="T67" fmla="*/ 201 h 650"/>
                <a:gd name="T68" fmla="*/ 356 w 360"/>
                <a:gd name="T69" fmla="*/ 144 h 650"/>
                <a:gd name="T70" fmla="*/ 341 w 360"/>
                <a:gd name="T71" fmla="*/ 88 h 650"/>
                <a:gd name="T72" fmla="*/ 311 w 360"/>
                <a:gd name="T73" fmla="*/ 39 h 650"/>
                <a:gd name="T74" fmla="*/ 264 w 360"/>
                <a:gd name="T75" fmla="*/ 0 h 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360" h="650">
                  <a:moveTo>
                    <a:pt x="264" y="0"/>
                  </a:moveTo>
                  <a:lnTo>
                    <a:pt x="269" y="9"/>
                  </a:lnTo>
                  <a:lnTo>
                    <a:pt x="277" y="22"/>
                  </a:lnTo>
                  <a:lnTo>
                    <a:pt x="286" y="39"/>
                  </a:lnTo>
                  <a:lnTo>
                    <a:pt x="297" y="58"/>
                  </a:lnTo>
                  <a:lnTo>
                    <a:pt x="309" y="83"/>
                  </a:lnTo>
                  <a:lnTo>
                    <a:pt x="319" y="108"/>
                  </a:lnTo>
                  <a:lnTo>
                    <a:pt x="329" y="136"/>
                  </a:lnTo>
                  <a:lnTo>
                    <a:pt x="333" y="163"/>
                  </a:lnTo>
                  <a:lnTo>
                    <a:pt x="336" y="193"/>
                  </a:lnTo>
                  <a:lnTo>
                    <a:pt x="332" y="223"/>
                  </a:lnTo>
                  <a:lnTo>
                    <a:pt x="323" y="255"/>
                  </a:lnTo>
                  <a:lnTo>
                    <a:pt x="310" y="285"/>
                  </a:lnTo>
                  <a:lnTo>
                    <a:pt x="287" y="315"/>
                  </a:lnTo>
                  <a:lnTo>
                    <a:pt x="257" y="343"/>
                  </a:lnTo>
                  <a:lnTo>
                    <a:pt x="218" y="370"/>
                  </a:lnTo>
                  <a:lnTo>
                    <a:pt x="167" y="396"/>
                  </a:lnTo>
                  <a:lnTo>
                    <a:pt x="111" y="425"/>
                  </a:lnTo>
                  <a:lnTo>
                    <a:pt x="69" y="457"/>
                  </a:lnTo>
                  <a:lnTo>
                    <a:pt x="35" y="490"/>
                  </a:lnTo>
                  <a:lnTo>
                    <a:pt x="12" y="526"/>
                  </a:lnTo>
                  <a:lnTo>
                    <a:pt x="0" y="553"/>
                  </a:lnTo>
                  <a:lnTo>
                    <a:pt x="0" y="650"/>
                  </a:lnTo>
                  <a:lnTo>
                    <a:pt x="6" y="628"/>
                  </a:lnTo>
                  <a:lnTo>
                    <a:pt x="19" y="594"/>
                  </a:lnTo>
                  <a:lnTo>
                    <a:pt x="43" y="551"/>
                  </a:lnTo>
                  <a:lnTo>
                    <a:pt x="76" y="503"/>
                  </a:lnTo>
                  <a:lnTo>
                    <a:pt x="125" y="454"/>
                  </a:lnTo>
                  <a:lnTo>
                    <a:pt x="190" y="408"/>
                  </a:lnTo>
                  <a:lnTo>
                    <a:pt x="275" y="365"/>
                  </a:lnTo>
                  <a:lnTo>
                    <a:pt x="308" y="342"/>
                  </a:lnTo>
                  <a:lnTo>
                    <a:pt x="335" y="305"/>
                  </a:lnTo>
                  <a:lnTo>
                    <a:pt x="352" y="255"/>
                  </a:lnTo>
                  <a:lnTo>
                    <a:pt x="360" y="201"/>
                  </a:lnTo>
                  <a:lnTo>
                    <a:pt x="356" y="144"/>
                  </a:lnTo>
                  <a:lnTo>
                    <a:pt x="341" y="88"/>
                  </a:lnTo>
                  <a:lnTo>
                    <a:pt x="311" y="39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304172" name="Freeform 44"/>
            <p:cNvSpPr>
              <a:spLocks/>
            </p:cNvSpPr>
            <p:nvPr/>
          </p:nvSpPr>
          <p:spPr bwMode="ltGray">
            <a:xfrm rot="1584153">
              <a:off x="56" y="84"/>
              <a:ext cx="804" cy="686"/>
            </a:xfrm>
            <a:custGeom>
              <a:avLst/>
              <a:gdLst>
                <a:gd name="T0" fmla="*/ 16 w 596"/>
                <a:gd name="T1" fmla="*/ 370 h 666"/>
                <a:gd name="T2" fmla="*/ 6 w 596"/>
                <a:gd name="T3" fmla="*/ 341 h 666"/>
                <a:gd name="T4" fmla="*/ 0 w 596"/>
                <a:gd name="T5" fmla="*/ 289 h 666"/>
                <a:gd name="T6" fmla="*/ 4 w 596"/>
                <a:gd name="T7" fmla="*/ 222 h 666"/>
                <a:gd name="T8" fmla="*/ 25 w 596"/>
                <a:gd name="T9" fmla="*/ 151 h 666"/>
                <a:gd name="T10" fmla="*/ 69 w 596"/>
                <a:gd name="T11" fmla="*/ 84 h 666"/>
                <a:gd name="T12" fmla="*/ 142 w 596"/>
                <a:gd name="T13" fmla="*/ 31 h 666"/>
                <a:gd name="T14" fmla="*/ 247 w 596"/>
                <a:gd name="T15" fmla="*/ 2 h 666"/>
                <a:gd name="T16" fmla="*/ 380 w 596"/>
                <a:gd name="T17" fmla="*/ 9 h 666"/>
                <a:gd name="T18" fmla="*/ 484 w 596"/>
                <a:gd name="T19" fmla="*/ 68 h 666"/>
                <a:gd name="T20" fmla="*/ 554 w 596"/>
                <a:gd name="T21" fmla="*/ 165 h 666"/>
                <a:gd name="T22" fmla="*/ 591 w 596"/>
                <a:gd name="T23" fmla="*/ 284 h 666"/>
                <a:gd name="T24" fmla="*/ 595 w 596"/>
                <a:gd name="T25" fmla="*/ 409 h 666"/>
                <a:gd name="T26" fmla="*/ 566 w 596"/>
                <a:gd name="T27" fmla="*/ 525 h 666"/>
                <a:gd name="T28" fmla="*/ 507 w 596"/>
                <a:gd name="T29" fmla="*/ 615 h 666"/>
                <a:gd name="T30" fmla="*/ 417 w 596"/>
                <a:gd name="T31" fmla="*/ 663 h 666"/>
                <a:gd name="T32" fmla="*/ 389 w 596"/>
                <a:gd name="T33" fmla="*/ 659 h 666"/>
                <a:gd name="T34" fmla="*/ 441 w 596"/>
                <a:gd name="T35" fmla="*/ 617 h 666"/>
                <a:gd name="T36" fmla="*/ 482 w 596"/>
                <a:gd name="T37" fmla="*/ 544 h 666"/>
                <a:gd name="T38" fmla="*/ 509 w 596"/>
                <a:gd name="T39" fmla="*/ 454 h 666"/>
                <a:gd name="T40" fmla="*/ 520 w 596"/>
                <a:gd name="T41" fmla="*/ 355 h 666"/>
                <a:gd name="T42" fmla="*/ 514 w 596"/>
                <a:gd name="T43" fmla="*/ 258 h 666"/>
                <a:gd name="T44" fmla="*/ 485 w 596"/>
                <a:gd name="T45" fmla="*/ 174 h 666"/>
                <a:gd name="T46" fmla="*/ 433 w 596"/>
                <a:gd name="T47" fmla="*/ 112 h 666"/>
                <a:gd name="T48" fmla="*/ 341 w 596"/>
                <a:gd name="T49" fmla="*/ 75 h 666"/>
                <a:gd name="T50" fmla="*/ 246 w 596"/>
                <a:gd name="T51" fmla="*/ 61 h 666"/>
                <a:gd name="T52" fmla="*/ 174 w 596"/>
                <a:gd name="T53" fmla="*/ 71 h 666"/>
                <a:gd name="T54" fmla="*/ 121 w 596"/>
                <a:gd name="T55" fmla="*/ 101 h 666"/>
                <a:gd name="T56" fmla="*/ 84 w 596"/>
                <a:gd name="T57" fmla="*/ 149 h 666"/>
                <a:gd name="T58" fmla="*/ 57 w 596"/>
                <a:gd name="T59" fmla="*/ 206 h 666"/>
                <a:gd name="T60" fmla="*/ 40 w 596"/>
                <a:gd name="T61" fmla="*/ 272 h 666"/>
                <a:gd name="T62" fmla="*/ 28 w 596"/>
                <a:gd name="T63" fmla="*/ 339 h 6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596" h="666">
                  <a:moveTo>
                    <a:pt x="22" y="372"/>
                  </a:moveTo>
                  <a:lnTo>
                    <a:pt x="16" y="370"/>
                  </a:lnTo>
                  <a:lnTo>
                    <a:pt x="10" y="360"/>
                  </a:lnTo>
                  <a:lnTo>
                    <a:pt x="6" y="341"/>
                  </a:lnTo>
                  <a:lnTo>
                    <a:pt x="1" y="318"/>
                  </a:lnTo>
                  <a:lnTo>
                    <a:pt x="0" y="289"/>
                  </a:lnTo>
                  <a:lnTo>
                    <a:pt x="0" y="257"/>
                  </a:lnTo>
                  <a:lnTo>
                    <a:pt x="4" y="222"/>
                  </a:lnTo>
                  <a:lnTo>
                    <a:pt x="13" y="187"/>
                  </a:lnTo>
                  <a:lnTo>
                    <a:pt x="25" y="151"/>
                  </a:lnTo>
                  <a:lnTo>
                    <a:pt x="45" y="116"/>
                  </a:lnTo>
                  <a:lnTo>
                    <a:pt x="69" y="84"/>
                  </a:lnTo>
                  <a:lnTo>
                    <a:pt x="101" y="55"/>
                  </a:lnTo>
                  <a:lnTo>
                    <a:pt x="142" y="31"/>
                  </a:lnTo>
                  <a:lnTo>
                    <a:pt x="190" y="13"/>
                  </a:lnTo>
                  <a:lnTo>
                    <a:pt x="247" y="2"/>
                  </a:lnTo>
                  <a:lnTo>
                    <a:pt x="314" y="0"/>
                  </a:lnTo>
                  <a:lnTo>
                    <a:pt x="380" y="9"/>
                  </a:lnTo>
                  <a:lnTo>
                    <a:pt x="436" y="33"/>
                  </a:lnTo>
                  <a:lnTo>
                    <a:pt x="484" y="68"/>
                  </a:lnTo>
                  <a:lnTo>
                    <a:pt x="524" y="113"/>
                  </a:lnTo>
                  <a:lnTo>
                    <a:pt x="554" y="165"/>
                  </a:lnTo>
                  <a:lnTo>
                    <a:pt x="577" y="222"/>
                  </a:lnTo>
                  <a:lnTo>
                    <a:pt x="591" y="284"/>
                  </a:lnTo>
                  <a:lnTo>
                    <a:pt x="596" y="347"/>
                  </a:lnTo>
                  <a:lnTo>
                    <a:pt x="595" y="409"/>
                  </a:lnTo>
                  <a:lnTo>
                    <a:pt x="585" y="469"/>
                  </a:lnTo>
                  <a:lnTo>
                    <a:pt x="566" y="525"/>
                  </a:lnTo>
                  <a:lnTo>
                    <a:pt x="540" y="574"/>
                  </a:lnTo>
                  <a:lnTo>
                    <a:pt x="507" y="615"/>
                  </a:lnTo>
                  <a:lnTo>
                    <a:pt x="465" y="645"/>
                  </a:lnTo>
                  <a:lnTo>
                    <a:pt x="417" y="663"/>
                  </a:lnTo>
                  <a:lnTo>
                    <a:pt x="360" y="666"/>
                  </a:lnTo>
                  <a:lnTo>
                    <a:pt x="389" y="659"/>
                  </a:lnTo>
                  <a:lnTo>
                    <a:pt x="417" y="642"/>
                  </a:lnTo>
                  <a:lnTo>
                    <a:pt x="441" y="617"/>
                  </a:lnTo>
                  <a:lnTo>
                    <a:pt x="463" y="583"/>
                  </a:lnTo>
                  <a:lnTo>
                    <a:pt x="482" y="544"/>
                  </a:lnTo>
                  <a:lnTo>
                    <a:pt x="497" y="501"/>
                  </a:lnTo>
                  <a:lnTo>
                    <a:pt x="509" y="454"/>
                  </a:lnTo>
                  <a:lnTo>
                    <a:pt x="517" y="404"/>
                  </a:lnTo>
                  <a:lnTo>
                    <a:pt x="520" y="355"/>
                  </a:lnTo>
                  <a:lnTo>
                    <a:pt x="519" y="305"/>
                  </a:lnTo>
                  <a:lnTo>
                    <a:pt x="514" y="258"/>
                  </a:lnTo>
                  <a:lnTo>
                    <a:pt x="502" y="213"/>
                  </a:lnTo>
                  <a:lnTo>
                    <a:pt x="485" y="174"/>
                  </a:lnTo>
                  <a:lnTo>
                    <a:pt x="462" y="139"/>
                  </a:lnTo>
                  <a:lnTo>
                    <a:pt x="433" y="112"/>
                  </a:lnTo>
                  <a:lnTo>
                    <a:pt x="397" y="93"/>
                  </a:lnTo>
                  <a:lnTo>
                    <a:pt x="341" y="75"/>
                  </a:lnTo>
                  <a:lnTo>
                    <a:pt x="290" y="65"/>
                  </a:lnTo>
                  <a:lnTo>
                    <a:pt x="246" y="61"/>
                  </a:lnTo>
                  <a:lnTo>
                    <a:pt x="207" y="63"/>
                  </a:lnTo>
                  <a:lnTo>
                    <a:pt x="174" y="71"/>
                  </a:lnTo>
                  <a:lnTo>
                    <a:pt x="146" y="84"/>
                  </a:lnTo>
                  <a:lnTo>
                    <a:pt x="121" y="101"/>
                  </a:lnTo>
                  <a:lnTo>
                    <a:pt x="101" y="123"/>
                  </a:lnTo>
                  <a:lnTo>
                    <a:pt x="84" y="149"/>
                  </a:lnTo>
                  <a:lnTo>
                    <a:pt x="69" y="176"/>
                  </a:lnTo>
                  <a:lnTo>
                    <a:pt x="57" y="206"/>
                  </a:lnTo>
                  <a:lnTo>
                    <a:pt x="48" y="239"/>
                  </a:lnTo>
                  <a:lnTo>
                    <a:pt x="40" y="272"/>
                  </a:lnTo>
                  <a:lnTo>
                    <a:pt x="33" y="305"/>
                  </a:lnTo>
                  <a:lnTo>
                    <a:pt x="28" y="339"/>
                  </a:lnTo>
                  <a:lnTo>
                    <a:pt x="22" y="37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</p:grpSp>
      <p:sp>
        <p:nvSpPr>
          <p:cNvPr id="304173" name="Rectangle 45"/>
          <p:cNvSpPr>
            <a:spLocks noGrp="1" noChangeArrowheads="1"/>
          </p:cNvSpPr>
          <p:nvPr>
            <p:ph type="title"/>
          </p:nvPr>
        </p:nvSpPr>
        <p:spPr bwMode="auto">
          <a:xfrm>
            <a:off x="442913" y="103188"/>
            <a:ext cx="8243887" cy="1314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304174" name="Rectangle 46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45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304175" name="Rectangle 4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3638"/>
            <a:ext cx="2133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304176" name="Rectangle 4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304177" name="Rectangle 4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3638"/>
            <a:ext cx="2133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+mn-lt"/>
              </a:defRPr>
            </a:lvl1pPr>
          </a:lstStyle>
          <a:p>
            <a:fld id="{6E247362-0D17-4C8B-BA6E-8F8838066515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1" r:id="rId1"/>
    <p:sldLayoutId id="2147483712" r:id="rId2"/>
    <p:sldLayoutId id="2147483713" r:id="rId3"/>
    <p:sldLayoutId id="2147483714" r:id="rId4"/>
    <p:sldLayoutId id="2147483715" r:id="rId5"/>
    <p:sldLayoutId id="2147483716" r:id="rId6"/>
    <p:sldLayoutId id="2147483717" r:id="rId7"/>
    <p:sldLayoutId id="2147483718" r:id="rId8"/>
    <p:sldLayoutId id="2147483719" r:id="rId9"/>
    <p:sldLayoutId id="2147483720" r:id="rId10"/>
    <p:sldLayoutId id="2147483721" r:id="rId11"/>
    <p:sldLayoutId id="2147483722" r:id="rId12"/>
    <p:sldLayoutId id="2147483723" r:id="rId13"/>
    <p:sldLayoutId id="2147483724" r:id="rId14"/>
  </p:sldLayoutIdLst>
  <p:hf hdr="0" ftr="0" dt="0"/>
  <p:txStyles>
    <p:titleStyle>
      <a:lvl1pPr algn="ctr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+mj-cs"/>
        </a:defRPr>
      </a:lvl1pPr>
      <a:lvl2pPr algn="ctr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Verdana" pitchFamily="34" charset="0"/>
        </a:defRPr>
      </a:lvl2pPr>
      <a:lvl3pPr algn="ctr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Verdana" pitchFamily="34" charset="0"/>
        </a:defRPr>
      </a:lvl3pPr>
      <a:lvl4pPr algn="ctr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Verdana" pitchFamily="34" charset="0"/>
        </a:defRPr>
      </a:lvl4pPr>
      <a:lvl5pPr algn="ctr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Verdana" pitchFamily="34" charset="0"/>
        </a:defRPr>
      </a:lvl5pPr>
      <a:lvl6pPr marL="457200" algn="ctr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Verdana" pitchFamily="34" charset="0"/>
        </a:defRPr>
      </a:lvl6pPr>
      <a:lvl7pPr marL="914400" algn="ctr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Verdana" pitchFamily="34" charset="0"/>
        </a:defRPr>
      </a:lvl7pPr>
      <a:lvl8pPr marL="1371600" algn="ctr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Verdana" pitchFamily="34" charset="0"/>
        </a:defRPr>
      </a:lvl8pPr>
      <a:lvl9pPr marL="1828800" algn="ctr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Verdana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3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6.png"/><Relationship Id="rId4" Type="http://schemas.openxmlformats.org/officeDocument/2006/relationships/image" Target="../media/image28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wmf"/><Relationship Id="rId3" Type="http://schemas.openxmlformats.org/officeDocument/2006/relationships/notesSlide" Target="../notesSlides/notesSlide1.xml"/><Relationship Id="rId7" Type="http://schemas.openxmlformats.org/officeDocument/2006/relationships/oleObject" Target="../embeddings/oleObject2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27.wmf"/><Relationship Id="rId5" Type="http://schemas.openxmlformats.org/officeDocument/2006/relationships/oleObject" Target="../embeddings/oleObject1.bin"/><Relationship Id="rId4" Type="http://schemas.openxmlformats.org/officeDocument/2006/relationships/image" Target="../media/image35.png"/><Relationship Id="rId9" Type="http://schemas.openxmlformats.org/officeDocument/2006/relationships/image" Target="../media/image29.jpe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40.png"/><Relationship Id="rId7" Type="http://schemas.openxmlformats.org/officeDocument/2006/relationships/image" Target="../media/image4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7" Type="http://schemas.openxmlformats.org/officeDocument/2006/relationships/image" Target="../media/image31.jpeg"/><Relationship Id="rId2" Type="http://schemas.openxmlformats.org/officeDocument/2006/relationships/image" Target="../media/image33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4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rkm.com.au/ANIMATIONS/animation-sine-wave.html" TargetMode="External"/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34.w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33.wmf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.bin"/><Relationship Id="rId13" Type="http://schemas.openxmlformats.org/officeDocument/2006/relationships/image" Target="../media/image56.png"/><Relationship Id="rId3" Type="http://schemas.openxmlformats.org/officeDocument/2006/relationships/image" Target="../media/image39.jpg"/><Relationship Id="rId7" Type="http://schemas.openxmlformats.org/officeDocument/2006/relationships/image" Target="../media/image36.wmf"/><Relationship Id="rId12" Type="http://schemas.openxmlformats.org/officeDocument/2006/relationships/image" Target="../media/image55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6.bin"/><Relationship Id="rId11" Type="http://schemas.openxmlformats.org/officeDocument/2006/relationships/image" Target="../media/image38.wmf"/><Relationship Id="rId5" Type="http://schemas.openxmlformats.org/officeDocument/2006/relationships/image" Target="../media/image35.wmf"/><Relationship Id="rId10" Type="http://schemas.openxmlformats.org/officeDocument/2006/relationships/oleObject" Target="../embeddings/oleObject8.bin"/><Relationship Id="rId4" Type="http://schemas.openxmlformats.org/officeDocument/2006/relationships/oleObject" Target="../embeddings/oleObject5.bin"/><Relationship Id="rId9" Type="http://schemas.openxmlformats.org/officeDocument/2006/relationships/image" Target="../media/image37.wm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jpeg"/><Relationship Id="rId3" Type="http://schemas.openxmlformats.org/officeDocument/2006/relationships/image" Target="../media/image40.jpeg"/><Relationship Id="rId7" Type="http://schemas.openxmlformats.org/officeDocument/2006/relationships/image" Target="../media/image4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43.jpeg"/><Relationship Id="rId5" Type="http://schemas.openxmlformats.org/officeDocument/2006/relationships/image" Target="../media/image42.jpeg"/><Relationship Id="rId4" Type="http://schemas.openxmlformats.org/officeDocument/2006/relationships/image" Target="../media/image41.jpe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wmf"/><Relationship Id="rId13" Type="http://schemas.openxmlformats.org/officeDocument/2006/relationships/oleObject" Target="../embeddings/oleObject14.bin"/><Relationship Id="rId3" Type="http://schemas.openxmlformats.org/officeDocument/2006/relationships/oleObject" Target="../embeddings/oleObject9.bin"/><Relationship Id="rId7" Type="http://schemas.openxmlformats.org/officeDocument/2006/relationships/oleObject" Target="../embeddings/oleObject11.bin"/><Relationship Id="rId12" Type="http://schemas.openxmlformats.org/officeDocument/2006/relationships/image" Target="../media/image50.wmf"/><Relationship Id="rId2" Type="http://schemas.openxmlformats.org/officeDocument/2006/relationships/slideLayout" Target="../slideLayouts/slideLayout14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47.wmf"/><Relationship Id="rId11" Type="http://schemas.openxmlformats.org/officeDocument/2006/relationships/oleObject" Target="../embeddings/oleObject13.bin"/><Relationship Id="rId5" Type="http://schemas.openxmlformats.org/officeDocument/2006/relationships/oleObject" Target="../embeddings/oleObject10.bin"/><Relationship Id="rId10" Type="http://schemas.openxmlformats.org/officeDocument/2006/relationships/image" Target="../media/image49.wmf"/><Relationship Id="rId4" Type="http://schemas.openxmlformats.org/officeDocument/2006/relationships/image" Target="../media/image46.wmf"/><Relationship Id="rId9" Type="http://schemas.openxmlformats.org/officeDocument/2006/relationships/oleObject" Target="../embeddings/oleObject12.bin"/><Relationship Id="rId14" Type="http://schemas.openxmlformats.org/officeDocument/2006/relationships/image" Target="../media/image51.wmf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Layout" Target="../slideLayouts/slideLayout14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53.wmf"/><Relationship Id="rId5" Type="http://schemas.openxmlformats.org/officeDocument/2006/relationships/oleObject" Target="../embeddings/oleObject16.bin"/><Relationship Id="rId4" Type="http://schemas.openxmlformats.org/officeDocument/2006/relationships/image" Target="../media/image52.wmf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wmf"/><Relationship Id="rId13" Type="http://schemas.openxmlformats.org/officeDocument/2006/relationships/oleObject" Target="../embeddings/oleObject22.bin"/><Relationship Id="rId3" Type="http://schemas.openxmlformats.org/officeDocument/2006/relationships/oleObject" Target="../embeddings/oleObject17.bin"/><Relationship Id="rId7" Type="http://schemas.openxmlformats.org/officeDocument/2006/relationships/oleObject" Target="../embeddings/oleObject19.bin"/><Relationship Id="rId12" Type="http://schemas.openxmlformats.org/officeDocument/2006/relationships/image" Target="../media/image58.wmf"/><Relationship Id="rId2" Type="http://schemas.openxmlformats.org/officeDocument/2006/relationships/slideLayout" Target="../slideLayouts/slideLayout14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55.wmf"/><Relationship Id="rId11" Type="http://schemas.openxmlformats.org/officeDocument/2006/relationships/oleObject" Target="../embeddings/oleObject21.bin"/><Relationship Id="rId5" Type="http://schemas.openxmlformats.org/officeDocument/2006/relationships/oleObject" Target="../embeddings/oleObject18.bin"/><Relationship Id="rId10" Type="http://schemas.openxmlformats.org/officeDocument/2006/relationships/image" Target="../media/image57.wmf"/><Relationship Id="rId4" Type="http://schemas.openxmlformats.org/officeDocument/2006/relationships/image" Target="../media/image54.wmf"/><Relationship Id="rId9" Type="http://schemas.openxmlformats.org/officeDocument/2006/relationships/oleObject" Target="../embeddings/oleObject20.bin"/><Relationship Id="rId14" Type="http://schemas.openxmlformats.org/officeDocument/2006/relationships/image" Target="../media/image59.wmf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5.bin"/><Relationship Id="rId3" Type="http://schemas.openxmlformats.org/officeDocument/2006/relationships/image" Target="../media/image62.jpeg"/><Relationship Id="rId7" Type="http://schemas.openxmlformats.org/officeDocument/2006/relationships/image" Target="../media/image59.wmf"/><Relationship Id="rId2" Type="http://schemas.openxmlformats.org/officeDocument/2006/relationships/slideLayout" Target="../slideLayouts/slideLayout14.xml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24.bin"/><Relationship Id="rId11" Type="http://schemas.openxmlformats.org/officeDocument/2006/relationships/image" Target="../media/image61.wmf"/><Relationship Id="rId5" Type="http://schemas.openxmlformats.org/officeDocument/2006/relationships/image" Target="../media/image58.wmf"/><Relationship Id="rId10" Type="http://schemas.openxmlformats.org/officeDocument/2006/relationships/oleObject" Target="../embeddings/oleObject26.bin"/><Relationship Id="rId4" Type="http://schemas.openxmlformats.org/officeDocument/2006/relationships/oleObject" Target="../embeddings/oleObject23.bin"/><Relationship Id="rId9" Type="http://schemas.openxmlformats.org/officeDocument/2006/relationships/image" Target="../media/image60.wmf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2.png"/><Relationship Id="rId3" Type="http://schemas.openxmlformats.org/officeDocument/2006/relationships/image" Target="../media/image77.png"/><Relationship Id="rId7" Type="http://schemas.openxmlformats.org/officeDocument/2006/relationships/image" Target="../media/image81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0.png"/><Relationship Id="rId4" Type="http://schemas.openxmlformats.org/officeDocument/2006/relationships/image" Target="../media/image78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jpe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7.png"/><Relationship Id="rId5" Type="http://schemas.openxmlformats.org/officeDocument/2006/relationships/image" Target="../media/image86.png"/><Relationship Id="rId4" Type="http://schemas.openxmlformats.org/officeDocument/2006/relationships/image" Target="../media/image66.jpe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jpe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jpe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46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/>
          <a:p>
            <a:fld id="{81A9E8FF-42CE-4DD5-95B5-0D46D4B7B170}" type="slidenum">
              <a:rPr lang="en-US"/>
              <a:pPr/>
              <a:t>1</a:t>
            </a:fld>
            <a:endParaRPr lang="en-US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19075" y="2286000"/>
            <a:ext cx="8686800" cy="2209800"/>
          </a:xfrm>
        </p:spPr>
        <p:txBody>
          <a:bodyPr/>
          <a:lstStyle/>
          <a:p>
            <a:r>
              <a:rPr lang="en-US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Chapter 9</a:t>
            </a:r>
          </a:p>
          <a:p>
            <a:r>
              <a:rPr lang="en-US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  Sinusoidal Steady-State Analysis</a:t>
            </a:r>
          </a:p>
        </p:txBody>
      </p:sp>
      <p:sp>
        <p:nvSpPr>
          <p:cNvPr id="9" name="Rectangle 2"/>
          <p:cNvSpPr txBox="1">
            <a:spLocks noChangeArrowheads="1"/>
          </p:cNvSpPr>
          <p:nvPr/>
        </p:nvSpPr>
        <p:spPr bwMode="auto">
          <a:xfrm>
            <a:off x="711200" y="457200"/>
            <a:ext cx="7702550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33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45791" dir="3378596" algn="ctr" rotWithShape="0">
                    <a:srgbClr val="993366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52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2pPr>
            <a:lvl3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3pPr>
            <a:lvl4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4pPr>
            <a:lvl5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5pPr>
            <a:lvl6pPr marL="4572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6pPr>
            <a:lvl7pPr marL="9144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7pPr>
            <a:lvl8pPr marL="13716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8pPr>
            <a:lvl9pPr marL="18288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9pPr>
          </a:lstStyle>
          <a:p>
            <a:pPr>
              <a:defRPr/>
            </a:pPr>
            <a:r>
              <a:rPr lang="en-US" sz="3200" dirty="0" smtClean="0"/>
              <a:t>EBN 111/122</a:t>
            </a:r>
            <a:br>
              <a:rPr lang="en-US" sz="3200" dirty="0" smtClean="0"/>
            </a:br>
            <a:r>
              <a:rPr lang="en-US" sz="3200" dirty="0" smtClean="0"/>
              <a:t>ELECTRICITY AND ELECTRONICS</a:t>
            </a:r>
            <a:endParaRPr lang="en-US" sz="3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959FA-C27E-44E5-83F8-A6CA9A538A48}" type="slidenum">
              <a:rPr lang="en-US"/>
              <a:pPr/>
              <a:t>2</a:t>
            </a:fld>
            <a:endParaRPr lang="en-US"/>
          </a:p>
        </p:txBody>
      </p:sp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>
          <a:xfrm>
            <a:off x="442913" y="438150"/>
            <a:ext cx="8243887" cy="1314450"/>
          </a:xfrm>
        </p:spPr>
        <p:txBody>
          <a:bodyPr/>
          <a:lstStyle/>
          <a:p>
            <a:r>
              <a:rPr lang="en-US"/>
              <a:t>Sinusoids and Phasor</a:t>
            </a:r>
            <a:br>
              <a:rPr lang="en-US"/>
            </a:br>
            <a:r>
              <a:rPr lang="en-US"/>
              <a:t>C</a:t>
            </a:r>
            <a:r>
              <a:rPr lang="en-US" sz="4000"/>
              <a:t>hapter 9</a:t>
            </a:r>
          </a:p>
        </p:txBody>
      </p:sp>
      <p:sp>
        <p:nvSpPr>
          <p:cNvPr id="409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2057400"/>
            <a:ext cx="8229600" cy="3541713"/>
          </a:xfrm>
        </p:spPr>
        <p:txBody>
          <a:bodyPr/>
          <a:lstStyle/>
          <a:p>
            <a:pPr marL="746125" indent="-746125">
              <a:lnSpc>
                <a:spcPct val="80000"/>
              </a:lnSpc>
              <a:buFontTx/>
              <a:buNone/>
            </a:pPr>
            <a:endParaRPr lang="en-US" sz="2800" b="1" u="sng"/>
          </a:p>
          <a:p>
            <a:pPr marL="746125" indent="-746125">
              <a:lnSpc>
                <a:spcPct val="80000"/>
              </a:lnSpc>
              <a:buFontTx/>
              <a:buNone/>
            </a:pPr>
            <a:r>
              <a:rPr lang="en-US" sz="2800"/>
              <a:t>9.1	Motivation </a:t>
            </a:r>
          </a:p>
          <a:p>
            <a:pPr marL="746125" indent="-746125">
              <a:lnSpc>
                <a:spcPct val="80000"/>
              </a:lnSpc>
              <a:buFontTx/>
              <a:buNone/>
            </a:pPr>
            <a:r>
              <a:rPr lang="en-US" sz="2800"/>
              <a:t>9.2	Sinusoids’ features</a:t>
            </a:r>
          </a:p>
          <a:p>
            <a:pPr marL="746125" indent="-746125">
              <a:lnSpc>
                <a:spcPct val="80000"/>
              </a:lnSpc>
              <a:buFontTx/>
              <a:buNone/>
            </a:pPr>
            <a:r>
              <a:rPr lang="en-US" sz="2800"/>
              <a:t>9.3	Phasors</a:t>
            </a:r>
          </a:p>
          <a:p>
            <a:pPr marL="746125" indent="-746125">
              <a:lnSpc>
                <a:spcPct val="80000"/>
              </a:lnSpc>
              <a:buFontTx/>
              <a:buNone/>
            </a:pPr>
            <a:r>
              <a:rPr lang="en-US" sz="2800"/>
              <a:t>9.4	Phasor relationships for circuit elements</a:t>
            </a:r>
          </a:p>
          <a:p>
            <a:pPr marL="746125" indent="-746125">
              <a:lnSpc>
                <a:spcPct val="80000"/>
              </a:lnSpc>
              <a:buFontTx/>
              <a:buNone/>
            </a:pPr>
            <a:r>
              <a:rPr lang="en-US" sz="2800"/>
              <a:t>9.5	Impedance and admittance</a:t>
            </a:r>
          </a:p>
          <a:p>
            <a:pPr marL="746125" indent="-746125">
              <a:lnSpc>
                <a:spcPct val="80000"/>
              </a:lnSpc>
              <a:buFontTx/>
              <a:buNone/>
            </a:pPr>
            <a:r>
              <a:rPr lang="en-US" sz="2800"/>
              <a:t>9.6	Kirchhoff’s laws in the frequency domain</a:t>
            </a:r>
          </a:p>
          <a:p>
            <a:pPr marL="746125" indent="-746125">
              <a:lnSpc>
                <a:spcPct val="80000"/>
              </a:lnSpc>
              <a:buFontTx/>
              <a:buNone/>
            </a:pPr>
            <a:r>
              <a:rPr lang="en-US" sz="2800"/>
              <a:t>9.7	Impedance combinations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52E00-4080-4BB6-BD60-25D4C8820A7D}" type="slidenum">
              <a:rPr lang="en-US"/>
              <a:pPr/>
              <a:t>3</a:t>
            </a:fld>
            <a:endParaRPr lang="en-US"/>
          </a:p>
        </p:txBody>
      </p:sp>
      <p:sp>
        <p:nvSpPr>
          <p:cNvPr id="328720" name="Rectangle 16"/>
          <p:cNvSpPr>
            <a:spLocks noChangeArrowheads="1"/>
          </p:cNvSpPr>
          <p:nvPr/>
        </p:nvSpPr>
        <p:spPr bwMode="auto">
          <a:xfrm>
            <a:off x="595313" y="407988"/>
            <a:ext cx="8243887" cy="582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/>
          <a:p>
            <a:pPr algn="ctr">
              <a:lnSpc>
                <a:spcPct val="90000"/>
              </a:lnSpc>
            </a:pPr>
            <a:r>
              <a:rPr lang="en-US" sz="400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9.1 </a:t>
            </a:r>
            <a:r>
              <a:rPr lang="en-US" sz="4000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Motivation</a:t>
            </a:r>
            <a:endParaRPr lang="en-US" sz="4000" dirty="0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Verdana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09576" y="1387698"/>
            <a:ext cx="86106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ZA" sz="2400" dirty="0" smtClean="0"/>
              <a:t>AC = Alternating Current (Alternates between +and – )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ZA" sz="2400" dirty="0" smtClean="0"/>
              <a:t>Vast majority of Power Networks are AC networks because:</a:t>
            </a:r>
          </a:p>
          <a:p>
            <a:pPr marL="742950" lvl="1" indent="-285750">
              <a:buFont typeface="Arial" pitchFamily="34" charset="0"/>
              <a:buChar char="•"/>
            </a:pPr>
            <a:r>
              <a:rPr lang="en-ZA" sz="2400" dirty="0" smtClean="0"/>
              <a:t>AC allows for easy stepping up and down of voltages which allows for efficient transfer of energy over long distances.</a:t>
            </a:r>
            <a:endParaRPr lang="en-ZA" sz="2400" dirty="0"/>
          </a:p>
        </p:txBody>
      </p:sp>
      <p:pic>
        <p:nvPicPr>
          <p:cNvPr id="328726" name="Picture 22" descr="http://t2.gstatic.com/images?q=tbn:ANd9GcSHY3iVFKe3Vt5A6R1iPAPjT4rHBX3t0b4YF0AwZCrYvPnTk5T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7235" y="3439266"/>
            <a:ext cx="3180296" cy="301508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8728" name="Picture 24" descr="http://t1.gstatic.com/images?q=tbn:ANd9GcQZLKUSEuifeixy6Ec9Tv2OGJHo4ZNcFbVzBfFeOqY4wpr4XZEJ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942" y="3698060"/>
            <a:ext cx="3679791" cy="275629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4A03D1-2F7E-4CDA-B9FD-716C50EB0D27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6" name="Rectangle 16"/>
          <p:cNvSpPr>
            <a:spLocks noChangeArrowheads="1"/>
          </p:cNvSpPr>
          <p:nvPr/>
        </p:nvSpPr>
        <p:spPr bwMode="auto">
          <a:xfrm>
            <a:off x="-38099" y="304800"/>
            <a:ext cx="9143999" cy="1206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/>
          <a:p>
            <a:pPr algn="ctr">
              <a:lnSpc>
                <a:spcPct val="90000"/>
              </a:lnSpc>
            </a:pPr>
            <a:r>
              <a:rPr lang="en-US" sz="320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9.1 </a:t>
            </a:r>
            <a:r>
              <a:rPr lang="en-US" sz="3200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Motivation</a:t>
            </a:r>
          </a:p>
          <a:p>
            <a:pPr algn="ctr">
              <a:lnSpc>
                <a:spcPct val="90000"/>
              </a:lnSpc>
            </a:pPr>
            <a:r>
              <a:rPr lang="en-US" sz="36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How does one </a:t>
            </a:r>
            <a:r>
              <a:rPr lang="en-US" sz="3600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analyse</a:t>
            </a:r>
            <a:r>
              <a:rPr lang="en-US" sz="36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 an AC circuit?</a:t>
            </a:r>
            <a:endParaRPr lang="en-US" sz="3600" dirty="0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Verdana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09725" y="1906976"/>
            <a:ext cx="2395207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Method #1:  </a:t>
            </a:r>
          </a:p>
          <a:p>
            <a:r>
              <a:rPr lang="en-US" sz="2400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Time domain</a:t>
            </a:r>
            <a:endParaRPr lang="en-ZA" sz="2400" dirty="0"/>
          </a:p>
        </p:txBody>
      </p:sp>
      <p:sp>
        <p:nvSpPr>
          <p:cNvPr id="14" name="Rectangle 13"/>
          <p:cNvSpPr/>
          <p:nvPr/>
        </p:nvSpPr>
        <p:spPr>
          <a:xfrm>
            <a:off x="119946" y="2857936"/>
            <a:ext cx="91884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KVL:</a:t>
            </a:r>
            <a:endParaRPr lang="en-ZA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1106584" y="3305713"/>
                <a:ext cx="4357154" cy="8186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ZA" sz="2000" b="0" i="1" smtClean="0">
                          <a:latin typeface="Cambria Math"/>
                        </a:rPr>
                        <m:t>−10</m:t>
                      </m:r>
                      <m:func>
                        <m:funcPr>
                          <m:ctrlPr>
                            <a:rPr lang="en-ZA" sz="2000" b="0" i="1" smtClean="0">
                              <a:latin typeface="Cambria Math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ZA" sz="2000" b="0" i="0" smtClean="0">
                              <a:latin typeface="Cambria Math"/>
                            </a:rPr>
                            <m:t>cos</m:t>
                          </m:r>
                        </m:fName>
                        <m:e>
                          <m:r>
                            <a:rPr lang="en-ZA" sz="2000" b="0" i="1" smtClean="0">
                              <a:latin typeface="Cambria Math"/>
                            </a:rPr>
                            <m:t>4</m:t>
                          </m:r>
                          <m:r>
                            <a:rPr lang="en-ZA" sz="2000" b="0" i="1" smtClean="0">
                              <a:latin typeface="Cambria Math"/>
                            </a:rPr>
                            <m:t>𝑡</m:t>
                          </m:r>
                        </m:e>
                      </m:func>
                      <m:r>
                        <a:rPr lang="en-ZA" sz="2000" b="0" i="1" smtClean="0">
                          <a:latin typeface="Cambria Math"/>
                        </a:rPr>
                        <m:t>+</m:t>
                      </m:r>
                      <m:r>
                        <a:rPr lang="en-ZA" sz="2000" b="0" i="1" smtClean="0">
                          <a:latin typeface="Cambria Math"/>
                        </a:rPr>
                        <m:t>𝑖𝑅</m:t>
                      </m:r>
                      <m:r>
                        <a:rPr lang="en-ZA" sz="2000" b="0" i="1" smtClean="0">
                          <a:latin typeface="Cambria Math"/>
                        </a:rPr>
                        <m:t>+</m:t>
                      </m:r>
                      <m:f>
                        <m:fPr>
                          <m:ctrlPr>
                            <a:rPr lang="en-ZA" sz="2000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ZA" sz="2000" b="0" i="1" smtClean="0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ZA" sz="2000" b="0" i="1" smtClean="0">
                              <a:latin typeface="Cambria Math"/>
                            </a:rPr>
                            <m:t>𝐶</m:t>
                          </m:r>
                        </m:den>
                      </m:f>
                      <m:nary>
                        <m:naryPr>
                          <m:ctrlPr>
                            <a:rPr lang="en-ZA" sz="2000" b="0" i="1" smtClean="0">
                              <a:latin typeface="Cambria Math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ZA" sz="2000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ZA" sz="2000" b="0" i="1" smtClean="0">
                                  <a:latin typeface="Cambria Math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ZA" sz="2000" b="0" i="1" smtClean="0">
                                  <a:latin typeface="Cambria Math"/>
                                </a:rPr>
                                <m:t>0</m:t>
                              </m:r>
                            </m:sub>
                          </m:sSub>
                        </m:sub>
                        <m:sup>
                          <m:r>
                            <a:rPr lang="en-ZA" sz="2000" b="0" i="1" smtClean="0">
                              <a:latin typeface="Cambria Math"/>
                            </a:rPr>
                            <m:t>𝑡</m:t>
                          </m:r>
                        </m:sup>
                        <m:e>
                          <m:r>
                            <a:rPr lang="en-ZA" sz="2000" b="0" i="1" smtClean="0">
                              <a:latin typeface="Cambria Math"/>
                            </a:rPr>
                            <m:t>𝑖𝑑𝑡</m:t>
                          </m:r>
                        </m:e>
                      </m:nary>
                      <m:r>
                        <a:rPr lang="en-ZA" sz="2000" b="0" i="1" smtClean="0">
                          <a:latin typeface="Cambria Math"/>
                        </a:rPr>
                        <m:t>+</m:t>
                      </m:r>
                      <m:r>
                        <a:rPr lang="en-ZA" sz="2000" b="0" i="1" smtClean="0">
                          <a:latin typeface="Cambria Math"/>
                        </a:rPr>
                        <m:t>𝐿</m:t>
                      </m:r>
                      <m:f>
                        <m:fPr>
                          <m:ctrlPr>
                            <a:rPr lang="en-ZA" sz="2000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ZA" sz="2000" b="0" i="1" smtClean="0">
                              <a:latin typeface="Cambria Math"/>
                            </a:rPr>
                            <m:t>𝑑𝑖</m:t>
                          </m:r>
                        </m:num>
                        <m:den>
                          <m:r>
                            <a:rPr lang="en-ZA" sz="2000" b="0" i="1" smtClean="0">
                              <a:latin typeface="Cambria Math"/>
                            </a:rPr>
                            <m:t>𝑑𝑡</m:t>
                          </m:r>
                        </m:den>
                      </m:f>
                      <m:r>
                        <a:rPr lang="en-ZA" sz="2000" b="0" i="1" smtClean="0">
                          <a:latin typeface="Cambria Math"/>
                        </a:rPr>
                        <m:t>=0</m:t>
                      </m:r>
                    </m:oMath>
                  </m:oMathPara>
                </a14:m>
                <a:endParaRPr lang="en-ZA" sz="2000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6584" y="3305713"/>
                <a:ext cx="4357154" cy="818686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1" name="Group 20"/>
          <p:cNvGrpSpPr/>
          <p:nvPr/>
        </p:nvGrpSpPr>
        <p:grpSpPr>
          <a:xfrm>
            <a:off x="5482028" y="1481633"/>
            <a:ext cx="3449638" cy="2178585"/>
            <a:chOff x="4269916" y="1511300"/>
            <a:chExt cx="3449638" cy="2178585"/>
          </a:xfrm>
        </p:grpSpPr>
        <p:grpSp>
          <p:nvGrpSpPr>
            <p:cNvPr id="8" name="Group 7"/>
            <p:cNvGrpSpPr/>
            <p:nvPr/>
          </p:nvGrpSpPr>
          <p:grpSpPr>
            <a:xfrm>
              <a:off x="4269916" y="1511300"/>
              <a:ext cx="3449638" cy="2178585"/>
              <a:chOff x="4714876" y="1187966"/>
              <a:chExt cx="3871912" cy="2445267"/>
            </a:xfrm>
          </p:grpSpPr>
          <p:pic>
            <p:nvPicPr>
              <p:cNvPr id="9" name="Picture 18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714876" y="1557297"/>
                <a:ext cx="3871912" cy="207593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 cap="flat" cmpd="sng" algn="ctr">
                    <a:solidFill>
                      <a:schemeClr val="tx1"/>
                    </a:solidFill>
                    <a:prstDash val="solid"/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10" name="TextBox 9"/>
              <p:cNvSpPr txBox="1"/>
              <p:nvPr/>
            </p:nvSpPr>
            <p:spPr>
              <a:xfrm>
                <a:off x="5096272" y="2192636"/>
                <a:ext cx="1594644" cy="738664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 anchorCtr="0">
                <a:spAutoFit/>
              </a:bodyPr>
              <a:lstStyle/>
              <a:p>
                <a:pPr algn="ctr"/>
                <a:r>
                  <a:rPr lang="en-ZA" sz="2400" dirty="0" err="1" smtClean="0">
                    <a:latin typeface="Times New Roman" pitchFamily="18" charset="0"/>
                  </a:rPr>
                  <a:t>V</a:t>
                </a:r>
                <a:r>
                  <a:rPr lang="en-ZA" sz="2400" baseline="-25000" dirty="0" err="1" smtClean="0">
                    <a:latin typeface="Times New Roman" pitchFamily="18" charset="0"/>
                  </a:rPr>
                  <a:t>s</a:t>
                </a:r>
                <a:r>
                  <a:rPr lang="en-ZA" sz="2400" dirty="0" smtClean="0">
                    <a:latin typeface="Times New Roman" pitchFamily="18" charset="0"/>
                  </a:rPr>
                  <a:t> </a:t>
                </a:r>
              </a:p>
              <a:p>
                <a:pPr algn="ctr"/>
                <a:r>
                  <a:rPr lang="en-ZA" sz="2400" dirty="0" smtClean="0">
                    <a:latin typeface="Times New Roman" pitchFamily="18" charset="0"/>
                  </a:rPr>
                  <a:t>= 10cos4t</a:t>
                </a:r>
                <a:endParaRPr lang="en-ZA" sz="2400" dirty="0">
                  <a:latin typeface="Times New Roman" pitchFamily="18" charset="0"/>
                </a:endParaRPr>
              </a:p>
            </p:txBody>
          </p:sp>
          <p:sp>
            <p:nvSpPr>
              <p:cNvPr id="11" name="TextBox 10"/>
              <p:cNvSpPr txBox="1"/>
              <p:nvPr/>
            </p:nvSpPr>
            <p:spPr>
              <a:xfrm>
                <a:off x="5486400" y="1187966"/>
                <a:ext cx="814388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 anchorCtr="0">
                <a:spAutoFit/>
              </a:bodyPr>
              <a:lstStyle/>
              <a:p>
                <a:pPr algn="ctr"/>
                <a:r>
                  <a:rPr lang="en-ZA" sz="2400" dirty="0" smtClean="0">
                    <a:latin typeface="Times New Roman" pitchFamily="18" charset="0"/>
                  </a:rPr>
                  <a:t>R</a:t>
                </a:r>
                <a:endParaRPr lang="en-ZA" sz="2400" dirty="0">
                  <a:latin typeface="Times New Roman" pitchFamily="18" charset="0"/>
                </a:endParaRPr>
              </a:p>
            </p:txBody>
          </p:sp>
          <p:sp>
            <p:nvSpPr>
              <p:cNvPr id="12" name="TextBox 11"/>
              <p:cNvSpPr txBox="1"/>
              <p:nvPr/>
            </p:nvSpPr>
            <p:spPr>
              <a:xfrm>
                <a:off x="7010400" y="1187966"/>
                <a:ext cx="814388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 anchorCtr="0">
                <a:spAutoFit/>
              </a:bodyPr>
              <a:lstStyle/>
              <a:p>
                <a:pPr algn="ctr"/>
                <a:r>
                  <a:rPr lang="en-ZA" sz="2400" dirty="0" smtClean="0">
                    <a:latin typeface="Times New Roman" pitchFamily="18" charset="0"/>
                  </a:rPr>
                  <a:t>C</a:t>
                </a:r>
                <a:endParaRPr lang="en-ZA" sz="2400" dirty="0">
                  <a:latin typeface="Times New Roman" pitchFamily="18" charset="0"/>
                </a:endParaRPr>
              </a:p>
            </p:txBody>
          </p:sp>
          <p:sp>
            <p:nvSpPr>
              <p:cNvPr id="13" name="TextBox 12"/>
              <p:cNvSpPr txBox="1"/>
              <p:nvPr/>
            </p:nvSpPr>
            <p:spPr>
              <a:xfrm>
                <a:off x="7772400" y="2377302"/>
                <a:ext cx="814388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 anchorCtr="0">
                <a:spAutoFit/>
              </a:bodyPr>
              <a:lstStyle/>
              <a:p>
                <a:pPr algn="ctr"/>
                <a:r>
                  <a:rPr lang="en-ZA" sz="2400" dirty="0" smtClean="0">
                    <a:latin typeface="Times New Roman" pitchFamily="18" charset="0"/>
                  </a:rPr>
                  <a:t>L</a:t>
                </a:r>
                <a:endParaRPr lang="en-ZA" sz="2400" dirty="0">
                  <a:latin typeface="Times New Roman" pitchFamily="18" charset="0"/>
                </a:endParaRPr>
              </a:p>
            </p:txBody>
          </p:sp>
        </p:grpSp>
        <p:cxnSp>
          <p:nvCxnSpPr>
            <p:cNvPr id="18" name="Straight Arrow Connector 17"/>
            <p:cNvCxnSpPr/>
            <p:nvPr/>
          </p:nvCxnSpPr>
          <p:spPr bwMode="auto">
            <a:xfrm>
              <a:off x="4609717" y="2108200"/>
              <a:ext cx="482983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arrow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sp>
          <p:nvSpPr>
            <p:cNvPr id="20" name="TextBox 19"/>
            <p:cNvSpPr txBox="1"/>
            <p:nvPr/>
          </p:nvSpPr>
          <p:spPr>
            <a:xfrm>
              <a:off x="4450967" y="2094448"/>
              <a:ext cx="725570" cy="369332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spAutoFit/>
            </a:bodyPr>
            <a:lstStyle/>
            <a:p>
              <a:pPr algn="ctr"/>
              <a:r>
                <a:rPr lang="en-ZA" sz="2400" i="1" dirty="0" smtClean="0">
                  <a:latin typeface="Times New Roman" pitchFamily="18" charset="0"/>
                </a:rPr>
                <a:t>i</a:t>
              </a:r>
              <a:endParaRPr lang="en-ZA" sz="2400" i="1" dirty="0">
                <a:latin typeface="Times New Roman" pitchFamily="18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1136984" y="4502990"/>
                <a:ext cx="3806683" cy="70993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ZA" sz="2000" b="0" i="1" smtClean="0">
                          <a:latin typeface="Cambria Math"/>
                        </a:rPr>
                        <m:t>𝐿</m:t>
                      </m:r>
                      <m:f>
                        <m:fPr>
                          <m:ctrlPr>
                            <a:rPr lang="en-ZA" sz="2000" b="0" i="1" smtClean="0">
                              <a:latin typeface="Cambria Math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ZA" sz="2000" b="0" i="1" smtClean="0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ZA" sz="2000" b="0" i="1" smtClean="0">
                                  <a:latin typeface="Cambria Math"/>
                                </a:rPr>
                                <m:t>𝑑</m:t>
                              </m:r>
                            </m:e>
                            <m:sup>
                              <m:r>
                                <a:rPr lang="en-ZA" sz="2000" b="0" i="1" smtClean="0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  <m:r>
                            <a:rPr lang="en-ZA" sz="2000" b="0" i="1" smtClean="0">
                              <a:latin typeface="Cambria Math"/>
                            </a:rPr>
                            <m:t>𝑖</m:t>
                          </m:r>
                        </m:num>
                        <m:den>
                          <m:r>
                            <a:rPr lang="en-ZA" sz="2000" b="0" i="1" smtClean="0">
                              <a:latin typeface="Cambria Math"/>
                            </a:rPr>
                            <m:t>𝑑</m:t>
                          </m:r>
                          <m:sSup>
                            <m:sSupPr>
                              <m:ctrlPr>
                                <a:rPr lang="en-ZA" sz="2000" b="0" i="1" smtClean="0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ZA" sz="2000" b="0" i="1" smtClean="0">
                                  <a:latin typeface="Cambria Math"/>
                                </a:rPr>
                                <m:t>𝑡</m:t>
                              </m:r>
                            </m:e>
                            <m:sup>
                              <m:r>
                                <a:rPr lang="en-ZA" sz="2000" b="0" i="1" smtClean="0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ZA" sz="2000" b="0" i="1" smtClean="0">
                          <a:latin typeface="Cambria Math"/>
                        </a:rPr>
                        <m:t>+</m:t>
                      </m:r>
                      <m:r>
                        <a:rPr lang="en-ZA" sz="2000" b="0" i="1" smtClean="0">
                          <a:latin typeface="Cambria Math"/>
                        </a:rPr>
                        <m:t>𝑅</m:t>
                      </m:r>
                      <m:f>
                        <m:fPr>
                          <m:ctrlPr>
                            <a:rPr lang="en-ZA" sz="2000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ZA" sz="2000" b="0" i="1" smtClean="0">
                              <a:latin typeface="Cambria Math"/>
                            </a:rPr>
                            <m:t>𝑑𝑖</m:t>
                          </m:r>
                        </m:num>
                        <m:den>
                          <m:r>
                            <a:rPr lang="en-ZA" sz="2000" b="0" i="1" smtClean="0">
                              <a:latin typeface="Cambria Math"/>
                            </a:rPr>
                            <m:t>𝑑𝑡</m:t>
                          </m:r>
                        </m:den>
                      </m:f>
                      <m:r>
                        <a:rPr lang="en-ZA" sz="2000" b="0" i="1" smtClean="0">
                          <a:latin typeface="Cambria Math"/>
                        </a:rPr>
                        <m:t>+</m:t>
                      </m:r>
                      <m:f>
                        <m:fPr>
                          <m:ctrlPr>
                            <a:rPr lang="en-ZA" sz="2000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ZA" sz="2000" b="0" i="1" smtClean="0">
                              <a:latin typeface="Cambria Math"/>
                            </a:rPr>
                            <m:t>𝑖</m:t>
                          </m:r>
                        </m:num>
                        <m:den>
                          <m:r>
                            <a:rPr lang="en-ZA" sz="2000" b="0" i="1" smtClean="0">
                              <a:latin typeface="Cambria Math"/>
                            </a:rPr>
                            <m:t>𝐶</m:t>
                          </m:r>
                        </m:den>
                      </m:f>
                      <m:r>
                        <a:rPr lang="en-ZA" sz="2000" b="0" i="1" smtClean="0">
                          <a:latin typeface="Cambria Math"/>
                        </a:rPr>
                        <m:t>+40</m:t>
                      </m:r>
                      <m:func>
                        <m:funcPr>
                          <m:ctrlPr>
                            <a:rPr lang="en-ZA" sz="2000" b="0" i="1" smtClean="0">
                              <a:latin typeface="Cambria Math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ZA" sz="2000" b="0" i="0" smtClean="0">
                              <a:latin typeface="Cambria Math"/>
                            </a:rPr>
                            <m:t>sin</m:t>
                          </m:r>
                        </m:fName>
                        <m:e>
                          <m:r>
                            <a:rPr lang="en-ZA" sz="2000" b="0" i="1" smtClean="0">
                              <a:latin typeface="Cambria Math"/>
                            </a:rPr>
                            <m:t>4</m:t>
                          </m:r>
                          <m:r>
                            <a:rPr lang="en-ZA" sz="2000" b="0" i="1" smtClean="0">
                              <a:latin typeface="Cambria Math"/>
                            </a:rPr>
                            <m:t>𝑡</m:t>
                          </m:r>
                        </m:e>
                      </m:func>
                      <m:r>
                        <a:rPr lang="en-ZA" sz="2000" b="0" i="1" smtClean="0">
                          <a:latin typeface="Cambria Math"/>
                        </a:rPr>
                        <m:t>=0</m:t>
                      </m:r>
                    </m:oMath>
                  </m:oMathPara>
                </a14:m>
                <a:endParaRPr lang="en-ZA" sz="2000" dirty="0"/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6984" y="4502990"/>
                <a:ext cx="3806683" cy="709938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1241928" y="2864286"/>
                <a:ext cx="272415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ZA" sz="2000" b="0" i="1" smtClean="0">
                          <a:latin typeface="Cambria Math"/>
                        </a:rPr>
                        <m:t>−</m:t>
                      </m:r>
                      <m:sSub>
                        <m:sSubPr>
                          <m:ctrlPr>
                            <a:rPr lang="en-ZA" sz="20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ZA" sz="2000" b="0" i="1" smtClean="0">
                              <a:latin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ZA" sz="2000" b="0" i="1" smtClean="0">
                              <a:latin typeface="Cambria Math"/>
                            </a:rPr>
                            <m:t>𝑠</m:t>
                          </m:r>
                        </m:sub>
                      </m:sSub>
                      <m:r>
                        <a:rPr lang="en-ZA" sz="2000" b="0" i="1" smtClean="0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ZA" sz="20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ZA" sz="2000" b="0" i="1" smtClean="0">
                              <a:latin typeface="Cambria Math"/>
                            </a:rPr>
                            <m:t>𝑣</m:t>
                          </m:r>
                        </m:e>
                        <m:sub>
                          <m:r>
                            <a:rPr lang="en-ZA" sz="2000" b="0" i="1" smtClean="0">
                              <a:latin typeface="Cambria Math"/>
                            </a:rPr>
                            <m:t>𝑅</m:t>
                          </m:r>
                        </m:sub>
                      </m:sSub>
                      <m:r>
                        <a:rPr lang="en-ZA" sz="2000" b="0" i="1" smtClean="0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ZA" sz="20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ZA" sz="2000" b="0" i="1" smtClean="0">
                              <a:latin typeface="Cambria Math"/>
                            </a:rPr>
                            <m:t>𝑣</m:t>
                          </m:r>
                        </m:e>
                        <m:sub>
                          <m:r>
                            <a:rPr lang="en-ZA" sz="2000" b="0" i="1" smtClean="0">
                              <a:latin typeface="Cambria Math"/>
                            </a:rPr>
                            <m:t>𝑐</m:t>
                          </m:r>
                        </m:sub>
                      </m:sSub>
                      <m:r>
                        <a:rPr lang="en-ZA" sz="2000" b="0" i="1" smtClean="0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ZA" sz="20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ZA" sz="2000" b="0" i="1" smtClean="0">
                              <a:latin typeface="Cambria Math"/>
                            </a:rPr>
                            <m:t>𝑣</m:t>
                          </m:r>
                        </m:e>
                        <m:sub>
                          <m:r>
                            <a:rPr lang="en-ZA" sz="2000" b="0" i="1" smtClean="0">
                              <a:latin typeface="Cambria Math"/>
                            </a:rPr>
                            <m:t>𝐿</m:t>
                          </m:r>
                        </m:sub>
                      </m:sSub>
                      <m:r>
                        <a:rPr lang="en-ZA" sz="2000" b="0" i="1" smtClean="0">
                          <a:latin typeface="Cambria Math"/>
                        </a:rPr>
                        <m:t>=0</m:t>
                      </m:r>
                    </m:oMath>
                  </m:oMathPara>
                </a14:m>
                <a:endParaRPr lang="en-ZA" sz="2000" dirty="0"/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1928" y="2864286"/>
                <a:ext cx="2724151" cy="400110"/>
              </a:xfrm>
              <a:prstGeom prst="rect">
                <a:avLst/>
              </a:prstGeom>
              <a:blipFill rotWithShape="1">
                <a:blip r:embed="rId5"/>
                <a:stretch>
                  <a:fillRect b="-4615"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ectangle 24"/>
              <p:cNvSpPr/>
              <p:nvPr/>
            </p:nvSpPr>
            <p:spPr>
              <a:xfrm>
                <a:off x="131041" y="3985460"/>
                <a:ext cx="2816797" cy="53565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000" dirty="0" smtClean="0">
                    <a:solidFill>
                      <a:schemeClr val="tx2"/>
                    </a:solidFill>
                    <a:latin typeface="Verdana" pitchFamily="34" charset="0"/>
                  </a:rPr>
                  <a:t>Eliminate </a:t>
                </a:r>
                <a:r>
                  <a:rPr lang="en-US" sz="2800" dirty="0" smtClean="0">
                    <a:solidFill>
                      <a:schemeClr val="tx2"/>
                    </a:solidFill>
                    <a:latin typeface="Verdana" pitchFamily="34" charset="0"/>
                    <a:sym typeface="Symbol"/>
                  </a:rPr>
                  <a:t></a:t>
                </a:r>
                <a:r>
                  <a:rPr lang="en-US" sz="2000" dirty="0" smtClean="0">
                    <a:solidFill>
                      <a:schemeClr val="tx2"/>
                    </a:solidFill>
                    <a:latin typeface="Verdana" pitchFamily="34" charset="0"/>
                    <a:sym typeface="Symbol"/>
                  </a:rPr>
                  <a:t> by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 smtClean="0">
                            <a:solidFill>
                              <a:schemeClr val="tx2"/>
                            </a:solidFill>
                            <a:latin typeface="Cambria Math"/>
                            <a:sym typeface="Symbol"/>
                          </a:rPr>
                        </m:ctrlPr>
                      </m:fPr>
                      <m:num>
                        <m:r>
                          <a:rPr lang="en-US" sz="2000" i="1" smtClean="0">
                            <a:solidFill>
                              <a:schemeClr val="tx2"/>
                            </a:solidFill>
                            <a:latin typeface="Cambria Math"/>
                            <a:sym typeface="Symbol"/>
                          </a:rPr>
                          <m:t>𝑑</m:t>
                        </m:r>
                      </m:num>
                      <m:den>
                        <m:r>
                          <a:rPr lang="en-US" sz="2000" i="1" smtClean="0">
                            <a:solidFill>
                              <a:schemeClr val="tx2"/>
                            </a:solidFill>
                            <a:latin typeface="Cambria Math"/>
                            <a:sym typeface="Symbol"/>
                          </a:rPr>
                          <m:t>𝑑</m:t>
                        </m:r>
                        <m:r>
                          <a:rPr lang="en-ZA" sz="2000" b="0" i="1" smtClean="0">
                            <a:solidFill>
                              <a:schemeClr val="tx2"/>
                            </a:solidFill>
                            <a:latin typeface="Cambria Math"/>
                            <a:sym typeface="Symbol"/>
                          </a:rPr>
                          <m:t>𝑡</m:t>
                        </m:r>
                      </m:den>
                    </m:f>
                    <m:r>
                      <a:rPr lang="en-ZA" sz="2000" b="0" i="1" smtClean="0">
                        <a:solidFill>
                          <a:schemeClr val="tx2"/>
                        </a:solidFill>
                        <a:latin typeface="Cambria Math"/>
                        <a:sym typeface="Symbol"/>
                      </a:rPr>
                      <m:t>𝑓</m:t>
                    </m:r>
                    <m:r>
                      <a:rPr lang="en-ZA" sz="2000" b="0" i="1" smtClean="0">
                        <a:solidFill>
                          <a:schemeClr val="tx2"/>
                        </a:solidFill>
                        <a:latin typeface="Cambria Math"/>
                        <a:sym typeface="Symbol"/>
                      </a:rPr>
                      <m:t>(</m:t>
                    </m:r>
                    <m:r>
                      <a:rPr lang="en-ZA" sz="2000" b="0" i="1" smtClean="0">
                        <a:solidFill>
                          <a:schemeClr val="tx2"/>
                        </a:solidFill>
                        <a:latin typeface="Cambria Math"/>
                        <a:sym typeface="Symbol"/>
                      </a:rPr>
                      <m:t>𝑡</m:t>
                    </m:r>
                    <m:r>
                      <a:rPr lang="en-ZA" sz="2000" b="0" i="1" smtClean="0">
                        <a:solidFill>
                          <a:schemeClr val="tx2"/>
                        </a:solidFill>
                        <a:latin typeface="Cambria Math"/>
                        <a:sym typeface="Symbol"/>
                      </a:rPr>
                      <m:t>)</m:t>
                    </m:r>
                  </m:oMath>
                </a14:m>
                <a:r>
                  <a:rPr lang="en-ZA" sz="2000" dirty="0" smtClean="0"/>
                  <a:t>:</a:t>
                </a:r>
                <a:endParaRPr lang="en-ZA" sz="2000" dirty="0"/>
              </a:p>
            </p:txBody>
          </p:sp>
        </mc:Choice>
        <mc:Fallback xmlns="">
          <p:sp>
            <p:nvSpPr>
              <p:cNvPr id="25" name="Rectangle 2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041" y="3985460"/>
                <a:ext cx="2816797" cy="535659"/>
              </a:xfrm>
              <a:prstGeom prst="rect">
                <a:avLst/>
              </a:prstGeom>
              <a:blipFill rotWithShape="1">
                <a:blip r:embed="rId6"/>
                <a:stretch>
                  <a:fillRect l="-2160" t="-15909" r="-2376" b="-23864"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Group 1"/>
          <p:cNvGrpSpPr/>
          <p:nvPr/>
        </p:nvGrpSpPr>
        <p:grpSpPr>
          <a:xfrm>
            <a:off x="106125" y="5299045"/>
            <a:ext cx="7711633" cy="1453734"/>
            <a:chOff x="106125" y="5299045"/>
            <a:chExt cx="7711633" cy="1453734"/>
          </a:xfrm>
        </p:grpSpPr>
        <p:sp>
          <p:nvSpPr>
            <p:cNvPr id="23" name="Rectangle 22"/>
            <p:cNvSpPr/>
            <p:nvPr/>
          </p:nvSpPr>
          <p:spPr>
            <a:xfrm>
              <a:off x="106125" y="5299045"/>
              <a:ext cx="6000361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000" dirty="0" smtClean="0">
                  <a:solidFill>
                    <a:schemeClr val="tx2"/>
                  </a:solidFill>
                  <a:latin typeface="Verdana" pitchFamily="34" charset="0"/>
                </a:rPr>
                <a:t>2</a:t>
              </a:r>
              <a:r>
                <a:rPr lang="en-US" sz="2000" baseline="30000" dirty="0" smtClean="0">
                  <a:solidFill>
                    <a:schemeClr val="tx2"/>
                  </a:solidFill>
                  <a:latin typeface="Verdana" pitchFamily="34" charset="0"/>
                </a:rPr>
                <a:t>nd</a:t>
              </a:r>
              <a:r>
                <a:rPr lang="en-US" sz="2000" dirty="0" smtClean="0">
                  <a:solidFill>
                    <a:schemeClr val="tx2"/>
                  </a:solidFill>
                  <a:latin typeface="Verdana" pitchFamily="34" charset="0"/>
                </a:rPr>
                <a:t> order differential equation with solutions:</a:t>
              </a:r>
              <a:endParaRPr lang="en-ZA" sz="20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/>
                <p:cNvSpPr txBox="1"/>
                <p:nvPr/>
              </p:nvSpPr>
              <p:spPr>
                <a:xfrm>
                  <a:off x="1775190" y="5825857"/>
                  <a:ext cx="2633221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ZA" sz="2000" b="0" i="1" smtClean="0">
                            <a:latin typeface="Cambria Math"/>
                          </a:rPr>
                          <m:t>𝑖</m:t>
                        </m:r>
                        <m:d>
                          <m:dPr>
                            <m:ctrlPr>
                              <a:rPr lang="en-ZA" sz="2000" b="0" i="1" smtClean="0"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a:rPr lang="en-ZA" sz="2000" b="0" i="1" smtClean="0">
                                <a:latin typeface="Cambria Math"/>
                              </a:rPr>
                              <m:t>𝑡</m:t>
                            </m:r>
                          </m:e>
                        </m:d>
                        <m:r>
                          <a:rPr lang="en-ZA" sz="2000" b="0" i="1" smtClean="0">
                            <a:latin typeface="Cambria Math"/>
                          </a:rPr>
                          <m:t>=</m:t>
                        </m:r>
                        <m:sSub>
                          <m:sSubPr>
                            <m:ctrlPr>
                              <a:rPr lang="en-ZA" sz="2000" b="0" i="1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ZA" sz="2000" b="0" i="1" smtClean="0">
                                <a:latin typeface="Cambria Math"/>
                              </a:rPr>
                              <m:t>𝐴</m:t>
                            </m:r>
                          </m:e>
                          <m:sub>
                            <m:r>
                              <a:rPr lang="en-ZA" sz="2000" b="0" i="1" smtClean="0">
                                <a:latin typeface="Cambria Math"/>
                              </a:rPr>
                              <m:t>𝑖</m:t>
                            </m:r>
                          </m:sub>
                        </m:sSub>
                        <m:func>
                          <m:funcPr>
                            <m:ctrlPr>
                              <a:rPr lang="en-ZA" sz="2000" b="0" i="1" smtClean="0">
                                <a:latin typeface="Cambria Math"/>
                              </a:rPr>
                            </m:ctrlPr>
                          </m:funcPr>
                          <m:fName>
                            <m:r>
                              <a:rPr lang="en-ZA" sz="2000" b="0" i="1" smtClean="0">
                                <a:latin typeface="Cambria Math"/>
                              </a:rPr>
                              <m:t>𝑐𝑜𝑠</m:t>
                            </m:r>
                          </m:fName>
                          <m:e>
                            <m:d>
                              <m:dPr>
                                <m:ctrlPr>
                                  <a:rPr lang="en-ZA" sz="2000" b="0" i="1" smtClean="0">
                                    <a:latin typeface="Cambria Math"/>
                                  </a:rPr>
                                </m:ctrlPr>
                              </m:dPr>
                              <m:e>
                                <m:r>
                                  <a:rPr lang="en-ZA" sz="2000" b="0" i="1" smtClean="0">
                                    <a:latin typeface="Cambria Math"/>
                                  </a:rPr>
                                  <m:t>4</m:t>
                                </m:r>
                                <m:r>
                                  <a:rPr lang="en-ZA" sz="2000" b="0" i="1" smtClean="0">
                                    <a:latin typeface="Cambria Math"/>
                                  </a:rPr>
                                  <m:t>𝑡</m:t>
                                </m:r>
                                <m:r>
                                  <a:rPr lang="en-ZA" sz="2000" b="0" i="1" smtClean="0">
                                    <a:latin typeface="Cambria Math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ZA" sz="2000" b="0" i="1" smtClean="0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ZA" sz="2000" b="0" i="1" smtClean="0">
                                        <a:latin typeface="Cambria Math"/>
                                        <a:sym typeface="Symbol"/>
                                      </a:rPr>
                                      <m:t></m:t>
                                    </m:r>
                                  </m:e>
                                  <m:sub>
                                    <m:r>
                                      <a:rPr lang="en-ZA" sz="2000" b="0" i="1" smtClean="0">
                                        <a:latin typeface="Cambria Math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</m:e>
                        </m:func>
                      </m:oMath>
                    </m:oMathPara>
                  </a14:m>
                  <a:endParaRPr lang="en-ZA" sz="2000" i="1" dirty="0"/>
                </a:p>
              </p:txBody>
            </p:sp>
          </mc:Choice>
          <mc:Fallback xmlns="">
            <p:sp>
              <p:nvSpPr>
                <p:cNvPr id="26" name="TextBox 2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75190" y="5825857"/>
                  <a:ext cx="2633221" cy="400110"/>
                </a:xfrm>
                <a:prstGeom prst="rect">
                  <a:avLst/>
                </a:prstGeom>
                <a:blipFill rotWithShape="1">
                  <a:blip r:embed="rId7"/>
                  <a:stretch>
                    <a:fillRect b="-18462"/>
                  </a:stretch>
                </a:blipFill>
              </p:spPr>
              <p:txBody>
                <a:bodyPr/>
                <a:lstStyle/>
                <a:p>
                  <a:r>
                    <a:rPr lang="en-ZA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TextBox 26"/>
                <p:cNvSpPr txBox="1"/>
                <p:nvPr/>
              </p:nvSpPr>
              <p:spPr>
                <a:xfrm>
                  <a:off x="1775190" y="6352669"/>
                  <a:ext cx="2923173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ZA" sz="2000" b="0" i="1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ZA" sz="2000" b="0" i="1" smtClean="0">
                                <a:latin typeface="Cambria Math"/>
                              </a:rPr>
                              <m:t>𝑉</m:t>
                            </m:r>
                          </m:e>
                          <m:sub>
                            <m:r>
                              <a:rPr lang="en-ZA" sz="2000" b="0" i="1" smtClean="0">
                                <a:latin typeface="Cambria Math"/>
                              </a:rPr>
                              <m:t>𝑅</m:t>
                            </m:r>
                          </m:sub>
                        </m:sSub>
                        <m:d>
                          <m:dPr>
                            <m:ctrlPr>
                              <a:rPr lang="en-ZA" sz="2000" b="0" i="1" smtClean="0"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a:rPr lang="en-ZA" sz="2000" b="0" i="1" smtClean="0">
                                <a:latin typeface="Cambria Math"/>
                              </a:rPr>
                              <m:t>𝑡</m:t>
                            </m:r>
                          </m:e>
                        </m:d>
                        <m:r>
                          <a:rPr lang="en-ZA" sz="2000" b="0" i="1" smtClean="0">
                            <a:latin typeface="Cambria Math"/>
                          </a:rPr>
                          <m:t>=</m:t>
                        </m:r>
                        <m:sSub>
                          <m:sSubPr>
                            <m:ctrlPr>
                              <a:rPr lang="en-ZA" sz="2000" b="0" i="1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ZA" sz="2000" b="0" i="1" smtClean="0">
                                <a:latin typeface="Cambria Math"/>
                              </a:rPr>
                              <m:t>𝐴</m:t>
                            </m:r>
                          </m:e>
                          <m:sub>
                            <m:r>
                              <a:rPr lang="en-ZA" sz="2000" b="0" i="1" smtClean="0">
                                <a:latin typeface="Cambria Math"/>
                              </a:rPr>
                              <m:t>𝑅</m:t>
                            </m:r>
                          </m:sub>
                        </m:sSub>
                        <m:func>
                          <m:funcPr>
                            <m:ctrlPr>
                              <a:rPr lang="en-ZA" sz="2000" b="0" i="1" smtClean="0">
                                <a:latin typeface="Cambria Math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ZA" sz="2000" b="0" i="0" smtClean="0">
                                <a:latin typeface="Cambria Math"/>
                              </a:rPr>
                              <m:t>cos</m:t>
                            </m:r>
                          </m:fName>
                          <m:e>
                            <m:d>
                              <m:dPr>
                                <m:ctrlPr>
                                  <a:rPr lang="en-ZA" sz="2000" b="0" i="1" smtClean="0">
                                    <a:latin typeface="Cambria Math"/>
                                  </a:rPr>
                                </m:ctrlPr>
                              </m:dPr>
                              <m:e>
                                <m:r>
                                  <a:rPr lang="en-ZA" sz="2000" b="0" i="1" smtClean="0">
                                    <a:latin typeface="Cambria Math"/>
                                  </a:rPr>
                                  <m:t>4</m:t>
                                </m:r>
                                <m:r>
                                  <a:rPr lang="en-ZA" sz="2000" b="0" i="1" smtClean="0">
                                    <a:latin typeface="Cambria Math"/>
                                  </a:rPr>
                                  <m:t>𝑡</m:t>
                                </m:r>
                                <m:r>
                                  <a:rPr lang="en-ZA" sz="2000" b="0" i="1" smtClean="0">
                                    <a:latin typeface="Cambria Math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ZA" sz="2000" b="0" i="1" smtClean="0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ZA" sz="2000" b="0" i="1" smtClean="0">
                                        <a:latin typeface="Cambria Math"/>
                                        <a:sym typeface="Symbol"/>
                                      </a:rPr>
                                      <m:t></m:t>
                                    </m:r>
                                  </m:e>
                                  <m:sub>
                                    <m:r>
                                      <a:rPr lang="en-ZA" sz="2000" b="0" i="1" smtClean="0">
                                        <a:latin typeface="Cambria Math"/>
                                      </a:rPr>
                                      <m:t>𝑅</m:t>
                                    </m:r>
                                  </m:sub>
                                </m:sSub>
                              </m:e>
                            </m:d>
                          </m:e>
                        </m:func>
                      </m:oMath>
                    </m:oMathPara>
                  </a14:m>
                  <a:endParaRPr lang="en-ZA" sz="2000" dirty="0"/>
                </a:p>
              </p:txBody>
            </p:sp>
          </mc:Choice>
          <mc:Fallback xmlns="">
            <p:sp>
              <p:nvSpPr>
                <p:cNvPr id="27" name="TextBox 2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75190" y="6352669"/>
                  <a:ext cx="2923173" cy="400110"/>
                </a:xfrm>
                <a:prstGeom prst="rect">
                  <a:avLst/>
                </a:prstGeom>
                <a:blipFill rotWithShape="1">
                  <a:blip r:embed="rId8"/>
                  <a:stretch>
                    <a:fillRect b="-16667"/>
                  </a:stretch>
                </a:blipFill>
              </p:spPr>
              <p:txBody>
                <a:bodyPr/>
                <a:lstStyle/>
                <a:p>
                  <a:r>
                    <a:rPr lang="en-ZA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TextBox 27"/>
                <p:cNvSpPr txBox="1"/>
                <p:nvPr/>
              </p:nvSpPr>
              <p:spPr>
                <a:xfrm>
                  <a:off x="4915745" y="5825857"/>
                  <a:ext cx="2902013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ZA" sz="2000" b="0" i="1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ZA" sz="2000" b="0" i="1" smtClean="0">
                                <a:latin typeface="Cambria Math"/>
                              </a:rPr>
                              <m:t>𝑉</m:t>
                            </m:r>
                          </m:e>
                          <m:sub>
                            <m:r>
                              <a:rPr lang="en-ZA" sz="2000" b="0" i="1" smtClean="0">
                                <a:latin typeface="Cambria Math"/>
                              </a:rPr>
                              <m:t>𝐶</m:t>
                            </m:r>
                          </m:sub>
                        </m:sSub>
                        <m:d>
                          <m:dPr>
                            <m:ctrlPr>
                              <a:rPr lang="en-ZA" sz="2000" b="0" i="1" smtClean="0"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a:rPr lang="en-ZA" sz="2000" b="0" i="1" smtClean="0">
                                <a:latin typeface="Cambria Math"/>
                              </a:rPr>
                              <m:t>𝑡</m:t>
                            </m:r>
                          </m:e>
                        </m:d>
                        <m:r>
                          <a:rPr lang="en-ZA" sz="2000" b="0" i="1" smtClean="0">
                            <a:latin typeface="Cambria Math"/>
                          </a:rPr>
                          <m:t>=</m:t>
                        </m:r>
                        <m:sSub>
                          <m:sSubPr>
                            <m:ctrlPr>
                              <a:rPr lang="en-ZA" sz="2000" b="0" i="1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ZA" sz="2000" b="0" i="1" smtClean="0">
                                <a:latin typeface="Cambria Math"/>
                              </a:rPr>
                              <m:t>𝐴</m:t>
                            </m:r>
                          </m:e>
                          <m:sub>
                            <m:r>
                              <a:rPr lang="en-ZA" sz="2000" b="0" i="1" smtClean="0">
                                <a:latin typeface="Cambria Math"/>
                              </a:rPr>
                              <m:t>𝐶</m:t>
                            </m:r>
                          </m:sub>
                        </m:sSub>
                        <m:func>
                          <m:funcPr>
                            <m:ctrlPr>
                              <a:rPr lang="en-ZA" sz="2000" b="0" i="1" smtClean="0">
                                <a:latin typeface="Cambria Math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ZA" sz="2000" b="0" i="0" smtClean="0">
                                <a:latin typeface="Cambria Math"/>
                              </a:rPr>
                              <m:t>cos</m:t>
                            </m:r>
                          </m:fName>
                          <m:e>
                            <m:d>
                              <m:dPr>
                                <m:ctrlPr>
                                  <a:rPr lang="en-ZA" sz="2000" b="0" i="1" smtClean="0">
                                    <a:latin typeface="Cambria Math"/>
                                  </a:rPr>
                                </m:ctrlPr>
                              </m:dPr>
                              <m:e>
                                <m:r>
                                  <a:rPr lang="en-ZA" sz="2000" b="0" i="1" smtClean="0">
                                    <a:latin typeface="Cambria Math"/>
                                  </a:rPr>
                                  <m:t>4</m:t>
                                </m:r>
                                <m:r>
                                  <a:rPr lang="en-ZA" sz="2000" b="0" i="1" smtClean="0">
                                    <a:latin typeface="Cambria Math"/>
                                  </a:rPr>
                                  <m:t>𝑡</m:t>
                                </m:r>
                                <m:r>
                                  <a:rPr lang="en-ZA" sz="2000" b="0" i="1" smtClean="0">
                                    <a:latin typeface="Cambria Math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ZA" sz="2000" b="0" i="1" smtClean="0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ZA" sz="2000" b="0" i="1" smtClean="0">
                                        <a:latin typeface="Cambria Math"/>
                                        <a:sym typeface="Symbol"/>
                                      </a:rPr>
                                      <m:t></m:t>
                                    </m:r>
                                  </m:e>
                                  <m:sub>
                                    <m:r>
                                      <a:rPr lang="en-ZA" sz="2000" b="0" i="1" smtClean="0">
                                        <a:latin typeface="Cambria Math"/>
                                      </a:rPr>
                                      <m:t>𝐶</m:t>
                                    </m:r>
                                  </m:sub>
                                </m:sSub>
                              </m:e>
                            </m:d>
                          </m:e>
                        </m:func>
                      </m:oMath>
                    </m:oMathPara>
                  </a14:m>
                  <a:endParaRPr lang="en-ZA" sz="2000" dirty="0"/>
                </a:p>
              </p:txBody>
            </p:sp>
          </mc:Choice>
          <mc:Fallback xmlns="">
            <p:sp>
              <p:nvSpPr>
                <p:cNvPr id="28" name="TextBox 2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15745" y="5825857"/>
                  <a:ext cx="2902013" cy="400110"/>
                </a:xfrm>
                <a:prstGeom prst="rect">
                  <a:avLst/>
                </a:prstGeom>
                <a:blipFill rotWithShape="1">
                  <a:blip r:embed="rId9"/>
                  <a:stretch>
                    <a:fillRect b="-18462"/>
                  </a:stretch>
                </a:blipFill>
              </p:spPr>
              <p:txBody>
                <a:bodyPr/>
                <a:lstStyle/>
                <a:p>
                  <a:r>
                    <a:rPr lang="en-ZA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Box 28"/>
                <p:cNvSpPr txBox="1"/>
                <p:nvPr/>
              </p:nvSpPr>
              <p:spPr>
                <a:xfrm>
                  <a:off x="4915745" y="6352669"/>
                  <a:ext cx="2858731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ZA" sz="2000" b="0" i="1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ZA" sz="2000" b="0" i="1" smtClean="0">
                                <a:latin typeface="Cambria Math"/>
                              </a:rPr>
                              <m:t>𝑉</m:t>
                            </m:r>
                          </m:e>
                          <m:sub>
                            <m:r>
                              <a:rPr lang="en-ZA" sz="2000" b="0" i="1" smtClean="0">
                                <a:latin typeface="Cambria Math"/>
                              </a:rPr>
                              <m:t>𝐿</m:t>
                            </m:r>
                          </m:sub>
                        </m:sSub>
                        <m:d>
                          <m:dPr>
                            <m:ctrlPr>
                              <a:rPr lang="en-ZA" sz="2000" b="0" i="1" smtClean="0"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a:rPr lang="en-ZA" sz="2000" b="0" i="1" smtClean="0">
                                <a:latin typeface="Cambria Math"/>
                              </a:rPr>
                              <m:t>𝑡</m:t>
                            </m:r>
                          </m:e>
                        </m:d>
                        <m:r>
                          <a:rPr lang="en-ZA" sz="2000" b="0" i="1" smtClean="0">
                            <a:latin typeface="Cambria Math"/>
                          </a:rPr>
                          <m:t>=</m:t>
                        </m:r>
                        <m:sSub>
                          <m:sSubPr>
                            <m:ctrlPr>
                              <a:rPr lang="en-ZA" sz="2000" b="0" i="1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ZA" sz="2000" b="0" i="1" smtClean="0">
                                <a:latin typeface="Cambria Math"/>
                              </a:rPr>
                              <m:t>𝐴</m:t>
                            </m:r>
                          </m:e>
                          <m:sub>
                            <m:r>
                              <a:rPr lang="en-ZA" sz="2000" b="0" i="1" smtClean="0">
                                <a:latin typeface="Cambria Math"/>
                              </a:rPr>
                              <m:t>𝐿</m:t>
                            </m:r>
                          </m:sub>
                        </m:sSub>
                        <m:func>
                          <m:funcPr>
                            <m:ctrlPr>
                              <a:rPr lang="en-ZA" sz="2000" b="0" i="1" smtClean="0">
                                <a:latin typeface="Cambria Math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ZA" sz="2000" b="0" i="0" smtClean="0">
                                <a:latin typeface="Cambria Math"/>
                              </a:rPr>
                              <m:t>cos</m:t>
                            </m:r>
                          </m:fName>
                          <m:e>
                            <m:d>
                              <m:dPr>
                                <m:ctrlPr>
                                  <a:rPr lang="en-ZA" sz="2000" b="0" i="1" smtClean="0">
                                    <a:latin typeface="Cambria Math"/>
                                  </a:rPr>
                                </m:ctrlPr>
                              </m:dPr>
                              <m:e>
                                <m:r>
                                  <a:rPr lang="en-ZA" sz="2000" b="0" i="1" smtClean="0">
                                    <a:latin typeface="Cambria Math"/>
                                  </a:rPr>
                                  <m:t>4</m:t>
                                </m:r>
                                <m:r>
                                  <a:rPr lang="en-ZA" sz="2000" b="0" i="1" smtClean="0">
                                    <a:latin typeface="Cambria Math"/>
                                  </a:rPr>
                                  <m:t>𝑡</m:t>
                                </m:r>
                                <m:r>
                                  <a:rPr lang="en-ZA" sz="2000" b="0" i="1" smtClean="0">
                                    <a:latin typeface="Cambria Math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ZA" sz="2000" b="0" i="1" smtClean="0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ZA" sz="2000" b="0" i="1" smtClean="0">
                                        <a:latin typeface="Cambria Math"/>
                                        <a:sym typeface="Symbol"/>
                                      </a:rPr>
                                      <m:t></m:t>
                                    </m:r>
                                  </m:e>
                                  <m:sub>
                                    <m:r>
                                      <a:rPr lang="en-ZA" sz="2000" b="0" i="1" smtClean="0">
                                        <a:latin typeface="Cambria Math"/>
                                      </a:rPr>
                                      <m:t>𝐿</m:t>
                                    </m:r>
                                  </m:sub>
                                </m:sSub>
                              </m:e>
                            </m:d>
                          </m:e>
                        </m:func>
                      </m:oMath>
                    </m:oMathPara>
                  </a14:m>
                  <a:endParaRPr lang="en-ZA" sz="2000" dirty="0"/>
                </a:p>
              </p:txBody>
            </p:sp>
          </mc:Choice>
          <mc:Fallback xmlns="">
            <p:sp>
              <p:nvSpPr>
                <p:cNvPr id="29" name="TextBox 2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15745" y="6352669"/>
                  <a:ext cx="2858731" cy="400110"/>
                </a:xfrm>
                <a:prstGeom prst="rect">
                  <a:avLst/>
                </a:prstGeom>
                <a:blipFill rotWithShape="1">
                  <a:blip r:embed="rId10"/>
                  <a:stretch>
                    <a:fillRect b="-16667"/>
                  </a:stretch>
                </a:blipFill>
              </p:spPr>
              <p:txBody>
                <a:bodyPr/>
                <a:lstStyle/>
                <a:p>
                  <a:r>
                    <a:rPr lang="en-ZA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41066414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22" grpId="0"/>
      <p:bldP spid="2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DBEB72-C004-46D1-9992-458CC43F3DD8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3" name="Rectangle 16"/>
          <p:cNvSpPr>
            <a:spLocks noChangeArrowheads="1"/>
          </p:cNvSpPr>
          <p:nvPr/>
        </p:nvSpPr>
        <p:spPr bwMode="auto">
          <a:xfrm>
            <a:off x="-38100" y="88900"/>
            <a:ext cx="9143999" cy="1206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/>
          <a:p>
            <a:pPr algn="ctr">
              <a:lnSpc>
                <a:spcPct val="90000"/>
              </a:lnSpc>
            </a:pPr>
            <a:r>
              <a:rPr lang="en-US" sz="320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9.1 </a:t>
            </a:r>
            <a:r>
              <a:rPr lang="en-US" sz="3200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Motivation</a:t>
            </a:r>
          </a:p>
          <a:p>
            <a:pPr algn="ctr">
              <a:lnSpc>
                <a:spcPct val="90000"/>
              </a:lnSpc>
            </a:pPr>
            <a:r>
              <a:rPr lang="en-US" sz="36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How does one </a:t>
            </a:r>
            <a:r>
              <a:rPr lang="en-US" sz="3600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analyse</a:t>
            </a:r>
            <a:r>
              <a:rPr lang="en-US" sz="36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 an AC circuit?</a:t>
            </a:r>
            <a:endParaRPr lang="en-US" sz="3600" dirty="0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Verdana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92224" y="1398309"/>
            <a:ext cx="347143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Method #2:  </a:t>
            </a:r>
          </a:p>
          <a:p>
            <a:r>
              <a:rPr lang="en-US" sz="2400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Frequency or </a:t>
            </a:r>
            <a:r>
              <a:rPr lang="en-US" sz="2400" b="1" dirty="0" err="1" smtClean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Phasor</a:t>
            </a:r>
            <a:r>
              <a:rPr lang="en-US" sz="2400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 domain</a:t>
            </a:r>
            <a:endParaRPr lang="en-ZA" sz="2400" dirty="0"/>
          </a:p>
        </p:txBody>
      </p:sp>
      <p:grpSp>
        <p:nvGrpSpPr>
          <p:cNvPr id="18" name="Group 17"/>
          <p:cNvGrpSpPr/>
          <p:nvPr/>
        </p:nvGrpSpPr>
        <p:grpSpPr>
          <a:xfrm>
            <a:off x="4145799" y="1308695"/>
            <a:ext cx="4835059" cy="3356136"/>
            <a:chOff x="3257148" y="1308695"/>
            <a:chExt cx="4835059" cy="3356136"/>
          </a:xfrm>
        </p:grpSpPr>
        <p:grpSp>
          <p:nvGrpSpPr>
            <p:cNvPr id="6" name="Group 5"/>
            <p:cNvGrpSpPr/>
            <p:nvPr/>
          </p:nvGrpSpPr>
          <p:grpSpPr>
            <a:xfrm>
              <a:off x="3257148" y="1308695"/>
              <a:ext cx="4835059" cy="3356136"/>
              <a:chOff x="4645677" y="919291"/>
              <a:chExt cx="3871912" cy="2687590"/>
            </a:xfrm>
          </p:grpSpPr>
          <p:pic>
            <p:nvPicPr>
              <p:cNvPr id="9" name="Picture 18"/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645677" y="1530945"/>
                <a:ext cx="3871912" cy="207593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 cap="flat" cmpd="sng" algn="ctr">
                    <a:solidFill>
                      <a:schemeClr val="tx1"/>
                    </a:solidFill>
                    <a:prstDash val="solid"/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10" name="TextBox 9"/>
              <p:cNvSpPr txBox="1"/>
              <p:nvPr/>
            </p:nvSpPr>
            <p:spPr>
              <a:xfrm>
                <a:off x="4706145" y="2377302"/>
                <a:ext cx="1594644" cy="591521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 anchorCtr="0">
                <a:spAutoFit/>
              </a:bodyPr>
              <a:lstStyle/>
              <a:p>
                <a:pPr algn="ctr"/>
                <a:r>
                  <a:rPr lang="en-ZA" sz="2400" b="1" dirty="0" err="1" smtClean="0">
                    <a:latin typeface="Times New Roman" pitchFamily="18" charset="0"/>
                  </a:rPr>
                  <a:t>V</a:t>
                </a:r>
                <a:r>
                  <a:rPr lang="en-ZA" sz="2400" b="1" baseline="-25000" dirty="0" err="1" smtClean="0">
                    <a:latin typeface="Times New Roman" pitchFamily="18" charset="0"/>
                  </a:rPr>
                  <a:t>s</a:t>
                </a:r>
                <a:r>
                  <a:rPr lang="en-ZA" sz="2400" dirty="0" smtClean="0">
                    <a:latin typeface="Times New Roman" pitchFamily="18" charset="0"/>
                  </a:rPr>
                  <a:t> </a:t>
                </a:r>
              </a:p>
              <a:p>
                <a:pPr algn="ctr"/>
                <a:r>
                  <a:rPr lang="en-ZA" sz="2400" dirty="0" smtClean="0">
                    <a:latin typeface="Times New Roman" pitchFamily="18" charset="0"/>
                  </a:rPr>
                  <a:t>= 10</a:t>
                </a:r>
                <a:r>
                  <a:rPr lang="en-ZA" sz="2400" dirty="0" smtClean="0">
                    <a:latin typeface="Times New Roman" pitchFamily="18" charset="0"/>
                    <a:sym typeface="Symbol"/>
                  </a:rPr>
                  <a:t>0</a:t>
                </a:r>
                <a:endParaRPr lang="en-ZA" sz="2400" dirty="0">
                  <a:latin typeface="Times New Roman" pitchFamily="18" charset="0"/>
                </a:endParaRPr>
              </a:p>
            </p:txBody>
          </p:sp>
          <p:sp>
            <p:nvSpPr>
              <p:cNvPr id="11" name="TextBox 10"/>
              <p:cNvSpPr txBox="1"/>
              <p:nvPr/>
            </p:nvSpPr>
            <p:spPr>
              <a:xfrm>
                <a:off x="5325195" y="1007606"/>
                <a:ext cx="995169" cy="591521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 anchorCtr="0">
                <a:spAutoFit/>
              </a:bodyPr>
              <a:lstStyle/>
              <a:p>
                <a:pPr algn="ctr"/>
                <a:r>
                  <a:rPr lang="en-ZA" sz="2400" b="1" dirty="0" smtClean="0">
                    <a:latin typeface="Times New Roman" pitchFamily="18" charset="0"/>
                  </a:rPr>
                  <a:t>Z</a:t>
                </a:r>
                <a:r>
                  <a:rPr lang="en-ZA" sz="2400" b="1" baseline="-25000" dirty="0" smtClean="0">
                    <a:latin typeface="Times New Roman" pitchFamily="18" charset="0"/>
                  </a:rPr>
                  <a:t>R</a:t>
                </a:r>
                <a:r>
                  <a:rPr lang="en-ZA" sz="2400" dirty="0" smtClean="0">
                    <a:latin typeface="Times New Roman" pitchFamily="18" charset="0"/>
                  </a:rPr>
                  <a:t> = R </a:t>
                </a:r>
              </a:p>
              <a:p>
                <a:pPr algn="ctr"/>
                <a:r>
                  <a:rPr lang="en-ZA" sz="2400" dirty="0" smtClean="0">
                    <a:latin typeface="Times New Roman" pitchFamily="18" charset="0"/>
                  </a:rPr>
                  <a:t>= R</a:t>
                </a:r>
                <a:r>
                  <a:rPr lang="en-ZA" sz="2400" dirty="0" smtClean="0">
                    <a:latin typeface="Times New Roman" pitchFamily="18" charset="0"/>
                    <a:sym typeface="Symbol"/>
                  </a:rPr>
                  <a:t> 0</a:t>
                </a:r>
                <a:endParaRPr lang="en-ZA" sz="2400" dirty="0">
                  <a:latin typeface="Times New Roman" pitchFamily="18" charset="0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" name="TextBox 11"/>
                  <p:cNvSpPr txBox="1"/>
                  <p:nvPr/>
                </p:nvSpPr>
                <p:spPr>
                  <a:xfrm>
                    <a:off x="6692338" y="919291"/>
                    <a:ext cx="1375774" cy="715320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t" anchorCtr="0">
                    <a:spAutoFit/>
                  </a:bodyPr>
                  <a:lstStyle/>
                  <a:p>
                    <a:pPr algn="ctr"/>
                    <a:r>
                      <a:rPr lang="en-ZA" sz="2400" b="1" dirty="0" smtClean="0">
                        <a:latin typeface="Times New Roman" pitchFamily="18" charset="0"/>
                      </a:rPr>
                      <a:t>Z</a:t>
                    </a:r>
                    <a:r>
                      <a:rPr lang="en-ZA" sz="2400" b="1" baseline="-25000" dirty="0" smtClean="0">
                        <a:latin typeface="Times New Roman" pitchFamily="18" charset="0"/>
                      </a:rPr>
                      <a:t>C</a:t>
                    </a:r>
                    <a:r>
                      <a:rPr lang="en-ZA" sz="2400" dirty="0" smtClean="0">
                        <a:latin typeface="Times New Roman" pitchFamily="18" charset="0"/>
                      </a:rPr>
                      <a:t> = 1/</a:t>
                    </a:r>
                    <a:r>
                      <a:rPr lang="en-ZA" sz="2400" dirty="0" err="1" smtClean="0">
                        <a:latin typeface="Times New Roman" pitchFamily="18" charset="0"/>
                      </a:rPr>
                      <a:t>j</a:t>
                    </a:r>
                    <a:r>
                      <a:rPr lang="en-ZA" sz="2400" dirty="0" err="1" smtClean="0">
                        <a:latin typeface="Times New Roman" pitchFamily="18" charset="0"/>
                        <a:sym typeface="Symbol"/>
                      </a:rPr>
                      <a:t></a:t>
                    </a:r>
                    <a:r>
                      <a:rPr lang="en-ZA" sz="2400" dirty="0" err="1" smtClean="0">
                        <a:latin typeface="Times New Roman" pitchFamily="18" charset="0"/>
                      </a:rPr>
                      <a:t>C</a:t>
                    </a:r>
                    <a:endParaRPr lang="en-ZA" sz="2400" dirty="0" smtClean="0">
                      <a:latin typeface="Times New Roman" pitchFamily="18" charset="0"/>
                    </a:endParaRPr>
                  </a:p>
                  <a:p>
                    <a:pPr algn="ctr"/>
                    <a:r>
                      <a:rPr lang="en-ZA" sz="2400" dirty="0" smtClean="0">
                        <a:latin typeface="Times New Roman" pitchFamily="18" charset="0"/>
                      </a:rPr>
                      <a:t>= </a:t>
                    </a:r>
                    <a14:m>
                      <m:oMath xmlns:m="http://schemas.openxmlformats.org/officeDocument/2006/math">
                        <m:f>
                          <m:fPr>
                            <m:ctrlPr>
                              <a:rPr lang="en-ZA" sz="2400" i="1" smtClean="0">
                                <a:latin typeface="Cambria Math"/>
                              </a:rPr>
                            </m:ctrlPr>
                          </m:fPr>
                          <m:num>
                            <m:r>
                              <a:rPr lang="en-ZA" sz="2400" b="0" i="1" smtClean="0">
                                <a:latin typeface="Cambria Math"/>
                              </a:rPr>
                              <m:t>1</m:t>
                            </m:r>
                          </m:num>
                          <m:den>
                            <m:r>
                              <a:rPr lang="en-ZA" sz="2400" i="1" smtClean="0">
                                <a:latin typeface="Cambria Math"/>
                                <a:ea typeface="Cambria Math"/>
                              </a:rPr>
                              <m:t>𝜔</m:t>
                            </m:r>
                            <m:r>
                              <a:rPr lang="en-ZA" sz="2400" b="0" i="1" smtClean="0">
                                <a:latin typeface="Cambria Math"/>
                                <a:ea typeface="Cambria Math"/>
                              </a:rPr>
                              <m:t>𝐶</m:t>
                            </m:r>
                          </m:den>
                        </m:f>
                        <m:r>
                          <a:rPr lang="en-ZA" sz="2400" i="1" smtClean="0">
                            <a:latin typeface="Cambria Math"/>
                            <a:sym typeface="Symbol"/>
                          </a:rPr>
                          <m:t></m:t>
                        </m:r>
                        <m:r>
                          <a:rPr lang="en-ZA" sz="2400" b="0" i="1" smtClean="0">
                            <a:latin typeface="Cambria Math"/>
                            <a:sym typeface="Symbol"/>
                          </a:rPr>
                          <m:t>−90</m:t>
                        </m:r>
                        <m:r>
                          <a:rPr lang="en-ZA" sz="2400" i="1" smtClean="0">
                            <a:latin typeface="Cambria Math"/>
                            <a:sym typeface="Symbol"/>
                          </a:rPr>
                          <m:t></m:t>
                        </m:r>
                      </m:oMath>
                    </a14:m>
                    <a:endParaRPr lang="en-ZA" sz="2400" dirty="0">
                      <a:latin typeface="Times New Roman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12" name="TextBox 11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692338" y="919291"/>
                    <a:ext cx="1375774" cy="715320"/>
                  </a:xfrm>
                  <a:prstGeom prst="rect">
                    <a:avLst/>
                  </a:prstGeom>
                  <a:blipFill rotWithShape="1">
                    <a:blip r:embed="rId3"/>
                    <a:stretch>
                      <a:fillRect l="-9574" t="-11644" r="-1064" b="-10959"/>
                    </a:stretch>
                  </a:blipFill>
                </p:spPr>
                <p:txBody>
                  <a:bodyPr/>
                  <a:lstStyle/>
                  <a:p>
                    <a:r>
                      <a:rPr lang="en-ZA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7" name="Straight Arrow Connector 6"/>
            <p:cNvCxnSpPr/>
            <p:nvPr/>
          </p:nvCxnSpPr>
          <p:spPr bwMode="auto">
            <a:xfrm>
              <a:off x="3696241" y="2416872"/>
              <a:ext cx="482983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arrow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sp>
          <p:nvSpPr>
            <p:cNvPr id="8" name="TextBox 7"/>
            <p:cNvSpPr txBox="1"/>
            <p:nvPr/>
          </p:nvSpPr>
          <p:spPr>
            <a:xfrm>
              <a:off x="3615624" y="2416872"/>
              <a:ext cx="725570" cy="369332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spAutoFit/>
            </a:bodyPr>
            <a:lstStyle/>
            <a:p>
              <a:pPr algn="ctr"/>
              <a:r>
                <a:rPr lang="en-ZA" sz="2400" b="1" i="1" dirty="0" smtClean="0">
                  <a:latin typeface="Times New Roman" pitchFamily="18" charset="0"/>
                </a:rPr>
                <a:t>I</a:t>
              </a:r>
              <a:endParaRPr lang="en-ZA" sz="2400" b="1" i="1" dirty="0">
                <a:latin typeface="Times New Roman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/>
                <p:cNvSpPr txBox="1"/>
                <p:nvPr/>
              </p:nvSpPr>
              <p:spPr>
                <a:xfrm>
                  <a:off x="6220296" y="3088233"/>
                  <a:ext cx="1718001" cy="73866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t" anchorCtr="0">
                  <a:spAutoFit/>
                </a:bodyPr>
                <a:lstStyle/>
                <a:p>
                  <a:pPr algn="ctr"/>
                  <a:r>
                    <a:rPr lang="en-ZA" sz="2400" b="1" dirty="0" smtClean="0">
                      <a:latin typeface="Times New Roman" pitchFamily="18" charset="0"/>
                    </a:rPr>
                    <a:t>Z</a:t>
                  </a:r>
                  <a:r>
                    <a:rPr lang="en-ZA" sz="2400" b="1" baseline="-25000" dirty="0" smtClean="0">
                      <a:latin typeface="Times New Roman" pitchFamily="18" charset="0"/>
                    </a:rPr>
                    <a:t>L</a:t>
                  </a:r>
                  <a:r>
                    <a:rPr lang="en-ZA" sz="2400" dirty="0" smtClean="0">
                      <a:latin typeface="Times New Roman" pitchFamily="18" charset="0"/>
                    </a:rPr>
                    <a:t> = </a:t>
                  </a:r>
                  <a:r>
                    <a:rPr lang="en-ZA" sz="2400" dirty="0" err="1" smtClean="0">
                      <a:latin typeface="Times New Roman" pitchFamily="18" charset="0"/>
                    </a:rPr>
                    <a:t>j</a:t>
                  </a:r>
                  <a:r>
                    <a:rPr lang="en-ZA" sz="2400" dirty="0" err="1" smtClean="0">
                      <a:latin typeface="Times New Roman" pitchFamily="18" charset="0"/>
                      <a:sym typeface="Symbol"/>
                    </a:rPr>
                    <a:t></a:t>
                  </a:r>
                  <a:r>
                    <a:rPr lang="en-ZA" sz="2400" dirty="0" err="1">
                      <a:latin typeface="Times New Roman" pitchFamily="18" charset="0"/>
                      <a:sym typeface="Symbol"/>
                    </a:rPr>
                    <a:t>L</a:t>
                  </a:r>
                  <a:endParaRPr lang="en-ZA" sz="2400" dirty="0" smtClean="0">
                    <a:latin typeface="Times New Roman" pitchFamily="18" charset="0"/>
                  </a:endParaRPr>
                </a:p>
                <a:p>
                  <a:pPr algn="ctr"/>
                  <a:r>
                    <a:rPr lang="en-ZA" sz="2400" dirty="0" smtClean="0">
                      <a:latin typeface="Times New Roman" pitchFamily="18" charset="0"/>
                    </a:rPr>
                    <a:t>= </a:t>
                  </a:r>
                  <a14:m>
                    <m:oMath xmlns:m="http://schemas.openxmlformats.org/officeDocument/2006/math">
                      <m:r>
                        <a:rPr lang="en-ZA" sz="2400" b="0" i="1" smtClean="0">
                          <a:latin typeface="Cambria Math"/>
                          <a:sym typeface="Symbol"/>
                        </a:rPr>
                        <m:t></m:t>
                      </m:r>
                      <m:r>
                        <a:rPr lang="en-ZA" sz="2400" b="0" i="1" smtClean="0">
                          <a:latin typeface="Cambria Math"/>
                          <a:sym typeface="Symbol"/>
                        </a:rPr>
                        <m:t>𝐿</m:t>
                      </m:r>
                      <m:r>
                        <a:rPr lang="en-ZA" sz="2400" i="1" smtClean="0">
                          <a:latin typeface="Cambria Math"/>
                          <a:sym typeface="Symbol"/>
                        </a:rPr>
                        <m:t></m:t>
                      </m:r>
                      <m:r>
                        <a:rPr lang="en-ZA" sz="2400" b="0" i="1" smtClean="0">
                          <a:latin typeface="Cambria Math"/>
                          <a:sym typeface="Symbol"/>
                        </a:rPr>
                        <m:t>90</m:t>
                      </m:r>
                      <m:r>
                        <a:rPr lang="en-ZA" sz="2400" i="1" smtClean="0">
                          <a:latin typeface="Cambria Math"/>
                          <a:sym typeface="Symbol"/>
                        </a:rPr>
                        <m:t></m:t>
                      </m:r>
                    </m:oMath>
                  </a14:m>
                  <a:endParaRPr lang="en-ZA" sz="2400" dirty="0">
                    <a:latin typeface="Times New Roman" pitchFamily="18" charset="0"/>
                  </a:endParaRPr>
                </a:p>
              </p:txBody>
            </p:sp>
          </mc:Choice>
          <mc:Fallback xmlns="">
            <p:sp>
              <p:nvSpPr>
                <p:cNvPr id="14" name="TextBox 1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20296" y="3088233"/>
                  <a:ext cx="1718001" cy="738664"/>
                </a:xfrm>
                <a:prstGeom prst="rect">
                  <a:avLst/>
                </a:prstGeom>
                <a:blipFill rotWithShape="1">
                  <a:blip r:embed="rId4"/>
                  <a:stretch>
                    <a:fillRect t="-14050" b="-23967"/>
                  </a:stretch>
                </a:blipFill>
              </p:spPr>
              <p:txBody>
                <a:bodyPr/>
                <a:lstStyle/>
                <a:p>
                  <a:r>
                    <a:rPr lang="en-ZA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" name="Group 4"/>
          <p:cNvGrpSpPr/>
          <p:nvPr/>
        </p:nvGrpSpPr>
        <p:grpSpPr>
          <a:xfrm>
            <a:off x="256574" y="2770184"/>
            <a:ext cx="3336426" cy="921646"/>
            <a:chOff x="256574" y="2770184"/>
            <a:chExt cx="3336426" cy="921646"/>
          </a:xfrm>
        </p:grpSpPr>
        <p:sp>
          <p:nvSpPr>
            <p:cNvPr id="15" name="Rectangle 14"/>
            <p:cNvSpPr/>
            <p:nvPr/>
          </p:nvSpPr>
          <p:spPr>
            <a:xfrm>
              <a:off x="392224" y="2770184"/>
              <a:ext cx="918841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400" dirty="0" smtClean="0">
                  <a:solidFill>
                    <a:schemeClr val="tx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Verdana" pitchFamily="34" charset="0"/>
                </a:rPr>
                <a:t>KVL:</a:t>
              </a:r>
              <a:endParaRPr lang="en-ZA" sz="24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/>
                <p:cNvSpPr txBox="1"/>
                <p:nvPr/>
              </p:nvSpPr>
              <p:spPr>
                <a:xfrm>
                  <a:off x="256574" y="3230165"/>
                  <a:ext cx="3336426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ZA" sz="2400" b="0" i="1" smtClean="0">
                            <a:latin typeface="Cambria Math"/>
                          </a:rPr>
                          <m:t>−</m:t>
                        </m:r>
                        <m:acc>
                          <m:accPr>
                            <m:chr m:val="̅"/>
                            <m:ctrlPr>
                              <a:rPr lang="en-ZA" sz="2400" b="0" i="1" smtClean="0">
                                <a:latin typeface="Cambria Math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ZA" sz="2400" b="0" i="1" smtClean="0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ZA" sz="2400" b="0" i="1" smtClean="0">
                                    <a:latin typeface="Cambria Math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en-ZA" sz="2400" b="0" i="1" smtClean="0">
                                    <a:latin typeface="Cambria Math"/>
                                  </a:rPr>
                                  <m:t>𝑠</m:t>
                                </m:r>
                              </m:sub>
                            </m:sSub>
                          </m:e>
                        </m:acc>
                        <m:r>
                          <a:rPr lang="en-ZA" sz="2400" b="0" i="1" smtClean="0">
                            <a:latin typeface="Cambria Math"/>
                          </a:rPr>
                          <m:t>+</m:t>
                        </m:r>
                        <m:acc>
                          <m:accPr>
                            <m:chr m:val="̅"/>
                            <m:ctrlPr>
                              <a:rPr lang="en-ZA" sz="2400" b="0" i="1" smtClean="0">
                                <a:latin typeface="Cambria Math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ZA" sz="2400" b="0" i="1" smtClean="0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ZA" sz="2400" b="0" i="1" smtClean="0">
                                    <a:latin typeface="Cambria Math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en-ZA" sz="2400" b="0" i="1" smtClean="0">
                                    <a:latin typeface="Cambria Math"/>
                                  </a:rPr>
                                  <m:t>𝑅</m:t>
                                </m:r>
                              </m:sub>
                            </m:sSub>
                          </m:e>
                        </m:acc>
                        <m:r>
                          <a:rPr lang="en-ZA" sz="2400" b="0" i="0" smtClean="0">
                            <a:latin typeface="Cambria Math"/>
                          </a:rPr>
                          <m:t>+</m:t>
                        </m:r>
                        <m:acc>
                          <m:accPr>
                            <m:chr m:val="̅"/>
                            <m:ctrlPr>
                              <a:rPr lang="en-ZA" sz="2400" b="0" i="1" smtClean="0">
                                <a:latin typeface="Cambria Math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ZA" sz="2400" b="0" i="1" smtClean="0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ZA" sz="2400" b="0" i="1" smtClean="0">
                                    <a:latin typeface="Cambria Math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en-ZA" sz="2400" b="0" i="1" smtClean="0">
                                    <a:latin typeface="Cambria Math"/>
                                  </a:rPr>
                                  <m:t>𝐶</m:t>
                                </m:r>
                              </m:sub>
                            </m:sSub>
                          </m:e>
                        </m:acc>
                        <m:r>
                          <a:rPr lang="en-ZA" sz="2400" b="0" i="1" smtClean="0">
                            <a:latin typeface="Cambria Math"/>
                          </a:rPr>
                          <m:t>+</m:t>
                        </m:r>
                        <m:acc>
                          <m:accPr>
                            <m:chr m:val="̅"/>
                            <m:ctrlPr>
                              <a:rPr lang="en-ZA" sz="2400" b="0" i="1" smtClean="0">
                                <a:latin typeface="Cambria Math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ZA" sz="2400" b="0" i="1" smtClean="0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ZA" sz="2400" b="0" i="1" smtClean="0">
                                    <a:latin typeface="Cambria Math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en-ZA" sz="2400" b="0" i="1" smtClean="0">
                                    <a:latin typeface="Cambria Math"/>
                                  </a:rPr>
                                  <m:t>𝐿</m:t>
                                </m:r>
                              </m:sub>
                            </m:sSub>
                          </m:e>
                        </m:acc>
                        <m:r>
                          <a:rPr lang="en-ZA" sz="2400" b="0" i="1" smtClean="0">
                            <a:latin typeface="Cambria Math"/>
                          </a:rPr>
                          <m:t>=0</m:t>
                        </m:r>
                      </m:oMath>
                    </m:oMathPara>
                  </a14:m>
                  <a:endParaRPr lang="en-ZA" sz="2400" dirty="0"/>
                </a:p>
              </p:txBody>
            </p:sp>
          </mc:Choice>
          <mc:Fallback xmlns="">
            <p:sp>
              <p:nvSpPr>
                <p:cNvPr id="16" name="TextBox 1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6574" y="3230165"/>
                  <a:ext cx="3336426" cy="461665"/>
                </a:xfrm>
                <a:prstGeom prst="rect">
                  <a:avLst/>
                </a:prstGeom>
                <a:blipFill rotWithShape="1">
                  <a:blip r:embed="rId5"/>
                  <a:stretch>
                    <a:fillRect b="-3947"/>
                  </a:stretch>
                </a:blipFill>
              </p:spPr>
              <p:txBody>
                <a:bodyPr/>
                <a:lstStyle/>
                <a:p>
                  <a:r>
                    <a:rPr lang="en-ZA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256574" y="3708141"/>
                <a:ext cx="8625695" cy="308770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ZA" sz="2400" b="0" i="1" smtClean="0">
                          <a:latin typeface="Cambria Math"/>
                        </a:rPr>
                        <m:t>−</m:t>
                      </m:r>
                      <m:acc>
                        <m:accPr>
                          <m:chr m:val="̅"/>
                          <m:ctrlPr>
                            <a:rPr lang="en-ZA" sz="2400" b="0" i="1" smtClean="0">
                              <a:latin typeface="Cambria Math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ZA" sz="2400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ZA" sz="2400" b="0" i="1" smtClean="0">
                                  <a:latin typeface="Cambria Math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ZA" sz="2400" b="0" i="1" smtClean="0">
                                  <a:latin typeface="Cambria Math"/>
                                </a:rPr>
                                <m:t>𝑠</m:t>
                              </m:r>
                            </m:sub>
                          </m:sSub>
                        </m:e>
                      </m:acc>
                      <m:r>
                        <a:rPr lang="en-ZA" sz="2400" b="0" i="1" smtClean="0">
                          <a:latin typeface="Cambria Math"/>
                          <a:sym typeface="Symbol"/>
                        </a:rPr>
                        <m:t>+</m:t>
                      </m:r>
                      <m:r>
                        <a:rPr lang="en-ZA" sz="2400" b="0" i="1" smtClean="0">
                          <a:latin typeface="Cambria Math"/>
                          <a:sym typeface="Symbol"/>
                        </a:rPr>
                        <m:t>𝐼</m:t>
                      </m:r>
                      <m:sSub>
                        <m:sSubPr>
                          <m:ctrlPr>
                            <a:rPr lang="en-ZA" sz="2400" b="0" i="1" smtClean="0">
                              <a:latin typeface="Cambria Math"/>
                              <a:sym typeface="Symbol"/>
                            </a:rPr>
                          </m:ctrlPr>
                        </m:sSubPr>
                        <m:e>
                          <m:r>
                            <a:rPr lang="en-ZA" sz="2400" b="0" i="1" smtClean="0">
                              <a:latin typeface="Cambria Math"/>
                              <a:sym typeface="Symbol"/>
                            </a:rPr>
                            <m:t>𝑍</m:t>
                          </m:r>
                        </m:e>
                        <m:sub>
                          <m:r>
                            <a:rPr lang="en-ZA" sz="2400" b="0" i="1" smtClean="0">
                              <a:latin typeface="Cambria Math"/>
                              <a:sym typeface="Symbol"/>
                            </a:rPr>
                            <m:t>𝑅</m:t>
                          </m:r>
                        </m:sub>
                      </m:sSub>
                      <m:r>
                        <a:rPr lang="en-ZA" sz="2400" b="0" i="1" smtClean="0">
                          <a:latin typeface="Cambria Math"/>
                          <a:sym typeface="Symbol"/>
                        </a:rPr>
                        <m:t>+</m:t>
                      </m:r>
                      <m:r>
                        <a:rPr lang="en-ZA" sz="2400" b="0" i="1" smtClean="0">
                          <a:latin typeface="Cambria Math"/>
                          <a:sym typeface="Symbol"/>
                        </a:rPr>
                        <m:t>𝐼</m:t>
                      </m:r>
                      <m:sSub>
                        <m:sSubPr>
                          <m:ctrlPr>
                            <a:rPr lang="en-ZA" sz="2400" b="0" i="1" smtClean="0">
                              <a:latin typeface="Cambria Math"/>
                              <a:sym typeface="Symbol"/>
                            </a:rPr>
                          </m:ctrlPr>
                        </m:sSubPr>
                        <m:e>
                          <m:r>
                            <a:rPr lang="en-ZA" sz="2400" b="0" i="1" smtClean="0">
                              <a:latin typeface="Cambria Math"/>
                              <a:sym typeface="Symbol"/>
                            </a:rPr>
                            <m:t>𝑍</m:t>
                          </m:r>
                        </m:e>
                        <m:sub>
                          <m:r>
                            <a:rPr lang="en-ZA" sz="2400" b="0" i="1" smtClean="0">
                              <a:latin typeface="Cambria Math"/>
                              <a:sym typeface="Symbol"/>
                            </a:rPr>
                            <m:t>𝐶</m:t>
                          </m:r>
                        </m:sub>
                      </m:sSub>
                      <m:r>
                        <a:rPr lang="en-ZA" sz="2400" b="0" i="1" smtClean="0">
                          <a:latin typeface="Cambria Math"/>
                          <a:sym typeface="Symbol"/>
                        </a:rPr>
                        <m:t>+</m:t>
                      </m:r>
                      <m:r>
                        <a:rPr lang="en-ZA" sz="2400" b="0" i="1" smtClean="0">
                          <a:latin typeface="Cambria Math"/>
                          <a:sym typeface="Symbol"/>
                        </a:rPr>
                        <m:t>𝐼</m:t>
                      </m:r>
                      <m:sSub>
                        <m:sSubPr>
                          <m:ctrlPr>
                            <a:rPr lang="en-ZA" sz="2400" b="0" i="1" smtClean="0">
                              <a:latin typeface="Cambria Math"/>
                              <a:sym typeface="Symbol"/>
                            </a:rPr>
                          </m:ctrlPr>
                        </m:sSubPr>
                        <m:e>
                          <m:r>
                            <a:rPr lang="en-ZA" sz="2400" b="0" i="1" smtClean="0">
                              <a:latin typeface="Cambria Math"/>
                              <a:sym typeface="Symbol"/>
                            </a:rPr>
                            <m:t>𝑍</m:t>
                          </m:r>
                        </m:e>
                        <m:sub>
                          <m:r>
                            <a:rPr lang="en-ZA" sz="2400" b="0" i="1" smtClean="0">
                              <a:latin typeface="Cambria Math"/>
                              <a:sym typeface="Symbol"/>
                            </a:rPr>
                            <m:t>𝐿</m:t>
                          </m:r>
                        </m:sub>
                      </m:sSub>
                      <m:r>
                        <a:rPr lang="en-ZA" sz="2400" b="0" i="1" smtClean="0">
                          <a:latin typeface="Cambria Math"/>
                          <a:sym typeface="Symbol"/>
                        </a:rPr>
                        <m:t>=0</m:t>
                      </m:r>
                    </m:oMath>
                  </m:oMathPara>
                </a14:m>
                <a:endParaRPr lang="en-ZA" sz="2400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ZA" sz="2400" b="0" i="1" smtClean="0">
                          <a:latin typeface="Cambria Math"/>
                        </a:rPr>
                        <m:t>−</m:t>
                      </m:r>
                      <m:r>
                        <a:rPr lang="en-ZA" sz="2400" b="0" i="0" smtClean="0">
                          <a:latin typeface="Cambria Math"/>
                        </a:rPr>
                        <m:t>10</m:t>
                      </m:r>
                      <m:r>
                        <a:rPr lang="en-ZA" sz="2400" b="0" i="1" smtClean="0">
                          <a:latin typeface="Cambria Math"/>
                          <a:sym typeface="Symbol"/>
                        </a:rPr>
                        <m:t>+</m:t>
                      </m:r>
                      <m:r>
                        <a:rPr lang="en-ZA" sz="2400" b="0" i="1" smtClean="0">
                          <a:latin typeface="Cambria Math"/>
                          <a:sym typeface="Symbol"/>
                        </a:rPr>
                        <m:t>𝐼</m:t>
                      </m:r>
                      <m:d>
                        <m:dPr>
                          <m:ctrlPr>
                            <a:rPr lang="en-ZA" sz="2400" b="0" i="1" smtClean="0">
                              <a:latin typeface="Cambria Math"/>
                              <a:sym typeface="Symbol"/>
                            </a:rPr>
                          </m:ctrlPr>
                        </m:dPr>
                        <m:e>
                          <m:r>
                            <a:rPr lang="en-ZA" sz="2400" b="0" i="1" smtClean="0">
                              <a:latin typeface="Cambria Math"/>
                              <a:sym typeface="Symbol"/>
                            </a:rPr>
                            <m:t>𝑅</m:t>
                          </m:r>
                          <m:r>
                            <a:rPr lang="en-ZA" sz="2400" b="0" i="1" smtClean="0">
                              <a:latin typeface="Cambria Math"/>
                              <a:sym typeface="Symbol"/>
                            </a:rPr>
                            <m:t>+</m:t>
                          </m:r>
                          <m:f>
                            <m:fPr>
                              <m:ctrlPr>
                                <a:rPr lang="en-ZA" sz="2400" b="0" i="1" smtClean="0">
                                  <a:latin typeface="Cambria Math"/>
                                  <a:sym typeface="Symbol"/>
                                </a:rPr>
                              </m:ctrlPr>
                            </m:fPr>
                            <m:num>
                              <m:r>
                                <a:rPr lang="en-ZA" sz="2400" b="0" i="1" smtClean="0">
                                  <a:latin typeface="Cambria Math"/>
                                  <a:sym typeface="Symbol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ZA" sz="2400" b="0" i="1" smtClean="0">
                                  <a:latin typeface="Cambria Math"/>
                                  <a:sym typeface="Symbol"/>
                                </a:rPr>
                                <m:t>𝑗</m:t>
                              </m:r>
                              <m:r>
                                <a:rPr lang="en-ZA" sz="2400" b="0" i="1" smtClean="0">
                                  <a:latin typeface="Cambria Math"/>
                                  <a:ea typeface="Cambria Math"/>
                                  <a:sym typeface="Symbol"/>
                                </a:rPr>
                                <m:t>𝜔</m:t>
                              </m:r>
                              <m:r>
                                <a:rPr lang="en-ZA" sz="2400" b="0" i="1" smtClean="0">
                                  <a:latin typeface="Cambria Math"/>
                                  <a:ea typeface="Cambria Math"/>
                                  <a:sym typeface="Symbol"/>
                                </a:rPr>
                                <m:t>𝐶</m:t>
                              </m:r>
                            </m:den>
                          </m:f>
                          <m:r>
                            <a:rPr lang="en-ZA" sz="2400" b="0" i="1" smtClean="0">
                              <a:latin typeface="Cambria Math"/>
                              <a:sym typeface="Symbol"/>
                            </a:rPr>
                            <m:t>+</m:t>
                          </m:r>
                          <m:r>
                            <a:rPr lang="en-ZA" sz="2400" b="0" i="1" smtClean="0">
                              <a:latin typeface="Cambria Math"/>
                              <a:sym typeface="Symbol"/>
                            </a:rPr>
                            <m:t>𝑗</m:t>
                          </m:r>
                          <m:r>
                            <a:rPr lang="en-ZA" sz="2400" b="0" i="1" smtClean="0">
                              <a:latin typeface="Cambria Math"/>
                              <a:ea typeface="Cambria Math"/>
                              <a:sym typeface="Symbol"/>
                            </a:rPr>
                            <m:t>𝜔</m:t>
                          </m:r>
                          <m:r>
                            <a:rPr lang="en-ZA" sz="2400" b="0" i="1" smtClean="0">
                              <a:latin typeface="Cambria Math"/>
                              <a:ea typeface="Cambria Math"/>
                              <a:sym typeface="Symbol"/>
                            </a:rPr>
                            <m:t>𝐿</m:t>
                          </m:r>
                        </m:e>
                      </m:d>
                      <m:r>
                        <a:rPr lang="en-ZA" sz="2400" b="0" i="1" smtClean="0">
                          <a:latin typeface="Cambria Math"/>
                          <a:sym typeface="Symbol"/>
                        </a:rPr>
                        <m:t>=0</m:t>
                      </m:r>
                    </m:oMath>
                  </m:oMathPara>
                </a14:m>
                <a:endParaRPr lang="en-ZA" sz="2400" b="0" dirty="0" smtClean="0">
                  <a:sym typeface="Symbol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ZA" sz="2400" b="0" i="1" smtClean="0">
                          <a:latin typeface="Cambria Math"/>
                          <a:sym typeface="Symbol"/>
                        </a:rPr>
                        <m:t>𝐼</m:t>
                      </m:r>
                      <m:r>
                        <a:rPr lang="en-ZA" sz="2400" b="0" i="1" smtClean="0">
                          <a:latin typeface="Cambria Math"/>
                          <a:sym typeface="Symbol"/>
                        </a:rPr>
                        <m:t>=</m:t>
                      </m:r>
                      <m:f>
                        <m:fPr>
                          <m:ctrlPr>
                            <a:rPr lang="en-ZA" sz="2400" b="0" i="1" smtClean="0">
                              <a:latin typeface="Cambria Math"/>
                              <a:sym typeface="Symbol"/>
                            </a:rPr>
                          </m:ctrlPr>
                        </m:fPr>
                        <m:num>
                          <m:r>
                            <a:rPr lang="en-ZA" sz="2400" b="0" i="1" smtClean="0">
                              <a:latin typeface="Cambria Math"/>
                              <a:sym typeface="Symbol"/>
                            </a:rPr>
                            <m:t>10</m:t>
                          </m:r>
                        </m:num>
                        <m:den>
                          <m:r>
                            <a:rPr lang="en-ZA" sz="2400" b="0" i="1" smtClean="0">
                              <a:latin typeface="Cambria Math"/>
                              <a:sym typeface="Symbol"/>
                            </a:rPr>
                            <m:t>𝑅</m:t>
                          </m:r>
                          <m:r>
                            <a:rPr lang="en-ZA" sz="2400" b="0" i="1" smtClean="0">
                              <a:latin typeface="Cambria Math"/>
                              <a:sym typeface="Symbol"/>
                            </a:rPr>
                            <m:t>+</m:t>
                          </m:r>
                          <m:f>
                            <m:fPr>
                              <m:ctrlPr>
                                <a:rPr lang="en-ZA" sz="2400" b="0" i="1" smtClean="0">
                                  <a:latin typeface="Cambria Math"/>
                                  <a:sym typeface="Symbol"/>
                                </a:rPr>
                              </m:ctrlPr>
                            </m:fPr>
                            <m:num>
                              <m:r>
                                <a:rPr lang="en-ZA" sz="2400" b="0" i="1" smtClean="0">
                                  <a:latin typeface="Cambria Math"/>
                                  <a:sym typeface="Symbol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ZA" sz="2400" b="0" i="1" smtClean="0">
                                  <a:latin typeface="Cambria Math"/>
                                  <a:sym typeface="Symbol"/>
                                </a:rPr>
                                <m:t>𝑗</m:t>
                              </m:r>
                              <m:r>
                                <a:rPr lang="en-ZA" sz="2400" b="0" i="1" smtClean="0">
                                  <a:latin typeface="Cambria Math"/>
                                  <a:ea typeface="Cambria Math"/>
                                  <a:sym typeface="Symbol"/>
                                </a:rPr>
                                <m:t>𝜔</m:t>
                              </m:r>
                              <m:r>
                                <a:rPr lang="en-ZA" sz="2400" b="0" i="1" smtClean="0">
                                  <a:latin typeface="Cambria Math"/>
                                  <a:ea typeface="Cambria Math"/>
                                  <a:sym typeface="Symbol"/>
                                </a:rPr>
                                <m:t>𝐶</m:t>
                              </m:r>
                            </m:den>
                          </m:f>
                          <m:r>
                            <a:rPr lang="en-ZA" sz="2400" b="0" i="1" smtClean="0">
                              <a:latin typeface="Cambria Math"/>
                              <a:sym typeface="Symbol"/>
                            </a:rPr>
                            <m:t>+</m:t>
                          </m:r>
                          <m:r>
                            <a:rPr lang="en-ZA" sz="2400" b="0" i="1" smtClean="0">
                              <a:latin typeface="Cambria Math"/>
                              <a:sym typeface="Symbol"/>
                            </a:rPr>
                            <m:t>𝑗</m:t>
                          </m:r>
                          <m:r>
                            <a:rPr lang="en-ZA" sz="2400" b="0" i="1" smtClean="0">
                              <a:latin typeface="Cambria Math"/>
                              <a:ea typeface="Cambria Math"/>
                              <a:sym typeface="Symbol"/>
                            </a:rPr>
                            <m:t>𝜔</m:t>
                          </m:r>
                          <m:r>
                            <a:rPr lang="en-ZA" sz="2400" b="0" i="1" smtClean="0">
                              <a:latin typeface="Cambria Math"/>
                              <a:ea typeface="Cambria Math"/>
                              <a:sym typeface="Symbol"/>
                            </a:rPr>
                            <m:t>𝐿</m:t>
                          </m:r>
                        </m:den>
                      </m:f>
                      <m:r>
                        <a:rPr lang="en-ZA" sz="2400" b="0" i="1" smtClean="0">
                          <a:latin typeface="Cambria Math"/>
                          <a:sym typeface="Symbol"/>
                        </a:rPr>
                        <m:t>=</m:t>
                      </m:r>
                      <m:f>
                        <m:fPr>
                          <m:ctrlPr>
                            <a:rPr lang="en-ZA" sz="2400" b="0" i="1" smtClean="0">
                              <a:latin typeface="Cambria Math"/>
                              <a:sym typeface="Symbol"/>
                            </a:rPr>
                          </m:ctrlPr>
                        </m:fPr>
                        <m:num>
                          <m:r>
                            <a:rPr lang="en-ZA" sz="2400" b="0" i="1" smtClean="0">
                              <a:latin typeface="Cambria Math"/>
                              <a:sym typeface="Symbol"/>
                            </a:rPr>
                            <m:t>100</m:t>
                          </m:r>
                        </m:num>
                        <m:den>
                          <m:r>
                            <a:rPr lang="en-ZA" sz="2400" b="0" i="1" smtClean="0">
                              <a:latin typeface="Cambria Math"/>
                              <a:sym typeface="Symbol"/>
                            </a:rPr>
                            <m:t>𝑅</m:t>
                          </m:r>
                          <m:r>
                            <a:rPr lang="en-ZA" sz="2400" b="0" i="1" smtClean="0">
                              <a:latin typeface="Cambria Math"/>
                              <a:sym typeface="Symbol"/>
                            </a:rPr>
                            <m:t>0+</m:t>
                          </m:r>
                          <m:f>
                            <m:fPr>
                              <m:ctrlPr>
                                <a:rPr lang="en-ZA" sz="2400" i="1" smtClean="0">
                                  <a:latin typeface="Cambria Math"/>
                                </a:rPr>
                              </m:ctrlPr>
                            </m:fPr>
                            <m:num>
                              <m:r>
                                <a:rPr lang="en-ZA" sz="2400" b="0" i="1" smtClean="0">
                                  <a:latin typeface="Cambria Math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ZA" sz="2400" i="1" smtClean="0">
                                  <a:latin typeface="Cambria Math"/>
                                  <a:ea typeface="Cambria Math"/>
                                </a:rPr>
                                <m:t>𝜔</m:t>
                              </m:r>
                              <m:r>
                                <a:rPr lang="en-ZA" sz="2400" b="0" i="1" smtClean="0">
                                  <a:latin typeface="Cambria Math"/>
                                  <a:ea typeface="Cambria Math"/>
                                </a:rPr>
                                <m:t>𝐶</m:t>
                              </m:r>
                            </m:den>
                          </m:f>
                          <m:r>
                            <a:rPr lang="en-ZA" sz="2400" i="1" smtClean="0">
                              <a:latin typeface="Cambria Math"/>
                              <a:sym typeface="Symbol"/>
                            </a:rPr>
                            <m:t></m:t>
                          </m:r>
                          <m:r>
                            <a:rPr lang="en-ZA" sz="2400" b="0" i="1" smtClean="0">
                              <a:latin typeface="Cambria Math"/>
                              <a:sym typeface="Symbol"/>
                            </a:rPr>
                            <m:t>−90</m:t>
                          </m:r>
                          <m:r>
                            <a:rPr lang="en-ZA" sz="2400" i="1" smtClean="0">
                              <a:latin typeface="Cambria Math"/>
                              <a:sym typeface="Symbol"/>
                            </a:rPr>
                            <m:t></m:t>
                          </m:r>
                          <m:r>
                            <a:rPr lang="en-ZA" sz="2400" b="0" i="1" smtClean="0">
                              <a:latin typeface="Cambria Math"/>
                              <a:sym typeface="Symbol"/>
                            </a:rPr>
                            <m:t>+</m:t>
                          </m:r>
                          <m:r>
                            <a:rPr lang="en-ZA" sz="2400" b="0" i="1" smtClean="0">
                              <a:latin typeface="Cambria Math"/>
                              <a:sym typeface="Symbol"/>
                            </a:rPr>
                            <m:t>𝐿</m:t>
                          </m:r>
                          <m:r>
                            <a:rPr lang="en-ZA" sz="2400" i="1" smtClean="0">
                              <a:latin typeface="Cambria Math"/>
                              <a:sym typeface="Symbol"/>
                            </a:rPr>
                            <m:t></m:t>
                          </m:r>
                          <m:r>
                            <a:rPr lang="en-ZA" sz="2400" b="0" i="1" smtClean="0">
                              <a:latin typeface="Cambria Math"/>
                              <a:sym typeface="Symbol"/>
                            </a:rPr>
                            <m:t>90</m:t>
                          </m:r>
                          <m:r>
                            <a:rPr lang="en-ZA" sz="2400" i="1" smtClean="0">
                              <a:latin typeface="Cambria Math"/>
                              <a:sym typeface="Symbol"/>
                            </a:rPr>
                            <m:t></m:t>
                          </m:r>
                          <m:r>
                            <m:rPr>
                              <m:nor/>
                            </m:rPr>
                            <a:rPr lang="en-ZA" sz="2400" dirty="0">
                              <a:latin typeface="Times New Roman" pitchFamily="18" charset="0"/>
                            </a:rPr>
                            <m:t> </m:t>
                          </m:r>
                        </m:den>
                      </m:f>
                      <m:r>
                        <a:rPr lang="en-ZA" sz="2400" b="0" i="1" smtClean="0">
                          <a:latin typeface="Cambria Math"/>
                          <a:sym typeface="Symbol"/>
                        </a:rPr>
                        <m:t>=</m:t>
                      </m:r>
                      <m:sSub>
                        <m:sSubPr>
                          <m:ctrlPr>
                            <a:rPr lang="en-ZA" sz="2400" b="0" i="1" smtClean="0">
                              <a:latin typeface="Cambria Math"/>
                              <a:sym typeface="Symbol"/>
                            </a:rPr>
                          </m:ctrlPr>
                        </m:sSubPr>
                        <m:e>
                          <m:r>
                            <a:rPr lang="en-ZA" sz="2400" b="0" i="1" smtClean="0">
                              <a:latin typeface="Cambria Math"/>
                              <a:sym typeface="Symbol"/>
                            </a:rPr>
                            <m:t>𝐴</m:t>
                          </m:r>
                        </m:e>
                        <m:sub>
                          <m:r>
                            <a:rPr lang="en-ZA" sz="2400" b="0" i="1" smtClean="0">
                              <a:latin typeface="Cambria Math"/>
                              <a:sym typeface="Symbol"/>
                            </a:rPr>
                            <m:t>𝑖</m:t>
                          </m:r>
                        </m:sub>
                      </m:sSub>
                      <m:r>
                        <a:rPr lang="en-ZA" sz="2400" b="0" i="1" smtClean="0">
                          <a:latin typeface="Cambria Math"/>
                          <a:sym typeface="Symbol"/>
                        </a:rPr>
                        <m:t></m:t>
                      </m:r>
                      <m:sSub>
                        <m:sSubPr>
                          <m:ctrlPr>
                            <a:rPr lang="en-ZA" sz="2400" b="0" i="1" smtClean="0">
                              <a:latin typeface="Cambria Math"/>
                              <a:sym typeface="Symbol"/>
                            </a:rPr>
                          </m:ctrlPr>
                        </m:sSubPr>
                        <m:e>
                          <m:r>
                            <a:rPr lang="en-ZA" sz="2400" i="1" smtClean="0">
                              <a:latin typeface="Cambria Math"/>
                              <a:ea typeface="Cambria Math"/>
                              <a:sym typeface="Symbol"/>
                            </a:rPr>
                            <m:t></m:t>
                          </m:r>
                        </m:e>
                        <m:sub>
                          <m:r>
                            <a:rPr lang="en-ZA" sz="2400" b="0" i="1" smtClean="0">
                              <a:latin typeface="Cambria Math"/>
                              <a:sym typeface="Symbol"/>
                            </a:rPr>
                            <m:t>𝑖</m:t>
                          </m:r>
                        </m:sub>
                      </m:sSub>
                      <m:r>
                        <a:rPr lang="en-ZA" sz="2400" b="0" i="1" smtClean="0">
                          <a:latin typeface="Cambria Math"/>
                          <a:sym typeface="Symbol"/>
                        </a:rPr>
                        <m:t></m:t>
                      </m:r>
                    </m:oMath>
                  </m:oMathPara>
                </a14:m>
                <a:endParaRPr lang="en-ZA" sz="2400" b="0" dirty="0" smtClean="0">
                  <a:sym typeface="Symbol"/>
                </a:endParaRPr>
              </a:p>
              <a:p>
                <a:endParaRPr lang="en-ZA" sz="1400" b="0" dirty="0" smtClean="0">
                  <a:sym typeface="Symbol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ZA" sz="3200" b="0" i="1" smtClean="0"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/>
                              <a:sym typeface="Symbol"/>
                            </a:rPr>
                          </m:ctrlPr>
                        </m:sSubPr>
                        <m:e>
                          <m:r>
                            <a:rPr lang="en-ZA" sz="3200" b="0" i="1" smtClean="0"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/>
                              <a:sym typeface="Symbol"/>
                            </a:rPr>
                            <m:t>𝐴</m:t>
                          </m:r>
                        </m:e>
                        <m:sub>
                          <m:r>
                            <a:rPr lang="en-ZA" sz="3200" b="0" i="1" smtClean="0"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/>
                              <a:sym typeface="Symbol"/>
                            </a:rPr>
                            <m:t>𝑖</m:t>
                          </m:r>
                        </m:sub>
                      </m:sSub>
                      <m:r>
                        <a:rPr lang="en-ZA" sz="3200" b="0" i="1" smtClean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  <a:sym typeface="Symbol"/>
                        </a:rPr>
                        <m:t></m:t>
                      </m:r>
                      <m:r>
                        <a:rPr lang="en-ZA" sz="3200" i="1" smtClean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  <a:ea typeface="Cambria Math"/>
                          <a:sym typeface="Symbol"/>
                        </a:rPr>
                        <m:t></m:t>
                      </m:r>
                      <m:r>
                        <a:rPr lang="en-ZA" sz="3200" b="0" i="1" smtClean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  <a:sym typeface="Symbol"/>
                        </a:rPr>
                        <m:t></m:t>
                      </m:r>
                      <m:r>
                        <a:rPr lang="en-ZA" sz="3200" b="0" i="1" smtClean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  <a:ea typeface="Cambria Math"/>
                          <a:sym typeface="Symbol"/>
                        </a:rPr>
                        <m:t>→</m:t>
                      </m:r>
                      <m:r>
                        <a:rPr lang="en-ZA" sz="3200" b="0" i="1" smtClean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  <a:ea typeface="Cambria Math"/>
                          <a:sym typeface="Symbol"/>
                        </a:rPr>
                        <m:t>𝑖</m:t>
                      </m:r>
                      <m:r>
                        <a:rPr lang="en-ZA" sz="3200" b="0" i="0" smtClean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  <a:ea typeface="Cambria Math"/>
                          <a:sym typeface="Symbol"/>
                        </a:rPr>
                        <m:t>(</m:t>
                      </m:r>
                      <m:r>
                        <a:rPr lang="en-ZA" sz="3200" b="0" i="1" smtClean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  <a:ea typeface="Cambria Math"/>
                          <a:sym typeface="Symbol"/>
                        </a:rPr>
                        <m:t>𝑡</m:t>
                      </m:r>
                      <m:r>
                        <a:rPr lang="en-ZA" sz="3200" b="0" i="0" smtClean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  <a:ea typeface="Cambria Math"/>
                          <a:sym typeface="Symbol"/>
                        </a:rPr>
                        <m:t>)</m:t>
                      </m:r>
                      <m:r>
                        <a:rPr lang="en-ZA" sz="3200" b="0" i="0" smtClean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/>
                          <a:sym typeface="Symbol"/>
                        </a:rPr>
                        <m:t>=</m:t>
                      </m:r>
                      <m:sSub>
                        <m:sSubPr>
                          <m:ctrlPr>
                            <a:rPr lang="en-ZA" sz="3200" b="0" i="1" smtClean="0"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/>
                              <a:sym typeface="Symbol"/>
                            </a:rPr>
                          </m:ctrlPr>
                        </m:sSubPr>
                        <m:e>
                          <m:r>
                            <a:rPr lang="en-ZA" sz="3200" b="0" i="1" smtClean="0"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/>
                              <a:sym typeface="Symbol"/>
                            </a:rPr>
                            <m:t>𝐴</m:t>
                          </m:r>
                        </m:e>
                        <m:sub>
                          <m:r>
                            <a:rPr lang="en-ZA" sz="3200" b="0" i="1" smtClean="0"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/>
                              <a:sym typeface="Symbol"/>
                            </a:rPr>
                            <m:t>𝑖</m:t>
                          </m:r>
                        </m:sub>
                      </m:sSub>
                      <m:func>
                        <m:funcPr>
                          <m:ctrlPr>
                            <a:rPr lang="en-ZA" sz="3200" b="0" i="1" smtClean="0"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/>
                              <a:sym typeface="Symbol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ZA" sz="3200" b="0" i="0" smtClean="0">
                              <a:solidFill>
                                <a:srgbClr val="000000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/>
                              <a:sym typeface="Symbol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ZA" sz="3200" b="0" i="1" smtClean="0">
                                  <a:solidFill>
                                    <a:srgbClr val="000000"/>
                                  </a:solidFill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/>
                                  <a:sym typeface="Symbol"/>
                                </a:rPr>
                              </m:ctrlPr>
                            </m:dPr>
                            <m:e>
                              <m:r>
                                <a:rPr lang="en-ZA" sz="3200" b="0" i="1" smtClean="0">
                                  <a:solidFill>
                                    <a:srgbClr val="000000"/>
                                  </a:solidFill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/>
                                  <a:ea typeface="Cambria Math"/>
                                  <a:sym typeface="Symbol"/>
                                </a:rPr>
                                <m:t>𝜔</m:t>
                              </m:r>
                              <m:r>
                                <a:rPr lang="en-ZA" sz="3200" b="0" i="1" smtClean="0">
                                  <a:solidFill>
                                    <a:srgbClr val="000000"/>
                                  </a:solidFill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/>
                                  <a:ea typeface="Cambria Math"/>
                                  <a:sym typeface="Symbol"/>
                                </a:rPr>
                                <m:t>𝑡</m:t>
                              </m:r>
                              <m:r>
                                <a:rPr lang="en-ZA" sz="3200" b="0" i="1" smtClean="0">
                                  <a:solidFill>
                                    <a:srgbClr val="000000"/>
                                  </a:solidFill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/>
                                  <a:ea typeface="Cambria Math"/>
                                  <a:sym typeface="Symbol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ZA" sz="3200" b="0" i="1" smtClean="0">
                                      <a:solidFill>
                                        <a:srgbClr val="000000"/>
                                      </a:solidFill>
                                      <a:effectLst>
                                        <a:outerShdw blurRad="38100" dist="38100" dir="2700000" algn="tl">
                                          <a:srgbClr val="000000">
                                            <a:alpha val="43137"/>
                                          </a:srgbClr>
                                        </a:outerShdw>
                                      </a:effectLst>
                                      <a:latin typeface="Cambria Math"/>
                                      <a:sym typeface="Symbol"/>
                                    </a:rPr>
                                  </m:ctrlPr>
                                </m:sSubPr>
                                <m:e>
                                  <m:r>
                                    <a:rPr lang="en-ZA" sz="3200" i="1" smtClean="0">
                                      <a:solidFill>
                                        <a:srgbClr val="000000"/>
                                      </a:solidFill>
                                      <a:effectLst>
                                        <a:outerShdw blurRad="38100" dist="38100" dir="2700000" algn="tl">
                                          <a:srgbClr val="000000">
                                            <a:alpha val="43137"/>
                                          </a:srgbClr>
                                        </a:outerShdw>
                                      </a:effectLst>
                                      <a:latin typeface="Cambria Math"/>
                                      <a:ea typeface="Cambria Math"/>
                                      <a:sym typeface="Symbol"/>
                                    </a:rPr>
                                    <m:t></m:t>
                                  </m:r>
                                </m:e>
                                <m:sub>
                                  <m:r>
                                    <a:rPr lang="en-ZA" sz="3200" b="0" i="1" smtClean="0">
                                      <a:solidFill>
                                        <a:srgbClr val="000000"/>
                                      </a:solidFill>
                                      <a:effectLst>
                                        <a:outerShdw blurRad="38100" dist="38100" dir="2700000" algn="tl">
                                          <a:srgbClr val="000000">
                                            <a:alpha val="43137"/>
                                          </a:srgbClr>
                                        </a:outerShdw>
                                      </a:effectLst>
                                      <a:latin typeface="Cambria Math"/>
                                      <a:sym typeface="Symbol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</m:oMath>
                  </m:oMathPara>
                </a14:m>
                <a:endParaRPr lang="en-ZA" sz="3200" b="0" dirty="0" smtClean="0">
                  <a:solidFill>
                    <a:srgbClr val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sym typeface="Symbol"/>
                </a:endParaRPr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574" y="3708141"/>
                <a:ext cx="8625695" cy="3087705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155613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D5847-C4FF-41A9-AACB-E423C0094155}" type="slidenum">
              <a:rPr lang="en-US"/>
              <a:pPr/>
              <a:t>6</a:t>
            </a:fld>
            <a:endParaRPr lang="en-US"/>
          </a:p>
        </p:txBody>
      </p:sp>
      <p:sp>
        <p:nvSpPr>
          <p:cNvPr id="14131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533400" y="775951"/>
            <a:ext cx="8077200" cy="4143778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 sinusoid is a signal that has the form of the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sine or cosine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function. </a:t>
            </a:r>
          </a:p>
          <a:p>
            <a:pPr>
              <a:lnSpc>
                <a:spcPct val="80000"/>
              </a:lnSpc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A general expression for the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sinusoid: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80000"/>
              </a:lnSpc>
              <a:buFontTx/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80000"/>
              </a:lnSpc>
              <a:buFontTx/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where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en-US" sz="2400" i="1" dirty="0" err="1"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US" sz="2400" i="1" baseline="-25000" dirty="0" err="1"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 =  the </a:t>
            </a:r>
            <a:r>
              <a:rPr lang="en-US"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amplitude</a:t>
            </a:r>
            <a:r>
              <a:rPr lang="en-US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of the sinusoid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en-US" sz="2400" i="1" dirty="0">
                <a:latin typeface="Times New Roman" pitchFamily="18" charset="0"/>
                <a:cs typeface="Times New Roman" pitchFamily="18" charset="0"/>
              </a:rPr>
              <a:t>ω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 = the angular frequency in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radians/s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2400" i="1" dirty="0" smtClean="0"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= time in seconds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2400" i="1" dirty="0" err="1" smtClean="0">
                <a:latin typeface="Times New Roman" pitchFamily="18" charset="0"/>
                <a:cs typeface="Times New Roman" pitchFamily="18" charset="0"/>
              </a:rPr>
              <a:t>ωt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=argument of the sinusoid in radians 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  <a:sym typeface="Symbol"/>
              </a:rPr>
              <a:t>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=  the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phase in radians or degrees</a:t>
            </a:r>
          </a:p>
        </p:txBody>
      </p:sp>
      <p:sp>
        <p:nvSpPr>
          <p:cNvPr id="141314" name="Rectangle 2"/>
          <p:cNvSpPr>
            <a:spLocks noGrp="1" noChangeArrowheads="1"/>
          </p:cNvSpPr>
          <p:nvPr>
            <p:ph type="title"/>
          </p:nvPr>
        </p:nvSpPr>
        <p:spPr>
          <a:xfrm>
            <a:off x="442913" y="103188"/>
            <a:ext cx="8243887" cy="798333"/>
          </a:xfrm>
        </p:spPr>
        <p:txBody>
          <a:bodyPr anchor="t"/>
          <a:lstStyle/>
          <a:p>
            <a:r>
              <a:rPr lang="en-US" sz="4000" dirty="0"/>
              <a:t>9.2 </a:t>
            </a:r>
            <a:r>
              <a:rPr lang="en-US" sz="4000" dirty="0" smtClean="0"/>
              <a:t>Sinusoids</a:t>
            </a:r>
            <a:endParaRPr lang="en-US" sz="4000" dirty="0"/>
          </a:p>
        </p:txBody>
      </p:sp>
      <p:sp>
        <p:nvSpPr>
          <p:cNvPr id="141326" name="Rectangle 14"/>
          <p:cNvSpPr>
            <a:spLocks noChangeArrowheads="1"/>
          </p:cNvSpPr>
          <p:nvPr/>
        </p:nvSpPr>
        <p:spPr bwMode="auto">
          <a:xfrm>
            <a:off x="0" y="32146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ZA"/>
          </a:p>
        </p:txBody>
      </p:sp>
      <p:sp>
        <p:nvSpPr>
          <p:cNvPr id="141342" name="Rectangle 30"/>
          <p:cNvSpPr>
            <a:spLocks noChangeArrowheads="1"/>
          </p:cNvSpPr>
          <p:nvPr/>
        </p:nvSpPr>
        <p:spPr bwMode="auto">
          <a:xfrm>
            <a:off x="0" y="31813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ZA"/>
          </a:p>
        </p:txBody>
      </p:sp>
      <p:pic>
        <p:nvPicPr>
          <p:cNvPr id="12" name="Picture 3" descr="ale29559_09001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669" r="51278" b="11181"/>
          <a:stretch/>
        </p:blipFill>
        <p:spPr bwMode="auto">
          <a:xfrm>
            <a:off x="1575984" y="4753911"/>
            <a:ext cx="5687700" cy="196242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2747971" y="2009751"/>
                <a:ext cx="3151953" cy="461665"/>
              </a:xfrm>
              <a:prstGeom prst="rect">
                <a:avLst/>
              </a:prstGeom>
              <a:ln>
                <a:solidFill>
                  <a:srgbClr val="FF0000"/>
                </a:solidFill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ZA" sz="2400" b="0" i="1" smtClean="0">
                          <a:latin typeface="Cambria Math"/>
                        </a:rPr>
                        <m:t>𝑣</m:t>
                      </m:r>
                      <m:d>
                        <m:dPr>
                          <m:ctrlPr>
                            <a:rPr lang="en-ZA" sz="2400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ZA" sz="2400" b="0" i="1" smtClean="0">
                              <a:latin typeface="Cambria Math"/>
                            </a:rPr>
                            <m:t>𝑡</m:t>
                          </m:r>
                        </m:e>
                      </m:d>
                      <m:r>
                        <a:rPr lang="en-ZA" sz="2400" b="0" i="1" smtClean="0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ZA" sz="24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ZA" sz="2400" b="0" i="1" smtClean="0">
                              <a:latin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ZA" sz="2400" b="0" i="1" smtClean="0">
                              <a:latin typeface="Cambria Math"/>
                            </a:rPr>
                            <m:t>𝑚</m:t>
                          </m:r>
                        </m:sub>
                      </m:sSub>
                      <m:func>
                        <m:funcPr>
                          <m:ctrlPr>
                            <a:rPr lang="en-ZA" sz="2400" b="0" i="1" smtClean="0">
                              <a:latin typeface="Cambria Math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ZA" sz="2400" b="0" i="0" smtClean="0">
                              <a:latin typeface="Cambria Math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ZA" sz="2400" b="0" i="1" smtClean="0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ZA" sz="2400" b="0" i="1" smtClean="0">
                                  <a:latin typeface="Cambria Math"/>
                                  <a:ea typeface="Cambria Math"/>
                                </a:rPr>
                                <m:t>𝜔</m:t>
                              </m:r>
                              <m:r>
                                <a:rPr lang="en-ZA" sz="2400" b="0" i="1" smtClean="0">
                                  <a:latin typeface="Cambria Math"/>
                                  <a:ea typeface="Cambria Math"/>
                                </a:rPr>
                                <m:t>𝑡</m:t>
                              </m:r>
                              <m:r>
                                <a:rPr lang="en-ZA" sz="2400" b="0" i="1" smtClean="0">
                                  <a:latin typeface="Cambria Math"/>
                                  <a:ea typeface="Cambria Math"/>
                                </a:rPr>
                                <m:t>+</m:t>
                              </m:r>
                              <m:r>
                                <a:rPr lang="en-ZA" sz="2400" b="0" i="0" smtClean="0">
                                  <a:latin typeface="Cambria Math"/>
                                  <a:ea typeface="Cambria Math"/>
                                  <a:sym typeface="Symbol"/>
                                </a:rPr>
                                <m:t>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ZA" sz="2400" dirty="0"/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7971" y="2009751"/>
                <a:ext cx="3151953" cy="461665"/>
              </a:xfrm>
              <a:prstGeom prst="rect">
                <a:avLst/>
              </a:prstGeom>
              <a:blipFill rotWithShape="1">
                <a:blip r:embed="rId3"/>
                <a:stretch>
                  <a:fillRect b="-16883"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/>
          <p:cNvSpPr txBox="1"/>
          <p:nvPr/>
        </p:nvSpPr>
        <p:spPr>
          <a:xfrm>
            <a:off x="3095995" y="6009100"/>
            <a:ext cx="412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 smtClean="0">
                <a:solidFill>
                  <a:srgbClr val="003300"/>
                </a:solidFill>
                <a:latin typeface="Times New Roman" pitchFamily="18" charset="0"/>
              </a:rPr>
              <a:t>/ω</a:t>
            </a:r>
            <a:endParaRPr lang="en-ZA" b="1" dirty="0">
              <a:solidFill>
                <a:srgbClr val="003300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213688" y="6009100"/>
            <a:ext cx="412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 smtClean="0">
                <a:solidFill>
                  <a:srgbClr val="003300"/>
                </a:solidFill>
                <a:latin typeface="Times New Roman" pitchFamily="18" charset="0"/>
              </a:rPr>
              <a:t>/ω</a:t>
            </a:r>
            <a:endParaRPr lang="en-ZA" b="1" dirty="0">
              <a:solidFill>
                <a:srgbClr val="003300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353240" y="6005589"/>
            <a:ext cx="412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 smtClean="0">
                <a:solidFill>
                  <a:srgbClr val="003300"/>
                </a:solidFill>
                <a:latin typeface="Times New Roman" pitchFamily="18" charset="0"/>
              </a:rPr>
              <a:t>/ω</a:t>
            </a:r>
            <a:endParaRPr lang="en-ZA" b="1" dirty="0">
              <a:solidFill>
                <a:srgbClr val="003300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371157" y="6028592"/>
            <a:ext cx="412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 smtClean="0">
                <a:solidFill>
                  <a:srgbClr val="003300"/>
                </a:solidFill>
                <a:latin typeface="Times New Roman" pitchFamily="18" charset="0"/>
              </a:rPr>
              <a:t>/ω</a:t>
            </a:r>
            <a:endParaRPr lang="en-ZA" b="1" dirty="0">
              <a:solidFill>
                <a:srgbClr val="003300"/>
              </a:solidFill>
            </a:endParaRPr>
          </a:p>
        </p:txBody>
      </p:sp>
      <p:sp>
        <p:nvSpPr>
          <p:cNvPr id="5" name="Rectangle 4"/>
          <p:cNvSpPr/>
          <p:nvPr/>
        </p:nvSpPr>
        <p:spPr bwMode="auto">
          <a:xfrm>
            <a:off x="6800701" y="6005588"/>
            <a:ext cx="203947" cy="20766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13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413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413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413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413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1" grpId="0"/>
      <p:bldP spid="13" grpId="0"/>
      <p:bldP spid="14" grpId="0"/>
      <p:bldP spid="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C22A78-8182-438C-B4E0-076DB970EBDC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6" name="Picture 3" descr="ale29559_09001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542" t="11669" b="12639"/>
          <a:stretch/>
        </p:blipFill>
        <p:spPr bwMode="auto">
          <a:xfrm>
            <a:off x="2125013" y="1339402"/>
            <a:ext cx="5146096" cy="175152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7" name="Rectangle 2"/>
          <p:cNvSpPr txBox="1">
            <a:spLocks noChangeArrowheads="1"/>
          </p:cNvSpPr>
          <p:nvPr/>
        </p:nvSpPr>
        <p:spPr>
          <a:xfrm>
            <a:off x="442913" y="103188"/>
            <a:ext cx="8243887" cy="1236215"/>
          </a:xfrm>
          <a:prstGeom prst="rect">
            <a:avLst/>
          </a:prstGeom>
        </p:spPr>
        <p:txBody>
          <a:bodyPr anchor="t"/>
          <a:lstStyle>
            <a:lvl1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2pPr>
            <a:lvl3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3pPr>
            <a:lvl4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4pPr>
            <a:lvl5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5pPr>
            <a:lvl6pPr marL="4572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6pPr>
            <a:lvl7pPr marL="9144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7pPr>
            <a:lvl8pPr marL="13716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8pPr>
            <a:lvl9pPr marL="18288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9pPr>
          </a:lstStyle>
          <a:p>
            <a:r>
              <a:rPr lang="en-US" sz="3200" dirty="0" smtClean="0"/>
              <a:t>9.2 Sinusoids</a:t>
            </a:r>
          </a:p>
          <a:p>
            <a:r>
              <a:rPr lang="en-US" sz="4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V </a:t>
            </a:r>
            <a:r>
              <a:rPr lang="en-US" sz="4000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vs</a:t>
            </a:r>
            <a:r>
              <a:rPr lang="en-US" sz="4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4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Time </a:t>
            </a:r>
            <a:r>
              <a:rPr lang="en-US" sz="32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(not t)</a:t>
            </a:r>
            <a:r>
              <a:rPr lang="en-US" sz="4000" dirty="0" smtClean="0">
                <a:latin typeface="Times New Roman" pitchFamily="18" charset="0"/>
                <a:cs typeface="Times New Roman" pitchFamily="18" charset="0"/>
                <a:sym typeface="Symbol"/>
              </a:rPr>
              <a:t> </a:t>
            </a:r>
            <a:endParaRPr lang="en-US" sz="4000" dirty="0">
              <a:latin typeface="Times New Roman" pitchFamily="18" charset="0"/>
              <a:cs typeface="Times New Roman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167876" y="3191582"/>
                <a:ext cx="3264035" cy="357751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ZA" sz="2400" i="1" dirty="0" smtClean="0">
                    <a:latin typeface="Times New Roman" pitchFamily="18" charset="0"/>
                  </a:rPr>
                  <a:t>T</a:t>
                </a:r>
                <a:r>
                  <a:rPr lang="en-ZA" sz="2400" dirty="0" smtClean="0">
                    <a:latin typeface="Times New Roman" pitchFamily="18" charset="0"/>
                  </a:rPr>
                  <a:t> = period [s] </a:t>
                </a:r>
              </a:p>
              <a:p>
                <a:pPr>
                  <a:lnSpc>
                    <a:spcPct val="150000"/>
                  </a:lnSpc>
                </a:pPr>
                <a:r>
                  <a:rPr lang="en-ZA" sz="2400" dirty="0" smtClean="0">
                    <a:latin typeface="Times New Roman" pitchFamily="18" charset="0"/>
                  </a:rPr>
                  <a:t>At </a:t>
                </a:r>
                <a:r>
                  <a:rPr lang="en-ZA" sz="2400" i="1" dirty="0" smtClean="0">
                    <a:latin typeface="Times New Roman" pitchFamily="18" charset="0"/>
                  </a:rPr>
                  <a:t>t</a:t>
                </a:r>
                <a:r>
                  <a:rPr lang="en-ZA" sz="2400" dirty="0" smtClean="0">
                    <a:latin typeface="Times New Roman" pitchFamily="18" charset="0"/>
                  </a:rPr>
                  <a:t> = </a:t>
                </a:r>
                <a:r>
                  <a:rPr lang="en-ZA" sz="2400" i="1" dirty="0" smtClean="0">
                    <a:latin typeface="Times New Roman" pitchFamily="18" charset="0"/>
                  </a:rPr>
                  <a:t>T</a:t>
                </a:r>
                <a:r>
                  <a:rPr lang="en-ZA" sz="2400" dirty="0" smtClean="0">
                    <a:latin typeface="Times New Roman" pitchFamily="18" charset="0"/>
                  </a:rPr>
                  <a:t>:  </a:t>
                </a:r>
                <a14:m>
                  <m:oMath xmlns:m="http://schemas.openxmlformats.org/officeDocument/2006/math">
                    <m:r>
                      <a:rPr lang="en-ZA" sz="2400" i="1">
                        <a:latin typeface="Cambria Math"/>
                        <a:ea typeface="Cambria Math"/>
                      </a:rPr>
                      <m:t>𝜔</m:t>
                    </m:r>
                    <m:r>
                      <a:rPr lang="en-ZA" sz="2400" i="1">
                        <a:latin typeface="Cambria Math"/>
                        <a:ea typeface="Cambria Math"/>
                      </a:rPr>
                      <m:t>𝑇</m:t>
                    </m:r>
                    <m:r>
                      <a:rPr lang="en-ZA" sz="2400" b="0" i="0" smtClean="0">
                        <a:latin typeface="Cambria Math"/>
                      </a:rPr>
                      <m:t>=</m:t>
                    </m:r>
                    <m:r>
                      <a:rPr lang="en-ZA" sz="2400" b="0" i="1" smtClean="0">
                        <a:latin typeface="Cambria Math"/>
                      </a:rPr>
                      <m:t>2</m:t>
                    </m:r>
                    <m:r>
                      <a:rPr lang="en-ZA" sz="2400" b="0" i="1" smtClean="0">
                        <a:latin typeface="Cambria Math"/>
                        <a:ea typeface="Cambria Math"/>
                      </a:rPr>
                      <m:t>𝜋</m:t>
                    </m:r>
                    <m:r>
                      <a:rPr lang="en-ZA" sz="2400" b="0" i="1" smtClean="0">
                        <a:latin typeface="Cambria Math"/>
                        <a:ea typeface="Cambria Math"/>
                      </a:rPr>
                      <m:t> </m:t>
                    </m:r>
                  </m:oMath>
                </a14:m>
                <a:r>
                  <a:rPr lang="en-ZA" sz="2400" b="0" i="1" dirty="0" smtClean="0">
                    <a:latin typeface="Cambria Math"/>
                    <a:ea typeface="Cambria Math"/>
                  </a:rPr>
                  <a:t>: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ZA" sz="2400" b="0" i="1" smtClean="0">
                          <a:latin typeface="Cambria Math"/>
                          <a:ea typeface="Cambria Math"/>
                        </a:rPr>
                        <m:t>𝑇</m:t>
                      </m:r>
                      <m:r>
                        <a:rPr lang="en-ZA" sz="2400" b="0" i="1" smtClean="0">
                          <a:latin typeface="Cambria Math"/>
                          <a:ea typeface="Cambria Math"/>
                        </a:rPr>
                        <m:t>=</m:t>
                      </m:r>
                      <m:f>
                        <m:fPr>
                          <m:ctrlPr>
                            <a:rPr lang="en-ZA" sz="2400" i="1" smtClean="0">
                              <a:latin typeface="Cambria Math"/>
                              <a:ea typeface="Cambria Math"/>
                            </a:rPr>
                          </m:ctrlPr>
                        </m:fPr>
                        <m:num>
                          <m:r>
                            <a:rPr lang="en-ZA" sz="2400" b="0" i="1" smtClean="0">
                              <a:latin typeface="Cambria Math"/>
                            </a:rPr>
                            <m:t>2</m:t>
                          </m:r>
                          <m:r>
                            <a:rPr lang="en-ZA" sz="2400" b="0" i="1" smtClean="0">
                              <a:latin typeface="Cambria Math"/>
                              <a:ea typeface="Cambria Math"/>
                            </a:rPr>
                            <m:t>𝜋</m:t>
                          </m:r>
                        </m:num>
                        <m:den>
                          <m:r>
                            <a:rPr lang="en-ZA" sz="2400" b="0" i="1" smtClean="0">
                              <a:latin typeface="Cambria Math"/>
                              <a:ea typeface="Cambria Math"/>
                            </a:rPr>
                            <m:t>𝜔</m:t>
                          </m:r>
                        </m:den>
                      </m:f>
                    </m:oMath>
                  </m:oMathPara>
                </a14:m>
                <a:endParaRPr lang="en-ZA" sz="2400" dirty="0" smtClean="0">
                  <a:latin typeface="Times New Roman" pitchFamily="18" charset="0"/>
                  <a:ea typeface="Cambria Math"/>
                </a:endParaRP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ZA" sz="2400" b="0" i="1" smtClean="0">
                        <a:latin typeface="Cambria Math"/>
                      </a:rPr>
                      <m:t>𝑓</m:t>
                    </m:r>
                    <m:r>
                      <a:rPr lang="en-ZA" sz="2400" b="0" i="1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ZA" sz="2400" b="0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ZA" sz="2400" b="0" i="1" smtClean="0"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ZA" sz="2400" b="0" i="1" smtClean="0">
                            <a:latin typeface="Cambria Math"/>
                          </a:rPr>
                          <m:t>𝑇</m:t>
                        </m:r>
                      </m:den>
                    </m:f>
                  </m:oMath>
                </a14:m>
                <a:r>
                  <a:rPr lang="en-ZA" sz="2400" dirty="0" smtClean="0">
                    <a:latin typeface="Times New Roman" pitchFamily="18" charset="0"/>
                  </a:rPr>
                  <a:t> frequency in [Hz]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ZA" sz="2400" i="1" smtClean="0">
                        <a:latin typeface="Cambria Math"/>
                        <a:ea typeface="Cambria Math"/>
                      </a:rPr>
                      <m:t>𝜔</m:t>
                    </m:r>
                    <m:r>
                      <a:rPr lang="en-ZA" sz="2400" b="0" i="1" smtClean="0">
                        <a:latin typeface="Cambria Math"/>
                        <a:ea typeface="Cambria Math"/>
                      </a:rPr>
                      <m:t>=2</m:t>
                    </m:r>
                    <m:r>
                      <a:rPr lang="en-ZA" sz="2400" b="0" i="1" smtClean="0">
                        <a:latin typeface="Cambria Math"/>
                        <a:ea typeface="Cambria Math"/>
                      </a:rPr>
                      <m:t>𝜋</m:t>
                    </m:r>
                    <m:r>
                      <a:rPr lang="en-ZA" sz="2400" b="0" i="1" smtClean="0">
                        <a:latin typeface="Cambria Math"/>
                        <a:ea typeface="Cambria Math"/>
                      </a:rPr>
                      <m:t>𝑓</m:t>
                    </m:r>
                  </m:oMath>
                </a14:m>
                <a:r>
                  <a:rPr lang="en-ZA" sz="2400" dirty="0" smtClean="0">
                    <a:latin typeface="Times New Roman" pitchFamily="18" charset="0"/>
                  </a:rPr>
                  <a:t> [rad/s]</a:t>
                </a:r>
                <a:endParaRPr lang="en-ZA" sz="2400" dirty="0">
                  <a:latin typeface="Times New Roman" pitchFamily="18" charset="0"/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7876" y="3191582"/>
                <a:ext cx="3264035" cy="3577518"/>
              </a:xfrm>
              <a:prstGeom prst="rect">
                <a:avLst/>
              </a:prstGeom>
              <a:blipFill rotWithShape="1">
                <a:blip r:embed="rId3"/>
                <a:stretch>
                  <a:fillRect l="-2991" b="-1365"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166039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DBEB72-C004-46D1-9992-458CC43F3DD8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3" name="Rectangle 2"/>
          <p:cNvSpPr txBox="1">
            <a:spLocks noChangeArrowheads="1"/>
          </p:cNvSpPr>
          <p:nvPr/>
        </p:nvSpPr>
        <p:spPr>
          <a:xfrm>
            <a:off x="442913" y="103188"/>
            <a:ext cx="8243887" cy="1236215"/>
          </a:xfrm>
          <a:prstGeom prst="rect">
            <a:avLst/>
          </a:prstGeom>
        </p:spPr>
        <p:txBody>
          <a:bodyPr anchor="t"/>
          <a:lstStyle>
            <a:lvl1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2pPr>
            <a:lvl3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3pPr>
            <a:lvl4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4pPr>
            <a:lvl5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5pPr>
            <a:lvl6pPr marL="4572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6pPr>
            <a:lvl7pPr marL="9144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7pPr>
            <a:lvl8pPr marL="13716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8pPr>
            <a:lvl9pPr marL="18288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9pPr>
          </a:lstStyle>
          <a:p>
            <a:r>
              <a:rPr lang="en-US" sz="3200" dirty="0" smtClean="0"/>
              <a:t>9.2 Sinusoids</a:t>
            </a:r>
          </a:p>
          <a:p>
            <a:r>
              <a:rPr lang="en-US" sz="4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Radians </a:t>
            </a:r>
            <a:r>
              <a:rPr lang="en-US" sz="4000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vs</a:t>
            </a:r>
            <a:r>
              <a:rPr lang="en-US" sz="4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Degrees</a:t>
            </a:r>
            <a:endParaRPr lang="en-US" sz="40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01414" name="Picture 6" descr="angles and radians graph: labelled diagram"/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9382" y="1146566"/>
            <a:ext cx="7105037" cy="53287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>
            <a:off x="736611" y="6377761"/>
            <a:ext cx="765649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ZA" dirty="0" smtClean="0"/>
              <a:t>http://www.rkm.com.au/ANIMATIONS/animation-sine-wave.html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9103819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DBEB72-C004-46D1-9992-458CC43F3DD8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3" name="Rectangle 2"/>
          <p:cNvSpPr txBox="1">
            <a:spLocks noChangeArrowheads="1"/>
          </p:cNvSpPr>
          <p:nvPr/>
        </p:nvSpPr>
        <p:spPr>
          <a:xfrm>
            <a:off x="442913" y="103188"/>
            <a:ext cx="8243887" cy="1236215"/>
          </a:xfrm>
          <a:prstGeom prst="rect">
            <a:avLst/>
          </a:prstGeom>
        </p:spPr>
        <p:txBody>
          <a:bodyPr anchor="t"/>
          <a:lstStyle>
            <a:lvl1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2pPr>
            <a:lvl3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3pPr>
            <a:lvl4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4pPr>
            <a:lvl5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5pPr>
            <a:lvl6pPr marL="4572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6pPr>
            <a:lvl7pPr marL="9144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7pPr>
            <a:lvl8pPr marL="13716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8pPr>
            <a:lvl9pPr marL="18288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9pPr>
          </a:lstStyle>
          <a:p>
            <a:r>
              <a:rPr lang="en-US" sz="3200" dirty="0" smtClean="0"/>
              <a:t>9.2 Sinusoids</a:t>
            </a:r>
          </a:p>
          <a:p>
            <a:r>
              <a:rPr lang="en-US" sz="4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Radians </a:t>
            </a:r>
            <a:r>
              <a:rPr lang="en-US" sz="4000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vs</a:t>
            </a:r>
            <a:r>
              <a:rPr lang="en-US" sz="4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Degrees</a:t>
            </a:r>
            <a:endParaRPr lang="en-US" sz="4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6611" y="6377761"/>
            <a:ext cx="765649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ZA" dirty="0" smtClean="0"/>
              <a:t>http://www.rkm.com.au/ANIMATIONS/animation-sine-wave.html</a:t>
            </a:r>
            <a:endParaRPr lang="en-ZA" dirty="0"/>
          </a:p>
        </p:txBody>
      </p:sp>
      <p:pic>
        <p:nvPicPr>
          <p:cNvPr id="354306" name="Picture 2"/>
          <p:cNvPicPr>
            <a:picLocks noChangeAspect="1" noChangeArrowheads="1"/>
          </p:cNvPicPr>
          <p:nvPr/>
        </p:nvPicPr>
        <p:blipFill>
          <a:blip r:embed="rId2">
            <a:grayscl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4575" y="1107261"/>
            <a:ext cx="7105650" cy="5334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993699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DBEB72-C004-46D1-9992-458CC43F3DD8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442913" y="103188"/>
            <a:ext cx="8243887" cy="1236215"/>
          </a:xfrm>
          <a:prstGeom prst="rect">
            <a:avLst/>
          </a:prstGeom>
        </p:spPr>
        <p:txBody>
          <a:bodyPr anchor="t"/>
          <a:lstStyle>
            <a:lvl1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2pPr>
            <a:lvl3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3pPr>
            <a:lvl4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4pPr>
            <a:lvl5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5pPr>
            <a:lvl6pPr marL="4572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6pPr>
            <a:lvl7pPr marL="9144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7pPr>
            <a:lvl8pPr marL="13716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8pPr>
            <a:lvl9pPr marL="18288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9pPr>
          </a:lstStyle>
          <a:p>
            <a:r>
              <a:rPr lang="en-US" sz="3200" dirty="0" smtClean="0"/>
              <a:t>9.2 Sinusoids</a:t>
            </a:r>
          </a:p>
          <a:p>
            <a:r>
              <a:rPr lang="en-US" sz="4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Radians ↔ Degrees</a:t>
            </a:r>
            <a:endParaRPr lang="en-US" sz="40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0345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092" y="1983347"/>
            <a:ext cx="4819886" cy="333629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5176824" y="2284849"/>
                <a:ext cx="4001608" cy="339124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ZA" sz="2400" b="0" i="1" smtClean="0">
                          <a:latin typeface="Cambria Math"/>
                        </a:rPr>
                        <m:t>360</m:t>
                      </m:r>
                      <m:r>
                        <a:rPr lang="en-ZA" sz="2400" b="0" i="1" smtClean="0">
                          <a:latin typeface="Cambria Math"/>
                          <a:sym typeface="Symbol"/>
                        </a:rPr>
                        <m:t>=2</m:t>
                      </m:r>
                      <m:r>
                        <a:rPr lang="en-ZA" sz="2400" b="0" i="1" smtClean="0">
                          <a:latin typeface="Cambria Math"/>
                          <a:ea typeface="Cambria Math"/>
                          <a:sym typeface="Symbol"/>
                        </a:rPr>
                        <m:t>𝜋</m:t>
                      </m:r>
                      <m:r>
                        <a:rPr lang="en-ZA" sz="2400" b="0" i="1" smtClean="0">
                          <a:latin typeface="Cambria Math"/>
                          <a:ea typeface="Cambria Math"/>
                          <a:sym typeface="Symbol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ZA" sz="2400" b="0" i="0" smtClean="0">
                          <a:latin typeface="Cambria Math"/>
                          <a:ea typeface="Cambria Math"/>
                          <a:sym typeface="Symbol"/>
                        </a:rPr>
                        <m:t>rad</m:t>
                      </m:r>
                    </m:oMath>
                  </m:oMathPara>
                </a14:m>
                <a:endParaRPr lang="en-ZA" sz="2400" b="0" dirty="0" smtClean="0">
                  <a:ea typeface="Cambria Math"/>
                  <a:sym typeface="Symbol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ZA" sz="2400" b="0" i="1" smtClean="0">
                          <a:latin typeface="Cambria Math"/>
                        </a:rPr>
                        <m:t>180</m:t>
                      </m:r>
                      <m:r>
                        <a:rPr lang="en-ZA" sz="2400" b="0" i="1" smtClean="0">
                          <a:latin typeface="Cambria Math"/>
                          <a:sym typeface="Symbol"/>
                        </a:rPr>
                        <m:t>=</m:t>
                      </m:r>
                      <m:r>
                        <a:rPr lang="en-ZA" sz="2400" b="0" i="1" smtClean="0">
                          <a:latin typeface="Cambria Math"/>
                          <a:ea typeface="Cambria Math"/>
                          <a:sym typeface="Symbol"/>
                        </a:rPr>
                        <m:t>𝜋</m:t>
                      </m:r>
                      <m:r>
                        <a:rPr lang="en-ZA" sz="2400" b="0" i="1" smtClean="0">
                          <a:latin typeface="Cambria Math"/>
                          <a:ea typeface="Cambria Math"/>
                          <a:sym typeface="Symbol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ZA" sz="2400" b="0" i="0" smtClean="0">
                          <a:latin typeface="Cambria Math"/>
                          <a:ea typeface="Cambria Math"/>
                          <a:sym typeface="Symbol"/>
                        </a:rPr>
                        <m:t>rad</m:t>
                      </m:r>
                    </m:oMath>
                  </m:oMathPara>
                </a14:m>
                <a:endParaRPr lang="en-ZA" sz="2400" b="0" dirty="0" smtClean="0">
                  <a:ea typeface="Cambria Math"/>
                  <a:sym typeface="Symbol"/>
                </a:endParaRPr>
              </a:p>
              <a:p>
                <a:endParaRPr lang="en-ZA" sz="2400" b="0" dirty="0" smtClean="0">
                  <a:ea typeface="Cambria Math"/>
                  <a:sym typeface="Symbol"/>
                </a:endParaRPr>
              </a:p>
              <a:p>
                <a:r>
                  <a:rPr lang="en-ZA" sz="2400" dirty="0" smtClean="0"/>
                  <a:t>Conversion factors:</a:t>
                </a:r>
              </a:p>
              <a:p>
                <a:r>
                  <a:rPr lang="en-ZA" sz="2400" dirty="0" err="1" smtClean="0"/>
                  <a:t>deg</a:t>
                </a:r>
                <a:r>
                  <a:rPr lang="en-ZA" sz="2400" dirty="0" err="1" smtClean="0">
                    <a:sym typeface="Symbol"/>
                  </a:rPr>
                  <a:t>rad</a:t>
                </a:r>
                <a:r>
                  <a:rPr lang="en-ZA" sz="2400" dirty="0" smtClean="0">
                    <a:sym typeface="Symbol"/>
                  </a:rPr>
                  <a:t>:  </a:t>
                </a:r>
                <a14:m>
                  <m:oMath xmlns:m="http://schemas.openxmlformats.org/officeDocument/2006/math">
                    <m:r>
                      <a:rPr lang="en-ZA" sz="2400" i="1" smtClean="0">
                        <a:latin typeface="Cambria Math"/>
                        <a:ea typeface="Cambria Math"/>
                        <a:sym typeface="Symbol"/>
                      </a:rPr>
                      <m:t>𝜃</m:t>
                    </m:r>
                    <m:r>
                      <a:rPr lang="en-ZA" sz="2400" i="1" smtClean="0">
                        <a:latin typeface="Cambria Math"/>
                        <a:ea typeface="Cambria Math"/>
                        <a:sym typeface="Symbol"/>
                      </a:rPr>
                      <m:t>×</m:t>
                    </m:r>
                    <m:f>
                      <m:fPr>
                        <m:ctrlPr>
                          <a:rPr lang="en-ZA" sz="2400" i="1" smtClean="0">
                            <a:latin typeface="Cambria Math"/>
                            <a:ea typeface="Cambria Math"/>
                            <a:sym typeface="Symbol"/>
                          </a:rPr>
                        </m:ctrlPr>
                      </m:fPr>
                      <m:num>
                        <m:r>
                          <a:rPr lang="en-ZA" sz="2400" i="1" smtClean="0">
                            <a:latin typeface="Cambria Math"/>
                            <a:ea typeface="Cambria Math"/>
                            <a:sym typeface="Symbol"/>
                          </a:rPr>
                          <m:t>𝜋</m:t>
                        </m:r>
                      </m:num>
                      <m:den>
                        <m:r>
                          <a:rPr lang="en-ZA" sz="2400" b="0" i="1" smtClean="0">
                            <a:latin typeface="Cambria Math"/>
                            <a:ea typeface="Cambria Math"/>
                            <a:sym typeface="Symbol"/>
                          </a:rPr>
                          <m:t>180</m:t>
                        </m:r>
                      </m:den>
                    </m:f>
                    <m:r>
                      <a:rPr lang="en-ZA" sz="2400" b="0" i="1" smtClean="0">
                        <a:latin typeface="Cambria Math"/>
                        <a:ea typeface="Cambria Math"/>
                        <a:sym typeface="Symbol"/>
                      </a:rPr>
                      <m:t>=</m:t>
                    </m:r>
                    <m:r>
                      <a:rPr lang="en-ZA" sz="2400" b="0" i="1" smtClean="0">
                        <a:latin typeface="Cambria Math"/>
                        <a:ea typeface="Cambria Math"/>
                        <a:sym typeface="Symbol"/>
                      </a:rPr>
                      <m:t>𝜙</m:t>
                    </m:r>
                    <m:r>
                      <a:rPr lang="en-ZA" sz="2400" b="0" i="1" smtClean="0">
                        <a:latin typeface="Cambria Math"/>
                        <a:ea typeface="Cambria Math"/>
                        <a:sym typeface="Symbol"/>
                      </a:rPr>
                      <m:t> </m:t>
                    </m:r>
                    <m:r>
                      <m:rPr>
                        <m:sty m:val="p"/>
                      </m:rPr>
                      <a:rPr lang="en-ZA" sz="2400" b="0" i="0" smtClean="0">
                        <a:latin typeface="Cambria Math"/>
                        <a:ea typeface="Cambria Math"/>
                        <a:sym typeface="Symbol"/>
                      </a:rPr>
                      <m:t>rad</m:t>
                    </m:r>
                  </m:oMath>
                </a14:m>
                <a:endParaRPr lang="en-ZA" sz="2400" b="0" dirty="0" smtClean="0">
                  <a:ea typeface="Cambria Math"/>
                  <a:sym typeface="Symbol"/>
                </a:endParaRPr>
              </a:p>
              <a:p>
                <a:endParaRPr lang="en-ZA" sz="2400" dirty="0" smtClean="0"/>
              </a:p>
              <a:p>
                <a:r>
                  <a:rPr lang="en-ZA" sz="2400" dirty="0" err="1" smtClean="0"/>
                  <a:t>rad</a:t>
                </a:r>
                <a:r>
                  <a:rPr lang="en-ZA" sz="2400" dirty="0" err="1" smtClean="0">
                    <a:sym typeface="Symbol"/>
                  </a:rPr>
                  <a:t>deg</a:t>
                </a:r>
                <a:r>
                  <a:rPr lang="en-ZA" sz="2400" dirty="0" smtClean="0">
                    <a:sym typeface="Symbol"/>
                  </a:rPr>
                  <a:t>:  </a:t>
                </a:r>
                <a14:m>
                  <m:oMath xmlns:m="http://schemas.openxmlformats.org/officeDocument/2006/math">
                    <m:r>
                      <a:rPr lang="en-ZA" sz="2400" b="0" i="1" smtClean="0">
                        <a:latin typeface="Cambria Math"/>
                        <a:ea typeface="Cambria Math"/>
                        <a:sym typeface="Symbol"/>
                      </a:rPr>
                      <m:t>𝜙</m:t>
                    </m:r>
                    <m:r>
                      <a:rPr lang="en-ZA" sz="2400" b="0" i="1" smtClean="0">
                        <a:latin typeface="Cambria Math"/>
                        <a:ea typeface="Cambria Math"/>
                        <a:sym typeface="Symbol"/>
                      </a:rPr>
                      <m:t> </m:t>
                    </m:r>
                    <m:r>
                      <m:rPr>
                        <m:sty m:val="p"/>
                      </m:rPr>
                      <a:rPr lang="en-ZA" sz="2400" b="0" i="0" smtClean="0">
                        <a:latin typeface="Cambria Math"/>
                        <a:ea typeface="Cambria Math"/>
                        <a:sym typeface="Symbol"/>
                      </a:rPr>
                      <m:t>rad</m:t>
                    </m:r>
                    <m:r>
                      <a:rPr lang="en-ZA" sz="2400" i="1" smtClean="0">
                        <a:latin typeface="Cambria Math"/>
                        <a:ea typeface="Cambria Math"/>
                        <a:sym typeface="Symbol"/>
                      </a:rPr>
                      <m:t>×</m:t>
                    </m:r>
                    <m:f>
                      <m:fPr>
                        <m:ctrlPr>
                          <a:rPr lang="en-ZA" sz="2400" i="1" smtClean="0">
                            <a:latin typeface="Cambria Math"/>
                            <a:ea typeface="Cambria Math"/>
                            <a:sym typeface="Symbol"/>
                          </a:rPr>
                        </m:ctrlPr>
                      </m:fPr>
                      <m:num>
                        <m:r>
                          <a:rPr lang="en-ZA" sz="2400" b="0" i="1" smtClean="0">
                            <a:latin typeface="Cambria Math"/>
                            <a:ea typeface="Cambria Math"/>
                            <a:sym typeface="Symbol"/>
                          </a:rPr>
                          <m:t>180</m:t>
                        </m:r>
                      </m:num>
                      <m:den>
                        <m:r>
                          <a:rPr lang="en-ZA" sz="2400" i="1" smtClean="0">
                            <a:latin typeface="Cambria Math"/>
                            <a:ea typeface="Cambria Math"/>
                            <a:sym typeface="Symbol"/>
                          </a:rPr>
                          <m:t>𝜋</m:t>
                        </m:r>
                      </m:den>
                    </m:f>
                    <m:r>
                      <a:rPr lang="en-ZA" sz="2400" b="0" i="0" smtClean="0">
                        <a:latin typeface="Cambria Math"/>
                        <a:ea typeface="Cambria Math"/>
                        <a:sym typeface="Symbol"/>
                      </a:rPr>
                      <m:t>=</m:t>
                    </m:r>
                    <m:r>
                      <a:rPr lang="en-ZA" sz="2400" i="1" smtClean="0">
                        <a:latin typeface="Cambria Math"/>
                        <a:ea typeface="Cambria Math"/>
                        <a:sym typeface="Symbol"/>
                      </a:rPr>
                      <m:t>𝜃</m:t>
                    </m:r>
                    <m:r>
                      <a:rPr lang="en-ZA" sz="2400" i="1" smtClean="0">
                        <a:latin typeface="Cambria Math"/>
                        <a:ea typeface="Cambria Math"/>
                        <a:sym typeface="Symbol"/>
                      </a:rPr>
                      <m:t></m:t>
                    </m:r>
                  </m:oMath>
                </a14:m>
                <a:endParaRPr lang="en-ZA" sz="2400" dirty="0" smtClean="0"/>
              </a:p>
              <a:p>
                <a:endParaRPr lang="en-ZA" sz="2400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6824" y="2284849"/>
                <a:ext cx="4001608" cy="3391249"/>
              </a:xfrm>
              <a:prstGeom prst="rect">
                <a:avLst/>
              </a:prstGeom>
              <a:blipFill rotWithShape="1">
                <a:blip r:embed="rId3"/>
                <a:stretch>
                  <a:fillRect l="-2283"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533952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roup 76"/>
          <p:cNvGrpSpPr/>
          <p:nvPr/>
        </p:nvGrpSpPr>
        <p:grpSpPr>
          <a:xfrm>
            <a:off x="231784" y="2969854"/>
            <a:ext cx="5339087" cy="1800000"/>
            <a:chOff x="231784" y="2969854"/>
            <a:chExt cx="5339087" cy="1800000"/>
          </a:xfrm>
        </p:grpSpPr>
        <p:grpSp>
          <p:nvGrpSpPr>
            <p:cNvPr id="59" name="Group 58"/>
            <p:cNvGrpSpPr/>
            <p:nvPr/>
          </p:nvGrpSpPr>
          <p:grpSpPr>
            <a:xfrm>
              <a:off x="231784" y="2969854"/>
              <a:ext cx="5339087" cy="1800000"/>
              <a:chOff x="231784" y="2969854"/>
              <a:chExt cx="5339087" cy="1800000"/>
            </a:xfrm>
          </p:grpSpPr>
          <p:pic>
            <p:nvPicPr>
              <p:cNvPr id="10" name="Picture 9"/>
              <p:cNvPicPr>
                <a:picLocks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31784" y="2969854"/>
                <a:ext cx="5040000" cy="1800000"/>
              </a:xfrm>
              <a:prstGeom prst="rect">
                <a:avLst/>
              </a:prstGeom>
            </p:spPr>
          </p:pic>
          <p:sp>
            <p:nvSpPr>
              <p:cNvPr id="22" name="Rectangle 21"/>
              <p:cNvSpPr/>
              <p:nvPr/>
            </p:nvSpPr>
            <p:spPr>
              <a:xfrm>
                <a:off x="5089649" y="3566451"/>
                <a:ext cx="481222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ZA" sz="2400" dirty="0">
                    <a:solidFill>
                      <a:srgbClr val="000000"/>
                    </a:solidFill>
                    <a:latin typeface="Times New Roman" pitchFamily="18" charset="0"/>
                    <a:sym typeface="Symbol"/>
                  </a:rPr>
                  <a:t>t</a:t>
                </a:r>
                <a:endParaRPr lang="en-ZA" sz="2400" dirty="0"/>
              </a:p>
            </p:txBody>
          </p:sp>
          <p:sp>
            <p:nvSpPr>
              <p:cNvPr id="26" name="Rectangle 25"/>
              <p:cNvSpPr/>
              <p:nvPr/>
            </p:nvSpPr>
            <p:spPr>
              <a:xfrm>
                <a:off x="2729109" y="3797283"/>
                <a:ext cx="168316" cy="369332"/>
              </a:xfrm>
              <a:prstGeom prst="rect">
                <a:avLst/>
              </a:prstGeom>
            </p:spPr>
            <p:txBody>
              <a:bodyPr wrap="none" lIns="0" tIns="0" rIns="0" bIns="0">
                <a:spAutoFit/>
              </a:bodyPr>
              <a:lstStyle/>
              <a:p>
                <a:pPr algn="ctr"/>
                <a:r>
                  <a:rPr lang="en-ZA" sz="2400" dirty="0" smtClean="0">
                    <a:solidFill>
                      <a:srgbClr val="000000"/>
                    </a:solidFill>
                    <a:latin typeface="Times New Roman" pitchFamily="18" charset="0"/>
                    <a:sym typeface="Symbol"/>
                  </a:rPr>
                  <a:t></a:t>
                </a:r>
              </a:p>
            </p:txBody>
          </p:sp>
          <p:sp>
            <p:nvSpPr>
              <p:cNvPr id="27" name="Rectangle 26"/>
              <p:cNvSpPr/>
              <p:nvPr/>
            </p:nvSpPr>
            <p:spPr>
              <a:xfrm>
                <a:off x="3808909" y="3816333"/>
                <a:ext cx="322204" cy="369332"/>
              </a:xfrm>
              <a:prstGeom prst="rect">
                <a:avLst/>
              </a:prstGeom>
            </p:spPr>
            <p:txBody>
              <a:bodyPr wrap="none" lIns="0" tIns="0" rIns="0" bIns="0">
                <a:spAutoFit/>
              </a:bodyPr>
              <a:lstStyle/>
              <a:p>
                <a:pPr algn="ctr"/>
                <a:r>
                  <a:rPr lang="en-ZA" sz="2400" dirty="0" smtClean="0">
                    <a:solidFill>
                      <a:srgbClr val="000000"/>
                    </a:solidFill>
                    <a:latin typeface="Times New Roman" pitchFamily="18" charset="0"/>
                    <a:sym typeface="Symbol"/>
                  </a:rPr>
                  <a:t>2</a:t>
                </a:r>
              </a:p>
            </p:txBody>
          </p:sp>
          <p:cxnSp>
            <p:nvCxnSpPr>
              <p:cNvPr id="31" name="Straight Arrow Connector 30"/>
              <p:cNvCxnSpPr/>
              <p:nvPr/>
            </p:nvCxnSpPr>
            <p:spPr bwMode="auto">
              <a:xfrm>
                <a:off x="1289050" y="3972424"/>
                <a:ext cx="397261" cy="0"/>
              </a:xfrm>
              <a:prstGeom prst="straightConnector1">
                <a:avLst/>
              </a:prstGeom>
              <a:ln w="19050">
                <a:solidFill>
                  <a:srgbClr val="FF0000"/>
                </a:solidFill>
                <a:headEnd type="arrow"/>
                <a:tailEnd type="arrow"/>
              </a:ln>
              <a:extLst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/>
              <p:cNvCxnSpPr/>
              <p:nvPr/>
            </p:nvCxnSpPr>
            <p:spPr bwMode="auto">
              <a:xfrm>
                <a:off x="1289050" y="3863975"/>
                <a:ext cx="0" cy="119691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37" name="Rectangle 36"/>
              <p:cNvSpPr/>
              <p:nvPr/>
            </p:nvSpPr>
            <p:spPr>
              <a:xfrm>
                <a:off x="1382130" y="3922196"/>
                <a:ext cx="160300" cy="369332"/>
              </a:xfrm>
              <a:prstGeom prst="rect">
                <a:avLst/>
              </a:prstGeom>
            </p:spPr>
            <p:txBody>
              <a:bodyPr wrap="none" lIns="0" tIns="0" rIns="0" bIns="0">
                <a:spAutoFit/>
              </a:bodyPr>
              <a:lstStyle/>
              <a:p>
                <a:pPr algn="ctr"/>
                <a:r>
                  <a:rPr lang="en-ZA" sz="2400" i="1" dirty="0" smtClean="0">
                    <a:solidFill>
                      <a:srgbClr val="000000"/>
                    </a:solidFill>
                    <a:latin typeface="Times New Roman" pitchFamily="18" charset="0"/>
                    <a:sym typeface="Symbol"/>
                  </a:rPr>
                  <a:t></a:t>
                </a:r>
              </a:p>
            </p:txBody>
          </p:sp>
        </p:grpSp>
        <p:sp>
          <p:nvSpPr>
            <p:cNvPr id="62" name="Oval 61"/>
            <p:cNvSpPr/>
            <p:nvPr/>
          </p:nvSpPr>
          <p:spPr bwMode="auto">
            <a:xfrm>
              <a:off x="1633674" y="3244815"/>
              <a:ext cx="84205" cy="84205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45720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ZA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Times New Roman" pitchFamily="18" charset="0"/>
              </a:endParaRPr>
            </a:p>
          </p:txBody>
        </p:sp>
      </p:grp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DBEB72-C004-46D1-9992-458CC43F3DD8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3" name="Rectangle 2"/>
          <p:cNvSpPr txBox="1">
            <a:spLocks noChangeArrowheads="1"/>
          </p:cNvSpPr>
          <p:nvPr/>
        </p:nvSpPr>
        <p:spPr>
          <a:xfrm>
            <a:off x="442913" y="103188"/>
            <a:ext cx="8243887" cy="1236215"/>
          </a:xfrm>
          <a:prstGeom prst="rect">
            <a:avLst/>
          </a:prstGeom>
        </p:spPr>
        <p:txBody>
          <a:bodyPr anchor="t"/>
          <a:lstStyle>
            <a:lvl1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2pPr>
            <a:lvl3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3pPr>
            <a:lvl4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4pPr>
            <a:lvl5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5pPr>
            <a:lvl6pPr marL="4572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6pPr>
            <a:lvl7pPr marL="9144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7pPr>
            <a:lvl8pPr marL="13716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8pPr>
            <a:lvl9pPr marL="18288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9pPr>
          </a:lstStyle>
          <a:p>
            <a:r>
              <a:rPr lang="en-US" sz="3200" dirty="0" smtClean="0"/>
              <a:t>9.2 Sinusoids</a:t>
            </a:r>
          </a:p>
          <a:p>
            <a:r>
              <a:rPr lang="en-US" sz="4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Phase Angle </a:t>
            </a:r>
            <a:r>
              <a:rPr lang="en-US" sz="4000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</a:t>
            </a:r>
            <a:r>
              <a:rPr lang="en-US" sz="4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 [rad or ]</a:t>
            </a:r>
            <a:endParaRPr lang="en-US" sz="4000" i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697406" y="1237806"/>
            <a:ext cx="2776892" cy="461665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r>
              <a:rPr lang="en-ZA" sz="2400" i="1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v</a:t>
            </a:r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(</a:t>
            </a:r>
            <a:r>
              <a:rPr lang="en-ZA" sz="2400" i="1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t</a:t>
            </a:r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) = </a:t>
            </a:r>
            <a:r>
              <a:rPr lang="en-ZA" sz="2400" i="1" dirty="0" err="1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V</a:t>
            </a:r>
            <a:r>
              <a:rPr lang="en-ZA" sz="2400" i="1" baseline="-25000" dirty="0" err="1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m</a:t>
            </a:r>
            <a:r>
              <a:rPr lang="en-ZA" sz="2400" dirty="0" err="1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sin</a:t>
            </a:r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(</a:t>
            </a:r>
            <a:r>
              <a:rPr lang="en-ZA" sz="2400" i="1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t</a:t>
            </a:r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+</a:t>
            </a:r>
            <a:r>
              <a:rPr lang="en-ZA" sz="2400" i="1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</a:t>
            </a:r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)</a:t>
            </a:r>
            <a:endParaRPr lang="en-ZA" sz="2400" dirty="0">
              <a:solidFill>
                <a:srgbClr val="000000"/>
              </a:solidFill>
              <a:latin typeface="Times New Roman" pitchFamily="18" charset="0"/>
              <a:sym typeface="Symbol"/>
            </a:endParaRPr>
          </a:p>
        </p:txBody>
      </p:sp>
      <p:grpSp>
        <p:nvGrpSpPr>
          <p:cNvPr id="47" name="Group 46"/>
          <p:cNvGrpSpPr/>
          <p:nvPr/>
        </p:nvGrpSpPr>
        <p:grpSpPr>
          <a:xfrm>
            <a:off x="231784" y="1237806"/>
            <a:ext cx="5353601" cy="1800000"/>
            <a:chOff x="231784" y="1237806"/>
            <a:chExt cx="5353601" cy="1800000"/>
          </a:xfrm>
        </p:grpSpPr>
        <p:pic>
          <p:nvPicPr>
            <p:cNvPr id="6" name="Picture 5"/>
            <p:cNvPicPr>
              <a:picLocks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1784" y="1237806"/>
              <a:ext cx="5040000" cy="1800000"/>
            </a:xfrm>
            <a:prstGeom prst="rect">
              <a:avLst/>
            </a:prstGeom>
          </p:spPr>
        </p:pic>
        <p:sp>
          <p:nvSpPr>
            <p:cNvPr id="5" name="TextBox 4"/>
            <p:cNvSpPr txBox="1"/>
            <p:nvPr/>
          </p:nvSpPr>
          <p:spPr>
            <a:xfrm>
              <a:off x="540116" y="1379404"/>
              <a:ext cx="1001486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ZA" sz="2800" i="1" dirty="0" smtClean="0">
                  <a:solidFill>
                    <a:srgbClr val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sym typeface="Symbol"/>
                </a:rPr>
                <a:t></a:t>
              </a:r>
              <a:r>
                <a:rPr lang="en-ZA" sz="2800" dirty="0" smtClean="0">
                  <a:solidFill>
                    <a:srgbClr val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sym typeface="Symbol"/>
                </a:rPr>
                <a:t> = 0</a:t>
              </a:r>
              <a:endParaRPr lang="en-ZA" sz="28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0" name="Rectangle 19"/>
            <p:cNvSpPr/>
            <p:nvPr/>
          </p:nvSpPr>
          <p:spPr>
            <a:xfrm>
              <a:off x="5104163" y="1853906"/>
              <a:ext cx="481222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ZA" sz="2400" dirty="0">
                  <a:solidFill>
                    <a:srgbClr val="000000"/>
                  </a:solidFill>
                  <a:latin typeface="Times New Roman" pitchFamily="18" charset="0"/>
                  <a:sym typeface="Symbol"/>
                </a:rPr>
                <a:t>t</a:t>
              </a:r>
              <a:endParaRPr lang="en-ZA" sz="2400" dirty="0"/>
            </a:p>
          </p:txBody>
        </p:sp>
        <p:sp>
          <p:nvSpPr>
            <p:cNvPr id="24" name="Rectangle 23"/>
            <p:cNvSpPr/>
            <p:nvPr/>
          </p:nvSpPr>
          <p:spPr>
            <a:xfrm>
              <a:off x="2491811" y="2061606"/>
              <a:ext cx="585097" cy="738664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lang="en-ZA" sz="2400" dirty="0" smtClean="0">
                  <a:solidFill>
                    <a:srgbClr val="000000"/>
                  </a:solidFill>
                  <a:latin typeface="Times New Roman" pitchFamily="18" charset="0"/>
                  <a:sym typeface="Symbol"/>
                </a:rPr>
                <a:t></a:t>
              </a:r>
            </a:p>
            <a:p>
              <a:pPr algn="ctr"/>
              <a:r>
                <a:rPr lang="en-ZA" sz="2400" dirty="0" smtClean="0">
                  <a:solidFill>
                    <a:srgbClr val="000000"/>
                  </a:solidFill>
                  <a:latin typeface="Times New Roman" pitchFamily="18" charset="0"/>
                  <a:sym typeface="Symbol"/>
                </a:rPr>
                <a:t>180</a:t>
              </a:r>
              <a:endParaRPr lang="en-ZA" sz="2400" dirty="0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3825312" y="2104184"/>
              <a:ext cx="585097" cy="738664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lang="en-ZA" sz="2400" dirty="0" smtClean="0">
                  <a:solidFill>
                    <a:srgbClr val="000000"/>
                  </a:solidFill>
                  <a:latin typeface="Times New Roman" pitchFamily="18" charset="0"/>
                  <a:sym typeface="Symbol"/>
                </a:rPr>
                <a:t>2</a:t>
              </a:r>
            </a:p>
            <a:p>
              <a:pPr algn="ctr"/>
              <a:r>
                <a:rPr lang="en-ZA" sz="2400" dirty="0" smtClean="0">
                  <a:solidFill>
                    <a:srgbClr val="000000"/>
                  </a:solidFill>
                  <a:latin typeface="Times New Roman" pitchFamily="18" charset="0"/>
                  <a:sym typeface="Symbol"/>
                </a:rPr>
                <a:t>360</a:t>
              </a:r>
              <a:endParaRPr lang="en-ZA" sz="2400" dirty="0"/>
            </a:p>
          </p:txBody>
        </p:sp>
      </p:grpSp>
      <p:grpSp>
        <p:nvGrpSpPr>
          <p:cNvPr id="78" name="Group 77"/>
          <p:cNvGrpSpPr/>
          <p:nvPr/>
        </p:nvGrpSpPr>
        <p:grpSpPr>
          <a:xfrm>
            <a:off x="231784" y="4831895"/>
            <a:ext cx="5310059" cy="1800000"/>
            <a:chOff x="231784" y="4831895"/>
            <a:chExt cx="5310059" cy="1800000"/>
          </a:xfrm>
        </p:grpSpPr>
        <p:grpSp>
          <p:nvGrpSpPr>
            <p:cNvPr id="75" name="Group 74"/>
            <p:cNvGrpSpPr/>
            <p:nvPr/>
          </p:nvGrpSpPr>
          <p:grpSpPr>
            <a:xfrm>
              <a:off x="231784" y="4831895"/>
              <a:ext cx="5310059" cy="1800000"/>
              <a:chOff x="231784" y="4831895"/>
              <a:chExt cx="5310059" cy="1800000"/>
            </a:xfrm>
          </p:grpSpPr>
          <p:grpSp>
            <p:nvGrpSpPr>
              <p:cNvPr id="49" name="Group 48"/>
              <p:cNvGrpSpPr/>
              <p:nvPr/>
            </p:nvGrpSpPr>
            <p:grpSpPr>
              <a:xfrm>
                <a:off x="231784" y="4831895"/>
                <a:ext cx="5310059" cy="1800000"/>
                <a:chOff x="231784" y="4831895"/>
                <a:chExt cx="5310059" cy="1800000"/>
              </a:xfrm>
            </p:grpSpPr>
            <p:pic>
              <p:nvPicPr>
                <p:cNvPr id="19" name="Picture 18"/>
                <p:cNvPicPr>
                  <a:picLocks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31784" y="4831895"/>
                  <a:ext cx="5040000" cy="1800000"/>
                </a:xfrm>
                <a:prstGeom prst="rect">
                  <a:avLst/>
                </a:prstGeom>
              </p:spPr>
            </p:pic>
            <p:sp>
              <p:nvSpPr>
                <p:cNvPr id="12" name="TextBox 11"/>
                <p:cNvSpPr txBox="1"/>
                <p:nvPr/>
              </p:nvSpPr>
              <p:spPr>
                <a:xfrm>
                  <a:off x="711202" y="4962076"/>
                  <a:ext cx="975109" cy="5232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ZA" sz="2800" i="1" dirty="0" smtClean="0">
                      <a:solidFill>
                        <a:srgbClr val="000000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sym typeface="Symbol"/>
                    </a:rPr>
                    <a:t></a:t>
                  </a:r>
                  <a:r>
                    <a:rPr lang="en-ZA" sz="2800" dirty="0" smtClean="0">
                      <a:solidFill>
                        <a:srgbClr val="000000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sym typeface="Symbol"/>
                    </a:rPr>
                    <a:t> &lt; 0</a:t>
                  </a:r>
                  <a:endParaRPr lang="en-ZA" sz="2800" dirty="0">
                    <a:solidFill>
                      <a:srgbClr val="00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21" name="Rectangle 20"/>
                <p:cNvSpPr/>
                <p:nvPr/>
              </p:nvSpPr>
              <p:spPr>
                <a:xfrm>
                  <a:off x="5060621" y="5444398"/>
                  <a:ext cx="481222" cy="4616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n-ZA" sz="2400" dirty="0">
                      <a:solidFill>
                        <a:srgbClr val="000000"/>
                      </a:solidFill>
                      <a:latin typeface="Times New Roman" pitchFamily="18" charset="0"/>
                      <a:sym typeface="Symbol"/>
                    </a:rPr>
                    <a:t>t</a:t>
                  </a:r>
                  <a:endParaRPr lang="en-ZA" sz="2400" dirty="0"/>
                </a:p>
              </p:txBody>
            </p:sp>
            <p:cxnSp>
              <p:nvCxnSpPr>
                <p:cNvPr id="38" name="Straight Arrow Connector 37"/>
                <p:cNvCxnSpPr/>
                <p:nvPr/>
              </p:nvCxnSpPr>
              <p:spPr bwMode="auto">
                <a:xfrm>
                  <a:off x="1675777" y="5570651"/>
                  <a:ext cx="397261" cy="0"/>
                </a:xfrm>
                <a:prstGeom prst="straightConnector1">
                  <a:avLst/>
                </a:prstGeom>
                <a:ln w="19050">
                  <a:solidFill>
                    <a:srgbClr val="FF0000"/>
                  </a:solidFill>
                  <a:headEnd type="arrow"/>
                  <a:tailEnd type="arrow"/>
                </a:ln>
                <a:ex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Connector 38"/>
                <p:cNvCxnSpPr/>
                <p:nvPr/>
              </p:nvCxnSpPr>
              <p:spPr bwMode="auto">
                <a:xfrm>
                  <a:off x="2067229" y="5524500"/>
                  <a:ext cx="0" cy="155689"/>
                </a:xfrm>
                <a:prstGeom prst="lin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sp>
              <p:nvSpPr>
                <p:cNvPr id="40" name="Rectangle 39"/>
                <p:cNvSpPr/>
                <p:nvPr/>
              </p:nvSpPr>
              <p:spPr>
                <a:xfrm>
                  <a:off x="1823841" y="5191635"/>
                  <a:ext cx="160300" cy="369332"/>
                </a:xfrm>
                <a:prstGeom prst="rect">
                  <a:avLst/>
                </a:prstGeom>
              </p:spPr>
              <p:txBody>
                <a:bodyPr wrap="none" lIns="0" tIns="0" rIns="0" bIns="0">
                  <a:spAutoFit/>
                </a:bodyPr>
                <a:lstStyle/>
                <a:p>
                  <a:pPr algn="ctr"/>
                  <a:r>
                    <a:rPr lang="en-ZA" sz="2400" i="1" dirty="0" smtClean="0">
                      <a:solidFill>
                        <a:srgbClr val="000000"/>
                      </a:solidFill>
                      <a:latin typeface="Times New Roman" pitchFamily="18" charset="0"/>
                      <a:sym typeface="Symbol"/>
                    </a:rPr>
                    <a:t></a:t>
                  </a:r>
                </a:p>
              </p:txBody>
            </p:sp>
          </p:grpSp>
          <p:sp>
            <p:nvSpPr>
              <p:cNvPr id="63" name="Oval 62"/>
              <p:cNvSpPr/>
              <p:nvPr/>
            </p:nvSpPr>
            <p:spPr bwMode="auto">
              <a:xfrm>
                <a:off x="2391731" y="5116955"/>
                <a:ext cx="84205" cy="84205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ffectLst/>
              <a:ex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ZA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Times New Roman" pitchFamily="18" charset="0"/>
                </a:endParaRPr>
              </a:p>
            </p:txBody>
          </p:sp>
        </p:grpSp>
        <p:sp>
          <p:nvSpPr>
            <p:cNvPr id="28" name="Rectangle 27"/>
            <p:cNvSpPr/>
            <p:nvPr/>
          </p:nvSpPr>
          <p:spPr>
            <a:xfrm>
              <a:off x="2725380" y="5661139"/>
              <a:ext cx="168316" cy="369332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lang="en-ZA" sz="2400" dirty="0" smtClean="0">
                  <a:solidFill>
                    <a:srgbClr val="000000"/>
                  </a:solidFill>
                  <a:latin typeface="Times New Roman" pitchFamily="18" charset="0"/>
                  <a:sym typeface="Symbol"/>
                </a:rPr>
                <a:t></a:t>
              </a:r>
            </a:p>
          </p:txBody>
        </p:sp>
        <p:sp>
          <p:nvSpPr>
            <p:cNvPr id="29" name="Rectangle 28"/>
            <p:cNvSpPr/>
            <p:nvPr/>
          </p:nvSpPr>
          <p:spPr>
            <a:xfrm>
              <a:off x="3805180" y="5680189"/>
              <a:ext cx="322204" cy="369332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lang="en-ZA" sz="2400" dirty="0" smtClean="0">
                  <a:solidFill>
                    <a:srgbClr val="000000"/>
                  </a:solidFill>
                  <a:latin typeface="Times New Roman" pitchFamily="18" charset="0"/>
                  <a:sym typeface="Symbol"/>
                </a:rPr>
                <a:t>2</a:t>
              </a:r>
            </a:p>
          </p:txBody>
        </p:sp>
      </p:grpSp>
      <p:sp>
        <p:nvSpPr>
          <p:cNvPr id="11" name="TextBox 10"/>
          <p:cNvSpPr txBox="1"/>
          <p:nvPr/>
        </p:nvSpPr>
        <p:spPr>
          <a:xfrm>
            <a:off x="387352" y="3159895"/>
            <a:ext cx="993574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ZA" sz="2800" i="1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Symbol"/>
              </a:rPr>
              <a:t></a:t>
            </a:r>
            <a:r>
              <a:rPr lang="en-ZA" sz="280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Symbol"/>
              </a:rPr>
              <a:t> &gt; 0</a:t>
            </a:r>
            <a:endParaRPr lang="en-ZA" sz="2800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5697406" y="1778183"/>
            <a:ext cx="2776892" cy="1107996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r>
              <a:rPr lang="en-ZA" sz="2200" i="1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v</a:t>
            </a:r>
            <a:r>
              <a:rPr lang="en-ZA" sz="2200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(</a:t>
            </a:r>
            <a:r>
              <a:rPr lang="en-ZA" sz="2200" i="1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t</a:t>
            </a:r>
            <a:r>
              <a:rPr lang="en-ZA" sz="2200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) = 0 if </a:t>
            </a:r>
            <a:r>
              <a:rPr lang="en-ZA" sz="2200" i="1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t</a:t>
            </a:r>
            <a:r>
              <a:rPr lang="en-ZA" sz="2200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+</a:t>
            </a:r>
            <a:r>
              <a:rPr lang="en-ZA" sz="2200" i="1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</a:t>
            </a:r>
            <a:r>
              <a:rPr lang="en-ZA" sz="2200" dirty="0">
                <a:solidFill>
                  <a:srgbClr val="000000"/>
                </a:solidFill>
                <a:latin typeface="Times New Roman" pitchFamily="18" charset="0"/>
                <a:sym typeface="Symbol"/>
              </a:rPr>
              <a:t> </a:t>
            </a:r>
            <a:r>
              <a:rPr lang="en-ZA" sz="2200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 = 0</a:t>
            </a:r>
          </a:p>
          <a:p>
            <a:r>
              <a:rPr lang="en-ZA" sz="2200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But </a:t>
            </a:r>
            <a:r>
              <a:rPr lang="en-ZA" sz="2200" i="1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</a:t>
            </a:r>
            <a:r>
              <a:rPr lang="en-ZA" sz="2200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  </a:t>
            </a:r>
            <a:r>
              <a:rPr lang="en-ZA" sz="2200" dirty="0">
                <a:solidFill>
                  <a:srgbClr val="000000"/>
                </a:solidFill>
                <a:latin typeface="Times New Roman" pitchFamily="18" charset="0"/>
                <a:sym typeface="Symbol"/>
              </a:rPr>
              <a:t>= </a:t>
            </a:r>
            <a:r>
              <a:rPr lang="en-ZA" sz="2200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0</a:t>
            </a:r>
            <a:r>
              <a:rPr lang="en-ZA" sz="2200" i="1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 </a:t>
            </a:r>
            <a:r>
              <a:rPr lang="en-ZA" sz="2200" i="1" dirty="0">
                <a:solidFill>
                  <a:srgbClr val="000000"/>
                </a:solidFill>
                <a:latin typeface="Times New Roman" pitchFamily="18" charset="0"/>
                <a:sym typeface="Symbol"/>
              </a:rPr>
              <a:t></a:t>
            </a:r>
            <a:r>
              <a:rPr lang="en-ZA" sz="2200" i="1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t </a:t>
            </a:r>
            <a:r>
              <a:rPr lang="en-ZA" sz="2200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= 0</a:t>
            </a:r>
          </a:p>
          <a:p>
            <a:r>
              <a:rPr lang="en-ZA" sz="2200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 </a:t>
            </a:r>
            <a:r>
              <a:rPr lang="en-ZA" sz="2200" i="1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v</a:t>
            </a:r>
            <a:r>
              <a:rPr lang="en-ZA" sz="2200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(</a:t>
            </a:r>
            <a:r>
              <a:rPr lang="en-ZA" sz="2200" i="1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t</a:t>
            </a:r>
            <a:r>
              <a:rPr lang="en-ZA" sz="2200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) = 0 when </a:t>
            </a:r>
            <a:r>
              <a:rPr lang="en-ZA" sz="2200" i="1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t</a:t>
            </a:r>
            <a:r>
              <a:rPr lang="en-ZA" sz="2200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 = 0</a:t>
            </a:r>
            <a:endParaRPr lang="en-ZA" sz="2200" dirty="0">
              <a:solidFill>
                <a:srgbClr val="000000"/>
              </a:solidFill>
              <a:latin typeface="Times New Roman" pitchFamily="18" charset="0"/>
              <a:sym typeface="Symbol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5697407" y="2975922"/>
            <a:ext cx="3330686" cy="1785104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r>
              <a:rPr lang="en-ZA" sz="2200" i="1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v</a:t>
            </a:r>
            <a:r>
              <a:rPr lang="en-ZA" sz="2200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(</a:t>
            </a:r>
            <a:r>
              <a:rPr lang="en-ZA" sz="2200" i="1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t</a:t>
            </a:r>
            <a:r>
              <a:rPr lang="en-ZA" sz="2200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) = 0 if </a:t>
            </a:r>
            <a:r>
              <a:rPr lang="en-ZA" sz="2200" i="1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t</a:t>
            </a:r>
            <a:r>
              <a:rPr lang="en-ZA" sz="2200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+</a:t>
            </a:r>
            <a:r>
              <a:rPr lang="en-ZA" sz="2200" i="1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</a:t>
            </a:r>
            <a:r>
              <a:rPr lang="en-ZA" sz="2200" dirty="0">
                <a:solidFill>
                  <a:srgbClr val="000000"/>
                </a:solidFill>
                <a:latin typeface="Times New Roman" pitchFamily="18" charset="0"/>
                <a:sym typeface="Symbol"/>
              </a:rPr>
              <a:t> </a:t>
            </a:r>
            <a:r>
              <a:rPr lang="en-ZA" sz="2200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 = 0</a:t>
            </a:r>
          </a:p>
          <a:p>
            <a:r>
              <a:rPr lang="en-ZA" sz="2200" dirty="0">
                <a:solidFill>
                  <a:srgbClr val="000000"/>
                </a:solidFill>
                <a:latin typeface="Times New Roman" pitchFamily="18" charset="0"/>
                <a:sym typeface="Symbol"/>
              </a:rPr>
              <a:t></a:t>
            </a:r>
            <a:r>
              <a:rPr lang="en-ZA" sz="2200" i="1" dirty="0">
                <a:solidFill>
                  <a:srgbClr val="000000"/>
                </a:solidFill>
                <a:latin typeface="Times New Roman" pitchFamily="18" charset="0"/>
                <a:sym typeface="Symbol"/>
              </a:rPr>
              <a:t> t </a:t>
            </a:r>
            <a:r>
              <a:rPr lang="en-ZA" sz="2200" dirty="0">
                <a:solidFill>
                  <a:srgbClr val="000000"/>
                </a:solidFill>
                <a:latin typeface="Times New Roman" pitchFamily="18" charset="0"/>
                <a:sym typeface="Symbol"/>
              </a:rPr>
              <a:t>= </a:t>
            </a:r>
            <a:r>
              <a:rPr lang="en-ZA" sz="2200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–</a:t>
            </a:r>
            <a:r>
              <a:rPr lang="en-ZA" sz="2200" i="1" dirty="0">
                <a:solidFill>
                  <a:srgbClr val="000000"/>
                </a:solidFill>
                <a:latin typeface="Times New Roman" pitchFamily="18" charset="0"/>
                <a:sym typeface="Symbol"/>
              </a:rPr>
              <a:t></a:t>
            </a:r>
            <a:endParaRPr lang="en-ZA" sz="2200" dirty="0">
              <a:solidFill>
                <a:srgbClr val="000000"/>
              </a:solidFill>
              <a:latin typeface="Times New Roman" pitchFamily="18" charset="0"/>
              <a:sym typeface="Symbol"/>
            </a:endParaRPr>
          </a:p>
          <a:p>
            <a:r>
              <a:rPr lang="en-ZA" sz="2200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But </a:t>
            </a:r>
            <a:r>
              <a:rPr lang="en-ZA" sz="2200" i="1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</a:t>
            </a:r>
            <a:r>
              <a:rPr lang="en-ZA" sz="2200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  &gt; 0 </a:t>
            </a:r>
            <a:r>
              <a:rPr lang="en-ZA" sz="2200" i="1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 </a:t>
            </a:r>
            <a:r>
              <a:rPr lang="en-ZA" sz="2200" i="1" dirty="0">
                <a:solidFill>
                  <a:srgbClr val="000000"/>
                </a:solidFill>
                <a:latin typeface="Times New Roman" pitchFamily="18" charset="0"/>
                <a:sym typeface="Symbol"/>
              </a:rPr>
              <a:t></a:t>
            </a:r>
            <a:r>
              <a:rPr lang="en-ZA" sz="2200" i="1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t </a:t>
            </a:r>
            <a:r>
              <a:rPr lang="en-ZA" sz="2200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= negative</a:t>
            </a:r>
          </a:p>
          <a:p>
            <a:r>
              <a:rPr lang="en-ZA" sz="2200" dirty="0">
                <a:solidFill>
                  <a:srgbClr val="000000"/>
                </a:solidFill>
                <a:latin typeface="Times New Roman" pitchFamily="18" charset="0"/>
                <a:sym typeface="Symbol"/>
              </a:rPr>
              <a:t> </a:t>
            </a:r>
            <a:r>
              <a:rPr lang="en-ZA" sz="2200" i="1" dirty="0">
                <a:solidFill>
                  <a:srgbClr val="000000"/>
                </a:solidFill>
                <a:latin typeface="Times New Roman" pitchFamily="18" charset="0"/>
                <a:sym typeface="Symbol"/>
              </a:rPr>
              <a:t>v</a:t>
            </a:r>
            <a:r>
              <a:rPr lang="en-ZA" sz="2200" dirty="0">
                <a:solidFill>
                  <a:srgbClr val="000000"/>
                </a:solidFill>
                <a:latin typeface="Times New Roman" pitchFamily="18" charset="0"/>
                <a:sym typeface="Symbol"/>
              </a:rPr>
              <a:t>(</a:t>
            </a:r>
            <a:r>
              <a:rPr lang="en-ZA" sz="2200" i="1" dirty="0">
                <a:solidFill>
                  <a:srgbClr val="000000"/>
                </a:solidFill>
                <a:latin typeface="Times New Roman" pitchFamily="18" charset="0"/>
                <a:sym typeface="Symbol"/>
              </a:rPr>
              <a:t>t</a:t>
            </a:r>
            <a:r>
              <a:rPr lang="en-ZA" sz="2200" dirty="0">
                <a:solidFill>
                  <a:srgbClr val="000000"/>
                </a:solidFill>
                <a:latin typeface="Times New Roman" pitchFamily="18" charset="0"/>
                <a:sym typeface="Symbol"/>
              </a:rPr>
              <a:t>) = 0 when </a:t>
            </a:r>
            <a:r>
              <a:rPr lang="en-ZA" sz="2200" i="1" dirty="0">
                <a:solidFill>
                  <a:srgbClr val="000000"/>
                </a:solidFill>
                <a:latin typeface="Times New Roman" pitchFamily="18" charset="0"/>
                <a:sym typeface="Symbol"/>
              </a:rPr>
              <a:t>t</a:t>
            </a:r>
            <a:r>
              <a:rPr lang="en-ZA" sz="2200" dirty="0">
                <a:solidFill>
                  <a:srgbClr val="000000"/>
                </a:solidFill>
                <a:latin typeface="Times New Roman" pitchFamily="18" charset="0"/>
                <a:sym typeface="Symbol"/>
              </a:rPr>
              <a:t> </a:t>
            </a:r>
            <a:r>
              <a:rPr lang="en-ZA" sz="2200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&lt; </a:t>
            </a:r>
            <a:r>
              <a:rPr lang="en-ZA" sz="2200" dirty="0">
                <a:solidFill>
                  <a:srgbClr val="000000"/>
                </a:solidFill>
                <a:latin typeface="Times New Roman" pitchFamily="18" charset="0"/>
                <a:sym typeface="Symbol"/>
              </a:rPr>
              <a:t>0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ZA" sz="2200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0-x moves </a:t>
            </a:r>
            <a:r>
              <a:rPr lang="en-ZA" sz="2200" i="1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</a:t>
            </a:r>
            <a:r>
              <a:rPr lang="en-ZA" sz="2200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 to </a:t>
            </a:r>
            <a:r>
              <a:rPr lang="en-ZA" sz="2200" b="1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left</a:t>
            </a:r>
            <a:endParaRPr lang="en-ZA" sz="2200" b="1" dirty="0">
              <a:solidFill>
                <a:srgbClr val="000000"/>
              </a:solidFill>
              <a:latin typeface="Times New Roman" pitchFamily="18" charset="0"/>
              <a:sym typeface="Symbol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5697408" y="4850195"/>
            <a:ext cx="3330684" cy="1785104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r>
              <a:rPr lang="en-ZA" sz="2200" i="1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v</a:t>
            </a:r>
            <a:r>
              <a:rPr lang="en-ZA" sz="2200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(</a:t>
            </a:r>
            <a:r>
              <a:rPr lang="en-ZA" sz="2200" i="1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t</a:t>
            </a:r>
            <a:r>
              <a:rPr lang="en-ZA" sz="2200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) = 0 if </a:t>
            </a:r>
            <a:r>
              <a:rPr lang="en-ZA" sz="2200" i="1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t</a:t>
            </a:r>
            <a:r>
              <a:rPr lang="en-ZA" sz="2200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+</a:t>
            </a:r>
            <a:r>
              <a:rPr lang="en-ZA" sz="2200" i="1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</a:t>
            </a:r>
            <a:r>
              <a:rPr lang="en-ZA" sz="2200" dirty="0">
                <a:solidFill>
                  <a:srgbClr val="000000"/>
                </a:solidFill>
                <a:latin typeface="Times New Roman" pitchFamily="18" charset="0"/>
                <a:sym typeface="Symbol"/>
              </a:rPr>
              <a:t> </a:t>
            </a:r>
            <a:r>
              <a:rPr lang="en-ZA" sz="2200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 = 0</a:t>
            </a:r>
          </a:p>
          <a:p>
            <a:r>
              <a:rPr lang="en-ZA" sz="2200" dirty="0">
                <a:solidFill>
                  <a:srgbClr val="000000"/>
                </a:solidFill>
                <a:latin typeface="Times New Roman" pitchFamily="18" charset="0"/>
                <a:sym typeface="Symbol"/>
              </a:rPr>
              <a:t></a:t>
            </a:r>
            <a:r>
              <a:rPr lang="en-ZA" sz="2200" i="1" dirty="0">
                <a:solidFill>
                  <a:srgbClr val="000000"/>
                </a:solidFill>
                <a:latin typeface="Times New Roman" pitchFamily="18" charset="0"/>
                <a:sym typeface="Symbol"/>
              </a:rPr>
              <a:t> t </a:t>
            </a:r>
            <a:r>
              <a:rPr lang="en-ZA" sz="2200" dirty="0">
                <a:solidFill>
                  <a:srgbClr val="000000"/>
                </a:solidFill>
                <a:latin typeface="Times New Roman" pitchFamily="18" charset="0"/>
                <a:sym typeface="Symbol"/>
              </a:rPr>
              <a:t>= </a:t>
            </a:r>
            <a:r>
              <a:rPr lang="en-ZA" sz="2200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–</a:t>
            </a:r>
            <a:r>
              <a:rPr lang="en-ZA" sz="2200" i="1" dirty="0">
                <a:solidFill>
                  <a:srgbClr val="000000"/>
                </a:solidFill>
                <a:latin typeface="Times New Roman" pitchFamily="18" charset="0"/>
                <a:sym typeface="Symbol"/>
              </a:rPr>
              <a:t></a:t>
            </a:r>
            <a:endParaRPr lang="en-ZA" sz="2200" dirty="0">
              <a:solidFill>
                <a:srgbClr val="000000"/>
              </a:solidFill>
              <a:latin typeface="Times New Roman" pitchFamily="18" charset="0"/>
              <a:sym typeface="Symbol"/>
            </a:endParaRPr>
          </a:p>
          <a:p>
            <a:r>
              <a:rPr lang="en-ZA" sz="2200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But </a:t>
            </a:r>
            <a:r>
              <a:rPr lang="en-ZA" sz="2200" i="1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</a:t>
            </a:r>
            <a:r>
              <a:rPr lang="en-ZA" sz="2200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  &lt; 0 </a:t>
            </a:r>
            <a:r>
              <a:rPr lang="en-ZA" sz="2200" i="1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 </a:t>
            </a:r>
            <a:r>
              <a:rPr lang="en-ZA" sz="2200" i="1" dirty="0">
                <a:solidFill>
                  <a:srgbClr val="000000"/>
                </a:solidFill>
                <a:latin typeface="Times New Roman" pitchFamily="18" charset="0"/>
                <a:sym typeface="Symbol"/>
              </a:rPr>
              <a:t></a:t>
            </a:r>
            <a:r>
              <a:rPr lang="en-ZA" sz="2200" i="1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t </a:t>
            </a:r>
            <a:r>
              <a:rPr lang="en-ZA" sz="2200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= positive</a:t>
            </a:r>
          </a:p>
          <a:p>
            <a:r>
              <a:rPr lang="en-ZA" sz="2200" dirty="0">
                <a:solidFill>
                  <a:srgbClr val="000000"/>
                </a:solidFill>
                <a:latin typeface="Times New Roman" pitchFamily="18" charset="0"/>
                <a:sym typeface="Symbol"/>
              </a:rPr>
              <a:t> </a:t>
            </a:r>
            <a:r>
              <a:rPr lang="en-ZA" sz="2200" i="1" dirty="0">
                <a:solidFill>
                  <a:srgbClr val="000000"/>
                </a:solidFill>
                <a:latin typeface="Times New Roman" pitchFamily="18" charset="0"/>
                <a:sym typeface="Symbol"/>
              </a:rPr>
              <a:t>v</a:t>
            </a:r>
            <a:r>
              <a:rPr lang="en-ZA" sz="2200" dirty="0">
                <a:solidFill>
                  <a:srgbClr val="000000"/>
                </a:solidFill>
                <a:latin typeface="Times New Roman" pitchFamily="18" charset="0"/>
                <a:sym typeface="Symbol"/>
              </a:rPr>
              <a:t>(</a:t>
            </a:r>
            <a:r>
              <a:rPr lang="en-ZA" sz="2200" i="1" dirty="0">
                <a:solidFill>
                  <a:srgbClr val="000000"/>
                </a:solidFill>
                <a:latin typeface="Times New Roman" pitchFamily="18" charset="0"/>
                <a:sym typeface="Symbol"/>
              </a:rPr>
              <a:t>t</a:t>
            </a:r>
            <a:r>
              <a:rPr lang="en-ZA" sz="2200" dirty="0">
                <a:solidFill>
                  <a:srgbClr val="000000"/>
                </a:solidFill>
                <a:latin typeface="Times New Roman" pitchFamily="18" charset="0"/>
                <a:sym typeface="Symbol"/>
              </a:rPr>
              <a:t>) = 0 when </a:t>
            </a:r>
            <a:r>
              <a:rPr lang="en-ZA" sz="2200" i="1" dirty="0">
                <a:solidFill>
                  <a:srgbClr val="000000"/>
                </a:solidFill>
                <a:latin typeface="Times New Roman" pitchFamily="18" charset="0"/>
                <a:sym typeface="Symbol"/>
              </a:rPr>
              <a:t>t</a:t>
            </a:r>
            <a:r>
              <a:rPr lang="en-ZA" sz="2200" dirty="0">
                <a:solidFill>
                  <a:srgbClr val="000000"/>
                </a:solidFill>
                <a:latin typeface="Times New Roman" pitchFamily="18" charset="0"/>
                <a:sym typeface="Symbol"/>
              </a:rPr>
              <a:t> &gt;</a:t>
            </a:r>
            <a:r>
              <a:rPr lang="en-ZA" sz="2200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 0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ZA" sz="2200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0-x moves </a:t>
            </a:r>
            <a:r>
              <a:rPr lang="en-ZA" sz="2200" i="1" dirty="0">
                <a:solidFill>
                  <a:srgbClr val="000000"/>
                </a:solidFill>
                <a:latin typeface="Times New Roman" pitchFamily="18" charset="0"/>
                <a:sym typeface="Symbol"/>
              </a:rPr>
              <a:t></a:t>
            </a:r>
            <a:r>
              <a:rPr lang="en-ZA" sz="2200" dirty="0">
                <a:solidFill>
                  <a:srgbClr val="000000"/>
                </a:solidFill>
                <a:latin typeface="Times New Roman" pitchFamily="18" charset="0"/>
                <a:sym typeface="Symbol"/>
              </a:rPr>
              <a:t> to </a:t>
            </a:r>
            <a:r>
              <a:rPr lang="en-ZA" sz="2200" b="1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right</a:t>
            </a:r>
            <a:endParaRPr lang="en-ZA" sz="2200" b="1" dirty="0">
              <a:solidFill>
                <a:srgbClr val="000000"/>
              </a:solidFill>
              <a:latin typeface="Times New Roman" pitchFamily="18" charset="0"/>
              <a:sym typeface="Symbol"/>
            </a:endParaRPr>
          </a:p>
        </p:txBody>
      </p:sp>
      <p:grpSp>
        <p:nvGrpSpPr>
          <p:cNvPr id="76" name="Group 75"/>
          <p:cNvGrpSpPr/>
          <p:nvPr/>
        </p:nvGrpSpPr>
        <p:grpSpPr>
          <a:xfrm>
            <a:off x="1680113" y="1500948"/>
            <a:ext cx="432220" cy="1027628"/>
            <a:chOff x="1680113" y="1500948"/>
            <a:chExt cx="432220" cy="1027628"/>
          </a:xfrm>
        </p:grpSpPr>
        <p:grpSp>
          <p:nvGrpSpPr>
            <p:cNvPr id="60" name="Group 59"/>
            <p:cNvGrpSpPr/>
            <p:nvPr/>
          </p:nvGrpSpPr>
          <p:grpSpPr>
            <a:xfrm>
              <a:off x="1680113" y="1547813"/>
              <a:ext cx="397261" cy="980763"/>
              <a:chOff x="1680113" y="1547813"/>
              <a:chExt cx="397261" cy="980763"/>
            </a:xfrm>
          </p:grpSpPr>
          <p:cxnSp>
            <p:nvCxnSpPr>
              <p:cNvPr id="53" name="Straight Arrow Connector 52"/>
              <p:cNvCxnSpPr/>
              <p:nvPr/>
            </p:nvCxnSpPr>
            <p:spPr bwMode="auto">
              <a:xfrm>
                <a:off x="1680113" y="2220157"/>
                <a:ext cx="397261" cy="0"/>
              </a:xfrm>
              <a:prstGeom prst="straightConnector1">
                <a:avLst/>
              </a:prstGeom>
              <a:ln w="19050">
                <a:solidFill>
                  <a:srgbClr val="FF0000"/>
                </a:solidFill>
                <a:headEnd type="arrow"/>
                <a:tailEnd type="arrow"/>
              </a:ln>
              <a:extLst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/>
              <p:cNvCxnSpPr/>
              <p:nvPr/>
            </p:nvCxnSpPr>
            <p:spPr bwMode="auto">
              <a:xfrm>
                <a:off x="2071565" y="1547813"/>
                <a:ext cx="0" cy="714375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55" name="Rectangle 54"/>
              <p:cNvSpPr/>
              <p:nvPr/>
            </p:nvSpPr>
            <p:spPr>
              <a:xfrm>
                <a:off x="1778602" y="2159244"/>
                <a:ext cx="160300" cy="369332"/>
              </a:xfrm>
              <a:prstGeom prst="rect">
                <a:avLst/>
              </a:prstGeom>
            </p:spPr>
            <p:txBody>
              <a:bodyPr wrap="none" lIns="0" tIns="0" rIns="0" bIns="0">
                <a:spAutoFit/>
              </a:bodyPr>
              <a:lstStyle/>
              <a:p>
                <a:pPr algn="ctr"/>
                <a:r>
                  <a:rPr lang="en-ZA" sz="2400" i="1" dirty="0" smtClean="0">
                    <a:solidFill>
                      <a:srgbClr val="000000"/>
                    </a:solidFill>
                    <a:latin typeface="Times New Roman" pitchFamily="18" charset="0"/>
                    <a:sym typeface="Symbol"/>
                  </a:rPr>
                  <a:t></a:t>
                </a:r>
              </a:p>
            </p:txBody>
          </p:sp>
        </p:grpSp>
        <p:sp>
          <p:nvSpPr>
            <p:cNvPr id="61" name="Oval 60"/>
            <p:cNvSpPr/>
            <p:nvPr/>
          </p:nvSpPr>
          <p:spPr bwMode="auto">
            <a:xfrm>
              <a:off x="2028128" y="1500948"/>
              <a:ext cx="84205" cy="84205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45720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ZA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Times New Roman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019294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44" grpId="0" animBg="1"/>
      <p:bldP spid="45" grpId="0" animBg="1"/>
      <p:bldP spid="4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DBEB72-C004-46D1-9992-458CC43F3DD8}" type="slidenum">
              <a:rPr lang="en-US" smtClean="0"/>
              <a:pPr/>
              <a:t>12</a:t>
            </a:fld>
            <a:endParaRPr lang="en-US"/>
          </a:p>
        </p:txBody>
      </p:sp>
      <p:pic>
        <p:nvPicPr>
          <p:cNvPr id="35430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4459" y="1173349"/>
            <a:ext cx="5321300" cy="8480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442913" y="103188"/>
            <a:ext cx="8243887" cy="1236215"/>
          </a:xfrm>
          <a:prstGeom prst="rect">
            <a:avLst/>
          </a:prstGeom>
        </p:spPr>
        <p:txBody>
          <a:bodyPr anchor="t"/>
          <a:lstStyle>
            <a:lvl1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2pPr>
            <a:lvl3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3pPr>
            <a:lvl4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4pPr>
            <a:lvl5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5pPr>
            <a:lvl6pPr marL="4572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6pPr>
            <a:lvl7pPr marL="9144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7pPr>
            <a:lvl8pPr marL="13716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8pPr>
            <a:lvl9pPr marL="18288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9pPr>
          </a:lstStyle>
          <a:p>
            <a:r>
              <a:rPr lang="en-US" sz="3200" dirty="0" smtClean="0"/>
              <a:t>9.2 Sinusoids</a:t>
            </a:r>
          </a:p>
          <a:p>
            <a:r>
              <a:rPr lang="en-US" sz="4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Trigonometric identities: Special Cases</a:t>
            </a:r>
            <a:endParaRPr lang="en-US" sz="4000" i="1" dirty="0">
              <a:latin typeface="Times New Roman" pitchFamily="18" charset="0"/>
              <a:cs typeface="Times New Roman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336550" y="2307679"/>
                <a:ext cx="4022383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ZA" sz="2400" i="1" smtClean="0">
                              <a:latin typeface="Cambria Math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ZA" sz="2400" i="0" smtClean="0">
                              <a:latin typeface="Cambria Math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ZA" sz="2400" i="1" smtClean="0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ZA" sz="2400" i="1" smtClean="0">
                                  <a:latin typeface="Cambria Math"/>
                                  <a:ea typeface="Cambria Math"/>
                                </a:rPr>
                                <m:t>𝜔</m:t>
                              </m:r>
                              <m:r>
                                <a:rPr lang="en-ZA" sz="2400" b="0" i="1" smtClean="0">
                                  <a:latin typeface="Cambria Math"/>
                                  <a:ea typeface="Cambria Math"/>
                                </a:rPr>
                                <m:t>𝑡</m:t>
                              </m:r>
                              <m:r>
                                <a:rPr lang="en-ZA" sz="2400" b="0" i="1" smtClean="0">
                                  <a:latin typeface="Cambria Math"/>
                                  <a:ea typeface="Cambria Math"/>
                                </a:rPr>
                                <m:t>±180°</m:t>
                              </m:r>
                            </m:e>
                          </m:d>
                        </m:e>
                      </m:func>
                      <m:r>
                        <a:rPr lang="en-ZA" sz="2400" i="1">
                          <a:latin typeface="Cambria Math"/>
                        </a:rPr>
                        <m:t>=−</m:t>
                      </m:r>
                      <m:func>
                        <m:funcPr>
                          <m:ctrlPr>
                            <a:rPr lang="en-ZA" sz="2400" i="1">
                              <a:latin typeface="Cambria Math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ZA" sz="2400">
                              <a:latin typeface="Cambria Math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ZA" sz="2400" i="1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ZA" sz="2400" i="1">
                                  <a:latin typeface="Cambria Math"/>
                                  <a:ea typeface="Cambria Math"/>
                                </a:rPr>
                                <m:t>𝜔</m:t>
                              </m:r>
                              <m:r>
                                <a:rPr lang="en-ZA" sz="2400" b="0" i="1" smtClean="0">
                                  <a:latin typeface="Cambria Math"/>
                                  <a:ea typeface="Cambria Math"/>
                                </a:rPr>
                                <m:t>𝑡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ZA" sz="2400" dirty="0" smtClean="0">
                  <a:ea typeface="Cambria Math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ZA" sz="2400" i="1" smtClean="0">
                              <a:latin typeface="Cambria Math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ZA" sz="2400" i="0" smtClean="0">
                              <a:latin typeface="Cambria Math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ZA" sz="2400" i="1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ZA" sz="2400" i="1">
                                  <a:latin typeface="Cambria Math"/>
                                  <a:ea typeface="Cambria Math"/>
                                </a:rPr>
                                <m:t>𝜔</m:t>
                              </m:r>
                              <m:r>
                                <a:rPr lang="en-ZA" sz="2400" i="1">
                                  <a:latin typeface="Cambria Math"/>
                                  <a:ea typeface="Cambria Math"/>
                                </a:rPr>
                                <m:t>𝑡</m:t>
                              </m:r>
                              <m:r>
                                <a:rPr lang="en-ZA" sz="2400" i="1">
                                  <a:latin typeface="Cambria Math"/>
                                  <a:ea typeface="Cambria Math"/>
                                </a:rPr>
                                <m:t>±180°</m:t>
                              </m:r>
                            </m:e>
                          </m:d>
                        </m:e>
                      </m:func>
                      <m:r>
                        <a:rPr lang="en-ZA" sz="2400" b="0" i="1" smtClean="0">
                          <a:latin typeface="Cambria Math"/>
                        </a:rPr>
                        <m:t>=−</m:t>
                      </m:r>
                      <m:func>
                        <m:funcPr>
                          <m:ctrlPr>
                            <a:rPr lang="en-ZA" sz="2400" b="0" i="1" smtClean="0">
                              <a:latin typeface="Cambria Math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ZA" sz="2400" b="0" i="0" smtClean="0">
                              <a:latin typeface="Cambria Math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ZA" sz="2400" i="1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ZA" sz="2400" i="1">
                                  <a:latin typeface="Cambria Math"/>
                                  <a:ea typeface="Cambria Math"/>
                                </a:rPr>
                                <m:t>𝜔</m:t>
                              </m:r>
                              <m:r>
                                <a:rPr lang="en-ZA" sz="2400" i="1">
                                  <a:latin typeface="Cambria Math"/>
                                  <a:ea typeface="Cambria Math"/>
                                </a:rPr>
                                <m:t>𝑡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ZA" sz="2400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6550" y="2307679"/>
                <a:ext cx="4022383" cy="1200329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/>
          <p:cNvSpPr/>
          <p:nvPr/>
        </p:nvSpPr>
        <p:spPr>
          <a:xfrm>
            <a:off x="1236531" y="2059513"/>
            <a:ext cx="892873" cy="492443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algn="ctr"/>
            <a:r>
              <a:rPr lang="en-ZA" sz="3200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b =</a:t>
            </a:r>
            <a:r>
              <a:rPr lang="en-ZA" sz="3200" b="1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 </a:t>
            </a:r>
          </a:p>
        </p:txBody>
      </p:sp>
      <p:sp>
        <p:nvSpPr>
          <p:cNvPr id="8" name="Rectangle 7"/>
          <p:cNvSpPr/>
          <p:nvPr/>
        </p:nvSpPr>
        <p:spPr>
          <a:xfrm>
            <a:off x="944025" y="3711208"/>
            <a:ext cx="1186222" cy="492443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algn="ctr"/>
            <a:r>
              <a:rPr lang="en-ZA" sz="3200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b = </a:t>
            </a:r>
            <a:r>
              <a:rPr lang="en-ZA" sz="3200" b="1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/2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336550" y="3992960"/>
                <a:ext cx="3852465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ZA" sz="2400" i="1" smtClean="0">
                              <a:latin typeface="Cambria Math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ZA" sz="2400" i="0" smtClean="0">
                              <a:latin typeface="Cambria Math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ZA" sz="2400" i="1" smtClean="0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ZA" sz="2400" i="1" smtClean="0">
                                  <a:latin typeface="Cambria Math"/>
                                  <a:ea typeface="Cambria Math"/>
                                </a:rPr>
                                <m:t>𝜔</m:t>
                              </m:r>
                              <m:r>
                                <a:rPr lang="en-ZA" sz="2400" b="0" i="1" smtClean="0">
                                  <a:latin typeface="Cambria Math"/>
                                  <a:ea typeface="Cambria Math"/>
                                </a:rPr>
                                <m:t>𝑡</m:t>
                              </m:r>
                              <m:r>
                                <a:rPr lang="en-ZA" sz="2400" b="0" i="1" smtClean="0">
                                  <a:latin typeface="Cambria Math"/>
                                  <a:ea typeface="Cambria Math"/>
                                </a:rPr>
                                <m:t>±90°</m:t>
                              </m:r>
                            </m:e>
                          </m:d>
                        </m:e>
                      </m:func>
                      <m:r>
                        <a:rPr lang="en-ZA" sz="2400" i="1">
                          <a:latin typeface="Cambria Math"/>
                        </a:rPr>
                        <m:t>=</m:t>
                      </m:r>
                      <m:r>
                        <a:rPr lang="en-ZA" sz="2400" i="1">
                          <a:latin typeface="Cambria Math"/>
                          <a:ea typeface="Cambria Math"/>
                        </a:rPr>
                        <m:t>±</m:t>
                      </m:r>
                      <m:func>
                        <m:funcPr>
                          <m:ctrlPr>
                            <a:rPr lang="en-ZA" sz="2400" i="1">
                              <a:latin typeface="Cambria Math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ZA" sz="2400">
                              <a:latin typeface="Cambria Math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ZA" sz="2400" i="1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ZA" sz="2400" i="1">
                                  <a:latin typeface="Cambria Math"/>
                                  <a:ea typeface="Cambria Math"/>
                                </a:rPr>
                                <m:t>𝜔</m:t>
                              </m:r>
                              <m:r>
                                <a:rPr lang="en-ZA" sz="2400" i="1">
                                  <a:latin typeface="Cambria Math"/>
                                  <a:ea typeface="Cambria Math"/>
                                </a:rPr>
                                <m:t>𝑡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ZA" sz="2400" dirty="0" smtClean="0">
                  <a:ea typeface="Cambria Math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ZA" sz="2400" i="1" smtClean="0">
                              <a:latin typeface="Cambria Math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ZA" sz="2400" i="0" smtClean="0">
                              <a:latin typeface="Cambria Math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ZA" sz="2400" i="1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ZA" sz="2400" i="1">
                                  <a:latin typeface="Cambria Math"/>
                                  <a:ea typeface="Cambria Math"/>
                                </a:rPr>
                                <m:t>𝜔</m:t>
                              </m:r>
                              <m:r>
                                <a:rPr lang="en-ZA" sz="2400" i="1">
                                  <a:latin typeface="Cambria Math"/>
                                  <a:ea typeface="Cambria Math"/>
                                </a:rPr>
                                <m:t>𝑡</m:t>
                              </m:r>
                              <m:r>
                                <a:rPr lang="en-ZA" sz="2400" i="1">
                                  <a:latin typeface="Cambria Math"/>
                                  <a:ea typeface="Cambria Math"/>
                                </a:rPr>
                                <m:t>±90°</m:t>
                              </m:r>
                            </m:e>
                          </m:d>
                        </m:e>
                      </m:func>
                      <m:r>
                        <a:rPr lang="en-ZA" sz="2400" b="0" i="1" smtClean="0">
                          <a:latin typeface="Cambria Math"/>
                        </a:rPr>
                        <m:t>=</m:t>
                      </m:r>
                      <m:r>
                        <a:rPr lang="en-ZA" sz="2400" b="0" i="1" smtClean="0">
                          <a:latin typeface="Cambria Math"/>
                          <a:ea typeface="Cambria Math"/>
                        </a:rPr>
                        <m:t>∓</m:t>
                      </m:r>
                      <m:func>
                        <m:funcPr>
                          <m:ctrlPr>
                            <a:rPr lang="en-ZA" sz="2400" i="1">
                              <a:latin typeface="Cambria Math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ZA" sz="2400">
                              <a:latin typeface="Cambria Math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ZA" sz="2400" i="1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ZA" sz="2400" i="1">
                                  <a:latin typeface="Cambria Math"/>
                                  <a:ea typeface="Cambria Math"/>
                                </a:rPr>
                                <m:t>𝜔</m:t>
                              </m:r>
                              <m:r>
                                <a:rPr lang="en-ZA" sz="2400" i="1">
                                  <a:latin typeface="Cambria Math"/>
                                  <a:ea typeface="Cambria Math"/>
                                </a:rPr>
                                <m:t>𝑡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ZA" sz="2400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6550" y="3992960"/>
                <a:ext cx="3852465" cy="1200329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8" name="Group 17"/>
          <p:cNvGrpSpPr/>
          <p:nvPr/>
        </p:nvGrpSpPr>
        <p:grpSpPr>
          <a:xfrm>
            <a:off x="4349559" y="2307679"/>
            <a:ext cx="4565152" cy="1981036"/>
            <a:chOff x="4349559" y="2307679"/>
            <a:chExt cx="4565152" cy="1981036"/>
          </a:xfrm>
        </p:grpSpPr>
        <p:pic>
          <p:nvPicPr>
            <p:cNvPr id="5" name="Picture 4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965109" y="2307679"/>
              <a:ext cx="3602438" cy="1981036"/>
            </a:xfrm>
            <a:prstGeom prst="rect">
              <a:avLst/>
            </a:prstGeom>
          </p:spPr>
        </p:pic>
        <p:sp>
          <p:nvSpPr>
            <p:cNvPr id="14" name="Rectangle 13"/>
            <p:cNvSpPr/>
            <p:nvPr/>
          </p:nvSpPr>
          <p:spPr>
            <a:xfrm>
              <a:off x="6399015" y="3180087"/>
              <a:ext cx="168316" cy="369332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lang="en-ZA" sz="2400" dirty="0" smtClean="0">
                  <a:solidFill>
                    <a:srgbClr val="000000"/>
                  </a:solidFill>
                  <a:latin typeface="Times New Roman" pitchFamily="18" charset="0"/>
                  <a:sym typeface="Symbol"/>
                </a:rPr>
                <a:t>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5637191" y="3206757"/>
              <a:ext cx="347851" cy="369332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lang="en-ZA" sz="2400" dirty="0" smtClean="0">
                  <a:solidFill>
                    <a:srgbClr val="000000"/>
                  </a:solidFill>
                  <a:latin typeface="Times New Roman" pitchFamily="18" charset="0"/>
                  <a:sym typeface="Symbol"/>
                </a:rPr>
                <a:t></a:t>
              </a:r>
              <a:r>
                <a:rPr lang="en-ZA" dirty="0" smtClean="0">
                  <a:solidFill>
                    <a:srgbClr val="000000"/>
                  </a:solidFill>
                  <a:latin typeface="Times New Roman" pitchFamily="18" charset="0"/>
                  <a:sym typeface="Symbol"/>
                </a:rPr>
                <a:t>/2</a:t>
              </a:r>
            </a:p>
          </p:txBody>
        </p:sp>
        <p:sp>
          <p:nvSpPr>
            <p:cNvPr id="13" name="Rectangle 12"/>
            <p:cNvSpPr/>
            <p:nvPr/>
          </p:nvSpPr>
          <p:spPr>
            <a:xfrm rot="16200000">
              <a:off x="3942075" y="2937824"/>
              <a:ext cx="1553631" cy="73866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ZA" sz="2400" dirty="0" smtClean="0">
                  <a:solidFill>
                    <a:srgbClr val="000000"/>
                  </a:solidFill>
                  <a:latin typeface="Times New Roman" pitchFamily="18" charset="0"/>
                  <a:sym typeface="Symbol"/>
                </a:rPr>
                <a:t>sin</a:t>
              </a:r>
              <a:r>
                <a:rPr lang="en-ZA" sz="2400" dirty="0">
                  <a:solidFill>
                    <a:srgbClr val="000000"/>
                  </a:solidFill>
                  <a:latin typeface="Times New Roman" pitchFamily="18" charset="0"/>
                  <a:sym typeface="Symbol"/>
                </a:rPr>
                <a:t>(</a:t>
              </a:r>
              <a:r>
                <a:rPr lang="en-ZA" sz="2400" i="1" dirty="0">
                  <a:solidFill>
                    <a:srgbClr val="000000"/>
                  </a:solidFill>
                  <a:latin typeface="Times New Roman" pitchFamily="18" charset="0"/>
                  <a:sym typeface="Symbol"/>
                </a:rPr>
                <a:t></a:t>
              </a:r>
              <a:r>
                <a:rPr lang="en-ZA" sz="2400" i="1" dirty="0" smtClean="0">
                  <a:solidFill>
                    <a:srgbClr val="000000"/>
                  </a:solidFill>
                  <a:latin typeface="Times New Roman" pitchFamily="18" charset="0"/>
                  <a:sym typeface="Symbol"/>
                </a:rPr>
                <a:t>t</a:t>
              </a:r>
              <a:r>
                <a:rPr lang="en-ZA" sz="2400" dirty="0" smtClean="0">
                  <a:solidFill>
                    <a:srgbClr val="000000"/>
                  </a:solidFill>
                  <a:latin typeface="Times New Roman" pitchFamily="18" charset="0"/>
                  <a:sym typeface="Symbol"/>
                </a:rPr>
                <a:t>)</a:t>
              </a:r>
            </a:p>
            <a:p>
              <a:pPr algn="ctr"/>
              <a:r>
                <a:rPr lang="en-ZA" dirty="0" smtClean="0">
                  <a:solidFill>
                    <a:srgbClr val="000000"/>
                  </a:solidFill>
                  <a:latin typeface="Times New Roman" pitchFamily="18" charset="0"/>
                  <a:sym typeface="Symbol"/>
                </a:rPr>
                <a:t>= </a:t>
              </a:r>
              <a:r>
                <a:rPr lang="en-ZA" dirty="0" err="1" smtClean="0">
                  <a:solidFill>
                    <a:srgbClr val="000000"/>
                  </a:solidFill>
                  <a:latin typeface="Times New Roman" pitchFamily="18" charset="0"/>
                  <a:sym typeface="Symbol"/>
                </a:rPr>
                <a:t>cos</a:t>
              </a:r>
              <a:r>
                <a:rPr lang="en-ZA" dirty="0" smtClean="0">
                  <a:solidFill>
                    <a:srgbClr val="000000"/>
                  </a:solidFill>
                  <a:latin typeface="Times New Roman" pitchFamily="18" charset="0"/>
                  <a:sym typeface="Symbol"/>
                </a:rPr>
                <a:t>(</a:t>
              </a:r>
              <a:r>
                <a:rPr lang="en-ZA" i="1" dirty="0">
                  <a:solidFill>
                    <a:srgbClr val="000000"/>
                  </a:solidFill>
                  <a:latin typeface="Times New Roman" pitchFamily="18" charset="0"/>
                  <a:sym typeface="Symbol"/>
                </a:rPr>
                <a:t></a:t>
              </a:r>
              <a:r>
                <a:rPr lang="en-ZA" i="1" dirty="0" smtClean="0">
                  <a:solidFill>
                    <a:srgbClr val="000000"/>
                  </a:solidFill>
                  <a:latin typeface="Times New Roman" pitchFamily="18" charset="0"/>
                  <a:sym typeface="Symbol"/>
                </a:rPr>
                <a:t>t –</a:t>
              </a:r>
              <a:r>
                <a:rPr lang="en-ZA" dirty="0" smtClean="0">
                  <a:solidFill>
                    <a:srgbClr val="000000"/>
                  </a:solidFill>
                  <a:latin typeface="Times New Roman" pitchFamily="18" charset="0"/>
                  <a:sym typeface="Symbol"/>
                </a:rPr>
                <a:t>90</a:t>
              </a:r>
              <a:r>
                <a:rPr lang="en-ZA" dirty="0">
                  <a:solidFill>
                    <a:srgbClr val="000000"/>
                  </a:solidFill>
                  <a:latin typeface="Times New Roman" pitchFamily="18" charset="0"/>
                  <a:sym typeface="Symbol"/>
                </a:rPr>
                <a:t></a:t>
              </a:r>
              <a:r>
                <a:rPr lang="en-ZA" dirty="0" smtClean="0">
                  <a:solidFill>
                    <a:srgbClr val="000000"/>
                  </a:solidFill>
                  <a:latin typeface="Times New Roman" pitchFamily="18" charset="0"/>
                  <a:sym typeface="Symbol"/>
                </a:rPr>
                <a:t>)</a:t>
              </a:r>
              <a:endParaRPr lang="en-ZA" dirty="0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8433489" y="2995543"/>
              <a:ext cx="481222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ZA" sz="2400" dirty="0">
                  <a:solidFill>
                    <a:srgbClr val="000000"/>
                  </a:solidFill>
                  <a:latin typeface="Times New Roman" pitchFamily="18" charset="0"/>
                  <a:sym typeface="Symbol"/>
                </a:rPr>
                <a:t>t</a:t>
              </a:r>
              <a:endParaRPr lang="en-ZA" sz="2400" dirty="0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7690047" y="3195895"/>
              <a:ext cx="283732" cy="369332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lang="en-ZA" dirty="0" smtClean="0">
                  <a:solidFill>
                    <a:srgbClr val="000000"/>
                  </a:solidFill>
                  <a:latin typeface="Times New Roman" pitchFamily="18" charset="0"/>
                  <a:sym typeface="Symbol"/>
                </a:rPr>
                <a:t>2</a:t>
              </a:r>
              <a:r>
                <a:rPr lang="en-ZA" sz="2400" dirty="0" smtClean="0">
                  <a:solidFill>
                    <a:srgbClr val="000000"/>
                  </a:solidFill>
                  <a:latin typeface="Times New Roman" pitchFamily="18" charset="0"/>
                  <a:sym typeface="Symbol"/>
                </a:rPr>
                <a:t></a:t>
              </a:r>
            </a:p>
          </p:txBody>
        </p:sp>
      </p:grpSp>
      <p:grpSp>
        <p:nvGrpSpPr>
          <p:cNvPr id="24" name="Group 23"/>
          <p:cNvGrpSpPr/>
          <p:nvPr/>
        </p:nvGrpSpPr>
        <p:grpSpPr>
          <a:xfrm>
            <a:off x="4358933" y="4203651"/>
            <a:ext cx="4589424" cy="1981036"/>
            <a:chOff x="4335372" y="4229133"/>
            <a:chExt cx="4589424" cy="1981036"/>
          </a:xfrm>
        </p:grpSpPr>
        <p:pic>
          <p:nvPicPr>
            <p:cNvPr id="11" name="Picture 10"/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965109" y="4229133"/>
              <a:ext cx="3602438" cy="1981036"/>
            </a:xfrm>
            <a:prstGeom prst="rect">
              <a:avLst/>
            </a:prstGeom>
          </p:spPr>
        </p:pic>
        <p:sp>
          <p:nvSpPr>
            <p:cNvPr id="16" name="Rectangle 15"/>
            <p:cNvSpPr/>
            <p:nvPr/>
          </p:nvSpPr>
          <p:spPr>
            <a:xfrm>
              <a:off x="6399015" y="5090419"/>
              <a:ext cx="168316" cy="369332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lang="en-ZA" sz="2400" dirty="0" smtClean="0">
                  <a:solidFill>
                    <a:srgbClr val="000000"/>
                  </a:solidFill>
                  <a:latin typeface="Times New Roman" pitchFamily="18" charset="0"/>
                  <a:sym typeface="Symbol"/>
                </a:rPr>
                <a:t>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5637191" y="5117089"/>
              <a:ext cx="347851" cy="369332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lang="en-ZA" sz="2400" dirty="0" smtClean="0">
                  <a:solidFill>
                    <a:srgbClr val="000000"/>
                  </a:solidFill>
                  <a:latin typeface="Times New Roman" pitchFamily="18" charset="0"/>
                  <a:sym typeface="Symbol"/>
                </a:rPr>
                <a:t></a:t>
              </a:r>
              <a:r>
                <a:rPr lang="en-ZA" dirty="0" smtClean="0">
                  <a:solidFill>
                    <a:srgbClr val="000000"/>
                  </a:solidFill>
                  <a:latin typeface="Times New Roman" pitchFamily="18" charset="0"/>
                  <a:sym typeface="Symbol"/>
                </a:rPr>
                <a:t>/2</a:t>
              </a:r>
            </a:p>
          </p:txBody>
        </p:sp>
        <p:sp>
          <p:nvSpPr>
            <p:cNvPr id="20" name="Rectangle 19"/>
            <p:cNvSpPr/>
            <p:nvPr/>
          </p:nvSpPr>
          <p:spPr>
            <a:xfrm>
              <a:off x="8443574" y="4949756"/>
              <a:ext cx="481222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ZA" sz="2400" dirty="0">
                  <a:solidFill>
                    <a:srgbClr val="000000"/>
                  </a:solidFill>
                  <a:latin typeface="Times New Roman" pitchFamily="18" charset="0"/>
                  <a:sym typeface="Symbol"/>
                </a:rPr>
                <a:t>t</a:t>
              </a:r>
              <a:endParaRPr lang="en-ZA" sz="2400" dirty="0"/>
            </a:p>
          </p:txBody>
        </p:sp>
        <p:sp>
          <p:nvSpPr>
            <p:cNvPr id="21" name="Rectangle 20"/>
            <p:cNvSpPr/>
            <p:nvPr/>
          </p:nvSpPr>
          <p:spPr>
            <a:xfrm rot="16200000">
              <a:off x="3927087" y="4747757"/>
              <a:ext cx="1555234" cy="73866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ZA" sz="2400" dirty="0" err="1" smtClean="0">
                  <a:solidFill>
                    <a:srgbClr val="000000"/>
                  </a:solidFill>
                  <a:latin typeface="Times New Roman" pitchFamily="18" charset="0"/>
                  <a:sym typeface="Symbol"/>
                </a:rPr>
                <a:t>cos</a:t>
              </a:r>
              <a:r>
                <a:rPr lang="en-ZA" sz="2400" dirty="0" smtClean="0">
                  <a:solidFill>
                    <a:srgbClr val="000000"/>
                  </a:solidFill>
                  <a:latin typeface="Times New Roman" pitchFamily="18" charset="0"/>
                  <a:sym typeface="Symbol"/>
                </a:rPr>
                <a:t>(</a:t>
              </a:r>
              <a:r>
                <a:rPr lang="en-ZA" sz="2400" i="1" dirty="0">
                  <a:solidFill>
                    <a:srgbClr val="000000"/>
                  </a:solidFill>
                  <a:latin typeface="Times New Roman" pitchFamily="18" charset="0"/>
                  <a:sym typeface="Symbol"/>
                </a:rPr>
                <a:t></a:t>
              </a:r>
              <a:r>
                <a:rPr lang="en-ZA" sz="2400" i="1" dirty="0" smtClean="0">
                  <a:solidFill>
                    <a:srgbClr val="000000"/>
                  </a:solidFill>
                  <a:latin typeface="Times New Roman" pitchFamily="18" charset="0"/>
                  <a:sym typeface="Symbol"/>
                </a:rPr>
                <a:t>t</a:t>
              </a:r>
              <a:r>
                <a:rPr lang="en-ZA" sz="2400" dirty="0" smtClean="0">
                  <a:solidFill>
                    <a:srgbClr val="000000"/>
                  </a:solidFill>
                  <a:latin typeface="Times New Roman" pitchFamily="18" charset="0"/>
                  <a:sym typeface="Symbol"/>
                </a:rPr>
                <a:t>)</a:t>
              </a:r>
            </a:p>
            <a:p>
              <a:pPr algn="ctr"/>
              <a:r>
                <a:rPr lang="en-ZA" dirty="0" smtClean="0">
                  <a:solidFill>
                    <a:srgbClr val="000000"/>
                  </a:solidFill>
                  <a:latin typeface="Times New Roman" pitchFamily="18" charset="0"/>
                  <a:sym typeface="Symbol"/>
                </a:rPr>
                <a:t>= sin </a:t>
              </a:r>
              <a:r>
                <a:rPr lang="en-ZA" dirty="0">
                  <a:solidFill>
                    <a:srgbClr val="000000"/>
                  </a:solidFill>
                  <a:latin typeface="Times New Roman" pitchFamily="18" charset="0"/>
                  <a:sym typeface="Symbol"/>
                </a:rPr>
                <a:t>(</a:t>
              </a:r>
              <a:r>
                <a:rPr lang="en-ZA" i="1" dirty="0">
                  <a:solidFill>
                    <a:srgbClr val="000000"/>
                  </a:solidFill>
                  <a:latin typeface="Times New Roman" pitchFamily="18" charset="0"/>
                  <a:sym typeface="Symbol"/>
                </a:rPr>
                <a:t></a:t>
              </a:r>
              <a:r>
                <a:rPr lang="en-ZA" i="1" dirty="0" smtClean="0">
                  <a:solidFill>
                    <a:srgbClr val="000000"/>
                  </a:solidFill>
                  <a:latin typeface="Times New Roman" pitchFamily="18" charset="0"/>
                  <a:sym typeface="Symbol"/>
                </a:rPr>
                <a:t>t+</a:t>
              </a:r>
              <a:r>
                <a:rPr lang="en-ZA" dirty="0" smtClean="0">
                  <a:solidFill>
                    <a:srgbClr val="000000"/>
                  </a:solidFill>
                  <a:latin typeface="Times New Roman" pitchFamily="18" charset="0"/>
                  <a:sym typeface="Symbol"/>
                </a:rPr>
                <a:t>90)</a:t>
              </a:r>
              <a:endParaRPr lang="en-ZA" dirty="0"/>
            </a:p>
          </p:txBody>
        </p:sp>
        <p:sp>
          <p:nvSpPr>
            <p:cNvPr id="23" name="Rectangle 22"/>
            <p:cNvSpPr/>
            <p:nvPr/>
          </p:nvSpPr>
          <p:spPr>
            <a:xfrm>
              <a:off x="7685686" y="5118319"/>
              <a:ext cx="283732" cy="369332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lang="en-ZA" dirty="0" smtClean="0">
                  <a:solidFill>
                    <a:srgbClr val="000000"/>
                  </a:solidFill>
                  <a:latin typeface="Times New Roman" pitchFamily="18" charset="0"/>
                  <a:sym typeface="Symbol"/>
                </a:rPr>
                <a:t>2</a:t>
              </a:r>
              <a:r>
                <a:rPr lang="en-ZA" sz="2400" dirty="0" smtClean="0">
                  <a:solidFill>
                    <a:srgbClr val="000000"/>
                  </a:solidFill>
                  <a:latin typeface="Times New Roman" pitchFamily="18" charset="0"/>
                  <a:sym typeface="Symbol"/>
                </a:rPr>
                <a:t>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592964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7" grpId="0"/>
      <p:bldP spid="8" grpId="0"/>
      <p:bldP spid="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DBEB72-C004-46D1-9992-458CC43F3DD8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270456" y="171271"/>
            <a:ext cx="8680361" cy="1200329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ZA" sz="2400" b="1" u="sng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PP 9.1</a:t>
            </a:r>
            <a:r>
              <a:rPr lang="en-ZA" sz="24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ZA" sz="2400" dirty="0">
                <a:latin typeface="Times New Roman" pitchFamily="18" charset="0"/>
                <a:cs typeface="Times New Roman" pitchFamily="18" charset="0"/>
              </a:rPr>
            </a:br>
            <a:r>
              <a:rPr lang="en-ZA" sz="2400" dirty="0" smtClean="0">
                <a:latin typeface="Times New Roman" pitchFamily="18" charset="0"/>
                <a:cs typeface="Times New Roman" pitchFamily="18" charset="0"/>
                <a:sym typeface="Symbol"/>
              </a:rPr>
              <a:t>For </a:t>
            </a:r>
            <a:r>
              <a:rPr lang="en-ZA" sz="2400" i="1" dirty="0" smtClean="0">
                <a:latin typeface="Times New Roman" pitchFamily="18" charset="0"/>
                <a:cs typeface="Times New Roman" pitchFamily="18" charset="0"/>
                <a:sym typeface="Symbol"/>
              </a:rPr>
              <a:t>f</a:t>
            </a:r>
            <a:r>
              <a:rPr lang="en-ZA" sz="2400" dirty="0" smtClean="0">
                <a:latin typeface="Times New Roman" pitchFamily="18" charset="0"/>
                <a:cs typeface="Times New Roman" pitchFamily="18" charset="0"/>
                <a:sym typeface="Symbol"/>
              </a:rPr>
              <a:t>(</a:t>
            </a:r>
            <a:r>
              <a:rPr lang="en-ZA" sz="2400" i="1" dirty="0" smtClean="0">
                <a:latin typeface="Times New Roman" pitchFamily="18" charset="0"/>
                <a:cs typeface="Times New Roman" pitchFamily="18" charset="0"/>
                <a:sym typeface="Symbol"/>
              </a:rPr>
              <a:t>t</a:t>
            </a:r>
            <a:r>
              <a:rPr lang="en-ZA" sz="2400" dirty="0" smtClean="0">
                <a:latin typeface="Times New Roman" pitchFamily="18" charset="0"/>
                <a:cs typeface="Times New Roman" pitchFamily="18" charset="0"/>
                <a:sym typeface="Symbol"/>
              </a:rPr>
              <a:t>) = 5 sin (</a:t>
            </a:r>
            <a:r>
              <a:rPr lang="en-ZA" sz="2400" dirty="0">
                <a:latin typeface="Times New Roman" pitchFamily="18" charset="0"/>
                <a:sym typeface="Symbol"/>
              </a:rPr>
              <a:t>4</a:t>
            </a:r>
            <a:r>
              <a:rPr lang="en-ZA" sz="2400" dirty="0" smtClean="0">
                <a:latin typeface="Times New Roman" pitchFamily="18" charset="0"/>
                <a:cs typeface="Times New Roman" pitchFamily="18" charset="0"/>
                <a:sym typeface="Symbol"/>
              </a:rPr>
              <a:t></a:t>
            </a:r>
            <a:r>
              <a:rPr lang="en-ZA" sz="2400" i="1" dirty="0" smtClean="0">
                <a:latin typeface="Times New Roman" pitchFamily="18" charset="0"/>
                <a:cs typeface="Times New Roman" pitchFamily="18" charset="0"/>
                <a:sym typeface="Symbol"/>
              </a:rPr>
              <a:t>t – </a:t>
            </a:r>
            <a:r>
              <a:rPr lang="en-ZA" sz="2400" dirty="0" smtClean="0">
                <a:latin typeface="Times New Roman" pitchFamily="18" charset="0"/>
                <a:cs typeface="Times New Roman" pitchFamily="18" charset="0"/>
                <a:sym typeface="Symbol"/>
              </a:rPr>
              <a:t>60)</a:t>
            </a:r>
            <a:r>
              <a:rPr lang="en-ZA" sz="2400" i="1" dirty="0" smtClean="0">
                <a:latin typeface="Times New Roman" pitchFamily="18" charset="0"/>
                <a:cs typeface="Times New Roman" pitchFamily="18" charset="0"/>
                <a:sym typeface="Symbol"/>
              </a:rPr>
              <a:t> </a:t>
            </a:r>
            <a:r>
              <a:rPr lang="en-ZA" sz="2400" dirty="0" smtClean="0">
                <a:latin typeface="Times New Roman" pitchFamily="18" charset="0"/>
                <a:cs typeface="Times New Roman" pitchFamily="18" charset="0"/>
                <a:sym typeface="Symbol"/>
              </a:rPr>
              <a:t>,  determine:</a:t>
            </a:r>
            <a:endParaRPr lang="en-ZA" sz="2400" dirty="0">
              <a:latin typeface="Times New Roman" pitchFamily="18" charset="0"/>
              <a:sym typeface="Symbol"/>
            </a:endParaRPr>
          </a:p>
          <a:p>
            <a:r>
              <a:rPr lang="en-ZA" sz="2400" dirty="0" smtClean="0">
                <a:latin typeface="Times New Roman" pitchFamily="18" charset="0"/>
                <a:cs typeface="Times New Roman" pitchFamily="18" charset="0"/>
                <a:sym typeface="Symbol"/>
              </a:rPr>
              <a:t>Amplitude;  Phase;  Angular frequency, Period and Frequency.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13712745"/>
                  </p:ext>
                </p:extLst>
              </p:nvPr>
            </p:nvGraphicFramePr>
            <p:xfrm>
              <a:off x="473699" y="1912546"/>
              <a:ext cx="7766210" cy="299154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551430"/>
                    <a:gridCol w="5214780"/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ZA" sz="2400" b="0" dirty="0" smtClean="0">
                              <a:solidFill>
                                <a:srgbClr val="000000"/>
                              </a:solidFill>
                              <a:latin typeface="Times New Roman" pitchFamily="18" charset="0"/>
                              <a:cs typeface="Times New Roman" pitchFamily="18" charset="0"/>
                              <a:sym typeface="Symbol"/>
                            </a:rPr>
                            <a:t>Amplitude</a:t>
                          </a:r>
                          <a:endParaRPr lang="en-ZA" sz="2400" b="0" dirty="0">
                            <a:solidFill>
                              <a:srgbClr val="000000"/>
                            </a:solidFill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ZA" sz="2400" b="0" dirty="0" smtClean="0">
                              <a:solidFill>
                                <a:srgbClr val="000000"/>
                              </a:solidFill>
                              <a:latin typeface="Times New Roman" pitchFamily="18" charset="0"/>
                              <a:cs typeface="Times New Roman" pitchFamily="18" charset="0"/>
                              <a:sym typeface="Symbol"/>
                            </a:rPr>
                            <a:t>5</a:t>
                          </a:r>
                          <a:endParaRPr lang="en-ZA" sz="2400" b="0" dirty="0">
                            <a:solidFill>
                              <a:srgbClr val="000000"/>
                            </a:solidFill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ZA" sz="2400" b="0" dirty="0" smtClean="0">
                              <a:solidFill>
                                <a:srgbClr val="000000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Phase</a:t>
                          </a:r>
                          <a:endParaRPr lang="en-ZA" sz="2400" b="0" dirty="0">
                            <a:solidFill>
                              <a:srgbClr val="000000"/>
                            </a:solidFill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ZA" sz="2400" i="1" dirty="0" smtClean="0">
                              <a:solidFill>
                                <a:srgbClr val="000000"/>
                              </a:solidFill>
                              <a:latin typeface="Times New Roman" pitchFamily="18" charset="0"/>
                              <a:sym typeface="Symbol"/>
                            </a:rPr>
                            <a:t>– </a:t>
                          </a:r>
                          <a:r>
                            <a:rPr lang="en-ZA" sz="2400" dirty="0" smtClean="0">
                              <a:solidFill>
                                <a:srgbClr val="000000"/>
                              </a:solidFill>
                              <a:latin typeface="Times New Roman" pitchFamily="18" charset="0"/>
                              <a:sym typeface="Symbol"/>
                            </a:rPr>
                            <a:t>60 = /3 rad </a:t>
                          </a:r>
                          <a:endParaRPr lang="en-ZA" sz="2400" b="0" dirty="0">
                            <a:solidFill>
                              <a:srgbClr val="000000"/>
                            </a:solidFill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ZA" sz="2400" b="0" dirty="0" smtClean="0">
                              <a:solidFill>
                                <a:srgbClr val="000000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Angular frequency</a:t>
                          </a:r>
                          <a:endParaRPr lang="en-ZA" sz="2400" b="0" dirty="0">
                            <a:solidFill>
                              <a:srgbClr val="000000"/>
                            </a:solidFill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ZA" sz="2400" b="0" dirty="0" smtClean="0">
                              <a:solidFill>
                                <a:srgbClr val="000000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4</a:t>
                          </a:r>
                          <a:r>
                            <a:rPr lang="en-ZA" sz="2400" b="0" dirty="0" smtClean="0">
                              <a:solidFill>
                                <a:srgbClr val="000000"/>
                              </a:solidFill>
                              <a:latin typeface="Times New Roman" pitchFamily="18" charset="0"/>
                              <a:cs typeface="Times New Roman" pitchFamily="18" charset="0"/>
                              <a:sym typeface="Symbol"/>
                            </a:rPr>
                            <a:t> rad/s</a:t>
                          </a:r>
                          <a:endParaRPr lang="en-ZA" sz="2400" b="0" dirty="0">
                            <a:solidFill>
                              <a:srgbClr val="000000"/>
                            </a:solidFill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ZA" sz="2400" b="0" dirty="0" smtClean="0">
                              <a:solidFill>
                                <a:srgbClr val="000000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Frequency</a:t>
                          </a:r>
                          <a:endParaRPr lang="en-ZA" sz="2400" b="0" dirty="0">
                            <a:solidFill>
                              <a:srgbClr val="000000"/>
                            </a:solidFill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ZA" sz="2400" b="0" i="1" smtClean="0">
                                    <a:solidFill>
                                      <a:srgbClr val="000000"/>
                                    </a:solidFill>
                                    <a:latin typeface="Cambria Math"/>
                                    <a:ea typeface="Cambria Math"/>
                                    <a:cs typeface="Times New Roman" pitchFamily="18" charset="0"/>
                                  </a:rPr>
                                  <m:t>𝜔</m:t>
                                </m:r>
                                <m:r>
                                  <a:rPr lang="en-ZA" sz="2400" b="0" i="1" smtClean="0">
                                    <a:solidFill>
                                      <a:srgbClr val="000000"/>
                                    </a:solidFill>
                                    <a:latin typeface="Cambria Math"/>
                                    <a:cs typeface="Times New Roman" pitchFamily="18" charset="0"/>
                                  </a:rPr>
                                  <m:t>=2</m:t>
                                </m:r>
                                <m:r>
                                  <a:rPr lang="en-ZA" sz="2400" b="0" i="1" smtClean="0">
                                    <a:solidFill>
                                      <a:srgbClr val="000000"/>
                                    </a:solidFill>
                                    <a:latin typeface="Cambria Math"/>
                                    <a:ea typeface="Cambria Math"/>
                                    <a:cs typeface="Times New Roman" pitchFamily="18" charset="0"/>
                                  </a:rPr>
                                  <m:t>𝜋</m:t>
                                </m:r>
                                <m:r>
                                  <a:rPr lang="en-ZA" sz="2400" b="0" i="1" smtClean="0">
                                    <a:solidFill>
                                      <a:srgbClr val="000000"/>
                                    </a:solidFill>
                                    <a:latin typeface="Cambria Math"/>
                                    <a:ea typeface="Cambria Math"/>
                                    <a:cs typeface="Times New Roman" pitchFamily="18" charset="0"/>
                                  </a:rPr>
                                  <m:t>𝑓</m:t>
                                </m:r>
                                <m:r>
                                  <a:rPr lang="en-ZA" sz="2400" b="0" i="1" smtClean="0">
                                    <a:solidFill>
                                      <a:srgbClr val="000000"/>
                                    </a:solidFill>
                                    <a:latin typeface="Cambria Math"/>
                                    <a:ea typeface="Cambria Math"/>
                                    <a:cs typeface="Times New Roman" pitchFamily="18" charset="0"/>
                                  </a:rPr>
                                  <m:t> ∴</m:t>
                                </m:r>
                                <m:r>
                                  <a:rPr lang="en-ZA" sz="2400" b="0" i="1" smtClean="0">
                                    <a:solidFill>
                                      <a:srgbClr val="000000"/>
                                    </a:solidFill>
                                    <a:latin typeface="Cambria Math"/>
                                    <a:ea typeface="Cambria Math"/>
                                    <a:cs typeface="Times New Roman" pitchFamily="18" charset="0"/>
                                  </a:rPr>
                                  <m:t>𝑓</m:t>
                                </m:r>
                                <m:r>
                                  <a:rPr lang="en-ZA" sz="2400" b="0" i="1" smtClean="0">
                                    <a:solidFill>
                                      <a:srgbClr val="000000"/>
                                    </a:solidFill>
                                    <a:latin typeface="Cambria Math"/>
                                    <a:ea typeface="Cambria Math"/>
                                    <a:cs typeface="Times New Roman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ZA" sz="2400" b="0" i="1" smtClean="0">
                                        <a:solidFill>
                                          <a:srgbClr val="000000"/>
                                        </a:solidFill>
                                        <a:latin typeface="Cambria Math"/>
                                        <a:ea typeface="Cambria Math"/>
                                        <a:cs typeface="Times New Roman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ZA" sz="2400" b="0" i="1" smtClean="0">
                                        <a:solidFill>
                                          <a:srgbClr val="000000"/>
                                        </a:solidFill>
                                        <a:latin typeface="Cambria Math"/>
                                        <a:ea typeface="Cambria Math"/>
                                        <a:cs typeface="Times New Roman" pitchFamily="18" charset="0"/>
                                      </a:rPr>
                                      <m:t>𝜔</m:t>
                                    </m:r>
                                  </m:num>
                                  <m:den>
                                    <m:r>
                                      <a:rPr lang="en-ZA" sz="2400" b="0" i="1" smtClean="0">
                                        <a:solidFill>
                                          <a:srgbClr val="000000"/>
                                        </a:solidFill>
                                        <a:latin typeface="Cambria Math"/>
                                        <a:cs typeface="Times New Roman" pitchFamily="18" charset="0"/>
                                      </a:rPr>
                                      <m:t>2</m:t>
                                    </m:r>
                                    <m:r>
                                      <a:rPr lang="en-ZA" sz="2400" b="0" i="1" smtClean="0">
                                        <a:solidFill>
                                          <a:srgbClr val="000000"/>
                                        </a:solidFill>
                                        <a:latin typeface="Cambria Math"/>
                                        <a:ea typeface="Cambria Math"/>
                                        <a:cs typeface="Times New Roman" pitchFamily="18" charset="0"/>
                                      </a:rPr>
                                      <m:t>𝜋</m:t>
                                    </m:r>
                                  </m:den>
                                </m:f>
                                <m:r>
                                  <a:rPr lang="en-ZA" sz="2400" b="0" i="1" smtClean="0">
                                    <a:solidFill>
                                      <a:srgbClr val="000000"/>
                                    </a:solidFill>
                                    <a:latin typeface="Cambria Math"/>
                                    <a:ea typeface="Cambria Math"/>
                                    <a:cs typeface="Times New Roman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ZA" sz="2400" b="0" i="1" smtClean="0">
                                        <a:solidFill>
                                          <a:srgbClr val="000000"/>
                                        </a:solidFill>
                                        <a:latin typeface="Cambria Math"/>
                                        <a:ea typeface="Cambria Math"/>
                                        <a:cs typeface="Times New Roman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ZA" sz="2400" b="0" i="1" smtClean="0">
                                        <a:solidFill>
                                          <a:srgbClr val="000000"/>
                                        </a:solidFill>
                                        <a:latin typeface="Cambria Math"/>
                                        <a:ea typeface="Cambria Math"/>
                                        <a:cs typeface="Times New Roman" pitchFamily="18" charset="0"/>
                                      </a:rPr>
                                      <m:t>4</m:t>
                                    </m:r>
                                    <m:r>
                                      <a:rPr lang="en-ZA" sz="2400" b="0" i="1" smtClean="0">
                                        <a:solidFill>
                                          <a:srgbClr val="000000"/>
                                        </a:solidFill>
                                        <a:latin typeface="Cambria Math"/>
                                        <a:ea typeface="Cambria Math"/>
                                        <a:cs typeface="Times New Roman" pitchFamily="18" charset="0"/>
                                      </a:rPr>
                                      <m:t>𝜋</m:t>
                                    </m:r>
                                  </m:num>
                                  <m:den>
                                    <m:r>
                                      <a:rPr lang="en-ZA" sz="2400" b="0" i="1" smtClean="0">
                                        <a:solidFill>
                                          <a:srgbClr val="000000"/>
                                        </a:solidFill>
                                        <a:latin typeface="Cambria Math"/>
                                        <a:cs typeface="Times New Roman" pitchFamily="18" charset="0"/>
                                      </a:rPr>
                                      <m:t>2</m:t>
                                    </m:r>
                                    <m:r>
                                      <a:rPr lang="en-ZA" sz="2400" b="0" i="1" smtClean="0">
                                        <a:solidFill>
                                          <a:srgbClr val="000000"/>
                                        </a:solidFill>
                                        <a:latin typeface="Cambria Math"/>
                                        <a:ea typeface="Cambria Math"/>
                                        <a:cs typeface="Times New Roman" pitchFamily="18" charset="0"/>
                                      </a:rPr>
                                      <m:t>𝜋</m:t>
                                    </m:r>
                                  </m:den>
                                </m:f>
                                <m:r>
                                  <a:rPr lang="en-ZA" sz="2400" b="0" i="1" smtClean="0">
                                    <a:solidFill>
                                      <a:srgbClr val="000000"/>
                                    </a:solidFill>
                                    <a:latin typeface="Cambria Math"/>
                                    <a:ea typeface="Cambria Math"/>
                                    <a:cs typeface="Times New Roman" pitchFamily="18" charset="0"/>
                                  </a:rPr>
                                  <m:t>=2</m:t>
                                </m:r>
                                <m:r>
                                  <a:rPr lang="en-ZA" sz="2400" b="0" i="0" smtClean="0">
                                    <a:solidFill>
                                      <a:srgbClr val="000000"/>
                                    </a:solidFill>
                                    <a:latin typeface="Cambria Math"/>
                                    <a:ea typeface="Cambria Math"/>
                                    <a:cs typeface="Times New Roman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ZA" sz="2400" b="0" i="0" smtClean="0">
                                    <a:solidFill>
                                      <a:srgbClr val="000000"/>
                                    </a:solidFill>
                                    <a:latin typeface="Cambria Math"/>
                                    <a:ea typeface="Cambria Math"/>
                                    <a:cs typeface="Times New Roman" pitchFamily="18" charset="0"/>
                                  </a:rPr>
                                  <m:t>Hz</m:t>
                                </m:r>
                              </m:oMath>
                            </m:oMathPara>
                          </a14:m>
                          <a:endParaRPr lang="en-ZA" sz="2400" b="0" i="0" dirty="0">
                            <a:solidFill>
                              <a:srgbClr val="000000"/>
                            </a:solidFill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ZA" sz="2400" b="0" dirty="0" smtClean="0">
                              <a:solidFill>
                                <a:srgbClr val="000000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Period</a:t>
                          </a:r>
                          <a:endParaRPr lang="en-ZA" sz="2400" b="0" dirty="0">
                            <a:solidFill>
                              <a:srgbClr val="000000"/>
                            </a:solidFill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ZA" sz="2400" b="0" i="1" smtClean="0">
                                    <a:solidFill>
                                      <a:srgbClr val="000000"/>
                                    </a:solidFill>
                                    <a:latin typeface="Cambria Math"/>
                                    <a:cs typeface="Times New Roman" pitchFamily="18" charset="0"/>
                                  </a:rPr>
                                  <m:t>𝑇</m:t>
                                </m:r>
                                <m:r>
                                  <a:rPr lang="en-ZA" sz="2400" b="0" i="1" smtClean="0">
                                    <a:solidFill>
                                      <a:srgbClr val="000000"/>
                                    </a:solidFill>
                                    <a:latin typeface="Cambria Math"/>
                                    <a:cs typeface="Times New Roman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ZA" sz="2400" b="0" i="1" smtClean="0">
                                        <a:solidFill>
                                          <a:srgbClr val="000000"/>
                                        </a:solidFill>
                                        <a:latin typeface="Cambria Math"/>
                                        <a:cs typeface="Times New Roman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ZA" sz="2400" b="0" i="1" smtClean="0">
                                        <a:solidFill>
                                          <a:srgbClr val="000000"/>
                                        </a:solidFill>
                                        <a:latin typeface="Cambria Math"/>
                                        <a:cs typeface="Times New Roman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ZA" sz="2400" b="0" i="1" smtClean="0">
                                        <a:solidFill>
                                          <a:srgbClr val="000000"/>
                                        </a:solidFill>
                                        <a:latin typeface="Cambria Math"/>
                                        <a:cs typeface="Times New Roman" pitchFamily="18" charset="0"/>
                                      </a:rPr>
                                      <m:t>𝑓</m:t>
                                    </m:r>
                                  </m:den>
                                </m:f>
                                <m:r>
                                  <a:rPr lang="en-ZA" sz="2400" b="0" i="1" smtClean="0">
                                    <a:solidFill>
                                      <a:srgbClr val="000000"/>
                                    </a:solidFill>
                                    <a:latin typeface="Cambria Math"/>
                                    <a:ea typeface="Cambria Math"/>
                                    <a:cs typeface="Times New Roman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ZA" sz="2400" b="0" i="1" smtClean="0">
                                        <a:solidFill>
                                          <a:srgbClr val="000000"/>
                                        </a:solidFill>
                                        <a:latin typeface="Cambria Math"/>
                                        <a:ea typeface="Cambria Math"/>
                                        <a:cs typeface="Times New Roman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ZA" sz="2400" b="0" i="1" smtClean="0">
                                        <a:solidFill>
                                          <a:srgbClr val="000000"/>
                                        </a:solidFill>
                                        <a:latin typeface="Cambria Math"/>
                                        <a:cs typeface="Times New Roman" pitchFamily="18" charset="0"/>
                                      </a:rPr>
                                      <m:t>2</m:t>
                                    </m:r>
                                    <m:r>
                                      <a:rPr lang="en-ZA" sz="2400" b="0" i="1" smtClean="0">
                                        <a:solidFill>
                                          <a:srgbClr val="000000"/>
                                        </a:solidFill>
                                        <a:latin typeface="Cambria Math"/>
                                        <a:ea typeface="Cambria Math"/>
                                        <a:cs typeface="Times New Roman" pitchFamily="18" charset="0"/>
                                      </a:rPr>
                                      <m:t>𝜋</m:t>
                                    </m:r>
                                  </m:num>
                                  <m:den>
                                    <m:r>
                                      <a:rPr lang="en-ZA" sz="2400" b="0" i="1" smtClean="0">
                                        <a:solidFill>
                                          <a:srgbClr val="000000"/>
                                        </a:solidFill>
                                        <a:latin typeface="Cambria Math"/>
                                        <a:ea typeface="Cambria Math"/>
                                        <a:cs typeface="Times New Roman" pitchFamily="18" charset="0"/>
                                      </a:rPr>
                                      <m:t>𝜔</m:t>
                                    </m:r>
                                  </m:den>
                                </m:f>
                                <m:r>
                                  <a:rPr lang="en-ZA" sz="2400" b="0" i="1" smtClean="0">
                                    <a:solidFill>
                                      <a:srgbClr val="000000"/>
                                    </a:solidFill>
                                    <a:latin typeface="Cambria Math"/>
                                    <a:cs typeface="Times New Roman" pitchFamily="18" charset="0"/>
                                  </a:rPr>
                                  <m:t>=0.5 </m:t>
                                </m:r>
                                <m:r>
                                  <m:rPr>
                                    <m:sty m:val="p"/>
                                  </m:rPr>
                                  <a:rPr lang="en-ZA" sz="2400" b="0" i="0" smtClean="0">
                                    <a:solidFill>
                                      <a:srgbClr val="000000"/>
                                    </a:solidFill>
                                    <a:latin typeface="Cambria Math"/>
                                    <a:cs typeface="Times New Roman" pitchFamily="18" charset="0"/>
                                  </a:rPr>
                                  <m:t>s</m:t>
                                </m:r>
                              </m:oMath>
                            </m:oMathPara>
                          </a14:m>
                          <a:endParaRPr lang="en-ZA" sz="2400" b="0" i="0" dirty="0">
                            <a:solidFill>
                              <a:srgbClr val="000000"/>
                            </a:solidFill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13712745"/>
                  </p:ext>
                </p:extLst>
              </p:nvPr>
            </p:nvGraphicFramePr>
            <p:xfrm>
              <a:off x="473699" y="1912546"/>
              <a:ext cx="7766210" cy="299154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551430"/>
                    <a:gridCol w="5214780"/>
                  </a:tblGrid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ZA" sz="2400" b="0" dirty="0" smtClean="0">
                              <a:solidFill>
                                <a:srgbClr val="000000"/>
                              </a:solidFill>
                              <a:latin typeface="Times New Roman" pitchFamily="18" charset="0"/>
                              <a:cs typeface="Times New Roman" pitchFamily="18" charset="0"/>
                              <a:sym typeface="Symbol"/>
                            </a:rPr>
                            <a:t>Amplitude</a:t>
                          </a:r>
                          <a:endParaRPr lang="en-ZA" sz="2400" b="0" dirty="0">
                            <a:solidFill>
                              <a:srgbClr val="000000"/>
                            </a:solidFill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ZA" sz="2400" b="0" dirty="0" smtClean="0">
                              <a:solidFill>
                                <a:srgbClr val="000000"/>
                              </a:solidFill>
                              <a:latin typeface="Times New Roman" pitchFamily="18" charset="0"/>
                              <a:cs typeface="Times New Roman" pitchFamily="18" charset="0"/>
                              <a:sym typeface="Symbol"/>
                            </a:rPr>
                            <a:t>5</a:t>
                          </a:r>
                          <a:endParaRPr lang="en-ZA" sz="2400" b="0" dirty="0">
                            <a:solidFill>
                              <a:srgbClr val="000000"/>
                            </a:solidFill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ZA" sz="2400" b="0" dirty="0" smtClean="0">
                              <a:solidFill>
                                <a:srgbClr val="000000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Phase</a:t>
                          </a:r>
                          <a:endParaRPr lang="en-ZA" sz="2400" b="0" dirty="0">
                            <a:solidFill>
                              <a:srgbClr val="000000"/>
                            </a:solidFill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ZA" sz="2400" i="1" dirty="0" smtClean="0">
                              <a:solidFill>
                                <a:srgbClr val="000000"/>
                              </a:solidFill>
                              <a:latin typeface="Times New Roman" pitchFamily="18" charset="0"/>
                              <a:sym typeface="Symbol"/>
                            </a:rPr>
                            <a:t>– </a:t>
                          </a:r>
                          <a:r>
                            <a:rPr lang="en-ZA" sz="2400" dirty="0" smtClean="0">
                              <a:solidFill>
                                <a:srgbClr val="000000"/>
                              </a:solidFill>
                              <a:latin typeface="Times New Roman" pitchFamily="18" charset="0"/>
                              <a:sym typeface="Symbol"/>
                            </a:rPr>
                            <a:t>60 = /3 rad </a:t>
                          </a:r>
                          <a:endParaRPr lang="en-ZA" sz="2400" b="0" dirty="0">
                            <a:solidFill>
                              <a:srgbClr val="000000"/>
                            </a:solidFill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ZA" sz="2400" b="0" dirty="0" smtClean="0">
                              <a:solidFill>
                                <a:srgbClr val="000000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Angular frequency</a:t>
                          </a:r>
                          <a:endParaRPr lang="en-ZA" sz="2400" b="0" dirty="0">
                            <a:solidFill>
                              <a:srgbClr val="000000"/>
                            </a:solidFill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ZA" sz="2400" b="0" dirty="0" smtClean="0">
                              <a:solidFill>
                                <a:srgbClr val="000000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4</a:t>
                          </a:r>
                          <a:r>
                            <a:rPr lang="en-ZA" sz="2400" b="0" dirty="0" smtClean="0">
                              <a:solidFill>
                                <a:srgbClr val="000000"/>
                              </a:solidFill>
                              <a:latin typeface="Times New Roman" pitchFamily="18" charset="0"/>
                              <a:cs typeface="Times New Roman" pitchFamily="18" charset="0"/>
                              <a:sym typeface="Symbol"/>
                            </a:rPr>
                            <a:t> rad/s</a:t>
                          </a:r>
                          <a:endParaRPr lang="en-ZA" sz="2400" b="0" dirty="0">
                            <a:solidFill>
                              <a:srgbClr val="000000"/>
                            </a:solidFill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</a:tr>
                  <a:tr h="777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ZA" sz="2400" b="0" dirty="0" smtClean="0">
                              <a:solidFill>
                                <a:srgbClr val="000000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Frequency</a:t>
                          </a:r>
                          <a:endParaRPr lang="en-ZA" sz="2400" b="0" dirty="0">
                            <a:solidFill>
                              <a:srgbClr val="000000"/>
                            </a:solidFill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2"/>
                          <a:stretch>
                            <a:fillRect l="-49123" t="-183465" b="-109449"/>
                          </a:stretch>
                        </a:blipFill>
                      </a:tcPr>
                    </a:tc>
                  </a:tr>
                  <a:tr h="84270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ZA" sz="2400" b="0" dirty="0" smtClean="0">
                              <a:solidFill>
                                <a:srgbClr val="000000"/>
                              </a:solidFill>
                              <a:latin typeface="Times New Roman" pitchFamily="18" charset="0"/>
                              <a:cs typeface="Times New Roman" pitchFamily="18" charset="0"/>
                            </a:rPr>
                            <a:t>Period</a:t>
                          </a:r>
                          <a:endParaRPr lang="en-ZA" sz="2400" b="0" dirty="0">
                            <a:solidFill>
                              <a:srgbClr val="000000"/>
                            </a:solidFill>
                            <a:latin typeface="Times New Roman" pitchFamily="18" charset="0"/>
                            <a:cs typeface="Times New Roman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2"/>
                          <a:stretch>
                            <a:fillRect l="-49123" t="-260870" b="-725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7" name="Rectangle 6"/>
          <p:cNvSpPr/>
          <p:nvPr/>
        </p:nvSpPr>
        <p:spPr bwMode="auto">
          <a:xfrm>
            <a:off x="3124200" y="1930400"/>
            <a:ext cx="5054600" cy="419100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Times New Roman" pitchFamily="18" charset="0"/>
            </a:endParaRPr>
          </a:p>
        </p:txBody>
      </p:sp>
      <p:sp>
        <p:nvSpPr>
          <p:cNvPr id="8" name="Rectangle 7"/>
          <p:cNvSpPr/>
          <p:nvPr/>
        </p:nvSpPr>
        <p:spPr bwMode="auto">
          <a:xfrm>
            <a:off x="3124200" y="2381250"/>
            <a:ext cx="5054600" cy="419100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Times New Roman" pitchFamily="18" charset="0"/>
            </a:endParaRPr>
          </a:p>
        </p:txBody>
      </p:sp>
      <p:sp>
        <p:nvSpPr>
          <p:cNvPr id="9" name="Rectangle 8"/>
          <p:cNvSpPr/>
          <p:nvPr/>
        </p:nvSpPr>
        <p:spPr bwMode="auto">
          <a:xfrm>
            <a:off x="3124200" y="2838450"/>
            <a:ext cx="5054600" cy="419100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Times New Roman" pitchFamily="18" charset="0"/>
            </a:endParaRPr>
          </a:p>
        </p:txBody>
      </p:sp>
      <p:sp>
        <p:nvSpPr>
          <p:cNvPr id="10" name="Rectangle 9"/>
          <p:cNvSpPr/>
          <p:nvPr/>
        </p:nvSpPr>
        <p:spPr bwMode="auto">
          <a:xfrm>
            <a:off x="3124200" y="3333750"/>
            <a:ext cx="5054600" cy="692150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Times New Roman" pitchFamily="18" charset="0"/>
            </a:endParaRPr>
          </a:p>
        </p:txBody>
      </p:sp>
      <p:sp>
        <p:nvSpPr>
          <p:cNvPr id="11" name="Rectangle 10"/>
          <p:cNvSpPr/>
          <p:nvPr/>
        </p:nvSpPr>
        <p:spPr bwMode="auto">
          <a:xfrm>
            <a:off x="3124200" y="4152900"/>
            <a:ext cx="5054600" cy="692150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90210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DBEB72-C004-46D1-9992-458CC43F3DD8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3" name="Rectangle 2"/>
          <p:cNvSpPr txBox="1">
            <a:spLocks noChangeArrowheads="1"/>
          </p:cNvSpPr>
          <p:nvPr/>
        </p:nvSpPr>
        <p:spPr>
          <a:xfrm>
            <a:off x="442913" y="103188"/>
            <a:ext cx="8243887" cy="1236215"/>
          </a:xfrm>
          <a:prstGeom prst="rect">
            <a:avLst/>
          </a:prstGeom>
        </p:spPr>
        <p:txBody>
          <a:bodyPr anchor="t"/>
          <a:lstStyle>
            <a:lvl1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2pPr>
            <a:lvl3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3pPr>
            <a:lvl4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4pPr>
            <a:lvl5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5pPr>
            <a:lvl6pPr marL="4572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6pPr>
            <a:lvl7pPr marL="9144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7pPr>
            <a:lvl8pPr marL="13716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8pPr>
            <a:lvl9pPr marL="18288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9pPr>
          </a:lstStyle>
          <a:p>
            <a:r>
              <a:rPr lang="en-US" sz="3200" dirty="0" smtClean="0"/>
              <a:t>9.2 Sinusoids</a:t>
            </a:r>
          </a:p>
          <a:p>
            <a:r>
              <a:rPr lang="en-US" sz="4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Graphical approach: Example</a:t>
            </a:r>
            <a:endParaRPr lang="en-US" sz="4000" i="1" dirty="0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24" name="Group 23"/>
          <p:cNvGrpSpPr/>
          <p:nvPr/>
        </p:nvGrpSpPr>
        <p:grpSpPr>
          <a:xfrm>
            <a:off x="1281209" y="1424821"/>
            <a:ext cx="5119188" cy="4837969"/>
            <a:chOff x="-804507" y="1961072"/>
            <a:chExt cx="2881213" cy="2722936"/>
          </a:xfrm>
        </p:grpSpPr>
        <p:cxnSp>
          <p:nvCxnSpPr>
            <p:cNvPr id="17" name="Straight Arrow Connector 16"/>
            <p:cNvCxnSpPr/>
            <p:nvPr/>
          </p:nvCxnSpPr>
          <p:spPr bwMode="auto">
            <a:xfrm flipH="1" flipV="1">
              <a:off x="636493" y="1961072"/>
              <a:ext cx="2" cy="2722936"/>
            </a:xfrm>
            <a:prstGeom prst="straightConnector1">
              <a:avLst/>
            </a:prstGeom>
            <a:ln w="28575">
              <a:solidFill>
                <a:srgbClr val="000000"/>
              </a:solidFill>
              <a:prstDash val="dash"/>
              <a:headEnd type="none" w="med" len="med"/>
              <a:tailEnd type="none" w="med" len="med"/>
            </a:ln>
            <a:extLst/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18" name="Straight Arrow Connector 17"/>
            <p:cNvCxnSpPr/>
            <p:nvPr/>
          </p:nvCxnSpPr>
          <p:spPr bwMode="auto">
            <a:xfrm>
              <a:off x="-804507" y="3717252"/>
              <a:ext cx="2881213" cy="0"/>
            </a:xfrm>
            <a:prstGeom prst="straightConnector1">
              <a:avLst/>
            </a:prstGeom>
            <a:ln w="28575">
              <a:solidFill>
                <a:srgbClr val="000000"/>
              </a:solidFill>
              <a:prstDash val="dash"/>
              <a:headEnd type="none" w="med" len="med"/>
              <a:tailEnd type="none" w="med" len="med"/>
            </a:ln>
            <a:extLst/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</p:grpSp>
      <p:grpSp>
        <p:nvGrpSpPr>
          <p:cNvPr id="40" name="Group 39"/>
          <p:cNvGrpSpPr/>
          <p:nvPr/>
        </p:nvGrpSpPr>
        <p:grpSpPr>
          <a:xfrm>
            <a:off x="3731968" y="3778923"/>
            <a:ext cx="2402520" cy="1785949"/>
            <a:chOff x="3731968" y="3778923"/>
            <a:chExt cx="2402520" cy="1785949"/>
          </a:xfrm>
        </p:grpSpPr>
        <p:sp>
          <p:nvSpPr>
            <p:cNvPr id="6" name="TextBox 5"/>
            <p:cNvSpPr txBox="1"/>
            <p:nvPr/>
          </p:nvSpPr>
          <p:spPr>
            <a:xfrm>
              <a:off x="4933227" y="4710271"/>
              <a:ext cx="412805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>
              <a:spAutoFit/>
            </a:bodyPr>
            <a:lstStyle/>
            <a:p>
              <a:r>
                <a:rPr lang="en-ZA" sz="2000" b="1" dirty="0" smtClean="0">
                  <a:solidFill>
                    <a:srgbClr val="000000"/>
                  </a:solidFill>
                  <a:latin typeface="Times New Roman" pitchFamily="18" charset="0"/>
                  <a:sym typeface="Symbol"/>
                </a:rPr>
                <a:t>30</a:t>
              </a:r>
              <a:endParaRPr lang="en-ZA" sz="2000" b="1" dirty="0">
                <a:solidFill>
                  <a:srgbClr val="000000"/>
                </a:solidFill>
                <a:latin typeface="Times New Roman" pitchFamily="18" charset="0"/>
                <a:sym typeface="Symbol"/>
              </a:endParaRPr>
            </a:p>
          </p:txBody>
        </p:sp>
        <p:cxnSp>
          <p:nvCxnSpPr>
            <p:cNvPr id="19" name="Straight Arrow Connector 18"/>
            <p:cNvCxnSpPr/>
            <p:nvPr/>
          </p:nvCxnSpPr>
          <p:spPr bwMode="auto">
            <a:xfrm rot="600000">
              <a:off x="3731968" y="4749613"/>
              <a:ext cx="2402520" cy="815259"/>
            </a:xfrm>
            <a:prstGeom prst="straightConnector1">
              <a:avLst/>
            </a:prstGeom>
            <a:solidFill>
              <a:schemeClr val="accent1"/>
            </a:solidFill>
            <a:ln w="571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arrow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6" name="Arc 15"/>
            <p:cNvSpPr/>
            <p:nvPr/>
          </p:nvSpPr>
          <p:spPr bwMode="auto">
            <a:xfrm flipV="1">
              <a:off x="4244188" y="3778923"/>
              <a:ext cx="1378079" cy="1604566"/>
            </a:xfrm>
            <a:prstGeom prst="arc">
              <a:avLst>
                <a:gd name="adj1" fmla="val 17486702"/>
                <a:gd name="adj2" fmla="val 0"/>
              </a:avLst>
            </a:prstGeom>
            <a:noFill/>
            <a:ln w="38100">
              <a:solidFill>
                <a:srgbClr val="0066CC"/>
              </a:solidFill>
              <a:headEnd type="arrow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45720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ZA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Times New Roman" pitchFamily="18" charset="0"/>
              </a:endParaRPr>
            </a:p>
          </p:txBody>
        </p:sp>
      </p:grpSp>
      <p:sp>
        <p:nvSpPr>
          <p:cNvPr id="11" name="TextBox 10"/>
          <p:cNvSpPr txBox="1"/>
          <p:nvPr/>
        </p:nvSpPr>
        <p:spPr>
          <a:xfrm>
            <a:off x="3501376" y="1117044"/>
            <a:ext cx="859665" cy="3077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r>
              <a:rPr lang="en-ZA" sz="2000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-sin</a:t>
            </a:r>
            <a:r>
              <a:rPr lang="en-ZA" sz="2000" dirty="0">
                <a:solidFill>
                  <a:srgbClr val="000000"/>
                </a:solidFill>
                <a:latin typeface="Times New Roman" pitchFamily="18" charset="0"/>
                <a:sym typeface="Symbol"/>
              </a:rPr>
              <a:t>(</a:t>
            </a:r>
            <a:r>
              <a:rPr lang="en-ZA" sz="2000" i="1" dirty="0">
                <a:solidFill>
                  <a:srgbClr val="000000"/>
                </a:solidFill>
                <a:latin typeface="Times New Roman" pitchFamily="18" charset="0"/>
                <a:sym typeface="Symbol"/>
              </a:rPr>
              <a:t>t</a:t>
            </a:r>
            <a:r>
              <a:rPr lang="en-ZA" sz="2000" dirty="0">
                <a:solidFill>
                  <a:srgbClr val="000000"/>
                </a:solidFill>
                <a:latin typeface="Times New Roman" pitchFamily="18" charset="0"/>
                <a:sym typeface="Symbol"/>
              </a:rPr>
              <a:t>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72483" y="6262790"/>
            <a:ext cx="891025" cy="3077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r>
              <a:rPr lang="en-ZA" sz="2000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sin(</a:t>
            </a:r>
            <a:r>
              <a:rPr lang="en-ZA" sz="2000" i="1" dirty="0">
                <a:solidFill>
                  <a:srgbClr val="000000"/>
                </a:solidFill>
                <a:latin typeface="Times New Roman" pitchFamily="18" charset="0"/>
                <a:sym typeface="Symbol"/>
              </a:rPr>
              <a:t>t</a:t>
            </a:r>
            <a:r>
              <a:rPr lang="en-ZA" sz="2000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)</a:t>
            </a:r>
            <a:endParaRPr lang="en-ZA" sz="2000" dirty="0">
              <a:solidFill>
                <a:srgbClr val="000000"/>
              </a:solidFill>
              <a:latin typeface="Times New Roman" pitchFamily="18" charset="0"/>
              <a:sym typeface="Symbo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088248" y="5529055"/>
            <a:ext cx="1412506" cy="3077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r>
              <a:rPr lang="en-ZA" sz="2000" dirty="0" err="1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cos</a:t>
            </a:r>
            <a:r>
              <a:rPr lang="en-ZA" sz="2000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(</a:t>
            </a:r>
            <a:r>
              <a:rPr lang="en-ZA" sz="2000" i="1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t</a:t>
            </a:r>
            <a:r>
              <a:rPr lang="en-ZA" sz="2000" dirty="0">
                <a:solidFill>
                  <a:srgbClr val="000000"/>
                </a:solidFill>
                <a:latin typeface="Times New Roman" pitchFamily="18" charset="0"/>
                <a:sym typeface="Symbol"/>
              </a:rPr>
              <a:t> </a:t>
            </a:r>
            <a:r>
              <a:rPr lang="en-ZA" sz="2000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– 30)</a:t>
            </a:r>
            <a:endParaRPr lang="en-ZA" sz="2000" dirty="0">
              <a:solidFill>
                <a:srgbClr val="000000"/>
              </a:solidFill>
              <a:latin typeface="Times New Roman" pitchFamily="18" charset="0"/>
              <a:sym typeface="Symbol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088248" y="5874810"/>
            <a:ext cx="2166752" cy="3077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r>
              <a:rPr lang="en-ZA" sz="2000" dirty="0" err="1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cos</a:t>
            </a:r>
            <a:r>
              <a:rPr lang="en-ZA" sz="2000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(</a:t>
            </a:r>
            <a:r>
              <a:rPr lang="en-ZA" sz="2000" i="1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t</a:t>
            </a:r>
            <a:r>
              <a:rPr lang="en-ZA" sz="2000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 – 90 + </a:t>
            </a:r>
            <a:r>
              <a:rPr lang="en-ZA" sz="2000" dirty="0">
                <a:solidFill>
                  <a:srgbClr val="000000"/>
                </a:solidFill>
                <a:latin typeface="Times New Roman" pitchFamily="18" charset="0"/>
                <a:sym typeface="Symbol"/>
              </a:rPr>
              <a:t>6</a:t>
            </a:r>
            <a:r>
              <a:rPr lang="en-ZA" sz="2000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0)</a:t>
            </a:r>
            <a:endParaRPr lang="en-ZA" sz="2000" dirty="0">
              <a:solidFill>
                <a:srgbClr val="000000"/>
              </a:solidFill>
              <a:latin typeface="Times New Roman" pitchFamily="18" charset="0"/>
              <a:sym typeface="Symbol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088248" y="6207987"/>
            <a:ext cx="1963552" cy="3077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r>
              <a:rPr lang="en-ZA" sz="2000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sin(</a:t>
            </a:r>
            <a:r>
              <a:rPr lang="en-ZA" sz="2000" i="1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t</a:t>
            </a:r>
            <a:r>
              <a:rPr lang="en-ZA" sz="2000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 + </a:t>
            </a:r>
            <a:r>
              <a:rPr lang="en-ZA" sz="2000" dirty="0">
                <a:solidFill>
                  <a:srgbClr val="000000"/>
                </a:solidFill>
                <a:latin typeface="Times New Roman" pitchFamily="18" charset="0"/>
                <a:sym typeface="Symbol"/>
              </a:rPr>
              <a:t>6</a:t>
            </a:r>
            <a:r>
              <a:rPr lang="en-ZA" sz="2000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0)</a:t>
            </a:r>
            <a:endParaRPr lang="en-ZA" sz="2000" dirty="0">
              <a:solidFill>
                <a:srgbClr val="000000"/>
              </a:solidFill>
              <a:latin typeface="Times New Roman" pitchFamily="18" charset="0"/>
              <a:sym typeface="Symbol"/>
            </a:endParaRPr>
          </a:p>
        </p:txBody>
      </p:sp>
      <p:cxnSp>
        <p:nvCxnSpPr>
          <p:cNvPr id="28" name="Straight Arrow Connector 27"/>
          <p:cNvCxnSpPr/>
          <p:nvPr/>
        </p:nvCxnSpPr>
        <p:spPr bwMode="auto">
          <a:xfrm flipH="1" flipV="1">
            <a:off x="3842187" y="2010254"/>
            <a:ext cx="5671" cy="2534855"/>
          </a:xfrm>
          <a:prstGeom prst="straightConnector1">
            <a:avLst/>
          </a:prstGeom>
          <a:solidFill>
            <a:schemeClr val="accent1"/>
          </a:solidFill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9" name="TextBox 28"/>
          <p:cNvSpPr txBox="1"/>
          <p:nvPr/>
        </p:nvSpPr>
        <p:spPr>
          <a:xfrm>
            <a:off x="4081630" y="1856364"/>
            <a:ext cx="1412506" cy="3077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r>
              <a:rPr lang="en-ZA" sz="2000" dirty="0" err="1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cos</a:t>
            </a:r>
            <a:r>
              <a:rPr lang="en-ZA" sz="2000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(</a:t>
            </a:r>
            <a:r>
              <a:rPr lang="en-ZA" sz="2000" i="1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t</a:t>
            </a:r>
            <a:r>
              <a:rPr lang="en-ZA" sz="2000" dirty="0">
                <a:solidFill>
                  <a:srgbClr val="000000"/>
                </a:solidFill>
                <a:latin typeface="Times New Roman" pitchFamily="18" charset="0"/>
                <a:sym typeface="Symbol"/>
              </a:rPr>
              <a:t> </a:t>
            </a:r>
            <a:r>
              <a:rPr lang="en-ZA" sz="2000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+ 90)</a:t>
            </a:r>
            <a:endParaRPr lang="en-ZA" sz="2000" dirty="0">
              <a:solidFill>
                <a:srgbClr val="000000"/>
              </a:solidFill>
              <a:latin typeface="Times New Roman" pitchFamily="18" charset="0"/>
              <a:sym typeface="Symbol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4081629" y="2206978"/>
            <a:ext cx="2408071" cy="3077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r>
              <a:rPr lang="en-ZA" sz="2000" dirty="0" err="1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cos</a:t>
            </a:r>
            <a:r>
              <a:rPr lang="en-ZA" sz="2000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(</a:t>
            </a:r>
            <a:r>
              <a:rPr lang="en-ZA" sz="2000" i="1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t</a:t>
            </a:r>
            <a:r>
              <a:rPr lang="en-ZA" sz="2000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 – 90 + 180)</a:t>
            </a:r>
            <a:endParaRPr lang="en-ZA" sz="2000" dirty="0">
              <a:solidFill>
                <a:srgbClr val="000000"/>
              </a:solidFill>
              <a:latin typeface="Times New Roman" pitchFamily="18" charset="0"/>
              <a:sym typeface="Symbol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4086578" y="2532192"/>
            <a:ext cx="1963552" cy="3077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r>
              <a:rPr lang="en-ZA" sz="2000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sin(</a:t>
            </a:r>
            <a:r>
              <a:rPr lang="en-ZA" sz="2000" i="1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t</a:t>
            </a:r>
            <a:r>
              <a:rPr lang="en-ZA" sz="2000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  + 180)</a:t>
            </a:r>
            <a:endParaRPr lang="en-ZA" sz="2000" dirty="0">
              <a:solidFill>
                <a:srgbClr val="000000"/>
              </a:solidFill>
              <a:latin typeface="Times New Roman" pitchFamily="18" charset="0"/>
              <a:sym typeface="Symbol"/>
            </a:endParaRPr>
          </a:p>
        </p:txBody>
      </p:sp>
      <p:grpSp>
        <p:nvGrpSpPr>
          <p:cNvPr id="43" name="Group 42"/>
          <p:cNvGrpSpPr/>
          <p:nvPr/>
        </p:nvGrpSpPr>
        <p:grpSpPr>
          <a:xfrm>
            <a:off x="3145955" y="3933746"/>
            <a:ext cx="1348846" cy="1262101"/>
            <a:chOff x="3057055" y="3933746"/>
            <a:chExt cx="1348846" cy="1262101"/>
          </a:xfrm>
        </p:grpSpPr>
        <p:sp>
          <p:nvSpPr>
            <p:cNvPr id="41" name="Arc 40"/>
            <p:cNvSpPr/>
            <p:nvPr/>
          </p:nvSpPr>
          <p:spPr bwMode="auto">
            <a:xfrm flipV="1">
              <a:off x="3057055" y="3933746"/>
              <a:ext cx="1348846" cy="1262101"/>
            </a:xfrm>
            <a:prstGeom prst="arc">
              <a:avLst>
                <a:gd name="adj1" fmla="val 5446510"/>
                <a:gd name="adj2" fmla="val 0"/>
              </a:avLst>
            </a:prstGeom>
            <a:noFill/>
            <a:ln w="38100">
              <a:solidFill>
                <a:srgbClr val="00B050"/>
              </a:solidFill>
              <a:headEnd type="arrow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45720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ZA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Times New Roman" pitchFamily="18" charset="0"/>
              </a:endParaRP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3252588" y="4222628"/>
              <a:ext cx="589721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>
              <a:spAutoFit/>
            </a:bodyPr>
            <a:lstStyle/>
            <a:p>
              <a:r>
                <a:rPr lang="en-ZA" sz="2000" b="1" dirty="0" smtClean="0">
                  <a:solidFill>
                    <a:srgbClr val="000000"/>
                  </a:solidFill>
                  <a:latin typeface="Times New Roman" pitchFamily="18" charset="0"/>
                  <a:sym typeface="Symbol"/>
                </a:rPr>
                <a:t>270</a:t>
              </a:r>
              <a:endParaRPr lang="en-ZA" sz="2000" b="1" dirty="0">
                <a:solidFill>
                  <a:srgbClr val="000000"/>
                </a:solidFill>
                <a:latin typeface="Times New Roman" pitchFamily="18" charset="0"/>
                <a:sym typeface="Symbol"/>
              </a:endParaRPr>
            </a:p>
          </p:txBody>
        </p:sp>
      </p:grpSp>
      <p:sp>
        <p:nvSpPr>
          <p:cNvPr id="45" name="TextBox 44"/>
          <p:cNvSpPr txBox="1"/>
          <p:nvPr/>
        </p:nvSpPr>
        <p:spPr>
          <a:xfrm>
            <a:off x="4086578" y="2832160"/>
            <a:ext cx="1963552" cy="3077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r>
              <a:rPr lang="en-ZA" sz="2000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- sin(</a:t>
            </a:r>
            <a:r>
              <a:rPr lang="en-ZA" sz="2000" i="1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t</a:t>
            </a:r>
            <a:r>
              <a:rPr lang="en-ZA" sz="2000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)</a:t>
            </a:r>
            <a:endParaRPr lang="en-ZA" sz="2000" dirty="0">
              <a:solidFill>
                <a:srgbClr val="000000"/>
              </a:solidFill>
              <a:latin typeface="Times New Roman" pitchFamily="18" charset="0"/>
              <a:sym typeface="Symbol"/>
            </a:endParaRPr>
          </a:p>
        </p:txBody>
      </p:sp>
      <p:grpSp>
        <p:nvGrpSpPr>
          <p:cNvPr id="47" name="Group 46"/>
          <p:cNvGrpSpPr/>
          <p:nvPr/>
        </p:nvGrpSpPr>
        <p:grpSpPr>
          <a:xfrm>
            <a:off x="1352452" y="3084964"/>
            <a:ext cx="2321379" cy="1267260"/>
            <a:chOff x="1352452" y="3084964"/>
            <a:chExt cx="2321379" cy="1267260"/>
          </a:xfrm>
        </p:grpSpPr>
        <p:grpSp>
          <p:nvGrpSpPr>
            <p:cNvPr id="37" name="Group 36"/>
            <p:cNvGrpSpPr/>
            <p:nvPr/>
          </p:nvGrpSpPr>
          <p:grpSpPr>
            <a:xfrm>
              <a:off x="1495372" y="3084964"/>
              <a:ext cx="2178459" cy="972183"/>
              <a:chOff x="1456644" y="2065789"/>
              <a:chExt cx="2415207" cy="972183"/>
            </a:xfrm>
          </p:grpSpPr>
          <p:sp>
            <p:nvSpPr>
              <p:cNvPr id="34" name="TextBox 33"/>
              <p:cNvSpPr txBox="1"/>
              <p:nvPr/>
            </p:nvSpPr>
            <p:spPr>
              <a:xfrm>
                <a:off x="1469344" y="2730195"/>
                <a:ext cx="1963552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ZA" sz="2000" dirty="0" smtClean="0">
                    <a:solidFill>
                      <a:srgbClr val="000000"/>
                    </a:solidFill>
                    <a:latin typeface="Times New Roman" pitchFamily="18" charset="0"/>
                    <a:sym typeface="Symbol"/>
                  </a:rPr>
                  <a:t>sin(</a:t>
                </a:r>
                <a:r>
                  <a:rPr lang="en-ZA" sz="2000" i="1" dirty="0" smtClean="0">
                    <a:solidFill>
                      <a:srgbClr val="000000"/>
                    </a:solidFill>
                    <a:latin typeface="Times New Roman" pitchFamily="18" charset="0"/>
                    <a:sym typeface="Symbol"/>
                  </a:rPr>
                  <a:t>t</a:t>
                </a:r>
                <a:r>
                  <a:rPr lang="en-ZA" sz="2000" dirty="0" smtClean="0">
                    <a:solidFill>
                      <a:srgbClr val="000000"/>
                    </a:solidFill>
                    <a:latin typeface="Times New Roman" pitchFamily="18" charset="0"/>
                    <a:sym typeface="Symbol"/>
                  </a:rPr>
                  <a:t>  – 180)</a:t>
                </a:r>
                <a:endParaRPr lang="en-ZA" sz="2000" dirty="0">
                  <a:solidFill>
                    <a:srgbClr val="000000"/>
                  </a:solidFill>
                  <a:latin typeface="Times New Roman" pitchFamily="18" charset="0"/>
                  <a:sym typeface="Symbol"/>
                </a:endParaRPr>
              </a:p>
            </p:txBody>
          </p:sp>
          <p:sp>
            <p:nvSpPr>
              <p:cNvPr id="35" name="TextBox 34"/>
              <p:cNvSpPr txBox="1"/>
              <p:nvPr/>
            </p:nvSpPr>
            <p:spPr>
              <a:xfrm>
                <a:off x="1456644" y="2065789"/>
                <a:ext cx="1717996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ZA" sz="2000" dirty="0" err="1" smtClean="0">
                    <a:solidFill>
                      <a:srgbClr val="000000"/>
                    </a:solidFill>
                    <a:latin typeface="Times New Roman" pitchFamily="18" charset="0"/>
                    <a:sym typeface="Symbol"/>
                  </a:rPr>
                  <a:t>cos</a:t>
                </a:r>
                <a:r>
                  <a:rPr lang="en-ZA" sz="2000" dirty="0" smtClean="0">
                    <a:solidFill>
                      <a:srgbClr val="000000"/>
                    </a:solidFill>
                    <a:latin typeface="Times New Roman" pitchFamily="18" charset="0"/>
                    <a:sym typeface="Symbol"/>
                  </a:rPr>
                  <a:t>(</a:t>
                </a:r>
                <a:r>
                  <a:rPr lang="en-ZA" sz="2000" i="1" dirty="0" smtClean="0">
                    <a:solidFill>
                      <a:srgbClr val="000000"/>
                    </a:solidFill>
                    <a:latin typeface="Times New Roman" pitchFamily="18" charset="0"/>
                    <a:sym typeface="Symbol"/>
                  </a:rPr>
                  <a:t>t</a:t>
                </a:r>
                <a:r>
                  <a:rPr lang="en-ZA" sz="2000" dirty="0" smtClean="0">
                    <a:solidFill>
                      <a:srgbClr val="000000"/>
                    </a:solidFill>
                    <a:latin typeface="Times New Roman" pitchFamily="18" charset="0"/>
                    <a:sym typeface="Symbol"/>
                  </a:rPr>
                  <a:t> – 270)</a:t>
                </a:r>
                <a:endParaRPr lang="en-ZA" sz="2000" dirty="0">
                  <a:solidFill>
                    <a:srgbClr val="000000"/>
                  </a:solidFill>
                  <a:latin typeface="Times New Roman" pitchFamily="18" charset="0"/>
                  <a:sym typeface="Symbol"/>
                </a:endParaRPr>
              </a:p>
            </p:txBody>
          </p:sp>
          <p:sp>
            <p:nvSpPr>
              <p:cNvPr id="36" name="TextBox 35"/>
              <p:cNvSpPr txBox="1"/>
              <p:nvPr/>
            </p:nvSpPr>
            <p:spPr>
              <a:xfrm>
                <a:off x="1463780" y="2416403"/>
                <a:ext cx="2408071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ZA" sz="2000" dirty="0" err="1" smtClean="0">
                    <a:solidFill>
                      <a:srgbClr val="000000"/>
                    </a:solidFill>
                    <a:latin typeface="Times New Roman" pitchFamily="18" charset="0"/>
                    <a:sym typeface="Symbol"/>
                  </a:rPr>
                  <a:t>cos</a:t>
                </a:r>
                <a:r>
                  <a:rPr lang="en-ZA" sz="2000" dirty="0" smtClean="0">
                    <a:solidFill>
                      <a:srgbClr val="000000"/>
                    </a:solidFill>
                    <a:latin typeface="Times New Roman" pitchFamily="18" charset="0"/>
                    <a:sym typeface="Symbol"/>
                  </a:rPr>
                  <a:t>(</a:t>
                </a:r>
                <a:r>
                  <a:rPr lang="en-ZA" sz="2000" i="1" dirty="0" smtClean="0">
                    <a:solidFill>
                      <a:srgbClr val="000000"/>
                    </a:solidFill>
                    <a:latin typeface="Times New Roman" pitchFamily="18" charset="0"/>
                    <a:sym typeface="Symbol"/>
                  </a:rPr>
                  <a:t>t</a:t>
                </a:r>
                <a:r>
                  <a:rPr lang="en-ZA" sz="2000" dirty="0" smtClean="0">
                    <a:solidFill>
                      <a:srgbClr val="000000"/>
                    </a:solidFill>
                    <a:latin typeface="Times New Roman" pitchFamily="18" charset="0"/>
                    <a:sym typeface="Symbol"/>
                  </a:rPr>
                  <a:t> – 90 </a:t>
                </a:r>
                <a:r>
                  <a:rPr lang="en-ZA" sz="2000" dirty="0">
                    <a:solidFill>
                      <a:srgbClr val="000000"/>
                    </a:solidFill>
                    <a:latin typeface="Times New Roman" pitchFamily="18" charset="0"/>
                    <a:sym typeface="Symbol"/>
                  </a:rPr>
                  <a:t>–</a:t>
                </a:r>
                <a:r>
                  <a:rPr lang="en-ZA" sz="2000" dirty="0" smtClean="0">
                    <a:solidFill>
                      <a:srgbClr val="000000"/>
                    </a:solidFill>
                    <a:latin typeface="Times New Roman" pitchFamily="18" charset="0"/>
                    <a:sym typeface="Symbol"/>
                  </a:rPr>
                  <a:t> 180)</a:t>
                </a:r>
                <a:endParaRPr lang="en-ZA" sz="2000" dirty="0">
                  <a:solidFill>
                    <a:srgbClr val="000000"/>
                  </a:solidFill>
                  <a:latin typeface="Times New Roman" pitchFamily="18" charset="0"/>
                  <a:sym typeface="Symbol"/>
                </a:endParaRPr>
              </a:p>
            </p:txBody>
          </p:sp>
        </p:grpSp>
        <p:sp>
          <p:nvSpPr>
            <p:cNvPr id="46" name="TextBox 45"/>
            <p:cNvSpPr txBox="1"/>
            <p:nvPr/>
          </p:nvSpPr>
          <p:spPr>
            <a:xfrm>
              <a:off x="1352452" y="4044447"/>
              <a:ext cx="1963552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>
              <a:spAutoFit/>
            </a:bodyPr>
            <a:lstStyle/>
            <a:p>
              <a:r>
                <a:rPr lang="en-ZA" sz="2000" dirty="0" smtClean="0">
                  <a:solidFill>
                    <a:srgbClr val="000000"/>
                  </a:solidFill>
                  <a:latin typeface="Times New Roman" pitchFamily="18" charset="0"/>
                  <a:sym typeface="Symbol"/>
                </a:rPr>
                <a:t>- sin(</a:t>
              </a:r>
              <a:r>
                <a:rPr lang="en-ZA" sz="2000" i="1" dirty="0" smtClean="0">
                  <a:solidFill>
                    <a:srgbClr val="000000"/>
                  </a:solidFill>
                  <a:latin typeface="Times New Roman" pitchFamily="18" charset="0"/>
                  <a:sym typeface="Symbol"/>
                </a:rPr>
                <a:t>t</a:t>
              </a:r>
              <a:r>
                <a:rPr lang="en-ZA" sz="2000" dirty="0" smtClean="0">
                  <a:solidFill>
                    <a:srgbClr val="000000"/>
                  </a:solidFill>
                  <a:latin typeface="Times New Roman" pitchFamily="18" charset="0"/>
                  <a:sym typeface="Symbol"/>
                </a:rPr>
                <a:t>)</a:t>
              </a:r>
              <a:endParaRPr lang="en-ZA" sz="2000" dirty="0">
                <a:solidFill>
                  <a:srgbClr val="000000"/>
                </a:solidFill>
                <a:latin typeface="Times New Roman" pitchFamily="18" charset="0"/>
                <a:sym typeface="Symbol"/>
              </a:endParaRPr>
            </a:p>
          </p:txBody>
        </p:sp>
      </p:grpSp>
      <p:grpSp>
        <p:nvGrpSpPr>
          <p:cNvPr id="32" name="Group 31"/>
          <p:cNvGrpSpPr/>
          <p:nvPr/>
        </p:nvGrpSpPr>
        <p:grpSpPr>
          <a:xfrm>
            <a:off x="6050130" y="2887017"/>
            <a:ext cx="3010694" cy="1404898"/>
            <a:chOff x="4202906" y="4974824"/>
            <a:chExt cx="3010694" cy="1404898"/>
          </a:xfrm>
        </p:grpSpPr>
        <p:sp>
          <p:nvSpPr>
            <p:cNvPr id="38" name="Arc 37"/>
            <p:cNvSpPr/>
            <p:nvPr/>
          </p:nvSpPr>
          <p:spPr bwMode="auto">
            <a:xfrm>
              <a:off x="4202906" y="5033768"/>
              <a:ext cx="476859" cy="452632"/>
            </a:xfrm>
            <a:prstGeom prst="arc">
              <a:avLst>
                <a:gd name="adj1" fmla="val 13078681"/>
                <a:gd name="adj2" fmla="val 7346264"/>
              </a:avLst>
            </a:prstGeom>
            <a:noFill/>
            <a:ln w="38100">
              <a:solidFill>
                <a:srgbClr val="0066CC"/>
              </a:solidFill>
              <a:headEnd type="triangle" w="lg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45720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ZA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Times New Roman" pitchFamily="18" charset="0"/>
              </a:endParaRP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4857334" y="4974824"/>
              <a:ext cx="2356266" cy="55399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>
              <a:spAutoFit/>
            </a:bodyPr>
            <a:lstStyle/>
            <a:p>
              <a:r>
                <a:rPr lang="en-ZA" dirty="0" smtClean="0">
                  <a:solidFill>
                    <a:srgbClr val="000000"/>
                  </a:solidFill>
                  <a:latin typeface="Times New Roman" pitchFamily="18" charset="0"/>
                  <a:sym typeface="Symbol"/>
                </a:rPr>
                <a:t>: Counter Clockwise </a:t>
              </a:r>
            </a:p>
            <a:p>
              <a:r>
                <a:rPr lang="en-ZA" dirty="0" smtClean="0">
                  <a:solidFill>
                    <a:srgbClr val="000000"/>
                  </a:solidFill>
                  <a:latin typeface="Times New Roman" pitchFamily="18" charset="0"/>
                  <a:sym typeface="Symbol"/>
                </a:rPr>
                <a:t>= positive phase shift</a:t>
              </a:r>
              <a:endParaRPr lang="en-ZA" dirty="0">
                <a:solidFill>
                  <a:srgbClr val="000000"/>
                </a:solidFill>
                <a:latin typeface="Times New Roman" pitchFamily="18" charset="0"/>
                <a:sym typeface="Symbol"/>
              </a:endParaRP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4857334" y="5825724"/>
              <a:ext cx="2356266" cy="55399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>
              <a:spAutoFit/>
            </a:bodyPr>
            <a:lstStyle/>
            <a:p>
              <a:r>
                <a:rPr lang="en-ZA" dirty="0" smtClean="0">
                  <a:solidFill>
                    <a:srgbClr val="000000"/>
                  </a:solidFill>
                  <a:latin typeface="Times New Roman" pitchFamily="18" charset="0"/>
                  <a:sym typeface="Symbol"/>
                </a:rPr>
                <a:t>: Clockwise </a:t>
              </a:r>
            </a:p>
            <a:p>
              <a:r>
                <a:rPr lang="en-ZA" dirty="0" smtClean="0">
                  <a:solidFill>
                    <a:srgbClr val="000000"/>
                  </a:solidFill>
                  <a:latin typeface="Times New Roman" pitchFamily="18" charset="0"/>
                  <a:sym typeface="Symbol"/>
                </a:rPr>
                <a:t>= negative phase shift</a:t>
              </a:r>
              <a:endParaRPr lang="en-ZA" dirty="0">
                <a:solidFill>
                  <a:srgbClr val="000000"/>
                </a:solidFill>
                <a:latin typeface="Times New Roman" pitchFamily="18" charset="0"/>
                <a:sym typeface="Symbol"/>
              </a:endParaRPr>
            </a:p>
          </p:txBody>
        </p:sp>
        <p:sp>
          <p:nvSpPr>
            <p:cNvPr id="48" name="Arc 47"/>
            <p:cNvSpPr/>
            <p:nvPr/>
          </p:nvSpPr>
          <p:spPr bwMode="auto">
            <a:xfrm flipV="1">
              <a:off x="4212661" y="5825724"/>
              <a:ext cx="476859" cy="452632"/>
            </a:xfrm>
            <a:prstGeom prst="arc">
              <a:avLst>
                <a:gd name="adj1" fmla="val 13078681"/>
                <a:gd name="adj2" fmla="val 7346264"/>
              </a:avLst>
            </a:prstGeom>
            <a:noFill/>
            <a:ln w="38100">
              <a:solidFill>
                <a:srgbClr val="0066CC"/>
              </a:solidFill>
              <a:headEnd type="triangle" w="lg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45720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ZA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Times New Roman" pitchFamily="18" charset="0"/>
              </a:endParaRPr>
            </a:p>
          </p:txBody>
        </p:sp>
      </p:grpSp>
      <p:sp>
        <p:nvSpPr>
          <p:cNvPr id="49" name="TextBox 48"/>
          <p:cNvSpPr txBox="1"/>
          <p:nvPr/>
        </p:nvSpPr>
        <p:spPr>
          <a:xfrm>
            <a:off x="309877" y="4393320"/>
            <a:ext cx="859665" cy="3077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r>
              <a:rPr lang="en-ZA" sz="2000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-</a:t>
            </a:r>
            <a:r>
              <a:rPr lang="en-ZA" sz="2000" dirty="0" err="1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cos</a:t>
            </a:r>
            <a:r>
              <a:rPr lang="en-ZA" sz="2000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(</a:t>
            </a:r>
            <a:r>
              <a:rPr lang="en-ZA" sz="2000" i="1" dirty="0">
                <a:solidFill>
                  <a:srgbClr val="000000"/>
                </a:solidFill>
                <a:latin typeface="Times New Roman" pitchFamily="18" charset="0"/>
                <a:sym typeface="Symbol"/>
              </a:rPr>
              <a:t>t</a:t>
            </a:r>
            <a:r>
              <a:rPr lang="en-ZA" sz="2000" dirty="0">
                <a:solidFill>
                  <a:srgbClr val="000000"/>
                </a:solidFill>
                <a:latin typeface="Times New Roman" pitchFamily="18" charset="0"/>
                <a:sym typeface="Symbol"/>
              </a:rPr>
              <a:t>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536744" y="4376516"/>
            <a:ext cx="859665" cy="3077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r>
              <a:rPr lang="en-ZA" sz="2000" dirty="0" err="1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cos</a:t>
            </a:r>
            <a:r>
              <a:rPr lang="en-ZA" sz="2000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(</a:t>
            </a:r>
            <a:r>
              <a:rPr lang="en-ZA" sz="2000" i="1" dirty="0">
                <a:solidFill>
                  <a:srgbClr val="000000"/>
                </a:solidFill>
                <a:latin typeface="Times New Roman" pitchFamily="18" charset="0"/>
                <a:sym typeface="Symbol"/>
              </a:rPr>
              <a:t>t</a:t>
            </a:r>
            <a:r>
              <a:rPr lang="en-ZA" sz="2000" dirty="0">
                <a:solidFill>
                  <a:srgbClr val="000000"/>
                </a:solidFill>
                <a:latin typeface="Times New Roman" pitchFamily="18" charset="0"/>
                <a:sym typeface="Symbol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8866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6" dur="2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2000"/>
                            </p:stCondLst>
                            <p:childTnLst>
                              <p:par>
                                <p:cTn id="58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26" grpId="0"/>
      <p:bldP spid="27" grpId="0"/>
      <p:bldP spid="29" grpId="0"/>
      <p:bldP spid="30" grpId="0"/>
      <p:bldP spid="31" grpId="0"/>
      <p:bldP spid="4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DBEB72-C004-46D1-9992-458CC43F3DD8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3" name="Rectangle 2"/>
          <p:cNvSpPr txBox="1">
            <a:spLocks noChangeArrowheads="1"/>
          </p:cNvSpPr>
          <p:nvPr/>
        </p:nvSpPr>
        <p:spPr>
          <a:xfrm>
            <a:off x="442913" y="103188"/>
            <a:ext cx="8243887" cy="1236215"/>
          </a:xfrm>
          <a:prstGeom prst="rect">
            <a:avLst/>
          </a:prstGeom>
        </p:spPr>
        <p:txBody>
          <a:bodyPr anchor="t"/>
          <a:lstStyle>
            <a:lvl1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2pPr>
            <a:lvl3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3pPr>
            <a:lvl4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4pPr>
            <a:lvl5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5pPr>
            <a:lvl6pPr marL="4572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6pPr>
            <a:lvl7pPr marL="9144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7pPr>
            <a:lvl8pPr marL="13716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8pPr>
            <a:lvl9pPr marL="18288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9pPr>
          </a:lstStyle>
          <a:p>
            <a:r>
              <a:rPr lang="en-US" sz="3200" dirty="0" smtClean="0"/>
              <a:t>9.2 Sinusoids</a:t>
            </a:r>
          </a:p>
          <a:p>
            <a:r>
              <a:rPr lang="en-US" sz="4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Graphical approach: Which one leads?</a:t>
            </a:r>
            <a:endParaRPr lang="en-US" sz="4000" i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3037841" y="1113134"/>
            <a:ext cx="6168676" cy="276998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lnSpc>
                <a:spcPct val="150000"/>
              </a:lnSpc>
              <a:buFont typeface="Arial" pitchFamily="34" charset="0"/>
              <a:buChar char="•"/>
            </a:pPr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Always look at </a:t>
            </a:r>
            <a:r>
              <a:rPr lang="en-ZA" sz="2400" dirty="0">
                <a:solidFill>
                  <a:srgbClr val="000000"/>
                </a:solidFill>
                <a:latin typeface="Times New Roman" pitchFamily="18" charset="0"/>
                <a:sym typeface="Symbol"/>
              </a:rPr>
              <a:t>angle &lt; 180</a:t>
            </a:r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)</a:t>
            </a:r>
          </a:p>
          <a:p>
            <a:pPr marL="342900" indent="-342900">
              <a:lnSpc>
                <a:spcPct val="150000"/>
              </a:lnSpc>
              <a:buFont typeface="Arial" pitchFamily="34" charset="0"/>
              <a:buChar char="•"/>
            </a:pPr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Remember:        = positive</a:t>
            </a:r>
          </a:p>
          <a:p>
            <a:pPr marL="342900" indent="-342900">
              <a:lnSpc>
                <a:spcPct val="150000"/>
              </a:lnSpc>
              <a:buFont typeface="Arial" pitchFamily="34" charset="0"/>
              <a:buChar char="•"/>
            </a:pPr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Vectors rotate counter clockwise, </a:t>
            </a:r>
          </a:p>
          <a:p>
            <a:pPr>
              <a:lnSpc>
                <a:spcPct val="150000"/>
              </a:lnSpc>
            </a:pPr>
            <a:r>
              <a:rPr lang="en-ZA" sz="2400" dirty="0">
                <a:solidFill>
                  <a:srgbClr val="000000"/>
                </a:solidFill>
                <a:latin typeface="Times New Roman" pitchFamily="18" charset="0"/>
                <a:sym typeface="Symbol"/>
              </a:rPr>
              <a:t> </a:t>
            </a:r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    So ask yourself: “Which one passes 0 first?”</a:t>
            </a:r>
          </a:p>
          <a:p>
            <a:pPr>
              <a:lnSpc>
                <a:spcPct val="150000"/>
              </a:lnSpc>
            </a:pPr>
            <a:r>
              <a:rPr lang="en-ZA" sz="2000" dirty="0">
                <a:solidFill>
                  <a:srgbClr val="000000"/>
                </a:solidFill>
                <a:latin typeface="Times New Roman" pitchFamily="18" charset="0"/>
                <a:sym typeface="Symbol"/>
              </a:rPr>
              <a:t> </a:t>
            </a:r>
            <a:r>
              <a:rPr lang="en-ZA" sz="2000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    (Both vectors must start in bottom two quadrants!)</a:t>
            </a:r>
            <a:endParaRPr lang="en-ZA" sz="2000" dirty="0">
              <a:solidFill>
                <a:srgbClr val="000000"/>
              </a:solidFill>
            </a:endParaRPr>
          </a:p>
        </p:txBody>
      </p:sp>
      <p:sp>
        <p:nvSpPr>
          <p:cNvPr id="45" name="Arc 44"/>
          <p:cNvSpPr/>
          <p:nvPr/>
        </p:nvSpPr>
        <p:spPr bwMode="auto">
          <a:xfrm>
            <a:off x="4811118" y="1842128"/>
            <a:ext cx="428220" cy="406464"/>
          </a:xfrm>
          <a:prstGeom prst="arc">
            <a:avLst>
              <a:gd name="adj1" fmla="val 13078681"/>
              <a:gd name="adj2" fmla="val 7346264"/>
            </a:avLst>
          </a:prstGeom>
          <a:noFill/>
          <a:ln w="38100">
            <a:solidFill>
              <a:srgbClr val="0066CC"/>
            </a:solidFill>
            <a:headEnd type="triangle" w="lg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Times New Roman" pitchFamily="18" charset="0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163513" y="1347986"/>
            <a:ext cx="2791973" cy="2502346"/>
            <a:chOff x="163513" y="1347986"/>
            <a:chExt cx="2791973" cy="2502346"/>
          </a:xfrm>
        </p:grpSpPr>
        <p:grpSp>
          <p:nvGrpSpPr>
            <p:cNvPr id="24" name="Group 23"/>
            <p:cNvGrpSpPr/>
            <p:nvPr/>
          </p:nvGrpSpPr>
          <p:grpSpPr>
            <a:xfrm>
              <a:off x="163513" y="1347986"/>
              <a:ext cx="2566649" cy="2425652"/>
              <a:chOff x="-804507" y="1961072"/>
              <a:chExt cx="2881213" cy="2722936"/>
            </a:xfrm>
          </p:grpSpPr>
          <p:cxnSp>
            <p:nvCxnSpPr>
              <p:cNvPr id="17" name="Straight Arrow Connector 16"/>
              <p:cNvCxnSpPr/>
              <p:nvPr/>
            </p:nvCxnSpPr>
            <p:spPr bwMode="auto">
              <a:xfrm flipH="1" flipV="1">
                <a:off x="636493" y="1961072"/>
                <a:ext cx="2" cy="2722936"/>
              </a:xfrm>
              <a:prstGeom prst="straightConnector1">
                <a:avLst/>
              </a:prstGeom>
              <a:ln w="28575">
                <a:solidFill>
                  <a:srgbClr val="000000"/>
                </a:solidFill>
                <a:prstDash val="dash"/>
                <a:headEnd type="none" w="med" len="med"/>
                <a:tailEnd type="none" w="med" len="med"/>
              </a:ln>
              <a:extLst/>
            </p:spPr>
            <p:style>
              <a:lnRef idx="2">
                <a:schemeClr val="accent4"/>
              </a:lnRef>
              <a:fillRef idx="0">
                <a:schemeClr val="accent4"/>
              </a:fillRef>
              <a:effectRef idx="1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18" name="Straight Arrow Connector 17"/>
              <p:cNvCxnSpPr/>
              <p:nvPr/>
            </p:nvCxnSpPr>
            <p:spPr bwMode="auto">
              <a:xfrm>
                <a:off x="-804507" y="3322540"/>
                <a:ext cx="2881213" cy="0"/>
              </a:xfrm>
              <a:prstGeom prst="straightConnector1">
                <a:avLst/>
              </a:prstGeom>
              <a:ln w="28575">
                <a:solidFill>
                  <a:srgbClr val="000000"/>
                </a:solidFill>
                <a:prstDash val="dash"/>
                <a:headEnd type="none" w="med" len="med"/>
                <a:tailEnd type="none" w="med" len="med"/>
              </a:ln>
              <a:extLst/>
            </p:spPr>
            <p:style>
              <a:lnRef idx="2">
                <a:schemeClr val="accent4"/>
              </a:lnRef>
              <a:fillRef idx="0">
                <a:schemeClr val="accent4"/>
              </a:fillRef>
              <a:effectRef idx="1">
                <a:schemeClr val="accent4"/>
              </a:effectRef>
              <a:fontRef idx="minor">
                <a:schemeClr val="tx1"/>
              </a:fontRef>
            </p:style>
          </p:cxnSp>
        </p:grpSp>
        <p:cxnSp>
          <p:nvCxnSpPr>
            <p:cNvPr id="19" name="Straight Arrow Connector 18"/>
            <p:cNvCxnSpPr/>
            <p:nvPr/>
          </p:nvCxnSpPr>
          <p:spPr bwMode="auto">
            <a:xfrm>
              <a:off x="1433402" y="2560812"/>
              <a:ext cx="611298" cy="1007888"/>
            </a:xfrm>
            <a:prstGeom prst="straightConnector1">
              <a:avLst/>
            </a:prstGeom>
            <a:solidFill>
              <a:schemeClr val="accent1"/>
            </a:solidFill>
            <a:ln w="381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arrow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8" name="Straight Arrow Connector 27"/>
            <p:cNvCxnSpPr/>
            <p:nvPr/>
          </p:nvCxnSpPr>
          <p:spPr bwMode="auto">
            <a:xfrm flipV="1">
              <a:off x="1433897" y="1600200"/>
              <a:ext cx="852103" cy="960612"/>
            </a:xfrm>
            <a:prstGeom prst="straightConnector1">
              <a:avLst/>
            </a:prstGeom>
            <a:solidFill>
              <a:schemeClr val="accent1"/>
            </a:solidFill>
            <a:ln w="381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arrow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" name="Rectangle 31"/>
            <p:cNvSpPr/>
            <p:nvPr/>
          </p:nvSpPr>
          <p:spPr>
            <a:xfrm>
              <a:off x="2286000" y="1369367"/>
              <a:ext cx="372218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ZA" sz="2400" b="1" i="1" dirty="0" smtClean="0">
                  <a:solidFill>
                    <a:srgbClr val="000000"/>
                  </a:solidFill>
                  <a:latin typeface="Times New Roman" pitchFamily="18" charset="0"/>
                  <a:sym typeface="Symbol"/>
                </a:rPr>
                <a:t>i</a:t>
              </a:r>
              <a:r>
                <a:rPr lang="en-ZA" sz="2400" b="1" i="1" baseline="-25000" dirty="0" smtClean="0">
                  <a:solidFill>
                    <a:srgbClr val="000000"/>
                  </a:solidFill>
                  <a:latin typeface="Times New Roman" pitchFamily="18" charset="0"/>
                  <a:sym typeface="Symbol"/>
                </a:rPr>
                <a:t>1</a:t>
              </a:r>
              <a:endParaRPr lang="en-ZA" sz="2400" b="1" dirty="0">
                <a:solidFill>
                  <a:srgbClr val="000000"/>
                </a:solidFill>
                <a:latin typeface="Times New Roman" pitchFamily="18" charset="0"/>
                <a:sym typeface="Symbol"/>
              </a:endParaRPr>
            </a:p>
          </p:txBody>
        </p:sp>
        <p:sp>
          <p:nvSpPr>
            <p:cNvPr id="39" name="Rectangle 38"/>
            <p:cNvSpPr/>
            <p:nvPr/>
          </p:nvSpPr>
          <p:spPr>
            <a:xfrm>
              <a:off x="2019300" y="3388667"/>
              <a:ext cx="372218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ZA" sz="2400" b="1" i="1" dirty="0" smtClean="0">
                  <a:solidFill>
                    <a:srgbClr val="000000"/>
                  </a:solidFill>
                  <a:latin typeface="Times New Roman" pitchFamily="18" charset="0"/>
                  <a:sym typeface="Symbol"/>
                </a:rPr>
                <a:t>i</a:t>
              </a:r>
              <a:r>
                <a:rPr lang="en-ZA" sz="2400" b="1" i="1" baseline="-25000" dirty="0" smtClean="0">
                  <a:solidFill>
                    <a:srgbClr val="000000"/>
                  </a:solidFill>
                  <a:latin typeface="Times New Roman" pitchFamily="18" charset="0"/>
                  <a:sym typeface="Symbol"/>
                </a:rPr>
                <a:t>2</a:t>
              </a:r>
              <a:endParaRPr lang="en-ZA" sz="2400" b="1" dirty="0">
                <a:solidFill>
                  <a:srgbClr val="000000"/>
                </a:solidFill>
                <a:latin typeface="Times New Roman" pitchFamily="18" charset="0"/>
                <a:sym typeface="Symbol"/>
              </a:endParaRP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2658218" y="2278435"/>
              <a:ext cx="297268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>
              <a:spAutoFit/>
            </a:bodyPr>
            <a:lstStyle/>
            <a:p>
              <a:r>
                <a:rPr lang="en-ZA" sz="2000" dirty="0" smtClean="0">
                  <a:solidFill>
                    <a:srgbClr val="000000"/>
                  </a:solidFill>
                  <a:latin typeface="Times New Roman" pitchFamily="18" charset="0"/>
                  <a:sym typeface="Symbol"/>
                </a:rPr>
                <a:t>0</a:t>
              </a:r>
              <a:endParaRPr lang="en-ZA" sz="2000" dirty="0">
                <a:solidFill>
                  <a:srgbClr val="000000"/>
                </a:solidFill>
                <a:latin typeface="Times New Roman" pitchFamily="18" charset="0"/>
                <a:sym typeface="Symbol"/>
              </a:endParaRPr>
            </a:p>
          </p:txBody>
        </p:sp>
      </p:grpSp>
      <p:grpSp>
        <p:nvGrpSpPr>
          <p:cNvPr id="47" name="Group 46"/>
          <p:cNvGrpSpPr/>
          <p:nvPr/>
        </p:nvGrpSpPr>
        <p:grpSpPr>
          <a:xfrm>
            <a:off x="809422" y="4058618"/>
            <a:ext cx="2791973" cy="2425652"/>
            <a:chOff x="163513" y="1347986"/>
            <a:chExt cx="2791973" cy="2425652"/>
          </a:xfrm>
        </p:grpSpPr>
        <p:grpSp>
          <p:nvGrpSpPr>
            <p:cNvPr id="48" name="Group 47"/>
            <p:cNvGrpSpPr/>
            <p:nvPr/>
          </p:nvGrpSpPr>
          <p:grpSpPr>
            <a:xfrm>
              <a:off x="163513" y="1347986"/>
              <a:ext cx="2566649" cy="2425652"/>
              <a:chOff x="-804507" y="1961072"/>
              <a:chExt cx="2881213" cy="2722936"/>
            </a:xfrm>
          </p:grpSpPr>
          <p:cxnSp>
            <p:nvCxnSpPr>
              <p:cNvPr id="54" name="Straight Arrow Connector 53"/>
              <p:cNvCxnSpPr/>
              <p:nvPr/>
            </p:nvCxnSpPr>
            <p:spPr bwMode="auto">
              <a:xfrm flipH="1" flipV="1">
                <a:off x="636493" y="1961072"/>
                <a:ext cx="2" cy="2722936"/>
              </a:xfrm>
              <a:prstGeom prst="straightConnector1">
                <a:avLst/>
              </a:prstGeom>
              <a:ln w="28575">
                <a:solidFill>
                  <a:srgbClr val="000000"/>
                </a:solidFill>
                <a:prstDash val="dash"/>
                <a:headEnd type="none" w="med" len="med"/>
                <a:tailEnd type="none" w="med" len="med"/>
              </a:ln>
              <a:extLst/>
            </p:spPr>
            <p:style>
              <a:lnRef idx="2">
                <a:schemeClr val="accent4"/>
              </a:lnRef>
              <a:fillRef idx="0">
                <a:schemeClr val="accent4"/>
              </a:fillRef>
              <a:effectRef idx="1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55" name="Straight Arrow Connector 54"/>
              <p:cNvCxnSpPr/>
              <p:nvPr/>
            </p:nvCxnSpPr>
            <p:spPr bwMode="auto">
              <a:xfrm>
                <a:off x="-804507" y="3322540"/>
                <a:ext cx="2881213" cy="0"/>
              </a:xfrm>
              <a:prstGeom prst="straightConnector1">
                <a:avLst/>
              </a:prstGeom>
              <a:ln w="28575">
                <a:solidFill>
                  <a:srgbClr val="000000"/>
                </a:solidFill>
                <a:prstDash val="dash"/>
                <a:headEnd type="none" w="med" len="med"/>
                <a:tailEnd type="none" w="med" len="med"/>
              </a:ln>
              <a:extLst/>
            </p:spPr>
            <p:style>
              <a:lnRef idx="2">
                <a:schemeClr val="accent4"/>
              </a:lnRef>
              <a:fillRef idx="0">
                <a:schemeClr val="accent4"/>
              </a:fillRef>
              <a:effectRef idx="1">
                <a:schemeClr val="accent4"/>
              </a:effectRef>
              <a:fontRef idx="minor">
                <a:schemeClr val="tx1"/>
              </a:fontRef>
            </p:style>
          </p:cxnSp>
        </p:grpSp>
        <p:cxnSp>
          <p:nvCxnSpPr>
            <p:cNvPr id="49" name="Straight Arrow Connector 48"/>
            <p:cNvCxnSpPr/>
            <p:nvPr/>
          </p:nvCxnSpPr>
          <p:spPr bwMode="auto">
            <a:xfrm flipH="1" flipV="1">
              <a:off x="554882" y="1792685"/>
              <a:ext cx="878520" cy="768127"/>
            </a:xfrm>
            <a:prstGeom prst="straightConnector1">
              <a:avLst/>
            </a:prstGeom>
            <a:solidFill>
              <a:schemeClr val="accent1"/>
            </a:solidFill>
            <a:ln w="381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arrow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0" name="Straight Arrow Connector 49"/>
            <p:cNvCxnSpPr/>
            <p:nvPr/>
          </p:nvCxnSpPr>
          <p:spPr bwMode="auto">
            <a:xfrm flipV="1">
              <a:off x="1433897" y="1600200"/>
              <a:ext cx="852103" cy="960612"/>
            </a:xfrm>
            <a:prstGeom prst="straightConnector1">
              <a:avLst/>
            </a:prstGeom>
            <a:solidFill>
              <a:schemeClr val="accent1"/>
            </a:solidFill>
            <a:ln w="381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arrow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51" name="Rectangle 50"/>
            <p:cNvSpPr/>
            <p:nvPr/>
          </p:nvSpPr>
          <p:spPr>
            <a:xfrm>
              <a:off x="2286000" y="1369367"/>
              <a:ext cx="372218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ZA" sz="2400" b="1" i="1" dirty="0" smtClean="0">
                  <a:solidFill>
                    <a:srgbClr val="000000"/>
                  </a:solidFill>
                  <a:latin typeface="Times New Roman" pitchFamily="18" charset="0"/>
                  <a:sym typeface="Symbol"/>
                </a:rPr>
                <a:t>i</a:t>
              </a:r>
              <a:r>
                <a:rPr lang="en-ZA" sz="2400" b="1" i="1" baseline="-25000" dirty="0" smtClean="0">
                  <a:solidFill>
                    <a:srgbClr val="000000"/>
                  </a:solidFill>
                  <a:latin typeface="Times New Roman" pitchFamily="18" charset="0"/>
                  <a:sym typeface="Symbol"/>
                </a:rPr>
                <a:t>1</a:t>
              </a:r>
              <a:endParaRPr lang="en-ZA" sz="2400" b="1" dirty="0">
                <a:solidFill>
                  <a:srgbClr val="000000"/>
                </a:solidFill>
                <a:latin typeface="Times New Roman" pitchFamily="18" charset="0"/>
                <a:sym typeface="Symbol"/>
              </a:endParaRPr>
            </a:p>
          </p:txBody>
        </p:sp>
        <p:sp>
          <p:nvSpPr>
            <p:cNvPr id="52" name="Rectangle 51"/>
            <p:cNvSpPr/>
            <p:nvPr/>
          </p:nvSpPr>
          <p:spPr>
            <a:xfrm>
              <a:off x="508473" y="1350292"/>
              <a:ext cx="372218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ZA" sz="2400" b="1" i="1" dirty="0" smtClean="0">
                  <a:solidFill>
                    <a:srgbClr val="000000"/>
                  </a:solidFill>
                  <a:latin typeface="Times New Roman" pitchFamily="18" charset="0"/>
                  <a:sym typeface="Symbol"/>
                </a:rPr>
                <a:t>i</a:t>
              </a:r>
              <a:r>
                <a:rPr lang="en-ZA" sz="2400" b="1" i="1" baseline="-25000" dirty="0" smtClean="0">
                  <a:solidFill>
                    <a:srgbClr val="000000"/>
                  </a:solidFill>
                  <a:latin typeface="Times New Roman" pitchFamily="18" charset="0"/>
                  <a:sym typeface="Symbol"/>
                </a:rPr>
                <a:t>2</a:t>
              </a:r>
              <a:endParaRPr lang="en-ZA" sz="2400" b="1" dirty="0">
                <a:solidFill>
                  <a:srgbClr val="000000"/>
                </a:solidFill>
                <a:latin typeface="Times New Roman" pitchFamily="18" charset="0"/>
                <a:sym typeface="Symbol"/>
              </a:endParaRP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2658218" y="2278435"/>
              <a:ext cx="297268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>
              <a:spAutoFit/>
            </a:bodyPr>
            <a:lstStyle/>
            <a:p>
              <a:r>
                <a:rPr lang="en-ZA" sz="2000" dirty="0" smtClean="0">
                  <a:solidFill>
                    <a:srgbClr val="000000"/>
                  </a:solidFill>
                  <a:latin typeface="Times New Roman" pitchFamily="18" charset="0"/>
                  <a:sym typeface="Symbol"/>
                </a:rPr>
                <a:t>0</a:t>
              </a:r>
              <a:endParaRPr lang="en-ZA" sz="2000" dirty="0">
                <a:solidFill>
                  <a:srgbClr val="000000"/>
                </a:solidFill>
                <a:latin typeface="Times New Roman" pitchFamily="18" charset="0"/>
                <a:sym typeface="Symbol"/>
              </a:endParaRPr>
            </a:p>
          </p:txBody>
        </p:sp>
      </p:grpSp>
      <p:grpSp>
        <p:nvGrpSpPr>
          <p:cNvPr id="56" name="Group 55"/>
          <p:cNvGrpSpPr/>
          <p:nvPr/>
        </p:nvGrpSpPr>
        <p:grpSpPr>
          <a:xfrm>
            <a:off x="4697413" y="4010597"/>
            <a:ext cx="2821139" cy="2425652"/>
            <a:chOff x="163513" y="1347986"/>
            <a:chExt cx="2821139" cy="2425652"/>
          </a:xfrm>
        </p:grpSpPr>
        <p:grpSp>
          <p:nvGrpSpPr>
            <p:cNvPr id="57" name="Group 56"/>
            <p:cNvGrpSpPr/>
            <p:nvPr/>
          </p:nvGrpSpPr>
          <p:grpSpPr>
            <a:xfrm>
              <a:off x="163513" y="1347986"/>
              <a:ext cx="2566649" cy="2425652"/>
              <a:chOff x="-804507" y="1961072"/>
              <a:chExt cx="2881213" cy="2722936"/>
            </a:xfrm>
          </p:grpSpPr>
          <p:cxnSp>
            <p:nvCxnSpPr>
              <p:cNvPr id="63" name="Straight Arrow Connector 62"/>
              <p:cNvCxnSpPr/>
              <p:nvPr/>
            </p:nvCxnSpPr>
            <p:spPr bwMode="auto">
              <a:xfrm flipH="1" flipV="1">
                <a:off x="636493" y="1961072"/>
                <a:ext cx="2" cy="2722936"/>
              </a:xfrm>
              <a:prstGeom prst="straightConnector1">
                <a:avLst/>
              </a:prstGeom>
              <a:ln w="28575">
                <a:solidFill>
                  <a:srgbClr val="000000"/>
                </a:solidFill>
                <a:prstDash val="dash"/>
                <a:headEnd type="none" w="med" len="med"/>
                <a:tailEnd type="none" w="med" len="med"/>
              </a:ln>
              <a:extLst/>
            </p:spPr>
            <p:style>
              <a:lnRef idx="2">
                <a:schemeClr val="accent4"/>
              </a:lnRef>
              <a:fillRef idx="0">
                <a:schemeClr val="accent4"/>
              </a:fillRef>
              <a:effectRef idx="1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64" name="Straight Arrow Connector 63"/>
              <p:cNvCxnSpPr/>
              <p:nvPr/>
            </p:nvCxnSpPr>
            <p:spPr bwMode="auto">
              <a:xfrm>
                <a:off x="-804507" y="3322540"/>
                <a:ext cx="2881213" cy="0"/>
              </a:xfrm>
              <a:prstGeom prst="straightConnector1">
                <a:avLst/>
              </a:prstGeom>
              <a:ln w="28575">
                <a:solidFill>
                  <a:srgbClr val="000000"/>
                </a:solidFill>
                <a:prstDash val="dash"/>
                <a:headEnd type="none" w="med" len="med"/>
                <a:tailEnd type="none" w="med" len="med"/>
              </a:ln>
              <a:extLst/>
            </p:spPr>
            <p:style>
              <a:lnRef idx="2">
                <a:schemeClr val="accent4"/>
              </a:lnRef>
              <a:fillRef idx="0">
                <a:schemeClr val="accent4"/>
              </a:fillRef>
              <a:effectRef idx="1">
                <a:schemeClr val="accent4"/>
              </a:effectRef>
              <a:fontRef idx="minor">
                <a:schemeClr val="tx1"/>
              </a:fontRef>
            </p:style>
          </p:cxnSp>
        </p:grpSp>
        <p:cxnSp>
          <p:nvCxnSpPr>
            <p:cNvPr id="58" name="Straight Arrow Connector 57"/>
            <p:cNvCxnSpPr/>
            <p:nvPr/>
          </p:nvCxnSpPr>
          <p:spPr bwMode="auto">
            <a:xfrm flipH="1">
              <a:off x="965200" y="2560812"/>
              <a:ext cx="468202" cy="878655"/>
            </a:xfrm>
            <a:prstGeom prst="straightConnector1">
              <a:avLst/>
            </a:prstGeom>
            <a:solidFill>
              <a:schemeClr val="accent1"/>
            </a:solidFill>
            <a:ln w="381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arrow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9" name="Straight Arrow Connector 58"/>
            <p:cNvCxnSpPr/>
            <p:nvPr/>
          </p:nvCxnSpPr>
          <p:spPr bwMode="auto">
            <a:xfrm flipV="1">
              <a:off x="1433897" y="1778670"/>
              <a:ext cx="1186846" cy="763365"/>
            </a:xfrm>
            <a:prstGeom prst="straightConnector1">
              <a:avLst/>
            </a:prstGeom>
            <a:solidFill>
              <a:schemeClr val="accent1"/>
            </a:solidFill>
            <a:ln w="381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arrow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60" name="Rectangle 59"/>
            <p:cNvSpPr/>
            <p:nvPr/>
          </p:nvSpPr>
          <p:spPr>
            <a:xfrm>
              <a:off x="707282" y="3248473"/>
              <a:ext cx="372218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ZA" sz="2400" b="1" i="1" dirty="0" smtClean="0">
                  <a:solidFill>
                    <a:srgbClr val="000000"/>
                  </a:solidFill>
                  <a:latin typeface="Times New Roman" pitchFamily="18" charset="0"/>
                  <a:sym typeface="Symbol"/>
                </a:rPr>
                <a:t>i</a:t>
              </a:r>
              <a:r>
                <a:rPr lang="en-ZA" sz="2400" b="1" i="1" baseline="-25000" dirty="0" smtClean="0">
                  <a:solidFill>
                    <a:srgbClr val="000000"/>
                  </a:solidFill>
                  <a:latin typeface="Times New Roman" pitchFamily="18" charset="0"/>
                  <a:sym typeface="Symbol"/>
                </a:rPr>
                <a:t>1</a:t>
              </a:r>
              <a:endParaRPr lang="en-ZA" sz="2400" b="1" dirty="0">
                <a:solidFill>
                  <a:srgbClr val="000000"/>
                </a:solidFill>
                <a:latin typeface="Times New Roman" pitchFamily="18" charset="0"/>
                <a:sym typeface="Symbol"/>
              </a:endParaRPr>
            </a:p>
          </p:txBody>
        </p:sp>
        <p:sp>
          <p:nvSpPr>
            <p:cNvPr id="61" name="Rectangle 60"/>
            <p:cNvSpPr/>
            <p:nvPr/>
          </p:nvSpPr>
          <p:spPr>
            <a:xfrm>
              <a:off x="2612434" y="1677070"/>
              <a:ext cx="372218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ZA" sz="2400" b="1" i="1" dirty="0" smtClean="0">
                  <a:solidFill>
                    <a:srgbClr val="000000"/>
                  </a:solidFill>
                  <a:latin typeface="Times New Roman" pitchFamily="18" charset="0"/>
                  <a:sym typeface="Symbol"/>
                </a:rPr>
                <a:t>i</a:t>
              </a:r>
              <a:r>
                <a:rPr lang="en-ZA" sz="2400" b="1" i="1" baseline="-25000" dirty="0" smtClean="0">
                  <a:solidFill>
                    <a:srgbClr val="000000"/>
                  </a:solidFill>
                  <a:latin typeface="Times New Roman" pitchFamily="18" charset="0"/>
                  <a:sym typeface="Symbol"/>
                </a:rPr>
                <a:t>2</a:t>
              </a:r>
              <a:endParaRPr lang="en-ZA" sz="2400" b="1" dirty="0">
                <a:solidFill>
                  <a:srgbClr val="000000"/>
                </a:solidFill>
                <a:latin typeface="Times New Roman" pitchFamily="18" charset="0"/>
                <a:sym typeface="Symbol"/>
              </a:endParaRPr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2658218" y="2278435"/>
              <a:ext cx="297268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>
              <a:spAutoFit/>
            </a:bodyPr>
            <a:lstStyle/>
            <a:p>
              <a:r>
                <a:rPr lang="en-ZA" sz="2000" dirty="0" smtClean="0">
                  <a:solidFill>
                    <a:srgbClr val="000000"/>
                  </a:solidFill>
                  <a:latin typeface="Times New Roman" pitchFamily="18" charset="0"/>
                  <a:sym typeface="Symbol"/>
                </a:rPr>
                <a:t>0</a:t>
              </a:r>
              <a:endParaRPr lang="en-ZA" sz="2000" dirty="0">
                <a:solidFill>
                  <a:srgbClr val="000000"/>
                </a:solidFill>
                <a:latin typeface="Times New Roman" pitchFamily="18" charset="0"/>
                <a:sym typeface="Symbol"/>
              </a:endParaRPr>
            </a:p>
          </p:txBody>
        </p:sp>
      </p:grpSp>
      <p:sp>
        <p:nvSpPr>
          <p:cNvPr id="65" name="Rectangle 64"/>
          <p:cNvSpPr/>
          <p:nvPr/>
        </p:nvSpPr>
        <p:spPr>
          <a:xfrm>
            <a:off x="1859948" y="2716953"/>
            <a:ext cx="1345240" cy="461665"/>
          </a:xfrm>
          <a:prstGeom prst="rect">
            <a:avLst/>
          </a:prstGeom>
          <a:ln>
            <a:solidFill>
              <a:srgbClr val="000000"/>
            </a:solidFill>
          </a:ln>
        </p:spPr>
        <p:txBody>
          <a:bodyPr wrap="none">
            <a:spAutoFit/>
          </a:bodyPr>
          <a:lstStyle/>
          <a:p>
            <a:r>
              <a:rPr lang="en-ZA" sz="2400" i="1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i</a:t>
            </a:r>
            <a:r>
              <a:rPr lang="en-ZA" sz="2400" i="1" baseline="-25000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1</a:t>
            </a:r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 leads </a:t>
            </a:r>
            <a:r>
              <a:rPr lang="en-ZA" sz="2400" i="1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i</a:t>
            </a:r>
            <a:r>
              <a:rPr lang="en-ZA" sz="2400" i="1" baseline="-25000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2</a:t>
            </a:r>
            <a:endParaRPr lang="en-ZA" sz="2400" dirty="0"/>
          </a:p>
        </p:txBody>
      </p:sp>
      <p:sp>
        <p:nvSpPr>
          <p:cNvPr id="66" name="Rectangle 65"/>
          <p:cNvSpPr/>
          <p:nvPr/>
        </p:nvSpPr>
        <p:spPr>
          <a:xfrm>
            <a:off x="2177880" y="5431917"/>
            <a:ext cx="1345240" cy="461665"/>
          </a:xfrm>
          <a:prstGeom prst="rect">
            <a:avLst/>
          </a:prstGeom>
          <a:ln>
            <a:solidFill>
              <a:srgbClr val="000000"/>
            </a:solidFill>
          </a:ln>
        </p:spPr>
        <p:txBody>
          <a:bodyPr wrap="none">
            <a:spAutoFit/>
          </a:bodyPr>
          <a:lstStyle/>
          <a:p>
            <a:r>
              <a:rPr lang="en-ZA" sz="2400" i="1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i</a:t>
            </a:r>
            <a:r>
              <a:rPr lang="en-ZA" sz="2400" i="1" baseline="-25000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2</a:t>
            </a:r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 leads </a:t>
            </a:r>
            <a:r>
              <a:rPr lang="en-ZA" sz="2400" i="1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i</a:t>
            </a:r>
            <a:r>
              <a:rPr lang="en-ZA" sz="2400" i="1" baseline="-25000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1</a:t>
            </a:r>
            <a:endParaRPr lang="en-ZA" sz="2400" dirty="0"/>
          </a:p>
        </p:txBody>
      </p:sp>
      <p:sp>
        <p:nvSpPr>
          <p:cNvPr id="67" name="Rectangle 66"/>
          <p:cNvSpPr/>
          <p:nvPr/>
        </p:nvSpPr>
        <p:spPr>
          <a:xfrm>
            <a:off x="6090920" y="5420336"/>
            <a:ext cx="1345240" cy="461665"/>
          </a:xfrm>
          <a:prstGeom prst="rect">
            <a:avLst/>
          </a:prstGeom>
          <a:ln>
            <a:solidFill>
              <a:srgbClr val="000000"/>
            </a:solidFill>
          </a:ln>
        </p:spPr>
        <p:txBody>
          <a:bodyPr wrap="none">
            <a:spAutoFit/>
          </a:bodyPr>
          <a:lstStyle/>
          <a:p>
            <a:r>
              <a:rPr lang="en-ZA" sz="2400" i="1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i</a:t>
            </a:r>
            <a:r>
              <a:rPr lang="en-ZA" sz="2400" i="1" baseline="-25000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2</a:t>
            </a:r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 leads </a:t>
            </a:r>
            <a:r>
              <a:rPr lang="en-ZA" sz="2400" i="1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i</a:t>
            </a:r>
            <a:r>
              <a:rPr lang="en-ZA" sz="2400" i="1" baseline="-25000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1</a:t>
            </a:r>
            <a:endParaRPr lang="en-ZA" sz="2400" dirty="0"/>
          </a:p>
        </p:txBody>
      </p:sp>
    </p:spTree>
    <p:extLst>
      <p:ext uri="{BB962C8B-B14F-4D97-AF65-F5344CB8AC3E}">
        <p14:creationId xmlns:p14="http://schemas.microsoft.com/office/powerpoint/2010/main" val="6413479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 animBg="1"/>
      <p:bldP spid="65" grpId="0" animBg="1"/>
      <p:bldP spid="66" grpId="0" animBg="1"/>
      <p:bldP spid="67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DBEB72-C004-46D1-9992-458CC43F3DD8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270456" y="171271"/>
            <a:ext cx="8680361" cy="1200329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ZA" sz="2400" b="1" u="sng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PP 9.2</a:t>
            </a:r>
            <a:r>
              <a:rPr lang="en-ZA" sz="24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ZA" sz="2400" dirty="0">
                <a:latin typeface="Times New Roman" pitchFamily="18" charset="0"/>
                <a:cs typeface="Times New Roman" pitchFamily="18" charset="0"/>
              </a:rPr>
            </a:br>
            <a:r>
              <a:rPr lang="en-ZA" sz="2400" dirty="0" smtClean="0">
                <a:latin typeface="Times New Roman" pitchFamily="18" charset="0"/>
                <a:cs typeface="Times New Roman" pitchFamily="18" charset="0"/>
              </a:rPr>
              <a:t>Determine the phase angle between</a:t>
            </a:r>
            <a:r>
              <a:rPr lang="en-ZA" sz="2400" dirty="0" smtClean="0">
                <a:latin typeface="Times New Roman" pitchFamily="18" charset="0"/>
                <a:cs typeface="Times New Roman" pitchFamily="18" charset="0"/>
                <a:sym typeface="Symbol"/>
              </a:rPr>
              <a:t> </a:t>
            </a:r>
            <a:r>
              <a:rPr lang="en-ZA" sz="2400" i="1" dirty="0" smtClean="0">
                <a:latin typeface="Times New Roman" pitchFamily="18" charset="0"/>
                <a:sym typeface="Symbol"/>
              </a:rPr>
              <a:t>i</a:t>
            </a:r>
            <a:r>
              <a:rPr lang="en-ZA" sz="2400" i="1" baseline="-25000" dirty="0" smtClean="0">
                <a:latin typeface="Times New Roman" pitchFamily="18" charset="0"/>
                <a:sym typeface="Symbol"/>
              </a:rPr>
              <a:t>1</a:t>
            </a:r>
            <a:r>
              <a:rPr lang="en-ZA" sz="2400" dirty="0" smtClean="0">
                <a:latin typeface="Times New Roman" pitchFamily="18" charset="0"/>
                <a:cs typeface="Times New Roman" pitchFamily="18" charset="0"/>
                <a:sym typeface="Symbol"/>
              </a:rPr>
              <a:t> = -4sin(</a:t>
            </a:r>
            <a:r>
              <a:rPr lang="en-ZA" sz="2400" dirty="0" smtClean="0">
                <a:latin typeface="Times New Roman" pitchFamily="18" charset="0"/>
                <a:sym typeface="Symbol"/>
              </a:rPr>
              <a:t>377</a:t>
            </a:r>
            <a:r>
              <a:rPr lang="en-ZA" sz="2400" i="1" dirty="0" smtClean="0">
                <a:latin typeface="Times New Roman" pitchFamily="18" charset="0"/>
                <a:cs typeface="Times New Roman" pitchFamily="18" charset="0"/>
                <a:sym typeface="Symbol"/>
              </a:rPr>
              <a:t>t + </a:t>
            </a:r>
            <a:r>
              <a:rPr lang="en-ZA" sz="2400" dirty="0" smtClean="0">
                <a:latin typeface="Times New Roman" pitchFamily="18" charset="0"/>
                <a:cs typeface="Times New Roman" pitchFamily="18" charset="0"/>
                <a:sym typeface="Symbol"/>
              </a:rPr>
              <a:t>25)</a:t>
            </a:r>
            <a:r>
              <a:rPr lang="en-ZA" sz="2400" dirty="0">
                <a:latin typeface="Times New Roman" pitchFamily="18" charset="0"/>
                <a:sym typeface="Symbol"/>
              </a:rPr>
              <a:t> </a:t>
            </a:r>
            <a:r>
              <a:rPr lang="en-ZA" sz="2400" dirty="0" smtClean="0">
                <a:latin typeface="Times New Roman" pitchFamily="18" charset="0"/>
                <a:sym typeface="Symbol"/>
              </a:rPr>
              <a:t>and </a:t>
            </a:r>
          </a:p>
          <a:p>
            <a:r>
              <a:rPr lang="en-ZA" sz="2400" i="1" dirty="0" smtClean="0">
                <a:latin typeface="Times New Roman" pitchFamily="18" charset="0"/>
                <a:sym typeface="Symbol"/>
              </a:rPr>
              <a:t>i</a:t>
            </a:r>
            <a:r>
              <a:rPr lang="en-ZA" sz="2400" i="1" baseline="-25000" dirty="0" smtClean="0">
                <a:latin typeface="Times New Roman" pitchFamily="18" charset="0"/>
                <a:sym typeface="Symbol"/>
              </a:rPr>
              <a:t>2</a:t>
            </a:r>
            <a:r>
              <a:rPr lang="en-ZA" sz="2400" dirty="0" smtClean="0">
                <a:latin typeface="Times New Roman" pitchFamily="18" charset="0"/>
                <a:sym typeface="Symbol"/>
              </a:rPr>
              <a:t> </a:t>
            </a:r>
            <a:r>
              <a:rPr lang="en-ZA" sz="2400" dirty="0">
                <a:latin typeface="Times New Roman" pitchFamily="18" charset="0"/>
                <a:sym typeface="Symbol"/>
              </a:rPr>
              <a:t>= </a:t>
            </a:r>
            <a:r>
              <a:rPr lang="en-ZA" sz="2400" dirty="0" smtClean="0">
                <a:latin typeface="Times New Roman" pitchFamily="18" charset="0"/>
                <a:sym typeface="Symbol"/>
              </a:rPr>
              <a:t>5 </a:t>
            </a:r>
            <a:r>
              <a:rPr lang="en-ZA" sz="2400" dirty="0" err="1" smtClean="0">
                <a:latin typeface="Times New Roman" pitchFamily="18" charset="0"/>
                <a:sym typeface="Symbol"/>
              </a:rPr>
              <a:t>cos</a:t>
            </a:r>
            <a:r>
              <a:rPr lang="en-ZA" sz="2400" dirty="0" smtClean="0">
                <a:latin typeface="Times New Roman" pitchFamily="18" charset="0"/>
                <a:sym typeface="Symbol"/>
              </a:rPr>
              <a:t>(377</a:t>
            </a:r>
            <a:r>
              <a:rPr lang="en-ZA" sz="2400" i="1" dirty="0" smtClean="0">
                <a:latin typeface="Times New Roman" pitchFamily="18" charset="0"/>
                <a:sym typeface="Symbol"/>
              </a:rPr>
              <a:t>t </a:t>
            </a:r>
            <a:r>
              <a:rPr lang="en-ZA" sz="2400" i="1" dirty="0">
                <a:latin typeface="Times New Roman" pitchFamily="18" charset="0"/>
                <a:sym typeface="Symbol"/>
              </a:rPr>
              <a:t>– </a:t>
            </a:r>
            <a:r>
              <a:rPr lang="en-ZA" sz="2400" dirty="0" smtClean="0">
                <a:latin typeface="Times New Roman" pitchFamily="18" charset="0"/>
                <a:sym typeface="Symbol"/>
              </a:rPr>
              <a:t>40</a:t>
            </a:r>
            <a:r>
              <a:rPr lang="en-ZA" sz="2400" dirty="0">
                <a:latin typeface="Times New Roman" pitchFamily="18" charset="0"/>
                <a:sym typeface="Symbol"/>
              </a:rPr>
              <a:t></a:t>
            </a:r>
            <a:r>
              <a:rPr lang="en-ZA" sz="2400" dirty="0" smtClean="0">
                <a:latin typeface="Times New Roman" pitchFamily="18" charset="0"/>
                <a:sym typeface="Symbol"/>
              </a:rPr>
              <a:t>).</a:t>
            </a:r>
            <a:endParaRPr lang="en-ZA" sz="2400" dirty="0" smtClean="0">
              <a:latin typeface="Times New Roman" pitchFamily="18" charset="0"/>
              <a:cs typeface="Times New Roman" pitchFamily="18" charset="0"/>
              <a:sym typeface="Symbol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70456" y="2007963"/>
            <a:ext cx="544993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ZA" sz="2400" i="1" dirty="0">
                <a:solidFill>
                  <a:srgbClr val="000000"/>
                </a:solidFill>
                <a:latin typeface="Times New Roman" pitchFamily="18" charset="0"/>
                <a:sym typeface="Symbol"/>
              </a:rPr>
              <a:t>i</a:t>
            </a:r>
            <a:r>
              <a:rPr lang="en-ZA" sz="2400" i="1" baseline="-25000" dirty="0">
                <a:solidFill>
                  <a:srgbClr val="000000"/>
                </a:solidFill>
                <a:latin typeface="Times New Roman" pitchFamily="18" charset="0"/>
                <a:sym typeface="Symbol"/>
              </a:rPr>
              <a:t>1</a:t>
            </a:r>
            <a:r>
              <a:rPr lang="en-ZA" sz="2400" dirty="0">
                <a:solidFill>
                  <a:srgbClr val="000000"/>
                </a:solidFill>
                <a:latin typeface="Times New Roman" pitchFamily="18" charset="0"/>
                <a:sym typeface="Symbol"/>
              </a:rPr>
              <a:t> = -4sin(377</a:t>
            </a:r>
            <a:r>
              <a:rPr lang="en-ZA" sz="2400" i="1" dirty="0">
                <a:solidFill>
                  <a:srgbClr val="000000"/>
                </a:solidFill>
                <a:latin typeface="Times New Roman" pitchFamily="18" charset="0"/>
                <a:sym typeface="Symbol"/>
              </a:rPr>
              <a:t>t + </a:t>
            </a:r>
            <a:r>
              <a:rPr lang="en-ZA" sz="2400" dirty="0">
                <a:solidFill>
                  <a:srgbClr val="000000"/>
                </a:solidFill>
                <a:latin typeface="Times New Roman" pitchFamily="18" charset="0"/>
                <a:sym typeface="Symbol"/>
              </a:rPr>
              <a:t>25</a:t>
            </a:r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)</a:t>
            </a:r>
          </a:p>
          <a:p>
            <a:r>
              <a:rPr lang="en-ZA" sz="2400" dirty="0">
                <a:solidFill>
                  <a:srgbClr val="000000"/>
                </a:solidFill>
                <a:latin typeface="Times New Roman" pitchFamily="18" charset="0"/>
                <a:sym typeface="Symbol"/>
              </a:rPr>
              <a:t> </a:t>
            </a:r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  = </a:t>
            </a:r>
            <a:r>
              <a:rPr lang="en-ZA" sz="2400" dirty="0">
                <a:solidFill>
                  <a:srgbClr val="000000"/>
                </a:solidFill>
                <a:latin typeface="Times New Roman" pitchFamily="18" charset="0"/>
                <a:sym typeface="Symbol"/>
              </a:rPr>
              <a:t>4sin(377</a:t>
            </a:r>
            <a:r>
              <a:rPr lang="en-ZA" sz="2400" i="1" dirty="0">
                <a:solidFill>
                  <a:srgbClr val="000000"/>
                </a:solidFill>
                <a:latin typeface="Times New Roman" pitchFamily="18" charset="0"/>
                <a:sym typeface="Symbol"/>
              </a:rPr>
              <a:t>t + </a:t>
            </a:r>
            <a:r>
              <a:rPr lang="en-ZA" sz="2400" dirty="0">
                <a:solidFill>
                  <a:srgbClr val="000000"/>
                </a:solidFill>
                <a:latin typeface="Times New Roman" pitchFamily="18" charset="0"/>
                <a:sym typeface="Symbol"/>
              </a:rPr>
              <a:t>25</a:t>
            </a:r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 – 180)</a:t>
            </a:r>
          </a:p>
          <a:p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   = 4sin(377</a:t>
            </a:r>
            <a:r>
              <a:rPr lang="en-ZA" sz="2400" i="1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t </a:t>
            </a:r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 – 155)</a:t>
            </a:r>
          </a:p>
          <a:p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   =</a:t>
            </a:r>
            <a:r>
              <a:rPr lang="en-ZA" sz="2400" dirty="0">
                <a:solidFill>
                  <a:srgbClr val="000000"/>
                </a:solidFill>
                <a:latin typeface="Times New Roman" pitchFamily="18" charset="0"/>
                <a:sym typeface="Symbol"/>
              </a:rPr>
              <a:t> 4sin(377</a:t>
            </a:r>
            <a:r>
              <a:rPr lang="en-ZA" sz="2400" i="1" dirty="0">
                <a:solidFill>
                  <a:srgbClr val="000000"/>
                </a:solidFill>
                <a:latin typeface="Times New Roman" pitchFamily="18" charset="0"/>
                <a:sym typeface="Symbol"/>
              </a:rPr>
              <a:t>t </a:t>
            </a:r>
            <a:r>
              <a:rPr lang="en-ZA" sz="2400" i="1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+ </a:t>
            </a:r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90 </a:t>
            </a:r>
            <a:r>
              <a:rPr lang="en-ZA" sz="2400" dirty="0">
                <a:solidFill>
                  <a:srgbClr val="000000"/>
                </a:solidFill>
                <a:latin typeface="Times New Roman" pitchFamily="18" charset="0"/>
                <a:sym typeface="Symbol"/>
              </a:rPr>
              <a:t>– </a:t>
            </a:r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245)</a:t>
            </a:r>
          </a:p>
          <a:p>
            <a:r>
              <a:rPr lang="en-ZA" sz="2400" dirty="0">
                <a:solidFill>
                  <a:srgbClr val="000000"/>
                </a:solidFill>
                <a:latin typeface="Times New Roman" pitchFamily="18" charset="0"/>
                <a:sym typeface="Symbol"/>
              </a:rPr>
              <a:t> </a:t>
            </a:r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  = 4cos(377</a:t>
            </a:r>
            <a:r>
              <a:rPr lang="en-ZA" sz="2400" i="1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t </a:t>
            </a:r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 </a:t>
            </a:r>
            <a:r>
              <a:rPr lang="en-ZA" sz="2400" dirty="0">
                <a:solidFill>
                  <a:srgbClr val="000000"/>
                </a:solidFill>
                <a:latin typeface="Times New Roman" pitchFamily="18" charset="0"/>
                <a:sym typeface="Symbol"/>
              </a:rPr>
              <a:t>– </a:t>
            </a:r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245)</a:t>
            </a:r>
          </a:p>
          <a:p>
            <a:r>
              <a:rPr lang="en-ZA" sz="2400" dirty="0">
                <a:solidFill>
                  <a:srgbClr val="000000"/>
                </a:solidFill>
                <a:latin typeface="Times New Roman" pitchFamily="18" charset="0"/>
                <a:sym typeface="Symbol"/>
              </a:rPr>
              <a:t> </a:t>
            </a:r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  = </a:t>
            </a:r>
            <a:r>
              <a:rPr lang="en-ZA" sz="2400" dirty="0">
                <a:solidFill>
                  <a:srgbClr val="000000"/>
                </a:solidFill>
                <a:latin typeface="Times New Roman" pitchFamily="18" charset="0"/>
                <a:sym typeface="Symbol"/>
              </a:rPr>
              <a:t>4cos(377</a:t>
            </a:r>
            <a:r>
              <a:rPr lang="en-ZA" sz="2400" i="1" dirty="0">
                <a:solidFill>
                  <a:srgbClr val="000000"/>
                </a:solidFill>
                <a:latin typeface="Times New Roman" pitchFamily="18" charset="0"/>
                <a:sym typeface="Symbol"/>
              </a:rPr>
              <a:t>t </a:t>
            </a:r>
            <a:r>
              <a:rPr lang="en-ZA" sz="2400" dirty="0">
                <a:solidFill>
                  <a:srgbClr val="000000"/>
                </a:solidFill>
                <a:latin typeface="Times New Roman" pitchFamily="18" charset="0"/>
                <a:sym typeface="Symbol"/>
              </a:rPr>
              <a:t> </a:t>
            </a:r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+ 115</a:t>
            </a:r>
            <a:r>
              <a:rPr lang="en-ZA" sz="2400" dirty="0">
                <a:solidFill>
                  <a:srgbClr val="000000"/>
                </a:solidFill>
                <a:latin typeface="Times New Roman" pitchFamily="18" charset="0"/>
                <a:sym typeface="Symbol"/>
              </a:rPr>
              <a:t></a:t>
            </a:r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)  </a:t>
            </a:r>
            <a:r>
              <a:rPr lang="en-ZA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(–245+360=115 &lt; 180)</a:t>
            </a:r>
            <a:endParaRPr lang="en-ZA" sz="2400" dirty="0">
              <a:solidFill>
                <a:srgbClr val="000000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06825" y="1544323"/>
            <a:ext cx="163698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ZA" sz="2400" b="1" dirty="0" smtClean="0">
                <a:solidFill>
                  <a:srgbClr val="000000"/>
                </a:solidFill>
                <a:latin typeface="Times New Roman" pitchFamily="18" charset="0"/>
              </a:rPr>
              <a:t>Analytical:</a:t>
            </a:r>
            <a:endParaRPr lang="en-ZA" sz="2400" b="1" dirty="0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43800" y="4325878"/>
            <a:ext cx="3591048" cy="193899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</a:rPr>
              <a:t>Hence:  </a:t>
            </a:r>
          </a:p>
          <a:p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</a:t>
            </a:r>
            <a:r>
              <a:rPr lang="en-ZA" sz="2400" i="1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</a:t>
            </a:r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 = </a:t>
            </a:r>
            <a:r>
              <a:rPr lang="en-ZA" sz="2400" i="1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</a:t>
            </a:r>
            <a:r>
              <a:rPr lang="en-ZA" sz="2400" i="1" baseline="-25000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1</a:t>
            </a:r>
            <a:r>
              <a:rPr lang="en-ZA" sz="2400" i="1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 – </a:t>
            </a:r>
            <a:r>
              <a:rPr lang="en-ZA" sz="2400" i="1" baseline="-25000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2</a:t>
            </a:r>
            <a:r>
              <a:rPr lang="en-ZA" sz="2400" i="1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 </a:t>
            </a:r>
          </a:p>
          <a:p>
            <a:r>
              <a:rPr lang="en-ZA" sz="2400" i="1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     </a:t>
            </a:r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= 115 – (-40</a:t>
            </a:r>
            <a:r>
              <a:rPr lang="en-ZA" sz="2400" dirty="0">
                <a:solidFill>
                  <a:srgbClr val="000000"/>
                </a:solidFill>
                <a:latin typeface="Times New Roman" pitchFamily="18" charset="0"/>
                <a:sym typeface="Symbol"/>
              </a:rPr>
              <a:t> </a:t>
            </a:r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)</a:t>
            </a:r>
          </a:p>
          <a:p>
            <a:r>
              <a:rPr lang="en-ZA" sz="2400" i="1" dirty="0">
                <a:solidFill>
                  <a:srgbClr val="000000"/>
                </a:solidFill>
                <a:latin typeface="Times New Roman" pitchFamily="18" charset="0"/>
                <a:sym typeface="Symbol"/>
              </a:rPr>
              <a:t> </a:t>
            </a:r>
            <a:r>
              <a:rPr lang="en-ZA" sz="2400" i="1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    </a:t>
            </a:r>
            <a:r>
              <a:rPr lang="en-ZA" sz="2400" b="1" i="1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= </a:t>
            </a:r>
            <a:r>
              <a:rPr lang="en-ZA" sz="2400" b="1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155</a:t>
            </a:r>
          </a:p>
          <a:p>
            <a:r>
              <a:rPr lang="en-ZA" sz="2400" dirty="0">
                <a:solidFill>
                  <a:srgbClr val="000000"/>
                </a:solidFill>
                <a:latin typeface="Times New Roman" pitchFamily="18" charset="0"/>
                <a:sym typeface="Symbol"/>
              </a:rPr>
              <a:t>(Always give angle &lt; 180)</a:t>
            </a:r>
            <a:endParaRPr lang="en-ZA" sz="2400" dirty="0">
              <a:solidFill>
                <a:srgbClr val="000000"/>
              </a:solidFill>
            </a:endParaRPr>
          </a:p>
        </p:txBody>
      </p:sp>
      <p:grpSp>
        <p:nvGrpSpPr>
          <p:cNvPr id="40" name="Group 39"/>
          <p:cNvGrpSpPr/>
          <p:nvPr/>
        </p:nvGrpSpPr>
        <p:grpSpPr>
          <a:xfrm>
            <a:off x="5033307" y="1506818"/>
            <a:ext cx="4110693" cy="4678142"/>
            <a:chOff x="5033307" y="1506818"/>
            <a:chExt cx="4110693" cy="4678142"/>
          </a:xfrm>
        </p:grpSpPr>
        <p:grpSp>
          <p:nvGrpSpPr>
            <p:cNvPr id="39" name="Group 38"/>
            <p:cNvGrpSpPr/>
            <p:nvPr/>
          </p:nvGrpSpPr>
          <p:grpSpPr>
            <a:xfrm>
              <a:off x="5033307" y="1506818"/>
              <a:ext cx="4110693" cy="4678142"/>
              <a:chOff x="5033307" y="1506818"/>
              <a:chExt cx="4110693" cy="4678142"/>
            </a:xfrm>
          </p:grpSpPr>
          <p:grpSp>
            <p:nvGrpSpPr>
              <p:cNvPr id="10" name="Group 9"/>
              <p:cNvGrpSpPr/>
              <p:nvPr/>
            </p:nvGrpSpPr>
            <p:grpSpPr>
              <a:xfrm>
                <a:off x="5033307" y="1506818"/>
                <a:ext cx="3350840" cy="4678142"/>
                <a:chOff x="-804507" y="2158210"/>
                <a:chExt cx="2449000" cy="3419075"/>
              </a:xfrm>
            </p:grpSpPr>
            <p:cxnSp>
              <p:nvCxnSpPr>
                <p:cNvPr id="11" name="Straight Arrow Connector 10"/>
                <p:cNvCxnSpPr/>
                <p:nvPr/>
              </p:nvCxnSpPr>
              <p:spPr bwMode="auto">
                <a:xfrm flipV="1">
                  <a:off x="-135346" y="2158210"/>
                  <a:ext cx="1" cy="3419075"/>
                </a:xfrm>
                <a:prstGeom prst="straightConnector1">
                  <a:avLst/>
                </a:prstGeom>
                <a:ln w="28575">
                  <a:solidFill>
                    <a:srgbClr val="000000"/>
                  </a:solidFill>
                  <a:prstDash val="dash"/>
                  <a:headEnd type="none" w="med" len="med"/>
                  <a:tailEnd type="none" w="med" len="med"/>
                </a:ln>
                <a:extLst/>
              </p:spPr>
              <p:style>
                <a:lnRef idx="2">
                  <a:schemeClr val="accent4"/>
                </a:lnRef>
                <a:fillRef idx="0">
                  <a:schemeClr val="accent4"/>
                </a:fillRef>
                <a:effectRef idx="1">
                  <a:schemeClr val="accent4"/>
                </a:effectRef>
                <a:fontRef idx="minor">
                  <a:schemeClr val="tx1"/>
                </a:fontRef>
              </p:style>
            </p:cxnSp>
            <p:cxnSp>
              <p:nvCxnSpPr>
                <p:cNvPr id="12" name="Straight Arrow Connector 11"/>
                <p:cNvCxnSpPr/>
                <p:nvPr/>
              </p:nvCxnSpPr>
              <p:spPr bwMode="auto">
                <a:xfrm flipV="1">
                  <a:off x="-804507" y="3712303"/>
                  <a:ext cx="2449000" cy="4949"/>
                </a:xfrm>
                <a:prstGeom prst="straightConnector1">
                  <a:avLst/>
                </a:prstGeom>
                <a:ln w="28575">
                  <a:solidFill>
                    <a:srgbClr val="000000"/>
                  </a:solidFill>
                  <a:prstDash val="dash"/>
                  <a:headEnd type="none" w="med" len="med"/>
                  <a:tailEnd type="none" w="med" len="med"/>
                </a:ln>
                <a:extLst/>
              </p:spPr>
              <p:style>
                <a:lnRef idx="2">
                  <a:schemeClr val="accent4"/>
                </a:lnRef>
                <a:fillRef idx="0">
                  <a:schemeClr val="accent4"/>
                </a:fillRef>
                <a:effectRef idx="1">
                  <a:schemeClr val="accent4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5" name="TextBox 14"/>
              <p:cNvSpPr txBox="1"/>
              <p:nvPr/>
            </p:nvSpPr>
            <p:spPr>
              <a:xfrm>
                <a:off x="8403905" y="3607979"/>
                <a:ext cx="740095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ZA" sz="2000" dirty="0" err="1" smtClean="0">
                    <a:solidFill>
                      <a:srgbClr val="000000"/>
                    </a:solidFill>
                    <a:latin typeface="Times New Roman" pitchFamily="18" charset="0"/>
                    <a:sym typeface="Symbol"/>
                  </a:rPr>
                  <a:t>cos</a:t>
                </a:r>
                <a:r>
                  <a:rPr lang="en-ZA" sz="2000" i="1" dirty="0" err="1" smtClean="0">
                    <a:solidFill>
                      <a:srgbClr val="000000"/>
                    </a:solidFill>
                    <a:latin typeface="Times New Roman" pitchFamily="18" charset="0"/>
                    <a:sym typeface="Symbol"/>
                  </a:rPr>
                  <a:t>t</a:t>
                </a:r>
                <a:endParaRPr lang="en-ZA" sz="2000" i="1" dirty="0">
                  <a:solidFill>
                    <a:srgbClr val="000000"/>
                  </a:solidFill>
                  <a:latin typeface="Times New Roman" pitchFamily="18" charset="0"/>
                  <a:sym typeface="Symbol"/>
                </a:endParaRPr>
              </a:p>
            </p:txBody>
          </p:sp>
          <p:cxnSp>
            <p:nvCxnSpPr>
              <p:cNvPr id="16" name="Straight Arrow Connector 15"/>
              <p:cNvCxnSpPr/>
              <p:nvPr/>
            </p:nvCxnSpPr>
            <p:spPr bwMode="auto">
              <a:xfrm rot="2400000">
                <a:off x="5634608" y="4541505"/>
                <a:ext cx="2786066" cy="0"/>
              </a:xfrm>
              <a:prstGeom prst="straightConnector1">
                <a:avLst/>
              </a:prstGeom>
              <a:solidFill>
                <a:schemeClr val="accent1"/>
              </a:solidFill>
              <a:ln w="57150" cap="flat" cmpd="sng" algn="ctr">
                <a:solidFill>
                  <a:srgbClr val="FF0000"/>
                </a:solidFill>
                <a:prstDash val="solid"/>
                <a:round/>
                <a:headEnd type="none" w="med" len="med"/>
                <a:tailEnd type="arrow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37" name="Arc 36"/>
              <p:cNvSpPr/>
              <p:nvPr/>
            </p:nvSpPr>
            <p:spPr bwMode="auto">
              <a:xfrm rot="10800000" flipH="1">
                <a:off x="5676126" y="2582743"/>
                <a:ext cx="1914613" cy="2118044"/>
              </a:xfrm>
              <a:prstGeom prst="arc">
                <a:avLst>
                  <a:gd name="adj1" fmla="val 17743410"/>
                  <a:gd name="adj2" fmla="val 21573095"/>
                </a:avLst>
              </a:prstGeom>
              <a:noFill/>
              <a:ln w="38100">
                <a:solidFill>
                  <a:srgbClr val="0066CC"/>
                </a:solidFill>
                <a:headEnd type="arrow" w="med" len="med"/>
                <a:tailEnd type="none" w="med" len="med"/>
              </a:ln>
              <a:effectLst/>
              <a:ex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4572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ZA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Times New Roman" pitchFamily="18" charset="0"/>
                </a:endParaRPr>
              </a:p>
            </p:txBody>
          </p:sp>
          <p:sp>
            <p:nvSpPr>
              <p:cNvPr id="38" name="TextBox 37"/>
              <p:cNvSpPr txBox="1"/>
              <p:nvPr/>
            </p:nvSpPr>
            <p:spPr>
              <a:xfrm>
                <a:off x="6799266" y="3845889"/>
                <a:ext cx="412805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ZA" sz="2000" b="1" dirty="0" smtClean="0">
                    <a:solidFill>
                      <a:srgbClr val="000000"/>
                    </a:solidFill>
                    <a:latin typeface="Times New Roman" pitchFamily="18" charset="0"/>
                    <a:sym typeface="Symbol"/>
                  </a:rPr>
                  <a:t>40</a:t>
                </a:r>
                <a:endParaRPr lang="en-ZA" sz="2000" b="1" dirty="0">
                  <a:solidFill>
                    <a:srgbClr val="000000"/>
                  </a:solidFill>
                  <a:latin typeface="Times New Roman" pitchFamily="18" charset="0"/>
                  <a:sym typeface="Symbol"/>
                </a:endParaRPr>
              </a:p>
            </p:txBody>
          </p:sp>
        </p:grpSp>
        <p:sp>
          <p:nvSpPr>
            <p:cNvPr id="19" name="Rectangle 18"/>
            <p:cNvSpPr/>
            <p:nvPr/>
          </p:nvSpPr>
          <p:spPr>
            <a:xfrm>
              <a:off x="7434215" y="5206097"/>
              <a:ext cx="372218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ZA" sz="2400" b="1" i="1" dirty="0" smtClean="0">
                  <a:solidFill>
                    <a:srgbClr val="000000"/>
                  </a:solidFill>
                  <a:latin typeface="Times New Roman" pitchFamily="18" charset="0"/>
                  <a:sym typeface="Symbol"/>
                </a:rPr>
                <a:t>i</a:t>
              </a:r>
              <a:r>
                <a:rPr lang="en-ZA" sz="2400" b="1" i="1" baseline="-25000" dirty="0" smtClean="0">
                  <a:solidFill>
                    <a:srgbClr val="000000"/>
                  </a:solidFill>
                  <a:latin typeface="Times New Roman" pitchFamily="18" charset="0"/>
                  <a:sym typeface="Symbol"/>
                </a:rPr>
                <a:t>2</a:t>
              </a:r>
              <a:endParaRPr lang="en-ZA" sz="2400" b="1" dirty="0">
                <a:solidFill>
                  <a:srgbClr val="000000"/>
                </a:solidFill>
                <a:latin typeface="Times New Roman" pitchFamily="18" charset="0"/>
                <a:sym typeface="Symbol"/>
              </a:endParaRPr>
            </a:p>
          </p:txBody>
        </p:sp>
      </p:grpSp>
      <p:cxnSp>
        <p:nvCxnSpPr>
          <p:cNvPr id="20" name="Straight Arrow Connector 19"/>
          <p:cNvCxnSpPr/>
          <p:nvPr/>
        </p:nvCxnSpPr>
        <p:spPr bwMode="auto">
          <a:xfrm rot="-9300000">
            <a:off x="4665995" y="1970888"/>
            <a:ext cx="1644065" cy="1379534"/>
          </a:xfrm>
          <a:prstGeom prst="straightConnector1">
            <a:avLst/>
          </a:prstGeom>
          <a:solidFill>
            <a:schemeClr val="accent1"/>
          </a:solidFill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3" name="Straight Arrow Connector 22"/>
          <p:cNvCxnSpPr/>
          <p:nvPr/>
        </p:nvCxnSpPr>
        <p:spPr bwMode="auto">
          <a:xfrm rot="3000000">
            <a:off x="5126853" y="4023294"/>
            <a:ext cx="1644065" cy="1379534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7" name="Straight Arrow Connector 26"/>
          <p:cNvCxnSpPr/>
          <p:nvPr/>
        </p:nvCxnSpPr>
        <p:spPr bwMode="auto">
          <a:xfrm rot="18600000" flipV="1">
            <a:off x="5126852" y="1870349"/>
            <a:ext cx="1644065" cy="1379534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2" name="Arc 31"/>
          <p:cNvSpPr/>
          <p:nvPr/>
        </p:nvSpPr>
        <p:spPr bwMode="auto">
          <a:xfrm rot="16200000">
            <a:off x="5217406" y="1847482"/>
            <a:ext cx="1378079" cy="1604566"/>
          </a:xfrm>
          <a:prstGeom prst="arc">
            <a:avLst>
              <a:gd name="adj1" fmla="val 18407690"/>
              <a:gd name="adj2" fmla="val 191657"/>
            </a:avLst>
          </a:prstGeom>
          <a:noFill/>
          <a:ln w="38100">
            <a:solidFill>
              <a:srgbClr val="0066CC"/>
            </a:solidFill>
            <a:headEnd type="arrow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Times New Roman" pitchFamily="18" charset="0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4960494" y="1282700"/>
            <a:ext cx="37221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ZA" sz="2400" b="1" i="1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i</a:t>
            </a:r>
            <a:r>
              <a:rPr lang="en-ZA" sz="2400" b="1" i="1" baseline="-25000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1</a:t>
            </a:r>
            <a:endParaRPr lang="en-ZA" sz="2400" b="1" dirty="0">
              <a:solidFill>
                <a:srgbClr val="000000"/>
              </a:solidFill>
              <a:latin typeface="Times New Roman" pitchFamily="18" charset="0"/>
              <a:sym typeface="Symbol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5513984" y="2100688"/>
            <a:ext cx="412805" cy="3077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r>
              <a:rPr lang="en-ZA" sz="2000" b="1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25</a:t>
            </a:r>
            <a:endParaRPr lang="en-ZA" sz="2000" b="1" dirty="0">
              <a:solidFill>
                <a:srgbClr val="000000"/>
              </a:solidFill>
              <a:latin typeface="Times New Roman" pitchFamily="18" charset="0"/>
              <a:sym typeface="Symbol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4677253" y="5483096"/>
            <a:ext cx="123623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ZA" sz="2000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4sin(377</a:t>
            </a:r>
            <a:r>
              <a:rPr lang="en-ZA" sz="2000" i="1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t</a:t>
            </a:r>
            <a:r>
              <a:rPr lang="en-ZA" sz="2000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)</a:t>
            </a:r>
            <a:endParaRPr lang="en-ZA" sz="2000" dirty="0">
              <a:solidFill>
                <a:srgbClr val="000000"/>
              </a:solidFill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6017299" y="1688107"/>
            <a:ext cx="2268570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ZA" sz="2000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-4sin(377</a:t>
            </a:r>
            <a:r>
              <a:rPr lang="en-ZA" sz="2000" i="1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t</a:t>
            </a:r>
            <a:r>
              <a:rPr lang="en-ZA" sz="2000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) </a:t>
            </a:r>
          </a:p>
          <a:p>
            <a:r>
              <a:rPr lang="en-ZA" sz="2000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=</a:t>
            </a:r>
            <a:r>
              <a:rPr lang="en-ZA" sz="2000" dirty="0">
                <a:solidFill>
                  <a:srgbClr val="000000"/>
                </a:solidFill>
                <a:latin typeface="Times New Roman" pitchFamily="18" charset="0"/>
                <a:sym typeface="Symbol"/>
              </a:rPr>
              <a:t> </a:t>
            </a:r>
            <a:r>
              <a:rPr lang="en-ZA" sz="2000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4sin(377</a:t>
            </a:r>
            <a:r>
              <a:rPr lang="en-ZA" sz="2000" i="1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t</a:t>
            </a:r>
            <a:r>
              <a:rPr lang="en-ZA" sz="2000" dirty="0">
                <a:solidFill>
                  <a:srgbClr val="000000"/>
                </a:solidFill>
                <a:latin typeface="Times New Roman" pitchFamily="18" charset="0"/>
                <a:sym typeface="Symbol"/>
              </a:rPr>
              <a:t> </a:t>
            </a:r>
            <a:r>
              <a:rPr lang="en-ZA" sz="2000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+ 180) </a:t>
            </a:r>
            <a:endParaRPr lang="en-ZA" sz="2000" dirty="0">
              <a:solidFill>
                <a:srgbClr val="000000"/>
              </a:solidFill>
            </a:endParaRPr>
          </a:p>
        </p:txBody>
      </p:sp>
      <p:sp>
        <p:nvSpPr>
          <p:cNvPr id="42" name="Arc 41"/>
          <p:cNvSpPr/>
          <p:nvPr/>
        </p:nvSpPr>
        <p:spPr bwMode="auto">
          <a:xfrm rot="16200000">
            <a:off x="5160284" y="2637801"/>
            <a:ext cx="1731166" cy="1729684"/>
          </a:xfrm>
          <a:prstGeom prst="arc">
            <a:avLst>
              <a:gd name="adj1" fmla="val 19645135"/>
              <a:gd name="adj2" fmla="val 8209927"/>
            </a:avLst>
          </a:prstGeom>
          <a:noFill/>
          <a:ln w="38100">
            <a:solidFill>
              <a:srgbClr val="00B050"/>
            </a:solidFill>
            <a:headEnd type="arrow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Times New Roman" pitchFamily="18" charset="0"/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6524551" y="2424526"/>
            <a:ext cx="2433680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ZA" sz="2000" dirty="0" smtClean="0">
                <a:latin typeface="Times New Roman" pitchFamily="18" charset="0"/>
                <a:sym typeface="Symbol"/>
              </a:rPr>
              <a:t></a:t>
            </a:r>
            <a:r>
              <a:rPr lang="en-ZA" sz="2000" i="1" dirty="0" smtClean="0">
                <a:latin typeface="Times New Roman" pitchFamily="18" charset="0"/>
                <a:sym typeface="Symbol"/>
              </a:rPr>
              <a:t></a:t>
            </a:r>
            <a:r>
              <a:rPr lang="en-ZA" sz="2000" dirty="0" smtClean="0">
                <a:latin typeface="Times New Roman" pitchFamily="18" charset="0"/>
                <a:sym typeface="Symbol"/>
              </a:rPr>
              <a:t> = 25 + 90 + 40 </a:t>
            </a:r>
          </a:p>
          <a:p>
            <a:r>
              <a:rPr lang="en-ZA" sz="2000" i="1" dirty="0">
                <a:latin typeface="Times New Roman" pitchFamily="18" charset="0"/>
                <a:sym typeface="Symbol"/>
              </a:rPr>
              <a:t> </a:t>
            </a:r>
            <a:r>
              <a:rPr lang="en-ZA" sz="2000" i="1" dirty="0" smtClean="0">
                <a:latin typeface="Times New Roman" pitchFamily="18" charset="0"/>
                <a:sym typeface="Symbol"/>
              </a:rPr>
              <a:t>    </a:t>
            </a:r>
            <a:r>
              <a:rPr lang="en-ZA" sz="2000" b="1" i="1" dirty="0" smtClean="0">
                <a:latin typeface="Times New Roman" pitchFamily="18" charset="0"/>
                <a:sym typeface="Symbol"/>
              </a:rPr>
              <a:t>= </a:t>
            </a:r>
            <a:r>
              <a:rPr lang="en-ZA" sz="2000" b="1" dirty="0" smtClean="0">
                <a:latin typeface="Times New Roman" pitchFamily="18" charset="0"/>
                <a:sym typeface="Symbol"/>
              </a:rPr>
              <a:t>155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152143" y="4621322"/>
            <a:ext cx="3709670" cy="584775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r>
              <a:rPr lang="en-ZA" sz="3200" b="1" i="1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sym typeface="Symbol"/>
              </a:rPr>
              <a:t>i</a:t>
            </a:r>
            <a:r>
              <a:rPr lang="en-ZA" sz="3200" b="1" i="1" baseline="-2500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sym typeface="Symbol"/>
              </a:rPr>
              <a:t>1</a:t>
            </a:r>
            <a:r>
              <a:rPr lang="en-ZA" sz="3200" b="1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sym typeface="Symbol"/>
              </a:rPr>
              <a:t> leads </a:t>
            </a:r>
            <a:r>
              <a:rPr lang="en-ZA" sz="3200" b="1" i="1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sym typeface="Symbol"/>
              </a:rPr>
              <a:t>i</a:t>
            </a:r>
            <a:r>
              <a:rPr lang="en-ZA" sz="3200" b="1" i="1" baseline="-2500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sym typeface="Symbol"/>
              </a:rPr>
              <a:t>2</a:t>
            </a:r>
            <a:r>
              <a:rPr lang="en-ZA" sz="3200" b="1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sym typeface="Symbol"/>
              </a:rPr>
              <a:t> by 155 !!!</a:t>
            </a:r>
            <a:endParaRPr lang="en-ZA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5590467" y="6239809"/>
            <a:ext cx="740095" cy="3077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r>
              <a:rPr lang="en-ZA" sz="2000" dirty="0" err="1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sin</a:t>
            </a:r>
            <a:r>
              <a:rPr lang="en-ZA" sz="2000" i="1" dirty="0" err="1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t</a:t>
            </a:r>
            <a:endParaRPr lang="en-ZA" sz="2000" i="1" dirty="0">
              <a:solidFill>
                <a:srgbClr val="000000"/>
              </a:solidFill>
              <a:latin typeface="Times New Roman" pitchFamily="18" charset="0"/>
              <a:sym typeface="Symbol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5711760" y="1172148"/>
            <a:ext cx="740095" cy="3077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r>
              <a:rPr lang="en-ZA" sz="2000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-</a:t>
            </a:r>
            <a:r>
              <a:rPr lang="en-ZA" sz="2000" dirty="0" err="1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sin</a:t>
            </a:r>
            <a:r>
              <a:rPr lang="en-ZA" sz="2000" i="1" dirty="0" err="1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t</a:t>
            </a:r>
            <a:endParaRPr lang="en-ZA" sz="2000" i="1" dirty="0">
              <a:solidFill>
                <a:srgbClr val="000000"/>
              </a:solidFill>
              <a:latin typeface="Times New Roman" pitchFamily="18" charset="0"/>
              <a:sym typeface="Symbol"/>
            </a:endParaRPr>
          </a:p>
        </p:txBody>
      </p:sp>
    </p:spTree>
    <p:extLst>
      <p:ext uri="{BB962C8B-B14F-4D97-AF65-F5344CB8AC3E}">
        <p14:creationId xmlns:p14="http://schemas.microsoft.com/office/powerpoint/2010/main" val="20388854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"/>
                            </p:stCondLst>
                            <p:childTnLst>
                              <p:par>
                                <p:cTn id="58" presetID="22" presetClass="exit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5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000"/>
                            </p:stCondLst>
                            <p:childTnLst>
                              <p:par>
                                <p:cTn id="6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1500"/>
                            </p:stCondLst>
                            <p:childTnLst>
                              <p:par>
                                <p:cTn id="6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3" dur="2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2000"/>
                            </p:stCondLst>
                            <p:childTnLst>
                              <p:par>
                                <p:cTn id="7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2500"/>
                            </p:stCondLst>
                            <p:childTnLst>
                              <p:par>
                                <p:cTn id="84" presetID="10" presetClass="exit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0" presetClass="exit" presetSubtype="0" fill="hold" grpId="1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500"/>
                            </p:stCondLst>
                            <p:childTnLst>
                              <p:par>
                                <p:cTn id="98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32" grpId="0" animBg="1"/>
      <p:bldP spid="33" grpId="0"/>
      <p:bldP spid="34" grpId="0"/>
      <p:bldP spid="35" grpId="0"/>
      <p:bldP spid="35" grpId="1"/>
      <p:bldP spid="36" grpId="0"/>
      <p:bldP spid="36" grpId="1"/>
      <p:bldP spid="42" grpId="0" animBg="1"/>
      <p:bldP spid="44" grpId="0"/>
      <p:bldP spid="45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8EA7D2-8F58-4B87-91F1-0A4A6974A6DE}" type="slidenum">
              <a:rPr lang="en-US"/>
              <a:pPr/>
              <a:t>17</a:t>
            </a:fld>
            <a:endParaRPr lang="en-US"/>
          </a:p>
        </p:txBody>
      </p:sp>
      <p:sp>
        <p:nvSpPr>
          <p:cNvPr id="248834" name="Rectangle 2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360488"/>
            <a:ext cx="8483600" cy="2170112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phasor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is a </a:t>
            </a:r>
            <a:r>
              <a:rPr lang="en-US" sz="2400" u="sng" dirty="0">
                <a:latin typeface="Times New Roman" pitchFamily="18" charset="0"/>
                <a:cs typeface="Times New Roman" pitchFamily="18" charset="0"/>
              </a:rPr>
              <a:t>complex number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that represents the amplitude and phase of a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sinusoid (COSINE). 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Complex Numbers:</a:t>
            </a:r>
            <a:endParaRPr lang="en-US" sz="2400" b="1" dirty="0"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lnSpc>
                <a:spcPct val="90000"/>
              </a:lnSpc>
              <a:buNone/>
            </a:pPr>
            <a:r>
              <a:rPr lang="en-US" sz="3600" i="1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z   =   x   +   j y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Complex Number		Real part	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      Imaginary part</a:t>
            </a:r>
          </a:p>
        </p:txBody>
      </p:sp>
      <p:sp>
        <p:nvSpPr>
          <p:cNvPr id="248835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dirty="0" smtClean="0"/>
              <a:t>Ch. 9 L#2</a:t>
            </a:r>
            <a:r>
              <a:rPr lang="en-US" sz="4000" dirty="0" smtClean="0"/>
              <a:t/>
            </a:r>
            <a:br>
              <a:rPr lang="en-US" sz="4000" dirty="0" smtClean="0"/>
            </a:br>
            <a:r>
              <a:rPr lang="en-US" sz="4000" dirty="0" smtClean="0"/>
              <a:t>9.3 </a:t>
            </a:r>
            <a:r>
              <a:rPr lang="en-US" sz="4000" dirty="0" err="1" smtClean="0"/>
              <a:t>Phasors</a:t>
            </a:r>
            <a:endParaRPr lang="en-US" sz="4000" dirty="0"/>
          </a:p>
        </p:txBody>
      </p:sp>
      <p:sp>
        <p:nvSpPr>
          <p:cNvPr id="248836" name="Rectangle 4"/>
          <p:cNvSpPr>
            <a:spLocks noChangeArrowheads="1"/>
          </p:cNvSpPr>
          <p:nvPr/>
        </p:nvSpPr>
        <p:spPr bwMode="auto">
          <a:xfrm>
            <a:off x="0" y="32146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ZA"/>
          </a:p>
        </p:txBody>
      </p:sp>
      <p:sp>
        <p:nvSpPr>
          <p:cNvPr id="248837" name="Rectangle 5"/>
          <p:cNvSpPr>
            <a:spLocks noChangeArrowheads="1"/>
          </p:cNvSpPr>
          <p:nvPr/>
        </p:nvSpPr>
        <p:spPr bwMode="auto">
          <a:xfrm>
            <a:off x="0" y="31813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ZA"/>
          </a:p>
        </p:txBody>
      </p:sp>
      <p:sp>
        <p:nvSpPr>
          <p:cNvPr id="248844" name="Rectangle 12"/>
          <p:cNvSpPr>
            <a:spLocks noChangeArrowheads="1"/>
          </p:cNvSpPr>
          <p:nvPr/>
        </p:nvSpPr>
        <p:spPr bwMode="auto">
          <a:xfrm>
            <a:off x="0" y="32385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ZA"/>
          </a:p>
        </p:txBody>
      </p:sp>
      <p:sp>
        <p:nvSpPr>
          <p:cNvPr id="248846" name="Rectangle 14"/>
          <p:cNvSpPr>
            <a:spLocks noChangeArrowheads="1"/>
          </p:cNvSpPr>
          <p:nvPr/>
        </p:nvSpPr>
        <p:spPr bwMode="auto">
          <a:xfrm>
            <a:off x="0" y="32385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ZA"/>
          </a:p>
        </p:txBody>
      </p:sp>
      <p:sp>
        <p:nvSpPr>
          <p:cNvPr id="248848" name="Rectangle 16"/>
          <p:cNvSpPr>
            <a:spLocks noChangeArrowheads="1"/>
          </p:cNvSpPr>
          <p:nvPr/>
        </p:nvSpPr>
        <p:spPr bwMode="auto">
          <a:xfrm>
            <a:off x="-609600" y="32004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ZA"/>
          </a:p>
        </p:txBody>
      </p:sp>
      <p:sp>
        <p:nvSpPr>
          <p:cNvPr id="248850" name="Rectangle 18"/>
          <p:cNvSpPr>
            <a:spLocks noChangeArrowheads="1"/>
          </p:cNvSpPr>
          <p:nvPr/>
        </p:nvSpPr>
        <p:spPr bwMode="auto">
          <a:xfrm>
            <a:off x="0" y="32385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ZA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8851" name="Text Box 19"/>
              <p:cNvSpPr txBox="1">
                <a:spLocks noChangeArrowheads="1"/>
              </p:cNvSpPr>
              <p:nvPr/>
            </p:nvSpPr>
            <p:spPr bwMode="auto">
              <a:xfrm>
                <a:off x="190500" y="3547768"/>
                <a:ext cx="5600700" cy="18733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 indent="338138">
                  <a:defRPr>
                    <a:solidFill>
                      <a:schemeClr val="tx1"/>
                    </a:solidFill>
                    <a:latin typeface="Arial" pitchFamily="34" charset="0"/>
                  </a:defRPr>
                </a:lvl1pPr>
                <a:lvl2pPr marL="850900" indent="-342900">
                  <a:defRPr>
                    <a:solidFill>
                      <a:schemeClr val="tx1"/>
                    </a:solidFill>
                    <a:latin typeface="Arial" pitchFamily="34" charset="0"/>
                  </a:defRPr>
                </a:lvl2pPr>
                <a:lvl3pPr marL="1257300" indent="-342900">
                  <a:defRPr>
                    <a:solidFill>
                      <a:schemeClr val="tx1"/>
                    </a:solidFill>
                    <a:latin typeface="Arial" pitchFamily="34" charset="0"/>
                  </a:defRPr>
                </a:lvl3pPr>
                <a:lvl4pPr marL="1714500" indent="-342900">
                  <a:defRPr>
                    <a:solidFill>
                      <a:schemeClr val="tx1"/>
                    </a:solidFill>
                    <a:latin typeface="Arial" pitchFamily="34" charset="0"/>
                  </a:defRPr>
                </a:lvl4pPr>
                <a:lvl5pPr marL="2171700" indent="-342900">
                  <a:defRPr>
                    <a:solidFill>
                      <a:schemeClr val="tx1"/>
                    </a:solidFill>
                    <a:latin typeface="Arial" pitchFamily="34" charset="0"/>
                  </a:defRPr>
                </a:lvl5pPr>
                <a:lvl6pPr marL="2628900" indent="-3429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6pPr>
                <a:lvl7pPr marL="3086100" indent="-3429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7pPr>
                <a:lvl8pPr marL="3543300" indent="-3429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8pPr>
                <a:lvl9pPr marL="4000500" indent="-3429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</a:defRPr>
                </a:lvl9pPr>
              </a:lstStyle>
              <a:p>
                <a:pPr indent="0" eaLnBrk="0" hangingPunct="0">
                  <a:spcBef>
                    <a:spcPct val="50000"/>
                  </a:spcBef>
                </a:pPr>
                <a:r>
                  <a:rPr lang="en-US" sz="2000" b="1" dirty="0" smtClean="0">
                    <a:latin typeface="Times New Roman" pitchFamily="18" charset="0"/>
                  </a:rPr>
                  <a:t>Three different forms of writing:</a:t>
                </a:r>
              </a:p>
              <a:p>
                <a:pPr eaLnBrk="0" hangingPunct="0">
                  <a:spcBef>
                    <a:spcPct val="50000"/>
                  </a:spcBef>
                  <a:buFont typeface="Wingdings" pitchFamily="2" charset="2"/>
                  <a:buAutoNum type="alphaLcPeriod"/>
                </a:pPr>
                <a:r>
                  <a:rPr lang="en-US" sz="2000" dirty="0" smtClean="0">
                    <a:latin typeface="Times New Roman" pitchFamily="18" charset="0"/>
                  </a:rPr>
                  <a:t>Rectangular:	</a:t>
                </a:r>
                <a14:m>
                  <m:oMath xmlns:m="http://schemas.openxmlformats.org/officeDocument/2006/math">
                    <m:r>
                      <a:rPr lang="en-ZA" sz="2000" b="0" i="1" smtClean="0">
                        <a:solidFill>
                          <a:srgbClr val="000000"/>
                        </a:solidFill>
                        <a:latin typeface="Cambria Math"/>
                      </a:rPr>
                      <m:t>𝑧</m:t>
                    </m:r>
                    <m:r>
                      <a:rPr lang="en-ZA" sz="2000" b="0" i="1" smtClean="0">
                        <a:solidFill>
                          <a:srgbClr val="000000"/>
                        </a:solidFill>
                        <a:latin typeface="Cambria Math"/>
                      </a:rPr>
                      <m:t>=</m:t>
                    </m:r>
                    <m:r>
                      <a:rPr lang="en-ZA" sz="2000" b="0" i="1" smtClean="0">
                        <a:solidFill>
                          <a:srgbClr val="000000"/>
                        </a:solidFill>
                        <a:latin typeface="Cambria Math"/>
                      </a:rPr>
                      <m:t>𝑥</m:t>
                    </m:r>
                    <m:r>
                      <a:rPr lang="en-ZA" sz="2000" b="0" i="1" smtClean="0">
                        <a:solidFill>
                          <a:srgbClr val="000000"/>
                        </a:solidFill>
                        <a:latin typeface="Cambria Math"/>
                      </a:rPr>
                      <m:t>+</m:t>
                    </m:r>
                    <m:r>
                      <a:rPr lang="en-ZA" sz="2000" b="0" i="1" smtClean="0">
                        <a:solidFill>
                          <a:srgbClr val="000000"/>
                        </a:solidFill>
                        <a:latin typeface="Cambria Math"/>
                      </a:rPr>
                      <m:t>𝑗𝑦</m:t>
                    </m:r>
                    <m:r>
                      <a:rPr lang="en-ZA" sz="2000" b="0" i="1" smtClean="0">
                        <a:solidFill>
                          <a:srgbClr val="000000"/>
                        </a:solidFill>
                        <a:latin typeface="Cambria Math"/>
                      </a:rPr>
                      <m:t>=</m:t>
                    </m:r>
                    <m:r>
                      <a:rPr lang="en-ZA" sz="2000" b="0" i="1" smtClean="0">
                        <a:solidFill>
                          <a:srgbClr val="000000"/>
                        </a:solidFill>
                        <a:latin typeface="Cambria Math"/>
                      </a:rPr>
                      <m:t>𝑟</m:t>
                    </m:r>
                    <m:d>
                      <m:dPr>
                        <m:ctrlPr>
                          <a:rPr lang="en-ZA" sz="2000" b="0" i="1" smtClean="0">
                            <a:solidFill>
                              <a:srgbClr val="000000"/>
                            </a:solidFill>
                            <a:latin typeface="Cambria Math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ZA" sz="2000" b="0" i="1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ZA" sz="2000" b="0" i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cos</m:t>
                            </m:r>
                          </m:fName>
                          <m:e>
                            <m:r>
                              <a:rPr lang="en-ZA" sz="2000" b="0" i="0" smtClean="0">
                                <a:solidFill>
                                  <a:srgbClr val="000000"/>
                                </a:solidFill>
                                <a:latin typeface="Cambria Math"/>
                                <a:sym typeface="Symbol"/>
                              </a:rPr>
                              <m:t></m:t>
                            </m:r>
                          </m:e>
                        </m:func>
                        <m:r>
                          <a:rPr lang="en-ZA" sz="2000" b="0" i="1" smtClean="0">
                            <a:solidFill>
                              <a:srgbClr val="000000"/>
                            </a:solidFill>
                            <a:latin typeface="Cambria Math"/>
                          </a:rPr>
                          <m:t>+</m:t>
                        </m:r>
                        <m:r>
                          <a:rPr lang="en-ZA" sz="2000" b="0" i="1" smtClean="0">
                            <a:solidFill>
                              <a:srgbClr val="000000"/>
                            </a:solidFill>
                            <a:latin typeface="Cambria Math"/>
                          </a:rPr>
                          <m:t>𝑗</m:t>
                        </m:r>
                        <m:func>
                          <m:funcPr>
                            <m:ctrlPr>
                              <a:rPr lang="en-ZA" sz="2000" b="0" i="1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ZA" sz="2000" b="0" i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sin</m:t>
                            </m:r>
                          </m:fName>
                          <m:e>
                            <m:r>
                              <a:rPr lang="en-ZA" sz="2000">
                                <a:solidFill>
                                  <a:srgbClr val="000000"/>
                                </a:solidFill>
                                <a:latin typeface="Cambria Math"/>
                                <a:sym typeface="Symbol"/>
                              </a:rPr>
                              <m:t></m:t>
                            </m:r>
                          </m:e>
                        </m:func>
                      </m:e>
                    </m:d>
                  </m:oMath>
                </a14:m>
                <a:endParaRPr lang="en-US" sz="2000" dirty="0">
                  <a:latin typeface="Times New Roman" pitchFamily="18" charset="0"/>
                </a:endParaRPr>
              </a:p>
              <a:p>
                <a:pPr eaLnBrk="0" hangingPunct="0">
                  <a:spcBef>
                    <a:spcPct val="50000"/>
                  </a:spcBef>
                  <a:buFont typeface="Wingdings" pitchFamily="2" charset="2"/>
                  <a:buAutoNum type="alphaLcPeriod"/>
                </a:pPr>
                <a:r>
                  <a:rPr lang="en-US" sz="2000" dirty="0" smtClean="0">
                    <a:latin typeface="Times New Roman" pitchFamily="18" charset="0"/>
                  </a:rPr>
                  <a:t>Polar:	</a:t>
                </a:r>
                <a14:m>
                  <m:oMath xmlns:m="http://schemas.openxmlformats.org/officeDocument/2006/math">
                    <m:r>
                      <a:rPr lang="en-ZA" sz="2000" b="0" i="1" smtClean="0">
                        <a:solidFill>
                          <a:srgbClr val="000000"/>
                        </a:solidFill>
                        <a:latin typeface="Cambria Math"/>
                      </a:rPr>
                      <m:t>𝑧</m:t>
                    </m:r>
                    <m:r>
                      <a:rPr lang="en-ZA" sz="2000" b="0" i="1" smtClean="0">
                        <a:solidFill>
                          <a:srgbClr val="000000"/>
                        </a:solidFill>
                        <a:latin typeface="Cambria Math"/>
                      </a:rPr>
                      <m:t>=</m:t>
                    </m:r>
                    <m:r>
                      <a:rPr lang="en-ZA" sz="2000" b="0" i="1" smtClean="0">
                        <a:solidFill>
                          <a:srgbClr val="000000"/>
                        </a:solidFill>
                        <a:latin typeface="Cambria Math"/>
                      </a:rPr>
                      <m:t>𝑟</m:t>
                    </m:r>
                    <m:r>
                      <a:rPr lang="en-ZA" sz="2000" b="0" i="1" smtClean="0">
                        <a:solidFill>
                          <a:srgbClr val="000000"/>
                        </a:solidFill>
                        <a:latin typeface="Cambria Math"/>
                        <a:sym typeface="Symbol"/>
                      </a:rPr>
                      <m:t></m:t>
                    </m:r>
                    <m:r>
                      <a:rPr lang="en-ZA" sz="2000">
                        <a:solidFill>
                          <a:srgbClr val="000000"/>
                        </a:solidFill>
                        <a:latin typeface="Cambria Math"/>
                        <a:sym typeface="Symbol"/>
                      </a:rPr>
                      <m:t></m:t>
                    </m:r>
                    <m:r>
                      <a:rPr lang="en-ZA" sz="2000" b="0" i="1" smtClean="0">
                        <a:solidFill>
                          <a:srgbClr val="000000"/>
                        </a:solidFill>
                        <a:latin typeface="Cambria Math"/>
                        <a:sym typeface="Symbol"/>
                      </a:rPr>
                      <m:t></m:t>
                    </m:r>
                  </m:oMath>
                </a14:m>
                <a:r>
                  <a:rPr lang="en-US" sz="2000" dirty="0" smtClean="0">
                    <a:latin typeface="Times New Roman" pitchFamily="18" charset="0"/>
                  </a:rPr>
                  <a:t>  (</a:t>
                </a:r>
                <a:r>
                  <a:rPr lang="en-US" sz="2000" i="1" dirty="0" smtClean="0">
                    <a:latin typeface="Times New Roman" pitchFamily="18" charset="0"/>
                  </a:rPr>
                  <a:t>r</a:t>
                </a:r>
                <a:r>
                  <a:rPr lang="en-US" sz="2000" dirty="0" smtClean="0">
                    <a:latin typeface="Times New Roman" pitchFamily="18" charset="0"/>
                  </a:rPr>
                  <a:t> = magnitude of </a:t>
                </a:r>
                <a:r>
                  <a:rPr lang="en-US" sz="2000" i="1" dirty="0" smtClean="0">
                    <a:latin typeface="Times New Roman" pitchFamily="18" charset="0"/>
                  </a:rPr>
                  <a:t>z</a:t>
                </a:r>
                <a:r>
                  <a:rPr lang="en-US" sz="2000" dirty="0" smtClean="0">
                    <a:latin typeface="Times New Roman" pitchFamily="18" charset="0"/>
                  </a:rPr>
                  <a:t>)</a:t>
                </a:r>
                <a:endParaRPr lang="en-US" sz="2000" dirty="0">
                  <a:latin typeface="Times New Roman" pitchFamily="18" charset="0"/>
                </a:endParaRPr>
              </a:p>
              <a:p>
                <a:pPr eaLnBrk="0" hangingPunct="0">
                  <a:spcBef>
                    <a:spcPct val="50000"/>
                  </a:spcBef>
                  <a:buFont typeface="Wingdings" pitchFamily="2" charset="2"/>
                  <a:buAutoNum type="alphaLcPeriod"/>
                </a:pPr>
                <a:r>
                  <a:rPr lang="en-US" sz="2000" dirty="0" smtClean="0">
                    <a:latin typeface="Times New Roman" pitchFamily="18" charset="0"/>
                  </a:rPr>
                  <a:t>Exponential:	</a:t>
                </a:r>
                <a14:m>
                  <m:oMath xmlns:m="http://schemas.openxmlformats.org/officeDocument/2006/math">
                    <m:r>
                      <a:rPr lang="en-ZA" sz="2000" b="0" i="1" smtClean="0">
                        <a:solidFill>
                          <a:srgbClr val="000000"/>
                        </a:solidFill>
                        <a:latin typeface="Cambria Math"/>
                      </a:rPr>
                      <m:t>𝑧</m:t>
                    </m:r>
                    <m:r>
                      <a:rPr lang="en-ZA" sz="2000" b="0" i="1" smtClean="0">
                        <a:solidFill>
                          <a:srgbClr val="000000"/>
                        </a:solidFill>
                        <a:latin typeface="Cambria Math"/>
                      </a:rPr>
                      <m:t>=</m:t>
                    </m:r>
                    <m:r>
                      <a:rPr lang="en-ZA" sz="2000" b="0" i="1" smtClean="0">
                        <a:solidFill>
                          <a:srgbClr val="000000"/>
                        </a:solidFill>
                        <a:latin typeface="Cambria Math"/>
                      </a:rPr>
                      <m:t>𝑟</m:t>
                    </m:r>
                    <m:sSup>
                      <m:sSupPr>
                        <m:ctrlPr>
                          <a:rPr lang="en-ZA" sz="2000" b="0" i="1" smtClean="0">
                            <a:solidFill>
                              <a:srgbClr val="000000"/>
                            </a:solidFill>
                            <a:latin typeface="Cambria Math"/>
                          </a:rPr>
                        </m:ctrlPr>
                      </m:sSupPr>
                      <m:e>
                        <m:r>
                          <a:rPr lang="en-ZA" sz="2000" b="0" i="1" smtClean="0">
                            <a:solidFill>
                              <a:srgbClr val="000000"/>
                            </a:solidFill>
                            <a:latin typeface="Cambria Math"/>
                          </a:rPr>
                          <m:t>𝑒</m:t>
                        </m:r>
                      </m:e>
                      <m:sup>
                        <m:r>
                          <a:rPr lang="en-ZA" sz="2000" b="0" i="1" smtClean="0">
                            <a:solidFill>
                              <a:srgbClr val="000000"/>
                            </a:solidFill>
                            <a:latin typeface="Cambria Math"/>
                          </a:rPr>
                          <m:t>𝑗</m:t>
                        </m:r>
                        <m:r>
                          <a:rPr lang="en-ZA" sz="2000" b="0" i="1" smtClean="0">
                            <a:solidFill>
                              <a:srgbClr val="000000"/>
                            </a:solidFill>
                            <a:latin typeface="Cambria Math"/>
                            <a:sym typeface="Symbol"/>
                          </a:rPr>
                          <m:t></m:t>
                        </m:r>
                      </m:sup>
                    </m:sSup>
                  </m:oMath>
                </a14:m>
                <a:endParaRPr lang="en-US" sz="2000" dirty="0">
                  <a:latin typeface="Times New Roman" pitchFamily="18" charset="0"/>
                </a:endParaRPr>
              </a:p>
            </p:txBody>
          </p:sp>
        </mc:Choice>
        <mc:Fallback xmlns="">
          <p:sp>
            <p:nvSpPr>
              <p:cNvPr id="248851" name="Text 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0500" y="3547768"/>
                <a:ext cx="5600700" cy="1873333"/>
              </a:xfrm>
              <a:prstGeom prst="rect">
                <a:avLst/>
              </a:prstGeom>
              <a:blipFill rotWithShape="1">
                <a:blip r:embed="rId4"/>
                <a:stretch>
                  <a:fillRect l="-1088" t="-1629" b="-5212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8853" name="Rectangle 21"/>
          <p:cNvSpPr>
            <a:spLocks noChangeArrowheads="1"/>
          </p:cNvSpPr>
          <p:nvPr/>
        </p:nvSpPr>
        <p:spPr bwMode="auto">
          <a:xfrm>
            <a:off x="0" y="32099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ZA"/>
          </a:p>
        </p:txBody>
      </p:sp>
      <p:sp>
        <p:nvSpPr>
          <p:cNvPr id="248857" name="Rectangle 25"/>
          <p:cNvSpPr>
            <a:spLocks noChangeArrowheads="1"/>
          </p:cNvSpPr>
          <p:nvPr/>
        </p:nvSpPr>
        <p:spPr bwMode="auto">
          <a:xfrm>
            <a:off x="0" y="31242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ZA"/>
          </a:p>
        </p:txBody>
      </p:sp>
      <p:grpSp>
        <p:nvGrpSpPr>
          <p:cNvPr id="248862" name="Group 30"/>
          <p:cNvGrpSpPr>
            <a:grpSpLocks/>
          </p:cNvGrpSpPr>
          <p:nvPr/>
        </p:nvGrpSpPr>
        <p:grpSpPr bwMode="auto">
          <a:xfrm>
            <a:off x="622300" y="5432724"/>
            <a:ext cx="2971800" cy="1371600"/>
            <a:chOff x="3264" y="3216"/>
            <a:chExt cx="1872" cy="864"/>
          </a:xfrm>
        </p:grpSpPr>
        <p:sp>
          <p:nvSpPr>
            <p:cNvPr id="248859" name="Rectangle 27"/>
            <p:cNvSpPr>
              <a:spLocks noChangeArrowheads="1"/>
            </p:cNvSpPr>
            <p:nvPr/>
          </p:nvSpPr>
          <p:spPr bwMode="auto">
            <a:xfrm>
              <a:off x="3264" y="3216"/>
              <a:ext cx="1872" cy="864"/>
            </a:xfrm>
            <a:prstGeom prst="rect">
              <a:avLst/>
            </a:prstGeom>
            <a:solidFill>
              <a:srgbClr val="FFFF00">
                <a:alpha val="52000"/>
              </a:srgbClr>
            </a:solidFill>
            <a:ln w="952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ZA"/>
            </a:p>
          </p:txBody>
        </p:sp>
        <p:grpSp>
          <p:nvGrpSpPr>
            <p:cNvPr id="248860" name="Group 28"/>
            <p:cNvGrpSpPr>
              <a:grpSpLocks/>
            </p:cNvGrpSpPr>
            <p:nvPr/>
          </p:nvGrpSpPr>
          <p:grpSpPr bwMode="auto">
            <a:xfrm>
              <a:off x="3360" y="3312"/>
              <a:ext cx="1536" cy="672"/>
              <a:chOff x="3072" y="3312"/>
              <a:chExt cx="1536" cy="672"/>
            </a:xfrm>
          </p:grpSpPr>
          <p:graphicFrame>
            <p:nvGraphicFramePr>
              <p:cNvPr id="248852" name="Object 20"/>
              <p:cNvGraphicFramePr>
                <a:graphicFrameLocks noChangeAspect="1"/>
              </p:cNvGraphicFramePr>
              <p:nvPr/>
            </p:nvGraphicFramePr>
            <p:xfrm>
              <a:off x="3744" y="3312"/>
              <a:ext cx="864" cy="27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49238" name="Equation" r:id="rId5" imgW="863225" imgH="279279" progId="Equation.3">
                      <p:embed/>
                    </p:oleObj>
                  </mc:Choice>
                  <mc:Fallback>
                    <p:oleObj name="Equation" r:id="rId5" imgW="863225" imgH="279279" progId="Equation.3">
                      <p:embed/>
                      <p:pic>
                        <p:nvPicPr>
                          <p:cNvPr id="0" name="Object 2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744" y="3312"/>
                            <a:ext cx="864" cy="276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48856" name="Object 24"/>
              <p:cNvGraphicFramePr>
                <a:graphicFrameLocks noChangeAspect="1"/>
              </p:cNvGraphicFramePr>
              <p:nvPr/>
            </p:nvGraphicFramePr>
            <p:xfrm>
              <a:off x="3792" y="3600"/>
              <a:ext cx="720" cy="38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49239" name="Equation" r:id="rId7" imgW="736280" imgH="393529" progId="Equation.3">
                      <p:embed/>
                    </p:oleObj>
                  </mc:Choice>
                  <mc:Fallback>
                    <p:oleObj name="Equation" r:id="rId7" imgW="736280" imgH="393529" progId="Equation.3">
                      <p:embed/>
                      <p:pic>
                        <p:nvPicPr>
                          <p:cNvPr id="0" name="Object 2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792" y="3600"/>
                            <a:ext cx="720" cy="384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48858" name="Text Box 26"/>
              <p:cNvSpPr txBox="1">
                <a:spLocks noChangeArrowheads="1"/>
              </p:cNvSpPr>
              <p:nvPr/>
            </p:nvSpPr>
            <p:spPr bwMode="auto">
              <a:xfrm>
                <a:off x="3072" y="3513"/>
                <a:ext cx="624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eaLnBrk="0" hangingPunct="0">
                  <a:spcBef>
                    <a:spcPct val="50000"/>
                  </a:spcBef>
                </a:pPr>
                <a:r>
                  <a:rPr lang="en-US" dirty="0">
                    <a:latin typeface="Verdana" pitchFamily="34" charset="0"/>
                  </a:rPr>
                  <a:t>where </a:t>
                </a:r>
              </a:p>
            </p:txBody>
          </p:sp>
        </p:grpSp>
      </p:grpSp>
      <p:grpSp>
        <p:nvGrpSpPr>
          <p:cNvPr id="11" name="Group 10"/>
          <p:cNvGrpSpPr/>
          <p:nvPr/>
        </p:nvGrpSpPr>
        <p:grpSpPr>
          <a:xfrm>
            <a:off x="1701800" y="2641600"/>
            <a:ext cx="4965700" cy="609600"/>
            <a:chOff x="1701800" y="3365500"/>
            <a:chExt cx="4965700" cy="609600"/>
          </a:xfrm>
        </p:grpSpPr>
        <p:sp>
          <p:nvSpPr>
            <p:cNvPr id="3" name="Oval 2"/>
            <p:cNvSpPr/>
            <p:nvPr/>
          </p:nvSpPr>
          <p:spPr bwMode="auto">
            <a:xfrm>
              <a:off x="3175000" y="3365500"/>
              <a:ext cx="419100" cy="419100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  <a:prstDash val="sysDot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45720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ZA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Times New Roman" pitchFamily="18" charset="0"/>
              </a:endParaRPr>
            </a:p>
          </p:txBody>
        </p:sp>
        <p:sp>
          <p:nvSpPr>
            <p:cNvPr id="26" name="Oval 25"/>
            <p:cNvSpPr/>
            <p:nvPr/>
          </p:nvSpPr>
          <p:spPr bwMode="auto">
            <a:xfrm>
              <a:off x="4349750" y="3365500"/>
              <a:ext cx="419100" cy="419100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  <a:prstDash val="sysDot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45720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ZA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Times New Roman" pitchFamily="18" charset="0"/>
              </a:endParaRPr>
            </a:p>
          </p:txBody>
        </p:sp>
        <p:sp>
          <p:nvSpPr>
            <p:cNvPr id="27" name="Oval 26"/>
            <p:cNvSpPr/>
            <p:nvPr/>
          </p:nvSpPr>
          <p:spPr bwMode="auto">
            <a:xfrm>
              <a:off x="5791200" y="3403600"/>
              <a:ext cx="419100" cy="419100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  <a:prstDash val="sysDot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45720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ZA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Times New Roman" pitchFamily="18" charset="0"/>
              </a:endParaRPr>
            </a:p>
          </p:txBody>
        </p:sp>
        <p:cxnSp>
          <p:nvCxnSpPr>
            <p:cNvPr id="5" name="Straight Arrow Connector 4"/>
            <p:cNvCxnSpPr>
              <a:stCxn id="3" idx="2"/>
            </p:cNvCxnSpPr>
            <p:nvPr/>
          </p:nvCxnSpPr>
          <p:spPr bwMode="auto">
            <a:xfrm flipH="1">
              <a:off x="1701800" y="3575050"/>
              <a:ext cx="1473200" cy="247650"/>
            </a:xfrm>
            <a:prstGeom prst="straightConnector1">
              <a:avLst/>
            </a:prstGeom>
            <a:ln>
              <a:solidFill>
                <a:srgbClr val="FF0000"/>
              </a:solidFill>
              <a:headEnd type="none" w="med" len="med"/>
              <a:tailEnd type="arrow" w="lg" len="lg"/>
            </a:ln>
            <a:extLst/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30" name="Straight Arrow Connector 29"/>
            <p:cNvCxnSpPr>
              <a:stCxn id="26" idx="4"/>
            </p:cNvCxnSpPr>
            <p:nvPr/>
          </p:nvCxnSpPr>
          <p:spPr bwMode="auto">
            <a:xfrm>
              <a:off x="4559300" y="3784600"/>
              <a:ext cx="0" cy="190500"/>
            </a:xfrm>
            <a:prstGeom prst="straightConnector1">
              <a:avLst/>
            </a:prstGeom>
            <a:ln>
              <a:solidFill>
                <a:srgbClr val="FF0000"/>
              </a:solidFill>
              <a:headEnd type="none" w="med" len="med"/>
              <a:tailEnd type="arrow" w="lg" len="lg"/>
            </a:ln>
            <a:extLst/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34" name="Straight Arrow Connector 33"/>
            <p:cNvCxnSpPr>
              <a:stCxn id="27" idx="6"/>
            </p:cNvCxnSpPr>
            <p:nvPr/>
          </p:nvCxnSpPr>
          <p:spPr bwMode="auto">
            <a:xfrm>
              <a:off x="6210300" y="3613150"/>
              <a:ext cx="457200" cy="361950"/>
            </a:xfrm>
            <a:prstGeom prst="straightConnector1">
              <a:avLst/>
            </a:prstGeom>
            <a:ln>
              <a:solidFill>
                <a:srgbClr val="FF0000"/>
              </a:solidFill>
              <a:headEnd type="none" w="med" len="med"/>
              <a:tailEnd type="arrow" w="lg" len="lg"/>
            </a:ln>
            <a:extLst/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</p:grpSp>
      <p:pic>
        <p:nvPicPr>
          <p:cNvPr id="38" name="Picture 3" descr="ale29559_09006"/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31" b="13869"/>
          <a:stretch/>
        </p:blipFill>
        <p:spPr bwMode="auto">
          <a:xfrm>
            <a:off x="5485602" y="3959524"/>
            <a:ext cx="3569892" cy="272067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488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488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488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488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488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C22A78-8182-438C-B4E0-076DB970EBDC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17" name="Rectangle 4"/>
          <p:cNvSpPr txBox="1">
            <a:spLocks noChangeArrowheads="1"/>
          </p:cNvSpPr>
          <p:nvPr/>
        </p:nvSpPr>
        <p:spPr>
          <a:xfrm>
            <a:off x="442913" y="103188"/>
            <a:ext cx="8243887" cy="1027112"/>
          </a:xfrm>
          <a:prstGeom prst="rect">
            <a:avLst/>
          </a:prstGeom>
        </p:spPr>
        <p:txBody>
          <a:bodyPr anchor="t"/>
          <a:lstStyle>
            <a:lvl1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2pPr>
            <a:lvl3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3pPr>
            <a:lvl4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4pPr>
            <a:lvl5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5pPr>
            <a:lvl6pPr marL="4572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6pPr>
            <a:lvl7pPr marL="9144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7pPr>
            <a:lvl8pPr marL="13716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8pPr>
            <a:lvl9pPr marL="18288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9pPr>
          </a:lstStyle>
          <a:p>
            <a:r>
              <a:rPr lang="en-US" sz="2800" dirty="0" smtClean="0"/>
              <a:t>9.3 </a:t>
            </a:r>
            <a:r>
              <a:rPr lang="en-US" sz="2800" dirty="0" err="1" smtClean="0"/>
              <a:t>Phasors</a:t>
            </a:r>
            <a:r>
              <a:rPr lang="en-US" sz="4000" dirty="0" smtClean="0"/>
              <a:t/>
            </a:r>
            <a:br>
              <a:rPr lang="en-US" sz="4000" dirty="0" smtClean="0"/>
            </a:br>
            <a:r>
              <a:rPr lang="en-US" sz="4000" dirty="0" smtClean="0">
                <a:solidFill>
                  <a:srgbClr val="FF0000"/>
                </a:solidFill>
              </a:rPr>
              <a:t>On the complex plane</a:t>
            </a:r>
            <a:endParaRPr lang="en-US" sz="4000" dirty="0">
              <a:solidFill>
                <a:srgbClr val="FF0000"/>
              </a:solidFill>
            </a:endParaRPr>
          </a:p>
        </p:txBody>
      </p:sp>
      <p:grpSp>
        <p:nvGrpSpPr>
          <p:cNvPr id="42" name="Group 41"/>
          <p:cNvGrpSpPr/>
          <p:nvPr/>
        </p:nvGrpSpPr>
        <p:grpSpPr>
          <a:xfrm>
            <a:off x="69422" y="1092322"/>
            <a:ext cx="5571524" cy="3178053"/>
            <a:chOff x="442913" y="1092322"/>
            <a:chExt cx="5571524" cy="3178053"/>
          </a:xfrm>
        </p:grpSpPr>
        <p:graphicFrame>
          <p:nvGraphicFramePr>
            <p:cNvPr id="22" name="Chart 21"/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3535011592"/>
                </p:ext>
              </p:extLst>
            </p:nvPr>
          </p:nvGraphicFramePr>
          <p:xfrm>
            <a:off x="442913" y="1130300"/>
            <a:ext cx="4724399" cy="3140075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2"/>
            </a:graphicData>
          </a:graphic>
        </p:graphicFrame>
        <p:cxnSp>
          <p:nvCxnSpPr>
            <p:cNvPr id="23" name="Straight Arrow Connector 22"/>
            <p:cNvCxnSpPr/>
            <p:nvPr/>
          </p:nvCxnSpPr>
          <p:spPr bwMode="auto">
            <a:xfrm flipV="1">
              <a:off x="2844800" y="1755774"/>
              <a:ext cx="1641475" cy="939800"/>
            </a:xfrm>
            <a:prstGeom prst="straightConnector1">
              <a:avLst/>
            </a:prstGeom>
            <a:ln>
              <a:solidFill>
                <a:srgbClr val="FF0000"/>
              </a:solidFill>
              <a:headEnd type="none" w="med" len="med"/>
              <a:tailEnd type="arrow" w="lg" len="lg"/>
            </a:ln>
            <a:extLst/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sp>
          <p:nvSpPr>
            <p:cNvPr id="31" name="TextBox 30"/>
            <p:cNvSpPr txBox="1"/>
            <p:nvPr/>
          </p:nvSpPr>
          <p:spPr>
            <a:xfrm>
              <a:off x="3013194" y="3309874"/>
              <a:ext cx="1317594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>
              <a:spAutoFit/>
            </a:bodyPr>
            <a:lstStyle/>
            <a:p>
              <a:r>
                <a:rPr lang="en-ZA" sz="2000" i="1" dirty="0" smtClean="0">
                  <a:solidFill>
                    <a:srgbClr val="000000"/>
                  </a:solidFill>
                  <a:latin typeface="Times New Roman" pitchFamily="18" charset="0"/>
                  <a:sym typeface="Symbol"/>
                </a:rPr>
                <a:t>x =r </a:t>
              </a:r>
              <a:r>
                <a:rPr lang="en-ZA" sz="2000" dirty="0" err="1" smtClean="0">
                  <a:solidFill>
                    <a:srgbClr val="000000"/>
                  </a:solidFill>
                  <a:latin typeface="Times New Roman" pitchFamily="18" charset="0"/>
                  <a:sym typeface="Symbol"/>
                </a:rPr>
                <a:t>cos</a:t>
              </a:r>
              <a:r>
                <a:rPr lang="en-ZA" sz="2000" dirty="0" smtClean="0">
                  <a:solidFill>
                    <a:srgbClr val="000000"/>
                  </a:solidFill>
                  <a:latin typeface="Times New Roman" pitchFamily="18" charset="0"/>
                  <a:sym typeface="Symbol"/>
                </a:rPr>
                <a:t>(</a:t>
              </a:r>
              <a:r>
                <a:rPr lang="en-ZA" sz="2000" i="1" dirty="0" smtClean="0">
                  <a:solidFill>
                    <a:srgbClr val="000000"/>
                  </a:solidFill>
                  <a:latin typeface="Times New Roman" pitchFamily="18" charset="0"/>
                  <a:sym typeface="Symbol"/>
                </a:rPr>
                <a:t></a:t>
              </a:r>
              <a:r>
                <a:rPr lang="en-ZA" sz="2000" dirty="0" smtClean="0">
                  <a:solidFill>
                    <a:srgbClr val="000000"/>
                  </a:solidFill>
                  <a:latin typeface="Times New Roman" pitchFamily="18" charset="0"/>
                  <a:sym typeface="Symbol"/>
                </a:rPr>
                <a:t>)</a:t>
              </a:r>
              <a:endParaRPr lang="en-ZA" sz="2000" dirty="0">
                <a:solidFill>
                  <a:srgbClr val="000000"/>
                </a:solidFill>
                <a:latin typeface="Times New Roman" pitchFamily="18" charset="0"/>
                <a:sym typeface="Symbol"/>
              </a:endParaRPr>
            </a:p>
          </p:txBody>
        </p:sp>
        <p:sp>
          <p:nvSpPr>
            <p:cNvPr id="32" name="Right Brace 31"/>
            <p:cNvSpPr/>
            <p:nvPr/>
          </p:nvSpPr>
          <p:spPr bwMode="auto">
            <a:xfrm rot="5400000">
              <a:off x="3407252" y="2179335"/>
              <a:ext cx="516570" cy="1641475"/>
            </a:xfrm>
            <a:prstGeom prst="rightBrace">
              <a:avLst>
                <a:gd name="adj1" fmla="val 32674"/>
                <a:gd name="adj2" fmla="val 50000"/>
              </a:avLst>
            </a:prstGeom>
            <a:noFill/>
            <a:ln>
              <a:solidFill>
                <a:srgbClr val="000000"/>
              </a:solidFill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45720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ZA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Times New Roman" pitchFamily="18" charset="0"/>
              </a:endParaRPr>
            </a:p>
          </p:txBody>
        </p:sp>
        <p:sp>
          <p:nvSpPr>
            <p:cNvPr id="34" name="Right Brace 33"/>
            <p:cNvSpPr/>
            <p:nvPr/>
          </p:nvSpPr>
          <p:spPr bwMode="auto">
            <a:xfrm>
              <a:off x="4537165" y="1748108"/>
              <a:ext cx="179681" cy="947466"/>
            </a:xfrm>
            <a:prstGeom prst="rightBrace">
              <a:avLst>
                <a:gd name="adj1" fmla="val 32674"/>
                <a:gd name="adj2" fmla="val 50000"/>
              </a:avLst>
            </a:prstGeom>
            <a:noFill/>
            <a:ln>
              <a:solidFill>
                <a:srgbClr val="000000"/>
              </a:solidFill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45720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ZA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Times New Roman" pitchFamily="18" charset="0"/>
              </a:endParaRP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4755483" y="2046027"/>
              <a:ext cx="1258954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>
              <a:spAutoFit/>
            </a:bodyPr>
            <a:lstStyle/>
            <a:p>
              <a:r>
                <a:rPr lang="en-ZA" sz="2000" i="1" dirty="0" smtClean="0">
                  <a:solidFill>
                    <a:srgbClr val="000000"/>
                  </a:solidFill>
                  <a:latin typeface="Times New Roman" pitchFamily="18" charset="0"/>
                  <a:sym typeface="Symbol"/>
                </a:rPr>
                <a:t>y = r </a:t>
              </a:r>
              <a:r>
                <a:rPr lang="en-ZA" sz="2000" dirty="0" smtClean="0">
                  <a:solidFill>
                    <a:srgbClr val="000000"/>
                  </a:solidFill>
                  <a:latin typeface="Times New Roman" pitchFamily="18" charset="0"/>
                  <a:sym typeface="Symbol"/>
                </a:rPr>
                <a:t>sin</a:t>
              </a:r>
              <a:r>
                <a:rPr lang="en-ZA" sz="2000" dirty="0">
                  <a:solidFill>
                    <a:srgbClr val="000000"/>
                  </a:solidFill>
                  <a:latin typeface="Times New Roman" pitchFamily="18" charset="0"/>
                  <a:sym typeface="Symbol"/>
                </a:rPr>
                <a:t>(</a:t>
              </a:r>
              <a:r>
                <a:rPr lang="en-ZA" sz="2000" i="1" dirty="0" smtClean="0">
                  <a:solidFill>
                    <a:srgbClr val="000000"/>
                  </a:solidFill>
                  <a:latin typeface="Times New Roman" pitchFamily="18" charset="0"/>
                  <a:sym typeface="Symbol"/>
                </a:rPr>
                <a:t></a:t>
              </a:r>
              <a:r>
                <a:rPr lang="en-ZA" sz="2000" dirty="0" smtClean="0">
                  <a:solidFill>
                    <a:srgbClr val="000000"/>
                  </a:solidFill>
                  <a:latin typeface="Times New Roman" pitchFamily="18" charset="0"/>
                  <a:sym typeface="Symbol"/>
                </a:rPr>
                <a:t>)</a:t>
              </a:r>
              <a:endParaRPr lang="en-ZA" sz="2000" dirty="0">
                <a:solidFill>
                  <a:srgbClr val="000000"/>
                </a:solidFill>
                <a:latin typeface="Times New Roman" pitchFamily="18" charset="0"/>
                <a:sym typeface="Symbol"/>
              </a:endParaRP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3957294" y="1438228"/>
              <a:ext cx="1057961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>
              <a:spAutoFit/>
            </a:bodyPr>
            <a:lstStyle/>
            <a:p>
              <a:r>
                <a:rPr lang="en-ZA" sz="2000" i="1" dirty="0" smtClean="0">
                  <a:solidFill>
                    <a:srgbClr val="000000"/>
                  </a:solidFill>
                  <a:latin typeface="Times New Roman" pitchFamily="18" charset="0"/>
                  <a:sym typeface="Symbol"/>
                </a:rPr>
                <a:t>z</a:t>
              </a:r>
              <a:r>
                <a:rPr lang="en-ZA" sz="2000" dirty="0" smtClean="0">
                  <a:solidFill>
                    <a:srgbClr val="000000"/>
                  </a:solidFill>
                  <a:latin typeface="Times New Roman" pitchFamily="18" charset="0"/>
                  <a:sym typeface="Symbol"/>
                </a:rPr>
                <a:t> = 3 + </a:t>
              </a:r>
              <a:r>
                <a:rPr lang="en-ZA" sz="2000" i="1" dirty="0" smtClean="0">
                  <a:solidFill>
                    <a:srgbClr val="000000"/>
                  </a:solidFill>
                  <a:latin typeface="Times New Roman" pitchFamily="18" charset="0"/>
                  <a:sym typeface="Symbol"/>
                </a:rPr>
                <a:t>j</a:t>
              </a:r>
              <a:r>
                <a:rPr lang="en-ZA" sz="2000" dirty="0" smtClean="0">
                  <a:solidFill>
                    <a:srgbClr val="000000"/>
                  </a:solidFill>
                  <a:latin typeface="Times New Roman" pitchFamily="18" charset="0"/>
                  <a:sym typeface="Symbol"/>
                </a:rPr>
                <a:t>2</a:t>
              </a:r>
              <a:endParaRPr lang="en-ZA" sz="2000" dirty="0">
                <a:solidFill>
                  <a:srgbClr val="000000"/>
                </a:solidFill>
                <a:latin typeface="Times New Roman" pitchFamily="18" charset="0"/>
                <a:sym typeface="Symbol"/>
              </a:endParaRPr>
            </a:p>
          </p:txBody>
        </p:sp>
        <p:sp>
          <p:nvSpPr>
            <p:cNvPr id="37" name="TextBox 36"/>
            <p:cNvSpPr txBox="1"/>
            <p:nvPr/>
          </p:nvSpPr>
          <p:spPr>
            <a:xfrm rot="19912552">
              <a:off x="3478726" y="1867491"/>
              <a:ext cx="248385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>
              <a:spAutoFit/>
            </a:bodyPr>
            <a:lstStyle/>
            <a:p>
              <a:r>
                <a:rPr lang="en-ZA" sz="2000" i="1" dirty="0" smtClean="0">
                  <a:solidFill>
                    <a:srgbClr val="000000"/>
                  </a:solidFill>
                  <a:latin typeface="Times New Roman" pitchFamily="18" charset="0"/>
                  <a:sym typeface="Symbol"/>
                </a:rPr>
                <a:t>r</a:t>
              </a:r>
              <a:endParaRPr lang="en-ZA" sz="2000" dirty="0">
                <a:solidFill>
                  <a:srgbClr val="000000"/>
                </a:solidFill>
                <a:latin typeface="Times New Roman" pitchFamily="18" charset="0"/>
                <a:sym typeface="Symbol"/>
              </a:endParaRP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3249128" y="2414030"/>
              <a:ext cx="343442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>
              <a:spAutoFit/>
            </a:bodyPr>
            <a:lstStyle/>
            <a:p>
              <a:r>
                <a:rPr lang="en-ZA" sz="2000" i="1" dirty="0" smtClean="0">
                  <a:solidFill>
                    <a:srgbClr val="000000"/>
                  </a:solidFill>
                  <a:latin typeface="Times New Roman" pitchFamily="18" charset="0"/>
                  <a:sym typeface="Symbol"/>
                </a:rPr>
                <a:t></a:t>
              </a:r>
              <a:endParaRPr lang="en-ZA" sz="2000" dirty="0">
                <a:solidFill>
                  <a:srgbClr val="000000"/>
                </a:solidFill>
                <a:latin typeface="Times New Roman" pitchFamily="18" charset="0"/>
                <a:sym typeface="Symbol"/>
              </a:endParaRP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5071942" y="2541685"/>
              <a:ext cx="363214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>
              <a:spAutoFit/>
            </a:bodyPr>
            <a:lstStyle/>
            <a:p>
              <a:r>
                <a:rPr lang="en-ZA" sz="2000" i="1" dirty="0" smtClean="0">
                  <a:solidFill>
                    <a:srgbClr val="000000"/>
                  </a:solidFill>
                  <a:latin typeface="Times New Roman" pitchFamily="18" charset="0"/>
                  <a:sym typeface="Symbol"/>
                </a:rPr>
                <a:t>Re</a:t>
              </a:r>
              <a:endParaRPr lang="en-ZA" sz="2000" dirty="0">
                <a:solidFill>
                  <a:srgbClr val="000000"/>
                </a:solidFill>
                <a:latin typeface="Times New Roman" pitchFamily="18" charset="0"/>
                <a:sym typeface="Symbol"/>
              </a:endParaRP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2894953" y="1092322"/>
              <a:ext cx="363214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>
              <a:spAutoFit/>
            </a:bodyPr>
            <a:lstStyle/>
            <a:p>
              <a:r>
                <a:rPr lang="en-ZA" sz="2000" i="1" dirty="0" err="1" smtClean="0">
                  <a:solidFill>
                    <a:srgbClr val="000000"/>
                  </a:solidFill>
                  <a:latin typeface="Times New Roman" pitchFamily="18" charset="0"/>
                  <a:sym typeface="Symbol"/>
                </a:rPr>
                <a:t>Im</a:t>
              </a:r>
              <a:endParaRPr lang="en-ZA" sz="2000" dirty="0">
                <a:solidFill>
                  <a:srgbClr val="000000"/>
                </a:solidFill>
                <a:latin typeface="Times New Roman" pitchFamily="18" charset="0"/>
                <a:sym typeface="Symbol"/>
              </a:endParaRPr>
            </a:p>
          </p:txBody>
        </p:sp>
      </p:grpSp>
      <p:sp>
        <p:nvSpPr>
          <p:cNvPr id="43" name="Rectangle 42"/>
          <p:cNvSpPr/>
          <p:nvPr/>
        </p:nvSpPr>
        <p:spPr>
          <a:xfrm>
            <a:off x="1664549" y="4301552"/>
            <a:ext cx="5357612" cy="2308324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indent="0" eaLnBrk="0" hangingPunct="0">
              <a:spcBef>
                <a:spcPts val="0"/>
              </a:spcBef>
            </a:pPr>
            <a:r>
              <a:rPr lang="en-US" sz="2400" dirty="0" smtClean="0">
                <a:latin typeface="Times New Roman" pitchFamily="18" charset="0"/>
              </a:rPr>
              <a:t>A complex number consists out of:</a:t>
            </a:r>
          </a:p>
          <a:p>
            <a:pPr marL="285750" indent="-285750" eaLnBrk="0" hangingPunct="0">
              <a:spcBef>
                <a:spcPts val="0"/>
              </a:spcBef>
              <a:buFont typeface="Arial" pitchFamily="34" charset="0"/>
              <a:buChar char="•"/>
            </a:pPr>
            <a:r>
              <a:rPr lang="en-US" sz="2400" dirty="0" smtClean="0">
                <a:latin typeface="Times New Roman" pitchFamily="18" charset="0"/>
              </a:rPr>
              <a:t>A Real part (</a:t>
            </a:r>
            <a:r>
              <a:rPr lang="en-US" sz="2400" i="1" dirty="0" smtClean="0">
                <a:latin typeface="Times New Roman" pitchFamily="18" charset="0"/>
              </a:rPr>
              <a:t>x</a:t>
            </a:r>
            <a:r>
              <a:rPr lang="en-US" sz="2400" dirty="0" smtClean="0">
                <a:latin typeface="Times New Roman" pitchFamily="18" charset="0"/>
              </a:rPr>
              <a:t>) and Imaginary part (</a:t>
            </a:r>
            <a:r>
              <a:rPr lang="en-US" sz="2400" i="1" dirty="0" smtClean="0">
                <a:latin typeface="Times New Roman" pitchFamily="18" charset="0"/>
              </a:rPr>
              <a:t>y</a:t>
            </a:r>
            <a:r>
              <a:rPr lang="en-US" sz="2400" dirty="0" smtClean="0">
                <a:latin typeface="Times New Roman" pitchFamily="18" charset="0"/>
              </a:rPr>
              <a:t>): </a:t>
            </a:r>
          </a:p>
          <a:p>
            <a:pPr eaLnBrk="0" hangingPunct="0">
              <a:spcBef>
                <a:spcPts val="0"/>
              </a:spcBef>
            </a:pPr>
            <a:r>
              <a:rPr lang="en-US" sz="2400" i="1" dirty="0">
                <a:latin typeface="Times New Roman" pitchFamily="18" charset="0"/>
              </a:rPr>
              <a:t>	</a:t>
            </a:r>
            <a:r>
              <a:rPr lang="en-US" sz="2400" i="1" dirty="0" smtClean="0">
                <a:latin typeface="Times New Roman" pitchFamily="18" charset="0"/>
              </a:rPr>
              <a:t>z</a:t>
            </a:r>
            <a:r>
              <a:rPr lang="en-US" sz="2400" dirty="0" smtClean="0">
                <a:latin typeface="Times New Roman" pitchFamily="18" charset="0"/>
              </a:rPr>
              <a:t> = </a:t>
            </a:r>
            <a:r>
              <a:rPr lang="en-US" sz="2400" i="1" dirty="0" smtClean="0">
                <a:latin typeface="Times New Roman" pitchFamily="18" charset="0"/>
              </a:rPr>
              <a:t>x</a:t>
            </a:r>
            <a:r>
              <a:rPr lang="en-US" sz="2400" dirty="0" smtClean="0">
                <a:latin typeface="Times New Roman" pitchFamily="18" charset="0"/>
              </a:rPr>
              <a:t> + </a:t>
            </a:r>
            <a:r>
              <a:rPr lang="en-US" sz="2400" i="1" dirty="0" err="1" smtClean="0">
                <a:latin typeface="Times New Roman" pitchFamily="18" charset="0"/>
              </a:rPr>
              <a:t>jy</a:t>
            </a:r>
            <a:endParaRPr lang="en-US" sz="2400" i="1" dirty="0" smtClean="0">
              <a:latin typeface="Times New Roman" pitchFamily="18" charset="0"/>
            </a:endParaRPr>
          </a:p>
          <a:p>
            <a:pPr eaLnBrk="0" hangingPunct="0">
              <a:spcBef>
                <a:spcPts val="0"/>
              </a:spcBef>
            </a:pPr>
            <a:r>
              <a:rPr lang="en-US" sz="2400" i="1" dirty="0" smtClean="0">
                <a:latin typeface="Times New Roman" pitchFamily="18" charset="0"/>
              </a:rPr>
              <a:t>		    </a:t>
            </a:r>
            <a:r>
              <a:rPr lang="en-US" sz="2400" b="1" i="1" dirty="0" smtClean="0">
                <a:latin typeface="Times New Roman" pitchFamily="18" charset="0"/>
              </a:rPr>
              <a:t>OR</a:t>
            </a:r>
          </a:p>
          <a:p>
            <a:pPr marL="285750" indent="-285750" eaLnBrk="0" hangingPunct="0">
              <a:spcBef>
                <a:spcPts val="0"/>
              </a:spcBef>
              <a:buFont typeface="Arial" pitchFamily="34" charset="0"/>
              <a:buChar char="•"/>
            </a:pPr>
            <a:r>
              <a:rPr lang="en-US" sz="2400" dirty="0" smtClean="0">
                <a:latin typeface="Times New Roman" pitchFamily="18" charset="0"/>
              </a:rPr>
              <a:t>A Magnitude (</a:t>
            </a:r>
            <a:r>
              <a:rPr lang="en-US" sz="2400" i="1" dirty="0" smtClean="0">
                <a:latin typeface="Times New Roman" pitchFamily="18" charset="0"/>
              </a:rPr>
              <a:t>r</a:t>
            </a:r>
            <a:r>
              <a:rPr lang="en-US" sz="2400" dirty="0" smtClean="0">
                <a:latin typeface="Times New Roman" pitchFamily="18" charset="0"/>
              </a:rPr>
              <a:t>) and a phase (</a:t>
            </a:r>
            <a:r>
              <a:rPr lang="en-US" sz="2400" i="1" dirty="0" smtClean="0">
                <a:latin typeface="Times New Roman" pitchFamily="18" charset="0"/>
                <a:sym typeface="Symbol"/>
              </a:rPr>
              <a:t></a:t>
            </a:r>
            <a:r>
              <a:rPr lang="en-US" sz="2400" dirty="0" smtClean="0">
                <a:latin typeface="Times New Roman" pitchFamily="18" charset="0"/>
                <a:sym typeface="Symbol"/>
              </a:rPr>
              <a:t>): </a:t>
            </a:r>
          </a:p>
          <a:p>
            <a:pPr eaLnBrk="0" hangingPunct="0">
              <a:spcBef>
                <a:spcPts val="0"/>
              </a:spcBef>
            </a:pPr>
            <a:r>
              <a:rPr lang="en-US" sz="2400" dirty="0" smtClean="0">
                <a:latin typeface="Times New Roman" pitchFamily="18" charset="0"/>
                <a:sym typeface="Symbol"/>
              </a:rPr>
              <a:t>	z = </a:t>
            </a:r>
            <a:r>
              <a:rPr lang="en-US" sz="2400" i="1" dirty="0" smtClean="0">
                <a:latin typeface="Times New Roman" pitchFamily="18" charset="0"/>
                <a:sym typeface="Symbol"/>
              </a:rPr>
              <a:t>r</a:t>
            </a:r>
            <a:r>
              <a:rPr lang="en-US" sz="2400" dirty="0" smtClean="0">
                <a:latin typeface="Times New Roman" pitchFamily="18" charset="0"/>
                <a:sym typeface="Symbol"/>
              </a:rPr>
              <a:t></a:t>
            </a:r>
            <a:r>
              <a:rPr lang="en-US" sz="2400" i="1" dirty="0" smtClean="0">
                <a:latin typeface="Times New Roman" pitchFamily="18" charset="0"/>
                <a:sym typeface="Symbol"/>
              </a:rPr>
              <a:t></a:t>
            </a:r>
            <a:r>
              <a:rPr lang="en-US" sz="2400" dirty="0" smtClean="0">
                <a:latin typeface="Times New Roman" pitchFamily="18" charset="0"/>
                <a:sym typeface="Symbol"/>
              </a:rPr>
              <a:t> = </a:t>
            </a:r>
            <a:r>
              <a:rPr lang="en-US" sz="2400" i="1" dirty="0" smtClean="0">
                <a:latin typeface="Times New Roman" pitchFamily="18" charset="0"/>
                <a:sym typeface="Symbol"/>
              </a:rPr>
              <a:t>re </a:t>
            </a:r>
            <a:r>
              <a:rPr lang="en-US" sz="2400" i="1" baseline="30000" dirty="0" smtClean="0">
                <a:latin typeface="Times New Roman" pitchFamily="18" charset="0"/>
                <a:sym typeface="Symbol"/>
              </a:rPr>
              <a:t>j</a:t>
            </a:r>
            <a:endParaRPr lang="en-US" sz="2400" i="1" dirty="0">
              <a:latin typeface="Times New Roman" pitchFamily="18" charset="0"/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5863361" y="1256178"/>
            <a:ext cx="2678806" cy="1938992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eaLnBrk="0" hangingPunct="0">
              <a:spcBef>
                <a:spcPts val="0"/>
              </a:spcBef>
            </a:pPr>
            <a:r>
              <a:rPr lang="en-US" sz="2400" i="1" dirty="0" smtClean="0">
                <a:latin typeface="Times New Roman" pitchFamily="18" charset="0"/>
              </a:rPr>
              <a:t>z</a:t>
            </a:r>
            <a:r>
              <a:rPr lang="en-US" sz="2400" dirty="0" smtClean="0">
                <a:latin typeface="Times New Roman" pitchFamily="18" charset="0"/>
              </a:rPr>
              <a:t> = </a:t>
            </a:r>
            <a:r>
              <a:rPr lang="en-US" sz="2400" i="1" dirty="0" smtClean="0">
                <a:latin typeface="Times New Roman" pitchFamily="18" charset="0"/>
              </a:rPr>
              <a:t>x</a:t>
            </a:r>
            <a:r>
              <a:rPr lang="en-US" sz="2400" dirty="0" smtClean="0">
                <a:latin typeface="Times New Roman" pitchFamily="18" charset="0"/>
              </a:rPr>
              <a:t> + </a:t>
            </a:r>
            <a:r>
              <a:rPr lang="en-US" sz="2400" i="1" dirty="0" err="1" smtClean="0">
                <a:latin typeface="Times New Roman" pitchFamily="18" charset="0"/>
              </a:rPr>
              <a:t>jy</a:t>
            </a:r>
            <a:endParaRPr lang="en-US" sz="2400" i="1" dirty="0" smtClean="0">
              <a:latin typeface="Times New Roman" pitchFamily="18" charset="0"/>
            </a:endParaRPr>
          </a:p>
          <a:p>
            <a:pPr eaLnBrk="0" hangingPunct="0">
              <a:spcBef>
                <a:spcPts val="0"/>
              </a:spcBef>
            </a:pPr>
            <a:r>
              <a:rPr lang="en-US" sz="2400" i="1" dirty="0">
                <a:latin typeface="Times New Roman" pitchFamily="18" charset="0"/>
              </a:rPr>
              <a:t> </a:t>
            </a:r>
            <a:r>
              <a:rPr lang="en-US" sz="2400" i="1" dirty="0" smtClean="0">
                <a:latin typeface="Times New Roman" pitchFamily="18" charset="0"/>
              </a:rPr>
              <a:t> = </a:t>
            </a:r>
            <a:r>
              <a:rPr lang="en-US" sz="2400" i="1" dirty="0" err="1" smtClean="0">
                <a:latin typeface="Times New Roman" pitchFamily="18" charset="0"/>
              </a:rPr>
              <a:t>r</a:t>
            </a:r>
            <a:r>
              <a:rPr lang="en-US" sz="2400" dirty="0" err="1" smtClean="0">
                <a:latin typeface="Times New Roman" pitchFamily="18" charset="0"/>
              </a:rPr>
              <a:t>cos</a:t>
            </a:r>
            <a:r>
              <a:rPr lang="en-US" sz="2400" i="1" dirty="0" smtClean="0">
                <a:latin typeface="Times New Roman" pitchFamily="18" charset="0"/>
                <a:sym typeface="Symbol"/>
              </a:rPr>
              <a:t> + j </a:t>
            </a:r>
            <a:r>
              <a:rPr lang="en-US" sz="2400" i="1" dirty="0" err="1" smtClean="0">
                <a:latin typeface="Times New Roman" pitchFamily="18" charset="0"/>
                <a:sym typeface="Symbol"/>
              </a:rPr>
              <a:t>r</a:t>
            </a:r>
            <a:r>
              <a:rPr lang="en-US" sz="2400" dirty="0" err="1" smtClean="0">
                <a:latin typeface="Times New Roman" pitchFamily="18" charset="0"/>
                <a:sym typeface="Symbol"/>
              </a:rPr>
              <a:t>sin</a:t>
            </a:r>
            <a:r>
              <a:rPr lang="en-US" sz="2400" i="1" dirty="0">
                <a:latin typeface="Times New Roman" pitchFamily="18" charset="0"/>
                <a:sym typeface="Symbol"/>
              </a:rPr>
              <a:t></a:t>
            </a:r>
            <a:endParaRPr lang="en-US" sz="2400" i="1" dirty="0" smtClean="0">
              <a:latin typeface="Times New Roman" pitchFamily="18" charset="0"/>
            </a:endParaRPr>
          </a:p>
          <a:p>
            <a:pPr eaLnBrk="0" hangingPunct="0">
              <a:spcBef>
                <a:spcPts val="0"/>
              </a:spcBef>
            </a:pPr>
            <a:r>
              <a:rPr lang="en-US" sz="2400" dirty="0">
                <a:latin typeface="Times New Roman" pitchFamily="18" charset="0"/>
                <a:sym typeface="Symbol"/>
              </a:rPr>
              <a:t> </a:t>
            </a:r>
            <a:r>
              <a:rPr lang="en-US" sz="2400" dirty="0" smtClean="0">
                <a:latin typeface="Times New Roman" pitchFamily="18" charset="0"/>
                <a:sym typeface="Symbol"/>
              </a:rPr>
              <a:t> = </a:t>
            </a:r>
            <a:r>
              <a:rPr lang="en-US" sz="2400" i="1" dirty="0" smtClean="0">
                <a:latin typeface="Times New Roman" pitchFamily="18" charset="0"/>
                <a:sym typeface="Symbol"/>
              </a:rPr>
              <a:t>r</a:t>
            </a:r>
            <a:r>
              <a:rPr lang="en-US" sz="2400" dirty="0" smtClean="0">
                <a:latin typeface="Times New Roman" pitchFamily="18" charset="0"/>
                <a:sym typeface="Symbol"/>
              </a:rPr>
              <a:t>(</a:t>
            </a:r>
            <a:r>
              <a:rPr lang="en-US" sz="2400" dirty="0" err="1">
                <a:latin typeface="Times New Roman" pitchFamily="18" charset="0"/>
              </a:rPr>
              <a:t>cos</a:t>
            </a:r>
            <a:r>
              <a:rPr lang="en-US" sz="2400" i="1" dirty="0">
                <a:latin typeface="Times New Roman" pitchFamily="18" charset="0"/>
                <a:sym typeface="Symbol"/>
              </a:rPr>
              <a:t> + j </a:t>
            </a:r>
            <a:r>
              <a:rPr lang="en-US" sz="2400" dirty="0" smtClean="0">
                <a:latin typeface="Times New Roman" pitchFamily="18" charset="0"/>
                <a:sym typeface="Symbol"/>
              </a:rPr>
              <a:t>sin</a:t>
            </a:r>
            <a:r>
              <a:rPr lang="en-US" sz="2400" i="1" dirty="0" smtClean="0">
                <a:latin typeface="Times New Roman" pitchFamily="18" charset="0"/>
                <a:sym typeface="Symbol"/>
              </a:rPr>
              <a:t></a:t>
            </a:r>
            <a:r>
              <a:rPr lang="en-US" sz="2400" dirty="0" smtClean="0">
                <a:latin typeface="Times New Roman" pitchFamily="18" charset="0"/>
                <a:sym typeface="Symbol"/>
              </a:rPr>
              <a:t>)</a:t>
            </a:r>
          </a:p>
          <a:p>
            <a:pPr eaLnBrk="0" hangingPunct="0">
              <a:spcBef>
                <a:spcPts val="0"/>
              </a:spcBef>
            </a:pPr>
            <a:r>
              <a:rPr lang="en-US" sz="2400" dirty="0">
                <a:latin typeface="Times New Roman" pitchFamily="18" charset="0"/>
                <a:sym typeface="Symbol"/>
              </a:rPr>
              <a:t> </a:t>
            </a:r>
            <a:r>
              <a:rPr lang="en-US" sz="2400" dirty="0" smtClean="0">
                <a:latin typeface="Times New Roman" pitchFamily="18" charset="0"/>
                <a:sym typeface="Symbol"/>
              </a:rPr>
              <a:t> = </a:t>
            </a:r>
            <a:r>
              <a:rPr lang="en-US" sz="2400" i="1" dirty="0" smtClean="0">
                <a:latin typeface="Times New Roman" pitchFamily="18" charset="0"/>
                <a:sym typeface="Symbol"/>
              </a:rPr>
              <a:t>re </a:t>
            </a:r>
            <a:r>
              <a:rPr lang="en-US" sz="2400" i="1" baseline="30000" dirty="0" smtClean="0">
                <a:latin typeface="Times New Roman" pitchFamily="18" charset="0"/>
                <a:sym typeface="Symbol"/>
              </a:rPr>
              <a:t>j</a:t>
            </a:r>
          </a:p>
          <a:p>
            <a:pPr eaLnBrk="0" hangingPunct="0">
              <a:spcBef>
                <a:spcPts val="0"/>
              </a:spcBef>
            </a:pPr>
            <a:r>
              <a:rPr lang="en-US" sz="2400" i="1" dirty="0">
                <a:latin typeface="Times New Roman" pitchFamily="18" charset="0"/>
                <a:sym typeface="Symbol"/>
              </a:rPr>
              <a:t> </a:t>
            </a:r>
            <a:r>
              <a:rPr lang="en-US" sz="2400" i="1" dirty="0" smtClean="0">
                <a:latin typeface="Times New Roman" pitchFamily="18" charset="0"/>
                <a:sym typeface="Symbol"/>
              </a:rPr>
              <a:t> = </a:t>
            </a:r>
            <a:r>
              <a:rPr lang="en-US" sz="2400" i="1" dirty="0">
                <a:latin typeface="Times New Roman" pitchFamily="18" charset="0"/>
                <a:sym typeface="Symbol"/>
              </a:rPr>
              <a:t>r</a:t>
            </a:r>
            <a:r>
              <a:rPr lang="en-US" sz="2400" dirty="0">
                <a:latin typeface="Times New Roman" pitchFamily="18" charset="0"/>
                <a:sym typeface="Symbol"/>
              </a:rPr>
              <a:t></a:t>
            </a:r>
            <a:r>
              <a:rPr lang="en-US" sz="2400" i="1" dirty="0">
                <a:latin typeface="Times New Roman" pitchFamily="18" charset="0"/>
                <a:sym typeface="Symbol"/>
              </a:rPr>
              <a:t></a:t>
            </a:r>
            <a:r>
              <a:rPr lang="en-US" sz="2400" dirty="0">
                <a:latin typeface="Times New Roman" pitchFamily="18" charset="0"/>
                <a:sym typeface="Symbol"/>
              </a:rPr>
              <a:t> </a:t>
            </a:r>
            <a:endParaRPr lang="en-US" sz="2400" i="1" dirty="0" smtClean="0">
              <a:latin typeface="Times New Roman" pitchFamily="18" charset="0"/>
              <a:sym typeface="Symbol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4088613" y="3386818"/>
            <a:ext cx="4944160" cy="461665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eaLnBrk="0" hangingPunct="0">
              <a:spcBef>
                <a:spcPts val="0"/>
              </a:spcBef>
            </a:pPr>
            <a:r>
              <a:rPr lang="en-US" sz="2400" dirty="0" smtClean="0">
                <a:latin typeface="Times New Roman" pitchFamily="18" charset="0"/>
              </a:rPr>
              <a:t>Euler’s identity: </a:t>
            </a:r>
            <a:r>
              <a:rPr lang="en-US" sz="2400" i="1" dirty="0">
                <a:latin typeface="Times New Roman" pitchFamily="18" charset="0"/>
                <a:sym typeface="Symbol"/>
              </a:rPr>
              <a:t>e </a:t>
            </a:r>
            <a:r>
              <a:rPr lang="en-US" sz="2400" baseline="30000" dirty="0" smtClean="0">
                <a:latin typeface="Times New Roman" pitchFamily="18" charset="0"/>
                <a:sym typeface="Symbol"/>
              </a:rPr>
              <a:t></a:t>
            </a:r>
            <a:r>
              <a:rPr lang="en-US" sz="2400" i="1" baseline="30000" dirty="0" smtClean="0">
                <a:latin typeface="Times New Roman" pitchFamily="18" charset="0"/>
                <a:sym typeface="Symbol"/>
              </a:rPr>
              <a:t>j</a:t>
            </a:r>
            <a:r>
              <a:rPr lang="en-US" sz="2400" i="1" dirty="0" smtClean="0">
                <a:latin typeface="Times New Roman" pitchFamily="18" charset="0"/>
                <a:sym typeface="Symbol"/>
              </a:rPr>
              <a:t> = </a:t>
            </a:r>
            <a:r>
              <a:rPr lang="en-US" sz="2400" dirty="0" err="1" smtClean="0">
                <a:latin typeface="Times New Roman" pitchFamily="18" charset="0"/>
              </a:rPr>
              <a:t>cos</a:t>
            </a:r>
            <a:r>
              <a:rPr lang="en-US" sz="2400" i="1" dirty="0">
                <a:latin typeface="Times New Roman" pitchFamily="18" charset="0"/>
                <a:sym typeface="Symbol"/>
              </a:rPr>
              <a:t> </a:t>
            </a:r>
            <a:r>
              <a:rPr lang="en-US" sz="2400" dirty="0">
                <a:latin typeface="Times New Roman" pitchFamily="18" charset="0"/>
                <a:sym typeface="Symbol"/>
              </a:rPr>
              <a:t></a:t>
            </a:r>
            <a:r>
              <a:rPr lang="en-US" sz="2400" i="1" dirty="0" smtClean="0">
                <a:latin typeface="Times New Roman" pitchFamily="18" charset="0"/>
                <a:sym typeface="Symbol"/>
              </a:rPr>
              <a:t> </a:t>
            </a:r>
            <a:r>
              <a:rPr lang="en-US" sz="2400" i="1" dirty="0" err="1" smtClean="0">
                <a:latin typeface="Times New Roman" pitchFamily="18" charset="0"/>
                <a:sym typeface="Symbol"/>
              </a:rPr>
              <a:t>j</a:t>
            </a:r>
            <a:r>
              <a:rPr lang="en-US" sz="2400" dirty="0" err="1" smtClean="0">
                <a:latin typeface="Times New Roman" pitchFamily="18" charset="0"/>
                <a:sym typeface="Symbol"/>
              </a:rPr>
              <a:t>sin</a:t>
            </a:r>
            <a:r>
              <a:rPr lang="en-US" sz="2400" i="1" dirty="0" smtClean="0">
                <a:latin typeface="Times New Roman" pitchFamily="18" charset="0"/>
                <a:sym typeface="Symbol"/>
              </a:rPr>
              <a:t></a:t>
            </a:r>
            <a:endParaRPr lang="en-US" sz="2400" dirty="0" smtClean="0">
              <a:latin typeface="Times New Roman" pitchFamily="18" charset="0"/>
              <a:sym typeface="Symbol"/>
            </a:endParaRPr>
          </a:p>
        </p:txBody>
      </p:sp>
    </p:spTree>
    <p:extLst>
      <p:ext uri="{BB962C8B-B14F-4D97-AF65-F5344CB8AC3E}">
        <p14:creationId xmlns:p14="http://schemas.microsoft.com/office/powerpoint/2010/main" val="27703270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 animBg="1"/>
      <p:bldP spid="44" grpId="0" animBg="1"/>
      <p:bldP spid="45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/>
          <p:cNvGrpSpPr/>
          <p:nvPr/>
        </p:nvGrpSpPr>
        <p:grpSpPr>
          <a:xfrm>
            <a:off x="2688617" y="1201699"/>
            <a:ext cx="5419642" cy="4030798"/>
            <a:chOff x="2830286" y="1716859"/>
            <a:chExt cx="5419642" cy="4030798"/>
          </a:xfrm>
        </p:grpSpPr>
        <p:pic>
          <p:nvPicPr>
            <p:cNvPr id="16" name="Picture 15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322" t="16395" r="15154" b="17433"/>
            <a:stretch/>
          </p:blipFill>
          <p:spPr>
            <a:xfrm>
              <a:off x="2830286" y="2061029"/>
              <a:ext cx="3657600" cy="3686628"/>
            </a:xfrm>
            <a:prstGeom prst="rect">
              <a:avLst/>
            </a:prstGeom>
          </p:spPr>
        </p:pic>
        <p:sp>
          <p:nvSpPr>
            <p:cNvPr id="5" name="TextBox 4"/>
            <p:cNvSpPr txBox="1"/>
            <p:nvPr/>
          </p:nvSpPr>
          <p:spPr>
            <a:xfrm>
              <a:off x="6487886" y="3815953"/>
              <a:ext cx="1762042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>
              <a:spAutoFit/>
            </a:bodyPr>
            <a:lstStyle/>
            <a:p>
              <a:r>
                <a:rPr lang="en-ZA" sz="2000" i="1" dirty="0" smtClean="0">
                  <a:solidFill>
                    <a:srgbClr val="000000"/>
                  </a:solidFill>
                  <a:latin typeface="Times New Roman" pitchFamily="18" charset="0"/>
                  <a:sym typeface="Symbol"/>
                </a:rPr>
                <a:t>Real axis</a:t>
              </a:r>
              <a:endParaRPr lang="en-ZA" sz="2000" dirty="0">
                <a:solidFill>
                  <a:srgbClr val="000000"/>
                </a:solidFill>
                <a:latin typeface="Times New Roman" pitchFamily="18" charset="0"/>
                <a:sym typeface="Symbol"/>
              </a:endParaRP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3967001" y="1716859"/>
              <a:ext cx="1587370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>
              <a:spAutoFit/>
            </a:bodyPr>
            <a:lstStyle/>
            <a:p>
              <a:r>
                <a:rPr lang="en-ZA" sz="2000" i="1" dirty="0" smtClean="0">
                  <a:solidFill>
                    <a:srgbClr val="000000"/>
                  </a:solidFill>
                  <a:latin typeface="Times New Roman" pitchFamily="18" charset="0"/>
                  <a:sym typeface="Symbol"/>
                </a:rPr>
                <a:t>Imaginary axis</a:t>
              </a:r>
              <a:endParaRPr lang="en-ZA" sz="2000" dirty="0">
                <a:solidFill>
                  <a:srgbClr val="000000"/>
                </a:solidFill>
                <a:latin typeface="Times New Roman" pitchFamily="18" charset="0"/>
                <a:sym typeface="Symbol"/>
              </a:endParaRPr>
            </a:p>
          </p:txBody>
        </p:sp>
        <p:sp>
          <p:nvSpPr>
            <p:cNvPr id="22" name="Isosceles Triangle 21"/>
            <p:cNvSpPr/>
            <p:nvPr/>
          </p:nvSpPr>
          <p:spPr bwMode="auto">
            <a:xfrm>
              <a:off x="4520056" y="2024636"/>
              <a:ext cx="232919" cy="254925"/>
            </a:xfrm>
            <a:prstGeom prst="triangle">
              <a:avLst/>
            </a:prstGeom>
            <a:solidFill>
              <a:srgbClr val="000000"/>
            </a:solidFill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45720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ZA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Times New Roman" pitchFamily="18" charset="0"/>
              </a:endParaRPr>
            </a:p>
          </p:txBody>
        </p:sp>
        <p:sp>
          <p:nvSpPr>
            <p:cNvPr id="23" name="Isosceles Triangle 22"/>
            <p:cNvSpPr/>
            <p:nvPr/>
          </p:nvSpPr>
          <p:spPr bwMode="auto">
            <a:xfrm rot="5400000">
              <a:off x="6243964" y="3860206"/>
              <a:ext cx="232919" cy="254925"/>
            </a:xfrm>
            <a:prstGeom prst="triangle">
              <a:avLst/>
            </a:prstGeom>
            <a:solidFill>
              <a:srgbClr val="000000"/>
            </a:solidFill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45720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ZA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Times New Roman" pitchFamily="18" charset="0"/>
              </a:endParaRPr>
            </a:p>
          </p:txBody>
        </p:sp>
      </p:grp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DBEB72-C004-46D1-9992-458CC43F3DD8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3" name="Rectangle 4"/>
          <p:cNvSpPr txBox="1">
            <a:spLocks noChangeArrowheads="1"/>
          </p:cNvSpPr>
          <p:nvPr/>
        </p:nvSpPr>
        <p:spPr>
          <a:xfrm>
            <a:off x="442913" y="103188"/>
            <a:ext cx="8243887" cy="1027112"/>
          </a:xfrm>
          <a:prstGeom prst="rect">
            <a:avLst/>
          </a:prstGeom>
        </p:spPr>
        <p:txBody>
          <a:bodyPr anchor="t"/>
          <a:lstStyle>
            <a:lvl1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2pPr>
            <a:lvl3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3pPr>
            <a:lvl4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4pPr>
            <a:lvl5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5pPr>
            <a:lvl6pPr marL="4572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6pPr>
            <a:lvl7pPr marL="9144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7pPr>
            <a:lvl8pPr marL="13716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8pPr>
            <a:lvl9pPr marL="18288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9pPr>
          </a:lstStyle>
          <a:p>
            <a:r>
              <a:rPr lang="en-US" sz="2800" dirty="0" smtClean="0"/>
              <a:t>9.3 </a:t>
            </a:r>
            <a:r>
              <a:rPr lang="en-US" sz="2800" dirty="0" err="1" smtClean="0"/>
              <a:t>Phasors</a:t>
            </a:r>
            <a:r>
              <a:rPr lang="en-US" sz="4000" dirty="0" smtClean="0"/>
              <a:t/>
            </a:r>
            <a:br>
              <a:rPr lang="en-US" sz="4000" dirty="0" smtClean="0"/>
            </a:br>
            <a:r>
              <a:rPr lang="en-US" sz="4000" dirty="0" smtClean="0">
                <a:solidFill>
                  <a:srgbClr val="FF0000"/>
                </a:solidFill>
              </a:rPr>
              <a:t>On the complex plane</a:t>
            </a:r>
            <a:endParaRPr lang="en-US" sz="4000" dirty="0">
              <a:solidFill>
                <a:srgbClr val="FF0000"/>
              </a:solidFill>
            </a:endParaRPr>
          </a:p>
        </p:txBody>
      </p:sp>
      <p:grpSp>
        <p:nvGrpSpPr>
          <p:cNvPr id="26" name="Group 25"/>
          <p:cNvGrpSpPr/>
          <p:nvPr/>
        </p:nvGrpSpPr>
        <p:grpSpPr>
          <a:xfrm>
            <a:off x="4490606" y="3493637"/>
            <a:ext cx="1855611" cy="635411"/>
            <a:chOff x="4632275" y="4008797"/>
            <a:chExt cx="1855611" cy="635411"/>
          </a:xfrm>
        </p:grpSpPr>
        <p:sp>
          <p:nvSpPr>
            <p:cNvPr id="9" name="TextBox 8"/>
            <p:cNvSpPr txBox="1"/>
            <p:nvPr/>
          </p:nvSpPr>
          <p:spPr>
            <a:xfrm>
              <a:off x="5363191" y="4028655"/>
              <a:ext cx="1124695" cy="61555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ZA" sz="2000" dirty="0" smtClean="0">
                  <a:solidFill>
                    <a:srgbClr val="000000"/>
                  </a:solidFill>
                  <a:latin typeface="Times New Roman" pitchFamily="18" charset="0"/>
                  <a:sym typeface="Symbol"/>
                </a:rPr>
                <a:t>1 </a:t>
              </a:r>
            </a:p>
            <a:p>
              <a:pPr algn="ctr"/>
              <a:r>
                <a:rPr lang="en-ZA" sz="2000" dirty="0" smtClean="0">
                  <a:solidFill>
                    <a:srgbClr val="000000"/>
                  </a:solidFill>
                  <a:latin typeface="Times New Roman" pitchFamily="18" charset="0"/>
                  <a:sym typeface="Symbol"/>
                </a:rPr>
                <a:t>= </a:t>
              </a:r>
              <a:r>
                <a:rPr lang="en-ZA" sz="2000" dirty="0">
                  <a:solidFill>
                    <a:srgbClr val="000000"/>
                  </a:solidFill>
                  <a:latin typeface="Times New Roman" pitchFamily="18" charset="0"/>
                  <a:sym typeface="Symbol"/>
                </a:rPr>
                <a:t>1</a:t>
              </a:r>
              <a:r>
                <a:rPr lang="en-ZA" sz="2000" dirty="0" smtClean="0">
                  <a:solidFill>
                    <a:srgbClr val="000000"/>
                  </a:solidFill>
                  <a:latin typeface="Times New Roman" pitchFamily="18" charset="0"/>
                  <a:sym typeface="Symbol"/>
                </a:rPr>
                <a:t>0</a:t>
              </a:r>
              <a:endParaRPr lang="en-ZA" sz="2000" dirty="0">
                <a:solidFill>
                  <a:srgbClr val="000000"/>
                </a:solidFill>
                <a:latin typeface="Times New Roman" pitchFamily="18" charset="0"/>
                <a:sym typeface="Symbol"/>
              </a:endParaRPr>
            </a:p>
          </p:txBody>
        </p:sp>
        <p:cxnSp>
          <p:nvCxnSpPr>
            <p:cNvPr id="11" name="Straight Arrow Connector 10"/>
            <p:cNvCxnSpPr/>
            <p:nvPr/>
          </p:nvCxnSpPr>
          <p:spPr bwMode="auto">
            <a:xfrm flipV="1">
              <a:off x="4632275" y="4008797"/>
              <a:ext cx="1289894" cy="1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type="none" w="med" len="med"/>
              <a:tailEnd type="arrow" w="lg" len="lg"/>
            </a:ln>
            <a:extLst/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</p:grpSp>
      <p:grpSp>
        <p:nvGrpSpPr>
          <p:cNvPr id="27" name="Group 26"/>
          <p:cNvGrpSpPr/>
          <p:nvPr/>
        </p:nvGrpSpPr>
        <p:grpSpPr>
          <a:xfrm>
            <a:off x="4495367" y="2051569"/>
            <a:ext cx="1382133" cy="1467599"/>
            <a:chOff x="4637036" y="2566729"/>
            <a:chExt cx="1382133" cy="1467599"/>
          </a:xfrm>
        </p:grpSpPr>
        <p:sp>
          <p:nvSpPr>
            <p:cNvPr id="7" name="TextBox 6"/>
            <p:cNvSpPr txBox="1"/>
            <p:nvPr/>
          </p:nvSpPr>
          <p:spPr>
            <a:xfrm>
              <a:off x="4857686" y="2566729"/>
              <a:ext cx="1161483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>
              <a:spAutoFit/>
            </a:bodyPr>
            <a:lstStyle/>
            <a:p>
              <a:r>
                <a:rPr lang="en-ZA" sz="2000" i="1" dirty="0" smtClean="0">
                  <a:solidFill>
                    <a:srgbClr val="000000"/>
                  </a:solidFill>
                  <a:latin typeface="Times New Roman" pitchFamily="18" charset="0"/>
                  <a:sym typeface="Symbol"/>
                </a:rPr>
                <a:t>j = </a:t>
              </a:r>
              <a:r>
                <a:rPr lang="en-ZA" sz="2000" dirty="0" smtClean="0">
                  <a:solidFill>
                    <a:srgbClr val="000000"/>
                  </a:solidFill>
                  <a:latin typeface="Times New Roman" pitchFamily="18" charset="0"/>
                  <a:sym typeface="Symbol"/>
                </a:rPr>
                <a:t>190</a:t>
              </a:r>
              <a:endParaRPr lang="en-ZA" sz="2000" dirty="0">
                <a:solidFill>
                  <a:srgbClr val="000000"/>
                </a:solidFill>
                <a:latin typeface="Times New Roman" pitchFamily="18" charset="0"/>
                <a:sym typeface="Symbol"/>
              </a:endParaRPr>
            </a:p>
          </p:txBody>
        </p:sp>
        <p:cxnSp>
          <p:nvCxnSpPr>
            <p:cNvPr id="15" name="Straight Arrow Connector 14"/>
            <p:cNvCxnSpPr/>
            <p:nvPr/>
          </p:nvCxnSpPr>
          <p:spPr bwMode="auto">
            <a:xfrm rot="16200000" flipV="1">
              <a:off x="3992090" y="3389380"/>
              <a:ext cx="1289894" cy="1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type="none" w="med" len="med"/>
              <a:tailEnd type="arrow" w="lg" len="lg"/>
            </a:ln>
            <a:extLst/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</p:grpSp>
      <p:grpSp>
        <p:nvGrpSpPr>
          <p:cNvPr id="28" name="Group 27"/>
          <p:cNvGrpSpPr/>
          <p:nvPr/>
        </p:nvGrpSpPr>
        <p:grpSpPr>
          <a:xfrm>
            <a:off x="2671609" y="3490949"/>
            <a:ext cx="1814565" cy="680490"/>
            <a:chOff x="2813278" y="4006109"/>
            <a:chExt cx="1814565" cy="680490"/>
          </a:xfrm>
        </p:grpSpPr>
        <p:sp>
          <p:nvSpPr>
            <p:cNvPr id="18" name="TextBox 17"/>
            <p:cNvSpPr txBox="1"/>
            <p:nvPr/>
          </p:nvSpPr>
          <p:spPr>
            <a:xfrm>
              <a:off x="2813278" y="4071046"/>
              <a:ext cx="1124695" cy="61555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ZA" sz="2000" dirty="0" smtClean="0">
                  <a:solidFill>
                    <a:srgbClr val="000000"/>
                  </a:solidFill>
                  <a:latin typeface="Times New Roman" pitchFamily="18" charset="0"/>
                  <a:sym typeface="Symbol"/>
                </a:rPr>
                <a:t>-1 </a:t>
              </a:r>
            </a:p>
            <a:p>
              <a:pPr algn="ctr"/>
              <a:r>
                <a:rPr lang="en-ZA" sz="2000" dirty="0" smtClean="0">
                  <a:solidFill>
                    <a:srgbClr val="000000"/>
                  </a:solidFill>
                  <a:latin typeface="Times New Roman" pitchFamily="18" charset="0"/>
                  <a:sym typeface="Symbol"/>
                </a:rPr>
                <a:t>= </a:t>
              </a:r>
              <a:r>
                <a:rPr lang="en-ZA" sz="2000" dirty="0">
                  <a:solidFill>
                    <a:srgbClr val="000000"/>
                  </a:solidFill>
                  <a:latin typeface="Times New Roman" pitchFamily="18" charset="0"/>
                  <a:sym typeface="Symbol"/>
                </a:rPr>
                <a:t>1</a:t>
              </a:r>
              <a:r>
                <a:rPr lang="en-ZA" sz="2000" dirty="0" smtClean="0">
                  <a:solidFill>
                    <a:srgbClr val="000000"/>
                  </a:solidFill>
                  <a:latin typeface="Times New Roman" pitchFamily="18" charset="0"/>
                  <a:sym typeface="Symbol"/>
                </a:rPr>
                <a:t>180</a:t>
              </a:r>
              <a:endParaRPr lang="en-ZA" sz="2000" dirty="0">
                <a:solidFill>
                  <a:srgbClr val="000000"/>
                </a:solidFill>
                <a:latin typeface="Times New Roman" pitchFamily="18" charset="0"/>
                <a:sym typeface="Symbol"/>
              </a:endParaRPr>
            </a:p>
          </p:txBody>
        </p:sp>
        <p:cxnSp>
          <p:nvCxnSpPr>
            <p:cNvPr id="19" name="Straight Arrow Connector 18"/>
            <p:cNvCxnSpPr/>
            <p:nvPr/>
          </p:nvCxnSpPr>
          <p:spPr bwMode="auto">
            <a:xfrm rot="10800000" flipV="1">
              <a:off x="3337949" y="4006109"/>
              <a:ext cx="1289894" cy="1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type="none" w="med" len="med"/>
              <a:tailEnd type="arrow" w="lg" len="lg"/>
            </a:ln>
            <a:extLst/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</p:grpSp>
      <p:grpSp>
        <p:nvGrpSpPr>
          <p:cNvPr id="29" name="Group 28"/>
          <p:cNvGrpSpPr/>
          <p:nvPr/>
        </p:nvGrpSpPr>
        <p:grpSpPr>
          <a:xfrm>
            <a:off x="4495699" y="3454682"/>
            <a:ext cx="1446196" cy="1408222"/>
            <a:chOff x="4637368" y="3969842"/>
            <a:chExt cx="1446196" cy="1408222"/>
          </a:xfrm>
        </p:grpSpPr>
        <p:sp>
          <p:nvSpPr>
            <p:cNvPr id="17" name="TextBox 16"/>
            <p:cNvSpPr txBox="1"/>
            <p:nvPr/>
          </p:nvSpPr>
          <p:spPr>
            <a:xfrm>
              <a:off x="4723481" y="5070287"/>
              <a:ext cx="1360083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>
              <a:spAutoFit/>
            </a:bodyPr>
            <a:lstStyle/>
            <a:p>
              <a:r>
                <a:rPr lang="en-ZA" sz="2000" i="1" dirty="0" smtClean="0">
                  <a:solidFill>
                    <a:srgbClr val="000000"/>
                  </a:solidFill>
                  <a:latin typeface="Times New Roman" pitchFamily="18" charset="0"/>
                  <a:sym typeface="Symbol"/>
                </a:rPr>
                <a:t>-j = </a:t>
              </a:r>
              <a:r>
                <a:rPr lang="en-ZA" sz="2000" dirty="0" smtClean="0">
                  <a:solidFill>
                    <a:srgbClr val="000000"/>
                  </a:solidFill>
                  <a:latin typeface="Times New Roman" pitchFamily="18" charset="0"/>
                  <a:sym typeface="Symbol"/>
                </a:rPr>
                <a:t>1-90</a:t>
              </a:r>
              <a:endParaRPr lang="en-ZA" sz="2000" dirty="0">
                <a:solidFill>
                  <a:srgbClr val="000000"/>
                </a:solidFill>
                <a:latin typeface="Times New Roman" pitchFamily="18" charset="0"/>
                <a:sym typeface="Symbol"/>
              </a:endParaRPr>
            </a:p>
          </p:txBody>
        </p:sp>
        <p:cxnSp>
          <p:nvCxnSpPr>
            <p:cNvPr id="20" name="Straight Arrow Connector 19"/>
            <p:cNvCxnSpPr/>
            <p:nvPr/>
          </p:nvCxnSpPr>
          <p:spPr bwMode="auto">
            <a:xfrm rot="5400000" flipV="1">
              <a:off x="3992422" y="4614788"/>
              <a:ext cx="1289894" cy="1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type="none" w="med" len="med"/>
              <a:tailEnd type="arrow" w="lg" len="lg"/>
            </a:ln>
            <a:extLst/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578757" y="4284317"/>
                <a:ext cx="3217547" cy="233923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000000"/>
                </a:solidFill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wrap="non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ZA" i="1" smtClean="0">
                              <a:latin typeface="Cambria Math"/>
                            </a:rPr>
                          </m:ctrlPr>
                        </m:radPr>
                        <m:deg/>
                        <m:e>
                          <m:r>
                            <a:rPr lang="en-ZA" b="0" i="1" smtClean="0">
                              <a:latin typeface="Cambria Math"/>
                            </a:rPr>
                            <m:t>−1</m:t>
                          </m:r>
                        </m:e>
                      </m:rad>
                      <m:r>
                        <a:rPr lang="en-ZA" b="0" i="1" smtClean="0">
                          <a:latin typeface="Cambria Math"/>
                        </a:rPr>
                        <m:t>=</m:t>
                      </m:r>
                      <m:r>
                        <a:rPr lang="en-ZA" b="0" i="1" smtClean="0">
                          <a:latin typeface="Cambria Math"/>
                        </a:rPr>
                        <m:t>𝑗</m:t>
                      </m:r>
                    </m:oMath>
                  </m:oMathPara>
                </a14:m>
                <a:endParaRPr lang="en-ZA" b="0" dirty="0" smtClean="0"/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ZA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ZA" b="0" i="1" smtClean="0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ZA" b="0" i="1" smtClean="0">
                              <a:latin typeface="Cambria Math"/>
                            </a:rPr>
                            <m:t>𝑗</m:t>
                          </m:r>
                        </m:den>
                      </m:f>
                      <m:r>
                        <a:rPr lang="en-ZA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ZA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ZA" i="1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ZA" b="0" i="1" smtClean="0">
                              <a:latin typeface="Cambria Math"/>
                            </a:rPr>
                            <m:t>1</m:t>
                          </m:r>
                          <m:r>
                            <a:rPr lang="en-ZA" b="0" i="1" smtClean="0">
                              <a:latin typeface="Cambria Math"/>
                              <a:sym typeface="Symbol"/>
                            </a:rPr>
                            <m:t>90</m:t>
                          </m:r>
                        </m:den>
                      </m:f>
                      <m:r>
                        <a:rPr lang="en-ZA" b="0" i="1" smtClean="0">
                          <a:latin typeface="Cambria Math"/>
                        </a:rPr>
                        <m:t>=</m:t>
                      </m:r>
                      <m:r>
                        <a:rPr lang="en-ZA" i="1">
                          <a:latin typeface="Cambria Math"/>
                        </a:rPr>
                        <m:t>1</m:t>
                      </m:r>
                      <m:r>
                        <a:rPr lang="en-ZA" i="1">
                          <a:latin typeface="Cambria Math"/>
                          <a:sym typeface="Symbol"/>
                        </a:rPr>
                        <m:t></m:t>
                      </m:r>
                      <m:d>
                        <m:dPr>
                          <m:ctrlPr>
                            <a:rPr lang="en-ZA" b="0" i="1" smtClean="0">
                              <a:latin typeface="Cambria Math"/>
                              <a:sym typeface="Symbol"/>
                            </a:rPr>
                          </m:ctrlPr>
                        </m:dPr>
                        <m:e>
                          <m:r>
                            <a:rPr lang="en-ZA" b="0" i="1" smtClean="0">
                              <a:latin typeface="Cambria Math"/>
                              <a:sym typeface="Symbol"/>
                            </a:rPr>
                            <m:t>−</m:t>
                          </m:r>
                          <m:r>
                            <a:rPr lang="en-ZA" i="1">
                              <a:latin typeface="Cambria Math"/>
                              <a:sym typeface="Symbol"/>
                            </a:rPr>
                            <m:t>90</m:t>
                          </m:r>
                        </m:e>
                      </m:d>
                      <m:r>
                        <a:rPr lang="en-ZA" b="0" i="1" smtClean="0">
                          <a:latin typeface="Cambria Math"/>
                          <a:sym typeface="Symbol"/>
                        </a:rPr>
                        <m:t>=</m:t>
                      </m:r>
                      <m:r>
                        <a:rPr lang="en-ZA" b="0" i="1" smtClean="0">
                          <a:latin typeface="Cambria Math"/>
                        </a:rPr>
                        <m:t>−</m:t>
                      </m:r>
                      <m:r>
                        <a:rPr lang="en-ZA" b="0" i="1" smtClean="0">
                          <a:latin typeface="Cambria Math"/>
                        </a:rPr>
                        <m:t>𝑗</m:t>
                      </m:r>
                    </m:oMath>
                  </m:oMathPara>
                </a14:m>
                <a:endParaRPr lang="en-ZA" b="0" dirty="0" smtClean="0"/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ZA" b="0" i="1" smtClean="0">
                          <a:latin typeface="Cambria Math"/>
                        </a:rPr>
                        <m:t>1+</m:t>
                      </m:r>
                      <m:r>
                        <a:rPr lang="en-ZA" b="0" i="1" smtClean="0">
                          <a:latin typeface="Cambria Math"/>
                        </a:rPr>
                        <m:t>𝑗</m:t>
                      </m:r>
                      <m:r>
                        <a:rPr lang="en-ZA" b="0" i="1" smtClean="0">
                          <a:latin typeface="Cambria Math"/>
                        </a:rPr>
                        <m:t>= </m:t>
                      </m:r>
                      <m:rad>
                        <m:radPr>
                          <m:degHide m:val="on"/>
                          <m:ctrlPr>
                            <a:rPr lang="en-ZA" b="0" i="1" smtClean="0">
                              <a:latin typeface="Cambria Math"/>
                            </a:rPr>
                          </m:ctrlPr>
                        </m:radPr>
                        <m:deg/>
                        <m:e>
                          <m:r>
                            <a:rPr lang="en-ZA" b="0" i="1" smtClean="0">
                              <a:latin typeface="Cambria Math"/>
                            </a:rPr>
                            <m:t>2</m:t>
                          </m:r>
                        </m:e>
                      </m:rad>
                      <m:r>
                        <a:rPr lang="en-ZA" i="1">
                          <a:latin typeface="Cambria Math"/>
                          <a:sym typeface="Symbol"/>
                        </a:rPr>
                        <m:t>45</m:t>
                      </m:r>
                    </m:oMath>
                  </m:oMathPara>
                </a14:m>
                <a:endParaRPr lang="en-ZA" dirty="0" smtClean="0"/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ZA" i="1">
                          <a:latin typeface="Cambria Math"/>
                        </a:rPr>
                        <m:t>1</m:t>
                      </m:r>
                      <m:r>
                        <a:rPr lang="en-ZA" b="0" i="1" smtClean="0">
                          <a:latin typeface="Cambria Math"/>
                        </a:rPr>
                        <m:t>−</m:t>
                      </m:r>
                      <m:r>
                        <a:rPr lang="en-ZA" i="1">
                          <a:latin typeface="Cambria Math"/>
                        </a:rPr>
                        <m:t>𝑗</m:t>
                      </m:r>
                      <m:r>
                        <a:rPr lang="en-ZA" i="1">
                          <a:latin typeface="Cambria Math"/>
                        </a:rPr>
                        <m:t>= </m:t>
                      </m:r>
                      <m:rad>
                        <m:radPr>
                          <m:degHide m:val="on"/>
                          <m:ctrlPr>
                            <a:rPr lang="en-ZA" i="1">
                              <a:latin typeface="Cambria Math"/>
                            </a:rPr>
                          </m:ctrlPr>
                        </m:radPr>
                        <m:deg/>
                        <m:e>
                          <m:r>
                            <a:rPr lang="en-ZA" i="1">
                              <a:latin typeface="Cambria Math"/>
                            </a:rPr>
                            <m:t>2</m:t>
                          </m:r>
                        </m:e>
                      </m:rad>
                      <m:r>
                        <a:rPr lang="en-ZA" i="1">
                          <a:latin typeface="Cambria Math"/>
                          <a:sym typeface="Symbol"/>
                        </a:rPr>
                        <m:t></m:t>
                      </m:r>
                      <m:d>
                        <m:dPr>
                          <m:ctrlPr>
                            <a:rPr lang="en-ZA" b="0" i="1" smtClean="0">
                              <a:latin typeface="Cambria Math"/>
                              <a:sym typeface="Symbol"/>
                            </a:rPr>
                          </m:ctrlPr>
                        </m:dPr>
                        <m:e>
                          <m:r>
                            <a:rPr lang="en-ZA" b="0" i="1" smtClean="0">
                              <a:latin typeface="Cambria Math"/>
                              <a:sym typeface="Symbol"/>
                            </a:rPr>
                            <m:t>−</m:t>
                          </m:r>
                          <m:r>
                            <a:rPr lang="en-ZA" i="1">
                              <a:latin typeface="Cambria Math"/>
                              <a:sym typeface="Symbol"/>
                            </a:rPr>
                            <m:t>45</m:t>
                          </m:r>
                        </m:e>
                      </m:d>
                    </m:oMath>
                  </m:oMathPara>
                </a14:m>
                <a:endParaRPr lang="en-ZA" dirty="0"/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8757" y="4284317"/>
                <a:ext cx="3217547" cy="233923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  <a:ln>
                <a:solidFill>
                  <a:srgbClr val="000000"/>
                </a:solidFill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634165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807200" y="6388477"/>
            <a:ext cx="2133600" cy="457200"/>
          </a:xfrm>
        </p:spPr>
        <p:txBody>
          <a:bodyPr/>
          <a:lstStyle/>
          <a:p>
            <a:fld id="{6FDF52F3-C9BE-43C9-A9AF-104F32B25414}" type="slidenum">
              <a:rPr lang="en-US"/>
              <a:pPr/>
              <a:t>20</a:t>
            </a:fld>
            <a:endParaRPr lang="en-US" dirty="0"/>
          </a:p>
        </p:txBody>
      </p:sp>
      <p:sp>
        <p:nvSpPr>
          <p:cNvPr id="249860" name="Rectangle 4"/>
          <p:cNvSpPr>
            <a:spLocks noGrp="1" noChangeArrowheads="1"/>
          </p:cNvSpPr>
          <p:nvPr>
            <p:ph type="title"/>
          </p:nvPr>
        </p:nvSpPr>
        <p:spPr>
          <a:xfrm>
            <a:off x="442913" y="103188"/>
            <a:ext cx="8243887" cy="1027112"/>
          </a:xfrm>
        </p:spPr>
        <p:txBody>
          <a:bodyPr anchor="t"/>
          <a:lstStyle/>
          <a:p>
            <a:r>
              <a:rPr lang="en-US" sz="2800" dirty="0"/>
              <a:t>9.3 </a:t>
            </a:r>
            <a:r>
              <a:rPr lang="en-US" sz="2800" dirty="0" err="1" smtClean="0"/>
              <a:t>Phasors</a:t>
            </a:r>
            <a:r>
              <a:rPr lang="en-US" sz="4000" dirty="0" smtClean="0"/>
              <a:t/>
            </a:r>
            <a:br>
              <a:rPr lang="en-US" sz="4000" dirty="0" smtClean="0"/>
            </a:br>
            <a:r>
              <a:rPr lang="en-US" sz="4000" dirty="0" smtClean="0">
                <a:solidFill>
                  <a:srgbClr val="FF0000"/>
                </a:solidFill>
              </a:rPr>
              <a:t>Arithmetic (1)</a:t>
            </a:r>
            <a:endParaRPr lang="en-US" sz="4000" dirty="0">
              <a:solidFill>
                <a:srgbClr val="FF0000"/>
              </a:solidFill>
            </a:endParaRPr>
          </a:p>
        </p:txBody>
      </p:sp>
      <p:sp>
        <p:nvSpPr>
          <p:cNvPr id="249861" name="Rectangle 5"/>
          <p:cNvSpPr>
            <a:spLocks noChangeArrowheads="1"/>
          </p:cNvSpPr>
          <p:nvPr/>
        </p:nvSpPr>
        <p:spPr bwMode="auto">
          <a:xfrm>
            <a:off x="0" y="32146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ZA"/>
          </a:p>
        </p:txBody>
      </p:sp>
      <p:sp>
        <p:nvSpPr>
          <p:cNvPr id="249862" name="Rectangle 6"/>
          <p:cNvSpPr>
            <a:spLocks noChangeArrowheads="1"/>
          </p:cNvSpPr>
          <p:nvPr/>
        </p:nvSpPr>
        <p:spPr bwMode="auto">
          <a:xfrm>
            <a:off x="0" y="31813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ZA"/>
          </a:p>
        </p:txBody>
      </p:sp>
      <p:sp>
        <p:nvSpPr>
          <p:cNvPr id="249865" name="Rectangle 9"/>
          <p:cNvSpPr>
            <a:spLocks noChangeArrowheads="1"/>
          </p:cNvSpPr>
          <p:nvPr/>
        </p:nvSpPr>
        <p:spPr bwMode="auto">
          <a:xfrm>
            <a:off x="0" y="32385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ZA"/>
          </a:p>
        </p:txBody>
      </p:sp>
      <p:sp>
        <p:nvSpPr>
          <p:cNvPr id="249866" name="Rectangle 10"/>
          <p:cNvSpPr>
            <a:spLocks noChangeArrowheads="1"/>
          </p:cNvSpPr>
          <p:nvPr/>
        </p:nvSpPr>
        <p:spPr bwMode="auto">
          <a:xfrm>
            <a:off x="-609600" y="32004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ZA"/>
          </a:p>
        </p:txBody>
      </p:sp>
      <p:sp>
        <p:nvSpPr>
          <p:cNvPr id="249867" name="Rectangle 11"/>
          <p:cNvSpPr>
            <a:spLocks noChangeArrowheads="1"/>
          </p:cNvSpPr>
          <p:nvPr/>
        </p:nvSpPr>
        <p:spPr bwMode="auto">
          <a:xfrm>
            <a:off x="0" y="32385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ZA"/>
          </a:p>
        </p:txBody>
      </p:sp>
      <p:sp>
        <p:nvSpPr>
          <p:cNvPr id="249872" name="Rectangle 16"/>
          <p:cNvSpPr>
            <a:spLocks noChangeArrowheads="1"/>
          </p:cNvSpPr>
          <p:nvPr/>
        </p:nvSpPr>
        <p:spPr bwMode="auto">
          <a:xfrm>
            <a:off x="0" y="32099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ZA"/>
          </a:p>
        </p:txBody>
      </p:sp>
      <p:sp>
        <p:nvSpPr>
          <p:cNvPr id="249873" name="Rectangle 17"/>
          <p:cNvSpPr>
            <a:spLocks noChangeArrowheads="1"/>
          </p:cNvSpPr>
          <p:nvPr/>
        </p:nvSpPr>
        <p:spPr bwMode="auto">
          <a:xfrm>
            <a:off x="0" y="31242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ZA"/>
          </a:p>
        </p:txBody>
      </p:sp>
      <p:sp>
        <p:nvSpPr>
          <p:cNvPr id="249880" name="Rectangle 24"/>
          <p:cNvSpPr>
            <a:spLocks noChangeArrowheads="1"/>
          </p:cNvSpPr>
          <p:nvPr/>
        </p:nvSpPr>
        <p:spPr bwMode="auto">
          <a:xfrm>
            <a:off x="0" y="32527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ZA"/>
          </a:p>
        </p:txBody>
      </p:sp>
      <p:sp>
        <p:nvSpPr>
          <p:cNvPr id="249882" name="Rectangle 2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ZA"/>
          </a:p>
        </p:txBody>
      </p:sp>
      <p:sp>
        <p:nvSpPr>
          <p:cNvPr id="3" name="Rectangle 2"/>
          <p:cNvSpPr/>
          <p:nvPr/>
        </p:nvSpPr>
        <p:spPr>
          <a:xfrm>
            <a:off x="2131964" y="1251584"/>
            <a:ext cx="4986060" cy="1089529"/>
          </a:xfrm>
          <a:prstGeom prst="rect">
            <a:avLst/>
          </a:prstGeom>
          <a:ln>
            <a:solidFill>
              <a:srgbClr val="000000"/>
            </a:solidFill>
          </a:ln>
        </p:spPr>
        <p:txBody>
          <a:bodyPr wrap="square">
            <a:sp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sz="2400" dirty="0" smtClean="0">
                <a:solidFill>
                  <a:srgbClr val="000000"/>
                </a:solidFill>
                <a:latin typeface="Times New Roman" pitchFamily="18" charset="0"/>
              </a:rPr>
              <a:t>Assume:	</a:t>
            </a:r>
            <a:r>
              <a:rPr lang="en-US" sz="2400" i="1" dirty="0" smtClean="0">
                <a:solidFill>
                  <a:srgbClr val="000000"/>
                </a:solidFill>
                <a:latin typeface="Times New Roman" pitchFamily="18" charset="0"/>
              </a:rPr>
              <a:t>z = x + </a:t>
            </a:r>
            <a:r>
              <a:rPr lang="en-US" sz="2400" i="1" dirty="0" err="1" smtClean="0">
                <a:solidFill>
                  <a:srgbClr val="000000"/>
                </a:solidFill>
                <a:latin typeface="Times New Roman" pitchFamily="18" charset="0"/>
              </a:rPr>
              <a:t>jy</a:t>
            </a:r>
            <a:r>
              <a:rPr lang="en-US" sz="2400" i="1" dirty="0" smtClean="0">
                <a:solidFill>
                  <a:srgbClr val="000000"/>
                </a:solidFill>
                <a:latin typeface="Times New Roman" pitchFamily="18" charset="0"/>
              </a:rPr>
              <a:t>	= r</a:t>
            </a:r>
            <a:r>
              <a:rPr lang="en-US" sz="2400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</a:t>
            </a:r>
            <a:r>
              <a:rPr lang="en-US" sz="2400" i="1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</a:t>
            </a:r>
            <a:r>
              <a:rPr lang="en-US" sz="2400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</a:t>
            </a:r>
            <a:endParaRPr lang="en-US" sz="2400" dirty="0" smtClean="0">
              <a:solidFill>
                <a:srgbClr val="000000"/>
              </a:solidFill>
              <a:latin typeface="Times New Roman" pitchFamily="18" charset="0"/>
            </a:endParaRPr>
          </a:p>
          <a:p>
            <a:pPr>
              <a:lnSpc>
                <a:spcPct val="90000"/>
              </a:lnSpc>
            </a:pPr>
            <a:r>
              <a:rPr lang="en-US" sz="2400" i="1" dirty="0" smtClean="0">
                <a:solidFill>
                  <a:srgbClr val="000000"/>
                </a:solidFill>
                <a:latin typeface="Times New Roman" pitchFamily="18" charset="0"/>
              </a:rPr>
              <a:t>		z</a:t>
            </a:r>
            <a:r>
              <a:rPr lang="en-US" sz="2400" i="1" baseline="-25000" dirty="0" smtClean="0">
                <a:solidFill>
                  <a:srgbClr val="000000"/>
                </a:solidFill>
                <a:latin typeface="Times New Roman" pitchFamily="18" charset="0"/>
              </a:rPr>
              <a:t>1</a:t>
            </a:r>
            <a:r>
              <a:rPr lang="en-US" sz="2400" i="1" dirty="0" smtClean="0">
                <a:solidFill>
                  <a:srgbClr val="000000"/>
                </a:solidFill>
                <a:latin typeface="Times New Roman" pitchFamily="18" charset="0"/>
              </a:rPr>
              <a:t> </a:t>
            </a:r>
            <a:r>
              <a:rPr lang="en-US" sz="2400" i="1" dirty="0">
                <a:solidFill>
                  <a:srgbClr val="000000"/>
                </a:solidFill>
                <a:latin typeface="Times New Roman" pitchFamily="18" charset="0"/>
              </a:rPr>
              <a:t>= </a:t>
            </a:r>
            <a:r>
              <a:rPr lang="en-US" sz="2400" i="1" dirty="0" smtClean="0">
                <a:solidFill>
                  <a:srgbClr val="000000"/>
                </a:solidFill>
                <a:latin typeface="Times New Roman" pitchFamily="18" charset="0"/>
              </a:rPr>
              <a:t>x</a:t>
            </a:r>
            <a:r>
              <a:rPr lang="en-US" sz="2400" i="1" baseline="-25000" dirty="0" smtClean="0">
                <a:solidFill>
                  <a:srgbClr val="000000"/>
                </a:solidFill>
                <a:latin typeface="Times New Roman" pitchFamily="18" charset="0"/>
              </a:rPr>
              <a:t>1</a:t>
            </a:r>
            <a:r>
              <a:rPr lang="en-US" sz="2400" i="1" dirty="0" smtClean="0">
                <a:solidFill>
                  <a:srgbClr val="000000"/>
                </a:solidFill>
                <a:latin typeface="Times New Roman" pitchFamily="18" charset="0"/>
              </a:rPr>
              <a:t> </a:t>
            </a:r>
            <a:r>
              <a:rPr lang="en-US" sz="2400" i="1" dirty="0">
                <a:solidFill>
                  <a:srgbClr val="000000"/>
                </a:solidFill>
                <a:latin typeface="Times New Roman" pitchFamily="18" charset="0"/>
              </a:rPr>
              <a:t>+ </a:t>
            </a:r>
            <a:r>
              <a:rPr lang="en-US" sz="2400" i="1" dirty="0" smtClean="0">
                <a:solidFill>
                  <a:srgbClr val="000000"/>
                </a:solidFill>
                <a:latin typeface="Times New Roman" pitchFamily="18" charset="0"/>
              </a:rPr>
              <a:t>jy</a:t>
            </a:r>
            <a:r>
              <a:rPr lang="en-US" sz="2400" i="1" baseline="-25000" dirty="0" smtClean="0">
                <a:solidFill>
                  <a:srgbClr val="000000"/>
                </a:solidFill>
                <a:latin typeface="Times New Roman" pitchFamily="18" charset="0"/>
              </a:rPr>
              <a:t>1</a:t>
            </a:r>
            <a:r>
              <a:rPr lang="en-US" sz="2400" i="1" dirty="0">
                <a:solidFill>
                  <a:srgbClr val="000000"/>
                </a:solidFill>
                <a:latin typeface="Times New Roman" pitchFamily="18" charset="0"/>
              </a:rPr>
              <a:t>	= </a:t>
            </a:r>
            <a:r>
              <a:rPr lang="en-US" sz="2400" i="1" dirty="0" smtClean="0">
                <a:solidFill>
                  <a:srgbClr val="000000"/>
                </a:solidFill>
                <a:latin typeface="Times New Roman" pitchFamily="18" charset="0"/>
              </a:rPr>
              <a:t>r</a:t>
            </a:r>
            <a:r>
              <a:rPr lang="en-US" sz="2400" i="1" baseline="-25000" dirty="0" smtClean="0">
                <a:solidFill>
                  <a:srgbClr val="000000"/>
                </a:solidFill>
                <a:latin typeface="Times New Roman" pitchFamily="18" charset="0"/>
              </a:rPr>
              <a:t>1</a:t>
            </a:r>
            <a:r>
              <a:rPr lang="en-US" sz="2400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</a:t>
            </a:r>
            <a:r>
              <a:rPr lang="en-US" sz="2400" i="1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</a:t>
            </a:r>
            <a:r>
              <a:rPr lang="en-US" sz="2400" i="1" baseline="-25000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1</a:t>
            </a:r>
            <a:r>
              <a:rPr lang="en-US" sz="2400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</a:t>
            </a:r>
            <a:endParaRPr lang="en-US" sz="2400" i="1" baseline="-25000" dirty="0">
              <a:solidFill>
                <a:srgbClr val="000000"/>
              </a:solidFill>
              <a:latin typeface="Times New Roman" pitchFamily="18" charset="0"/>
            </a:endParaRPr>
          </a:p>
          <a:p>
            <a:pPr>
              <a:lnSpc>
                <a:spcPct val="90000"/>
              </a:lnSpc>
            </a:pPr>
            <a:r>
              <a:rPr lang="en-US" sz="2400" i="1" dirty="0">
                <a:solidFill>
                  <a:srgbClr val="000000"/>
                </a:solidFill>
                <a:latin typeface="Times New Roman" pitchFamily="18" charset="0"/>
              </a:rPr>
              <a:t>		</a:t>
            </a:r>
            <a:r>
              <a:rPr lang="en-US" sz="2400" i="1" dirty="0" smtClean="0">
                <a:solidFill>
                  <a:srgbClr val="000000"/>
                </a:solidFill>
                <a:latin typeface="Times New Roman" pitchFamily="18" charset="0"/>
              </a:rPr>
              <a:t>z</a:t>
            </a:r>
            <a:r>
              <a:rPr lang="en-US" sz="2400" i="1" baseline="-25000" dirty="0" smtClean="0">
                <a:solidFill>
                  <a:srgbClr val="000000"/>
                </a:solidFill>
                <a:latin typeface="Times New Roman" pitchFamily="18" charset="0"/>
              </a:rPr>
              <a:t>2</a:t>
            </a:r>
            <a:r>
              <a:rPr lang="en-US" sz="2400" i="1" dirty="0" smtClean="0">
                <a:solidFill>
                  <a:srgbClr val="000000"/>
                </a:solidFill>
                <a:latin typeface="Times New Roman" pitchFamily="18" charset="0"/>
              </a:rPr>
              <a:t> </a:t>
            </a:r>
            <a:r>
              <a:rPr lang="en-US" sz="2400" i="1" dirty="0">
                <a:solidFill>
                  <a:srgbClr val="000000"/>
                </a:solidFill>
                <a:latin typeface="Times New Roman" pitchFamily="18" charset="0"/>
              </a:rPr>
              <a:t>= </a:t>
            </a:r>
            <a:r>
              <a:rPr lang="en-US" sz="2400" i="1" dirty="0" smtClean="0">
                <a:solidFill>
                  <a:srgbClr val="000000"/>
                </a:solidFill>
                <a:latin typeface="Times New Roman" pitchFamily="18" charset="0"/>
              </a:rPr>
              <a:t>x</a:t>
            </a:r>
            <a:r>
              <a:rPr lang="en-US" sz="2400" i="1" baseline="-25000" dirty="0" smtClean="0">
                <a:solidFill>
                  <a:srgbClr val="000000"/>
                </a:solidFill>
                <a:latin typeface="Times New Roman" pitchFamily="18" charset="0"/>
              </a:rPr>
              <a:t>2</a:t>
            </a:r>
            <a:r>
              <a:rPr lang="en-US" sz="2400" i="1" dirty="0" smtClean="0">
                <a:solidFill>
                  <a:srgbClr val="000000"/>
                </a:solidFill>
                <a:latin typeface="Times New Roman" pitchFamily="18" charset="0"/>
              </a:rPr>
              <a:t> </a:t>
            </a:r>
            <a:r>
              <a:rPr lang="en-US" sz="2400" i="1" dirty="0">
                <a:solidFill>
                  <a:srgbClr val="000000"/>
                </a:solidFill>
                <a:latin typeface="Times New Roman" pitchFamily="18" charset="0"/>
              </a:rPr>
              <a:t>+ </a:t>
            </a:r>
            <a:r>
              <a:rPr lang="en-US" sz="2400" i="1" dirty="0" smtClean="0">
                <a:solidFill>
                  <a:srgbClr val="000000"/>
                </a:solidFill>
                <a:latin typeface="Times New Roman" pitchFamily="18" charset="0"/>
              </a:rPr>
              <a:t>jy</a:t>
            </a:r>
            <a:r>
              <a:rPr lang="en-US" sz="2400" i="1" baseline="-25000" dirty="0" smtClean="0">
                <a:solidFill>
                  <a:srgbClr val="000000"/>
                </a:solidFill>
                <a:latin typeface="Times New Roman" pitchFamily="18" charset="0"/>
              </a:rPr>
              <a:t>2</a:t>
            </a:r>
            <a:r>
              <a:rPr lang="en-US" sz="2400" i="1" dirty="0">
                <a:solidFill>
                  <a:srgbClr val="000000"/>
                </a:solidFill>
                <a:latin typeface="Times New Roman" pitchFamily="18" charset="0"/>
              </a:rPr>
              <a:t>	= </a:t>
            </a:r>
            <a:r>
              <a:rPr lang="en-US" sz="2400" i="1" dirty="0" smtClean="0">
                <a:solidFill>
                  <a:srgbClr val="000000"/>
                </a:solidFill>
                <a:latin typeface="Times New Roman" pitchFamily="18" charset="0"/>
              </a:rPr>
              <a:t>r</a:t>
            </a:r>
            <a:r>
              <a:rPr lang="en-US" sz="2400" i="1" baseline="-25000" dirty="0" smtClean="0">
                <a:solidFill>
                  <a:srgbClr val="000000"/>
                </a:solidFill>
                <a:latin typeface="Times New Roman" pitchFamily="18" charset="0"/>
              </a:rPr>
              <a:t>2</a:t>
            </a:r>
            <a:r>
              <a:rPr lang="en-US" sz="2400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</a:t>
            </a:r>
            <a:r>
              <a:rPr lang="en-US" sz="2400" i="1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</a:t>
            </a:r>
            <a:r>
              <a:rPr lang="en-US" sz="2400" i="1" baseline="-25000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2</a:t>
            </a:r>
            <a:r>
              <a:rPr lang="en-US" sz="2400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</a:t>
            </a:r>
            <a:endParaRPr lang="en-US" sz="2400" i="1" baseline="-25000" dirty="0">
              <a:solidFill>
                <a:srgbClr val="000000"/>
              </a:solidFill>
              <a:latin typeface="Times New Roman" pitchFamily="18" charset="0"/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467831" y="2329934"/>
            <a:ext cx="8314327" cy="1240034"/>
            <a:chOff x="467831" y="2329934"/>
            <a:chExt cx="8314327" cy="1240034"/>
          </a:xfrm>
        </p:grpSpPr>
        <p:sp>
          <p:nvSpPr>
            <p:cNvPr id="4" name="Rectangle 3"/>
            <p:cNvSpPr/>
            <p:nvPr/>
          </p:nvSpPr>
          <p:spPr>
            <a:xfrm>
              <a:off x="467831" y="2329934"/>
              <a:ext cx="8314327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800" dirty="0" smtClean="0">
                  <a:solidFill>
                    <a:srgbClr val="000000"/>
                  </a:solidFill>
                  <a:latin typeface="Times New Roman" pitchFamily="18" charset="0"/>
                </a:rPr>
                <a:t>Addition (+):  </a:t>
              </a:r>
              <a:r>
                <a:rPr lang="en-US" sz="2400" dirty="0" smtClean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itchFamily="18" charset="0"/>
                </a:rPr>
                <a:t>MUST WORK IN </a:t>
              </a:r>
              <a:r>
                <a:rPr lang="en-US" sz="2400" b="1" u="sng" dirty="0" smtClean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itchFamily="18" charset="0"/>
                </a:rPr>
                <a:t>RECTANGULA</a:t>
              </a:r>
              <a:r>
                <a:rPr lang="en-US" sz="2400" dirty="0" smtClean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itchFamily="18" charset="0"/>
                </a:rPr>
                <a:t>R FORMAT</a:t>
              </a:r>
              <a:endParaRPr lang="en-ZA" sz="2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2621240" y="2812838"/>
              <a:ext cx="5836960" cy="7571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2400" i="1" dirty="0" smtClean="0">
                  <a:solidFill>
                    <a:srgbClr val="000000"/>
                  </a:solidFill>
                  <a:latin typeface="Times New Roman" pitchFamily="18" charset="0"/>
                </a:rPr>
                <a:t>z</a:t>
              </a:r>
              <a:r>
                <a:rPr lang="en-US" sz="2400" i="1" baseline="-25000" dirty="0" smtClean="0">
                  <a:solidFill>
                    <a:srgbClr val="000000"/>
                  </a:solidFill>
                  <a:latin typeface="Times New Roman" pitchFamily="18" charset="0"/>
                </a:rPr>
                <a:t>1</a:t>
              </a:r>
              <a:r>
                <a:rPr lang="en-US" sz="2400" i="1" dirty="0" smtClean="0">
                  <a:solidFill>
                    <a:srgbClr val="000000"/>
                  </a:solidFill>
                  <a:latin typeface="Times New Roman" pitchFamily="18" charset="0"/>
                </a:rPr>
                <a:t> + z</a:t>
              </a:r>
              <a:r>
                <a:rPr lang="en-US" sz="2400" i="1" baseline="-25000" dirty="0" smtClean="0">
                  <a:solidFill>
                    <a:srgbClr val="000000"/>
                  </a:solidFill>
                  <a:latin typeface="Times New Roman" pitchFamily="18" charset="0"/>
                </a:rPr>
                <a:t>2</a:t>
              </a:r>
              <a:r>
                <a:rPr lang="en-US" sz="2400" i="1" dirty="0" smtClean="0">
                  <a:solidFill>
                    <a:srgbClr val="000000"/>
                  </a:solidFill>
                  <a:latin typeface="Times New Roman" pitchFamily="18" charset="0"/>
                </a:rPr>
                <a:t> = x</a:t>
              </a:r>
              <a:r>
                <a:rPr lang="en-US" sz="2400" i="1" baseline="-25000" dirty="0" smtClean="0">
                  <a:solidFill>
                    <a:srgbClr val="000000"/>
                  </a:solidFill>
                  <a:latin typeface="Times New Roman" pitchFamily="18" charset="0"/>
                </a:rPr>
                <a:t>1</a:t>
              </a:r>
              <a:r>
                <a:rPr lang="en-US" sz="2400" i="1" dirty="0" smtClean="0">
                  <a:solidFill>
                    <a:srgbClr val="000000"/>
                  </a:solidFill>
                  <a:latin typeface="Times New Roman" pitchFamily="18" charset="0"/>
                </a:rPr>
                <a:t> </a:t>
              </a:r>
              <a:r>
                <a:rPr lang="en-US" sz="2400" i="1" dirty="0">
                  <a:solidFill>
                    <a:srgbClr val="000000"/>
                  </a:solidFill>
                  <a:latin typeface="Times New Roman" pitchFamily="18" charset="0"/>
                </a:rPr>
                <a:t>+ </a:t>
              </a:r>
              <a:r>
                <a:rPr lang="en-US" sz="2400" i="1" dirty="0" smtClean="0">
                  <a:solidFill>
                    <a:srgbClr val="000000"/>
                  </a:solidFill>
                  <a:latin typeface="Times New Roman" pitchFamily="18" charset="0"/>
                </a:rPr>
                <a:t>jy</a:t>
              </a:r>
              <a:r>
                <a:rPr lang="en-US" sz="2400" i="1" baseline="-25000" dirty="0" smtClean="0">
                  <a:solidFill>
                    <a:srgbClr val="000000"/>
                  </a:solidFill>
                  <a:latin typeface="Times New Roman" pitchFamily="18" charset="0"/>
                </a:rPr>
                <a:t>1</a:t>
              </a:r>
              <a:r>
                <a:rPr lang="en-US" sz="2400" i="1" dirty="0" smtClean="0">
                  <a:solidFill>
                    <a:srgbClr val="000000"/>
                  </a:solidFill>
                  <a:latin typeface="Times New Roman" pitchFamily="18" charset="0"/>
                </a:rPr>
                <a:t> + x</a:t>
              </a:r>
              <a:r>
                <a:rPr lang="en-US" sz="2400" i="1" baseline="-25000" dirty="0" smtClean="0">
                  <a:solidFill>
                    <a:srgbClr val="000000"/>
                  </a:solidFill>
                  <a:latin typeface="Times New Roman" pitchFamily="18" charset="0"/>
                </a:rPr>
                <a:t>2</a:t>
              </a:r>
              <a:r>
                <a:rPr lang="en-US" sz="2400" i="1" dirty="0" smtClean="0">
                  <a:solidFill>
                    <a:srgbClr val="000000"/>
                  </a:solidFill>
                  <a:latin typeface="Times New Roman" pitchFamily="18" charset="0"/>
                </a:rPr>
                <a:t> </a:t>
              </a:r>
              <a:r>
                <a:rPr lang="en-US" sz="2400" i="1" dirty="0">
                  <a:solidFill>
                    <a:srgbClr val="000000"/>
                  </a:solidFill>
                  <a:latin typeface="Times New Roman" pitchFamily="18" charset="0"/>
                </a:rPr>
                <a:t>+ </a:t>
              </a:r>
              <a:r>
                <a:rPr lang="en-US" sz="2400" i="1" dirty="0" smtClean="0">
                  <a:solidFill>
                    <a:srgbClr val="000000"/>
                  </a:solidFill>
                  <a:latin typeface="Times New Roman" pitchFamily="18" charset="0"/>
                </a:rPr>
                <a:t>jy</a:t>
              </a:r>
              <a:r>
                <a:rPr lang="en-US" sz="2400" i="1" baseline="-25000" dirty="0" smtClean="0">
                  <a:solidFill>
                    <a:srgbClr val="000000"/>
                  </a:solidFill>
                  <a:latin typeface="Times New Roman" pitchFamily="18" charset="0"/>
                </a:rPr>
                <a:t>2</a:t>
              </a:r>
              <a:endParaRPr lang="en-US" sz="2400" i="1" dirty="0">
                <a:solidFill>
                  <a:srgbClr val="000000"/>
                </a:solidFill>
                <a:latin typeface="Times New Roman" pitchFamily="18" charset="0"/>
              </a:endParaRPr>
            </a:p>
            <a:p>
              <a:pPr>
                <a:lnSpc>
                  <a:spcPct val="90000"/>
                </a:lnSpc>
              </a:pPr>
              <a:r>
                <a:rPr lang="en-US" sz="2400" i="1" dirty="0" smtClean="0">
                  <a:solidFill>
                    <a:srgbClr val="000000"/>
                  </a:solidFill>
                  <a:latin typeface="Times New Roman" pitchFamily="18" charset="0"/>
                </a:rPr>
                <a:t>	= </a:t>
              </a:r>
              <a:r>
                <a:rPr lang="en-US" sz="2400" dirty="0" smtClean="0">
                  <a:solidFill>
                    <a:srgbClr val="000000"/>
                  </a:solidFill>
                  <a:latin typeface="Times New Roman" pitchFamily="18" charset="0"/>
                </a:rPr>
                <a:t>(</a:t>
              </a:r>
              <a:r>
                <a:rPr lang="en-US" sz="2400" i="1" dirty="0" smtClean="0">
                  <a:solidFill>
                    <a:srgbClr val="000000"/>
                  </a:solidFill>
                  <a:latin typeface="Times New Roman" pitchFamily="18" charset="0"/>
                </a:rPr>
                <a:t>x</a:t>
              </a:r>
              <a:r>
                <a:rPr lang="en-US" sz="2400" i="1" baseline="-25000" dirty="0" smtClean="0">
                  <a:solidFill>
                    <a:srgbClr val="000000"/>
                  </a:solidFill>
                  <a:latin typeface="Times New Roman" pitchFamily="18" charset="0"/>
                </a:rPr>
                <a:t>1</a:t>
              </a:r>
              <a:r>
                <a:rPr lang="en-US" sz="2400" i="1" dirty="0" smtClean="0">
                  <a:solidFill>
                    <a:srgbClr val="000000"/>
                  </a:solidFill>
                  <a:latin typeface="Times New Roman" pitchFamily="18" charset="0"/>
                </a:rPr>
                <a:t> </a:t>
              </a:r>
              <a:r>
                <a:rPr lang="en-US" sz="2400" i="1" dirty="0">
                  <a:solidFill>
                    <a:srgbClr val="000000"/>
                  </a:solidFill>
                  <a:latin typeface="Times New Roman" pitchFamily="18" charset="0"/>
                </a:rPr>
                <a:t>+ </a:t>
              </a:r>
              <a:r>
                <a:rPr lang="en-US" sz="2400" i="1" dirty="0" smtClean="0">
                  <a:solidFill>
                    <a:srgbClr val="000000"/>
                  </a:solidFill>
                  <a:latin typeface="Times New Roman" pitchFamily="18" charset="0"/>
                </a:rPr>
                <a:t>x</a:t>
              </a:r>
              <a:r>
                <a:rPr lang="en-US" sz="2400" i="1" baseline="-25000" dirty="0" smtClean="0">
                  <a:solidFill>
                    <a:srgbClr val="000000"/>
                  </a:solidFill>
                  <a:latin typeface="Times New Roman" pitchFamily="18" charset="0"/>
                </a:rPr>
                <a:t>2</a:t>
              </a:r>
              <a:r>
                <a:rPr lang="en-US" sz="2400" dirty="0" smtClean="0">
                  <a:solidFill>
                    <a:srgbClr val="000000"/>
                  </a:solidFill>
                  <a:latin typeface="Times New Roman" pitchFamily="18" charset="0"/>
                </a:rPr>
                <a:t>)</a:t>
              </a:r>
              <a:r>
                <a:rPr lang="en-US" sz="2400" i="1" dirty="0" smtClean="0">
                  <a:solidFill>
                    <a:srgbClr val="000000"/>
                  </a:solidFill>
                  <a:latin typeface="Times New Roman" pitchFamily="18" charset="0"/>
                </a:rPr>
                <a:t> </a:t>
              </a:r>
              <a:r>
                <a:rPr lang="en-US" sz="2400" i="1" dirty="0">
                  <a:solidFill>
                    <a:srgbClr val="000000"/>
                  </a:solidFill>
                  <a:latin typeface="Times New Roman" pitchFamily="18" charset="0"/>
                </a:rPr>
                <a:t>+ </a:t>
              </a:r>
              <a:r>
                <a:rPr lang="en-US" sz="2400" i="1" dirty="0" smtClean="0">
                  <a:solidFill>
                    <a:srgbClr val="000000"/>
                  </a:solidFill>
                  <a:latin typeface="Times New Roman" pitchFamily="18" charset="0"/>
                </a:rPr>
                <a:t>j</a:t>
              </a:r>
              <a:r>
                <a:rPr lang="en-US" sz="2400" dirty="0" smtClean="0">
                  <a:solidFill>
                    <a:srgbClr val="000000"/>
                  </a:solidFill>
                  <a:latin typeface="Times New Roman" pitchFamily="18" charset="0"/>
                </a:rPr>
                <a:t>(</a:t>
              </a:r>
              <a:r>
                <a:rPr lang="en-US" sz="2400" i="1" dirty="0" smtClean="0">
                  <a:solidFill>
                    <a:srgbClr val="000000"/>
                  </a:solidFill>
                  <a:latin typeface="Times New Roman" pitchFamily="18" charset="0"/>
                </a:rPr>
                <a:t>y</a:t>
              </a:r>
              <a:r>
                <a:rPr lang="en-US" sz="2400" i="1" baseline="-25000" dirty="0" smtClean="0">
                  <a:solidFill>
                    <a:srgbClr val="000000"/>
                  </a:solidFill>
                  <a:latin typeface="Times New Roman" pitchFamily="18" charset="0"/>
                </a:rPr>
                <a:t>1</a:t>
              </a:r>
              <a:r>
                <a:rPr lang="en-US" sz="2400" i="1" dirty="0" smtClean="0">
                  <a:solidFill>
                    <a:srgbClr val="000000"/>
                  </a:solidFill>
                  <a:latin typeface="Times New Roman" pitchFamily="18" charset="0"/>
                </a:rPr>
                <a:t> </a:t>
              </a:r>
              <a:r>
                <a:rPr lang="en-US" sz="2400" i="1" dirty="0">
                  <a:solidFill>
                    <a:srgbClr val="000000"/>
                  </a:solidFill>
                  <a:latin typeface="Times New Roman" pitchFamily="18" charset="0"/>
                </a:rPr>
                <a:t>+ </a:t>
              </a:r>
              <a:r>
                <a:rPr lang="en-US" sz="2400" i="1" dirty="0" smtClean="0">
                  <a:solidFill>
                    <a:srgbClr val="000000"/>
                  </a:solidFill>
                  <a:latin typeface="Times New Roman" pitchFamily="18" charset="0"/>
                </a:rPr>
                <a:t>y</a:t>
              </a:r>
              <a:r>
                <a:rPr lang="en-US" sz="2400" i="1" baseline="-25000" dirty="0" smtClean="0">
                  <a:solidFill>
                    <a:srgbClr val="000000"/>
                  </a:solidFill>
                  <a:latin typeface="Times New Roman" pitchFamily="18" charset="0"/>
                </a:rPr>
                <a:t>2</a:t>
              </a:r>
              <a:r>
                <a:rPr lang="en-US" sz="2400" dirty="0" smtClean="0">
                  <a:solidFill>
                    <a:srgbClr val="000000"/>
                  </a:solidFill>
                  <a:latin typeface="Times New Roman" pitchFamily="18" charset="0"/>
                </a:rPr>
                <a:t>)</a:t>
              </a:r>
              <a:endParaRPr lang="en-US" sz="2400" i="1" dirty="0" smtClean="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</p:grpSp>
      <p:grpSp>
        <p:nvGrpSpPr>
          <p:cNvPr id="5" name="Group 4"/>
          <p:cNvGrpSpPr/>
          <p:nvPr/>
        </p:nvGrpSpPr>
        <p:grpSpPr>
          <a:xfrm>
            <a:off x="455130" y="3707368"/>
            <a:ext cx="8703665" cy="928690"/>
            <a:chOff x="455130" y="3707368"/>
            <a:chExt cx="8703665" cy="928690"/>
          </a:xfrm>
        </p:grpSpPr>
        <p:sp>
          <p:nvSpPr>
            <p:cNvPr id="22" name="Rectangle 21"/>
            <p:cNvSpPr/>
            <p:nvPr/>
          </p:nvSpPr>
          <p:spPr>
            <a:xfrm>
              <a:off x="455130" y="3707368"/>
              <a:ext cx="8703665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800" dirty="0" smtClean="0">
                  <a:solidFill>
                    <a:srgbClr val="000000"/>
                  </a:solidFill>
                  <a:latin typeface="Times New Roman" pitchFamily="18" charset="0"/>
                </a:rPr>
                <a:t>Subtraction (–):  </a:t>
              </a:r>
              <a:r>
                <a:rPr lang="en-US" sz="2400" dirty="0" smtClean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itchFamily="18" charset="0"/>
                </a:rPr>
                <a:t>MUST WORK IN </a:t>
              </a:r>
              <a:r>
                <a:rPr lang="en-US" sz="2400" b="1" u="sng" dirty="0" smtClean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itchFamily="18" charset="0"/>
                </a:rPr>
                <a:t>RECTANGULA</a:t>
              </a:r>
              <a:r>
                <a:rPr lang="en-US" sz="2400" dirty="0" smtClean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itchFamily="18" charset="0"/>
                </a:rPr>
                <a:t>R FORMAT</a:t>
              </a:r>
              <a:endParaRPr lang="en-ZA" sz="2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3" name="Rectangle 22"/>
            <p:cNvSpPr/>
            <p:nvPr/>
          </p:nvSpPr>
          <p:spPr>
            <a:xfrm>
              <a:off x="2621240" y="4211326"/>
              <a:ext cx="5836960" cy="4247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2400" i="1" dirty="0" smtClean="0">
                  <a:solidFill>
                    <a:srgbClr val="000000"/>
                  </a:solidFill>
                  <a:latin typeface="Times New Roman" pitchFamily="18" charset="0"/>
                </a:rPr>
                <a:t>z</a:t>
              </a:r>
              <a:r>
                <a:rPr lang="en-US" sz="2400" i="1" baseline="-25000" dirty="0" smtClean="0">
                  <a:solidFill>
                    <a:srgbClr val="000000"/>
                  </a:solidFill>
                  <a:latin typeface="Times New Roman" pitchFamily="18" charset="0"/>
                </a:rPr>
                <a:t>1</a:t>
              </a:r>
              <a:r>
                <a:rPr lang="en-US" sz="2400" i="1" dirty="0" smtClean="0">
                  <a:solidFill>
                    <a:srgbClr val="000000"/>
                  </a:solidFill>
                  <a:latin typeface="Times New Roman" pitchFamily="18" charset="0"/>
                </a:rPr>
                <a:t> – z</a:t>
              </a:r>
              <a:r>
                <a:rPr lang="en-US" sz="2400" i="1" baseline="-25000" dirty="0" smtClean="0">
                  <a:solidFill>
                    <a:srgbClr val="000000"/>
                  </a:solidFill>
                  <a:latin typeface="Times New Roman" pitchFamily="18" charset="0"/>
                </a:rPr>
                <a:t>2</a:t>
              </a:r>
              <a:r>
                <a:rPr lang="en-US" sz="2400" i="1" dirty="0" smtClean="0">
                  <a:solidFill>
                    <a:srgbClr val="000000"/>
                  </a:solidFill>
                  <a:latin typeface="Times New Roman" pitchFamily="18" charset="0"/>
                </a:rPr>
                <a:t> = </a:t>
              </a:r>
              <a:r>
                <a:rPr lang="en-US" sz="2400" dirty="0" smtClean="0">
                  <a:solidFill>
                    <a:srgbClr val="000000"/>
                  </a:solidFill>
                  <a:latin typeface="Times New Roman" pitchFamily="18" charset="0"/>
                </a:rPr>
                <a:t>(</a:t>
              </a:r>
              <a:r>
                <a:rPr lang="en-US" sz="2400" i="1" dirty="0" smtClean="0">
                  <a:solidFill>
                    <a:srgbClr val="000000"/>
                  </a:solidFill>
                  <a:latin typeface="Times New Roman" pitchFamily="18" charset="0"/>
                </a:rPr>
                <a:t>x</a:t>
              </a:r>
              <a:r>
                <a:rPr lang="en-US" sz="2400" i="1" baseline="-25000" dirty="0" smtClean="0">
                  <a:solidFill>
                    <a:srgbClr val="000000"/>
                  </a:solidFill>
                  <a:latin typeface="Times New Roman" pitchFamily="18" charset="0"/>
                </a:rPr>
                <a:t>1</a:t>
              </a:r>
              <a:r>
                <a:rPr lang="en-US" sz="2400" i="1" dirty="0" smtClean="0">
                  <a:solidFill>
                    <a:srgbClr val="000000"/>
                  </a:solidFill>
                  <a:latin typeface="Times New Roman" pitchFamily="18" charset="0"/>
                </a:rPr>
                <a:t> </a:t>
              </a:r>
              <a:r>
                <a:rPr lang="en-US" sz="2400" i="1" dirty="0">
                  <a:solidFill>
                    <a:srgbClr val="000000"/>
                  </a:solidFill>
                  <a:latin typeface="Times New Roman" pitchFamily="18" charset="0"/>
                </a:rPr>
                <a:t>–</a:t>
              </a:r>
              <a:r>
                <a:rPr lang="en-US" sz="2400" i="1" dirty="0" smtClean="0">
                  <a:solidFill>
                    <a:srgbClr val="000000"/>
                  </a:solidFill>
                  <a:latin typeface="Times New Roman" pitchFamily="18" charset="0"/>
                </a:rPr>
                <a:t> x</a:t>
              </a:r>
              <a:r>
                <a:rPr lang="en-US" sz="2400" i="1" baseline="-25000" dirty="0" smtClean="0">
                  <a:solidFill>
                    <a:srgbClr val="000000"/>
                  </a:solidFill>
                  <a:latin typeface="Times New Roman" pitchFamily="18" charset="0"/>
                </a:rPr>
                <a:t>2</a:t>
              </a:r>
              <a:r>
                <a:rPr lang="en-US" sz="2400" dirty="0" smtClean="0">
                  <a:solidFill>
                    <a:srgbClr val="000000"/>
                  </a:solidFill>
                  <a:latin typeface="Times New Roman" pitchFamily="18" charset="0"/>
                </a:rPr>
                <a:t>)</a:t>
              </a:r>
              <a:r>
                <a:rPr lang="en-US" sz="2400" i="1" dirty="0" smtClean="0">
                  <a:solidFill>
                    <a:srgbClr val="000000"/>
                  </a:solidFill>
                  <a:latin typeface="Times New Roman" pitchFamily="18" charset="0"/>
                </a:rPr>
                <a:t> </a:t>
              </a:r>
              <a:r>
                <a:rPr lang="en-US" sz="2400" i="1" dirty="0">
                  <a:solidFill>
                    <a:srgbClr val="000000"/>
                  </a:solidFill>
                  <a:latin typeface="Times New Roman" pitchFamily="18" charset="0"/>
                </a:rPr>
                <a:t>+ </a:t>
              </a:r>
              <a:r>
                <a:rPr lang="en-US" sz="2400" i="1" dirty="0" smtClean="0">
                  <a:solidFill>
                    <a:srgbClr val="000000"/>
                  </a:solidFill>
                  <a:latin typeface="Times New Roman" pitchFamily="18" charset="0"/>
                </a:rPr>
                <a:t>j</a:t>
              </a:r>
              <a:r>
                <a:rPr lang="en-US" sz="2400" dirty="0" smtClean="0">
                  <a:solidFill>
                    <a:srgbClr val="000000"/>
                  </a:solidFill>
                  <a:latin typeface="Times New Roman" pitchFamily="18" charset="0"/>
                </a:rPr>
                <a:t>(</a:t>
              </a:r>
              <a:r>
                <a:rPr lang="en-US" sz="2400" i="1" dirty="0" smtClean="0">
                  <a:solidFill>
                    <a:srgbClr val="000000"/>
                  </a:solidFill>
                  <a:latin typeface="Times New Roman" pitchFamily="18" charset="0"/>
                </a:rPr>
                <a:t>y</a:t>
              </a:r>
              <a:r>
                <a:rPr lang="en-US" sz="2400" i="1" baseline="-25000" dirty="0" smtClean="0">
                  <a:solidFill>
                    <a:srgbClr val="000000"/>
                  </a:solidFill>
                  <a:latin typeface="Times New Roman" pitchFamily="18" charset="0"/>
                </a:rPr>
                <a:t>1</a:t>
              </a:r>
              <a:r>
                <a:rPr lang="en-US" sz="2400" i="1" dirty="0" smtClean="0">
                  <a:solidFill>
                    <a:srgbClr val="000000"/>
                  </a:solidFill>
                  <a:latin typeface="Times New Roman" pitchFamily="18" charset="0"/>
                </a:rPr>
                <a:t> </a:t>
              </a:r>
              <a:r>
                <a:rPr lang="en-US" sz="2400" i="1" dirty="0">
                  <a:solidFill>
                    <a:srgbClr val="000000"/>
                  </a:solidFill>
                  <a:latin typeface="Times New Roman" pitchFamily="18" charset="0"/>
                </a:rPr>
                <a:t>–</a:t>
              </a:r>
              <a:r>
                <a:rPr lang="en-US" sz="2400" i="1" dirty="0" smtClean="0">
                  <a:solidFill>
                    <a:srgbClr val="000000"/>
                  </a:solidFill>
                  <a:latin typeface="Times New Roman" pitchFamily="18" charset="0"/>
                </a:rPr>
                <a:t> y</a:t>
              </a:r>
              <a:r>
                <a:rPr lang="en-US" sz="2400" i="1" baseline="-25000" dirty="0" smtClean="0">
                  <a:solidFill>
                    <a:srgbClr val="000000"/>
                  </a:solidFill>
                  <a:latin typeface="Times New Roman" pitchFamily="18" charset="0"/>
                </a:rPr>
                <a:t>2</a:t>
              </a:r>
              <a:r>
                <a:rPr lang="en-US" sz="2400" dirty="0" smtClean="0">
                  <a:solidFill>
                    <a:srgbClr val="000000"/>
                  </a:solidFill>
                  <a:latin typeface="Times New Roman" pitchFamily="18" charset="0"/>
                </a:rPr>
                <a:t>)</a:t>
              </a:r>
              <a:endParaRPr lang="en-US" sz="2400" i="1" dirty="0" smtClean="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</p:grpSp>
      <p:grpSp>
        <p:nvGrpSpPr>
          <p:cNvPr id="6" name="Group 5"/>
          <p:cNvGrpSpPr/>
          <p:nvPr/>
        </p:nvGrpSpPr>
        <p:grpSpPr>
          <a:xfrm>
            <a:off x="467831" y="4761468"/>
            <a:ext cx="7446789" cy="1831697"/>
            <a:chOff x="467831" y="4761468"/>
            <a:chExt cx="7446789" cy="1831697"/>
          </a:xfrm>
        </p:grpSpPr>
        <p:sp>
          <p:nvSpPr>
            <p:cNvPr id="24" name="Rectangle 23"/>
            <p:cNvSpPr/>
            <p:nvPr/>
          </p:nvSpPr>
          <p:spPr>
            <a:xfrm>
              <a:off x="467831" y="4761468"/>
              <a:ext cx="6865534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800" dirty="0" smtClean="0">
                  <a:solidFill>
                    <a:srgbClr val="000000"/>
                  </a:solidFill>
                  <a:latin typeface="Times New Roman" pitchFamily="18" charset="0"/>
                </a:rPr>
                <a:t>Multiplication (</a:t>
              </a:r>
              <a:r>
                <a:rPr lang="en-US" sz="2800" dirty="0" smtClean="0">
                  <a:solidFill>
                    <a:srgbClr val="000000"/>
                  </a:solidFill>
                  <a:latin typeface="Times New Roman" pitchFamily="18" charset="0"/>
                  <a:sym typeface="Symbol"/>
                </a:rPr>
                <a:t></a:t>
              </a:r>
              <a:r>
                <a:rPr lang="en-US" sz="2800" dirty="0" smtClean="0">
                  <a:solidFill>
                    <a:srgbClr val="000000"/>
                  </a:solidFill>
                  <a:latin typeface="Times New Roman" pitchFamily="18" charset="0"/>
                </a:rPr>
                <a:t>):  </a:t>
              </a:r>
              <a:r>
                <a:rPr lang="en-US" sz="2400" dirty="0" smtClean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itchFamily="18" charset="0"/>
                </a:rPr>
                <a:t>WORK IN </a:t>
              </a:r>
              <a:r>
                <a:rPr lang="en-US" sz="2400" b="1" u="sng" dirty="0" smtClean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itchFamily="18" charset="0"/>
                </a:rPr>
                <a:t>POLAR</a:t>
              </a:r>
              <a:r>
                <a:rPr lang="en-US" sz="2400" dirty="0" smtClean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itchFamily="18" charset="0"/>
                </a:rPr>
                <a:t> FORMAT</a:t>
              </a:r>
              <a:endParaRPr lang="en-ZA" sz="2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Rectangle 25"/>
                <p:cNvSpPr/>
                <p:nvPr/>
              </p:nvSpPr>
              <p:spPr>
                <a:xfrm>
                  <a:off x="2644120" y="5287038"/>
                  <a:ext cx="5270500" cy="1306127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>
                    <a:lnSpc>
                      <a:spcPct val="150000"/>
                    </a:lnSpc>
                  </a:pPr>
                  <a:r>
                    <a:rPr lang="en-US" sz="2400" i="1" dirty="0" smtClean="0">
                      <a:solidFill>
                        <a:srgbClr val="000000"/>
                      </a:solidFill>
                      <a:latin typeface="Times New Roman" pitchFamily="18" charset="0"/>
                    </a:rPr>
                    <a:t>z</a:t>
                  </a:r>
                  <a:r>
                    <a:rPr lang="en-US" sz="2400" i="1" baseline="-25000" dirty="0" smtClean="0">
                      <a:solidFill>
                        <a:srgbClr val="000000"/>
                      </a:solidFill>
                      <a:latin typeface="Times New Roman" pitchFamily="18" charset="0"/>
                    </a:rPr>
                    <a:t>1</a:t>
                  </a:r>
                  <a:r>
                    <a:rPr lang="en-US" sz="2400" i="1" dirty="0">
                      <a:solidFill>
                        <a:srgbClr val="000000"/>
                      </a:solidFill>
                      <a:latin typeface="Times New Roman" pitchFamily="18" charset="0"/>
                    </a:rPr>
                    <a:t> z</a:t>
                  </a:r>
                  <a:r>
                    <a:rPr lang="en-US" sz="2400" i="1" baseline="-25000" dirty="0">
                      <a:solidFill>
                        <a:srgbClr val="000000"/>
                      </a:solidFill>
                      <a:latin typeface="Times New Roman" pitchFamily="18" charset="0"/>
                    </a:rPr>
                    <a:t>2</a:t>
                  </a:r>
                  <a:r>
                    <a:rPr lang="en-US" sz="2400" i="1" dirty="0" smtClean="0">
                      <a:solidFill>
                        <a:srgbClr val="000000"/>
                      </a:solidFill>
                      <a:latin typeface="Times New Roman" pitchFamily="18" charset="0"/>
                    </a:rPr>
                    <a:t> </a:t>
                  </a:r>
                  <a:r>
                    <a:rPr lang="en-US" sz="2400" i="1" dirty="0">
                      <a:solidFill>
                        <a:srgbClr val="000000"/>
                      </a:solidFill>
                      <a:latin typeface="Times New Roman" pitchFamily="18" charset="0"/>
                    </a:rPr>
                    <a:t>= </a:t>
                  </a:r>
                  <a:r>
                    <a:rPr lang="en-US" sz="2400" i="1" dirty="0" smtClean="0">
                      <a:solidFill>
                        <a:srgbClr val="000000"/>
                      </a:solidFill>
                      <a:latin typeface="Times New Roman" pitchFamily="18" charset="0"/>
                    </a:rPr>
                    <a:t>r</a:t>
                  </a:r>
                  <a:r>
                    <a:rPr lang="en-US" sz="2400" i="1" baseline="-25000" dirty="0" smtClean="0">
                      <a:solidFill>
                        <a:srgbClr val="000000"/>
                      </a:solidFill>
                      <a:latin typeface="Times New Roman" pitchFamily="18" charset="0"/>
                    </a:rPr>
                    <a:t>1</a:t>
                  </a:r>
                  <a:r>
                    <a:rPr lang="en-US" sz="2400" dirty="0" smtClean="0">
                      <a:solidFill>
                        <a:srgbClr val="000000"/>
                      </a:solidFill>
                      <a:latin typeface="Times New Roman" pitchFamily="18" charset="0"/>
                      <a:sym typeface="Symbol"/>
                    </a:rPr>
                    <a:t></a:t>
                  </a:r>
                  <a:r>
                    <a:rPr lang="en-US" sz="2400" i="1" dirty="0" smtClean="0">
                      <a:solidFill>
                        <a:srgbClr val="000000"/>
                      </a:solidFill>
                      <a:latin typeface="Times New Roman" pitchFamily="18" charset="0"/>
                      <a:sym typeface="Symbol"/>
                    </a:rPr>
                    <a:t></a:t>
                  </a:r>
                  <a:r>
                    <a:rPr lang="en-US" sz="2400" i="1" baseline="-25000" dirty="0" smtClean="0">
                      <a:solidFill>
                        <a:srgbClr val="000000"/>
                      </a:solidFill>
                      <a:latin typeface="Times New Roman" pitchFamily="18" charset="0"/>
                      <a:sym typeface="Symbol"/>
                    </a:rPr>
                    <a:t>1</a:t>
                  </a:r>
                  <a:r>
                    <a:rPr lang="en-US" sz="2400" dirty="0" smtClean="0">
                      <a:solidFill>
                        <a:srgbClr val="000000"/>
                      </a:solidFill>
                      <a:latin typeface="Times New Roman" pitchFamily="18" charset="0"/>
                      <a:sym typeface="Symbol"/>
                    </a:rPr>
                    <a:t></a:t>
                  </a:r>
                  <a:r>
                    <a:rPr lang="en-US" sz="2400" i="1" dirty="0" smtClean="0">
                      <a:solidFill>
                        <a:srgbClr val="000000"/>
                      </a:solidFill>
                      <a:latin typeface="Times New Roman" pitchFamily="18" charset="0"/>
                    </a:rPr>
                    <a:t>r</a:t>
                  </a:r>
                  <a:r>
                    <a:rPr lang="en-US" sz="2400" i="1" baseline="-25000" dirty="0" smtClean="0">
                      <a:solidFill>
                        <a:srgbClr val="000000"/>
                      </a:solidFill>
                      <a:latin typeface="Times New Roman" pitchFamily="18" charset="0"/>
                    </a:rPr>
                    <a:t>2</a:t>
                  </a:r>
                  <a:r>
                    <a:rPr lang="en-US" sz="2400" dirty="0" smtClean="0">
                      <a:solidFill>
                        <a:srgbClr val="000000"/>
                      </a:solidFill>
                      <a:latin typeface="Times New Roman" pitchFamily="18" charset="0"/>
                      <a:sym typeface="Symbol"/>
                    </a:rPr>
                    <a:t></a:t>
                  </a:r>
                  <a:r>
                    <a:rPr lang="en-US" sz="2400" i="1" dirty="0" smtClean="0">
                      <a:solidFill>
                        <a:srgbClr val="000000"/>
                      </a:solidFill>
                      <a:latin typeface="Times New Roman" pitchFamily="18" charset="0"/>
                      <a:sym typeface="Symbol"/>
                    </a:rPr>
                    <a:t></a:t>
                  </a:r>
                  <a:r>
                    <a:rPr lang="en-US" sz="2400" i="1" baseline="-25000" dirty="0" smtClean="0">
                      <a:solidFill>
                        <a:srgbClr val="000000"/>
                      </a:solidFill>
                      <a:latin typeface="Times New Roman" pitchFamily="18" charset="0"/>
                      <a:sym typeface="Symbol"/>
                    </a:rPr>
                    <a:t>2</a:t>
                  </a:r>
                  <a:r>
                    <a:rPr lang="en-US" sz="2400" dirty="0" smtClean="0">
                      <a:solidFill>
                        <a:srgbClr val="000000"/>
                      </a:solidFill>
                      <a:latin typeface="Times New Roman" pitchFamily="18" charset="0"/>
                      <a:sym typeface="Symbol"/>
                    </a:rPr>
                    <a:t> = </a:t>
                  </a:r>
                  <a:r>
                    <a:rPr lang="en-US" sz="2400" i="1" dirty="0" smtClean="0">
                      <a:solidFill>
                        <a:srgbClr val="000000"/>
                      </a:solidFill>
                      <a:latin typeface="Times New Roman" pitchFamily="18" charset="0"/>
                    </a:rPr>
                    <a:t>r</a:t>
                  </a:r>
                  <a:r>
                    <a:rPr lang="en-US" sz="2400" i="1" baseline="-25000" dirty="0" smtClean="0">
                      <a:solidFill>
                        <a:srgbClr val="000000"/>
                      </a:solidFill>
                      <a:latin typeface="Times New Roman" pitchFamily="18" charset="0"/>
                    </a:rPr>
                    <a:t>1</a:t>
                  </a:r>
                  <a:r>
                    <a:rPr lang="en-US" sz="2400" dirty="0">
                      <a:solidFill>
                        <a:srgbClr val="000000"/>
                      </a:solidFill>
                      <a:latin typeface="Times New Roman" pitchFamily="18" charset="0"/>
                      <a:sym typeface="Symbol"/>
                    </a:rPr>
                    <a:t></a:t>
                  </a:r>
                  <a:r>
                    <a:rPr lang="en-US" sz="2400" i="1" dirty="0">
                      <a:solidFill>
                        <a:srgbClr val="000000"/>
                      </a:solidFill>
                      <a:latin typeface="Times New Roman" pitchFamily="18" charset="0"/>
                    </a:rPr>
                    <a:t>r</a:t>
                  </a:r>
                  <a:r>
                    <a:rPr lang="en-US" sz="2400" i="1" baseline="-25000" dirty="0">
                      <a:solidFill>
                        <a:srgbClr val="000000"/>
                      </a:solidFill>
                      <a:latin typeface="Times New Roman" pitchFamily="18" charset="0"/>
                    </a:rPr>
                    <a:t>2</a:t>
                  </a:r>
                  <a:r>
                    <a:rPr lang="en-US" sz="2400" dirty="0" smtClean="0">
                      <a:solidFill>
                        <a:srgbClr val="000000"/>
                      </a:solidFill>
                      <a:latin typeface="Times New Roman" pitchFamily="18" charset="0"/>
                      <a:sym typeface="Symbol"/>
                    </a:rPr>
                    <a:t>(</a:t>
                  </a:r>
                  <a:r>
                    <a:rPr lang="en-US" sz="2400" i="1" dirty="0" smtClean="0">
                      <a:solidFill>
                        <a:srgbClr val="000000"/>
                      </a:solidFill>
                      <a:latin typeface="Times New Roman" pitchFamily="18" charset="0"/>
                      <a:sym typeface="Symbol"/>
                    </a:rPr>
                    <a:t></a:t>
                  </a:r>
                  <a:r>
                    <a:rPr lang="en-US" sz="2400" i="1" baseline="-25000" dirty="0">
                      <a:solidFill>
                        <a:srgbClr val="000000"/>
                      </a:solidFill>
                      <a:latin typeface="Times New Roman" pitchFamily="18" charset="0"/>
                      <a:sym typeface="Symbol"/>
                    </a:rPr>
                    <a:t>1</a:t>
                  </a:r>
                  <a:r>
                    <a:rPr lang="en-US" sz="2400" dirty="0" smtClean="0">
                      <a:solidFill>
                        <a:srgbClr val="000000"/>
                      </a:solidFill>
                      <a:latin typeface="Times New Roman" pitchFamily="18" charset="0"/>
                      <a:sym typeface="Symbol"/>
                    </a:rPr>
                    <a:t>+</a:t>
                  </a:r>
                  <a:r>
                    <a:rPr lang="en-US" sz="2400" i="1" dirty="0" smtClean="0">
                      <a:solidFill>
                        <a:srgbClr val="000000"/>
                      </a:solidFill>
                      <a:latin typeface="Times New Roman" pitchFamily="18" charset="0"/>
                      <a:sym typeface="Symbol"/>
                    </a:rPr>
                    <a:t></a:t>
                  </a:r>
                  <a:r>
                    <a:rPr lang="en-US" sz="2400" i="1" baseline="-25000" dirty="0">
                      <a:solidFill>
                        <a:srgbClr val="000000"/>
                      </a:solidFill>
                      <a:latin typeface="Times New Roman" pitchFamily="18" charset="0"/>
                      <a:sym typeface="Symbol"/>
                    </a:rPr>
                    <a:t>2</a:t>
                  </a:r>
                  <a:r>
                    <a:rPr lang="en-US" sz="2400" dirty="0" smtClean="0">
                      <a:solidFill>
                        <a:srgbClr val="000000"/>
                      </a:solidFill>
                      <a:latin typeface="Times New Roman" pitchFamily="18" charset="0"/>
                      <a:sym typeface="Symbol"/>
                    </a:rPr>
                    <a:t>) </a:t>
                  </a:r>
                  <a:endParaRPr lang="en-US" sz="2400" i="1" dirty="0" smtClean="0">
                    <a:solidFill>
                      <a:srgbClr val="000000"/>
                    </a:solidFill>
                    <a:latin typeface="Times New Roman" pitchFamily="18" charset="0"/>
                    <a:sym typeface="Symbol"/>
                  </a:endParaRPr>
                </a:p>
                <a:p>
                  <a:pPr>
                    <a:lnSpc>
                      <a:spcPct val="150000"/>
                    </a:lnSpc>
                  </a:pPr>
                  <a:r>
                    <a:rPr lang="en-US" sz="2400" i="1" dirty="0" smtClean="0">
                      <a:solidFill>
                        <a:srgbClr val="000000"/>
                      </a:solidFill>
                      <a:latin typeface="Times New Roman" pitchFamily="18" charset="0"/>
                      <a:sym typeface="Symbol"/>
                    </a:rPr>
                    <a:t>        =</a:t>
                  </a:r>
                  <a:r>
                    <a:rPr lang="en-US" sz="2400" i="1" dirty="0">
                      <a:solidFill>
                        <a:srgbClr val="000000"/>
                      </a:solidFill>
                      <a:latin typeface="Times New Roman" pitchFamily="18" charset="0"/>
                      <a:sym typeface="Symbol"/>
                    </a:rPr>
                    <a:t>	</a:t>
                  </a:r>
                  <a14:m>
                    <m:oMath xmlns:m="http://schemas.openxmlformats.org/officeDocument/2006/math">
                      <m:r>
                        <a:rPr lang="en-ZA" sz="2400" i="1">
                          <a:solidFill>
                            <a:srgbClr val="000000"/>
                          </a:solidFill>
                          <a:latin typeface="Cambria Math"/>
                        </a:rPr>
                        <m:t>𝑟</m:t>
                      </m:r>
                      <m:r>
                        <a:rPr lang="en-ZA" sz="2400" b="0" i="1" baseline="-25000" smtClean="0">
                          <a:solidFill>
                            <a:srgbClr val="000000"/>
                          </a:solidFill>
                          <a:latin typeface="Cambria Math"/>
                        </a:rPr>
                        <m:t>1</m:t>
                      </m:r>
                      <m:sSup>
                        <m:sSupPr>
                          <m:ctrlPr>
                            <a:rPr lang="en-ZA" sz="24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ZA" sz="24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𝑒</m:t>
                          </m:r>
                        </m:e>
                        <m:sup>
                          <m:r>
                            <a:rPr lang="en-ZA" sz="24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𝑗</m:t>
                          </m:r>
                          <m:r>
                            <a:rPr lang="en-ZA" sz="2400" i="1">
                              <a:solidFill>
                                <a:srgbClr val="000000"/>
                              </a:solidFill>
                              <a:latin typeface="Cambria Math"/>
                              <a:sym typeface="Symbol"/>
                            </a:rPr>
                            <m:t></m:t>
                          </m:r>
                          <m:r>
                            <a:rPr lang="en-ZA" sz="2400" b="0" i="1" baseline="-25000" smtClean="0">
                              <a:solidFill>
                                <a:srgbClr val="000000"/>
                              </a:solidFill>
                              <a:latin typeface="Cambria Math"/>
                              <a:sym typeface="Symbol"/>
                            </a:rPr>
                            <m:t>1</m:t>
                          </m:r>
                        </m:sup>
                      </m:sSup>
                      <m:r>
                        <a:rPr lang="en-ZA" sz="2400" i="1" smtClean="0">
                          <a:solidFill>
                            <a:srgbClr val="000000"/>
                          </a:solidFill>
                          <a:latin typeface="Cambria Math"/>
                          <a:ea typeface="Cambria Math"/>
                          <a:sym typeface="Symbol"/>
                        </a:rPr>
                        <m:t>∙</m:t>
                      </m:r>
                      <m:r>
                        <a:rPr lang="en-ZA" sz="2400" i="1">
                          <a:solidFill>
                            <a:srgbClr val="000000"/>
                          </a:solidFill>
                          <a:latin typeface="Cambria Math"/>
                        </a:rPr>
                        <m:t>𝑟</m:t>
                      </m:r>
                      <m:r>
                        <a:rPr lang="en-ZA" sz="2400" b="0" i="1" baseline="-25000" smtClean="0">
                          <a:solidFill>
                            <a:srgbClr val="000000"/>
                          </a:solidFill>
                          <a:latin typeface="Cambria Math"/>
                        </a:rPr>
                        <m:t>2</m:t>
                      </m:r>
                      <m:sSup>
                        <m:sSupPr>
                          <m:ctrlPr>
                            <a:rPr lang="en-ZA" sz="24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ZA" sz="24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𝑒</m:t>
                          </m:r>
                        </m:e>
                        <m:sup>
                          <m:r>
                            <a:rPr lang="en-ZA" sz="24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𝑗</m:t>
                          </m:r>
                          <m:r>
                            <a:rPr lang="en-ZA" sz="2400" i="1">
                              <a:solidFill>
                                <a:srgbClr val="000000"/>
                              </a:solidFill>
                              <a:latin typeface="Cambria Math"/>
                              <a:sym typeface="Symbol"/>
                            </a:rPr>
                            <m:t></m:t>
                          </m:r>
                          <m:r>
                            <a:rPr lang="en-ZA" sz="2400" b="0" i="1" baseline="-25000" smtClean="0">
                              <a:solidFill>
                                <a:srgbClr val="000000"/>
                              </a:solidFill>
                              <a:latin typeface="Cambria Math"/>
                              <a:sym typeface="Symbol"/>
                            </a:rPr>
                            <m:t>2</m:t>
                          </m:r>
                        </m:sup>
                      </m:sSup>
                      <m:r>
                        <a:rPr lang="en-ZA" sz="2400" b="0" i="1" smtClean="0">
                          <a:solidFill>
                            <a:srgbClr val="000000"/>
                          </a:solidFill>
                          <a:latin typeface="Cambria Math"/>
                          <a:sym typeface="Symbol"/>
                        </a:rPr>
                        <m:t>=</m:t>
                      </m:r>
                      <m:r>
                        <a:rPr lang="en-ZA" sz="2400" i="1">
                          <a:solidFill>
                            <a:srgbClr val="000000"/>
                          </a:solidFill>
                          <a:latin typeface="Cambria Math"/>
                        </a:rPr>
                        <m:t>𝑟</m:t>
                      </m:r>
                      <m:r>
                        <a:rPr lang="en-ZA" sz="2400" i="1" baseline="-25000">
                          <a:solidFill>
                            <a:srgbClr val="000000"/>
                          </a:solidFill>
                          <a:latin typeface="Cambria Math"/>
                        </a:rPr>
                        <m:t>1</m:t>
                      </m:r>
                      <m:r>
                        <a:rPr lang="en-ZA" sz="2400" i="1">
                          <a:solidFill>
                            <a:srgbClr val="000000"/>
                          </a:solidFill>
                          <a:latin typeface="Cambria Math"/>
                          <a:ea typeface="Cambria Math"/>
                          <a:sym typeface="Symbol"/>
                        </a:rPr>
                        <m:t>∙</m:t>
                      </m:r>
                      <m:r>
                        <a:rPr lang="en-ZA" sz="2400" i="1">
                          <a:solidFill>
                            <a:srgbClr val="000000"/>
                          </a:solidFill>
                          <a:latin typeface="Cambria Math"/>
                        </a:rPr>
                        <m:t>𝑟</m:t>
                      </m:r>
                      <m:r>
                        <a:rPr lang="en-ZA" sz="2400" i="1" baseline="-25000">
                          <a:solidFill>
                            <a:srgbClr val="000000"/>
                          </a:solidFill>
                          <a:latin typeface="Cambria Math"/>
                        </a:rPr>
                        <m:t>2</m:t>
                      </m:r>
                      <m:sSup>
                        <m:sSupPr>
                          <m:ctrlPr>
                            <a:rPr lang="en-ZA" sz="24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ZA" sz="24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𝑒</m:t>
                          </m:r>
                        </m:e>
                        <m:sup>
                          <m:r>
                            <a:rPr lang="en-ZA" sz="2400" i="1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𝑗</m:t>
                          </m:r>
                          <m:r>
                            <a:rPr lang="en-ZA" sz="24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(</m:t>
                          </m:r>
                          <m:r>
                            <a:rPr lang="en-ZA" sz="2400" i="1">
                              <a:solidFill>
                                <a:srgbClr val="000000"/>
                              </a:solidFill>
                              <a:latin typeface="Cambria Math"/>
                              <a:sym typeface="Symbol"/>
                            </a:rPr>
                            <m:t></m:t>
                          </m:r>
                          <m:r>
                            <a:rPr lang="en-ZA" sz="2400" i="1" baseline="-25000">
                              <a:solidFill>
                                <a:srgbClr val="000000"/>
                              </a:solidFill>
                              <a:latin typeface="Cambria Math"/>
                              <a:sym typeface="Symbol"/>
                            </a:rPr>
                            <m:t>1</m:t>
                          </m:r>
                          <m:r>
                            <a:rPr lang="en-ZA" sz="2400" b="0" i="1" smtClean="0">
                              <a:solidFill>
                                <a:srgbClr val="000000"/>
                              </a:solidFill>
                              <a:latin typeface="Cambria Math"/>
                              <a:sym typeface="Symbol"/>
                            </a:rPr>
                            <m:t>+</m:t>
                          </m:r>
                          <m:r>
                            <a:rPr lang="en-ZA" sz="2400" i="1">
                              <a:solidFill>
                                <a:srgbClr val="000000"/>
                              </a:solidFill>
                              <a:latin typeface="Cambria Math"/>
                              <a:sym typeface="Symbol"/>
                            </a:rPr>
                            <m:t></m:t>
                          </m:r>
                          <m:r>
                            <a:rPr lang="en-ZA" sz="2400" i="1" baseline="-25000">
                              <a:solidFill>
                                <a:srgbClr val="000000"/>
                              </a:solidFill>
                              <a:latin typeface="Cambria Math"/>
                              <a:sym typeface="Symbol"/>
                            </a:rPr>
                            <m:t>2</m:t>
                          </m:r>
                          <m:r>
                            <a:rPr lang="en-ZA" sz="2400" b="0" i="1" smtClean="0">
                              <a:solidFill>
                                <a:srgbClr val="000000"/>
                              </a:solidFill>
                              <a:latin typeface="Cambria Math"/>
                              <a:sym typeface="Symbol"/>
                            </a:rPr>
                            <m:t>)</m:t>
                          </m:r>
                        </m:sup>
                      </m:sSup>
                    </m:oMath>
                  </a14:m>
                  <a:endParaRPr lang="en-US" sz="2400" dirty="0" smtClean="0">
                    <a:solidFill>
                      <a:srgbClr val="000000"/>
                    </a:solidFill>
                    <a:latin typeface="Times New Roman" pitchFamily="18" charset="0"/>
                    <a:sym typeface="Symbol"/>
                  </a:endParaRPr>
                </a:p>
              </p:txBody>
            </p:sp>
          </mc:Choice>
          <mc:Fallback xmlns="">
            <p:sp>
              <p:nvSpPr>
                <p:cNvPr id="26" name="Rectangle 2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44120" y="5287038"/>
                  <a:ext cx="5270500" cy="1306127"/>
                </a:xfrm>
                <a:prstGeom prst="rect">
                  <a:avLst/>
                </a:prstGeom>
                <a:blipFill rotWithShape="1">
                  <a:blip r:embed="rId3"/>
                  <a:stretch>
                    <a:fillRect l="-1852" b="-2326"/>
                  </a:stretch>
                </a:blipFill>
              </p:spPr>
              <p:txBody>
                <a:bodyPr/>
                <a:lstStyle/>
                <a:p>
                  <a:r>
                    <a:rPr lang="en-ZA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807200" y="6388477"/>
            <a:ext cx="2133600" cy="457200"/>
          </a:xfrm>
        </p:spPr>
        <p:txBody>
          <a:bodyPr/>
          <a:lstStyle/>
          <a:p>
            <a:fld id="{6FDF52F3-C9BE-43C9-A9AF-104F32B25414}" type="slidenum">
              <a:rPr lang="en-US"/>
              <a:pPr/>
              <a:t>21</a:t>
            </a:fld>
            <a:endParaRPr lang="en-US" dirty="0"/>
          </a:p>
        </p:txBody>
      </p:sp>
      <p:sp>
        <p:nvSpPr>
          <p:cNvPr id="249860" name="Rectangle 4"/>
          <p:cNvSpPr>
            <a:spLocks noGrp="1" noChangeArrowheads="1"/>
          </p:cNvSpPr>
          <p:nvPr>
            <p:ph type="title"/>
          </p:nvPr>
        </p:nvSpPr>
        <p:spPr>
          <a:xfrm>
            <a:off x="442913" y="103188"/>
            <a:ext cx="8243887" cy="1027112"/>
          </a:xfrm>
        </p:spPr>
        <p:txBody>
          <a:bodyPr anchor="t"/>
          <a:lstStyle/>
          <a:p>
            <a:r>
              <a:rPr lang="en-US" sz="2800" dirty="0"/>
              <a:t>9.3 </a:t>
            </a:r>
            <a:r>
              <a:rPr lang="en-US" sz="2800" dirty="0" err="1" smtClean="0"/>
              <a:t>Phasors</a:t>
            </a:r>
            <a:r>
              <a:rPr lang="en-US" sz="4000" dirty="0" smtClean="0"/>
              <a:t/>
            </a:r>
            <a:br>
              <a:rPr lang="en-US" sz="4000" dirty="0" smtClean="0"/>
            </a:br>
            <a:r>
              <a:rPr lang="en-US" sz="4000" dirty="0" smtClean="0">
                <a:solidFill>
                  <a:srgbClr val="FF0000"/>
                </a:solidFill>
              </a:rPr>
              <a:t>Arithmetic (2)</a:t>
            </a:r>
            <a:endParaRPr lang="en-US" sz="4000" dirty="0">
              <a:solidFill>
                <a:srgbClr val="FF0000"/>
              </a:solidFill>
            </a:endParaRPr>
          </a:p>
        </p:txBody>
      </p:sp>
      <p:sp>
        <p:nvSpPr>
          <p:cNvPr id="249861" name="Rectangle 5"/>
          <p:cNvSpPr>
            <a:spLocks noChangeArrowheads="1"/>
          </p:cNvSpPr>
          <p:nvPr/>
        </p:nvSpPr>
        <p:spPr bwMode="auto">
          <a:xfrm>
            <a:off x="0" y="32146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ZA"/>
          </a:p>
        </p:txBody>
      </p:sp>
      <p:sp>
        <p:nvSpPr>
          <p:cNvPr id="249862" name="Rectangle 6"/>
          <p:cNvSpPr>
            <a:spLocks noChangeArrowheads="1"/>
          </p:cNvSpPr>
          <p:nvPr/>
        </p:nvSpPr>
        <p:spPr bwMode="auto">
          <a:xfrm>
            <a:off x="0" y="31813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ZA"/>
          </a:p>
        </p:txBody>
      </p:sp>
      <p:sp>
        <p:nvSpPr>
          <p:cNvPr id="249865" name="Rectangle 9"/>
          <p:cNvSpPr>
            <a:spLocks noChangeArrowheads="1"/>
          </p:cNvSpPr>
          <p:nvPr/>
        </p:nvSpPr>
        <p:spPr bwMode="auto">
          <a:xfrm>
            <a:off x="0" y="32385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ZA"/>
          </a:p>
        </p:txBody>
      </p:sp>
      <p:sp>
        <p:nvSpPr>
          <p:cNvPr id="249866" name="Rectangle 10"/>
          <p:cNvSpPr>
            <a:spLocks noChangeArrowheads="1"/>
          </p:cNvSpPr>
          <p:nvPr/>
        </p:nvSpPr>
        <p:spPr bwMode="auto">
          <a:xfrm>
            <a:off x="-609600" y="32004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ZA"/>
          </a:p>
        </p:txBody>
      </p:sp>
      <p:sp>
        <p:nvSpPr>
          <p:cNvPr id="249867" name="Rectangle 11"/>
          <p:cNvSpPr>
            <a:spLocks noChangeArrowheads="1"/>
          </p:cNvSpPr>
          <p:nvPr/>
        </p:nvSpPr>
        <p:spPr bwMode="auto">
          <a:xfrm>
            <a:off x="0" y="32385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ZA"/>
          </a:p>
        </p:txBody>
      </p:sp>
      <p:sp>
        <p:nvSpPr>
          <p:cNvPr id="249872" name="Rectangle 16"/>
          <p:cNvSpPr>
            <a:spLocks noChangeArrowheads="1"/>
          </p:cNvSpPr>
          <p:nvPr/>
        </p:nvSpPr>
        <p:spPr bwMode="auto">
          <a:xfrm>
            <a:off x="0" y="32099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ZA"/>
          </a:p>
        </p:txBody>
      </p:sp>
      <p:sp>
        <p:nvSpPr>
          <p:cNvPr id="249873" name="Rectangle 17"/>
          <p:cNvSpPr>
            <a:spLocks noChangeArrowheads="1"/>
          </p:cNvSpPr>
          <p:nvPr/>
        </p:nvSpPr>
        <p:spPr bwMode="auto">
          <a:xfrm>
            <a:off x="0" y="31242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ZA"/>
          </a:p>
        </p:txBody>
      </p:sp>
      <p:sp>
        <p:nvSpPr>
          <p:cNvPr id="249882" name="Rectangle 2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ZA"/>
          </a:p>
        </p:txBody>
      </p:sp>
      <p:grpSp>
        <p:nvGrpSpPr>
          <p:cNvPr id="3" name="Group 2"/>
          <p:cNvGrpSpPr/>
          <p:nvPr/>
        </p:nvGrpSpPr>
        <p:grpSpPr>
          <a:xfrm>
            <a:off x="467831" y="1168263"/>
            <a:ext cx="7958727" cy="1560042"/>
            <a:chOff x="467831" y="1168263"/>
            <a:chExt cx="7958727" cy="1560042"/>
          </a:xfrm>
        </p:grpSpPr>
        <p:sp>
          <p:nvSpPr>
            <p:cNvPr id="24" name="Rectangle 23"/>
            <p:cNvSpPr/>
            <p:nvPr/>
          </p:nvSpPr>
          <p:spPr>
            <a:xfrm>
              <a:off x="467831" y="1168263"/>
              <a:ext cx="6140976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800" dirty="0" smtClean="0">
                  <a:solidFill>
                    <a:srgbClr val="000000"/>
                  </a:solidFill>
                  <a:latin typeface="Times New Roman" pitchFamily="18" charset="0"/>
                </a:rPr>
                <a:t>Division(</a:t>
              </a:r>
              <a:r>
                <a:rPr lang="en-US" sz="2800" dirty="0" smtClean="0">
                  <a:solidFill>
                    <a:srgbClr val="000000"/>
                  </a:solidFill>
                  <a:latin typeface="Times New Roman" pitchFamily="18" charset="0"/>
                  <a:sym typeface="Symbol"/>
                </a:rPr>
                <a:t></a:t>
              </a:r>
              <a:r>
                <a:rPr lang="en-US" sz="2800" dirty="0" smtClean="0">
                  <a:solidFill>
                    <a:srgbClr val="000000"/>
                  </a:solidFill>
                  <a:latin typeface="Times New Roman" pitchFamily="18" charset="0"/>
                </a:rPr>
                <a:t>):  </a:t>
              </a:r>
              <a:r>
                <a:rPr lang="en-US" sz="2400" dirty="0" smtClean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itchFamily="18" charset="0"/>
                </a:rPr>
                <a:t>WORK IN </a:t>
              </a:r>
              <a:r>
                <a:rPr lang="en-US" sz="2400" b="1" u="sng" dirty="0" smtClean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itchFamily="18" charset="0"/>
                </a:rPr>
                <a:t>POLAR</a:t>
              </a:r>
              <a:r>
                <a:rPr lang="en-US" sz="2400" dirty="0" smtClean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itchFamily="18" charset="0"/>
                </a:rPr>
                <a:t> FORMAT</a:t>
              </a:r>
              <a:endParaRPr lang="en-ZA" sz="2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" name="TextBox 1"/>
                <p:cNvSpPr txBox="1"/>
                <p:nvPr/>
              </p:nvSpPr>
              <p:spPr>
                <a:xfrm>
                  <a:off x="948452" y="1691483"/>
                  <a:ext cx="7478106" cy="103682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ZA" sz="2400" i="1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ZA" sz="2400" i="1" smtClean="0">
                                    <a:solidFill>
                                      <a:srgbClr val="000000"/>
                                    </a:solidFill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ZA" sz="2400" b="0" i="1" smtClean="0">
                                    <a:solidFill>
                                      <a:srgbClr val="000000"/>
                                    </a:solidFill>
                                    <a:latin typeface="Cambria Math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ZA" sz="2400" b="0" i="1" smtClean="0">
                                    <a:solidFill>
                                      <a:srgbClr val="000000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ZA" sz="2400" i="1">
                                    <a:solidFill>
                                      <a:srgbClr val="000000"/>
                                    </a:solidFill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ZA" sz="2400" i="1">
                                    <a:solidFill>
                                      <a:srgbClr val="000000"/>
                                    </a:solidFill>
                                    <a:latin typeface="Cambria Math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ZA" sz="2400" b="0" i="1" smtClean="0">
                                    <a:solidFill>
                                      <a:srgbClr val="000000"/>
                                    </a:solidFill>
                                    <a:latin typeface="Cambria Math"/>
                                  </a:rPr>
                                  <m:t>2</m:t>
                                </m:r>
                              </m:sub>
                            </m:sSub>
                          </m:den>
                        </m:f>
                        <m:r>
                          <a:rPr lang="en-ZA" sz="2400" b="0" i="1" smtClean="0">
                            <a:solidFill>
                              <a:srgbClr val="000000"/>
                            </a:solidFill>
                            <a:latin typeface="Cambria Math"/>
                          </a:rPr>
                          <m:t>=</m:t>
                        </m:r>
                        <m:f>
                          <m:fPr>
                            <m:ctrlPr>
                              <a:rPr lang="en-ZA" sz="2400" i="1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ZA" sz="2400" i="1">
                                    <a:solidFill>
                                      <a:srgbClr val="000000"/>
                                    </a:solidFill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ZA" sz="2400" i="1">
                                    <a:solidFill>
                                      <a:srgbClr val="000000"/>
                                    </a:solidFill>
                                    <a:latin typeface="Cambria Math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ZA" sz="2400" i="1">
                                    <a:solidFill>
                                      <a:srgbClr val="000000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sub>
                            </m:sSub>
                            <m:sSup>
                              <m:sSupPr>
                                <m:ctrlPr>
                                  <a:rPr lang="en-ZA" sz="2400" i="1" smtClean="0">
                                    <a:solidFill>
                                      <a:srgbClr val="000000"/>
                                    </a:solidFill>
                                    <a:latin typeface="Cambria Math"/>
                                  </a:rPr>
                                </m:ctrlPr>
                              </m:sSupPr>
                              <m:e>
                                <m:r>
                                  <a:rPr lang="en-ZA" sz="2400" b="0" i="1" smtClean="0">
                                    <a:solidFill>
                                      <a:srgbClr val="000000"/>
                                    </a:solidFill>
                                    <a:latin typeface="Cambria Math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ZA" sz="2400" b="0" i="1" smtClean="0">
                                    <a:solidFill>
                                      <a:srgbClr val="000000"/>
                                    </a:solidFill>
                                    <a:latin typeface="Cambria Math"/>
                                  </a:rPr>
                                  <m:t>𝑗</m:t>
                                </m:r>
                                <m:r>
                                  <a:rPr lang="en-ZA" sz="2400" i="1">
                                    <a:solidFill>
                                      <a:srgbClr val="000000"/>
                                    </a:solidFill>
                                    <a:latin typeface="Cambria Math"/>
                                    <a:sym typeface="Symbol"/>
                                  </a:rPr>
                                  <m:t></m:t>
                                </m:r>
                                <m:r>
                                  <a:rPr lang="en-ZA" sz="2400" i="1" baseline="-25000">
                                    <a:solidFill>
                                      <a:srgbClr val="000000"/>
                                    </a:solidFill>
                                    <a:latin typeface="Cambria Math"/>
                                    <a:sym typeface="Symbol"/>
                                  </a:rPr>
                                  <m:t>1</m:t>
                                </m:r>
                              </m:sup>
                            </m:sSup>
                          </m:num>
                          <m:den>
                            <m:sSub>
                              <m:sSubPr>
                                <m:ctrlPr>
                                  <a:rPr lang="en-ZA" sz="2400" i="1">
                                    <a:solidFill>
                                      <a:srgbClr val="000000"/>
                                    </a:solidFill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ZA" sz="2400" i="1">
                                    <a:solidFill>
                                      <a:srgbClr val="000000"/>
                                    </a:solidFill>
                                    <a:latin typeface="Cambria Math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ZA" sz="2400" i="1">
                                    <a:solidFill>
                                      <a:srgbClr val="000000"/>
                                    </a:solidFill>
                                    <a:latin typeface="Cambria Math"/>
                                  </a:rPr>
                                  <m:t>2</m:t>
                                </m:r>
                              </m:sub>
                            </m:sSub>
                            <m:sSup>
                              <m:sSupPr>
                                <m:ctrlPr>
                                  <a:rPr lang="en-ZA" sz="2400" i="1">
                                    <a:solidFill>
                                      <a:srgbClr val="000000"/>
                                    </a:solidFill>
                                    <a:latin typeface="Cambria Math"/>
                                  </a:rPr>
                                </m:ctrlPr>
                              </m:sSupPr>
                              <m:e>
                                <m:r>
                                  <a:rPr lang="en-ZA" sz="2400" i="1">
                                    <a:solidFill>
                                      <a:srgbClr val="000000"/>
                                    </a:solidFill>
                                    <a:latin typeface="Cambria Math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ZA" sz="2400" i="1">
                                    <a:solidFill>
                                      <a:srgbClr val="000000"/>
                                    </a:solidFill>
                                    <a:latin typeface="Cambria Math"/>
                                  </a:rPr>
                                  <m:t>𝑗</m:t>
                                </m:r>
                                <m:r>
                                  <a:rPr lang="en-ZA" sz="2400" i="1">
                                    <a:solidFill>
                                      <a:srgbClr val="000000"/>
                                    </a:solidFill>
                                    <a:latin typeface="Cambria Math"/>
                                    <a:sym typeface="Symbol"/>
                                  </a:rPr>
                                  <m:t></m:t>
                                </m:r>
                                <m:r>
                                  <a:rPr lang="en-ZA" sz="2400" b="0" i="1" baseline="-25000" smtClean="0">
                                    <a:solidFill>
                                      <a:srgbClr val="000000"/>
                                    </a:solidFill>
                                    <a:latin typeface="Cambria Math"/>
                                    <a:sym typeface="Symbol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r>
                          <a:rPr lang="en-ZA" sz="2400" b="0" i="1" smtClean="0">
                            <a:solidFill>
                              <a:srgbClr val="000000"/>
                            </a:solidFill>
                            <a:latin typeface="Cambria Math"/>
                          </a:rPr>
                          <m:t>=</m:t>
                        </m:r>
                        <m:f>
                          <m:fPr>
                            <m:ctrlPr>
                              <a:rPr lang="en-ZA" sz="2400" i="1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ZA" sz="2400" i="1">
                                    <a:solidFill>
                                      <a:srgbClr val="000000"/>
                                    </a:solidFill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ZA" sz="2400" i="1">
                                    <a:solidFill>
                                      <a:srgbClr val="000000"/>
                                    </a:solidFill>
                                    <a:latin typeface="Cambria Math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ZA" sz="2400" i="1">
                                    <a:solidFill>
                                      <a:srgbClr val="000000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ZA" sz="2400" i="1">
                                    <a:solidFill>
                                      <a:srgbClr val="000000"/>
                                    </a:solidFill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ZA" sz="2400" i="1">
                                    <a:solidFill>
                                      <a:srgbClr val="000000"/>
                                    </a:solidFill>
                                    <a:latin typeface="Cambria Math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ZA" sz="2400" i="1">
                                    <a:solidFill>
                                      <a:srgbClr val="000000"/>
                                    </a:solidFill>
                                    <a:latin typeface="Cambria Math"/>
                                  </a:rPr>
                                  <m:t>2</m:t>
                                </m:r>
                              </m:sub>
                            </m:sSub>
                          </m:den>
                        </m:f>
                        <m:sSup>
                          <m:sSupPr>
                            <m:ctrlPr>
                              <a:rPr lang="en-ZA" sz="2400" i="1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n-ZA" sz="2400" i="1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𝑒</m:t>
                            </m:r>
                          </m:e>
                          <m:sup>
                            <m:r>
                              <a:rPr lang="en-ZA" sz="2400" i="1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𝑗</m:t>
                            </m:r>
                            <m:r>
                              <a:rPr lang="en-ZA" sz="2400" i="1">
                                <a:solidFill>
                                  <a:srgbClr val="000000"/>
                                </a:solidFill>
                                <a:latin typeface="Cambria Math"/>
                                <a:sym typeface="Symbol"/>
                              </a:rPr>
                              <m:t></m:t>
                            </m:r>
                            <m:r>
                              <a:rPr lang="en-ZA" sz="2400" i="1" baseline="-25000">
                                <a:solidFill>
                                  <a:srgbClr val="000000"/>
                                </a:solidFill>
                                <a:latin typeface="Cambria Math"/>
                                <a:sym typeface="Symbol"/>
                              </a:rPr>
                              <m:t>1</m:t>
                            </m:r>
                            <m:r>
                              <a:rPr lang="en-ZA" sz="2400" b="0" i="1" smtClean="0">
                                <a:solidFill>
                                  <a:srgbClr val="000000"/>
                                </a:solidFill>
                                <a:latin typeface="Cambria Math"/>
                                <a:sym typeface="Symbol"/>
                              </a:rPr>
                              <m:t>−</m:t>
                            </m:r>
                            <m:r>
                              <a:rPr lang="en-ZA" sz="2400" i="1">
                                <a:solidFill>
                                  <a:srgbClr val="000000"/>
                                </a:solidFill>
                                <a:latin typeface="Cambria Math"/>
                                <a:sym typeface="Symbol"/>
                              </a:rPr>
                              <m:t></m:t>
                            </m:r>
                            <m:r>
                              <a:rPr lang="en-ZA" sz="2400" b="0" i="1" baseline="-25000" smtClean="0">
                                <a:solidFill>
                                  <a:srgbClr val="000000"/>
                                </a:solidFill>
                                <a:latin typeface="Cambria Math"/>
                                <a:sym typeface="Symbol"/>
                              </a:rPr>
                              <m:t>2</m:t>
                            </m:r>
                          </m:sup>
                        </m:sSup>
                        <m:r>
                          <a:rPr lang="en-ZA" sz="2400" b="0" i="1" smtClean="0">
                            <a:solidFill>
                              <a:srgbClr val="000000"/>
                            </a:solidFill>
                            <a:latin typeface="Cambria Math"/>
                            <a:sym typeface="Symbol"/>
                          </a:rPr>
                          <m:t>=</m:t>
                        </m:r>
                        <m:f>
                          <m:fPr>
                            <m:ctrlPr>
                              <a:rPr lang="en-ZA" sz="2400" b="0" i="1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ZA" sz="2400" i="1">
                                    <a:solidFill>
                                      <a:srgbClr val="000000"/>
                                    </a:solidFill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ZA" sz="2400" b="0" i="1" smtClean="0">
                                    <a:solidFill>
                                      <a:srgbClr val="000000"/>
                                    </a:solidFill>
                                    <a:latin typeface="Cambria Math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ZA" sz="2400" i="1">
                                    <a:solidFill>
                                      <a:srgbClr val="000000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ZA" sz="2400" i="1" smtClean="0">
                                <a:solidFill>
                                  <a:srgbClr val="000000"/>
                                </a:solidFill>
                                <a:latin typeface="Cambria Math"/>
                                <a:sym typeface="Symbol"/>
                              </a:rPr>
                              <m:t></m:t>
                            </m:r>
                            <m:r>
                              <a:rPr lang="en-ZA" sz="2400" b="0" i="1" baseline="-25000" smtClean="0">
                                <a:solidFill>
                                  <a:srgbClr val="000000"/>
                                </a:solidFill>
                                <a:latin typeface="Cambria Math"/>
                                <a:sym typeface="Symbol"/>
                              </a:rPr>
                              <m:t>1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ZA" sz="2400" i="1">
                                    <a:solidFill>
                                      <a:srgbClr val="000000"/>
                                    </a:solidFill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ZA" sz="2400" i="1">
                                    <a:solidFill>
                                      <a:srgbClr val="000000"/>
                                    </a:solidFill>
                                    <a:latin typeface="Cambria Math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ZA" sz="2400" b="0" i="1" smtClean="0">
                                    <a:solidFill>
                                      <a:srgbClr val="000000"/>
                                    </a:solidFill>
                                    <a:latin typeface="Cambria Math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ZA" sz="2400" i="1">
                                <a:solidFill>
                                  <a:srgbClr val="000000"/>
                                </a:solidFill>
                                <a:latin typeface="Cambria Math"/>
                                <a:sym typeface="Symbol"/>
                              </a:rPr>
                              <m:t></m:t>
                            </m:r>
                            <m:r>
                              <a:rPr lang="en-ZA" sz="2400" b="0" i="1" baseline="-25000" smtClean="0">
                                <a:solidFill>
                                  <a:srgbClr val="000000"/>
                                </a:solidFill>
                                <a:latin typeface="Cambria Math"/>
                                <a:sym typeface="Symbol"/>
                              </a:rPr>
                              <m:t>2</m:t>
                            </m:r>
                          </m:den>
                        </m:f>
                        <m:r>
                          <a:rPr lang="en-ZA" sz="2400" b="0" i="1" smtClean="0">
                            <a:solidFill>
                              <a:srgbClr val="000000"/>
                            </a:solidFill>
                            <a:latin typeface="Cambria Math"/>
                          </a:rPr>
                          <m:t>=</m:t>
                        </m:r>
                        <m:f>
                          <m:fPr>
                            <m:ctrlPr>
                              <a:rPr lang="en-ZA" sz="2400" i="1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ZA" sz="2400" i="1">
                                    <a:solidFill>
                                      <a:srgbClr val="000000"/>
                                    </a:solidFill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ZA" sz="2400" b="0" i="1" smtClean="0">
                                    <a:solidFill>
                                      <a:srgbClr val="000000"/>
                                    </a:solidFill>
                                    <a:latin typeface="Cambria Math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ZA" sz="2400" i="1">
                                    <a:solidFill>
                                      <a:srgbClr val="000000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ZA" sz="2400" i="1">
                                    <a:solidFill>
                                      <a:srgbClr val="000000"/>
                                    </a:solidFill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ZA" sz="2400" b="0" i="1" smtClean="0">
                                    <a:solidFill>
                                      <a:srgbClr val="000000"/>
                                    </a:solidFill>
                                    <a:latin typeface="Cambria Math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ZA" sz="2400" i="1">
                                    <a:solidFill>
                                      <a:srgbClr val="000000"/>
                                    </a:solidFill>
                                    <a:latin typeface="Cambria Math"/>
                                  </a:rPr>
                                  <m:t>2</m:t>
                                </m:r>
                              </m:sub>
                            </m:sSub>
                          </m:den>
                        </m:f>
                        <m:r>
                          <a:rPr lang="en-ZA" sz="2400" i="1">
                            <a:solidFill>
                              <a:srgbClr val="000000"/>
                            </a:solidFill>
                            <a:latin typeface="Cambria Math"/>
                            <a:sym typeface="Symbol"/>
                          </a:rPr>
                          <m:t></m:t>
                        </m:r>
                        <m:d>
                          <m:dPr>
                            <m:ctrlPr>
                              <a:rPr lang="en-ZA" sz="2400" b="0" i="1" smtClean="0">
                                <a:solidFill>
                                  <a:srgbClr val="000000"/>
                                </a:solidFill>
                                <a:latin typeface="Cambria Math"/>
                                <a:sym typeface="Symbol"/>
                              </a:rPr>
                            </m:ctrlPr>
                          </m:dPr>
                          <m:e>
                            <m:r>
                              <a:rPr lang="en-ZA" sz="2400" i="1">
                                <a:solidFill>
                                  <a:srgbClr val="000000"/>
                                </a:solidFill>
                                <a:latin typeface="Cambria Math"/>
                                <a:sym typeface="Symbol"/>
                              </a:rPr>
                              <m:t></m:t>
                            </m:r>
                            <m:r>
                              <a:rPr lang="en-ZA" sz="2400" i="1" baseline="-25000">
                                <a:solidFill>
                                  <a:srgbClr val="000000"/>
                                </a:solidFill>
                                <a:latin typeface="Cambria Math"/>
                                <a:sym typeface="Symbol"/>
                              </a:rPr>
                              <m:t>1</m:t>
                            </m:r>
                            <m:r>
                              <a:rPr lang="en-ZA" sz="2400" b="0" i="1" smtClean="0">
                                <a:solidFill>
                                  <a:srgbClr val="000000"/>
                                </a:solidFill>
                                <a:latin typeface="Cambria Math"/>
                                <a:sym typeface="Symbol"/>
                              </a:rPr>
                              <m:t>−</m:t>
                            </m:r>
                            <m:r>
                              <a:rPr lang="en-ZA" sz="2400" i="1">
                                <a:solidFill>
                                  <a:srgbClr val="000000"/>
                                </a:solidFill>
                                <a:latin typeface="Cambria Math"/>
                                <a:sym typeface="Symbol"/>
                              </a:rPr>
                              <m:t></m:t>
                            </m:r>
                            <m:r>
                              <a:rPr lang="en-ZA" sz="2400" b="0" i="1" baseline="-25000" smtClean="0">
                                <a:solidFill>
                                  <a:srgbClr val="000000"/>
                                </a:solidFill>
                                <a:latin typeface="Cambria Math"/>
                                <a:sym typeface="Symbol"/>
                              </a:rPr>
                              <m:t>2</m:t>
                            </m:r>
                          </m:e>
                        </m:d>
                      </m:oMath>
                    </m:oMathPara>
                  </a14:m>
                  <a:endParaRPr lang="en-ZA" sz="2400" dirty="0">
                    <a:solidFill>
                      <a:srgbClr val="000000"/>
                    </a:solidFill>
                  </a:endParaRPr>
                </a:p>
              </p:txBody>
            </p:sp>
          </mc:Choice>
          <mc:Fallback xmlns="">
            <p:sp>
              <p:nvSpPr>
                <p:cNvPr id="2" name="TextBox 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8452" y="1691483"/>
                  <a:ext cx="7478106" cy="1036822"/>
                </a:xfrm>
                <a:prstGeom prst="rect">
                  <a:avLst/>
                </a:prstGeom>
                <a:blipFill rotWithShape="1"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ZA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" name="Group 7"/>
          <p:cNvGrpSpPr/>
          <p:nvPr/>
        </p:nvGrpSpPr>
        <p:grpSpPr>
          <a:xfrm>
            <a:off x="467831" y="2946625"/>
            <a:ext cx="4351832" cy="583750"/>
            <a:chOff x="467831" y="2946625"/>
            <a:chExt cx="4351832" cy="58375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Rectangle 3"/>
                <p:cNvSpPr/>
                <p:nvPr/>
              </p:nvSpPr>
              <p:spPr>
                <a:xfrm>
                  <a:off x="467831" y="2946625"/>
                  <a:ext cx="1877630" cy="58375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n-US" sz="2800" dirty="0" smtClean="0">
                      <a:solidFill>
                        <a:srgbClr val="000000"/>
                      </a:solidFill>
                      <a:latin typeface="Times New Roman" pitchFamily="18" charset="0"/>
                    </a:rPr>
                    <a:t>Root (</a:t>
                  </a:r>
                  <a14:m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US" sz="280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radPr>
                        <m:deg/>
                        <m:e/>
                      </m:rad>
                    </m:oMath>
                  </a14:m>
                  <a:r>
                    <a:rPr lang="en-US" sz="2800" dirty="0" smtClean="0">
                      <a:solidFill>
                        <a:srgbClr val="000000"/>
                      </a:solidFill>
                      <a:latin typeface="Times New Roman" pitchFamily="18" charset="0"/>
                    </a:rPr>
                    <a:t>):</a:t>
                  </a:r>
                  <a:endParaRPr lang="en-ZA" sz="2400" dirty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</mc:Choice>
          <mc:Fallback xmlns="">
            <p:sp>
              <p:nvSpPr>
                <p:cNvPr id="4" name="Rectangle 3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7831" y="2946625"/>
                  <a:ext cx="1877630" cy="583750"/>
                </a:xfrm>
                <a:prstGeom prst="rect">
                  <a:avLst/>
                </a:prstGeom>
                <a:blipFill rotWithShape="1">
                  <a:blip r:embed="rId3"/>
                  <a:stretch>
                    <a:fillRect l="-6818" r="-4870" b="-28125"/>
                  </a:stretch>
                </a:blipFill>
              </p:spPr>
              <p:txBody>
                <a:bodyPr/>
                <a:lstStyle/>
                <a:p>
                  <a:r>
                    <a:rPr lang="en-ZA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Rectangle 4"/>
                <p:cNvSpPr/>
                <p:nvPr/>
              </p:nvSpPr>
              <p:spPr>
                <a:xfrm>
                  <a:off x="2445936" y="3005006"/>
                  <a:ext cx="2373727" cy="466987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ad>
                          <m:radPr>
                            <m:degHide m:val="on"/>
                            <m:ctrlPr>
                              <a:rPr lang="en-US" sz="2400" i="1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</m:ctrlPr>
                          </m:radPr>
                          <m:deg/>
                          <m:e>
                            <m:r>
                              <a:rPr lang="en-ZA" sz="2400" b="0" i="1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𝑧</m:t>
                            </m:r>
                          </m:e>
                        </m:rad>
                        <m:r>
                          <a:rPr lang="en-ZA" sz="2400" b="0" i="1" smtClean="0">
                            <a:solidFill>
                              <a:srgbClr val="000000"/>
                            </a:solidFill>
                            <a:latin typeface="Cambria Math"/>
                          </a:rPr>
                          <m:t>=</m:t>
                        </m:r>
                        <m:rad>
                          <m:radPr>
                            <m:degHide m:val="on"/>
                            <m:ctrlP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</m:ctrlPr>
                          </m:radPr>
                          <m:deg/>
                          <m:e>
                            <m:r>
                              <a:rPr lang="en-ZA" sz="2400" b="0" i="1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𝑟</m:t>
                            </m:r>
                          </m:e>
                        </m:rad>
                        <m:r>
                          <a:rPr lang="en-ZA" sz="2400" i="1" smtClean="0">
                            <a:solidFill>
                              <a:srgbClr val="000000"/>
                            </a:solidFill>
                            <a:latin typeface="Cambria Math"/>
                            <a:sym typeface="Symbol"/>
                          </a:rPr>
                          <m:t></m:t>
                        </m:r>
                        <m:r>
                          <a:rPr lang="en-ZA" sz="2400" b="0" i="1" smtClean="0">
                            <a:solidFill>
                              <a:srgbClr val="000000"/>
                            </a:solidFill>
                            <a:latin typeface="Cambria Math"/>
                            <a:sym typeface="Symbol"/>
                          </a:rPr>
                          <m:t>(</m:t>
                        </m:r>
                        <m:f>
                          <m:fPr>
                            <m:type m:val="lin"/>
                            <m:ctrlPr>
                              <a:rPr lang="en-ZA" sz="2400" b="0" i="1" smtClean="0">
                                <a:solidFill>
                                  <a:srgbClr val="000000"/>
                                </a:solidFill>
                                <a:latin typeface="Cambria Math"/>
                                <a:sym typeface="Symbol"/>
                              </a:rPr>
                            </m:ctrlPr>
                          </m:fPr>
                          <m:num>
                            <m:r>
                              <a:rPr lang="en-ZA" sz="2400" b="0" i="1" smtClean="0">
                                <a:solidFill>
                                  <a:srgbClr val="000000"/>
                                </a:solidFill>
                                <a:latin typeface="Cambria Math"/>
                                <a:sym typeface="Symbol"/>
                              </a:rPr>
                              <m:t></m:t>
                            </m:r>
                          </m:num>
                          <m:den>
                            <m:r>
                              <a:rPr lang="en-ZA" sz="2400" b="0" i="1" smtClean="0">
                                <a:solidFill>
                                  <a:srgbClr val="000000"/>
                                </a:solidFill>
                                <a:latin typeface="Cambria Math"/>
                                <a:sym typeface="Symbol"/>
                              </a:rPr>
                              <m:t>2</m:t>
                            </m:r>
                          </m:den>
                        </m:f>
                        <m:r>
                          <a:rPr lang="en-ZA" sz="2400" b="0" i="1" smtClean="0">
                            <a:solidFill>
                              <a:srgbClr val="000000"/>
                            </a:solidFill>
                            <a:latin typeface="Cambria Math"/>
                            <a:sym typeface="Symbol"/>
                          </a:rPr>
                          <m:t>)</m:t>
                        </m:r>
                      </m:oMath>
                    </m:oMathPara>
                  </a14:m>
                  <a:endParaRPr lang="en-ZA" sz="2400" dirty="0"/>
                </a:p>
              </p:txBody>
            </p:sp>
          </mc:Choice>
          <mc:Fallback xmlns="">
            <p:sp>
              <p:nvSpPr>
                <p:cNvPr id="5" name="Rectangle 4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45936" y="3005006"/>
                  <a:ext cx="2373727" cy="466987"/>
                </a:xfrm>
                <a:prstGeom prst="rect">
                  <a:avLst/>
                </a:prstGeom>
                <a:blipFill rotWithShape="1">
                  <a:blip r:embed="rId6"/>
                  <a:stretch>
                    <a:fillRect t="-119481" r="-22308" b="-190909"/>
                  </a:stretch>
                </a:blipFill>
              </p:spPr>
              <p:txBody>
                <a:bodyPr/>
                <a:lstStyle/>
                <a:p>
                  <a:r>
                    <a:rPr lang="en-ZA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" name="Group 8"/>
          <p:cNvGrpSpPr/>
          <p:nvPr/>
        </p:nvGrpSpPr>
        <p:grpSpPr>
          <a:xfrm>
            <a:off x="479408" y="4081269"/>
            <a:ext cx="5022213" cy="850233"/>
            <a:chOff x="479408" y="4081269"/>
            <a:chExt cx="5022213" cy="85023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Rectangle 21"/>
                <p:cNvSpPr/>
                <p:nvPr/>
              </p:nvSpPr>
              <p:spPr>
                <a:xfrm>
                  <a:off x="479408" y="4137792"/>
                  <a:ext cx="1934504" cy="737189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n-US" sz="2800" dirty="0" smtClean="0">
                      <a:solidFill>
                        <a:srgbClr val="000000"/>
                      </a:solidFill>
                      <a:latin typeface="Times New Roman" pitchFamily="18" charset="0"/>
                    </a:rPr>
                    <a:t>Inverse </a:t>
                  </a:r>
                  <a14:m>
                    <m:oMath xmlns:m="http://schemas.openxmlformats.org/officeDocument/2006/math">
                      <m:d>
                        <m:dPr>
                          <m:ctrlPr>
                            <a:rPr lang="en-US" sz="2800" i="1" dirty="0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800" i="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</m:ctrlPr>
                            </m:fPr>
                            <m:num>
                              <m:r>
                                <a:rPr lang="en-ZA" sz="2800" i="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ZA" sz="2800" i="1" dirty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𝑧</m:t>
                              </m:r>
                            </m:den>
                          </m:f>
                        </m:e>
                      </m:d>
                    </m:oMath>
                  </a14:m>
                  <a:r>
                    <a:rPr lang="en-US" sz="2800" dirty="0" smtClean="0">
                      <a:solidFill>
                        <a:srgbClr val="000000"/>
                      </a:solidFill>
                      <a:latin typeface="Times New Roman" pitchFamily="18" charset="0"/>
                    </a:rPr>
                    <a:t>:</a:t>
                  </a:r>
                  <a:endParaRPr lang="en-ZA" sz="2400" dirty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</mc:Choice>
          <mc:Fallback xmlns="">
            <p:sp>
              <p:nvSpPr>
                <p:cNvPr id="22" name="Rectangle 2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9408" y="4137792"/>
                  <a:ext cx="1934504" cy="737189"/>
                </a:xfrm>
                <a:prstGeom prst="rect">
                  <a:avLst/>
                </a:prstGeom>
                <a:blipFill rotWithShape="1">
                  <a:blip r:embed="rId4"/>
                  <a:stretch>
                    <a:fillRect l="-6625" r="-5047" b="-7438"/>
                  </a:stretch>
                </a:blipFill>
              </p:spPr>
              <p:txBody>
                <a:bodyPr/>
                <a:lstStyle/>
                <a:p>
                  <a:r>
                    <a:rPr lang="en-ZA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Rectangle 5"/>
                <p:cNvSpPr/>
                <p:nvPr/>
              </p:nvSpPr>
              <p:spPr>
                <a:xfrm>
                  <a:off x="2617049" y="4081269"/>
                  <a:ext cx="2884572" cy="850233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US" sz="240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</m:ctrlPr>
                          </m:fPr>
                          <m:num>
                            <m:r>
                              <a:rPr lang="en-ZA" sz="2400" i="1" dirty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1</m:t>
                            </m:r>
                          </m:num>
                          <m:den>
                            <m:r>
                              <a:rPr lang="en-ZA" sz="2400" i="1" dirty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𝑧</m:t>
                            </m:r>
                          </m:den>
                        </m:f>
                        <m:r>
                          <a:rPr lang="en-ZA" sz="2400" b="0" i="1" dirty="0" smtClean="0">
                            <a:solidFill>
                              <a:srgbClr val="000000"/>
                            </a:solidFill>
                            <a:latin typeface="Cambria Math"/>
                          </a:rPr>
                          <m:t>=</m:t>
                        </m:r>
                        <m:f>
                          <m:fPr>
                            <m:ctrlPr>
                              <a:rPr lang="en-ZA" sz="2400" b="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</m:ctrlPr>
                          </m:fPr>
                          <m:num>
                            <m:r>
                              <a:rPr lang="en-ZA" sz="2400" b="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1</m:t>
                            </m:r>
                          </m:num>
                          <m:den>
                            <m:r>
                              <a:rPr lang="en-ZA" sz="2400" b="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𝑟</m:t>
                            </m:r>
                            <m:r>
                              <a:rPr lang="en-ZA" sz="2400" i="1">
                                <a:solidFill>
                                  <a:srgbClr val="000000"/>
                                </a:solidFill>
                                <a:latin typeface="Cambria Math"/>
                                <a:sym typeface="Symbol"/>
                              </a:rPr>
                              <m:t></m:t>
                            </m:r>
                          </m:den>
                        </m:f>
                        <m:r>
                          <a:rPr lang="en-ZA" sz="2400" b="0" i="1" dirty="0" smtClean="0">
                            <a:solidFill>
                              <a:srgbClr val="000000"/>
                            </a:solidFill>
                            <a:latin typeface="Cambria Math"/>
                          </a:rPr>
                          <m:t>=</m:t>
                        </m:r>
                        <m:f>
                          <m:fPr>
                            <m:ctrlPr>
                              <a:rPr lang="en-ZA" sz="2400" i="1" dirty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</m:ctrlPr>
                          </m:fPr>
                          <m:num>
                            <m:r>
                              <a:rPr lang="en-ZA" sz="2400" i="1" dirty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1</m:t>
                            </m:r>
                          </m:num>
                          <m:den>
                            <m:r>
                              <a:rPr lang="en-ZA" sz="2400" i="1" dirty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𝑟</m:t>
                            </m:r>
                          </m:den>
                        </m:f>
                        <m:r>
                          <a:rPr lang="en-ZA" sz="2400" i="1" smtClean="0">
                            <a:solidFill>
                              <a:srgbClr val="000000"/>
                            </a:solidFill>
                            <a:latin typeface="Cambria Math"/>
                            <a:sym typeface="Symbol"/>
                          </a:rPr>
                          <m:t></m:t>
                        </m:r>
                        <m:r>
                          <a:rPr lang="en-ZA" sz="2400" b="0" i="1" smtClean="0">
                            <a:solidFill>
                              <a:srgbClr val="000000"/>
                            </a:solidFill>
                            <a:latin typeface="Cambria Math"/>
                            <a:sym typeface="Symbol"/>
                          </a:rPr>
                          <m:t>(−</m:t>
                        </m:r>
                        <m:r>
                          <a:rPr lang="en-ZA" sz="2400" i="1">
                            <a:solidFill>
                              <a:srgbClr val="000000"/>
                            </a:solidFill>
                            <a:latin typeface="Cambria Math"/>
                            <a:sym typeface="Symbol"/>
                          </a:rPr>
                          <m:t></m:t>
                        </m:r>
                        <m:r>
                          <a:rPr lang="en-ZA" sz="2400" b="0" i="1" smtClean="0">
                            <a:solidFill>
                              <a:srgbClr val="000000"/>
                            </a:solidFill>
                            <a:latin typeface="Cambria Math"/>
                            <a:sym typeface="Symbol"/>
                          </a:rPr>
                          <m:t>)</m:t>
                        </m:r>
                      </m:oMath>
                    </m:oMathPara>
                  </a14:m>
                  <a:endParaRPr lang="en-ZA" dirty="0"/>
                </a:p>
              </p:txBody>
            </p:sp>
          </mc:Choice>
          <mc:Fallback xmlns="">
            <p:sp>
              <p:nvSpPr>
                <p:cNvPr id="6" name="Rectangle 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17049" y="4081269"/>
                  <a:ext cx="2884572" cy="850233"/>
                </a:xfrm>
                <a:prstGeom prst="rect">
                  <a:avLst/>
                </a:prstGeom>
                <a:blipFill rotWithShape="1"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ZA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0" name="Group 9"/>
          <p:cNvGrpSpPr/>
          <p:nvPr/>
        </p:nvGrpSpPr>
        <p:grpSpPr>
          <a:xfrm>
            <a:off x="488069" y="5342473"/>
            <a:ext cx="5853390" cy="973984"/>
            <a:chOff x="488069" y="5342473"/>
            <a:chExt cx="5853390" cy="973984"/>
          </a:xfrm>
        </p:grpSpPr>
        <p:sp>
          <p:nvSpPr>
            <p:cNvPr id="25" name="Rectangle 24"/>
            <p:cNvSpPr/>
            <p:nvPr/>
          </p:nvSpPr>
          <p:spPr>
            <a:xfrm>
              <a:off x="488069" y="5342473"/>
              <a:ext cx="2185214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800" dirty="0" smtClean="0">
                  <a:solidFill>
                    <a:srgbClr val="000000"/>
                  </a:solidFill>
                  <a:latin typeface="Times New Roman" pitchFamily="18" charset="0"/>
                </a:rPr>
                <a:t>Conjugate </a:t>
              </a:r>
              <a:r>
                <a:rPr lang="en-US" sz="2800" i="1" dirty="0" smtClean="0">
                  <a:solidFill>
                    <a:srgbClr val="000000"/>
                  </a:solidFill>
                  <a:latin typeface="Times New Roman" pitchFamily="18" charset="0"/>
                </a:rPr>
                <a:t>z</a:t>
              </a:r>
              <a:r>
                <a:rPr lang="en-US" sz="2800" dirty="0" smtClean="0">
                  <a:solidFill>
                    <a:srgbClr val="000000"/>
                  </a:solidFill>
                  <a:latin typeface="Times New Roman" pitchFamily="18" charset="0"/>
                </a:rPr>
                <a:t>*:</a:t>
              </a:r>
              <a:endParaRPr lang="en-ZA" sz="2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Rectangle 6"/>
                <p:cNvSpPr/>
                <p:nvPr/>
              </p:nvSpPr>
              <p:spPr>
                <a:xfrm>
                  <a:off x="2802541" y="5414928"/>
                  <a:ext cx="3538918" cy="901529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ZA" sz="2400" b="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n-ZA" sz="2400" b="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𝑧</m:t>
                            </m:r>
                          </m:e>
                          <m:sup>
                            <m:r>
                              <a:rPr lang="en-ZA" sz="2400" b="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∗</m:t>
                            </m:r>
                          </m:sup>
                        </m:sSup>
                        <m:r>
                          <a:rPr lang="en-ZA" sz="2400" b="0" i="1" dirty="0" smtClean="0">
                            <a:solidFill>
                              <a:srgbClr val="000000"/>
                            </a:solidFill>
                            <a:latin typeface="Cambria Math"/>
                          </a:rPr>
                          <m:t>=</m:t>
                        </m:r>
                        <m:sSup>
                          <m:sSupPr>
                            <m:ctrlPr>
                              <a:rPr lang="en-ZA" sz="2400" i="1" dirty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n-ZA" sz="2400" i="1" dirty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(</m:t>
                            </m:r>
                            <m:r>
                              <a:rPr lang="en-ZA" sz="2400" i="1" dirty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𝑥</m:t>
                            </m:r>
                            <m:r>
                              <a:rPr lang="en-ZA" sz="2400" i="1" dirty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+</m:t>
                            </m:r>
                            <m:r>
                              <a:rPr lang="en-ZA" sz="2400" i="1" dirty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𝑗𝑦</m:t>
                            </m:r>
                            <m:r>
                              <a:rPr lang="en-ZA" sz="2400" i="1" dirty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)</m:t>
                            </m:r>
                          </m:e>
                          <m:sup>
                            <m:r>
                              <a:rPr lang="en-ZA" sz="2400" i="1" dirty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∗</m:t>
                            </m:r>
                          </m:sup>
                        </m:sSup>
                        <m:r>
                          <a:rPr lang="en-ZA" sz="2400" b="0" i="1" dirty="0" smtClean="0">
                            <a:solidFill>
                              <a:srgbClr val="000000"/>
                            </a:solidFill>
                            <a:latin typeface="Cambria Math"/>
                          </a:rPr>
                          <m:t>=</m:t>
                        </m:r>
                        <m:d>
                          <m:dPr>
                            <m:ctrlPr>
                              <a:rPr lang="en-ZA" sz="2400" i="1" dirty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a:rPr lang="en-ZA" sz="2400" i="1" dirty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𝑥</m:t>
                            </m:r>
                            <m:r>
                              <a:rPr lang="en-ZA" sz="2400" b="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−</m:t>
                            </m:r>
                            <m:r>
                              <a:rPr lang="en-ZA" sz="2400" i="1" dirty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𝑗𝑦</m:t>
                            </m:r>
                          </m:e>
                        </m:d>
                      </m:oMath>
                    </m:oMathPara>
                  </a14:m>
                  <a:endParaRPr lang="en-ZA" sz="2400" i="1" dirty="0" smtClean="0">
                    <a:solidFill>
                      <a:srgbClr val="000000"/>
                    </a:solidFill>
                    <a:latin typeface="Cambria Math"/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ZA" sz="2400" b="0" i="1" dirty="0" smtClean="0">
                            <a:solidFill>
                              <a:srgbClr val="000000"/>
                            </a:solidFill>
                            <a:latin typeface="Cambria Math"/>
                          </a:rPr>
                          <m:t>=</m:t>
                        </m:r>
                        <m:r>
                          <a:rPr lang="en-ZA" sz="2400" i="1" dirty="0">
                            <a:solidFill>
                              <a:srgbClr val="000000"/>
                            </a:solidFill>
                            <a:latin typeface="Cambria Math"/>
                          </a:rPr>
                          <m:t>𝑟</m:t>
                        </m:r>
                        <m:r>
                          <a:rPr lang="en-ZA" sz="2400" i="1">
                            <a:solidFill>
                              <a:srgbClr val="000000"/>
                            </a:solidFill>
                            <a:latin typeface="Cambria Math"/>
                            <a:sym typeface="Symbol"/>
                          </a:rPr>
                          <m:t></m:t>
                        </m:r>
                        <m:d>
                          <m:dPr>
                            <m:ctrlPr>
                              <a:rPr lang="en-ZA" sz="2400" i="1">
                                <a:solidFill>
                                  <a:srgbClr val="000000"/>
                                </a:solidFill>
                                <a:latin typeface="Cambria Math"/>
                                <a:sym typeface="Symbol"/>
                              </a:rPr>
                            </m:ctrlPr>
                          </m:dPr>
                          <m:e>
                            <m:r>
                              <a:rPr lang="en-ZA" sz="2400" i="1">
                                <a:solidFill>
                                  <a:srgbClr val="000000"/>
                                </a:solidFill>
                                <a:latin typeface="Cambria Math"/>
                                <a:sym typeface="Symbol"/>
                              </a:rPr>
                              <m:t>−</m:t>
                            </m:r>
                          </m:e>
                        </m:d>
                        <m:r>
                          <a:rPr lang="en-ZA" sz="2400" b="0" i="1" smtClean="0">
                            <a:solidFill>
                              <a:srgbClr val="000000"/>
                            </a:solidFill>
                            <a:latin typeface="Cambria Math"/>
                            <a:sym typeface="Symbol"/>
                          </a:rPr>
                          <m:t>=</m:t>
                        </m:r>
                        <m:sSup>
                          <m:sSupPr>
                            <m:ctrlPr>
                              <a:rPr lang="en-ZA" sz="2400" i="1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n-ZA" sz="2400" i="1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𝑒</m:t>
                            </m:r>
                          </m:e>
                          <m:sup>
                            <m:r>
                              <a:rPr lang="en-ZA" sz="2400" b="0" i="1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−</m:t>
                            </m:r>
                            <m:r>
                              <a:rPr lang="en-ZA" sz="2400" i="1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𝑗</m:t>
                            </m:r>
                            <m:r>
                              <a:rPr lang="en-ZA" sz="2400" i="1">
                                <a:solidFill>
                                  <a:srgbClr val="000000"/>
                                </a:solidFill>
                                <a:latin typeface="Cambria Math"/>
                                <a:sym typeface="Symbol"/>
                              </a:rPr>
                              <m:t></m:t>
                            </m:r>
                          </m:sup>
                        </m:sSup>
                      </m:oMath>
                    </m:oMathPara>
                  </a14:m>
                  <a:endParaRPr lang="en-ZA" sz="2400" dirty="0"/>
                </a:p>
              </p:txBody>
            </p:sp>
          </mc:Choice>
          <mc:Fallback xmlns="">
            <p:sp>
              <p:nvSpPr>
                <p:cNvPr id="7" name="Rectangle 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02541" y="5414928"/>
                  <a:ext cx="3538918" cy="901529"/>
                </a:xfrm>
                <a:prstGeom prst="rect">
                  <a:avLst/>
                </a:prstGeom>
                <a:blipFill rotWithShape="1"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ZA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8885670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C22A78-8182-438C-B4E0-076DB970EBDC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7" name="Rectangle 4"/>
          <p:cNvSpPr txBox="1">
            <a:spLocks noChangeArrowheads="1"/>
          </p:cNvSpPr>
          <p:nvPr/>
        </p:nvSpPr>
        <p:spPr>
          <a:xfrm>
            <a:off x="442913" y="103188"/>
            <a:ext cx="8243887" cy="1027112"/>
          </a:xfrm>
          <a:prstGeom prst="rect">
            <a:avLst/>
          </a:prstGeom>
        </p:spPr>
        <p:txBody>
          <a:bodyPr anchor="t"/>
          <a:lstStyle>
            <a:lvl1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2pPr>
            <a:lvl3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3pPr>
            <a:lvl4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4pPr>
            <a:lvl5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5pPr>
            <a:lvl6pPr marL="4572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6pPr>
            <a:lvl7pPr marL="9144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7pPr>
            <a:lvl8pPr marL="13716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8pPr>
            <a:lvl9pPr marL="18288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9pPr>
          </a:lstStyle>
          <a:p>
            <a:r>
              <a:rPr lang="en-US" sz="2800" dirty="0" smtClean="0"/>
              <a:t>9.3 </a:t>
            </a:r>
            <a:r>
              <a:rPr lang="en-US" sz="2800" dirty="0" err="1" smtClean="0"/>
              <a:t>Phasors</a:t>
            </a:r>
            <a:r>
              <a:rPr lang="en-US" sz="4000" dirty="0" smtClean="0"/>
              <a:t/>
            </a:r>
            <a:br>
              <a:rPr lang="en-US" sz="4000" dirty="0" smtClean="0"/>
            </a:br>
            <a:r>
              <a:rPr lang="en-US" sz="4000" dirty="0" smtClean="0">
                <a:solidFill>
                  <a:srgbClr val="FF0000"/>
                </a:solidFill>
              </a:rPr>
              <a:t>AC signal as a </a:t>
            </a:r>
            <a:r>
              <a:rPr lang="en-US" sz="4000" dirty="0" err="1" smtClean="0">
                <a:solidFill>
                  <a:srgbClr val="FF0000"/>
                </a:solidFill>
              </a:rPr>
              <a:t>Phasor</a:t>
            </a:r>
            <a:endParaRPr lang="en-US" sz="40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442913" y="1287561"/>
                <a:ext cx="4944160" cy="1315873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000000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square">
                <a:spAutoFit/>
              </a:bodyPr>
              <a:lstStyle/>
              <a:p>
                <a:pPr eaLnBrk="0" hangingPunct="0">
                  <a:spcBef>
                    <a:spcPts val="0"/>
                  </a:spcBef>
                </a:pPr>
                <a:r>
                  <a:rPr lang="en-US" sz="2000" dirty="0" smtClean="0">
                    <a:latin typeface="Times New Roman" pitchFamily="18" charset="0"/>
                  </a:rPr>
                  <a:t>Euler’s identity: </a:t>
                </a:r>
                <a:r>
                  <a:rPr lang="en-US" sz="2000" i="1" dirty="0">
                    <a:latin typeface="Times New Roman" pitchFamily="18" charset="0"/>
                    <a:sym typeface="Symbol"/>
                  </a:rPr>
                  <a:t>e </a:t>
                </a:r>
                <a:r>
                  <a:rPr lang="en-US" sz="2000" baseline="30000" dirty="0" smtClean="0">
                    <a:latin typeface="Times New Roman" pitchFamily="18" charset="0"/>
                    <a:sym typeface="Symbol"/>
                  </a:rPr>
                  <a:t></a:t>
                </a:r>
                <a:r>
                  <a:rPr lang="en-US" sz="2000" i="1" baseline="30000" dirty="0" smtClean="0">
                    <a:latin typeface="Times New Roman" pitchFamily="18" charset="0"/>
                    <a:sym typeface="Symbol"/>
                  </a:rPr>
                  <a:t>j</a:t>
                </a:r>
                <a:r>
                  <a:rPr lang="en-US" sz="2000" i="1" dirty="0" smtClean="0">
                    <a:latin typeface="Times New Roman" pitchFamily="18" charset="0"/>
                    <a:sym typeface="Symbol"/>
                  </a:rPr>
                  <a:t> = </a:t>
                </a:r>
                <a:r>
                  <a:rPr lang="en-US" sz="2000" dirty="0" err="1" smtClean="0">
                    <a:latin typeface="Times New Roman" pitchFamily="18" charset="0"/>
                  </a:rPr>
                  <a:t>cos</a:t>
                </a:r>
                <a:r>
                  <a:rPr lang="en-US" sz="2000" i="1" dirty="0">
                    <a:latin typeface="Times New Roman" pitchFamily="18" charset="0"/>
                    <a:sym typeface="Symbol"/>
                  </a:rPr>
                  <a:t> </a:t>
                </a:r>
                <a:r>
                  <a:rPr lang="en-US" sz="2000" dirty="0">
                    <a:latin typeface="Times New Roman" pitchFamily="18" charset="0"/>
                    <a:sym typeface="Symbol"/>
                  </a:rPr>
                  <a:t></a:t>
                </a:r>
                <a:r>
                  <a:rPr lang="en-US" sz="2000" i="1" dirty="0" smtClean="0">
                    <a:latin typeface="Times New Roman" pitchFamily="18" charset="0"/>
                    <a:sym typeface="Symbol"/>
                  </a:rPr>
                  <a:t> </a:t>
                </a:r>
                <a:r>
                  <a:rPr lang="en-US" sz="2000" i="1" dirty="0">
                    <a:latin typeface="Times New Roman" pitchFamily="18" charset="0"/>
                    <a:sym typeface="Symbol"/>
                  </a:rPr>
                  <a:t>j </a:t>
                </a:r>
                <a:r>
                  <a:rPr lang="en-US" sz="2000" dirty="0" smtClean="0">
                    <a:latin typeface="Times New Roman" pitchFamily="18" charset="0"/>
                    <a:sym typeface="Symbol"/>
                  </a:rPr>
                  <a:t>sin</a:t>
                </a:r>
                <a:r>
                  <a:rPr lang="en-US" sz="2000" i="1" dirty="0" smtClean="0">
                    <a:latin typeface="Times New Roman" pitchFamily="18" charset="0"/>
                    <a:sym typeface="Symbol"/>
                  </a:rPr>
                  <a:t></a:t>
                </a:r>
              </a:p>
              <a:p>
                <a:pPr eaLnBrk="0" hangingPunct="0">
                  <a:spcBef>
                    <a:spcPts val="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ZA" sz="2000" b="0" i="1" smtClean="0">
                          <a:latin typeface="Cambria Math"/>
                          <a:sym typeface="Symbol"/>
                        </a:rPr>
                        <m:t>𝑅𝑒</m:t>
                      </m:r>
                      <m:d>
                        <m:dPr>
                          <m:begChr m:val="{"/>
                          <m:endChr m:val="}"/>
                          <m:ctrlPr>
                            <a:rPr lang="en-ZA" sz="2000" b="0" i="1" smtClean="0">
                              <a:latin typeface="Cambria Math"/>
                              <a:sym typeface="Symbol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ZA" sz="2000" b="0" i="1" smtClean="0">
                                  <a:latin typeface="Cambria Math"/>
                                  <a:sym typeface="Symbol"/>
                                </a:rPr>
                              </m:ctrlPr>
                            </m:sSupPr>
                            <m:e>
                              <m:r>
                                <a:rPr lang="en-ZA" sz="2000" b="0" i="1" smtClean="0">
                                  <a:latin typeface="Cambria Math"/>
                                  <a:sym typeface="Symbol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ZA" sz="2000" b="0" i="1" smtClean="0">
                                  <a:latin typeface="Cambria Math"/>
                                  <a:sym typeface="Symbol"/>
                                </a:rPr>
                                <m:t>𝑗</m:t>
                              </m:r>
                              <m:r>
                                <a:rPr lang="en-ZA" sz="2000" b="0" i="1" smtClean="0">
                                  <a:latin typeface="Cambria Math"/>
                                  <a:sym typeface="Symbol"/>
                                </a:rPr>
                                <m:t></m:t>
                              </m:r>
                            </m:sup>
                          </m:sSup>
                        </m:e>
                      </m:d>
                      <m:r>
                        <a:rPr lang="en-ZA" sz="2000" b="0" i="1" smtClean="0">
                          <a:latin typeface="Cambria Math"/>
                          <a:sym typeface="Symbol"/>
                        </a:rPr>
                        <m:t>=</m:t>
                      </m:r>
                      <m:func>
                        <m:funcPr>
                          <m:ctrlPr>
                            <a:rPr lang="en-ZA" sz="2000" b="0" i="1" smtClean="0">
                              <a:latin typeface="Cambria Math"/>
                              <a:sym typeface="Symbol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ZA" sz="2000" b="0" i="0" smtClean="0">
                              <a:latin typeface="Cambria Math"/>
                              <a:sym typeface="Symbol"/>
                            </a:rPr>
                            <m:t>cos</m:t>
                          </m:r>
                        </m:fName>
                        <m:e>
                          <m:r>
                            <a:rPr lang="en-ZA" sz="2000" b="0" i="1" smtClean="0">
                              <a:latin typeface="Cambria Math"/>
                              <a:sym typeface="Symbol"/>
                            </a:rPr>
                            <m:t></m:t>
                          </m:r>
                        </m:e>
                      </m:func>
                    </m:oMath>
                  </m:oMathPara>
                </a14:m>
                <a:endParaRPr lang="en-ZA" sz="2000" b="0" dirty="0" smtClean="0">
                  <a:latin typeface="Times New Roman" pitchFamily="18" charset="0"/>
                  <a:sym typeface="Symbol"/>
                </a:endParaRPr>
              </a:p>
              <a:p>
                <a:pPr eaLnBrk="0" hangingPunct="0">
                  <a:spcBef>
                    <a:spcPts val="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ZA" sz="2000" b="0" i="1" smtClean="0">
                          <a:latin typeface="Cambria Math"/>
                          <a:sym typeface="Symbol"/>
                        </a:rPr>
                        <m:t>𝐼𝑚</m:t>
                      </m:r>
                      <m:d>
                        <m:dPr>
                          <m:begChr m:val="{"/>
                          <m:endChr m:val="}"/>
                          <m:ctrlPr>
                            <a:rPr lang="en-ZA" sz="2000" i="1">
                              <a:latin typeface="Cambria Math"/>
                              <a:sym typeface="Symbol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ZA" sz="2000" i="1">
                                  <a:latin typeface="Cambria Math"/>
                                  <a:sym typeface="Symbol"/>
                                </a:rPr>
                              </m:ctrlPr>
                            </m:sSupPr>
                            <m:e>
                              <m:r>
                                <a:rPr lang="en-ZA" sz="2000" i="1">
                                  <a:latin typeface="Cambria Math"/>
                                  <a:sym typeface="Symbol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ZA" sz="2000" i="1">
                                  <a:latin typeface="Cambria Math"/>
                                  <a:sym typeface="Symbol"/>
                                </a:rPr>
                                <m:t>𝑗</m:t>
                              </m:r>
                              <m:r>
                                <a:rPr lang="en-ZA" sz="2000" i="1">
                                  <a:latin typeface="Cambria Math"/>
                                  <a:sym typeface="Symbol"/>
                                </a:rPr>
                                <m:t></m:t>
                              </m:r>
                            </m:sup>
                          </m:sSup>
                        </m:e>
                      </m:d>
                      <m:r>
                        <a:rPr lang="en-ZA" sz="2000" i="1">
                          <a:latin typeface="Cambria Math"/>
                          <a:sym typeface="Symbol"/>
                        </a:rPr>
                        <m:t>=</m:t>
                      </m:r>
                      <m:func>
                        <m:funcPr>
                          <m:ctrlPr>
                            <a:rPr lang="en-ZA" sz="2000" i="1" smtClean="0">
                              <a:latin typeface="Cambria Math"/>
                              <a:sym typeface="Symbol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ZA" sz="2000" i="0" smtClean="0">
                              <a:latin typeface="Cambria Math"/>
                              <a:sym typeface="Symbol"/>
                            </a:rPr>
                            <m:t>sin</m:t>
                          </m:r>
                        </m:fName>
                        <m:e>
                          <m:r>
                            <a:rPr lang="en-ZA" sz="2000" i="1">
                              <a:latin typeface="Cambria Math"/>
                              <a:sym typeface="Symbol"/>
                            </a:rPr>
                            <m:t></m:t>
                          </m:r>
                        </m:e>
                      </m:func>
                    </m:oMath>
                  </m:oMathPara>
                </a14:m>
                <a:endParaRPr lang="en-US" sz="2000" dirty="0" smtClean="0">
                  <a:latin typeface="Times New Roman" pitchFamily="18" charset="0"/>
                  <a:sym typeface="Symbol"/>
                </a:endParaRPr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913" y="1287561"/>
                <a:ext cx="4944160" cy="1315873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  <a:ln>
                <a:solidFill>
                  <a:srgbClr val="000000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3" descr="ale29559_09006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31" b="13869"/>
          <a:stretch/>
        </p:blipFill>
        <p:spPr bwMode="auto">
          <a:xfrm>
            <a:off x="5937160" y="1130300"/>
            <a:ext cx="2616057" cy="199374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/>
              <p:cNvSpPr/>
              <p:nvPr/>
            </p:nvSpPr>
            <p:spPr>
              <a:xfrm>
                <a:off x="-7922" y="2825853"/>
                <a:ext cx="5697522" cy="160627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 eaLnBrk="0" hangingPunct="0">
                  <a:spcBef>
                    <a:spcPts val="0"/>
                  </a:spcBef>
                </a:pPr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en-ZA" sz="2400" b="0" i="1" smtClean="0">
                          <a:latin typeface="Cambria Math"/>
                          <a:sym typeface="Symbol"/>
                        </a:rPr>
                        <m:t>𝑣</m:t>
                      </m:r>
                      <m:d>
                        <m:dPr>
                          <m:ctrlPr>
                            <a:rPr lang="en-ZA" sz="2400" b="0" i="1" smtClean="0">
                              <a:latin typeface="Cambria Math"/>
                              <a:sym typeface="Symbol"/>
                            </a:rPr>
                          </m:ctrlPr>
                        </m:dPr>
                        <m:e>
                          <m:r>
                            <a:rPr lang="en-ZA" sz="2400" b="0" i="1" smtClean="0">
                              <a:latin typeface="Cambria Math"/>
                              <a:sym typeface="Symbol"/>
                            </a:rPr>
                            <m:t>𝑡</m:t>
                          </m:r>
                        </m:e>
                      </m:d>
                      <m:r>
                        <a:rPr lang="en-ZA" sz="2400" b="0" i="1" smtClean="0">
                          <a:latin typeface="Cambria Math"/>
                          <a:sym typeface="Symbol"/>
                        </a:rPr>
                        <m:t>=</m:t>
                      </m:r>
                      <m:sSub>
                        <m:sSubPr>
                          <m:ctrlPr>
                            <a:rPr lang="en-ZA" sz="2400" b="0" i="1" smtClean="0">
                              <a:latin typeface="Cambria Math"/>
                              <a:sym typeface="Symbol"/>
                            </a:rPr>
                          </m:ctrlPr>
                        </m:sSubPr>
                        <m:e>
                          <m:r>
                            <a:rPr lang="en-ZA" sz="2400" b="0" i="1" smtClean="0">
                              <a:latin typeface="Cambria Math"/>
                              <a:sym typeface="Symbol"/>
                            </a:rPr>
                            <m:t>𝑉</m:t>
                          </m:r>
                        </m:e>
                        <m:sub>
                          <m:r>
                            <a:rPr lang="en-ZA" sz="2400" b="0" i="1" smtClean="0">
                              <a:latin typeface="Cambria Math"/>
                              <a:sym typeface="Symbol"/>
                            </a:rPr>
                            <m:t>𝑚</m:t>
                          </m:r>
                        </m:sub>
                      </m:sSub>
                      <m:func>
                        <m:funcPr>
                          <m:ctrlPr>
                            <a:rPr lang="en-ZA" sz="2400" b="0" i="1" smtClean="0">
                              <a:latin typeface="Cambria Math"/>
                              <a:sym typeface="Symbol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ZA" sz="2400" b="0" i="0" smtClean="0">
                              <a:latin typeface="Cambria Math"/>
                              <a:sym typeface="Symbol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ZA" sz="2400" b="0" i="1" smtClean="0">
                                  <a:latin typeface="Cambria Math"/>
                                  <a:sym typeface="Symbol"/>
                                </a:rPr>
                              </m:ctrlPr>
                            </m:dPr>
                            <m:e>
                              <m:r>
                                <a:rPr lang="en-ZA" sz="2400" b="0" i="1" smtClean="0">
                                  <a:latin typeface="Cambria Math"/>
                                  <a:ea typeface="Cambria Math"/>
                                  <a:sym typeface="Symbol"/>
                                </a:rPr>
                                <m:t>𝜔</m:t>
                              </m:r>
                              <m:r>
                                <a:rPr lang="en-ZA" sz="2400" b="0" i="1" smtClean="0">
                                  <a:latin typeface="Cambria Math"/>
                                  <a:ea typeface="Cambria Math"/>
                                  <a:sym typeface="Symbol"/>
                                </a:rPr>
                                <m:t>𝑡</m:t>
                              </m:r>
                              <m:r>
                                <a:rPr lang="en-ZA" sz="2400" b="0" i="1" smtClean="0">
                                  <a:latin typeface="Cambria Math"/>
                                  <a:ea typeface="Cambria Math"/>
                                  <a:sym typeface="Symbol"/>
                                </a:rPr>
                                <m:t>+</m:t>
                              </m:r>
                            </m:e>
                          </m:d>
                        </m:e>
                      </m:func>
                      <m:r>
                        <a:rPr lang="en-ZA" sz="2400" b="0" i="1" smtClean="0">
                          <a:latin typeface="Cambria Math"/>
                          <a:sym typeface="Symbol"/>
                        </a:rPr>
                        <m:t>=</m:t>
                      </m:r>
                      <m:r>
                        <a:rPr lang="en-ZA" sz="2400" i="1">
                          <a:latin typeface="Cambria Math"/>
                          <a:sym typeface="Symbol"/>
                        </a:rPr>
                        <m:t>𝑅𝑒</m:t>
                      </m:r>
                      <m:d>
                        <m:dPr>
                          <m:begChr m:val="{"/>
                          <m:endChr m:val="}"/>
                          <m:ctrlPr>
                            <a:rPr lang="en-ZA" sz="2400" i="1">
                              <a:latin typeface="Cambria Math"/>
                              <a:sym typeface="Symbol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ZA" sz="2400" i="1">
                                  <a:latin typeface="Cambria Math"/>
                                  <a:sym typeface="Symbol"/>
                                </a:rPr>
                              </m:ctrlPr>
                            </m:sSubPr>
                            <m:e>
                              <m:r>
                                <a:rPr lang="en-ZA" sz="2400" i="1">
                                  <a:latin typeface="Cambria Math"/>
                                  <a:sym typeface="Symbol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ZA" sz="2400" i="1">
                                  <a:latin typeface="Cambria Math"/>
                                  <a:sym typeface="Symbol"/>
                                </a:rPr>
                                <m:t>𝑚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ZA" sz="2400" i="1">
                                  <a:latin typeface="Cambria Math"/>
                                  <a:sym typeface="Symbol"/>
                                </a:rPr>
                              </m:ctrlPr>
                            </m:sSupPr>
                            <m:e>
                              <m:r>
                                <a:rPr lang="en-ZA" sz="2400" i="1">
                                  <a:latin typeface="Cambria Math"/>
                                  <a:sym typeface="Symbol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ZA" sz="2400" i="1">
                                  <a:latin typeface="Cambria Math"/>
                                  <a:sym typeface="Symbol"/>
                                </a:rPr>
                                <m:t>𝑗</m:t>
                              </m:r>
                              <m:d>
                                <m:dPr>
                                  <m:ctrlPr>
                                    <a:rPr lang="en-ZA" sz="2400" i="1" smtClean="0">
                                      <a:latin typeface="Cambria Math"/>
                                      <a:sym typeface="Symbol"/>
                                    </a:rPr>
                                  </m:ctrlPr>
                                </m:dPr>
                                <m:e>
                                  <m:r>
                                    <a:rPr lang="en-ZA" sz="2400" i="1">
                                      <a:latin typeface="Cambria Math"/>
                                      <a:ea typeface="Cambria Math"/>
                                      <a:sym typeface="Symbol"/>
                                    </a:rPr>
                                    <m:t>𝜔</m:t>
                                  </m:r>
                                  <m:r>
                                    <a:rPr lang="en-ZA" sz="2400" i="1">
                                      <a:latin typeface="Cambria Math"/>
                                      <a:ea typeface="Cambria Math"/>
                                      <a:sym typeface="Symbol"/>
                                    </a:rPr>
                                    <m:t>𝑡</m:t>
                                  </m:r>
                                  <m:r>
                                    <a:rPr lang="en-ZA" sz="2400" i="1">
                                      <a:latin typeface="Cambria Math"/>
                                      <a:ea typeface="Cambria Math"/>
                                      <a:sym typeface="Symbol"/>
                                    </a:rPr>
                                    <m:t>+</m:t>
                                  </m:r>
                                </m:e>
                              </m:d>
                            </m:sup>
                          </m:sSup>
                        </m:e>
                      </m:d>
                    </m:oMath>
                  </m:oMathPara>
                </a14:m>
                <a:endParaRPr lang="en-ZA" sz="2400" i="1" dirty="0" smtClean="0">
                  <a:latin typeface="Cambria Math"/>
                  <a:sym typeface="Symbol"/>
                </a:endParaRPr>
              </a:p>
              <a:p>
                <a:pPr algn="r" eaLnBrk="0" hangingPunct="0">
                  <a:spcBef>
                    <a:spcPts val="0"/>
                  </a:spcBef>
                </a:pPr>
                <a14:m>
                  <m:oMath xmlns:m="http://schemas.openxmlformats.org/officeDocument/2006/math">
                    <m:r>
                      <a:rPr lang="en-ZA" sz="2400" i="1">
                        <a:latin typeface="Cambria Math"/>
                        <a:sym typeface="Symbol"/>
                      </a:rPr>
                      <m:t>=</m:t>
                    </m:r>
                    <m:r>
                      <a:rPr lang="en-ZA" sz="2400" i="1">
                        <a:latin typeface="Cambria Math"/>
                        <a:sym typeface="Symbol"/>
                      </a:rPr>
                      <m:t>𝑅𝑒</m:t>
                    </m:r>
                    <m:d>
                      <m:dPr>
                        <m:begChr m:val="{"/>
                        <m:endChr m:val="}"/>
                        <m:ctrlPr>
                          <a:rPr lang="en-ZA" sz="2400" i="1">
                            <a:latin typeface="Cambria Math"/>
                            <a:sym typeface="Symbol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ZA" sz="2400" i="1">
                                <a:latin typeface="Cambria Math"/>
                                <a:sym typeface="Symbol"/>
                              </a:rPr>
                            </m:ctrlPr>
                          </m:sSubPr>
                          <m:e>
                            <m:r>
                              <a:rPr lang="en-ZA" sz="2400" i="1">
                                <a:latin typeface="Cambria Math"/>
                                <a:sym typeface="Symbol"/>
                              </a:rPr>
                              <m:t>𝑉</m:t>
                            </m:r>
                          </m:e>
                          <m:sub>
                            <m:r>
                              <a:rPr lang="en-ZA" sz="2400" i="1">
                                <a:latin typeface="Cambria Math"/>
                                <a:sym typeface="Symbol"/>
                              </a:rPr>
                              <m:t>𝑚</m:t>
                            </m:r>
                          </m:sub>
                        </m:sSub>
                        <m:sSup>
                          <m:sSupPr>
                            <m:ctrlPr>
                              <a:rPr lang="en-ZA" sz="2400" i="1">
                                <a:latin typeface="Cambria Math"/>
                                <a:sym typeface="Symbol"/>
                              </a:rPr>
                            </m:ctrlPr>
                          </m:sSupPr>
                          <m:e>
                            <m:r>
                              <a:rPr lang="en-ZA" sz="2400" i="1">
                                <a:latin typeface="Cambria Math"/>
                                <a:sym typeface="Symbol"/>
                              </a:rPr>
                              <m:t>𝑒</m:t>
                            </m:r>
                          </m:e>
                          <m:sup>
                            <m:r>
                              <a:rPr lang="en-ZA" sz="2400" i="1">
                                <a:latin typeface="Cambria Math"/>
                                <a:sym typeface="Symbol"/>
                              </a:rPr>
                              <m:t>𝑗</m:t>
                            </m:r>
                            <m:r>
                              <a:rPr lang="en-ZA" sz="2400" i="1">
                                <a:latin typeface="Cambria Math"/>
                                <a:ea typeface="Cambria Math"/>
                                <a:sym typeface="Symbol"/>
                              </a:rPr>
                              <m:t></m:t>
                            </m:r>
                          </m:sup>
                        </m:sSup>
                        <m:sSup>
                          <m:sSupPr>
                            <m:ctrlPr>
                              <a:rPr lang="en-ZA" sz="2400" i="1">
                                <a:latin typeface="Cambria Math"/>
                                <a:sym typeface="Symbol"/>
                              </a:rPr>
                            </m:ctrlPr>
                          </m:sSupPr>
                          <m:e>
                            <m:r>
                              <a:rPr lang="en-ZA" sz="2400" i="1">
                                <a:latin typeface="Cambria Math"/>
                                <a:sym typeface="Symbol"/>
                              </a:rPr>
                              <m:t>𝑒</m:t>
                            </m:r>
                          </m:e>
                          <m:sup>
                            <m:r>
                              <a:rPr lang="en-ZA" sz="2400" i="1">
                                <a:latin typeface="Cambria Math"/>
                                <a:sym typeface="Symbol"/>
                              </a:rPr>
                              <m:t>𝑗</m:t>
                            </m:r>
                            <m:r>
                              <a:rPr lang="en-ZA" sz="2400" i="1" smtClean="0">
                                <a:latin typeface="Cambria Math"/>
                                <a:ea typeface="Cambria Math"/>
                                <a:sym typeface="Symbol"/>
                              </a:rPr>
                              <m:t>𝜔</m:t>
                            </m:r>
                            <m:r>
                              <a:rPr lang="en-ZA" sz="2400" i="1" smtClean="0">
                                <a:latin typeface="Cambria Math"/>
                                <a:ea typeface="Cambria Math"/>
                                <a:sym typeface="Symbol"/>
                              </a:rPr>
                              <m:t>𝑡</m:t>
                            </m:r>
                          </m:sup>
                        </m:sSup>
                      </m:e>
                    </m:d>
                  </m:oMath>
                </a14:m>
                <a:r>
                  <a:rPr lang="en-ZA" sz="2400" dirty="0" smtClean="0">
                    <a:latin typeface="Times New Roman" pitchFamily="18" charset="0"/>
                    <a:sym typeface="Symbol"/>
                  </a:rPr>
                  <a:t> </a:t>
                </a:r>
              </a:p>
              <a:p>
                <a:pPr algn="r" eaLnBrk="0" hangingPunct="0">
                  <a:spcBef>
                    <a:spcPts val="0"/>
                  </a:spcBef>
                </a:pPr>
                <a14:m>
                  <m:oMath xmlns:m="http://schemas.openxmlformats.org/officeDocument/2006/math">
                    <m:r>
                      <a:rPr lang="en-ZA" sz="2400" b="0" i="1" smtClean="0">
                        <a:latin typeface="Cambria Math"/>
                        <a:sym typeface="Symbol"/>
                      </a:rPr>
                      <m:t>=</m:t>
                    </m:r>
                    <m:r>
                      <a:rPr lang="en-ZA" sz="2400" i="1">
                        <a:latin typeface="Cambria Math"/>
                        <a:sym typeface="Symbol"/>
                      </a:rPr>
                      <m:t>𝑅𝑒</m:t>
                    </m:r>
                    <m:d>
                      <m:dPr>
                        <m:begChr m:val="{"/>
                        <m:endChr m:val="}"/>
                        <m:ctrlPr>
                          <a:rPr lang="en-ZA" sz="2400" i="1">
                            <a:latin typeface="Cambria Math"/>
                            <a:sym typeface="Symbol"/>
                          </a:rPr>
                        </m:ctrlPr>
                      </m:dPr>
                      <m:e>
                        <m:r>
                          <a:rPr lang="en-ZA" sz="2400" b="1" i="1" smtClean="0">
                            <a:latin typeface="Cambria Math"/>
                            <a:sym typeface="Symbol"/>
                          </a:rPr>
                          <m:t>𝑽</m:t>
                        </m:r>
                        <m:sSup>
                          <m:sSupPr>
                            <m:ctrlPr>
                              <a:rPr lang="en-ZA" sz="2400" i="1">
                                <a:latin typeface="Cambria Math"/>
                                <a:sym typeface="Symbol"/>
                              </a:rPr>
                            </m:ctrlPr>
                          </m:sSupPr>
                          <m:e>
                            <m:r>
                              <a:rPr lang="en-ZA" sz="2400" i="1">
                                <a:latin typeface="Cambria Math"/>
                                <a:sym typeface="Symbol"/>
                              </a:rPr>
                              <m:t>𝑒</m:t>
                            </m:r>
                          </m:e>
                          <m:sup>
                            <m:r>
                              <a:rPr lang="en-ZA" sz="2400" i="1">
                                <a:latin typeface="Cambria Math"/>
                                <a:sym typeface="Symbol"/>
                              </a:rPr>
                              <m:t>𝑗</m:t>
                            </m:r>
                            <m:r>
                              <a:rPr lang="en-ZA" sz="2400" i="1">
                                <a:latin typeface="Cambria Math"/>
                                <a:ea typeface="Cambria Math"/>
                                <a:sym typeface="Symbol"/>
                              </a:rPr>
                              <m:t>𝜔</m:t>
                            </m:r>
                            <m:r>
                              <a:rPr lang="en-ZA" sz="2400" i="1">
                                <a:latin typeface="Cambria Math"/>
                                <a:ea typeface="Cambria Math"/>
                                <a:sym typeface="Symbol"/>
                              </a:rPr>
                              <m:t>𝑡</m:t>
                            </m:r>
                          </m:sup>
                        </m:sSup>
                      </m:e>
                    </m:d>
                  </m:oMath>
                </a14:m>
                <a:r>
                  <a:rPr lang="en-ZA" sz="2400" dirty="0" smtClean="0">
                    <a:latin typeface="Times New Roman" pitchFamily="18" charset="0"/>
                    <a:sym typeface="Symbol"/>
                  </a:rPr>
                  <a:t>         </a:t>
                </a:r>
                <a:endParaRPr lang="en-ZA" sz="2400" dirty="0">
                  <a:latin typeface="Times New Roman" pitchFamily="18" charset="0"/>
                  <a:sym typeface="Symbol"/>
                </a:endParaRPr>
              </a:p>
            </p:txBody>
          </p:sp>
        </mc:Choice>
        <mc:Fallback xmlns=""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7922" y="2825853"/>
                <a:ext cx="5697522" cy="1606274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/>
              <p:cNvSpPr/>
              <p:nvPr/>
            </p:nvSpPr>
            <p:spPr>
              <a:xfrm>
                <a:off x="328613" y="4882588"/>
                <a:ext cx="2872774" cy="107446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ZA" sz="2000" b="1" i="1" smtClean="0">
                          <a:latin typeface="Cambria Math"/>
                          <a:sym typeface="Symbol"/>
                        </a:rPr>
                        <m:t>𝑽</m:t>
                      </m:r>
                      <m:r>
                        <a:rPr lang="en-ZA" sz="2000" b="0" i="0" smtClean="0">
                          <a:latin typeface="Cambria Math"/>
                          <a:sym typeface="Symbol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ZA" sz="2000" b="0" i="1" smtClean="0">
                              <a:latin typeface="Cambria Math"/>
                              <a:sym typeface="Symbol"/>
                            </a:rPr>
                          </m:ctrlPr>
                        </m:accPr>
                        <m:e>
                          <m:r>
                            <a:rPr lang="en-ZA" sz="2000" b="0" i="1" smtClean="0">
                              <a:latin typeface="Cambria Math"/>
                              <a:sym typeface="Symbol"/>
                            </a:rPr>
                            <m:t>𝑉</m:t>
                          </m:r>
                        </m:e>
                      </m:acc>
                      <m:r>
                        <a:rPr lang="en-ZA" sz="2000" b="1" i="1" smtClean="0">
                          <a:latin typeface="Cambria Math"/>
                          <a:sym typeface="Symbol"/>
                        </a:rPr>
                        <m:t>=</m:t>
                      </m:r>
                      <m:sSub>
                        <m:sSubPr>
                          <m:ctrlPr>
                            <a:rPr lang="en-ZA" sz="2000" i="1">
                              <a:latin typeface="Cambria Math"/>
                              <a:sym typeface="Symbol"/>
                            </a:rPr>
                          </m:ctrlPr>
                        </m:sSubPr>
                        <m:e>
                          <m:r>
                            <a:rPr lang="en-ZA" sz="2000" i="1">
                              <a:latin typeface="Cambria Math"/>
                              <a:sym typeface="Symbol"/>
                            </a:rPr>
                            <m:t>𝑉</m:t>
                          </m:r>
                        </m:e>
                        <m:sub>
                          <m:r>
                            <a:rPr lang="en-ZA" sz="2000" i="1">
                              <a:latin typeface="Cambria Math"/>
                              <a:sym typeface="Symbol"/>
                            </a:rPr>
                            <m:t>𝑚</m:t>
                          </m:r>
                        </m:sub>
                      </m:sSub>
                      <m:sSup>
                        <m:sSupPr>
                          <m:ctrlPr>
                            <a:rPr lang="en-ZA" sz="2000" i="1">
                              <a:latin typeface="Cambria Math"/>
                              <a:sym typeface="Symbol"/>
                            </a:rPr>
                          </m:ctrlPr>
                        </m:sSupPr>
                        <m:e>
                          <m:r>
                            <a:rPr lang="en-ZA" sz="2000" i="1">
                              <a:latin typeface="Cambria Math"/>
                              <a:sym typeface="Symbol"/>
                            </a:rPr>
                            <m:t>𝑒</m:t>
                          </m:r>
                        </m:e>
                        <m:sup>
                          <m:r>
                            <a:rPr lang="en-ZA" sz="2000" i="1">
                              <a:latin typeface="Cambria Math"/>
                              <a:sym typeface="Symbol"/>
                            </a:rPr>
                            <m:t>𝑗</m:t>
                          </m:r>
                          <m:r>
                            <a:rPr lang="en-ZA" sz="2000" i="1">
                              <a:latin typeface="Cambria Math"/>
                              <a:ea typeface="Cambria Math"/>
                              <a:sym typeface="Symbol"/>
                            </a:rPr>
                            <m:t></m:t>
                          </m:r>
                        </m:sup>
                      </m:sSup>
                      <m:r>
                        <a:rPr lang="en-ZA" sz="2000" b="0" i="0" smtClean="0">
                          <a:latin typeface="Cambria Math"/>
                          <a:ea typeface="Cambria Math"/>
                          <a:sym typeface="Symbol"/>
                        </a:rPr>
                        <m:t>=</m:t>
                      </m:r>
                      <m:sSub>
                        <m:sSubPr>
                          <m:ctrlPr>
                            <a:rPr lang="en-ZA" sz="2000" i="1">
                              <a:latin typeface="Cambria Math"/>
                              <a:sym typeface="Symbol"/>
                            </a:rPr>
                          </m:ctrlPr>
                        </m:sSubPr>
                        <m:e>
                          <m:r>
                            <a:rPr lang="en-ZA" sz="2000" i="1">
                              <a:latin typeface="Cambria Math"/>
                              <a:sym typeface="Symbol"/>
                            </a:rPr>
                            <m:t>𝑉</m:t>
                          </m:r>
                        </m:e>
                        <m:sub>
                          <m:r>
                            <a:rPr lang="en-ZA" sz="2000" i="1">
                              <a:latin typeface="Cambria Math"/>
                              <a:sym typeface="Symbol"/>
                            </a:rPr>
                            <m:t>𝑚</m:t>
                          </m:r>
                        </m:sub>
                      </m:sSub>
                      <m:r>
                        <a:rPr lang="en-ZA" sz="2000" i="1" smtClean="0">
                          <a:latin typeface="Cambria Math"/>
                          <a:sym typeface="Symbol"/>
                        </a:rPr>
                        <m:t></m:t>
                      </m:r>
                    </m:oMath>
                  </m:oMathPara>
                </a14:m>
                <a:endParaRPr lang="en-ZA" sz="2000" dirty="0" smtClean="0">
                  <a:sym typeface="Symbol"/>
                </a:endParaRPr>
              </a:p>
              <a:p>
                <a:r>
                  <a:rPr lang="en-ZA" sz="2000" b="0" dirty="0" smtClean="0">
                    <a:sym typeface="Symbol"/>
                  </a:rPr>
                  <a:t>   </a:t>
                </a:r>
                <a14:m>
                  <m:oMath xmlns:m="http://schemas.openxmlformats.org/officeDocument/2006/math">
                    <m:r>
                      <a:rPr lang="en-ZA" sz="2000" b="0" i="1" smtClean="0">
                        <a:latin typeface="Cambria Math"/>
                        <a:sym typeface="Symbol"/>
                      </a:rPr>
                      <m:t>=</m:t>
                    </m:r>
                    <m:sSub>
                      <m:sSubPr>
                        <m:ctrlPr>
                          <a:rPr lang="en-ZA" sz="2000" i="1">
                            <a:latin typeface="Cambria Math"/>
                            <a:sym typeface="Symbol"/>
                          </a:rPr>
                        </m:ctrlPr>
                      </m:sSubPr>
                      <m:e>
                        <m:r>
                          <a:rPr lang="en-ZA" sz="2000" i="1">
                            <a:latin typeface="Cambria Math"/>
                            <a:sym typeface="Symbol"/>
                          </a:rPr>
                          <m:t>𝑉</m:t>
                        </m:r>
                      </m:e>
                      <m:sub>
                        <m:r>
                          <a:rPr lang="en-ZA" sz="2000" i="1">
                            <a:latin typeface="Cambria Math"/>
                            <a:sym typeface="Symbol"/>
                          </a:rPr>
                          <m:t>𝑚</m:t>
                        </m:r>
                      </m:sub>
                    </m:sSub>
                    <m:func>
                      <m:funcPr>
                        <m:ctrlPr>
                          <a:rPr lang="en-ZA" sz="2000" i="1" smtClean="0">
                            <a:latin typeface="Cambria Math"/>
                            <a:sym typeface="Symbol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ZA" sz="2000" i="0" smtClean="0">
                            <a:latin typeface="Cambria Math"/>
                            <a:sym typeface="Symbol"/>
                          </a:rPr>
                          <m:t>cos</m:t>
                        </m:r>
                      </m:fName>
                      <m:e>
                        <m:r>
                          <a:rPr lang="en-ZA" sz="2000" i="1" smtClean="0">
                            <a:latin typeface="Cambria Math"/>
                            <a:sym typeface="Symbol"/>
                          </a:rPr>
                          <m:t></m:t>
                        </m:r>
                      </m:e>
                    </m:func>
                    <m:r>
                      <a:rPr lang="en-ZA" sz="2000" b="0" i="1" smtClean="0">
                        <a:latin typeface="Cambria Math"/>
                        <a:sym typeface="Symbol"/>
                      </a:rPr>
                      <m:t>+</m:t>
                    </m:r>
                    <m:r>
                      <a:rPr lang="en-ZA" sz="2000" b="0" i="1" smtClean="0">
                        <a:latin typeface="Cambria Math"/>
                        <a:sym typeface="Symbol"/>
                      </a:rPr>
                      <m:t>𝑗</m:t>
                    </m:r>
                    <m:sSub>
                      <m:sSubPr>
                        <m:ctrlPr>
                          <a:rPr lang="en-ZA" sz="2000" i="1">
                            <a:latin typeface="Cambria Math"/>
                            <a:sym typeface="Symbol"/>
                          </a:rPr>
                        </m:ctrlPr>
                      </m:sSubPr>
                      <m:e>
                        <m:r>
                          <a:rPr lang="en-ZA" sz="2000" i="1">
                            <a:latin typeface="Cambria Math"/>
                            <a:sym typeface="Symbol"/>
                          </a:rPr>
                          <m:t>𝑉</m:t>
                        </m:r>
                      </m:e>
                      <m:sub>
                        <m:r>
                          <a:rPr lang="en-ZA" sz="2000" i="1">
                            <a:latin typeface="Cambria Math"/>
                            <a:sym typeface="Symbol"/>
                          </a:rPr>
                          <m:t>𝑚</m:t>
                        </m:r>
                      </m:sub>
                    </m:sSub>
                    <m:func>
                      <m:funcPr>
                        <m:ctrlPr>
                          <a:rPr lang="en-ZA" sz="2000" i="1" smtClean="0">
                            <a:latin typeface="Cambria Math"/>
                            <a:sym typeface="Symbol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ZA" sz="2000" i="0" smtClean="0">
                            <a:latin typeface="Cambria Math"/>
                            <a:sym typeface="Symbol"/>
                          </a:rPr>
                          <m:t>sin</m:t>
                        </m:r>
                      </m:fName>
                      <m:e>
                        <m:r>
                          <a:rPr lang="en-ZA" sz="2000" i="1">
                            <a:latin typeface="Cambria Math"/>
                            <a:sym typeface="Symbol"/>
                          </a:rPr>
                          <m:t></m:t>
                        </m:r>
                      </m:e>
                    </m:func>
                  </m:oMath>
                </a14:m>
                <a:endParaRPr lang="en-ZA" sz="2000" dirty="0" smtClean="0">
                  <a:sym typeface="Symbol"/>
                </a:endParaRPr>
              </a:p>
              <a:p>
                <a:r>
                  <a:rPr lang="en-ZA" sz="2000" dirty="0" smtClean="0">
                    <a:sym typeface="Symbol"/>
                  </a:rPr>
                  <a:t>   </a:t>
                </a:r>
                <a14:m>
                  <m:oMath xmlns:m="http://schemas.openxmlformats.org/officeDocument/2006/math">
                    <m:r>
                      <a:rPr lang="en-ZA" sz="2000" i="1">
                        <a:latin typeface="Cambria Math"/>
                        <a:sym typeface="Symbol"/>
                      </a:rPr>
                      <m:t>=</m:t>
                    </m:r>
                    <m:r>
                      <a:rPr lang="en-ZA" sz="2000" b="0" i="1" smtClean="0">
                        <a:latin typeface="Cambria Math"/>
                        <a:sym typeface="Symbol"/>
                      </a:rPr>
                      <m:t>𝑥</m:t>
                    </m:r>
                    <m:r>
                      <a:rPr lang="en-ZA" sz="2000" i="1">
                        <a:latin typeface="Cambria Math"/>
                        <a:sym typeface="Symbol"/>
                      </a:rPr>
                      <m:t>+</m:t>
                    </m:r>
                    <m:r>
                      <a:rPr lang="en-ZA" sz="2000" i="1">
                        <a:latin typeface="Cambria Math"/>
                        <a:sym typeface="Symbol"/>
                      </a:rPr>
                      <m:t>𝑗𝑦</m:t>
                    </m:r>
                  </m:oMath>
                </a14:m>
                <a:endParaRPr lang="en-ZA" sz="2000" dirty="0"/>
              </a:p>
            </p:txBody>
          </p:sp>
        </mc:Choice>
        <mc:Fallback xmlns="">
          <p:sp>
            <p:nvSpPr>
              <p:cNvPr id="12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8613" y="4882588"/>
                <a:ext cx="2872774" cy="1074461"/>
              </a:xfrm>
              <a:prstGeom prst="rect">
                <a:avLst/>
              </a:prstGeom>
              <a:blipFill rotWithShape="1">
                <a:blip r:embed="rId5"/>
                <a:stretch>
                  <a:fillRect b="-5114"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Arrow Connector 12"/>
          <p:cNvCxnSpPr/>
          <p:nvPr/>
        </p:nvCxnSpPr>
        <p:spPr bwMode="auto">
          <a:xfrm flipH="1">
            <a:off x="1818617" y="4343400"/>
            <a:ext cx="2192752" cy="419100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arrow" w="lg" len="lg"/>
          </a:ln>
          <a:extLst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/>
              <p:cNvSpPr/>
              <p:nvPr/>
            </p:nvSpPr>
            <p:spPr>
              <a:xfrm>
                <a:off x="5689600" y="4435772"/>
                <a:ext cx="3405099" cy="47359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ZA" sz="2400" i="1" smtClean="0">
                              <a:latin typeface="Cambria Math"/>
                              <a:sym typeface="Symbol"/>
                            </a:rPr>
                          </m:ctrlPr>
                        </m:sSupPr>
                        <m:e>
                          <m:r>
                            <a:rPr lang="en-ZA" sz="2400" i="1">
                              <a:latin typeface="Cambria Math"/>
                              <a:sym typeface="Symbol"/>
                            </a:rPr>
                            <m:t>𝑒</m:t>
                          </m:r>
                        </m:e>
                        <m:sup>
                          <m:r>
                            <a:rPr lang="en-ZA" sz="2400" i="1">
                              <a:latin typeface="Cambria Math"/>
                              <a:sym typeface="Symbol"/>
                            </a:rPr>
                            <m:t>𝑗</m:t>
                          </m:r>
                          <m:r>
                            <a:rPr lang="en-ZA" sz="2400" i="1">
                              <a:latin typeface="Cambria Math"/>
                              <a:ea typeface="Cambria Math"/>
                              <a:sym typeface="Symbol"/>
                            </a:rPr>
                            <m:t>𝜔</m:t>
                          </m:r>
                          <m:r>
                            <a:rPr lang="en-ZA" sz="2400" i="1">
                              <a:latin typeface="Cambria Math"/>
                              <a:ea typeface="Cambria Math"/>
                              <a:sym typeface="Symbol"/>
                            </a:rPr>
                            <m:t>𝑡</m:t>
                          </m:r>
                        </m:sup>
                      </m:sSup>
                      <m:r>
                        <a:rPr lang="en-ZA" sz="2400" b="0" i="1" smtClean="0">
                          <a:latin typeface="Cambria Math"/>
                          <a:ea typeface="Cambria Math"/>
                          <a:sym typeface="Symbol"/>
                        </a:rPr>
                        <m:t>=</m:t>
                      </m:r>
                      <m:func>
                        <m:funcPr>
                          <m:ctrlPr>
                            <a:rPr lang="en-ZA" sz="2400" i="1">
                              <a:latin typeface="Cambria Math"/>
                              <a:sym typeface="Symbol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ZA" sz="2400">
                              <a:latin typeface="Cambria Math"/>
                              <a:sym typeface="Symbol"/>
                            </a:rPr>
                            <m:t>cos</m:t>
                          </m:r>
                        </m:fName>
                        <m:e>
                          <m:r>
                            <a:rPr lang="en-ZA" sz="2400" i="1">
                              <a:latin typeface="Cambria Math"/>
                              <a:ea typeface="Cambria Math"/>
                              <a:sym typeface="Symbol"/>
                            </a:rPr>
                            <m:t>𝜔</m:t>
                          </m:r>
                          <m:r>
                            <a:rPr lang="en-ZA" sz="2400" i="1">
                              <a:latin typeface="Cambria Math"/>
                              <a:ea typeface="Cambria Math"/>
                              <a:sym typeface="Symbol"/>
                            </a:rPr>
                            <m:t>𝑡</m:t>
                          </m:r>
                        </m:e>
                      </m:func>
                      <m:r>
                        <a:rPr lang="en-ZA" sz="2400" i="1">
                          <a:latin typeface="Cambria Math"/>
                          <a:sym typeface="Symbol"/>
                        </a:rPr>
                        <m:t>+</m:t>
                      </m:r>
                      <m:r>
                        <a:rPr lang="en-ZA" sz="2400" i="1">
                          <a:latin typeface="Cambria Math"/>
                          <a:sym typeface="Symbol"/>
                        </a:rPr>
                        <m:t>𝑗</m:t>
                      </m:r>
                      <m:func>
                        <m:funcPr>
                          <m:ctrlPr>
                            <a:rPr lang="en-ZA" sz="2400" i="1">
                              <a:latin typeface="Cambria Math"/>
                              <a:sym typeface="Symbol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ZA" sz="2400">
                              <a:latin typeface="Cambria Math"/>
                              <a:sym typeface="Symbol"/>
                            </a:rPr>
                            <m:t>sin</m:t>
                          </m:r>
                        </m:fName>
                        <m:e>
                          <m:r>
                            <a:rPr lang="en-ZA" sz="2400" i="1">
                              <a:latin typeface="Cambria Math"/>
                              <a:ea typeface="Cambria Math"/>
                              <a:sym typeface="Symbol"/>
                            </a:rPr>
                            <m:t>𝜔</m:t>
                          </m:r>
                          <m:r>
                            <a:rPr lang="en-ZA" sz="2400" i="1">
                              <a:latin typeface="Cambria Math"/>
                              <a:ea typeface="Cambria Math"/>
                              <a:sym typeface="Symbol"/>
                            </a:rPr>
                            <m:t>𝑡</m:t>
                          </m:r>
                        </m:e>
                      </m:func>
                    </m:oMath>
                  </m:oMathPara>
                </a14:m>
                <a:endParaRPr lang="en-ZA" sz="2400" dirty="0"/>
              </a:p>
            </p:txBody>
          </p:sp>
        </mc:Choice>
        <mc:Fallback xmlns="">
          <p:sp>
            <p:nvSpPr>
              <p:cNvPr id="18" name="Rectangle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9600" y="4435772"/>
                <a:ext cx="3405099" cy="473591"/>
              </a:xfrm>
              <a:prstGeom prst="rect">
                <a:avLst/>
              </a:prstGeom>
              <a:blipFill rotWithShape="1">
                <a:blip r:embed="rId6"/>
                <a:stretch>
                  <a:fillRect b="-19481"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Straight Arrow Connector 18"/>
          <p:cNvCxnSpPr/>
          <p:nvPr/>
        </p:nvCxnSpPr>
        <p:spPr bwMode="auto">
          <a:xfrm>
            <a:off x="4457700" y="4254500"/>
            <a:ext cx="1231900" cy="418068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arrow" w="lg" len="lg"/>
          </a:ln>
          <a:extLst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pic>
        <p:nvPicPr>
          <p:cNvPr id="23" name="Picture 3" descr="ale29559_09007"/>
          <p:cNvPicPr>
            <a:picLocks noChangeAspect="1" noChangeArrowheads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100"/>
          <a:stretch/>
        </p:blipFill>
        <p:spPr bwMode="auto">
          <a:xfrm>
            <a:off x="3630369" y="4945398"/>
            <a:ext cx="3912476" cy="171867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555996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8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DBEB72-C004-46D1-9992-458CC43F3DD8}" type="slidenum">
              <a:rPr lang="en-US" smtClean="0"/>
              <a:pPr/>
              <a:t>23</a:t>
            </a:fld>
            <a:endParaRPr lang="en-US"/>
          </a:p>
        </p:txBody>
      </p:sp>
      <p:pic>
        <p:nvPicPr>
          <p:cNvPr id="398338" name="Picture 2" descr="http://www.rkm.com.au/ANIMATIONS/animation-graphics/sine-wave-graph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7699" y="2404446"/>
            <a:ext cx="5096245" cy="382218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>
            <a:off x="1250155" y="6299200"/>
            <a:ext cx="66294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ZA" dirty="0" smtClean="0"/>
              <a:t>http://</a:t>
            </a:r>
            <a:r>
              <a:rPr lang="en-ZA" dirty="0" smtClean="0">
                <a:hlinkClick r:id="rId3"/>
              </a:rPr>
              <a:t>www.rkm.com.au/ANIMATIONS/animation-sine-wave.html</a:t>
            </a:r>
            <a:endParaRPr lang="en-ZA" dirty="0"/>
          </a:p>
        </p:txBody>
      </p:sp>
      <p:sp>
        <p:nvSpPr>
          <p:cNvPr id="5" name="Rectangle 4"/>
          <p:cNvSpPr txBox="1">
            <a:spLocks noChangeArrowheads="1"/>
          </p:cNvSpPr>
          <p:nvPr/>
        </p:nvSpPr>
        <p:spPr>
          <a:xfrm>
            <a:off x="442913" y="103188"/>
            <a:ext cx="8243887" cy="1027112"/>
          </a:xfrm>
          <a:prstGeom prst="rect">
            <a:avLst/>
          </a:prstGeom>
        </p:spPr>
        <p:txBody>
          <a:bodyPr anchor="t"/>
          <a:lstStyle>
            <a:lvl1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2pPr>
            <a:lvl3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3pPr>
            <a:lvl4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4pPr>
            <a:lvl5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5pPr>
            <a:lvl6pPr marL="4572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6pPr>
            <a:lvl7pPr marL="9144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7pPr>
            <a:lvl8pPr marL="13716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8pPr>
            <a:lvl9pPr marL="18288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9pPr>
          </a:lstStyle>
          <a:p>
            <a:r>
              <a:rPr lang="en-US" sz="2800" dirty="0" smtClean="0"/>
              <a:t>9.3 </a:t>
            </a:r>
            <a:r>
              <a:rPr lang="en-US" sz="2800" dirty="0" err="1" smtClean="0"/>
              <a:t>Phasors</a:t>
            </a:r>
            <a:r>
              <a:rPr lang="en-US" sz="4000" dirty="0" smtClean="0"/>
              <a:t/>
            </a:r>
            <a:br>
              <a:rPr lang="en-US" sz="4000" dirty="0" smtClean="0"/>
            </a:br>
            <a:r>
              <a:rPr lang="en-US" sz="4000" dirty="0" smtClean="0">
                <a:solidFill>
                  <a:srgbClr val="FF0000"/>
                </a:solidFill>
              </a:rPr>
              <a:t>AC signal as a </a:t>
            </a:r>
            <a:r>
              <a:rPr lang="en-US" sz="4000" dirty="0" err="1" smtClean="0">
                <a:solidFill>
                  <a:srgbClr val="FF0000"/>
                </a:solidFill>
              </a:rPr>
              <a:t>Phasor</a:t>
            </a:r>
            <a:endParaRPr lang="en-US" sz="40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3615365" y="1106282"/>
                <a:ext cx="1898981" cy="43826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 eaLnBrk="0" hangingPunct="0">
                  <a:spcBef>
                    <a:spcPts val="0"/>
                  </a:spcBef>
                </a:pPr>
                <a14:m>
                  <m:oMath xmlns:m="http://schemas.openxmlformats.org/officeDocument/2006/math">
                    <m:r>
                      <a:rPr lang="en-ZA" sz="2000" i="1">
                        <a:latin typeface="Cambria Math"/>
                        <a:sym typeface="Symbol"/>
                      </a:rPr>
                      <m:t>𝑅𝑒</m:t>
                    </m:r>
                    <m:d>
                      <m:dPr>
                        <m:begChr m:val="{"/>
                        <m:endChr m:val="}"/>
                        <m:ctrlPr>
                          <a:rPr lang="en-ZA" sz="2000" i="1">
                            <a:latin typeface="Cambria Math"/>
                            <a:sym typeface="Symbol"/>
                          </a:rPr>
                        </m:ctrlPr>
                      </m:dPr>
                      <m:e>
                        <m:r>
                          <a:rPr lang="en-ZA" sz="2000" b="1" i="1">
                            <a:latin typeface="Cambria Math"/>
                            <a:sym typeface="Symbol"/>
                          </a:rPr>
                          <m:t>𝑽</m:t>
                        </m:r>
                        <m:sSup>
                          <m:sSupPr>
                            <m:ctrlPr>
                              <a:rPr lang="en-ZA" sz="2000" i="1">
                                <a:latin typeface="Cambria Math"/>
                                <a:sym typeface="Symbol"/>
                              </a:rPr>
                            </m:ctrlPr>
                          </m:sSupPr>
                          <m:e>
                            <m:r>
                              <a:rPr lang="en-ZA" sz="2000" i="1">
                                <a:latin typeface="Cambria Math"/>
                                <a:sym typeface="Symbol"/>
                              </a:rPr>
                              <m:t>𝑒</m:t>
                            </m:r>
                          </m:e>
                          <m:sup>
                            <m:r>
                              <a:rPr lang="en-ZA" sz="2000" i="1">
                                <a:latin typeface="Cambria Math"/>
                                <a:sym typeface="Symbol"/>
                              </a:rPr>
                              <m:t>𝑗</m:t>
                            </m:r>
                            <m:r>
                              <a:rPr lang="en-ZA" sz="2000" i="1">
                                <a:latin typeface="Cambria Math"/>
                                <a:ea typeface="Cambria Math"/>
                                <a:sym typeface="Symbol"/>
                              </a:rPr>
                              <m:t>𝜔</m:t>
                            </m:r>
                            <m:r>
                              <a:rPr lang="en-ZA" sz="2000" i="1">
                                <a:latin typeface="Cambria Math"/>
                                <a:ea typeface="Cambria Math"/>
                                <a:sym typeface="Symbol"/>
                              </a:rPr>
                              <m:t>𝑡</m:t>
                            </m:r>
                          </m:sup>
                        </m:sSup>
                      </m:e>
                    </m:d>
                  </m:oMath>
                </a14:m>
                <a:r>
                  <a:rPr lang="en-ZA" sz="2000" dirty="0">
                    <a:latin typeface="Times New Roman" pitchFamily="18" charset="0"/>
                    <a:sym typeface="Symbol"/>
                  </a:rPr>
                  <a:t>         </a:t>
                </a:r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15365" y="1106282"/>
                <a:ext cx="1898981" cy="438262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2417617" y="1544544"/>
                <a:ext cx="3976410" cy="84292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p>
                      <m:sSupPr>
                        <m:ctrlPr>
                          <a:rPr lang="en-ZA" sz="2400" i="1" smtClean="0">
                            <a:latin typeface="Cambria Math"/>
                            <a:sym typeface="Symbol"/>
                          </a:rPr>
                        </m:ctrlPr>
                      </m:sSupPr>
                      <m:e>
                        <m:r>
                          <a:rPr lang="en-ZA" sz="2400" i="1">
                            <a:latin typeface="Cambria Math"/>
                            <a:sym typeface="Symbol"/>
                          </a:rPr>
                          <m:t>𝑒</m:t>
                        </m:r>
                      </m:e>
                      <m:sup>
                        <m:r>
                          <a:rPr lang="en-ZA" sz="2400" i="1">
                            <a:latin typeface="Cambria Math"/>
                            <a:sym typeface="Symbol"/>
                          </a:rPr>
                          <m:t>𝑗</m:t>
                        </m:r>
                        <m:r>
                          <a:rPr lang="en-ZA" sz="2400" i="1">
                            <a:latin typeface="Cambria Math"/>
                            <a:ea typeface="Cambria Math"/>
                            <a:sym typeface="Symbol"/>
                          </a:rPr>
                          <m:t>𝜔</m:t>
                        </m:r>
                        <m:r>
                          <a:rPr lang="en-ZA" sz="2400" i="1">
                            <a:latin typeface="Cambria Math"/>
                            <a:ea typeface="Cambria Math"/>
                            <a:sym typeface="Symbol"/>
                          </a:rPr>
                          <m:t>𝑡</m:t>
                        </m:r>
                      </m:sup>
                    </m:sSup>
                    <m:r>
                      <a:rPr lang="en-ZA" sz="2400" b="0" i="1" smtClean="0">
                        <a:latin typeface="Cambria Math"/>
                        <a:ea typeface="Cambria Math"/>
                        <a:sym typeface="Symbol"/>
                      </a:rPr>
                      <m:t>=</m:t>
                    </m:r>
                    <m:func>
                      <m:funcPr>
                        <m:ctrlPr>
                          <a:rPr lang="en-ZA" sz="2400" i="1">
                            <a:latin typeface="Cambria Math"/>
                            <a:sym typeface="Symbol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ZA" sz="2400">
                            <a:latin typeface="Cambria Math"/>
                            <a:sym typeface="Symbol"/>
                          </a:rPr>
                          <m:t>cos</m:t>
                        </m:r>
                      </m:fName>
                      <m:e>
                        <m:r>
                          <a:rPr lang="en-ZA" sz="2400" i="1">
                            <a:latin typeface="Cambria Math"/>
                            <a:ea typeface="Cambria Math"/>
                            <a:sym typeface="Symbol"/>
                          </a:rPr>
                          <m:t>𝜔</m:t>
                        </m:r>
                        <m:r>
                          <a:rPr lang="en-ZA" sz="2400" i="1">
                            <a:latin typeface="Cambria Math"/>
                            <a:ea typeface="Cambria Math"/>
                            <a:sym typeface="Symbol"/>
                          </a:rPr>
                          <m:t>𝑡</m:t>
                        </m:r>
                      </m:e>
                    </m:func>
                    <m:r>
                      <a:rPr lang="en-ZA" sz="2400" i="1">
                        <a:latin typeface="Cambria Math"/>
                        <a:sym typeface="Symbol"/>
                      </a:rPr>
                      <m:t>+</m:t>
                    </m:r>
                    <m:r>
                      <a:rPr lang="en-ZA" sz="2400" i="1">
                        <a:latin typeface="Cambria Math"/>
                        <a:sym typeface="Symbol"/>
                      </a:rPr>
                      <m:t>𝑗</m:t>
                    </m:r>
                    <m:func>
                      <m:funcPr>
                        <m:ctrlPr>
                          <a:rPr lang="en-ZA" sz="2400" i="1">
                            <a:latin typeface="Cambria Math"/>
                            <a:sym typeface="Symbol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ZA" sz="2400">
                            <a:latin typeface="Cambria Math"/>
                            <a:sym typeface="Symbol"/>
                          </a:rPr>
                          <m:t>sin</m:t>
                        </m:r>
                      </m:fName>
                      <m:e>
                        <m:r>
                          <a:rPr lang="en-ZA" sz="2400" i="1">
                            <a:latin typeface="Cambria Math"/>
                            <a:ea typeface="Cambria Math"/>
                            <a:sym typeface="Symbol"/>
                          </a:rPr>
                          <m:t>𝜔</m:t>
                        </m:r>
                        <m:r>
                          <a:rPr lang="en-ZA" sz="2400" i="1">
                            <a:latin typeface="Cambria Math"/>
                            <a:ea typeface="Cambria Math"/>
                            <a:sym typeface="Symbol"/>
                          </a:rPr>
                          <m:t>𝑡</m:t>
                        </m:r>
                      </m:e>
                    </m:func>
                  </m:oMath>
                </a14:m>
                <a:r>
                  <a:rPr lang="en-ZA" sz="2400" dirty="0" smtClean="0"/>
                  <a:t>:  </a:t>
                </a:r>
              </a:p>
              <a:p>
                <a:pPr algn="ctr"/>
                <a:r>
                  <a:rPr lang="en-ZA" sz="2400" dirty="0" smtClean="0"/>
                  <a:t>A rotating </a:t>
                </a:r>
                <a:r>
                  <a:rPr lang="en-ZA" sz="2400" dirty="0" err="1" smtClean="0"/>
                  <a:t>phasor</a:t>
                </a:r>
                <a:r>
                  <a:rPr lang="en-ZA" sz="2400" dirty="0" smtClean="0"/>
                  <a:t> @ </a:t>
                </a:r>
                <a:r>
                  <a:rPr lang="en-ZA" sz="2400" dirty="0" smtClean="0">
                    <a:sym typeface="Symbol"/>
                  </a:rPr>
                  <a:t> rad/s</a:t>
                </a:r>
                <a:endParaRPr lang="en-ZA" sz="2400" dirty="0"/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7617" y="1544544"/>
                <a:ext cx="3976410" cy="842923"/>
              </a:xfrm>
              <a:prstGeom prst="rect">
                <a:avLst/>
              </a:prstGeom>
              <a:blipFill rotWithShape="1">
                <a:blip r:embed="rId5"/>
                <a:stretch>
                  <a:fillRect l="-2147" t="-3597" r="-1840" b="-15827"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102066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2D189-48BE-41DC-B57B-A515FBF954DE}" type="slidenum">
              <a:rPr lang="en-US"/>
              <a:pPr/>
              <a:t>24</a:t>
            </a:fld>
            <a:endParaRPr lang="en-US"/>
          </a:p>
        </p:txBody>
      </p:sp>
      <p:sp>
        <p:nvSpPr>
          <p:cNvPr id="250882" name="Rectangle 2"/>
          <p:cNvSpPr>
            <a:spLocks noGrp="1" noChangeArrowheads="1"/>
          </p:cNvSpPr>
          <p:nvPr>
            <p:ph type="body" sz="half" idx="1"/>
          </p:nvPr>
        </p:nvSpPr>
        <p:spPr>
          <a:xfrm>
            <a:off x="266700" y="1130300"/>
            <a:ext cx="8305800" cy="2436812"/>
          </a:xfrm>
        </p:spPr>
        <p:txBody>
          <a:bodyPr/>
          <a:lstStyle/>
          <a:p>
            <a:pPr marL="623888" indent="-398463">
              <a:lnSpc>
                <a:spcPct val="90000"/>
              </a:lnSpc>
            </a:pPr>
            <a:r>
              <a:rPr lang="en-US" sz="2400" dirty="0"/>
              <a:t>Transform a sinusoid </a:t>
            </a:r>
            <a:r>
              <a:rPr lang="en-US" altLang="zh-TW" sz="2400" dirty="0">
                <a:ea typeface="PMingLiU" pitchFamily="18" charset="-120"/>
              </a:rPr>
              <a:t>to and from the time  domain to the </a:t>
            </a:r>
            <a:r>
              <a:rPr lang="en-US" altLang="zh-TW" sz="2400" dirty="0" err="1">
                <a:ea typeface="PMingLiU" pitchFamily="18" charset="-120"/>
              </a:rPr>
              <a:t>phasor</a:t>
            </a:r>
            <a:r>
              <a:rPr lang="en-US" altLang="zh-TW" sz="2400" dirty="0">
                <a:ea typeface="PMingLiU" pitchFamily="18" charset="-120"/>
              </a:rPr>
              <a:t> domain:</a:t>
            </a:r>
          </a:p>
          <a:p>
            <a:pPr marL="623888" indent="-398463">
              <a:lnSpc>
                <a:spcPct val="90000"/>
              </a:lnSpc>
              <a:buFontTx/>
              <a:buNone/>
            </a:pPr>
            <a:r>
              <a:rPr lang="en-US" altLang="zh-TW" sz="2400" dirty="0">
                <a:ea typeface="PMingLiU" pitchFamily="18" charset="-120"/>
              </a:rPr>
              <a:t>    </a:t>
            </a:r>
          </a:p>
          <a:p>
            <a:pPr marL="623888" indent="-398463">
              <a:lnSpc>
                <a:spcPct val="90000"/>
              </a:lnSpc>
              <a:buFontTx/>
              <a:buNone/>
            </a:pPr>
            <a:endParaRPr lang="en-US" altLang="zh-TW" sz="2400" dirty="0">
              <a:ea typeface="PMingLiU" pitchFamily="18" charset="-120"/>
            </a:endParaRPr>
          </a:p>
          <a:p>
            <a:pPr marL="623888" indent="-398463">
              <a:lnSpc>
                <a:spcPct val="90000"/>
              </a:lnSpc>
              <a:buFontTx/>
              <a:buNone/>
            </a:pPr>
            <a:r>
              <a:rPr lang="en-US" altLang="zh-TW" sz="2800" dirty="0">
                <a:ea typeface="PMingLiU" pitchFamily="18" charset="-120"/>
              </a:rPr>
              <a:t>	</a:t>
            </a:r>
          </a:p>
          <a:p>
            <a:pPr marL="623888" indent="-398463">
              <a:lnSpc>
                <a:spcPct val="90000"/>
              </a:lnSpc>
              <a:buFontTx/>
              <a:buNone/>
            </a:pPr>
            <a:r>
              <a:rPr lang="en-US" altLang="zh-TW" sz="2800" dirty="0">
                <a:ea typeface="PMingLiU" pitchFamily="18" charset="-120"/>
              </a:rPr>
              <a:t> (time domain) 		(</a:t>
            </a:r>
            <a:r>
              <a:rPr lang="en-US" altLang="zh-TW" sz="2800" dirty="0" err="1">
                <a:ea typeface="PMingLiU" pitchFamily="18" charset="-120"/>
              </a:rPr>
              <a:t>phasor</a:t>
            </a:r>
            <a:r>
              <a:rPr lang="en-US" altLang="zh-TW" sz="2800" dirty="0">
                <a:ea typeface="PMingLiU" pitchFamily="18" charset="-120"/>
              </a:rPr>
              <a:t> domain)</a:t>
            </a:r>
            <a:endParaRPr lang="en-US" sz="2800" dirty="0"/>
          </a:p>
          <a:p>
            <a:pPr marL="623888" indent="-398463">
              <a:lnSpc>
                <a:spcPct val="90000"/>
              </a:lnSpc>
              <a:buFontTx/>
              <a:buNone/>
            </a:pPr>
            <a:endParaRPr lang="en-US" sz="2800" dirty="0"/>
          </a:p>
        </p:txBody>
      </p:sp>
      <p:sp>
        <p:nvSpPr>
          <p:cNvPr id="250884" name="Rectangle 4"/>
          <p:cNvSpPr>
            <a:spLocks noChangeArrowheads="1"/>
          </p:cNvSpPr>
          <p:nvPr/>
        </p:nvSpPr>
        <p:spPr bwMode="auto">
          <a:xfrm>
            <a:off x="0" y="32146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ZA"/>
          </a:p>
        </p:txBody>
      </p:sp>
      <p:sp>
        <p:nvSpPr>
          <p:cNvPr id="250885" name="Rectangle 5"/>
          <p:cNvSpPr>
            <a:spLocks noChangeArrowheads="1"/>
          </p:cNvSpPr>
          <p:nvPr/>
        </p:nvSpPr>
        <p:spPr bwMode="auto">
          <a:xfrm>
            <a:off x="0" y="31813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ZA"/>
          </a:p>
        </p:txBody>
      </p:sp>
      <p:sp>
        <p:nvSpPr>
          <p:cNvPr id="250886" name="Rectangle 6"/>
          <p:cNvSpPr>
            <a:spLocks noChangeArrowheads="1"/>
          </p:cNvSpPr>
          <p:nvPr/>
        </p:nvSpPr>
        <p:spPr bwMode="auto">
          <a:xfrm>
            <a:off x="0" y="32385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ZA"/>
          </a:p>
        </p:txBody>
      </p:sp>
      <p:sp>
        <p:nvSpPr>
          <p:cNvPr id="250887" name="Rectangle 7"/>
          <p:cNvSpPr>
            <a:spLocks noChangeArrowheads="1"/>
          </p:cNvSpPr>
          <p:nvPr/>
        </p:nvSpPr>
        <p:spPr bwMode="auto">
          <a:xfrm>
            <a:off x="0" y="32385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ZA"/>
          </a:p>
        </p:txBody>
      </p:sp>
      <p:sp>
        <p:nvSpPr>
          <p:cNvPr id="250889" name="Rectangle 9"/>
          <p:cNvSpPr>
            <a:spLocks noChangeArrowheads="1"/>
          </p:cNvSpPr>
          <p:nvPr/>
        </p:nvSpPr>
        <p:spPr bwMode="auto">
          <a:xfrm>
            <a:off x="0" y="32385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ZA"/>
          </a:p>
        </p:txBody>
      </p:sp>
      <p:sp>
        <p:nvSpPr>
          <p:cNvPr id="250892" name="Rectangle 12"/>
          <p:cNvSpPr>
            <a:spLocks noChangeArrowheads="1"/>
          </p:cNvSpPr>
          <p:nvPr/>
        </p:nvSpPr>
        <p:spPr bwMode="auto">
          <a:xfrm>
            <a:off x="0" y="31242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ZA"/>
          </a:p>
        </p:txBody>
      </p:sp>
      <p:sp>
        <p:nvSpPr>
          <p:cNvPr id="250893" name="Rectangle 13"/>
          <p:cNvSpPr>
            <a:spLocks noChangeArrowheads="1"/>
          </p:cNvSpPr>
          <p:nvPr/>
        </p:nvSpPr>
        <p:spPr bwMode="auto">
          <a:xfrm>
            <a:off x="0" y="32527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ZA"/>
          </a:p>
        </p:txBody>
      </p:sp>
      <p:sp>
        <p:nvSpPr>
          <p:cNvPr id="250895" name="Rectangle 1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ZA"/>
          </a:p>
        </p:txBody>
      </p:sp>
      <p:sp>
        <p:nvSpPr>
          <p:cNvPr id="250898" name="Rectangle 1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ZA"/>
          </a:p>
        </p:txBody>
      </p:sp>
      <p:sp>
        <p:nvSpPr>
          <p:cNvPr id="250900" name="Rectangle 20"/>
          <p:cNvSpPr>
            <a:spLocks noChangeArrowheads="1"/>
          </p:cNvSpPr>
          <p:nvPr/>
        </p:nvSpPr>
        <p:spPr bwMode="auto">
          <a:xfrm>
            <a:off x="0" y="32480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ZA"/>
          </a:p>
        </p:txBody>
      </p:sp>
      <p:sp>
        <p:nvSpPr>
          <p:cNvPr id="250902" name="Rectangle 22"/>
          <p:cNvSpPr>
            <a:spLocks noChangeArrowheads="1"/>
          </p:cNvSpPr>
          <p:nvPr/>
        </p:nvSpPr>
        <p:spPr bwMode="auto">
          <a:xfrm>
            <a:off x="0" y="32480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ZA"/>
          </a:p>
        </p:txBody>
      </p:sp>
      <p:sp>
        <p:nvSpPr>
          <p:cNvPr id="250904" name="Rectangle 24"/>
          <p:cNvSpPr>
            <a:spLocks noChangeArrowheads="1"/>
          </p:cNvSpPr>
          <p:nvPr/>
        </p:nvSpPr>
        <p:spPr bwMode="auto">
          <a:xfrm>
            <a:off x="0" y="32480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ZA"/>
          </a:p>
        </p:txBody>
      </p:sp>
      <p:sp>
        <p:nvSpPr>
          <p:cNvPr id="250906" name="Rectangle 26"/>
          <p:cNvSpPr>
            <a:spLocks noChangeArrowheads="1"/>
          </p:cNvSpPr>
          <p:nvPr/>
        </p:nvSpPr>
        <p:spPr bwMode="auto">
          <a:xfrm>
            <a:off x="0" y="32480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ZA"/>
          </a:p>
        </p:txBody>
      </p:sp>
      <p:grpSp>
        <p:nvGrpSpPr>
          <p:cNvPr id="250908" name="Group 28"/>
          <p:cNvGrpSpPr>
            <a:grpSpLocks/>
          </p:cNvGrpSpPr>
          <p:nvPr/>
        </p:nvGrpSpPr>
        <p:grpSpPr bwMode="auto">
          <a:xfrm>
            <a:off x="774700" y="2230437"/>
            <a:ext cx="7086600" cy="728663"/>
            <a:chOff x="288" y="1941"/>
            <a:chExt cx="4464" cy="459"/>
          </a:xfrm>
        </p:grpSpPr>
        <p:graphicFrame>
          <p:nvGraphicFramePr>
            <p:cNvPr id="250897" name="Object 17"/>
            <p:cNvGraphicFramePr>
              <a:graphicFrameLocks noChangeAspect="1"/>
            </p:cNvGraphicFramePr>
            <p:nvPr/>
          </p:nvGraphicFramePr>
          <p:xfrm>
            <a:off x="288" y="1941"/>
            <a:ext cx="2352" cy="4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1141" name="Equation" r:id="rId3" imgW="1295400" imgH="228600" progId="Equation.3">
                    <p:embed/>
                  </p:oleObj>
                </mc:Choice>
                <mc:Fallback>
                  <p:oleObj name="Equation" r:id="rId3" imgW="1295400" imgH="228600" progId="Equation.3">
                    <p:embed/>
                    <p:pic>
                      <p:nvPicPr>
                        <p:cNvPr id="0" name="Object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8" y="1941"/>
                          <a:ext cx="2352" cy="411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0903" name="Object 23"/>
            <p:cNvGraphicFramePr>
              <a:graphicFrameLocks noChangeAspect="1"/>
            </p:cNvGraphicFramePr>
            <p:nvPr/>
          </p:nvGraphicFramePr>
          <p:xfrm>
            <a:off x="3456" y="1979"/>
            <a:ext cx="1296" cy="42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1142" name="Equation" r:id="rId5" imgW="711200" imgH="228600" progId="Equation.3">
                    <p:embed/>
                  </p:oleObj>
                </mc:Choice>
                <mc:Fallback>
                  <p:oleObj name="Equation" r:id="rId5" imgW="711200" imgH="228600" progId="Equation.3">
                    <p:embed/>
                    <p:pic>
                      <p:nvPicPr>
                        <p:cNvPr id="0" name="Object 2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56" y="1979"/>
                          <a:ext cx="1296" cy="421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50907" name="Line 27"/>
            <p:cNvSpPr>
              <a:spLocks noChangeShapeType="1"/>
            </p:cNvSpPr>
            <p:nvPr/>
          </p:nvSpPr>
          <p:spPr bwMode="auto">
            <a:xfrm>
              <a:off x="2784" y="2160"/>
              <a:ext cx="496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ZA"/>
            </a:p>
          </p:txBody>
        </p:sp>
      </p:grpSp>
      <p:sp>
        <p:nvSpPr>
          <p:cNvPr id="250909" name="Text Box 29"/>
          <p:cNvSpPr txBox="1">
            <a:spLocks noChangeArrowheads="1"/>
          </p:cNvSpPr>
          <p:nvPr/>
        </p:nvSpPr>
        <p:spPr bwMode="auto">
          <a:xfrm>
            <a:off x="914400" y="4495800"/>
            <a:ext cx="70866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endParaRPr lang="en-US">
              <a:latin typeface="Verdana" pitchFamily="34" charset="0"/>
            </a:endParaRPr>
          </a:p>
        </p:txBody>
      </p:sp>
      <p:sp>
        <p:nvSpPr>
          <p:cNvPr id="250910" name="Text Box 30"/>
          <p:cNvSpPr txBox="1">
            <a:spLocks noChangeArrowheads="1"/>
          </p:cNvSpPr>
          <p:nvPr/>
        </p:nvSpPr>
        <p:spPr bwMode="auto">
          <a:xfrm>
            <a:off x="381000" y="3646724"/>
            <a:ext cx="8077200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06400" indent="-347663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579438">
              <a:defRPr>
                <a:solidFill>
                  <a:schemeClr val="tx1"/>
                </a:solidFill>
                <a:latin typeface="Arial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0" hangingPunct="0">
              <a:buClr>
                <a:schemeClr val="tx1"/>
              </a:buClr>
              <a:buFontTx/>
              <a:buChar char="•"/>
            </a:pPr>
            <a:r>
              <a:rPr lang="en-US" sz="2400" u="sng" dirty="0">
                <a:solidFill>
                  <a:srgbClr val="FF3300"/>
                </a:solidFill>
                <a:latin typeface="Verdana" pitchFamily="34" charset="0"/>
              </a:rPr>
              <a:t>Amplitude</a:t>
            </a:r>
            <a:r>
              <a:rPr lang="en-US" sz="2400" dirty="0">
                <a:latin typeface="Verdana" pitchFamily="34" charset="0"/>
              </a:rPr>
              <a:t> and </a:t>
            </a:r>
            <a:r>
              <a:rPr lang="en-US" sz="2400" u="sng" dirty="0">
                <a:solidFill>
                  <a:srgbClr val="FF3300"/>
                </a:solidFill>
                <a:latin typeface="Verdana" pitchFamily="34" charset="0"/>
              </a:rPr>
              <a:t>phase difference</a:t>
            </a:r>
            <a:r>
              <a:rPr lang="en-US" sz="2400" dirty="0">
                <a:latin typeface="Verdana" pitchFamily="34" charset="0"/>
              </a:rPr>
              <a:t> are two principal    concerns in the study of voltage and current sinusoids. </a:t>
            </a:r>
          </a:p>
          <a:p>
            <a:pPr eaLnBrk="0" hangingPunct="0">
              <a:buClr>
                <a:schemeClr val="tx1"/>
              </a:buClr>
              <a:buFontTx/>
              <a:buChar char="•"/>
            </a:pPr>
            <a:r>
              <a:rPr lang="en-US" sz="2400" dirty="0" err="1">
                <a:latin typeface="Verdana" pitchFamily="34" charset="0"/>
              </a:rPr>
              <a:t>Phasor</a:t>
            </a:r>
            <a:r>
              <a:rPr lang="en-US" sz="2400" dirty="0">
                <a:latin typeface="Verdana" pitchFamily="34" charset="0"/>
              </a:rPr>
              <a:t> will be defined from the </a:t>
            </a:r>
            <a:r>
              <a:rPr lang="en-US" sz="2400" u="sng" dirty="0">
                <a:solidFill>
                  <a:srgbClr val="FF3300"/>
                </a:solidFill>
                <a:latin typeface="Verdana" pitchFamily="34" charset="0"/>
              </a:rPr>
              <a:t>cosine function</a:t>
            </a:r>
            <a:r>
              <a:rPr lang="en-US" sz="2400" dirty="0">
                <a:latin typeface="Verdana" pitchFamily="34" charset="0"/>
              </a:rPr>
              <a:t> in all our proceeding study. </a:t>
            </a:r>
            <a:r>
              <a:rPr lang="en-US" sz="2400" u="sng" dirty="0">
                <a:latin typeface="Verdana" pitchFamily="34" charset="0"/>
              </a:rPr>
              <a:t>If a voltage or current expression is in the form of a sine, it will be changed to a cosine by subtracting from the phase</a:t>
            </a:r>
            <a:r>
              <a:rPr lang="en-US" sz="2400" dirty="0">
                <a:latin typeface="Verdana" pitchFamily="34" charset="0"/>
              </a:rPr>
              <a:t>.</a:t>
            </a:r>
          </a:p>
        </p:txBody>
      </p:sp>
      <p:sp>
        <p:nvSpPr>
          <p:cNvPr id="26" name="Rectangle 4"/>
          <p:cNvSpPr txBox="1">
            <a:spLocks noChangeArrowheads="1"/>
          </p:cNvSpPr>
          <p:nvPr/>
        </p:nvSpPr>
        <p:spPr>
          <a:xfrm>
            <a:off x="442913" y="103188"/>
            <a:ext cx="8243887" cy="1027112"/>
          </a:xfrm>
          <a:prstGeom prst="rect">
            <a:avLst/>
          </a:prstGeom>
        </p:spPr>
        <p:txBody>
          <a:bodyPr anchor="t"/>
          <a:lstStyle>
            <a:lvl1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2pPr>
            <a:lvl3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3pPr>
            <a:lvl4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4pPr>
            <a:lvl5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5pPr>
            <a:lvl6pPr marL="4572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6pPr>
            <a:lvl7pPr marL="9144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7pPr>
            <a:lvl8pPr marL="13716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8pPr>
            <a:lvl9pPr marL="18288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9pPr>
          </a:lstStyle>
          <a:p>
            <a:r>
              <a:rPr lang="en-US" sz="2800" dirty="0" smtClean="0"/>
              <a:t>9.3 </a:t>
            </a:r>
            <a:r>
              <a:rPr lang="en-US" sz="2800" dirty="0" err="1" smtClean="0"/>
              <a:t>Phasors</a:t>
            </a:r>
            <a:r>
              <a:rPr lang="en-US" sz="4000" dirty="0" smtClean="0"/>
              <a:t/>
            </a:r>
            <a:br>
              <a:rPr lang="en-US" sz="4000" dirty="0" smtClean="0"/>
            </a:br>
            <a:r>
              <a:rPr lang="en-US" sz="4000" dirty="0" smtClean="0">
                <a:solidFill>
                  <a:srgbClr val="FF0000"/>
                </a:solidFill>
              </a:rPr>
              <a:t>Transformations</a:t>
            </a:r>
            <a:endParaRPr lang="en-US" sz="40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9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509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9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509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C22A78-8182-438C-B4E0-076DB970EBDC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6" name="Rectangle 4"/>
          <p:cNvSpPr txBox="1">
            <a:spLocks noChangeArrowheads="1"/>
          </p:cNvSpPr>
          <p:nvPr/>
        </p:nvSpPr>
        <p:spPr>
          <a:xfrm>
            <a:off x="0" y="103188"/>
            <a:ext cx="9143999" cy="1027112"/>
          </a:xfrm>
          <a:prstGeom prst="rect">
            <a:avLst/>
          </a:prstGeom>
        </p:spPr>
        <p:txBody>
          <a:bodyPr anchor="t"/>
          <a:lstStyle>
            <a:lvl1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2pPr>
            <a:lvl3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3pPr>
            <a:lvl4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4pPr>
            <a:lvl5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5pPr>
            <a:lvl6pPr marL="4572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6pPr>
            <a:lvl7pPr marL="9144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7pPr>
            <a:lvl8pPr marL="13716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8pPr>
            <a:lvl9pPr marL="18288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9pPr>
          </a:lstStyle>
          <a:p>
            <a:r>
              <a:rPr lang="en-US" sz="2800" dirty="0" smtClean="0"/>
              <a:t>9.3 </a:t>
            </a:r>
            <a:r>
              <a:rPr lang="en-US" sz="2800" dirty="0" err="1" smtClean="0"/>
              <a:t>Phasors</a:t>
            </a:r>
            <a:r>
              <a:rPr lang="en-US" sz="4000" dirty="0" smtClean="0"/>
              <a:t/>
            </a:r>
            <a:br>
              <a:rPr lang="en-US" sz="4000" dirty="0" smtClean="0"/>
            </a:br>
            <a:r>
              <a:rPr lang="en-US" sz="4000" dirty="0" smtClean="0">
                <a:solidFill>
                  <a:srgbClr val="FF0000"/>
                </a:solidFill>
              </a:rPr>
              <a:t>Sinusoid-</a:t>
            </a:r>
            <a:r>
              <a:rPr lang="en-US" sz="4000" dirty="0" err="1" smtClean="0">
                <a:solidFill>
                  <a:srgbClr val="FF0000"/>
                </a:solidFill>
              </a:rPr>
              <a:t>phasor</a:t>
            </a:r>
            <a:r>
              <a:rPr lang="en-US" sz="4000" dirty="0" smtClean="0">
                <a:solidFill>
                  <a:srgbClr val="FF0000"/>
                </a:solidFill>
              </a:rPr>
              <a:t> Transformation</a:t>
            </a:r>
            <a:endParaRPr lang="en-US" sz="4000" dirty="0">
              <a:solidFill>
                <a:srgbClr val="FF0000"/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3" cstate="print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289" b="9971"/>
          <a:stretch/>
        </p:blipFill>
        <p:spPr>
          <a:xfrm rot="-60000">
            <a:off x="367699" y="1203540"/>
            <a:ext cx="8412054" cy="2170850"/>
          </a:xfrm>
          <a:prstGeom prst="rect">
            <a:avLst/>
          </a:prstGeom>
        </p:spPr>
      </p:pic>
      <p:graphicFrame>
        <p:nvGraphicFramePr>
          <p:cNvPr id="11" name="Object 2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40810090"/>
              </p:ext>
            </p:extLst>
          </p:nvPr>
        </p:nvGraphicFramePr>
        <p:xfrm>
          <a:off x="1244600" y="3981610"/>
          <a:ext cx="358932" cy="6056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3522" name="Equation" r:id="rId4" imgW="215713" imgH="393359" progId="Equation.3">
                  <p:embed/>
                </p:oleObj>
              </mc:Choice>
              <mc:Fallback>
                <p:oleObj name="Equation" r:id="rId4" imgW="215713" imgH="39335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44600" y="3981610"/>
                        <a:ext cx="358932" cy="605698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3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45392862"/>
              </p:ext>
            </p:extLst>
          </p:nvPr>
        </p:nvGraphicFramePr>
        <p:xfrm>
          <a:off x="6218238" y="4149097"/>
          <a:ext cx="627062" cy="3632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3523" name="Equation" r:id="rId6" imgW="342751" imgH="203112" progId="Equation.3">
                  <p:embed/>
                </p:oleObj>
              </mc:Choice>
              <mc:Fallback>
                <p:oleObj name="Equation" r:id="rId6" imgW="342751" imgH="20311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18238" y="4149097"/>
                        <a:ext cx="627062" cy="363205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3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68137927"/>
              </p:ext>
            </p:extLst>
          </p:nvPr>
        </p:nvGraphicFramePr>
        <p:xfrm>
          <a:off x="1168400" y="3491660"/>
          <a:ext cx="512760" cy="4465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3524" name="Equation" r:id="rId8" imgW="330200" imgH="279400" progId="Equation.3">
                  <p:embed/>
                </p:oleObj>
              </mc:Choice>
              <mc:Fallback>
                <p:oleObj name="Equation" r:id="rId8" imgW="330200" imgH="279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68400" y="3491660"/>
                        <a:ext cx="512760" cy="446529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3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67185642"/>
              </p:ext>
            </p:extLst>
          </p:nvPr>
        </p:nvGraphicFramePr>
        <p:xfrm>
          <a:off x="6338888" y="3447630"/>
          <a:ext cx="434777" cy="6890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3525" name="Equation" r:id="rId10" imgW="253890" imgH="418918" progId="Equation.3">
                  <p:embed/>
                </p:oleObj>
              </mc:Choice>
              <mc:Fallback>
                <p:oleObj name="Equation" r:id="rId10" imgW="253890" imgH="41891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38888" y="3447630"/>
                        <a:ext cx="434777" cy="689021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/>
              <p:cNvSpPr/>
              <p:nvPr/>
            </p:nvSpPr>
            <p:spPr>
              <a:xfrm>
                <a:off x="2570711" y="3995643"/>
                <a:ext cx="2937599" cy="193674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ZA" i="1" smtClean="0">
                          <a:latin typeface="Cambria Math"/>
                          <a:sym typeface="Symbol"/>
                        </a:rPr>
                        <m:t>𝑣</m:t>
                      </m:r>
                      <m:d>
                        <m:dPr>
                          <m:ctrlPr>
                            <a:rPr lang="en-ZA" i="1">
                              <a:latin typeface="Cambria Math"/>
                              <a:sym typeface="Symbol"/>
                            </a:rPr>
                          </m:ctrlPr>
                        </m:dPr>
                        <m:e>
                          <m:r>
                            <a:rPr lang="en-ZA" i="1">
                              <a:latin typeface="Cambria Math"/>
                              <a:sym typeface="Symbol"/>
                            </a:rPr>
                            <m:t>𝑡</m:t>
                          </m:r>
                        </m:e>
                      </m:d>
                      <m:r>
                        <a:rPr lang="en-ZA" i="1">
                          <a:latin typeface="Cambria Math"/>
                          <a:sym typeface="Symbol"/>
                        </a:rPr>
                        <m:t>=</m:t>
                      </m:r>
                      <m:sSub>
                        <m:sSubPr>
                          <m:ctrlPr>
                            <a:rPr lang="en-ZA" i="1">
                              <a:latin typeface="Cambria Math"/>
                              <a:sym typeface="Symbol"/>
                            </a:rPr>
                          </m:ctrlPr>
                        </m:sSubPr>
                        <m:e>
                          <m:r>
                            <a:rPr lang="en-ZA" i="1">
                              <a:latin typeface="Cambria Math"/>
                              <a:sym typeface="Symbol"/>
                            </a:rPr>
                            <m:t>𝑉</m:t>
                          </m:r>
                        </m:e>
                        <m:sub>
                          <m:r>
                            <a:rPr lang="en-ZA" i="1">
                              <a:latin typeface="Cambria Math"/>
                              <a:sym typeface="Symbol"/>
                            </a:rPr>
                            <m:t>𝑚</m:t>
                          </m:r>
                        </m:sub>
                      </m:sSub>
                      <m:func>
                        <m:funcPr>
                          <m:ctrlPr>
                            <a:rPr lang="en-ZA" i="1">
                              <a:latin typeface="Cambria Math"/>
                              <a:sym typeface="Symbol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ZA">
                              <a:latin typeface="Cambria Math"/>
                              <a:sym typeface="Symbol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ZA" i="1">
                                  <a:latin typeface="Cambria Math"/>
                                  <a:sym typeface="Symbol"/>
                                </a:rPr>
                              </m:ctrlPr>
                            </m:dPr>
                            <m:e>
                              <m:r>
                                <a:rPr lang="en-ZA" i="1">
                                  <a:latin typeface="Cambria Math"/>
                                  <a:ea typeface="Cambria Math"/>
                                  <a:sym typeface="Symbol"/>
                                </a:rPr>
                                <m:t>𝜔</m:t>
                              </m:r>
                              <m:r>
                                <a:rPr lang="en-ZA" i="1">
                                  <a:latin typeface="Cambria Math"/>
                                  <a:ea typeface="Cambria Math"/>
                                  <a:sym typeface="Symbol"/>
                                </a:rPr>
                                <m:t>𝑡</m:t>
                              </m:r>
                              <m:r>
                                <a:rPr lang="en-ZA" i="1">
                                  <a:latin typeface="Cambria Math"/>
                                  <a:ea typeface="Cambria Math"/>
                                  <a:sym typeface="Symbol"/>
                                </a:rPr>
                                <m:t>+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ZA" i="1" dirty="0" smtClean="0">
                  <a:latin typeface="Cambria Math"/>
                  <a:ea typeface="Cambria Math"/>
                  <a:sym typeface="Symbol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ZA" i="1" smtClean="0">
                              <a:latin typeface="Cambria Math"/>
                              <a:sym typeface="Symbol"/>
                            </a:rPr>
                          </m:ctrlPr>
                        </m:fPr>
                        <m:num>
                          <m:r>
                            <a:rPr lang="en-ZA" i="1" smtClean="0">
                              <a:latin typeface="Cambria Math"/>
                              <a:sym typeface="Symbol"/>
                            </a:rPr>
                            <m:t>𝑑</m:t>
                          </m:r>
                          <m:r>
                            <a:rPr lang="en-ZA" i="1">
                              <a:latin typeface="Cambria Math"/>
                              <a:sym typeface="Symbol"/>
                            </a:rPr>
                            <m:t>𝑣</m:t>
                          </m:r>
                          <m:d>
                            <m:dPr>
                              <m:ctrlPr>
                                <a:rPr lang="en-ZA" i="1">
                                  <a:latin typeface="Cambria Math"/>
                                  <a:sym typeface="Symbol"/>
                                </a:rPr>
                              </m:ctrlPr>
                            </m:dPr>
                            <m:e>
                              <m:r>
                                <a:rPr lang="en-ZA" i="1">
                                  <a:latin typeface="Cambria Math"/>
                                  <a:sym typeface="Symbol"/>
                                </a:rPr>
                                <m:t>𝑡</m:t>
                              </m:r>
                            </m:e>
                          </m:d>
                        </m:num>
                        <m:den>
                          <m:r>
                            <a:rPr lang="en-ZA" i="1" smtClean="0">
                              <a:latin typeface="Cambria Math"/>
                              <a:sym typeface="Symbol"/>
                            </a:rPr>
                            <m:t>𝑑</m:t>
                          </m:r>
                          <m:r>
                            <a:rPr lang="en-ZA" b="0" i="1" smtClean="0">
                              <a:latin typeface="Cambria Math"/>
                              <a:sym typeface="Symbol"/>
                            </a:rPr>
                            <m:t>𝑡</m:t>
                          </m:r>
                        </m:den>
                      </m:f>
                      <m:r>
                        <a:rPr lang="en-ZA" i="1">
                          <a:latin typeface="Cambria Math"/>
                          <a:sym typeface="Symbol"/>
                        </a:rPr>
                        <m:t>=</m:t>
                      </m:r>
                      <m:f>
                        <m:fPr>
                          <m:ctrlPr>
                            <a:rPr lang="en-ZA" i="1">
                              <a:latin typeface="Cambria Math"/>
                              <a:sym typeface="Symbol"/>
                            </a:rPr>
                          </m:ctrlPr>
                        </m:fPr>
                        <m:num>
                          <m:r>
                            <a:rPr lang="en-ZA" i="1">
                              <a:latin typeface="Cambria Math"/>
                              <a:sym typeface="Symbol"/>
                            </a:rPr>
                            <m:t>𝑑</m:t>
                          </m:r>
                        </m:num>
                        <m:den>
                          <m:r>
                            <a:rPr lang="en-ZA" i="1">
                              <a:latin typeface="Cambria Math"/>
                              <a:sym typeface="Symbol"/>
                            </a:rPr>
                            <m:t>𝑑𝑡</m:t>
                          </m:r>
                        </m:den>
                      </m:f>
                      <m:r>
                        <a:rPr lang="en-ZA" i="1">
                          <a:latin typeface="Cambria Math"/>
                          <a:sym typeface="Symbol"/>
                        </a:rPr>
                        <m:t>𝑅𝑒</m:t>
                      </m:r>
                      <m:d>
                        <m:dPr>
                          <m:begChr m:val="{"/>
                          <m:endChr m:val="}"/>
                          <m:ctrlPr>
                            <a:rPr lang="en-ZA" i="1">
                              <a:latin typeface="Cambria Math"/>
                              <a:sym typeface="Symbol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ZA" i="1">
                                  <a:latin typeface="Cambria Math"/>
                                  <a:sym typeface="Symbol"/>
                                </a:rPr>
                              </m:ctrlPr>
                            </m:sSubPr>
                            <m:e>
                              <m:r>
                                <a:rPr lang="en-ZA" i="1">
                                  <a:latin typeface="Cambria Math"/>
                                  <a:sym typeface="Symbol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ZA" i="1">
                                  <a:latin typeface="Cambria Math"/>
                                  <a:sym typeface="Symbol"/>
                                </a:rPr>
                                <m:t>𝑚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ZA" i="1">
                                  <a:latin typeface="Cambria Math"/>
                                  <a:sym typeface="Symbol"/>
                                </a:rPr>
                              </m:ctrlPr>
                            </m:sSupPr>
                            <m:e>
                              <m:r>
                                <a:rPr lang="en-ZA" i="1">
                                  <a:latin typeface="Cambria Math"/>
                                  <a:sym typeface="Symbol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ZA" i="1">
                                  <a:latin typeface="Cambria Math"/>
                                  <a:sym typeface="Symbol"/>
                                </a:rPr>
                                <m:t>𝑗</m:t>
                              </m:r>
                              <m:r>
                                <a:rPr lang="en-ZA" i="1">
                                  <a:latin typeface="Cambria Math"/>
                                  <a:ea typeface="Cambria Math"/>
                                  <a:sym typeface="Symbol"/>
                                </a:rPr>
                                <m:t>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ZA" i="1">
                                  <a:latin typeface="Cambria Math"/>
                                  <a:sym typeface="Symbol"/>
                                </a:rPr>
                              </m:ctrlPr>
                            </m:sSupPr>
                            <m:e>
                              <m:r>
                                <a:rPr lang="en-ZA" i="1">
                                  <a:latin typeface="Cambria Math"/>
                                  <a:sym typeface="Symbol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ZA" i="1">
                                  <a:latin typeface="Cambria Math"/>
                                  <a:sym typeface="Symbol"/>
                                </a:rPr>
                                <m:t>𝑗</m:t>
                              </m:r>
                              <m:r>
                                <a:rPr lang="en-ZA" i="1">
                                  <a:latin typeface="Cambria Math"/>
                                  <a:ea typeface="Cambria Math"/>
                                  <a:sym typeface="Symbol"/>
                                </a:rPr>
                                <m:t>𝜔</m:t>
                              </m:r>
                              <m:r>
                                <a:rPr lang="en-ZA" i="1">
                                  <a:latin typeface="Cambria Math"/>
                                  <a:ea typeface="Cambria Math"/>
                                  <a:sym typeface="Symbol"/>
                                </a:rPr>
                                <m:t>𝑡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ZA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en-ZA" i="1">
                          <a:latin typeface="Cambria Math"/>
                          <a:sym typeface="Symbol"/>
                        </a:rPr>
                        <m:t>=</m:t>
                      </m:r>
                      <m:r>
                        <a:rPr lang="en-ZA" i="1">
                          <a:latin typeface="Cambria Math"/>
                          <a:sym typeface="Symbol"/>
                        </a:rPr>
                        <m:t>𝑅𝑒</m:t>
                      </m:r>
                      <m:d>
                        <m:dPr>
                          <m:begChr m:val="{"/>
                          <m:endChr m:val="}"/>
                          <m:ctrlPr>
                            <a:rPr lang="en-ZA" i="1">
                              <a:latin typeface="Cambria Math"/>
                              <a:sym typeface="Symbol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ZA" i="1">
                                  <a:latin typeface="Cambria Math"/>
                                  <a:sym typeface="Symbol"/>
                                </a:rPr>
                              </m:ctrlPr>
                            </m:sSubPr>
                            <m:e>
                              <m:r>
                                <a:rPr lang="en-ZA" i="1">
                                  <a:latin typeface="Cambria Math"/>
                                  <a:sym typeface="Symbol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ZA" i="1">
                                  <a:latin typeface="Cambria Math"/>
                                  <a:sym typeface="Symbol"/>
                                </a:rPr>
                                <m:t>𝑚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ZA" i="1">
                                  <a:latin typeface="Cambria Math"/>
                                  <a:sym typeface="Symbol"/>
                                </a:rPr>
                              </m:ctrlPr>
                            </m:sSupPr>
                            <m:e>
                              <m:r>
                                <a:rPr lang="en-ZA" i="1">
                                  <a:latin typeface="Cambria Math"/>
                                  <a:sym typeface="Symbol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ZA" i="1">
                                  <a:latin typeface="Cambria Math"/>
                                  <a:sym typeface="Symbol"/>
                                </a:rPr>
                                <m:t>𝑗</m:t>
                              </m:r>
                              <m:r>
                                <a:rPr lang="en-ZA" i="1">
                                  <a:latin typeface="Cambria Math"/>
                                  <a:ea typeface="Cambria Math"/>
                                  <a:sym typeface="Symbol"/>
                                </a:rPr>
                                <m:t>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ZA" i="1">
                                  <a:latin typeface="Cambria Math"/>
                                  <a:sym typeface="Symbol"/>
                                </a:rPr>
                              </m:ctrlPr>
                            </m:sSupPr>
                            <m:e>
                              <m:f>
                                <m:fPr>
                                  <m:ctrlPr>
                                    <a:rPr lang="en-ZA" i="1">
                                      <a:latin typeface="Cambria Math"/>
                                      <a:sym typeface="Symbol"/>
                                    </a:rPr>
                                  </m:ctrlPr>
                                </m:fPr>
                                <m:num>
                                  <m:r>
                                    <a:rPr lang="en-ZA" i="1">
                                      <a:latin typeface="Cambria Math"/>
                                      <a:sym typeface="Symbol"/>
                                    </a:rPr>
                                    <m:t>𝑑</m:t>
                                  </m:r>
                                </m:num>
                                <m:den>
                                  <m:r>
                                    <a:rPr lang="en-ZA" i="1">
                                      <a:latin typeface="Cambria Math"/>
                                      <a:sym typeface="Symbol"/>
                                    </a:rPr>
                                    <m:t>𝑑𝑡</m:t>
                                  </m:r>
                                </m:den>
                              </m:f>
                              <m:r>
                                <a:rPr lang="en-ZA" i="1">
                                  <a:latin typeface="Cambria Math"/>
                                  <a:sym typeface="Symbol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ZA" i="1">
                                  <a:latin typeface="Cambria Math"/>
                                  <a:sym typeface="Symbol"/>
                                </a:rPr>
                                <m:t>𝑗</m:t>
                              </m:r>
                              <m:r>
                                <a:rPr lang="en-ZA" i="1">
                                  <a:latin typeface="Cambria Math"/>
                                  <a:ea typeface="Cambria Math"/>
                                  <a:sym typeface="Symbol"/>
                                </a:rPr>
                                <m:t>𝜔</m:t>
                              </m:r>
                              <m:r>
                                <a:rPr lang="en-ZA" i="1">
                                  <a:latin typeface="Cambria Math"/>
                                  <a:ea typeface="Cambria Math"/>
                                  <a:sym typeface="Symbol"/>
                                </a:rPr>
                                <m:t>𝑡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ZA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en-ZA" i="1">
                          <a:latin typeface="Cambria Math"/>
                          <a:sym typeface="Symbol"/>
                        </a:rPr>
                        <m:t>=</m:t>
                      </m:r>
                      <m:r>
                        <a:rPr lang="en-ZA" i="1">
                          <a:latin typeface="Cambria Math"/>
                          <a:sym typeface="Symbol"/>
                        </a:rPr>
                        <m:t>𝑅𝑒</m:t>
                      </m:r>
                      <m:d>
                        <m:dPr>
                          <m:begChr m:val="{"/>
                          <m:endChr m:val="}"/>
                          <m:ctrlPr>
                            <a:rPr lang="en-ZA" i="1">
                              <a:latin typeface="Cambria Math"/>
                              <a:sym typeface="Symbol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ZA" i="1">
                                  <a:latin typeface="Cambria Math"/>
                                  <a:sym typeface="Symbol"/>
                                </a:rPr>
                              </m:ctrlPr>
                            </m:sSubPr>
                            <m:e>
                              <m:r>
                                <a:rPr lang="en-ZA" i="1">
                                  <a:latin typeface="Cambria Math"/>
                                  <a:sym typeface="Symbol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ZA" i="1">
                                  <a:latin typeface="Cambria Math"/>
                                  <a:sym typeface="Symbol"/>
                                </a:rPr>
                                <m:t>𝑚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ZA" i="1">
                                  <a:latin typeface="Cambria Math"/>
                                  <a:sym typeface="Symbol"/>
                                </a:rPr>
                              </m:ctrlPr>
                            </m:sSupPr>
                            <m:e>
                              <m:r>
                                <a:rPr lang="en-ZA" i="1">
                                  <a:latin typeface="Cambria Math"/>
                                  <a:sym typeface="Symbol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ZA" i="1">
                                  <a:latin typeface="Cambria Math"/>
                                  <a:sym typeface="Symbol"/>
                                </a:rPr>
                                <m:t>𝑗</m:t>
                              </m:r>
                              <m:r>
                                <a:rPr lang="en-ZA" i="1">
                                  <a:latin typeface="Cambria Math"/>
                                  <a:ea typeface="Cambria Math"/>
                                  <a:sym typeface="Symbol"/>
                                </a:rPr>
                                <m:t></m:t>
                              </m:r>
                            </m:sup>
                          </m:sSup>
                          <m:r>
                            <a:rPr lang="en-ZA" i="1">
                              <a:latin typeface="Cambria Math"/>
                              <a:sym typeface="Symbol"/>
                            </a:rPr>
                            <m:t>𝑗</m:t>
                          </m:r>
                          <m:r>
                            <a:rPr lang="en-ZA" i="1">
                              <a:latin typeface="Cambria Math"/>
                              <a:ea typeface="Cambria Math"/>
                              <a:sym typeface="Symbol"/>
                            </a:rPr>
                            <m:t>𝜔</m:t>
                          </m:r>
                          <m:r>
                            <a:rPr lang="en-ZA" b="0" i="1" smtClean="0">
                              <a:latin typeface="Cambria Math"/>
                              <a:ea typeface="Cambria Math"/>
                              <a:sym typeface="Symbol"/>
                            </a:rPr>
                            <m:t> </m:t>
                          </m:r>
                          <m:sSup>
                            <m:sSupPr>
                              <m:ctrlPr>
                                <a:rPr lang="en-ZA" i="1">
                                  <a:latin typeface="Cambria Math"/>
                                  <a:sym typeface="Symbol"/>
                                </a:rPr>
                              </m:ctrlPr>
                            </m:sSupPr>
                            <m:e>
                              <m:r>
                                <a:rPr lang="en-ZA" i="1">
                                  <a:latin typeface="Cambria Math"/>
                                  <a:sym typeface="Symbol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ZA" i="1">
                                  <a:latin typeface="Cambria Math"/>
                                  <a:sym typeface="Symbol"/>
                                </a:rPr>
                                <m:t>𝑗</m:t>
                              </m:r>
                              <m:r>
                                <a:rPr lang="en-ZA" i="1">
                                  <a:latin typeface="Cambria Math"/>
                                  <a:ea typeface="Cambria Math"/>
                                  <a:sym typeface="Symbol"/>
                                </a:rPr>
                                <m:t>𝜔</m:t>
                              </m:r>
                              <m:r>
                                <a:rPr lang="en-ZA" i="1">
                                  <a:latin typeface="Cambria Math"/>
                                  <a:ea typeface="Cambria Math"/>
                                  <a:sym typeface="Symbol"/>
                                </a:rPr>
                                <m:t>𝑡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ZA" dirty="0"/>
              </a:p>
            </p:txBody>
          </p:sp>
        </mc:Choice>
        <mc:Fallback xmlns="">
          <p:sp>
            <p:nvSpPr>
              <p:cNvPr id="18" name="Rectangle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0711" y="3995643"/>
                <a:ext cx="2937599" cy="1936749"/>
              </a:xfrm>
              <a:prstGeom prst="rect">
                <a:avLst/>
              </a:prstGeom>
              <a:blipFill rotWithShape="1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20"/>
              <p:cNvSpPr/>
              <p:nvPr/>
            </p:nvSpPr>
            <p:spPr>
              <a:xfrm>
                <a:off x="4622798" y="6117058"/>
                <a:ext cx="762580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ZA" sz="2000" b="1" i="1" smtClean="0">
                          <a:solidFill>
                            <a:srgbClr val="000000"/>
                          </a:solidFill>
                          <a:latin typeface="Cambria Math"/>
                          <a:sym typeface="Symbol"/>
                        </a:rPr>
                        <m:t>𝑽</m:t>
                      </m:r>
                      <m:r>
                        <a:rPr lang="en-ZA" sz="2000" i="1">
                          <a:solidFill>
                            <a:srgbClr val="000000"/>
                          </a:solidFill>
                          <a:latin typeface="Cambria Math"/>
                          <a:sym typeface="Symbol"/>
                        </a:rPr>
                        <m:t>𝑗</m:t>
                      </m:r>
                      <m:r>
                        <a:rPr lang="en-ZA" sz="2000" i="1">
                          <a:solidFill>
                            <a:srgbClr val="000000"/>
                          </a:solidFill>
                          <a:latin typeface="Cambria Math"/>
                          <a:ea typeface="Cambria Math"/>
                          <a:sym typeface="Symbol"/>
                        </a:rPr>
                        <m:t>𝜔</m:t>
                      </m:r>
                      <m:r>
                        <a:rPr lang="en-ZA" sz="2000" i="1">
                          <a:solidFill>
                            <a:srgbClr val="000000"/>
                          </a:solidFill>
                          <a:latin typeface="Cambria Math"/>
                          <a:ea typeface="Cambria Math"/>
                          <a:sym typeface="Symbol"/>
                        </a:rPr>
                        <m:t> </m:t>
                      </m:r>
                    </m:oMath>
                  </m:oMathPara>
                </a14:m>
                <a:endParaRPr lang="en-ZA" sz="2000" dirty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21" name="Rectangle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22798" y="6117058"/>
                <a:ext cx="762580" cy="400110"/>
              </a:xfrm>
              <a:prstGeom prst="rect">
                <a:avLst/>
              </a:prstGeom>
              <a:blipFill rotWithShape="1">
                <a:blip r:embed="rId13"/>
                <a:stretch>
                  <a:fillRect b="-15152"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Group 1"/>
          <p:cNvGrpSpPr/>
          <p:nvPr/>
        </p:nvGrpSpPr>
        <p:grpSpPr>
          <a:xfrm>
            <a:off x="3993920" y="5505128"/>
            <a:ext cx="868679" cy="611930"/>
            <a:chOff x="3993920" y="5505128"/>
            <a:chExt cx="868679" cy="611930"/>
          </a:xfrm>
        </p:grpSpPr>
        <p:sp>
          <p:nvSpPr>
            <p:cNvPr id="19" name="Rectangle 18"/>
            <p:cNvSpPr/>
            <p:nvPr/>
          </p:nvSpPr>
          <p:spPr bwMode="auto">
            <a:xfrm>
              <a:off x="3993920" y="5505128"/>
              <a:ext cx="868679" cy="350520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45720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ZA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Times New Roman" pitchFamily="18" charset="0"/>
              </a:endParaRPr>
            </a:p>
          </p:txBody>
        </p:sp>
        <p:cxnSp>
          <p:nvCxnSpPr>
            <p:cNvPr id="22" name="Straight Arrow Connector 21"/>
            <p:cNvCxnSpPr>
              <a:stCxn id="19" idx="2"/>
            </p:cNvCxnSpPr>
            <p:nvPr/>
          </p:nvCxnSpPr>
          <p:spPr bwMode="auto">
            <a:xfrm>
              <a:off x="4428260" y="5855648"/>
              <a:ext cx="273343" cy="261410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type="none" w="med" len="med"/>
              <a:tailEnd type="arrow" w="lg" len="lg"/>
            </a:ln>
            <a:extLst/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723997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DBEB72-C004-46D1-9992-458CC43F3DD8}" type="slidenum">
              <a:rPr lang="en-US" smtClean="0"/>
              <a:pPr/>
              <a:t>26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120459" y="1541897"/>
                <a:ext cx="7746608" cy="453681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ZA" sz="2800" b="0" dirty="0" smtClean="0"/>
                  <a:t>a)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ZA" sz="2800" b="0" i="1" smtClean="0">
                            <a:latin typeface="Cambria Math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ZA" sz="2800" b="0" i="1" smtClean="0"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a:rPr lang="en-ZA" sz="2800" b="0" i="1" smtClean="0">
                                <a:latin typeface="Cambria Math"/>
                              </a:rPr>
                              <m:t>5+</m:t>
                            </m:r>
                            <m:r>
                              <a:rPr lang="en-ZA" sz="2800" b="0" i="1" smtClean="0">
                                <a:latin typeface="Cambria Math"/>
                              </a:rPr>
                              <m:t>𝑗</m:t>
                            </m:r>
                            <m:r>
                              <a:rPr lang="en-ZA" sz="2800" b="0" i="1" smtClean="0">
                                <a:latin typeface="Cambria Math"/>
                              </a:rPr>
                              <m:t>2</m:t>
                            </m:r>
                          </m:e>
                        </m:d>
                        <m:d>
                          <m:dPr>
                            <m:ctrlPr>
                              <a:rPr lang="en-ZA" sz="2800" b="0" i="1" smtClean="0"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a:rPr lang="en-ZA" sz="2800" b="0" i="1" smtClean="0">
                                <a:latin typeface="Cambria Math"/>
                              </a:rPr>
                              <m:t>−1+</m:t>
                            </m:r>
                            <m:r>
                              <a:rPr lang="en-ZA" sz="2800" b="0" i="1" smtClean="0">
                                <a:latin typeface="Cambria Math"/>
                              </a:rPr>
                              <m:t>𝑗</m:t>
                            </m:r>
                            <m:r>
                              <a:rPr lang="en-ZA" sz="2800" b="0" i="1" smtClean="0">
                                <a:latin typeface="Cambria Math"/>
                              </a:rPr>
                              <m:t>4</m:t>
                            </m:r>
                          </m:e>
                        </m:d>
                        <m:r>
                          <a:rPr lang="en-ZA" sz="2800" b="0" i="1" smtClean="0">
                            <a:latin typeface="Cambria Math"/>
                          </a:rPr>
                          <m:t>−5</m:t>
                        </m:r>
                        <m:r>
                          <a:rPr lang="en-ZA" sz="2800" i="1" smtClean="0">
                            <a:latin typeface="Cambria Math"/>
                            <a:sym typeface="Symbol"/>
                          </a:rPr>
                          <m:t></m:t>
                        </m:r>
                        <m:r>
                          <a:rPr lang="en-ZA" sz="2800" b="0" i="1" smtClean="0">
                            <a:latin typeface="Cambria Math"/>
                            <a:sym typeface="Symbol"/>
                          </a:rPr>
                          <m:t>60</m:t>
                        </m:r>
                        <m:r>
                          <a:rPr lang="en-ZA" sz="2800" i="1">
                            <a:latin typeface="Cambria Math"/>
                            <a:sym typeface="Symbol"/>
                          </a:rPr>
                          <m:t></m:t>
                        </m:r>
                      </m:e>
                    </m:d>
                  </m:oMath>
                </a14:m>
                <a:r>
                  <a:rPr lang="en-ZA" sz="2800" b="0" i="1" dirty="0" smtClean="0">
                    <a:latin typeface="Cambria Math"/>
                  </a:rPr>
                  <a:t>*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ZA" sz="2800" b="0" i="1" smtClean="0">
                        <a:latin typeface="Cambria Math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ZA" sz="2800" b="0" i="1" smtClean="0">
                            <a:latin typeface="Cambria Math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ZA" sz="2800" i="1"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a:rPr lang="en-ZA" sz="2800" i="1">
                                <a:latin typeface="Cambria Math"/>
                              </a:rPr>
                              <m:t>−5+</m:t>
                            </m:r>
                            <m:r>
                              <a:rPr lang="en-ZA" sz="2800" i="1">
                                <a:latin typeface="Cambria Math"/>
                              </a:rPr>
                              <m:t>𝑗</m:t>
                            </m:r>
                            <m:r>
                              <a:rPr lang="en-ZA" sz="2800" i="1">
                                <a:latin typeface="Cambria Math"/>
                              </a:rPr>
                              <m:t>20−</m:t>
                            </m:r>
                            <m:r>
                              <a:rPr lang="en-ZA" sz="2800" i="1">
                                <a:latin typeface="Cambria Math"/>
                              </a:rPr>
                              <m:t>𝑗</m:t>
                            </m:r>
                            <m:r>
                              <a:rPr lang="en-ZA" sz="2800" i="1">
                                <a:latin typeface="Cambria Math"/>
                              </a:rPr>
                              <m:t>2−8</m:t>
                            </m:r>
                          </m:e>
                        </m:d>
                        <m:r>
                          <a:rPr lang="en-ZA" sz="2800" i="1">
                            <a:latin typeface="Cambria Math"/>
                          </a:rPr>
                          <m:t>−5</m:t>
                        </m:r>
                        <m:d>
                          <m:dPr>
                            <m:ctrlPr>
                              <a:rPr lang="en-ZA" sz="2800" i="1">
                                <a:latin typeface="Cambria Math"/>
                              </a:rPr>
                            </m:ctrlPr>
                          </m:dPr>
                          <m:e>
                            <m:func>
                              <m:funcPr>
                                <m:ctrlPr>
                                  <a:rPr lang="en-ZA" sz="2800" i="1">
                                    <a:latin typeface="Cambria Math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ZA" sz="2800">
                                    <a:latin typeface="Cambria Math"/>
                                  </a:rPr>
                                  <m:t>cos</m:t>
                                </m:r>
                              </m:fName>
                              <m:e>
                                <m:r>
                                  <a:rPr lang="en-ZA" sz="2800" i="1">
                                    <a:latin typeface="Cambria Math"/>
                                  </a:rPr>
                                  <m:t>60</m:t>
                                </m:r>
                                <m:r>
                                  <a:rPr lang="en-ZA" sz="2800" i="1">
                                    <a:latin typeface="Cambria Math"/>
                                    <a:ea typeface="Cambria Math"/>
                                  </a:rPr>
                                  <m:t>°</m:t>
                                </m:r>
                              </m:e>
                            </m:func>
                            <m:r>
                              <a:rPr lang="en-ZA" sz="2800" i="1">
                                <a:latin typeface="Cambria Math"/>
                                <a:ea typeface="Cambria Math"/>
                              </a:rPr>
                              <m:t>+</m:t>
                            </m:r>
                            <m:r>
                              <a:rPr lang="en-ZA" sz="2800" i="1">
                                <a:latin typeface="Cambria Math"/>
                                <a:ea typeface="Cambria Math"/>
                              </a:rPr>
                              <m:t>𝑗</m:t>
                            </m:r>
                            <m:func>
                              <m:funcPr>
                                <m:ctrlPr>
                                  <a:rPr lang="en-ZA" sz="2800" i="1">
                                    <a:latin typeface="Cambria Math"/>
                                    <a:ea typeface="Cambria Math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ZA" sz="2800">
                                    <a:latin typeface="Cambria Math"/>
                                    <a:ea typeface="Cambria Math"/>
                                  </a:rPr>
                                  <m:t>sin</m:t>
                                </m:r>
                              </m:fName>
                              <m:e>
                                <m:r>
                                  <a:rPr lang="en-ZA" sz="2800" i="1">
                                    <a:latin typeface="Cambria Math"/>
                                    <a:ea typeface="Cambria Math"/>
                                  </a:rPr>
                                  <m:t>60°</m:t>
                                </m:r>
                              </m:e>
                            </m:func>
                          </m:e>
                        </m:d>
                      </m:e>
                    </m:d>
                  </m:oMath>
                </a14:m>
                <a:r>
                  <a:rPr lang="en-ZA" sz="2800" b="0" dirty="0" smtClean="0">
                    <a:latin typeface="Cambria Math"/>
                  </a:rPr>
                  <a:t>*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ZA" sz="2800" b="0" i="1" smtClean="0">
                        <a:latin typeface="Cambria Math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ZA" sz="2800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ZA" sz="2800" i="1">
                            <a:latin typeface="Cambria Math"/>
                          </a:rPr>
                          <m:t>−13</m:t>
                        </m:r>
                        <m:r>
                          <a:rPr lang="en-ZA" sz="2800" b="0" i="1" smtClean="0">
                            <a:latin typeface="Cambria Math"/>
                          </a:rPr>
                          <m:t>+</m:t>
                        </m:r>
                        <m:r>
                          <a:rPr lang="en-ZA" sz="2800" i="1">
                            <a:latin typeface="Cambria Math"/>
                          </a:rPr>
                          <m:t>𝑗</m:t>
                        </m:r>
                        <m:r>
                          <a:rPr lang="en-ZA" sz="2800" i="1">
                            <a:latin typeface="Cambria Math"/>
                          </a:rPr>
                          <m:t>18−2.5−</m:t>
                        </m:r>
                        <m:r>
                          <a:rPr lang="en-ZA" sz="2800" i="1">
                            <a:latin typeface="Cambria Math"/>
                          </a:rPr>
                          <m:t>𝑗</m:t>
                        </m:r>
                        <m:r>
                          <a:rPr lang="en-ZA" sz="2800" i="1">
                            <a:latin typeface="Cambria Math"/>
                          </a:rPr>
                          <m:t>4.33</m:t>
                        </m:r>
                        <m:r>
                          <m:rPr>
                            <m:nor/>
                          </m:rPr>
                          <a:rPr lang="en-ZA" sz="2800" dirty="0"/>
                          <m:t> </m:t>
                        </m:r>
                      </m:e>
                    </m:d>
                  </m:oMath>
                </a14:m>
                <a:r>
                  <a:rPr lang="en-ZA" sz="2800" b="0" dirty="0" smtClean="0">
                    <a:latin typeface="Cambria Math"/>
                  </a:rPr>
                  <a:t>*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ZA" sz="2800" b="0" i="1" smtClean="0">
                        <a:latin typeface="Cambria Math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ZA" sz="2800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ZA" sz="2800" b="0" i="1" smtClean="0">
                            <a:latin typeface="Cambria Math"/>
                          </a:rPr>
                          <m:t>−15.5+</m:t>
                        </m:r>
                        <m:r>
                          <a:rPr lang="en-ZA" sz="2800" b="0" i="1" smtClean="0">
                            <a:latin typeface="Cambria Math"/>
                          </a:rPr>
                          <m:t>𝑗</m:t>
                        </m:r>
                        <m:r>
                          <a:rPr lang="en-ZA" sz="2800" b="0" i="1" smtClean="0">
                            <a:latin typeface="Cambria Math"/>
                          </a:rPr>
                          <m:t>13.67</m:t>
                        </m:r>
                      </m:e>
                    </m:d>
                  </m:oMath>
                </a14:m>
                <a:r>
                  <a:rPr lang="en-ZA" sz="2800" dirty="0" smtClean="0"/>
                  <a:t>*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ZA" sz="2800" b="0" i="1" smtClean="0">
                          <a:latin typeface="Cambria Math"/>
                        </a:rPr>
                        <m:t>=</m:t>
                      </m:r>
                      <m:r>
                        <a:rPr lang="en-ZA" sz="2800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−</m:t>
                      </m:r>
                      <m:r>
                        <a:rPr lang="en-ZA" sz="2800" b="0" i="1" smtClean="0">
                          <a:latin typeface="Cambria Math"/>
                        </a:rPr>
                        <m:t>15.5−</m:t>
                      </m:r>
                      <m:r>
                        <a:rPr lang="en-ZA" sz="2800" b="0" i="1" smtClean="0">
                          <a:latin typeface="Cambria Math"/>
                        </a:rPr>
                        <m:t>𝑗</m:t>
                      </m:r>
                      <m:r>
                        <a:rPr lang="en-ZA" sz="2800" b="0" i="1" smtClean="0">
                          <a:latin typeface="Cambria Math"/>
                        </a:rPr>
                        <m:t>13.67</m:t>
                      </m:r>
                    </m:oMath>
                  </m:oMathPara>
                </a14:m>
                <a:endParaRPr lang="en-ZA" sz="2800" b="0" i="1" dirty="0" smtClean="0">
                  <a:latin typeface="Cambria Math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ZA" sz="2800" b="0" i="1" smtClean="0">
                          <a:latin typeface="Cambria Math"/>
                        </a:rPr>
                        <m:t>=20.67</m:t>
                      </m:r>
                      <m:r>
                        <a:rPr lang="en-ZA" sz="2800" b="0" i="1" smtClean="0">
                          <a:latin typeface="Cambria Math"/>
                          <a:sym typeface="Symbol"/>
                        </a:rPr>
                        <m:t></m:t>
                      </m:r>
                      <m:r>
                        <a:rPr lang="en-ZA" sz="2800" b="0" i="1" smtClean="0">
                          <a:solidFill>
                            <a:srgbClr val="FF0000"/>
                          </a:solidFill>
                          <a:latin typeface="Cambria Math"/>
                          <a:sym typeface="Symbol"/>
                        </a:rPr>
                        <m:t>−137.66</m:t>
                      </m:r>
                    </m:oMath>
                  </m:oMathPara>
                </a14:m>
                <a:endParaRPr lang="en-ZA" sz="2800" dirty="0" smtClean="0"/>
              </a:p>
              <a:p>
                <a:pPr>
                  <a:lnSpc>
                    <a:spcPct val="150000"/>
                  </a:lnSpc>
                </a:pPr>
                <a:endParaRPr lang="en-ZA" sz="28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0459" y="1541897"/>
                <a:ext cx="7746608" cy="4536819"/>
              </a:xfrm>
              <a:prstGeom prst="rect">
                <a:avLst/>
              </a:prstGeom>
              <a:blipFill rotWithShape="1">
                <a:blip r:embed="rId2"/>
                <a:stretch>
                  <a:fillRect l="-1652" r="-551"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270456" y="143801"/>
                <a:ext cx="6040192" cy="1200329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r>
                  <a:rPr lang="en-ZA" sz="2400" b="1" u="sng" dirty="0" smtClean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PP 9.3</a:t>
                </a:r>
                <a:r>
                  <a:rPr lang="en-ZA" sz="2400" dirty="0">
                    <a:latin typeface="Times New Roman" pitchFamily="18" charset="0"/>
                    <a:cs typeface="Times New Roman" pitchFamily="18" charset="0"/>
                  </a:rPr>
                  <a:t/>
                </a:r>
                <a:br>
                  <a:rPr lang="en-ZA" sz="2400" dirty="0">
                    <a:latin typeface="Times New Roman" pitchFamily="18" charset="0"/>
                    <a:cs typeface="Times New Roman" pitchFamily="18" charset="0"/>
                  </a:rPr>
                </a:br>
                <a:r>
                  <a:rPr lang="en-ZA" sz="2400" dirty="0" smtClean="0">
                    <a:latin typeface="Times New Roman" pitchFamily="18" charset="0"/>
                    <a:cs typeface="Times New Roman" pitchFamily="18" charset="0"/>
                  </a:rPr>
                  <a:t>Evaluate the following complex numbers:</a:t>
                </a:r>
              </a:p>
              <a:p>
                <a:r>
                  <a:rPr lang="en-ZA" sz="2400" dirty="0" smtClean="0">
                    <a:latin typeface="Times New Roman" pitchFamily="18" charset="0"/>
                    <a:sym typeface="Symbol"/>
                  </a:rPr>
                  <a:t>a)</a:t>
                </a:r>
                <a:r>
                  <a:rPr lang="en-ZA" sz="2400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ZA" sz="2400" i="1">
                            <a:latin typeface="Cambria Math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ZA" sz="2400" i="1"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a:rPr lang="en-ZA" sz="2400" i="1">
                                <a:latin typeface="Cambria Math"/>
                              </a:rPr>
                              <m:t>5+</m:t>
                            </m:r>
                            <m:r>
                              <a:rPr lang="en-ZA" sz="2400" i="1">
                                <a:latin typeface="Cambria Math"/>
                              </a:rPr>
                              <m:t>𝑗</m:t>
                            </m:r>
                            <m:r>
                              <a:rPr lang="en-ZA" sz="2400" i="1">
                                <a:latin typeface="Cambria Math"/>
                              </a:rPr>
                              <m:t>2</m:t>
                            </m:r>
                          </m:e>
                        </m:d>
                        <m:d>
                          <m:dPr>
                            <m:ctrlPr>
                              <a:rPr lang="en-ZA" sz="2400" i="1"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a:rPr lang="en-ZA" sz="2400" i="1">
                                <a:latin typeface="Cambria Math"/>
                              </a:rPr>
                              <m:t>−1+</m:t>
                            </m:r>
                            <m:r>
                              <a:rPr lang="en-ZA" sz="2400" i="1">
                                <a:latin typeface="Cambria Math"/>
                              </a:rPr>
                              <m:t>𝑗</m:t>
                            </m:r>
                            <m:r>
                              <a:rPr lang="en-ZA" sz="2400" i="1">
                                <a:latin typeface="Cambria Math"/>
                              </a:rPr>
                              <m:t>4</m:t>
                            </m:r>
                          </m:e>
                        </m:d>
                        <m:r>
                          <a:rPr lang="en-ZA" sz="2400" i="1">
                            <a:latin typeface="Cambria Math"/>
                          </a:rPr>
                          <m:t>−5</m:t>
                        </m:r>
                        <m:r>
                          <a:rPr lang="en-ZA" sz="2400" i="1">
                            <a:latin typeface="Cambria Math"/>
                            <a:sym typeface="Symbol"/>
                          </a:rPr>
                          <m:t>60</m:t>
                        </m:r>
                      </m:e>
                    </m:d>
                  </m:oMath>
                </a14:m>
                <a:r>
                  <a:rPr lang="en-ZA" sz="2400" i="1" dirty="0">
                    <a:latin typeface="Cambria Math"/>
                  </a:rPr>
                  <a:t>*</a:t>
                </a:r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456" y="143801"/>
                <a:ext cx="6040192" cy="1200329"/>
              </a:xfrm>
              <a:prstGeom prst="rect">
                <a:avLst/>
              </a:prstGeom>
              <a:blipFill rotWithShape="1">
                <a:blip r:embed="rId3"/>
                <a:stretch>
                  <a:fillRect l="-1514" t="-4082" b="-11224"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Arrow Connector 3"/>
          <p:cNvCxnSpPr/>
          <p:nvPr/>
        </p:nvCxnSpPr>
        <p:spPr bwMode="auto">
          <a:xfrm>
            <a:off x="1393371" y="5326743"/>
            <a:ext cx="3077029" cy="0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arrow" w="lg" len="med"/>
          </a:ln>
          <a:extLst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238505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DBEB72-C004-46D1-9992-458CC43F3DD8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70456" y="143801"/>
            <a:ext cx="3915178" cy="156966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ZA" sz="2400" b="1" u="sng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PP 9.3</a:t>
            </a:r>
            <a:r>
              <a:rPr lang="en-ZA" sz="24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ZA" sz="2400" dirty="0">
                <a:latin typeface="Times New Roman" pitchFamily="18" charset="0"/>
                <a:cs typeface="Times New Roman" pitchFamily="18" charset="0"/>
              </a:rPr>
            </a:br>
            <a:r>
              <a:rPr lang="en-ZA" sz="2400" dirty="0" smtClean="0">
                <a:latin typeface="Times New Roman" pitchFamily="18" charset="0"/>
                <a:cs typeface="Times New Roman" pitchFamily="18" charset="0"/>
              </a:rPr>
              <a:t>Evaluate the following complex numbers:</a:t>
            </a:r>
          </a:p>
          <a:p>
            <a:r>
              <a:rPr lang="en-ZA" sz="2400" dirty="0" smtClean="0">
                <a:latin typeface="Times New Roman" pitchFamily="18" charset="0"/>
                <a:cs typeface="Times New Roman" pitchFamily="18" charset="0"/>
                <a:sym typeface="Symbol"/>
              </a:rPr>
              <a:t>b)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3438662" y="110756"/>
                <a:ext cx="5601983" cy="65267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ZA" sz="2400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ZA" sz="2400" b="0" i="1" smtClean="0">
                              <a:latin typeface="Cambria Math"/>
                            </a:rPr>
                            <m:t>10+</m:t>
                          </m:r>
                          <m:r>
                            <a:rPr lang="en-ZA" sz="2400" b="0" i="1" smtClean="0">
                              <a:latin typeface="Cambria Math"/>
                            </a:rPr>
                            <m:t>𝑗</m:t>
                          </m:r>
                          <m:r>
                            <a:rPr lang="en-ZA" sz="2400" b="0" i="1" smtClean="0">
                              <a:latin typeface="Cambria Math"/>
                            </a:rPr>
                            <m:t>5+340</m:t>
                          </m:r>
                        </m:num>
                        <m:den>
                          <m:r>
                            <a:rPr lang="en-ZA" sz="2400" b="0" i="1" smtClean="0">
                              <a:latin typeface="Cambria Math"/>
                            </a:rPr>
                            <m:t>−3+</m:t>
                          </m:r>
                          <m:r>
                            <a:rPr lang="en-ZA" sz="2400" b="0" i="1" smtClean="0">
                              <a:latin typeface="Cambria Math"/>
                            </a:rPr>
                            <m:t>𝑗</m:t>
                          </m:r>
                          <m:r>
                            <a:rPr lang="en-ZA" sz="2400" b="0" i="1" smtClean="0">
                              <a:latin typeface="Cambria Math"/>
                            </a:rPr>
                            <m:t>4</m:t>
                          </m:r>
                        </m:den>
                      </m:f>
                      <m:r>
                        <a:rPr lang="en-ZA" sz="2400" b="0" i="1" smtClean="0">
                          <a:latin typeface="Cambria Math"/>
                        </a:rPr>
                        <m:t>+10</m:t>
                      </m:r>
                      <m:r>
                        <a:rPr lang="en-ZA" sz="2400" i="1">
                          <a:latin typeface="Cambria Math"/>
                          <a:sym typeface="Symbol"/>
                        </a:rPr>
                        <m:t></m:t>
                      </m:r>
                      <m:r>
                        <a:rPr lang="en-ZA" sz="2400" b="0" i="1" smtClean="0">
                          <a:latin typeface="Cambria Math"/>
                          <a:sym typeface="Symbol"/>
                        </a:rPr>
                        <m:t>3</m:t>
                      </m:r>
                      <m:r>
                        <a:rPr lang="en-ZA" sz="2400" i="1">
                          <a:latin typeface="Cambria Math"/>
                          <a:sym typeface="Symbol"/>
                        </a:rPr>
                        <m:t>0</m:t>
                      </m:r>
                      <m:r>
                        <a:rPr lang="en-ZA" sz="2400" b="0" i="1" smtClean="0">
                          <a:latin typeface="Cambria Math"/>
                          <a:sym typeface="Symbol"/>
                        </a:rPr>
                        <m:t>+</m:t>
                      </m:r>
                      <m:r>
                        <a:rPr lang="en-ZA" sz="2400" b="0" i="1" smtClean="0">
                          <a:latin typeface="Cambria Math"/>
                          <a:sym typeface="Symbol"/>
                        </a:rPr>
                        <m:t>𝑗</m:t>
                      </m:r>
                      <m:r>
                        <a:rPr lang="en-ZA" sz="2400" b="0" i="1" smtClean="0">
                          <a:latin typeface="Cambria Math"/>
                          <a:sym typeface="Symbol"/>
                        </a:rPr>
                        <m:t>5</m:t>
                      </m:r>
                    </m:oMath>
                  </m:oMathPara>
                </a14:m>
                <a:endParaRPr lang="en-ZA" sz="2400" b="0" i="1" dirty="0" smtClean="0">
                  <a:latin typeface="Cambria Math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ZA" sz="2400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ZA" sz="2400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ZA" sz="2400" i="1">
                              <a:latin typeface="Cambria Math"/>
                            </a:rPr>
                            <m:t>10+</m:t>
                          </m:r>
                          <m:r>
                            <a:rPr lang="en-ZA" sz="2400" i="1">
                              <a:latin typeface="Cambria Math"/>
                            </a:rPr>
                            <m:t>𝑗</m:t>
                          </m:r>
                          <m:r>
                            <a:rPr lang="en-ZA" sz="2400" i="1">
                              <a:latin typeface="Cambria Math"/>
                            </a:rPr>
                            <m:t>5+2.3+</m:t>
                          </m:r>
                          <m:r>
                            <a:rPr lang="en-ZA" sz="2400" b="0" i="1" smtClean="0">
                              <a:latin typeface="Cambria Math"/>
                            </a:rPr>
                            <m:t>𝑗</m:t>
                          </m:r>
                          <m:r>
                            <a:rPr lang="en-ZA" sz="2400" b="0" i="1" smtClean="0">
                              <a:latin typeface="Cambria Math"/>
                            </a:rPr>
                            <m:t>1.93</m:t>
                          </m:r>
                        </m:num>
                        <m:den>
                          <m:r>
                            <a:rPr lang="en-ZA" sz="2400" b="0" i="1" smtClean="0">
                              <a:latin typeface="Cambria Math"/>
                            </a:rPr>
                            <m:t>5</m:t>
                          </m:r>
                          <m:r>
                            <a:rPr lang="en-ZA" sz="2400" i="1">
                              <a:latin typeface="Cambria Math"/>
                              <a:sym typeface="Symbol"/>
                            </a:rPr>
                            <m:t></m:t>
                          </m:r>
                          <m:r>
                            <a:rPr lang="en-ZA" sz="2400" b="0" i="1" smtClean="0">
                              <a:latin typeface="Cambria Math"/>
                              <a:sym typeface="Symbol"/>
                            </a:rPr>
                            <m:t>126.87</m:t>
                          </m:r>
                          <m:r>
                            <a:rPr lang="en-ZA" sz="2400" i="1">
                              <a:latin typeface="Cambria Math"/>
                              <a:sym typeface="Symbol"/>
                            </a:rPr>
                            <m:t></m:t>
                          </m:r>
                        </m:den>
                      </m:f>
                      <m:r>
                        <a:rPr lang="en-ZA" sz="2400" i="1">
                          <a:latin typeface="Cambria Math"/>
                        </a:rPr>
                        <m:t>+</m:t>
                      </m:r>
                      <m:r>
                        <a:rPr lang="en-ZA" sz="2400" b="0" i="1" smtClean="0">
                          <a:latin typeface="Cambria Math"/>
                        </a:rPr>
                        <m:t>8.66+</m:t>
                      </m:r>
                      <m:r>
                        <a:rPr lang="en-ZA" sz="2400" b="0" i="1" smtClean="0">
                          <a:latin typeface="Cambria Math"/>
                        </a:rPr>
                        <m:t>𝑗</m:t>
                      </m:r>
                      <m:r>
                        <a:rPr lang="en-ZA" sz="2400" b="0" i="1" smtClean="0">
                          <a:latin typeface="Cambria Math"/>
                        </a:rPr>
                        <m:t>5+</m:t>
                      </m:r>
                      <m:r>
                        <a:rPr lang="en-ZA" sz="2400" i="1">
                          <a:latin typeface="Cambria Math"/>
                          <a:sym typeface="Symbol"/>
                        </a:rPr>
                        <m:t>𝑗</m:t>
                      </m:r>
                      <m:r>
                        <a:rPr lang="en-ZA" sz="2400" i="1">
                          <a:latin typeface="Cambria Math"/>
                          <a:sym typeface="Symbol"/>
                        </a:rPr>
                        <m:t>5</m:t>
                      </m:r>
                    </m:oMath>
                  </m:oMathPara>
                </a14:m>
                <a:endParaRPr lang="en-ZA" sz="2400" b="0" i="1" dirty="0" smtClean="0">
                  <a:latin typeface="Cambria Math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ZA" sz="2400" i="1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ZA" sz="2400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ZA" sz="2400" i="1">
                              <a:latin typeface="Cambria Math"/>
                            </a:rPr>
                            <m:t>1</m:t>
                          </m:r>
                          <m:r>
                            <a:rPr lang="en-ZA" sz="2400" b="0" i="1" smtClean="0">
                              <a:latin typeface="Cambria Math"/>
                            </a:rPr>
                            <m:t>2.3</m:t>
                          </m:r>
                          <m:r>
                            <a:rPr lang="en-ZA" sz="2400" i="1">
                              <a:latin typeface="Cambria Math"/>
                            </a:rPr>
                            <m:t>+</m:t>
                          </m:r>
                          <m:r>
                            <a:rPr lang="en-ZA" sz="2400" i="1">
                              <a:latin typeface="Cambria Math"/>
                            </a:rPr>
                            <m:t>𝑗</m:t>
                          </m:r>
                          <m:r>
                            <a:rPr lang="en-ZA" sz="2400" b="0" i="1" smtClean="0">
                              <a:latin typeface="Cambria Math"/>
                            </a:rPr>
                            <m:t>6.93</m:t>
                          </m:r>
                        </m:num>
                        <m:den>
                          <m:r>
                            <a:rPr lang="en-ZA" sz="2400" i="1">
                              <a:latin typeface="Cambria Math"/>
                            </a:rPr>
                            <m:t>5</m:t>
                          </m:r>
                          <m:r>
                            <a:rPr lang="en-ZA" sz="2400" i="1">
                              <a:latin typeface="Cambria Math"/>
                              <a:sym typeface="Symbol"/>
                            </a:rPr>
                            <m:t>126.87</m:t>
                          </m:r>
                        </m:den>
                      </m:f>
                      <m:r>
                        <a:rPr lang="en-ZA" sz="2400" i="1">
                          <a:latin typeface="Cambria Math"/>
                        </a:rPr>
                        <m:t>+8.66+</m:t>
                      </m:r>
                      <m:r>
                        <a:rPr lang="en-ZA" sz="2400" i="1">
                          <a:latin typeface="Cambria Math"/>
                        </a:rPr>
                        <m:t>𝑗</m:t>
                      </m:r>
                      <m:r>
                        <a:rPr lang="en-ZA" sz="2400" b="0" i="1" smtClean="0">
                          <a:latin typeface="Cambria Math"/>
                        </a:rPr>
                        <m:t>10</m:t>
                      </m:r>
                    </m:oMath>
                  </m:oMathPara>
                </a14:m>
                <a:endParaRPr lang="en-ZA" sz="2400" i="1" dirty="0" smtClean="0">
                  <a:latin typeface="Cambria Math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ZA" sz="240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ZA" sz="2400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ZA" sz="2400" b="0" i="1" smtClean="0">
                              <a:latin typeface="Cambria Math"/>
                            </a:rPr>
                            <m:t>14.12</m:t>
                          </m:r>
                          <m:r>
                            <a:rPr lang="en-ZA" sz="2400" i="1">
                              <a:latin typeface="Cambria Math"/>
                              <a:sym typeface="Symbol"/>
                            </a:rPr>
                            <m:t></m:t>
                          </m:r>
                          <m:r>
                            <a:rPr lang="en-ZA" sz="2400" b="0" i="1" smtClean="0">
                              <a:latin typeface="Cambria Math"/>
                              <a:sym typeface="Symbol"/>
                            </a:rPr>
                            <m:t>29.40</m:t>
                          </m:r>
                          <m:r>
                            <a:rPr lang="en-ZA" sz="2400" i="1">
                              <a:latin typeface="Cambria Math"/>
                              <a:sym typeface="Symbol"/>
                            </a:rPr>
                            <m:t></m:t>
                          </m:r>
                        </m:num>
                        <m:den>
                          <m:r>
                            <a:rPr lang="en-ZA" sz="2400" i="1">
                              <a:latin typeface="Cambria Math"/>
                            </a:rPr>
                            <m:t>5</m:t>
                          </m:r>
                          <m:r>
                            <a:rPr lang="en-ZA" sz="2400" i="1">
                              <a:latin typeface="Cambria Math"/>
                              <a:sym typeface="Symbol"/>
                            </a:rPr>
                            <m:t>126.87</m:t>
                          </m:r>
                        </m:den>
                      </m:f>
                      <m:r>
                        <a:rPr lang="en-ZA" sz="2400" i="1">
                          <a:latin typeface="Cambria Math"/>
                        </a:rPr>
                        <m:t>+8.66+</m:t>
                      </m:r>
                      <m:r>
                        <a:rPr lang="en-ZA" sz="2400" i="1">
                          <a:latin typeface="Cambria Math"/>
                        </a:rPr>
                        <m:t>𝑗</m:t>
                      </m:r>
                      <m:r>
                        <a:rPr lang="en-ZA" sz="2400" b="0" i="1" smtClean="0">
                          <a:latin typeface="Cambria Math"/>
                        </a:rPr>
                        <m:t>10</m:t>
                      </m:r>
                    </m:oMath>
                  </m:oMathPara>
                </a14:m>
                <a:endParaRPr lang="en-ZA" sz="2400" i="1" dirty="0" smtClean="0">
                  <a:latin typeface="Cambria Math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ZA" sz="2400" i="1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ZA" sz="2400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ZA" sz="2400" i="1">
                              <a:latin typeface="Cambria Math"/>
                            </a:rPr>
                            <m:t>14.12</m:t>
                          </m:r>
                          <m:r>
                            <a:rPr lang="en-ZA" sz="2400" i="1">
                              <a:latin typeface="Cambria Math"/>
                              <a:sym typeface="Symbol"/>
                            </a:rPr>
                            <m:t>29.40</m:t>
                          </m:r>
                        </m:num>
                        <m:den>
                          <m:r>
                            <a:rPr lang="en-ZA" sz="2400" i="1">
                              <a:latin typeface="Cambria Math"/>
                            </a:rPr>
                            <m:t>5</m:t>
                          </m:r>
                          <m:r>
                            <a:rPr lang="en-ZA" sz="2400" i="1">
                              <a:latin typeface="Cambria Math"/>
                              <a:sym typeface="Symbol"/>
                            </a:rPr>
                            <m:t>126.87</m:t>
                          </m:r>
                        </m:den>
                      </m:f>
                      <m:r>
                        <a:rPr lang="en-ZA" sz="2400" i="1">
                          <a:latin typeface="Cambria Math"/>
                        </a:rPr>
                        <m:t>+8.66+</m:t>
                      </m:r>
                      <m:r>
                        <a:rPr lang="en-ZA" sz="2400" i="1">
                          <a:latin typeface="Cambria Math"/>
                        </a:rPr>
                        <m:t>𝑗</m:t>
                      </m:r>
                      <m:r>
                        <a:rPr lang="en-ZA" sz="2400" b="0" i="1" smtClean="0">
                          <a:latin typeface="Cambria Math"/>
                        </a:rPr>
                        <m:t>10</m:t>
                      </m:r>
                    </m:oMath>
                  </m:oMathPara>
                </a14:m>
                <a:endParaRPr lang="en-ZA" sz="2400" i="1" dirty="0" smtClean="0">
                  <a:latin typeface="Cambria Math"/>
                  <a:sym typeface="Symbol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ZA" sz="2400" i="1">
                          <a:latin typeface="Cambria Math"/>
                        </a:rPr>
                        <m:t>=</m:t>
                      </m:r>
                      <m:r>
                        <a:rPr lang="en-ZA" sz="2400" b="0" i="1" smtClean="0">
                          <a:latin typeface="Cambria Math"/>
                        </a:rPr>
                        <m:t>2.824</m:t>
                      </m:r>
                      <m:r>
                        <a:rPr lang="en-ZA" sz="2400" i="1">
                          <a:latin typeface="Cambria Math"/>
                          <a:sym typeface="Symbol"/>
                        </a:rPr>
                        <m:t></m:t>
                      </m:r>
                      <m:r>
                        <a:rPr lang="en-ZA" sz="2400" b="0" i="1" smtClean="0">
                          <a:latin typeface="Cambria Math"/>
                          <a:sym typeface="Symbol"/>
                        </a:rPr>
                        <m:t>−97.47</m:t>
                      </m:r>
                      <m:r>
                        <a:rPr lang="en-ZA" sz="2400" i="1">
                          <a:latin typeface="Cambria Math"/>
                          <a:sym typeface="Symbol"/>
                        </a:rPr>
                        <m:t></m:t>
                      </m:r>
                      <m:r>
                        <a:rPr lang="en-ZA" sz="2400" i="1">
                          <a:latin typeface="Cambria Math"/>
                        </a:rPr>
                        <m:t>+8.66+</m:t>
                      </m:r>
                      <m:r>
                        <a:rPr lang="en-ZA" sz="2400" i="1">
                          <a:latin typeface="Cambria Math"/>
                        </a:rPr>
                        <m:t>𝑗</m:t>
                      </m:r>
                      <m:r>
                        <a:rPr lang="en-ZA" sz="2400" b="0" i="1" smtClean="0">
                          <a:latin typeface="Cambria Math"/>
                        </a:rPr>
                        <m:t>10</m:t>
                      </m:r>
                    </m:oMath>
                  </m:oMathPara>
                </a14:m>
                <a:endParaRPr lang="en-ZA" sz="2400" b="0" i="1" dirty="0" smtClean="0">
                  <a:latin typeface="Cambria Math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ZA" sz="2400" b="0" i="1" smtClean="0">
                          <a:latin typeface="Cambria Math"/>
                        </a:rPr>
                        <m:t>=</m:t>
                      </m:r>
                      <m:r>
                        <a:rPr lang="en-ZA" sz="2400" i="1">
                          <a:latin typeface="Cambria Math"/>
                        </a:rPr>
                        <m:t>8.</m:t>
                      </m:r>
                      <m:r>
                        <a:rPr lang="en-ZA" sz="2400" b="0" i="1" smtClean="0">
                          <a:latin typeface="Cambria Math"/>
                        </a:rPr>
                        <m:t>293</m:t>
                      </m:r>
                      <m:r>
                        <a:rPr lang="en-ZA" sz="2400" i="1">
                          <a:latin typeface="Cambria Math"/>
                        </a:rPr>
                        <m:t>+</m:t>
                      </m:r>
                      <m:r>
                        <a:rPr lang="en-ZA" sz="2400" i="1">
                          <a:latin typeface="Cambria Math"/>
                        </a:rPr>
                        <m:t>𝑗</m:t>
                      </m:r>
                      <m:r>
                        <a:rPr lang="en-ZA" sz="2400" b="0" i="1" smtClean="0">
                          <a:latin typeface="Cambria Math"/>
                        </a:rPr>
                        <m:t>7.2=10.98</m:t>
                      </m:r>
                      <m:r>
                        <a:rPr lang="en-ZA" sz="2400" i="1">
                          <a:latin typeface="Cambria Math"/>
                          <a:sym typeface="Symbol"/>
                        </a:rPr>
                        <m:t></m:t>
                      </m:r>
                      <m:r>
                        <a:rPr lang="en-ZA" sz="2400" b="0" i="1" smtClean="0">
                          <a:latin typeface="Cambria Math"/>
                          <a:sym typeface="Symbol"/>
                        </a:rPr>
                        <m:t>40.97</m:t>
                      </m:r>
                      <m:r>
                        <a:rPr lang="en-ZA" sz="2400" i="1">
                          <a:latin typeface="Cambria Math"/>
                          <a:sym typeface="Symbol"/>
                        </a:rPr>
                        <m:t></m:t>
                      </m:r>
                    </m:oMath>
                  </m:oMathPara>
                </a14:m>
                <a:endParaRPr lang="en-ZA" sz="24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38662" y="110756"/>
                <a:ext cx="5601983" cy="6526723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Arrow Connector 7"/>
          <p:cNvCxnSpPr/>
          <p:nvPr/>
        </p:nvCxnSpPr>
        <p:spPr bwMode="auto">
          <a:xfrm>
            <a:off x="3773714" y="6487886"/>
            <a:ext cx="4078515" cy="0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arrow" w="lg" len="med"/>
          </a:ln>
          <a:extLst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68140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DBEB72-C004-46D1-9992-458CC43F3DD8}" type="slidenum">
              <a:rPr lang="en-US" smtClean="0"/>
              <a:pPr/>
              <a:t>28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270455" y="143801"/>
                <a:ext cx="8474299" cy="4154984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r>
                  <a:rPr lang="en-ZA" sz="2400" b="1" u="sng" dirty="0" smtClean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PP 9.4</a:t>
                </a:r>
                <a:r>
                  <a:rPr lang="en-ZA" sz="2400" dirty="0">
                    <a:latin typeface="Times New Roman" pitchFamily="18" charset="0"/>
                    <a:cs typeface="Times New Roman" pitchFamily="18" charset="0"/>
                  </a:rPr>
                  <a:t/>
                </a:r>
                <a:br>
                  <a:rPr lang="en-ZA" sz="2400" dirty="0">
                    <a:latin typeface="Times New Roman" pitchFamily="18" charset="0"/>
                    <a:cs typeface="Times New Roman" pitchFamily="18" charset="0"/>
                  </a:rPr>
                </a:br>
                <a:r>
                  <a:rPr lang="en-ZA" sz="2400" dirty="0" smtClean="0">
                    <a:latin typeface="Times New Roman" pitchFamily="18" charset="0"/>
                    <a:cs typeface="Times New Roman" pitchFamily="18" charset="0"/>
                  </a:rPr>
                  <a:t>Express these sinusoids as </a:t>
                </a:r>
                <a:r>
                  <a:rPr lang="en-ZA" sz="2400" dirty="0" err="1" smtClean="0">
                    <a:latin typeface="Times New Roman" pitchFamily="18" charset="0"/>
                    <a:cs typeface="Times New Roman" pitchFamily="18" charset="0"/>
                  </a:rPr>
                  <a:t>phasors</a:t>
                </a:r>
                <a:r>
                  <a:rPr lang="en-ZA" sz="2400" dirty="0" smtClean="0">
                    <a:latin typeface="Times New Roman" pitchFamily="18" charset="0"/>
                    <a:cs typeface="Times New Roman" pitchFamily="18" charset="0"/>
                  </a:rPr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ZA" sz="2400" b="0" i="0" smtClean="0">
                          <a:latin typeface="Cambria Math"/>
                          <a:cs typeface="Times New Roman" pitchFamily="18" charset="0"/>
                        </a:rPr>
                        <m:t>a</m:t>
                      </m:r>
                      <m:r>
                        <a:rPr lang="en-ZA" sz="2400" b="0" i="0" smtClean="0">
                          <a:latin typeface="Cambria Math"/>
                          <a:cs typeface="Times New Roman" pitchFamily="18" charset="0"/>
                        </a:rPr>
                        <m:t>) </m:t>
                      </m:r>
                      <m:r>
                        <a:rPr lang="en-ZA" sz="2400" b="0" i="1" smtClean="0">
                          <a:latin typeface="Cambria Math"/>
                          <a:cs typeface="Times New Roman" pitchFamily="18" charset="0"/>
                        </a:rPr>
                        <m:t>𝑣</m:t>
                      </m:r>
                      <m:r>
                        <a:rPr lang="en-ZA" sz="2400" b="0" i="1" smtClean="0">
                          <a:latin typeface="Cambria Math"/>
                          <a:cs typeface="Times New Roman" pitchFamily="18" charset="0"/>
                        </a:rPr>
                        <m:t>=7</m:t>
                      </m:r>
                      <m:func>
                        <m:funcPr>
                          <m:ctrlPr>
                            <a:rPr lang="en-ZA" sz="2400" b="0" i="1" smtClean="0">
                              <a:latin typeface="Cambria Math"/>
                              <a:cs typeface="Times New Roman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ZA" sz="2400" b="0" i="0" smtClean="0">
                              <a:latin typeface="Cambria Math"/>
                              <a:cs typeface="Times New Roman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ZA" sz="2400" b="0" i="1" smtClean="0">
                                  <a:latin typeface="Cambria Math"/>
                                  <a:cs typeface="Times New Roman" pitchFamily="18" charset="0"/>
                                </a:rPr>
                              </m:ctrlPr>
                            </m:dPr>
                            <m:e>
                              <m:r>
                                <a:rPr lang="en-ZA" sz="2400" b="0" i="1" smtClean="0">
                                  <a:latin typeface="Cambria Math"/>
                                  <a:cs typeface="Times New Roman" pitchFamily="18" charset="0"/>
                                </a:rPr>
                                <m:t>2</m:t>
                              </m:r>
                              <m:r>
                                <a:rPr lang="en-ZA" sz="2400" b="0" i="1" smtClean="0">
                                  <a:latin typeface="Cambria Math"/>
                                  <a:cs typeface="Times New Roman" pitchFamily="18" charset="0"/>
                                </a:rPr>
                                <m:t>𝑡</m:t>
                              </m:r>
                              <m:r>
                                <a:rPr lang="en-ZA" sz="2400" b="0" i="1" smtClean="0">
                                  <a:latin typeface="Cambria Math"/>
                                  <a:cs typeface="Times New Roman" pitchFamily="18" charset="0"/>
                                </a:rPr>
                                <m:t>+40°</m:t>
                              </m:r>
                            </m:e>
                          </m:d>
                          <m:r>
                            <a:rPr lang="en-ZA" sz="2400" b="0" i="1" smtClean="0">
                              <a:latin typeface="Cambria Math"/>
                              <a:cs typeface="Times New Roman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ZA" sz="2400" b="0" i="0" smtClean="0">
                              <a:latin typeface="Cambria Math"/>
                              <a:cs typeface="Times New Roman" pitchFamily="18" charset="0"/>
                            </a:rPr>
                            <m:t>V</m:t>
                          </m:r>
                        </m:e>
                      </m:func>
                    </m:oMath>
                  </m:oMathPara>
                </a14:m>
                <a:endParaRPr lang="en-ZA" sz="2400" dirty="0" smtClean="0">
                  <a:latin typeface="Times New Roman" pitchFamily="18" charset="0"/>
                  <a:cs typeface="Times New Roman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ZA" sz="2400" b="1" i="0" smtClean="0">
                          <a:latin typeface="Cambria Math"/>
                          <a:cs typeface="Times New Roman" pitchFamily="18" charset="0"/>
                        </a:rPr>
                        <m:t>𝐕</m:t>
                      </m:r>
                      <m:r>
                        <a:rPr lang="en-ZA" sz="2400" b="0" i="1" smtClean="0">
                          <a:latin typeface="Cambria Math"/>
                          <a:cs typeface="Times New Roman" pitchFamily="18" charset="0"/>
                        </a:rPr>
                        <m:t>=7</m:t>
                      </m:r>
                      <m:r>
                        <a:rPr lang="en-ZA" sz="2400" b="0" i="1" smtClean="0">
                          <a:latin typeface="Cambria Math"/>
                          <a:cs typeface="Times New Roman" pitchFamily="18" charset="0"/>
                          <a:sym typeface="Symbol"/>
                        </a:rPr>
                        <m:t>40</m:t>
                      </m:r>
                      <m:r>
                        <a:rPr lang="en-ZA" sz="2400" b="0" i="0" smtClean="0">
                          <a:latin typeface="Cambria Math"/>
                          <a:cs typeface="Times New Roman" pitchFamily="18" charset="0"/>
                          <a:sym typeface="Symbol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ZA" sz="2400" b="0" i="0" smtClean="0">
                          <a:latin typeface="Cambria Math"/>
                          <a:cs typeface="Times New Roman" pitchFamily="18" charset="0"/>
                          <a:sym typeface="Symbol"/>
                        </a:rPr>
                        <m:t>V</m:t>
                      </m:r>
                    </m:oMath>
                  </m:oMathPara>
                </a14:m>
                <a:endParaRPr lang="en-ZA" sz="2400" b="0" dirty="0" smtClean="0">
                  <a:latin typeface="Times New Roman" pitchFamily="18" charset="0"/>
                  <a:cs typeface="Times New Roman" pitchFamily="18" charset="0"/>
                  <a:sym typeface="Symbol"/>
                </a:endParaRPr>
              </a:p>
              <a:p>
                <a:endParaRPr lang="en-ZA" sz="2400" dirty="0" smtClean="0">
                  <a:latin typeface="Times New Roman" pitchFamily="18" charset="0"/>
                  <a:cs typeface="Times New Roman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ZA" sz="2400" b="0" i="0" smtClean="0">
                          <a:latin typeface="Cambria Math"/>
                          <a:cs typeface="Times New Roman" pitchFamily="18" charset="0"/>
                        </a:rPr>
                        <m:t>b</m:t>
                      </m:r>
                      <m:r>
                        <a:rPr lang="en-ZA" sz="2400" b="0" i="0" smtClean="0">
                          <a:latin typeface="Cambria Math"/>
                          <a:cs typeface="Times New Roman" pitchFamily="18" charset="0"/>
                        </a:rPr>
                        <m:t>) </m:t>
                      </m:r>
                      <m:r>
                        <a:rPr lang="en-ZA" sz="2400" b="0" i="1" smtClean="0">
                          <a:latin typeface="Cambria Math"/>
                          <a:cs typeface="Times New Roman" pitchFamily="18" charset="0"/>
                        </a:rPr>
                        <m:t>𝑖</m:t>
                      </m:r>
                      <m:r>
                        <a:rPr lang="en-ZA" sz="2400" b="0" i="1" smtClean="0">
                          <a:latin typeface="Cambria Math"/>
                          <a:cs typeface="Times New Roman" pitchFamily="18" charset="0"/>
                        </a:rPr>
                        <m:t>=−4 </m:t>
                      </m:r>
                      <m:func>
                        <m:funcPr>
                          <m:ctrlPr>
                            <a:rPr lang="en-ZA" sz="2400" b="0" i="1" smtClean="0">
                              <a:latin typeface="Cambria Math"/>
                              <a:cs typeface="Times New Roman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ZA" sz="2400" b="0" i="0" smtClean="0">
                              <a:latin typeface="Cambria Math"/>
                              <a:cs typeface="Times New Roman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ZA" sz="2400" b="0" i="1" smtClean="0">
                                  <a:latin typeface="Cambria Math"/>
                                  <a:cs typeface="Times New Roman" pitchFamily="18" charset="0"/>
                                </a:rPr>
                              </m:ctrlPr>
                            </m:dPr>
                            <m:e>
                              <m:r>
                                <a:rPr lang="en-ZA" sz="2400" b="0" i="1" smtClean="0">
                                  <a:latin typeface="Cambria Math"/>
                                  <a:cs typeface="Times New Roman" pitchFamily="18" charset="0"/>
                                </a:rPr>
                                <m:t>10</m:t>
                              </m:r>
                              <m:r>
                                <a:rPr lang="en-ZA" sz="2400" b="0" i="1" smtClean="0">
                                  <a:latin typeface="Cambria Math"/>
                                  <a:cs typeface="Times New Roman" pitchFamily="18" charset="0"/>
                                </a:rPr>
                                <m:t>𝑡</m:t>
                              </m:r>
                              <m:r>
                                <a:rPr lang="en-ZA" sz="2400" b="0" i="1" smtClean="0">
                                  <a:latin typeface="Cambria Math"/>
                                  <a:cs typeface="Times New Roman" pitchFamily="18" charset="0"/>
                                </a:rPr>
                                <m:t>+10°</m:t>
                              </m:r>
                            </m:e>
                          </m:d>
                          <m:r>
                            <a:rPr lang="en-ZA" sz="2400" b="0" i="1" smtClean="0">
                              <a:latin typeface="Cambria Math"/>
                              <a:cs typeface="Times New Roman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ZA" sz="2400" b="0" i="0" smtClean="0">
                              <a:latin typeface="Cambria Math"/>
                              <a:cs typeface="Times New Roman" pitchFamily="18" charset="0"/>
                            </a:rPr>
                            <m:t>A</m:t>
                          </m:r>
                        </m:e>
                      </m:func>
                    </m:oMath>
                  </m:oMathPara>
                </a14:m>
                <a:endParaRPr lang="en-ZA" sz="2400" b="0" dirty="0" smtClean="0">
                  <a:latin typeface="Times New Roman" pitchFamily="18" charset="0"/>
                  <a:cs typeface="Times New Roman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ZA" sz="2400" b="0" i="1" smtClean="0">
                          <a:latin typeface="Cambria Math"/>
                        </a:rPr>
                        <m:t>        </m:t>
                      </m:r>
                      <m:r>
                        <a:rPr lang="en-ZA" sz="2400" i="1">
                          <a:latin typeface="Cambria Math"/>
                        </a:rPr>
                        <m:t>=−4 </m:t>
                      </m:r>
                      <m:func>
                        <m:funcPr>
                          <m:ctrlPr>
                            <a:rPr lang="en-ZA" sz="2400" i="1">
                              <a:latin typeface="Cambria Math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ZA" sz="2400" b="0" i="0" smtClean="0">
                              <a:latin typeface="Cambria Math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ZA" sz="2400" i="1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ZA" sz="2400" i="1">
                                  <a:latin typeface="Cambria Math"/>
                                </a:rPr>
                                <m:t>10</m:t>
                              </m:r>
                              <m:r>
                                <a:rPr lang="en-ZA" sz="2400" i="1">
                                  <a:latin typeface="Cambria Math"/>
                                </a:rPr>
                                <m:t>𝑡</m:t>
                              </m:r>
                              <m:r>
                                <a:rPr lang="en-ZA" sz="2400" i="1">
                                  <a:latin typeface="Cambria Math"/>
                                </a:rPr>
                                <m:t>+10°−90°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ZA" sz="2400" dirty="0" smtClean="0">
                  <a:latin typeface="Times New Roman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ZA" sz="2400" i="1">
                          <a:latin typeface="Cambria Math"/>
                        </a:rPr>
                        <m:t> </m:t>
                      </m:r>
                      <m:r>
                        <a:rPr lang="en-ZA" sz="2400" b="0" i="1" smtClean="0">
                          <a:latin typeface="Cambria Math"/>
                        </a:rPr>
                        <m:t>       </m:t>
                      </m:r>
                      <m:r>
                        <a:rPr lang="en-ZA" sz="2400" i="1">
                          <a:latin typeface="Cambria Math"/>
                        </a:rPr>
                        <m:t>=−4 </m:t>
                      </m:r>
                      <m:func>
                        <m:funcPr>
                          <m:ctrlPr>
                            <a:rPr lang="en-ZA" sz="2400" i="1">
                              <a:latin typeface="Cambria Math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ZA" sz="2400">
                              <a:latin typeface="Cambria Math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ZA" sz="2400" i="1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ZA" sz="2400" i="1">
                                  <a:latin typeface="Cambria Math"/>
                                </a:rPr>
                                <m:t>10</m:t>
                              </m:r>
                              <m:r>
                                <a:rPr lang="en-ZA" sz="2400" i="1">
                                  <a:latin typeface="Cambria Math"/>
                                </a:rPr>
                                <m:t>𝑡</m:t>
                              </m:r>
                              <m:r>
                                <a:rPr lang="en-ZA" sz="2400" i="1">
                                  <a:latin typeface="Cambria Math"/>
                                </a:rPr>
                                <m:t>−80°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ZA" sz="2400" dirty="0" smtClean="0">
                  <a:latin typeface="Times New Roman" pitchFamily="18" charset="0"/>
                </a:endParaRPr>
              </a:p>
              <a:p>
                <a:r>
                  <a:rPr lang="en-ZA" sz="2400" dirty="0"/>
                  <a:t> </a:t>
                </a:r>
                <a:r>
                  <a:rPr lang="en-ZA" sz="2400" dirty="0" smtClean="0"/>
                  <a:t>     </a:t>
                </a:r>
                <a14:m>
                  <m:oMath xmlns:m="http://schemas.openxmlformats.org/officeDocument/2006/math">
                    <m:r>
                      <a:rPr lang="en-ZA" sz="2400" b="0" i="1" smtClean="0">
                        <a:latin typeface="Cambria Math"/>
                      </a:rPr>
                      <m:t>=</m:t>
                    </m:r>
                    <m:r>
                      <a:rPr lang="en-ZA" sz="2400" i="1">
                        <a:latin typeface="Cambria Math"/>
                      </a:rPr>
                      <m:t>4 </m:t>
                    </m:r>
                    <m:func>
                      <m:funcPr>
                        <m:ctrlPr>
                          <a:rPr lang="en-ZA" sz="2400" i="1">
                            <a:latin typeface="Cambria Math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ZA" sz="2400">
                            <a:latin typeface="Cambria Math"/>
                          </a:rPr>
                          <m:t>cos</m:t>
                        </m:r>
                      </m:fName>
                      <m:e>
                        <m:d>
                          <m:dPr>
                            <m:ctrlPr>
                              <a:rPr lang="en-ZA" sz="2400" i="1"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a:rPr lang="en-ZA" sz="2400" i="1">
                                <a:latin typeface="Cambria Math"/>
                              </a:rPr>
                              <m:t>10</m:t>
                            </m:r>
                            <m:r>
                              <a:rPr lang="en-ZA" sz="2400" i="1">
                                <a:latin typeface="Cambria Math"/>
                              </a:rPr>
                              <m:t>𝑡</m:t>
                            </m:r>
                            <m:r>
                              <a:rPr lang="en-ZA" sz="2400" b="0" i="1" smtClean="0">
                                <a:latin typeface="Cambria Math"/>
                              </a:rPr>
                              <m:t>+100</m:t>
                            </m:r>
                            <m:r>
                              <a:rPr lang="en-ZA" sz="2400" i="1">
                                <a:latin typeface="Cambria Math"/>
                              </a:rPr>
                              <m:t>°</m:t>
                            </m:r>
                          </m:e>
                        </m:d>
                      </m:e>
                    </m:func>
                  </m:oMath>
                </a14:m>
                <a:endParaRPr lang="en-ZA" sz="2400" i="1" dirty="0" smtClean="0"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ZA" sz="2400" b="1" i="0" smtClean="0">
                          <a:latin typeface="Cambria Math"/>
                        </a:rPr>
                        <m:t>      </m:t>
                      </m:r>
                      <m:r>
                        <a:rPr lang="en-ZA" sz="2400" b="1" i="0" smtClean="0">
                          <a:latin typeface="Cambria Math"/>
                        </a:rPr>
                        <m:t>𝐈</m:t>
                      </m:r>
                      <m:r>
                        <a:rPr lang="en-ZA" sz="2400" i="1">
                          <a:latin typeface="Cambria Math"/>
                        </a:rPr>
                        <m:t>=</m:t>
                      </m:r>
                      <m:r>
                        <a:rPr lang="en-ZA" sz="2400" b="0" i="1" smtClean="0">
                          <a:latin typeface="Cambria Math"/>
                        </a:rPr>
                        <m:t>−4</m:t>
                      </m:r>
                      <m:r>
                        <a:rPr lang="en-ZA" sz="2400" i="1">
                          <a:latin typeface="Cambria Math"/>
                          <a:sym typeface="Symbol"/>
                        </a:rPr>
                        <m:t></m:t>
                      </m:r>
                      <m:r>
                        <a:rPr lang="en-ZA" sz="2400" b="0" i="1" smtClean="0">
                          <a:latin typeface="Cambria Math"/>
                          <a:sym typeface="Symbol"/>
                        </a:rPr>
                        <m:t>10</m:t>
                      </m:r>
                      <m:r>
                        <a:rPr lang="en-ZA" sz="2400" i="1">
                          <a:latin typeface="Cambria Math"/>
                          <a:sym typeface="Symbol"/>
                        </a:rPr>
                        <m:t>0</m:t>
                      </m:r>
                      <m:r>
                        <a:rPr lang="en-ZA" sz="2400" b="0" i="1" smtClean="0">
                          <a:latin typeface="Cambria Math"/>
                          <a:sym typeface="Symbol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ZA" sz="2400" b="0" i="0" smtClean="0">
                          <a:latin typeface="Cambria Math"/>
                          <a:sym typeface="Symbol"/>
                        </a:rPr>
                        <m:t>A</m:t>
                      </m:r>
                    </m:oMath>
                  </m:oMathPara>
                </a14:m>
                <a:endParaRPr lang="en-ZA" sz="2400" dirty="0">
                  <a:latin typeface="Times New Roman" pitchFamily="18" charset="0"/>
                  <a:sym typeface="Symbol"/>
                </a:endParaRPr>
              </a:p>
              <a:p>
                <a:endParaRPr lang="en-ZA" sz="2400" dirty="0" smtClean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455" y="143801"/>
                <a:ext cx="8474299" cy="4154984"/>
              </a:xfrm>
              <a:prstGeom prst="rect">
                <a:avLst/>
              </a:prstGeom>
              <a:blipFill rotWithShape="1">
                <a:blip r:embed="rId2"/>
                <a:stretch>
                  <a:fillRect l="-1078" t="-1175"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154040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DBEB72-C004-46D1-9992-458CC43F3DD8}" type="slidenum">
              <a:rPr lang="en-US" smtClean="0"/>
              <a:pPr/>
              <a:t>29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270455" y="143801"/>
                <a:ext cx="8474299" cy="378565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r>
                  <a:rPr lang="en-ZA" sz="2400" b="1" u="sng" dirty="0" smtClean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PP 9.5</a:t>
                </a:r>
                <a:r>
                  <a:rPr lang="en-ZA" sz="2400" dirty="0">
                    <a:latin typeface="Times New Roman" pitchFamily="18" charset="0"/>
                    <a:cs typeface="Times New Roman" pitchFamily="18" charset="0"/>
                  </a:rPr>
                  <a:t/>
                </a:r>
                <a:br>
                  <a:rPr lang="en-ZA" sz="2400" dirty="0">
                    <a:latin typeface="Times New Roman" pitchFamily="18" charset="0"/>
                    <a:cs typeface="Times New Roman" pitchFamily="18" charset="0"/>
                  </a:rPr>
                </a:br>
                <a:r>
                  <a:rPr lang="en-ZA" sz="2400" dirty="0" smtClean="0">
                    <a:latin typeface="Times New Roman" pitchFamily="18" charset="0"/>
                    <a:cs typeface="Times New Roman" pitchFamily="18" charset="0"/>
                  </a:rPr>
                  <a:t>Find the sinusoids corresponding to these </a:t>
                </a:r>
                <a:r>
                  <a:rPr lang="en-ZA" sz="2400" dirty="0" err="1" smtClean="0">
                    <a:latin typeface="Times New Roman" pitchFamily="18" charset="0"/>
                    <a:cs typeface="Times New Roman" pitchFamily="18" charset="0"/>
                  </a:rPr>
                  <a:t>phasors</a:t>
                </a:r>
                <a:r>
                  <a:rPr lang="en-ZA" sz="2400" dirty="0" smtClean="0">
                    <a:latin typeface="Times New Roman" pitchFamily="18" charset="0"/>
                    <a:cs typeface="Times New Roman" pitchFamily="18" charset="0"/>
                  </a:rPr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ZA" sz="2400" b="0" i="0" smtClean="0">
                          <a:latin typeface="Cambria Math"/>
                          <a:cs typeface="Times New Roman" pitchFamily="18" charset="0"/>
                        </a:rPr>
                        <m:t>a</m:t>
                      </m:r>
                      <m:r>
                        <a:rPr lang="en-ZA" sz="2400" b="0" i="0" smtClean="0">
                          <a:latin typeface="Cambria Math"/>
                          <a:cs typeface="Times New Roman" pitchFamily="18" charset="0"/>
                        </a:rPr>
                        <m:t>)</m:t>
                      </m:r>
                      <m:r>
                        <a:rPr lang="en-ZA" sz="2400" b="1">
                          <a:latin typeface="Cambria Math"/>
                        </a:rPr>
                        <m:t>𝐕</m:t>
                      </m:r>
                      <m:r>
                        <a:rPr lang="en-ZA" sz="2400" i="1">
                          <a:latin typeface="Cambria Math"/>
                        </a:rPr>
                        <m:t>=</m:t>
                      </m:r>
                      <m:r>
                        <a:rPr lang="en-ZA" sz="2400" b="0" i="1" smtClean="0">
                          <a:latin typeface="Cambria Math"/>
                        </a:rPr>
                        <m:t>−10</m:t>
                      </m:r>
                      <m:r>
                        <a:rPr lang="en-ZA" sz="2400" i="1">
                          <a:latin typeface="Cambria Math"/>
                          <a:sym typeface="Symbol"/>
                        </a:rPr>
                        <m:t></m:t>
                      </m:r>
                      <m:r>
                        <a:rPr lang="en-ZA" sz="2400" b="0" i="1" smtClean="0">
                          <a:latin typeface="Cambria Math"/>
                          <a:sym typeface="Symbol"/>
                        </a:rPr>
                        <m:t>3</m:t>
                      </m:r>
                      <m:r>
                        <a:rPr lang="en-ZA" sz="2400" i="1">
                          <a:latin typeface="Cambria Math"/>
                          <a:sym typeface="Symbol"/>
                        </a:rPr>
                        <m:t>0</m:t>
                      </m:r>
                      <m:r>
                        <a:rPr lang="en-ZA" sz="2400">
                          <a:latin typeface="Cambria Math"/>
                          <a:sym typeface="Symbol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ZA" sz="2400">
                          <a:latin typeface="Cambria Math"/>
                          <a:sym typeface="Symbol"/>
                        </a:rPr>
                        <m:t>V</m:t>
                      </m:r>
                    </m:oMath>
                  </m:oMathPara>
                </a14:m>
                <a:endParaRPr lang="en-ZA" sz="2400" dirty="0">
                  <a:latin typeface="Times New Roman" pitchFamily="18" charset="0"/>
                  <a:sym typeface="Symbol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ZA" sz="2400" b="0" i="1" smtClean="0">
                          <a:latin typeface="Cambria Math"/>
                          <a:cs typeface="Times New Roman" pitchFamily="18" charset="0"/>
                        </a:rPr>
                        <m:t>𝑣</m:t>
                      </m:r>
                      <m:r>
                        <a:rPr lang="en-ZA" sz="2400" b="0" i="1" smtClean="0">
                          <a:latin typeface="Cambria Math"/>
                          <a:cs typeface="Times New Roman" pitchFamily="18" charset="0"/>
                        </a:rPr>
                        <m:t>=−10</m:t>
                      </m:r>
                      <m:func>
                        <m:funcPr>
                          <m:ctrlPr>
                            <a:rPr lang="en-ZA" sz="2400" b="0" i="1" smtClean="0">
                              <a:latin typeface="Cambria Math"/>
                              <a:cs typeface="Times New Roman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ZA" sz="2400" b="0" i="0" smtClean="0">
                              <a:latin typeface="Cambria Math"/>
                              <a:cs typeface="Times New Roman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ZA" sz="2400" b="0" i="1" smtClean="0">
                                  <a:latin typeface="Cambria Math"/>
                                  <a:cs typeface="Times New Roman" pitchFamily="18" charset="0"/>
                                </a:rPr>
                              </m:ctrlPr>
                            </m:dPr>
                            <m:e>
                              <m:r>
                                <a:rPr lang="en-ZA" sz="2400" i="1">
                                  <a:latin typeface="Cambria Math"/>
                                  <a:sym typeface="Symbol"/>
                                </a:rPr>
                                <m:t></m:t>
                              </m:r>
                              <m:r>
                                <a:rPr lang="en-ZA" sz="2400" b="0" i="1" smtClean="0">
                                  <a:latin typeface="Cambria Math"/>
                                  <a:cs typeface="Times New Roman" pitchFamily="18" charset="0"/>
                                </a:rPr>
                                <m:t>𝑡</m:t>
                              </m:r>
                              <m:r>
                                <a:rPr lang="en-ZA" sz="2400" b="0" i="1" smtClean="0">
                                  <a:latin typeface="Cambria Math"/>
                                  <a:cs typeface="Times New Roman" pitchFamily="18" charset="0"/>
                                </a:rPr>
                                <m:t>+30°</m:t>
                              </m:r>
                            </m:e>
                          </m:d>
                          <m:r>
                            <a:rPr lang="en-ZA" sz="2400" b="0" i="1" smtClean="0">
                              <a:latin typeface="Cambria Math"/>
                              <a:cs typeface="Times New Roman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ZA" sz="2400" b="0" i="0" smtClean="0">
                              <a:latin typeface="Cambria Math"/>
                              <a:cs typeface="Times New Roman" pitchFamily="18" charset="0"/>
                            </a:rPr>
                            <m:t>V</m:t>
                          </m:r>
                        </m:e>
                      </m:func>
                    </m:oMath>
                  </m:oMathPara>
                </a14:m>
                <a:endParaRPr lang="en-ZA" sz="2400" dirty="0" smtClean="0">
                  <a:latin typeface="Times New Roman" pitchFamily="18" charset="0"/>
                  <a:cs typeface="Times New Roman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ZA" sz="2400" i="1">
                          <a:latin typeface="Cambria Math"/>
                        </a:rPr>
                        <m:t>𝑣</m:t>
                      </m:r>
                      <m:r>
                        <a:rPr lang="en-ZA" sz="2400" i="1">
                          <a:latin typeface="Cambria Math"/>
                        </a:rPr>
                        <m:t>=10</m:t>
                      </m:r>
                      <m:func>
                        <m:funcPr>
                          <m:ctrlPr>
                            <a:rPr lang="en-ZA" sz="2400" i="1">
                              <a:latin typeface="Cambria Math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ZA" sz="2400">
                              <a:latin typeface="Cambria Math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ZA" sz="2400" i="1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ZA" sz="2400" i="1">
                                  <a:latin typeface="Cambria Math"/>
                                  <a:sym typeface="Symbol"/>
                                </a:rPr>
                                <m:t></m:t>
                              </m:r>
                              <m:r>
                                <a:rPr lang="en-ZA" sz="2400" i="1">
                                  <a:latin typeface="Cambria Math"/>
                                </a:rPr>
                                <m:t>𝑡</m:t>
                              </m:r>
                              <m:r>
                                <a:rPr lang="en-ZA" sz="2400" b="0" i="1" smtClean="0">
                                  <a:latin typeface="Cambria Math"/>
                                </a:rPr>
                                <m:t>−150</m:t>
                              </m:r>
                              <m:r>
                                <a:rPr lang="en-ZA" sz="2400" i="1">
                                  <a:latin typeface="Cambria Math"/>
                                </a:rPr>
                                <m:t>°</m:t>
                              </m:r>
                            </m:e>
                          </m:d>
                          <m:r>
                            <a:rPr lang="en-ZA" sz="2400" i="1">
                              <a:latin typeface="Cambria Math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ZA" sz="2400">
                              <a:latin typeface="Cambria Math"/>
                            </a:rPr>
                            <m:t>V</m:t>
                          </m:r>
                        </m:e>
                      </m:func>
                    </m:oMath>
                  </m:oMathPara>
                </a14:m>
                <a:endParaRPr lang="en-ZA" sz="2400" dirty="0" smtClean="0">
                  <a:latin typeface="Times New Roman" pitchFamily="18" charset="0"/>
                  <a:cs typeface="Times New Roman" pitchFamily="18" charset="0"/>
                </a:endParaRPr>
              </a:p>
              <a:p>
                <a:endParaRPr lang="en-ZA" sz="2400" dirty="0" smtClean="0">
                  <a:latin typeface="Times New Roman" pitchFamily="18" charset="0"/>
                  <a:cs typeface="Times New Roman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ZA" sz="2400" b="0" i="0" smtClean="0">
                          <a:latin typeface="Cambria Math"/>
                          <a:cs typeface="Times New Roman" pitchFamily="18" charset="0"/>
                        </a:rPr>
                        <m:t>b</m:t>
                      </m:r>
                      <m:r>
                        <a:rPr lang="en-ZA" sz="2400" b="0" i="0" smtClean="0">
                          <a:latin typeface="Cambria Math"/>
                          <a:cs typeface="Times New Roman" pitchFamily="18" charset="0"/>
                        </a:rPr>
                        <m:t>) </m:t>
                      </m:r>
                      <m:r>
                        <a:rPr lang="en-ZA" sz="2400" b="1">
                          <a:latin typeface="Cambria Math"/>
                        </a:rPr>
                        <m:t>𝐈</m:t>
                      </m:r>
                      <m:r>
                        <a:rPr lang="en-ZA" sz="2400" i="1">
                          <a:latin typeface="Cambria Math"/>
                        </a:rPr>
                        <m:t>=</m:t>
                      </m:r>
                      <m:r>
                        <a:rPr lang="en-ZA" sz="2400" b="0" i="1" smtClean="0">
                          <a:latin typeface="Cambria Math"/>
                        </a:rPr>
                        <m:t>𝑗</m:t>
                      </m:r>
                      <m:d>
                        <m:dPr>
                          <m:ctrlPr>
                            <a:rPr lang="en-ZA" sz="2400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ZA" sz="2400" b="0" i="1" smtClean="0">
                              <a:latin typeface="Cambria Math"/>
                            </a:rPr>
                            <m:t>5−</m:t>
                          </m:r>
                          <m:r>
                            <a:rPr lang="en-ZA" sz="2400" b="0" i="1" smtClean="0">
                              <a:latin typeface="Cambria Math"/>
                            </a:rPr>
                            <m:t>𝑗</m:t>
                          </m:r>
                          <m:r>
                            <a:rPr lang="en-ZA" sz="2400" b="0" i="1" smtClean="0">
                              <a:latin typeface="Cambria Math"/>
                            </a:rPr>
                            <m:t>12</m:t>
                          </m:r>
                        </m:e>
                      </m:d>
                      <m:r>
                        <a:rPr lang="en-ZA" sz="2400" i="1">
                          <a:latin typeface="Cambria Math"/>
                          <a:sym typeface="Symbol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ZA" sz="2400">
                          <a:latin typeface="Cambria Math"/>
                          <a:sym typeface="Symbol"/>
                        </a:rPr>
                        <m:t>A</m:t>
                      </m:r>
                    </m:oMath>
                  </m:oMathPara>
                </a14:m>
                <a:endParaRPr lang="en-ZA" sz="2400" dirty="0" smtClean="0">
                  <a:latin typeface="Times New Roman" pitchFamily="18" charset="0"/>
                  <a:sym typeface="Symbol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ZA" sz="2400" b="1" i="0" smtClean="0">
                          <a:latin typeface="Cambria Math"/>
                        </a:rPr>
                        <m:t>     </m:t>
                      </m:r>
                      <m:r>
                        <a:rPr lang="en-ZA" sz="2400" b="1">
                          <a:latin typeface="Cambria Math"/>
                        </a:rPr>
                        <m:t>𝐈</m:t>
                      </m:r>
                      <m:r>
                        <a:rPr lang="en-ZA" sz="2400" i="1">
                          <a:latin typeface="Cambria Math"/>
                        </a:rPr>
                        <m:t>=</m:t>
                      </m:r>
                      <m:r>
                        <a:rPr lang="en-ZA" sz="2400" i="1">
                          <a:latin typeface="Cambria Math"/>
                        </a:rPr>
                        <m:t>𝑗</m:t>
                      </m:r>
                      <m:r>
                        <a:rPr lang="en-ZA" sz="2400" i="1">
                          <a:latin typeface="Cambria Math"/>
                        </a:rPr>
                        <m:t>5+12=1322.62</m:t>
                      </m:r>
                    </m:oMath>
                  </m:oMathPara>
                </a14:m>
                <a:endParaRPr lang="en-ZA" sz="2400" dirty="0" smtClean="0">
                  <a:latin typeface="Times New Roman" pitchFamily="18" charset="0"/>
                  <a:sym typeface="Symbol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ZA" sz="2400" b="0" i="1" smtClean="0">
                          <a:latin typeface="Cambria Math"/>
                          <a:cs typeface="Times New Roman" pitchFamily="18" charset="0"/>
                        </a:rPr>
                        <m:t>     </m:t>
                      </m:r>
                      <m:r>
                        <a:rPr lang="en-ZA" sz="2400" b="0" i="1" smtClean="0">
                          <a:latin typeface="Cambria Math"/>
                          <a:cs typeface="Times New Roman" pitchFamily="18" charset="0"/>
                        </a:rPr>
                        <m:t>𝑖</m:t>
                      </m:r>
                      <m:r>
                        <a:rPr lang="en-ZA" sz="2400" b="0" i="1" smtClean="0">
                          <a:latin typeface="Cambria Math"/>
                          <a:cs typeface="Times New Roman" pitchFamily="18" charset="0"/>
                        </a:rPr>
                        <m:t>=13 </m:t>
                      </m:r>
                      <m:func>
                        <m:funcPr>
                          <m:ctrlPr>
                            <a:rPr lang="en-ZA" sz="2400" i="1">
                              <a:latin typeface="Cambria Math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ZA" sz="2400" b="0" i="0" smtClean="0">
                              <a:latin typeface="Cambria Math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ZA" sz="2400" i="1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ZA" sz="2400" i="1" smtClean="0">
                                  <a:latin typeface="Cambria Math"/>
                                  <a:sym typeface="Symbol"/>
                                </a:rPr>
                                <m:t></m:t>
                              </m:r>
                              <m:r>
                                <a:rPr lang="en-ZA" sz="2400" i="1">
                                  <a:latin typeface="Cambria Math"/>
                                </a:rPr>
                                <m:t>𝑡</m:t>
                              </m:r>
                              <m:r>
                                <a:rPr lang="en-ZA" sz="2400" i="1">
                                  <a:latin typeface="Cambria Math"/>
                                </a:rPr>
                                <m:t>+22.62°</m:t>
                              </m:r>
                            </m:e>
                          </m:d>
                        </m:e>
                      </m:func>
                      <m:r>
                        <a:rPr lang="en-ZA" sz="2400" b="0" i="0" smtClean="0">
                          <a:latin typeface="Cambria Math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ZA" sz="2400" b="0" i="0" smtClean="0">
                          <a:latin typeface="Cambria Math"/>
                        </a:rPr>
                        <m:t>A</m:t>
                      </m:r>
                    </m:oMath>
                  </m:oMathPara>
                </a14:m>
                <a:endParaRPr lang="en-ZA" sz="2400" dirty="0" smtClean="0">
                  <a:latin typeface="Times New Roman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ZA" sz="2400" b="1" i="0" smtClean="0">
                          <a:latin typeface="Cambria Math"/>
                        </a:rPr>
                        <m:t>      </m:t>
                      </m:r>
                    </m:oMath>
                  </m:oMathPara>
                </a14:m>
                <a:endParaRPr lang="en-ZA" sz="2400" dirty="0" smtClean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455" y="143801"/>
                <a:ext cx="8474299" cy="3785652"/>
              </a:xfrm>
              <a:prstGeom prst="rect">
                <a:avLst/>
              </a:prstGeom>
              <a:blipFill rotWithShape="1">
                <a:blip r:embed="rId2"/>
                <a:stretch>
                  <a:fillRect l="-1078" t="-1288"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Arrow Connector 3"/>
          <p:cNvCxnSpPr/>
          <p:nvPr/>
        </p:nvCxnSpPr>
        <p:spPr bwMode="auto">
          <a:xfrm>
            <a:off x="1204685" y="3512457"/>
            <a:ext cx="3077029" cy="0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arrow" w="lg" len="med"/>
          </a:ln>
          <a:extLst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5" name="Straight Arrow Connector 4"/>
          <p:cNvCxnSpPr/>
          <p:nvPr/>
        </p:nvCxnSpPr>
        <p:spPr bwMode="auto">
          <a:xfrm flipV="1">
            <a:off x="965200" y="2036627"/>
            <a:ext cx="2735943" cy="7257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arrow" w="lg" len="med"/>
          </a:ln>
          <a:extLst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813858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851C-4DD3-461F-AAA6-75BA589B85FA}" type="slidenum">
              <a:rPr lang="en-US"/>
              <a:pPr/>
              <a:t>30</a:t>
            </a:fld>
            <a:endParaRPr lang="en-US" dirty="0"/>
          </a:p>
        </p:txBody>
      </p:sp>
      <p:sp>
        <p:nvSpPr>
          <p:cNvPr id="308227" name="Rectangle 3"/>
          <p:cNvSpPr>
            <a:spLocks noGrp="1" noChangeArrowheads="1"/>
          </p:cNvSpPr>
          <p:nvPr>
            <p:ph type="title" sz="quarter"/>
          </p:nvPr>
        </p:nvSpPr>
        <p:spPr>
          <a:xfrm>
            <a:off x="1" y="-231666"/>
            <a:ext cx="9144000" cy="1497012"/>
          </a:xfrm>
        </p:spPr>
        <p:txBody>
          <a:bodyPr/>
          <a:lstStyle/>
          <a:p>
            <a:r>
              <a:rPr lang="en-US" sz="4000" b="1" dirty="0"/>
              <a:t>Ch. 9 </a:t>
            </a:r>
            <a:r>
              <a:rPr lang="en-US" sz="4000" b="1" dirty="0" smtClean="0"/>
              <a:t>L#3</a:t>
            </a:r>
            <a:r>
              <a:rPr lang="en-US" sz="4000" dirty="0" smtClean="0"/>
              <a:t/>
            </a:r>
            <a:br>
              <a:rPr lang="en-US" sz="4000" dirty="0" smtClean="0"/>
            </a:br>
            <a:r>
              <a:rPr lang="en-US" sz="4000" dirty="0" smtClean="0"/>
              <a:t>9.4 </a:t>
            </a:r>
            <a:r>
              <a:rPr lang="en-US" sz="4000" dirty="0" err="1" smtClean="0"/>
              <a:t>Phasors</a:t>
            </a:r>
            <a:r>
              <a:rPr lang="en-US" sz="4000" dirty="0" smtClean="0"/>
              <a:t> and </a:t>
            </a:r>
            <a:r>
              <a:rPr lang="en-US" sz="4000" dirty="0"/>
              <a:t>Circuit </a:t>
            </a:r>
            <a:r>
              <a:rPr lang="en-US" sz="4000" dirty="0" smtClean="0"/>
              <a:t>Elements</a:t>
            </a:r>
            <a:endParaRPr lang="en-US" sz="4000" dirty="0"/>
          </a:p>
        </p:txBody>
      </p:sp>
      <p:sp>
        <p:nvSpPr>
          <p:cNvPr id="308228" name="Rectangle 4"/>
          <p:cNvSpPr>
            <a:spLocks noChangeArrowheads="1"/>
          </p:cNvSpPr>
          <p:nvPr/>
        </p:nvSpPr>
        <p:spPr bwMode="auto">
          <a:xfrm>
            <a:off x="0" y="32146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ZA"/>
          </a:p>
        </p:txBody>
      </p:sp>
      <p:sp>
        <p:nvSpPr>
          <p:cNvPr id="308229" name="Rectangle 5"/>
          <p:cNvSpPr>
            <a:spLocks noChangeArrowheads="1"/>
          </p:cNvSpPr>
          <p:nvPr/>
        </p:nvSpPr>
        <p:spPr bwMode="auto">
          <a:xfrm>
            <a:off x="0" y="31813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ZA"/>
          </a:p>
        </p:txBody>
      </p:sp>
      <p:sp>
        <p:nvSpPr>
          <p:cNvPr id="308230" name="Rectangle 6"/>
          <p:cNvSpPr>
            <a:spLocks noChangeArrowheads="1"/>
          </p:cNvSpPr>
          <p:nvPr/>
        </p:nvSpPr>
        <p:spPr bwMode="auto">
          <a:xfrm>
            <a:off x="0" y="32385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ZA"/>
          </a:p>
        </p:txBody>
      </p:sp>
      <p:sp>
        <p:nvSpPr>
          <p:cNvPr id="308231" name="Rectangle 7"/>
          <p:cNvSpPr>
            <a:spLocks noChangeArrowheads="1"/>
          </p:cNvSpPr>
          <p:nvPr/>
        </p:nvSpPr>
        <p:spPr bwMode="auto">
          <a:xfrm>
            <a:off x="0" y="32385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ZA"/>
          </a:p>
        </p:txBody>
      </p:sp>
      <p:sp>
        <p:nvSpPr>
          <p:cNvPr id="308232" name="Rectangle 8"/>
          <p:cNvSpPr>
            <a:spLocks noChangeArrowheads="1"/>
          </p:cNvSpPr>
          <p:nvPr/>
        </p:nvSpPr>
        <p:spPr bwMode="auto">
          <a:xfrm>
            <a:off x="-609600" y="32004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ZA"/>
          </a:p>
        </p:txBody>
      </p:sp>
      <p:sp>
        <p:nvSpPr>
          <p:cNvPr id="308233" name="Rectangle 9"/>
          <p:cNvSpPr>
            <a:spLocks noChangeArrowheads="1"/>
          </p:cNvSpPr>
          <p:nvPr/>
        </p:nvSpPr>
        <p:spPr bwMode="auto">
          <a:xfrm>
            <a:off x="0" y="32385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ZA"/>
          </a:p>
        </p:txBody>
      </p:sp>
      <p:sp>
        <p:nvSpPr>
          <p:cNvPr id="308235" name="Rectangle 11"/>
          <p:cNvSpPr>
            <a:spLocks noChangeArrowheads="1"/>
          </p:cNvSpPr>
          <p:nvPr/>
        </p:nvSpPr>
        <p:spPr bwMode="auto">
          <a:xfrm>
            <a:off x="0" y="32099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ZA"/>
          </a:p>
        </p:txBody>
      </p:sp>
      <p:sp>
        <p:nvSpPr>
          <p:cNvPr id="308236" name="Rectangle 12"/>
          <p:cNvSpPr>
            <a:spLocks noChangeArrowheads="1"/>
          </p:cNvSpPr>
          <p:nvPr/>
        </p:nvSpPr>
        <p:spPr bwMode="auto">
          <a:xfrm>
            <a:off x="0" y="31242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ZA"/>
          </a:p>
        </p:txBody>
      </p:sp>
      <p:sp>
        <p:nvSpPr>
          <p:cNvPr id="308237" name="Rectangle 13"/>
          <p:cNvSpPr>
            <a:spLocks noChangeArrowheads="1"/>
          </p:cNvSpPr>
          <p:nvPr/>
        </p:nvSpPr>
        <p:spPr bwMode="auto">
          <a:xfrm>
            <a:off x="0" y="32527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ZA"/>
          </a:p>
        </p:txBody>
      </p:sp>
      <p:sp>
        <p:nvSpPr>
          <p:cNvPr id="308238" name="Rectangle 1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ZA"/>
          </a:p>
        </p:txBody>
      </p:sp>
      <p:sp>
        <p:nvSpPr>
          <p:cNvPr id="308239" name="Rectangle 15"/>
          <p:cNvSpPr>
            <a:spLocks noChangeArrowheads="1"/>
          </p:cNvSpPr>
          <p:nvPr/>
        </p:nvSpPr>
        <p:spPr bwMode="auto">
          <a:xfrm>
            <a:off x="0" y="33051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ZA"/>
          </a:p>
        </p:txBody>
      </p:sp>
      <p:sp>
        <p:nvSpPr>
          <p:cNvPr id="308240" name="Rectangle 16"/>
          <p:cNvSpPr>
            <a:spLocks noChangeArrowheads="1"/>
          </p:cNvSpPr>
          <p:nvPr/>
        </p:nvSpPr>
        <p:spPr bwMode="auto">
          <a:xfrm>
            <a:off x="0" y="33051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ZA"/>
          </a:p>
        </p:txBody>
      </p:sp>
      <p:sp>
        <p:nvSpPr>
          <p:cNvPr id="308241" name="Rectangle 17"/>
          <p:cNvSpPr>
            <a:spLocks noChangeArrowheads="1"/>
          </p:cNvSpPr>
          <p:nvPr/>
        </p:nvSpPr>
        <p:spPr bwMode="auto">
          <a:xfrm>
            <a:off x="0" y="33051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ZA"/>
          </a:p>
        </p:txBody>
      </p:sp>
      <p:sp>
        <p:nvSpPr>
          <p:cNvPr id="308242" name="Rectangle 1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ZA"/>
          </a:p>
        </p:txBody>
      </p:sp>
      <p:sp>
        <p:nvSpPr>
          <p:cNvPr id="308243" name="Rectangle 1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ZA"/>
          </a:p>
        </p:txBody>
      </p:sp>
      <p:sp>
        <p:nvSpPr>
          <p:cNvPr id="308244" name="Rectangle 20"/>
          <p:cNvSpPr>
            <a:spLocks noChangeArrowheads="1"/>
          </p:cNvSpPr>
          <p:nvPr/>
        </p:nvSpPr>
        <p:spPr bwMode="auto">
          <a:xfrm>
            <a:off x="0" y="31242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ZA"/>
          </a:p>
        </p:txBody>
      </p:sp>
      <p:sp>
        <p:nvSpPr>
          <p:cNvPr id="308247" name="Text Box 23"/>
          <p:cNvSpPr txBox="1">
            <a:spLocks noChangeArrowheads="1"/>
          </p:cNvSpPr>
          <p:nvPr/>
        </p:nvSpPr>
        <p:spPr bwMode="auto">
          <a:xfrm>
            <a:off x="990599" y="1272007"/>
            <a:ext cx="20574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2000" dirty="0"/>
              <a:t>Resistor:</a:t>
            </a:r>
          </a:p>
        </p:txBody>
      </p:sp>
      <p:sp>
        <p:nvSpPr>
          <p:cNvPr id="308248" name="Text Box 24"/>
          <p:cNvSpPr txBox="1">
            <a:spLocks noChangeArrowheads="1"/>
          </p:cNvSpPr>
          <p:nvPr/>
        </p:nvSpPr>
        <p:spPr bwMode="auto">
          <a:xfrm>
            <a:off x="3657599" y="1287882"/>
            <a:ext cx="1371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2000"/>
              <a:t>Inductor:</a:t>
            </a:r>
          </a:p>
        </p:txBody>
      </p:sp>
      <p:sp>
        <p:nvSpPr>
          <p:cNvPr id="308249" name="Text Box 25"/>
          <p:cNvSpPr txBox="1">
            <a:spLocks noChangeArrowheads="1"/>
          </p:cNvSpPr>
          <p:nvPr/>
        </p:nvSpPr>
        <p:spPr bwMode="auto">
          <a:xfrm>
            <a:off x="6476999" y="1272007"/>
            <a:ext cx="1524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indent="114300">
              <a:defRPr>
                <a:solidFill>
                  <a:schemeClr val="tx1"/>
                </a:solidFill>
                <a:latin typeface="Arial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0" hangingPunct="0">
              <a:spcBef>
                <a:spcPct val="50000"/>
              </a:spcBef>
            </a:pPr>
            <a:r>
              <a:rPr lang="en-US" sz="2000"/>
              <a:t>Capacitor:</a:t>
            </a:r>
          </a:p>
        </p:txBody>
      </p:sp>
      <p:pic>
        <p:nvPicPr>
          <p:cNvPr id="32" name="Picture 3" descr="ale29559_09009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125" t="7519" r="13142" b="9307"/>
          <a:stretch/>
        </p:blipFill>
        <p:spPr bwMode="auto">
          <a:xfrm>
            <a:off x="296081" y="1742709"/>
            <a:ext cx="2414382" cy="194708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34" name="Picture 3" descr="ale29559_09011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336" t="7096" r="13379" b="10198"/>
          <a:stretch/>
        </p:blipFill>
        <p:spPr bwMode="auto">
          <a:xfrm>
            <a:off x="3175410" y="1684757"/>
            <a:ext cx="2525526" cy="219177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35" name="Picture 3" descr="ale29559_09013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40" t="7473" r="11166" b="10198"/>
          <a:stretch/>
        </p:blipFill>
        <p:spPr bwMode="auto">
          <a:xfrm>
            <a:off x="6147161" y="1660430"/>
            <a:ext cx="2687742" cy="220765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36" name="Picture 3" descr="ale29559_09010"/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75" t="8062" r="7687" b="-467"/>
          <a:stretch/>
        </p:blipFill>
        <p:spPr bwMode="auto">
          <a:xfrm>
            <a:off x="360541" y="4084766"/>
            <a:ext cx="2285463" cy="187885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37" name="Picture 3" descr="ale29559_09012"/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24" t="7192" r="2610"/>
          <a:stretch/>
        </p:blipFill>
        <p:spPr bwMode="auto">
          <a:xfrm>
            <a:off x="2998278" y="4100483"/>
            <a:ext cx="2870085" cy="186314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39" name="Picture 3" descr="ale29559_09014"/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192" r="2187"/>
          <a:stretch/>
        </p:blipFill>
        <p:spPr bwMode="auto">
          <a:xfrm>
            <a:off x="6008804" y="4100482"/>
            <a:ext cx="2931403" cy="186314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40" name="Text Box 23"/>
          <p:cNvSpPr txBox="1">
            <a:spLocks noChangeArrowheads="1"/>
          </p:cNvSpPr>
          <p:nvPr/>
        </p:nvSpPr>
        <p:spPr bwMode="auto">
          <a:xfrm>
            <a:off x="588604" y="4074725"/>
            <a:ext cx="20574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sz="2000" b="1" dirty="0" smtClean="0">
                <a:solidFill>
                  <a:srgbClr val="FF0000"/>
                </a:solidFill>
                <a:latin typeface="Times New Roman" pitchFamily="18" charset="0"/>
              </a:rPr>
              <a:t>V &amp; I in phase</a:t>
            </a:r>
            <a:endParaRPr lang="en-US" sz="2000" b="1" dirty="0">
              <a:solidFill>
                <a:srgbClr val="FF0000"/>
              </a:solidFill>
              <a:latin typeface="Times New Roman" pitchFamily="18" charset="0"/>
            </a:endParaRPr>
          </a:p>
        </p:txBody>
      </p:sp>
      <p:sp>
        <p:nvSpPr>
          <p:cNvPr id="41" name="Text Box 23"/>
          <p:cNvSpPr txBox="1">
            <a:spLocks noChangeArrowheads="1"/>
          </p:cNvSpPr>
          <p:nvPr/>
        </p:nvSpPr>
        <p:spPr bwMode="auto">
          <a:xfrm>
            <a:off x="4206564" y="4961792"/>
            <a:ext cx="2057400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0" hangingPunct="0">
              <a:spcBef>
                <a:spcPts val="0"/>
              </a:spcBef>
            </a:pPr>
            <a:r>
              <a:rPr lang="en-US" sz="2000" b="1" dirty="0" smtClean="0">
                <a:solidFill>
                  <a:srgbClr val="FF0000"/>
                </a:solidFill>
                <a:latin typeface="Times New Roman" pitchFamily="18" charset="0"/>
              </a:rPr>
              <a:t>V leads I</a:t>
            </a:r>
          </a:p>
          <a:p>
            <a:pPr algn="ctr" eaLnBrk="0" hangingPunct="0">
              <a:spcBef>
                <a:spcPts val="0"/>
              </a:spcBef>
            </a:pPr>
            <a:r>
              <a:rPr lang="en-US" sz="2000" b="1" dirty="0" smtClean="0">
                <a:solidFill>
                  <a:srgbClr val="FF0000"/>
                </a:solidFill>
                <a:latin typeface="Times New Roman" pitchFamily="18" charset="0"/>
              </a:rPr>
              <a:t>I lags V</a:t>
            </a:r>
            <a:endParaRPr lang="en-US" sz="2000" b="1" dirty="0">
              <a:solidFill>
                <a:srgbClr val="FF0000"/>
              </a:solidFill>
              <a:latin typeface="Times New Roman" pitchFamily="18" charset="0"/>
            </a:endParaRPr>
          </a:p>
        </p:txBody>
      </p:sp>
      <p:sp>
        <p:nvSpPr>
          <p:cNvPr id="42" name="Text Box 23"/>
          <p:cNvSpPr txBox="1">
            <a:spLocks noChangeArrowheads="1"/>
          </p:cNvSpPr>
          <p:nvPr/>
        </p:nvSpPr>
        <p:spPr bwMode="auto">
          <a:xfrm>
            <a:off x="7239000" y="4975952"/>
            <a:ext cx="2057400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0" hangingPunct="0">
              <a:spcBef>
                <a:spcPts val="0"/>
              </a:spcBef>
            </a:pPr>
            <a:r>
              <a:rPr lang="en-US" sz="2000" b="1" dirty="0" smtClean="0">
                <a:solidFill>
                  <a:srgbClr val="FF0000"/>
                </a:solidFill>
                <a:latin typeface="Times New Roman" pitchFamily="18" charset="0"/>
              </a:rPr>
              <a:t>I leads V</a:t>
            </a:r>
          </a:p>
          <a:p>
            <a:pPr algn="ctr" eaLnBrk="0" hangingPunct="0">
              <a:spcBef>
                <a:spcPts val="0"/>
              </a:spcBef>
            </a:pPr>
            <a:r>
              <a:rPr lang="en-US" sz="2000" b="1" dirty="0" smtClean="0">
                <a:solidFill>
                  <a:srgbClr val="FF0000"/>
                </a:solidFill>
                <a:latin typeface="Times New Roman" pitchFamily="18" charset="0"/>
              </a:rPr>
              <a:t>V lags I</a:t>
            </a:r>
            <a:endParaRPr lang="en-US" sz="2000" b="1" dirty="0">
              <a:solidFill>
                <a:srgbClr val="FF0000"/>
              </a:solidFill>
              <a:latin typeface="Times New Roman" pitchFamily="18" charset="0"/>
            </a:endParaRPr>
          </a:p>
        </p:txBody>
      </p:sp>
      <p:sp>
        <p:nvSpPr>
          <p:cNvPr id="43" name="Text Box 23"/>
          <p:cNvSpPr txBox="1">
            <a:spLocks noChangeArrowheads="1"/>
          </p:cNvSpPr>
          <p:nvPr/>
        </p:nvSpPr>
        <p:spPr bwMode="auto">
          <a:xfrm>
            <a:off x="2801874" y="5963626"/>
            <a:ext cx="3345287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 eaLnBrk="0" hangingPunct="0">
              <a:spcBef>
                <a:spcPts val="0"/>
              </a:spcBef>
            </a:pPr>
            <a:r>
              <a:rPr lang="en-US" sz="4400" b="1" dirty="0" smtClean="0">
                <a:solidFill>
                  <a:srgbClr val="FF0000"/>
                </a:solidFill>
                <a:latin typeface="Times New Roman" pitchFamily="18" charset="0"/>
              </a:rPr>
              <a:t>C I V I L</a:t>
            </a:r>
            <a:endParaRPr lang="en-US" sz="4400" b="1" dirty="0">
              <a:solidFill>
                <a:srgbClr val="FF0000"/>
              </a:solidFill>
              <a:latin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/>
      <p:bldP spid="41" grpId="0"/>
      <p:bldP spid="42" grpId="0"/>
      <p:bldP spid="43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29DC48-0294-4A89-B421-6B53D2AFDF52}" type="slidenum">
              <a:rPr lang="en-US"/>
              <a:pPr/>
              <a:t>31</a:t>
            </a:fld>
            <a:endParaRPr lang="en-US"/>
          </a:p>
        </p:txBody>
      </p:sp>
      <p:sp>
        <p:nvSpPr>
          <p:cNvPr id="313346" name="Rectangle 2"/>
          <p:cNvSpPr>
            <a:spLocks noGrp="1" noChangeArrowheads="1"/>
          </p:cNvSpPr>
          <p:nvPr>
            <p:ph type="title" sz="quarter"/>
          </p:nvPr>
        </p:nvSpPr>
        <p:spPr>
          <a:xfrm>
            <a:off x="442913" y="103188"/>
            <a:ext cx="8243887" cy="1158942"/>
          </a:xfrm>
        </p:spPr>
        <p:txBody>
          <a:bodyPr anchor="t"/>
          <a:lstStyle/>
          <a:p>
            <a:r>
              <a:rPr lang="en-US" sz="2800" dirty="0"/>
              <a:t>9.4 </a:t>
            </a:r>
            <a:r>
              <a:rPr lang="en-US" sz="2800" dirty="0" err="1" smtClean="0"/>
              <a:t>Phasors</a:t>
            </a:r>
            <a:r>
              <a:rPr lang="en-US" sz="2800" dirty="0" smtClean="0"/>
              <a:t> and </a:t>
            </a:r>
            <a:r>
              <a:rPr lang="en-US" sz="2800" dirty="0"/>
              <a:t>Circuit </a:t>
            </a:r>
            <a:r>
              <a:rPr lang="en-US" sz="2800" dirty="0" smtClean="0"/>
              <a:t>Elements</a:t>
            </a:r>
            <a:r>
              <a:rPr lang="en-US" sz="4000" dirty="0" smtClean="0"/>
              <a:t/>
            </a:r>
            <a:br>
              <a:rPr lang="en-US" sz="4000" dirty="0" smtClean="0"/>
            </a:br>
            <a:r>
              <a:rPr lang="en-US" sz="4000" dirty="0" smtClean="0">
                <a:solidFill>
                  <a:srgbClr val="FF0000"/>
                </a:solidFill>
              </a:rPr>
              <a:t>Voltage-Current Relationship</a:t>
            </a:r>
            <a:endParaRPr lang="en-US" sz="4000" dirty="0">
              <a:solidFill>
                <a:srgbClr val="FF0000"/>
              </a:solidFill>
            </a:endParaRPr>
          </a:p>
        </p:txBody>
      </p:sp>
      <p:sp>
        <p:nvSpPr>
          <p:cNvPr id="313350" name="Rectangle 6"/>
          <p:cNvSpPr>
            <a:spLocks noChangeArrowheads="1"/>
          </p:cNvSpPr>
          <p:nvPr/>
        </p:nvSpPr>
        <p:spPr bwMode="auto">
          <a:xfrm>
            <a:off x="0" y="32146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ZA"/>
          </a:p>
        </p:txBody>
      </p:sp>
      <p:sp>
        <p:nvSpPr>
          <p:cNvPr id="313351" name="Rectangle 7"/>
          <p:cNvSpPr>
            <a:spLocks noChangeArrowheads="1"/>
          </p:cNvSpPr>
          <p:nvPr/>
        </p:nvSpPr>
        <p:spPr bwMode="auto">
          <a:xfrm>
            <a:off x="0" y="31813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ZA"/>
          </a:p>
        </p:txBody>
      </p:sp>
      <p:sp>
        <p:nvSpPr>
          <p:cNvPr id="313352" name="Rectangle 8"/>
          <p:cNvSpPr>
            <a:spLocks noChangeArrowheads="1"/>
          </p:cNvSpPr>
          <p:nvPr/>
        </p:nvSpPr>
        <p:spPr bwMode="auto">
          <a:xfrm>
            <a:off x="0" y="32385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ZA"/>
          </a:p>
        </p:txBody>
      </p:sp>
      <p:sp>
        <p:nvSpPr>
          <p:cNvPr id="313353" name="Rectangle 9"/>
          <p:cNvSpPr>
            <a:spLocks noChangeArrowheads="1"/>
          </p:cNvSpPr>
          <p:nvPr/>
        </p:nvSpPr>
        <p:spPr bwMode="auto">
          <a:xfrm>
            <a:off x="0" y="32385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ZA"/>
          </a:p>
        </p:txBody>
      </p:sp>
      <p:sp>
        <p:nvSpPr>
          <p:cNvPr id="313354" name="Rectangle 10"/>
          <p:cNvSpPr>
            <a:spLocks noChangeArrowheads="1"/>
          </p:cNvSpPr>
          <p:nvPr/>
        </p:nvSpPr>
        <p:spPr bwMode="auto">
          <a:xfrm>
            <a:off x="-609600" y="32004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ZA"/>
          </a:p>
        </p:txBody>
      </p:sp>
      <p:sp>
        <p:nvSpPr>
          <p:cNvPr id="313355" name="Rectangle 11"/>
          <p:cNvSpPr>
            <a:spLocks noChangeArrowheads="1"/>
          </p:cNvSpPr>
          <p:nvPr/>
        </p:nvSpPr>
        <p:spPr bwMode="auto">
          <a:xfrm>
            <a:off x="0" y="32385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ZA"/>
          </a:p>
        </p:txBody>
      </p:sp>
      <p:sp>
        <p:nvSpPr>
          <p:cNvPr id="313356" name="Rectangle 12"/>
          <p:cNvSpPr>
            <a:spLocks noChangeArrowheads="1"/>
          </p:cNvSpPr>
          <p:nvPr/>
        </p:nvSpPr>
        <p:spPr bwMode="auto">
          <a:xfrm>
            <a:off x="0" y="32099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ZA"/>
          </a:p>
        </p:txBody>
      </p:sp>
      <p:sp>
        <p:nvSpPr>
          <p:cNvPr id="313357" name="Rectangle 13"/>
          <p:cNvSpPr>
            <a:spLocks noChangeArrowheads="1"/>
          </p:cNvSpPr>
          <p:nvPr/>
        </p:nvSpPr>
        <p:spPr bwMode="auto">
          <a:xfrm>
            <a:off x="0" y="31242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ZA"/>
          </a:p>
        </p:txBody>
      </p:sp>
      <p:sp>
        <p:nvSpPr>
          <p:cNvPr id="313358" name="Rectangle 14"/>
          <p:cNvSpPr>
            <a:spLocks noChangeArrowheads="1"/>
          </p:cNvSpPr>
          <p:nvPr/>
        </p:nvSpPr>
        <p:spPr bwMode="auto">
          <a:xfrm>
            <a:off x="0" y="32527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ZA"/>
          </a:p>
        </p:txBody>
      </p:sp>
      <p:sp>
        <p:nvSpPr>
          <p:cNvPr id="313359" name="Rectangle 1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ZA"/>
          </a:p>
        </p:txBody>
      </p:sp>
      <p:sp>
        <p:nvSpPr>
          <p:cNvPr id="313360" name="Rectangle 16"/>
          <p:cNvSpPr>
            <a:spLocks noChangeArrowheads="1"/>
          </p:cNvSpPr>
          <p:nvPr/>
        </p:nvSpPr>
        <p:spPr bwMode="auto">
          <a:xfrm>
            <a:off x="0" y="33051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ZA"/>
          </a:p>
        </p:txBody>
      </p:sp>
      <p:sp>
        <p:nvSpPr>
          <p:cNvPr id="313361" name="Rectangle 17"/>
          <p:cNvSpPr>
            <a:spLocks noChangeArrowheads="1"/>
          </p:cNvSpPr>
          <p:nvPr/>
        </p:nvSpPr>
        <p:spPr bwMode="auto">
          <a:xfrm>
            <a:off x="0" y="33051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ZA"/>
          </a:p>
        </p:txBody>
      </p:sp>
      <p:sp>
        <p:nvSpPr>
          <p:cNvPr id="313362" name="Rectangle 18"/>
          <p:cNvSpPr>
            <a:spLocks noChangeArrowheads="1"/>
          </p:cNvSpPr>
          <p:nvPr/>
        </p:nvSpPr>
        <p:spPr bwMode="auto">
          <a:xfrm>
            <a:off x="0" y="33051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ZA"/>
          </a:p>
        </p:txBody>
      </p:sp>
      <p:sp>
        <p:nvSpPr>
          <p:cNvPr id="313363" name="Rectangle 1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ZA"/>
          </a:p>
        </p:txBody>
      </p:sp>
      <p:sp>
        <p:nvSpPr>
          <p:cNvPr id="313364" name="Rectangle 2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ZA"/>
          </a:p>
        </p:txBody>
      </p:sp>
      <p:sp>
        <p:nvSpPr>
          <p:cNvPr id="313365" name="Rectangle 21"/>
          <p:cNvSpPr>
            <a:spLocks noChangeArrowheads="1"/>
          </p:cNvSpPr>
          <p:nvPr/>
        </p:nvSpPr>
        <p:spPr bwMode="auto">
          <a:xfrm>
            <a:off x="0" y="31242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ZA"/>
          </a:p>
        </p:txBody>
      </p:sp>
      <p:sp>
        <p:nvSpPr>
          <p:cNvPr id="313387" name="Rectangle 43"/>
          <p:cNvSpPr>
            <a:spLocks noChangeArrowheads="1"/>
          </p:cNvSpPr>
          <p:nvPr/>
        </p:nvSpPr>
        <p:spPr bwMode="auto">
          <a:xfrm>
            <a:off x="1714500" y="2286000"/>
            <a:ext cx="1905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ZA"/>
          </a:p>
        </p:txBody>
      </p:sp>
      <p:sp>
        <p:nvSpPr>
          <p:cNvPr id="313389" name="Rectangle 45"/>
          <p:cNvSpPr>
            <a:spLocks noChangeArrowheads="1"/>
          </p:cNvSpPr>
          <p:nvPr/>
        </p:nvSpPr>
        <p:spPr bwMode="auto">
          <a:xfrm>
            <a:off x="1714500" y="2286000"/>
            <a:ext cx="1905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ZA"/>
          </a:p>
        </p:txBody>
      </p:sp>
      <p:sp>
        <p:nvSpPr>
          <p:cNvPr id="313392" name="Rectangle 48"/>
          <p:cNvSpPr>
            <a:spLocks noChangeArrowheads="1"/>
          </p:cNvSpPr>
          <p:nvPr/>
        </p:nvSpPr>
        <p:spPr bwMode="auto">
          <a:xfrm>
            <a:off x="1714500" y="2286000"/>
            <a:ext cx="1905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ZA"/>
          </a:p>
        </p:txBody>
      </p:sp>
      <p:sp>
        <p:nvSpPr>
          <p:cNvPr id="313394" name="Rectangle 50"/>
          <p:cNvSpPr>
            <a:spLocks noChangeArrowheads="1"/>
          </p:cNvSpPr>
          <p:nvPr/>
        </p:nvSpPr>
        <p:spPr bwMode="auto">
          <a:xfrm>
            <a:off x="1714500" y="2286000"/>
            <a:ext cx="1905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ZA"/>
          </a:p>
        </p:txBody>
      </p:sp>
      <p:sp>
        <p:nvSpPr>
          <p:cNvPr id="313397" name="Rectangle 53"/>
          <p:cNvSpPr>
            <a:spLocks noChangeArrowheads="1"/>
          </p:cNvSpPr>
          <p:nvPr/>
        </p:nvSpPr>
        <p:spPr bwMode="auto">
          <a:xfrm>
            <a:off x="1714500" y="2286000"/>
            <a:ext cx="1905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ZA"/>
          </a:p>
        </p:txBody>
      </p:sp>
      <p:sp>
        <p:nvSpPr>
          <p:cNvPr id="313399" name="Rectangle 55"/>
          <p:cNvSpPr>
            <a:spLocks noChangeArrowheads="1"/>
          </p:cNvSpPr>
          <p:nvPr/>
        </p:nvSpPr>
        <p:spPr bwMode="auto">
          <a:xfrm>
            <a:off x="1714500" y="2286000"/>
            <a:ext cx="1905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ZA"/>
          </a:p>
        </p:txBody>
      </p:sp>
      <p:graphicFrame>
        <p:nvGraphicFramePr>
          <p:cNvPr id="313503" name="Group 159"/>
          <p:cNvGraphicFramePr>
            <a:graphicFrameLocks noGrp="1"/>
          </p:cNvGraphicFramePr>
          <p:nvPr/>
        </p:nvGraphicFramePr>
        <p:xfrm>
          <a:off x="838200" y="1752600"/>
          <a:ext cx="7848600" cy="4038600"/>
        </p:xfrm>
        <a:graphic>
          <a:graphicData uri="http://schemas.openxmlformats.org/drawingml/2006/table">
            <a:tbl>
              <a:tblPr/>
              <a:tblGrid>
                <a:gridCol w="2616200"/>
                <a:gridCol w="2616200"/>
                <a:gridCol w="2616200"/>
              </a:tblGrid>
              <a:tr h="647700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PMingLiU" pitchFamily="18" charset="-120"/>
                          <a:cs typeface="Times New Roman" pitchFamily="18" charset="0"/>
                        </a:rPr>
                        <a:t>Summary of voltage-current relationship</a:t>
                      </a:r>
                      <a:endParaRPr kumimoji="0" lang="en-US" sz="3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PMingLiU" pitchFamily="18" charset="-120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FF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</a:tr>
              <a:tr h="6477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PMingLiU" pitchFamily="18" charset="-120"/>
                          <a:cs typeface="Times New Roman" pitchFamily="18" charset="0"/>
                        </a:rPr>
                        <a:t>Element</a:t>
                      </a:r>
                      <a:endParaRPr kumimoji="0" 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PMingLiU" pitchFamily="18" charset="-120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FF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PMingLiU" pitchFamily="18" charset="-120"/>
                          <a:cs typeface="Times New Roman" pitchFamily="18" charset="0"/>
                        </a:rPr>
                        <a:t>Time domain</a:t>
                      </a: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PMingLiU" pitchFamily="18" charset="-120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FF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PMingLiU" pitchFamily="18" charset="-120"/>
                          <a:cs typeface="Times New Roman" pitchFamily="18" charset="0"/>
                        </a:rPr>
                        <a:t>Frequency domain</a:t>
                      </a: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PMingLiU" pitchFamily="18" charset="-120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FF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PMingLiU" pitchFamily="18" charset="-120"/>
                          <a:cs typeface="Times New Roman" pitchFamily="18" charset="0"/>
                        </a:rPr>
                        <a:t>R</a:t>
                      </a:r>
                      <a:endParaRPr kumimoji="0" 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PMingLiU" pitchFamily="18" charset="-120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FF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3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FF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3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FF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PMingLiU" pitchFamily="18" charset="-120"/>
                          <a:cs typeface="Times New Roman" pitchFamily="18" charset="0"/>
                        </a:rPr>
                        <a:t>L</a:t>
                      </a:r>
                      <a:endParaRPr kumimoji="0" 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PMingLiU" pitchFamily="18" charset="-120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FF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3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FF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3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FF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PMingLiU" pitchFamily="18" charset="-120"/>
                          <a:cs typeface="Times New Roman" pitchFamily="18" charset="0"/>
                        </a:rPr>
                        <a:t>C</a:t>
                      </a:r>
                      <a:endParaRPr kumimoji="0" 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PMingLiU" pitchFamily="18" charset="-120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FF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3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FF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3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FF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313381" name="Object 37"/>
          <p:cNvGraphicFramePr>
            <a:graphicFrameLocks noChangeAspect="1"/>
          </p:cNvGraphicFramePr>
          <p:nvPr/>
        </p:nvGraphicFramePr>
        <p:xfrm>
          <a:off x="3962400" y="3352800"/>
          <a:ext cx="1000125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194" name="Equation" r:id="rId3" imgW="418918" imgH="177723" progId="Equation.3">
                  <p:embed/>
                </p:oleObj>
              </mc:Choice>
              <mc:Fallback>
                <p:oleObj name="Equation" r:id="rId3" imgW="418918" imgH="177723" progId="Equation.3">
                  <p:embed/>
                  <p:pic>
                    <p:nvPicPr>
                      <p:cNvPr id="0" name="Object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2400" y="3352800"/>
                        <a:ext cx="1000125" cy="431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3380" name="Object 36"/>
          <p:cNvGraphicFramePr>
            <a:graphicFrameLocks noChangeAspect="1"/>
          </p:cNvGraphicFramePr>
          <p:nvPr/>
        </p:nvGraphicFramePr>
        <p:xfrm>
          <a:off x="6629400" y="3352800"/>
          <a:ext cx="960438" cy="360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195" name="Equation" r:id="rId5" imgW="482181" imgH="177646" progId="Equation.3">
                  <p:embed/>
                </p:oleObj>
              </mc:Choice>
              <mc:Fallback>
                <p:oleObj name="Equation" r:id="rId5" imgW="482181" imgH="177646" progId="Equation.3">
                  <p:embed/>
                  <p:pic>
                    <p:nvPicPr>
                      <p:cNvPr id="0" name="Object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29400" y="3352800"/>
                        <a:ext cx="960438" cy="3603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3379" name="Object 35"/>
          <p:cNvGraphicFramePr>
            <a:graphicFrameLocks noChangeAspect="1"/>
          </p:cNvGraphicFramePr>
          <p:nvPr/>
        </p:nvGraphicFramePr>
        <p:xfrm>
          <a:off x="3962400" y="4038600"/>
          <a:ext cx="1066800" cy="776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196" name="Equation" r:id="rId7" imgW="545863" imgH="393529" progId="Equation.3">
                  <p:embed/>
                </p:oleObj>
              </mc:Choice>
              <mc:Fallback>
                <p:oleObj name="Equation" r:id="rId7" imgW="545863" imgH="393529" progId="Equation.3">
                  <p:embed/>
                  <p:pic>
                    <p:nvPicPr>
                      <p:cNvPr id="0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2400" y="4038600"/>
                        <a:ext cx="1066800" cy="7762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3378" name="Object 34"/>
          <p:cNvGraphicFramePr>
            <a:graphicFrameLocks noChangeAspect="1"/>
          </p:cNvGraphicFramePr>
          <p:nvPr/>
        </p:nvGraphicFramePr>
        <p:xfrm>
          <a:off x="6659563" y="4267200"/>
          <a:ext cx="1417637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197" name="Equation" r:id="rId9" imgW="647419" imgH="203112" progId="Equation.3">
                  <p:embed/>
                </p:oleObj>
              </mc:Choice>
              <mc:Fallback>
                <p:oleObj name="Equation" r:id="rId9" imgW="647419" imgH="203112" progId="Equation.3">
                  <p:embed/>
                  <p:pic>
                    <p:nvPicPr>
                      <p:cNvPr id="0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59563" y="4267200"/>
                        <a:ext cx="1417637" cy="431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3377" name="Object 33"/>
          <p:cNvGraphicFramePr>
            <a:graphicFrameLocks noChangeAspect="1"/>
          </p:cNvGraphicFramePr>
          <p:nvPr/>
        </p:nvGraphicFramePr>
        <p:xfrm>
          <a:off x="3962400" y="4970463"/>
          <a:ext cx="1066800" cy="777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198" name="Equation" r:id="rId11" imgW="545863" imgH="393529" progId="Equation.3">
                  <p:embed/>
                </p:oleObj>
              </mc:Choice>
              <mc:Fallback>
                <p:oleObj name="Equation" r:id="rId11" imgW="545863" imgH="393529" progId="Equation.3">
                  <p:embed/>
                  <p:pic>
                    <p:nvPicPr>
                      <p:cNvPr id="0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2400" y="4970463"/>
                        <a:ext cx="1066800" cy="7778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3376" name="Object 32"/>
          <p:cNvGraphicFramePr>
            <a:graphicFrameLocks noChangeAspect="1"/>
          </p:cNvGraphicFramePr>
          <p:nvPr/>
        </p:nvGraphicFramePr>
        <p:xfrm>
          <a:off x="6629400" y="4953000"/>
          <a:ext cx="1143000" cy="771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199" name="Equation" r:id="rId13" imgW="622030" imgH="418918" progId="Equation.3">
                  <p:embed/>
                </p:oleObj>
              </mc:Choice>
              <mc:Fallback>
                <p:oleObj name="Equation" r:id="rId13" imgW="622030" imgH="418918" progId="Equation.3">
                  <p:embed/>
                  <p:pic>
                    <p:nvPicPr>
                      <p:cNvPr id="0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29400" y="4953000"/>
                        <a:ext cx="1143000" cy="7715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F9403-9C25-443F-9EC8-6EDE593FDF43}" type="slidenum">
              <a:rPr lang="en-US"/>
              <a:pPr/>
              <a:t>32</a:t>
            </a:fld>
            <a:endParaRPr lang="en-US"/>
          </a:p>
        </p:txBody>
      </p:sp>
      <p:sp>
        <p:nvSpPr>
          <p:cNvPr id="315417" name="Text Box 25"/>
          <p:cNvSpPr txBox="1">
            <a:spLocks noChangeArrowheads="1"/>
          </p:cNvSpPr>
          <p:nvPr/>
        </p:nvSpPr>
        <p:spPr bwMode="auto">
          <a:xfrm>
            <a:off x="457200" y="1299687"/>
            <a:ext cx="8153400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231775" indent="-231775">
              <a:defRPr>
                <a:solidFill>
                  <a:schemeClr val="tx1"/>
                </a:solidFill>
                <a:latin typeface="Arial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0" hangingPunct="0">
              <a:buFontTx/>
              <a:buChar char="•"/>
            </a:pPr>
            <a:r>
              <a:rPr lang="en-US" sz="2400" dirty="0"/>
              <a:t>The </a:t>
            </a:r>
            <a:r>
              <a:rPr lang="en-US" sz="2400" u="sng" dirty="0">
                <a:solidFill>
                  <a:srgbClr val="FF3300"/>
                </a:solidFill>
              </a:rPr>
              <a:t>impedance Z</a:t>
            </a:r>
            <a:r>
              <a:rPr lang="en-US" sz="2400" dirty="0"/>
              <a:t> of a circuit is the </a:t>
            </a:r>
            <a:r>
              <a:rPr lang="en-US" sz="2400" u="sng" dirty="0">
                <a:solidFill>
                  <a:srgbClr val="FF3300"/>
                </a:solidFill>
              </a:rPr>
              <a:t>ratio of the </a:t>
            </a:r>
            <a:r>
              <a:rPr lang="en-US" sz="2400" u="sng" dirty="0" err="1">
                <a:solidFill>
                  <a:srgbClr val="FF3300"/>
                </a:solidFill>
              </a:rPr>
              <a:t>phasor</a:t>
            </a:r>
            <a:r>
              <a:rPr lang="en-US" sz="2400" u="sng" dirty="0">
                <a:solidFill>
                  <a:srgbClr val="FF3300"/>
                </a:solidFill>
              </a:rPr>
              <a:t> voltage V to the </a:t>
            </a:r>
            <a:r>
              <a:rPr lang="en-US" sz="2400" u="sng" dirty="0" err="1">
                <a:solidFill>
                  <a:srgbClr val="FF3300"/>
                </a:solidFill>
              </a:rPr>
              <a:t>phasor</a:t>
            </a:r>
            <a:r>
              <a:rPr lang="en-US" sz="2400" u="sng" dirty="0">
                <a:solidFill>
                  <a:srgbClr val="FF3300"/>
                </a:solidFill>
              </a:rPr>
              <a:t> current</a:t>
            </a:r>
            <a:r>
              <a:rPr lang="en-US" altLang="zh-TW" sz="2400" u="sng" dirty="0">
                <a:solidFill>
                  <a:srgbClr val="FF3300"/>
                </a:solidFill>
                <a:ea typeface="PMingLiU" pitchFamily="18" charset="-120"/>
              </a:rPr>
              <a:t> I</a:t>
            </a:r>
            <a:r>
              <a:rPr lang="en-US" altLang="zh-TW" sz="2400" dirty="0">
                <a:solidFill>
                  <a:srgbClr val="FF3300"/>
                </a:solidFill>
                <a:ea typeface="PMingLiU" pitchFamily="18" charset="-120"/>
              </a:rPr>
              <a:t>,</a:t>
            </a:r>
            <a:r>
              <a:rPr lang="en-US" altLang="zh-TW" sz="2400" dirty="0">
                <a:ea typeface="PMingLiU" pitchFamily="18" charset="-120"/>
              </a:rPr>
              <a:t> measured in </a:t>
            </a:r>
            <a:r>
              <a:rPr lang="en-US" altLang="zh-TW" sz="2400" u="sng" dirty="0">
                <a:solidFill>
                  <a:srgbClr val="FF3300"/>
                </a:solidFill>
                <a:ea typeface="PMingLiU" pitchFamily="18" charset="-120"/>
              </a:rPr>
              <a:t>ohms Ω</a:t>
            </a:r>
            <a:r>
              <a:rPr lang="en-US" altLang="zh-TW" sz="2400" dirty="0">
                <a:solidFill>
                  <a:srgbClr val="FF3300"/>
                </a:solidFill>
                <a:ea typeface="PMingLiU" pitchFamily="18" charset="-120"/>
              </a:rPr>
              <a:t>.</a:t>
            </a:r>
          </a:p>
          <a:p>
            <a:pPr eaLnBrk="0" hangingPunct="0"/>
            <a:endParaRPr lang="en-US" altLang="zh-TW" sz="2400" dirty="0">
              <a:ea typeface="PMingLiU" pitchFamily="18" charset="-120"/>
            </a:endParaRPr>
          </a:p>
          <a:p>
            <a:pPr eaLnBrk="0" hangingPunct="0"/>
            <a:endParaRPr lang="en-US" altLang="zh-TW" sz="2400" dirty="0">
              <a:ea typeface="PMingLiU" pitchFamily="18" charset="-120"/>
            </a:endParaRPr>
          </a:p>
          <a:p>
            <a:pPr eaLnBrk="0" hangingPunct="0"/>
            <a:endParaRPr lang="en-US" altLang="zh-TW" sz="2400" dirty="0">
              <a:ea typeface="PMingLiU" pitchFamily="18" charset="-120"/>
            </a:endParaRPr>
          </a:p>
          <a:p>
            <a:pPr eaLnBrk="0" hangingPunct="0"/>
            <a:r>
              <a:rPr lang="en-US" altLang="zh-TW" sz="2400" dirty="0">
                <a:ea typeface="PMingLiU" pitchFamily="18" charset="-120"/>
              </a:rPr>
              <a:t>  where R = </a:t>
            </a:r>
            <a:r>
              <a:rPr lang="en-US" altLang="zh-TW" sz="2400" dirty="0" smtClean="0">
                <a:ea typeface="PMingLiU" pitchFamily="18" charset="-120"/>
              </a:rPr>
              <a:t>Re of </a:t>
            </a:r>
            <a:r>
              <a:rPr lang="en-US" altLang="zh-TW" sz="2400" dirty="0">
                <a:ea typeface="PMingLiU" pitchFamily="18" charset="-120"/>
              </a:rPr>
              <a:t>Z =</a:t>
            </a:r>
            <a:r>
              <a:rPr lang="en-US" altLang="zh-TW" sz="2400" dirty="0" smtClean="0">
                <a:ea typeface="PMingLiU" pitchFamily="18" charset="-120"/>
              </a:rPr>
              <a:t> </a:t>
            </a:r>
            <a:r>
              <a:rPr lang="en-US" altLang="zh-TW" sz="2400" dirty="0">
                <a:ea typeface="PMingLiU" pitchFamily="18" charset="-120"/>
              </a:rPr>
              <a:t>the resistance and X = </a:t>
            </a:r>
            <a:r>
              <a:rPr lang="en-US" altLang="zh-TW" sz="2400" dirty="0" err="1" smtClean="0">
                <a:ea typeface="PMingLiU" pitchFamily="18" charset="-120"/>
              </a:rPr>
              <a:t>Im</a:t>
            </a:r>
            <a:r>
              <a:rPr lang="en-US" altLang="zh-TW" sz="2400" dirty="0">
                <a:ea typeface="PMingLiU" pitchFamily="18" charset="-120"/>
              </a:rPr>
              <a:t> </a:t>
            </a:r>
            <a:r>
              <a:rPr lang="en-US" altLang="zh-TW" sz="2400" dirty="0" smtClean="0">
                <a:ea typeface="PMingLiU" pitchFamily="18" charset="-120"/>
              </a:rPr>
              <a:t>of </a:t>
            </a:r>
            <a:r>
              <a:rPr lang="en-US" altLang="zh-TW" sz="2400" dirty="0">
                <a:ea typeface="PMingLiU" pitchFamily="18" charset="-120"/>
              </a:rPr>
              <a:t>Z =</a:t>
            </a:r>
            <a:r>
              <a:rPr lang="en-US" altLang="zh-TW" sz="2400" dirty="0" smtClean="0">
                <a:ea typeface="PMingLiU" pitchFamily="18" charset="-120"/>
              </a:rPr>
              <a:t> </a:t>
            </a:r>
            <a:r>
              <a:rPr lang="en-US" altLang="zh-TW" sz="2400" dirty="0">
                <a:ea typeface="PMingLiU" pitchFamily="18" charset="-120"/>
              </a:rPr>
              <a:t>the reactance. </a:t>
            </a:r>
            <a:r>
              <a:rPr lang="en-US" altLang="zh-TW" sz="2400" dirty="0">
                <a:solidFill>
                  <a:srgbClr val="FF3300"/>
                </a:solidFill>
                <a:ea typeface="PMingLiU" pitchFamily="18" charset="-120"/>
              </a:rPr>
              <a:t>Positive X is for L</a:t>
            </a:r>
            <a:r>
              <a:rPr lang="en-US" altLang="zh-TW" sz="2400" dirty="0">
                <a:ea typeface="PMingLiU" pitchFamily="18" charset="-120"/>
              </a:rPr>
              <a:t> and </a:t>
            </a:r>
            <a:r>
              <a:rPr lang="en-US" altLang="zh-TW" sz="2400" dirty="0">
                <a:solidFill>
                  <a:srgbClr val="FF3300"/>
                </a:solidFill>
                <a:ea typeface="PMingLiU" pitchFamily="18" charset="-120"/>
              </a:rPr>
              <a:t>negative X is for </a:t>
            </a:r>
            <a:r>
              <a:rPr lang="en-US" altLang="zh-TW" sz="2400" dirty="0" smtClean="0">
                <a:solidFill>
                  <a:srgbClr val="FF3300"/>
                </a:solidFill>
                <a:ea typeface="PMingLiU" pitchFamily="18" charset="-120"/>
              </a:rPr>
              <a:t>C.</a:t>
            </a:r>
            <a:endParaRPr lang="en-US" altLang="zh-TW" sz="2400" dirty="0">
              <a:solidFill>
                <a:srgbClr val="FF3300"/>
              </a:solidFill>
              <a:ea typeface="PMingLiU" pitchFamily="18" charset="-120"/>
            </a:endParaRPr>
          </a:p>
          <a:p>
            <a:pPr eaLnBrk="0" hangingPunct="0"/>
            <a:endParaRPr lang="en-US" altLang="zh-TW" sz="2400" dirty="0">
              <a:ea typeface="PMingLiU" pitchFamily="18" charset="-120"/>
            </a:endParaRPr>
          </a:p>
          <a:p>
            <a:pPr eaLnBrk="0" hangingPunct="0">
              <a:buFontTx/>
              <a:buChar char="•"/>
            </a:pPr>
            <a:r>
              <a:rPr lang="en-US" altLang="zh-TW" sz="2400" dirty="0">
                <a:ea typeface="PMingLiU" pitchFamily="18" charset="-120"/>
              </a:rPr>
              <a:t>The admittance Y is the </a:t>
            </a:r>
            <a:r>
              <a:rPr lang="en-US" altLang="zh-TW" sz="2400" u="sng" dirty="0">
                <a:solidFill>
                  <a:srgbClr val="FF3300"/>
                </a:solidFill>
                <a:ea typeface="PMingLiU" pitchFamily="18" charset="-120"/>
              </a:rPr>
              <a:t>reciprocal</a:t>
            </a:r>
            <a:r>
              <a:rPr lang="en-US" altLang="zh-TW" sz="2400" dirty="0">
                <a:ea typeface="PMingLiU" pitchFamily="18" charset="-120"/>
              </a:rPr>
              <a:t> of impedance, measured in </a:t>
            </a:r>
            <a:r>
              <a:rPr lang="en-US" altLang="zh-TW" sz="2400" dirty="0" err="1">
                <a:ea typeface="PMingLiU" pitchFamily="18" charset="-120"/>
              </a:rPr>
              <a:t>siemens</a:t>
            </a:r>
            <a:r>
              <a:rPr lang="en-US" altLang="zh-TW" sz="2400" dirty="0">
                <a:ea typeface="PMingLiU" pitchFamily="18" charset="-120"/>
              </a:rPr>
              <a:t> (S). </a:t>
            </a:r>
            <a:endParaRPr lang="en-US" sz="2400" dirty="0"/>
          </a:p>
        </p:txBody>
      </p:sp>
      <p:sp>
        <p:nvSpPr>
          <p:cNvPr id="315394" name="Rectangle 2"/>
          <p:cNvSpPr>
            <a:spLocks noGrp="1" noChangeArrowheads="1"/>
          </p:cNvSpPr>
          <p:nvPr>
            <p:ph type="title" sz="quarter"/>
          </p:nvPr>
        </p:nvSpPr>
        <p:spPr>
          <a:xfrm>
            <a:off x="0" y="103188"/>
            <a:ext cx="9144000" cy="733939"/>
          </a:xfrm>
          <a:noFill/>
        </p:spPr>
        <p:txBody>
          <a:bodyPr lIns="0" rIns="0" anchor="t"/>
          <a:lstStyle/>
          <a:p>
            <a:r>
              <a:rPr lang="en-US" sz="4000" dirty="0"/>
              <a:t>9.5 Impedance and </a:t>
            </a:r>
            <a:r>
              <a:rPr lang="en-US" sz="4000" dirty="0" smtClean="0"/>
              <a:t>Admittance</a:t>
            </a:r>
            <a:endParaRPr lang="en-US" sz="4000" dirty="0"/>
          </a:p>
        </p:txBody>
      </p:sp>
      <p:sp>
        <p:nvSpPr>
          <p:cNvPr id="315395" name="Rectangle 3"/>
          <p:cNvSpPr>
            <a:spLocks noChangeArrowheads="1"/>
          </p:cNvSpPr>
          <p:nvPr/>
        </p:nvSpPr>
        <p:spPr bwMode="auto">
          <a:xfrm>
            <a:off x="0" y="32146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ZA"/>
          </a:p>
        </p:txBody>
      </p:sp>
      <p:sp>
        <p:nvSpPr>
          <p:cNvPr id="315396" name="Rectangle 4"/>
          <p:cNvSpPr>
            <a:spLocks noChangeArrowheads="1"/>
          </p:cNvSpPr>
          <p:nvPr/>
        </p:nvSpPr>
        <p:spPr bwMode="auto">
          <a:xfrm>
            <a:off x="0" y="31813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ZA"/>
          </a:p>
        </p:txBody>
      </p:sp>
      <p:sp>
        <p:nvSpPr>
          <p:cNvPr id="315397" name="Rectangle 5"/>
          <p:cNvSpPr>
            <a:spLocks noChangeArrowheads="1"/>
          </p:cNvSpPr>
          <p:nvPr/>
        </p:nvSpPr>
        <p:spPr bwMode="auto">
          <a:xfrm>
            <a:off x="0" y="32385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ZA"/>
          </a:p>
        </p:txBody>
      </p:sp>
      <p:sp>
        <p:nvSpPr>
          <p:cNvPr id="315398" name="Rectangle 6"/>
          <p:cNvSpPr>
            <a:spLocks noChangeArrowheads="1"/>
          </p:cNvSpPr>
          <p:nvPr/>
        </p:nvSpPr>
        <p:spPr bwMode="auto">
          <a:xfrm>
            <a:off x="0" y="32385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ZA"/>
          </a:p>
        </p:txBody>
      </p:sp>
      <p:sp>
        <p:nvSpPr>
          <p:cNvPr id="315399" name="Rectangle 7"/>
          <p:cNvSpPr>
            <a:spLocks noChangeArrowheads="1"/>
          </p:cNvSpPr>
          <p:nvPr/>
        </p:nvSpPr>
        <p:spPr bwMode="auto">
          <a:xfrm>
            <a:off x="-609600" y="32004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ZA"/>
          </a:p>
        </p:txBody>
      </p:sp>
      <p:sp>
        <p:nvSpPr>
          <p:cNvPr id="315400" name="Rectangle 8"/>
          <p:cNvSpPr>
            <a:spLocks noChangeArrowheads="1"/>
          </p:cNvSpPr>
          <p:nvPr/>
        </p:nvSpPr>
        <p:spPr bwMode="auto">
          <a:xfrm>
            <a:off x="0" y="32385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ZA"/>
          </a:p>
        </p:txBody>
      </p:sp>
      <p:sp>
        <p:nvSpPr>
          <p:cNvPr id="315401" name="Rectangle 9"/>
          <p:cNvSpPr>
            <a:spLocks noChangeArrowheads="1"/>
          </p:cNvSpPr>
          <p:nvPr/>
        </p:nvSpPr>
        <p:spPr bwMode="auto">
          <a:xfrm>
            <a:off x="0" y="32099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ZA"/>
          </a:p>
        </p:txBody>
      </p:sp>
      <p:sp>
        <p:nvSpPr>
          <p:cNvPr id="315402" name="Rectangle 10"/>
          <p:cNvSpPr>
            <a:spLocks noChangeArrowheads="1"/>
          </p:cNvSpPr>
          <p:nvPr/>
        </p:nvSpPr>
        <p:spPr bwMode="auto">
          <a:xfrm>
            <a:off x="0" y="31242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ZA"/>
          </a:p>
        </p:txBody>
      </p:sp>
      <p:sp>
        <p:nvSpPr>
          <p:cNvPr id="315403" name="Rectangle 11"/>
          <p:cNvSpPr>
            <a:spLocks noChangeArrowheads="1"/>
          </p:cNvSpPr>
          <p:nvPr/>
        </p:nvSpPr>
        <p:spPr bwMode="auto">
          <a:xfrm>
            <a:off x="0" y="32527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ZA"/>
          </a:p>
        </p:txBody>
      </p:sp>
      <p:sp>
        <p:nvSpPr>
          <p:cNvPr id="315404" name="Rectangle 1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ZA"/>
          </a:p>
        </p:txBody>
      </p:sp>
      <p:sp>
        <p:nvSpPr>
          <p:cNvPr id="315405" name="Rectangle 13"/>
          <p:cNvSpPr>
            <a:spLocks noChangeArrowheads="1"/>
          </p:cNvSpPr>
          <p:nvPr/>
        </p:nvSpPr>
        <p:spPr bwMode="auto">
          <a:xfrm>
            <a:off x="0" y="33051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ZA"/>
          </a:p>
        </p:txBody>
      </p:sp>
      <p:sp>
        <p:nvSpPr>
          <p:cNvPr id="315406" name="Rectangle 14"/>
          <p:cNvSpPr>
            <a:spLocks noChangeArrowheads="1"/>
          </p:cNvSpPr>
          <p:nvPr/>
        </p:nvSpPr>
        <p:spPr bwMode="auto">
          <a:xfrm>
            <a:off x="0" y="33051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ZA"/>
          </a:p>
        </p:txBody>
      </p:sp>
      <p:sp>
        <p:nvSpPr>
          <p:cNvPr id="315407" name="Rectangle 15"/>
          <p:cNvSpPr>
            <a:spLocks noChangeArrowheads="1"/>
          </p:cNvSpPr>
          <p:nvPr/>
        </p:nvSpPr>
        <p:spPr bwMode="auto">
          <a:xfrm>
            <a:off x="0" y="33051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ZA"/>
          </a:p>
        </p:txBody>
      </p:sp>
      <p:sp>
        <p:nvSpPr>
          <p:cNvPr id="315408" name="Rectangle 1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ZA"/>
          </a:p>
        </p:txBody>
      </p:sp>
      <p:sp>
        <p:nvSpPr>
          <p:cNvPr id="315409" name="Rectangle 1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ZA"/>
          </a:p>
        </p:txBody>
      </p:sp>
      <p:sp>
        <p:nvSpPr>
          <p:cNvPr id="315410" name="Rectangle 18"/>
          <p:cNvSpPr>
            <a:spLocks noChangeArrowheads="1"/>
          </p:cNvSpPr>
          <p:nvPr/>
        </p:nvSpPr>
        <p:spPr bwMode="auto">
          <a:xfrm>
            <a:off x="0" y="31242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ZA"/>
          </a:p>
        </p:txBody>
      </p:sp>
      <p:sp>
        <p:nvSpPr>
          <p:cNvPr id="315411" name="Rectangle 19"/>
          <p:cNvSpPr>
            <a:spLocks noChangeArrowheads="1"/>
          </p:cNvSpPr>
          <p:nvPr/>
        </p:nvSpPr>
        <p:spPr bwMode="auto">
          <a:xfrm>
            <a:off x="1714500" y="2286000"/>
            <a:ext cx="1905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ZA"/>
          </a:p>
        </p:txBody>
      </p:sp>
      <p:sp>
        <p:nvSpPr>
          <p:cNvPr id="315412" name="Rectangle 20"/>
          <p:cNvSpPr>
            <a:spLocks noChangeArrowheads="1"/>
          </p:cNvSpPr>
          <p:nvPr/>
        </p:nvSpPr>
        <p:spPr bwMode="auto">
          <a:xfrm>
            <a:off x="1714500" y="2286000"/>
            <a:ext cx="1905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ZA"/>
          </a:p>
        </p:txBody>
      </p:sp>
      <p:sp>
        <p:nvSpPr>
          <p:cNvPr id="315413" name="Rectangle 21"/>
          <p:cNvSpPr>
            <a:spLocks noChangeArrowheads="1"/>
          </p:cNvSpPr>
          <p:nvPr/>
        </p:nvSpPr>
        <p:spPr bwMode="auto">
          <a:xfrm>
            <a:off x="1714500" y="2286000"/>
            <a:ext cx="1905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ZA"/>
          </a:p>
        </p:txBody>
      </p:sp>
      <p:sp>
        <p:nvSpPr>
          <p:cNvPr id="315414" name="Rectangle 22"/>
          <p:cNvSpPr>
            <a:spLocks noChangeArrowheads="1"/>
          </p:cNvSpPr>
          <p:nvPr/>
        </p:nvSpPr>
        <p:spPr bwMode="auto">
          <a:xfrm>
            <a:off x="1714500" y="2286000"/>
            <a:ext cx="1905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ZA"/>
          </a:p>
        </p:txBody>
      </p:sp>
      <p:sp>
        <p:nvSpPr>
          <p:cNvPr id="315415" name="Rectangle 23"/>
          <p:cNvSpPr>
            <a:spLocks noChangeArrowheads="1"/>
          </p:cNvSpPr>
          <p:nvPr/>
        </p:nvSpPr>
        <p:spPr bwMode="auto">
          <a:xfrm>
            <a:off x="1714500" y="2286000"/>
            <a:ext cx="1905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ZA"/>
          </a:p>
        </p:txBody>
      </p:sp>
      <p:sp>
        <p:nvSpPr>
          <p:cNvPr id="315416" name="Rectangle 24"/>
          <p:cNvSpPr>
            <a:spLocks noChangeArrowheads="1"/>
          </p:cNvSpPr>
          <p:nvPr/>
        </p:nvSpPr>
        <p:spPr bwMode="auto">
          <a:xfrm>
            <a:off x="1714500" y="2286000"/>
            <a:ext cx="1905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ZA"/>
          </a:p>
        </p:txBody>
      </p:sp>
      <p:sp>
        <p:nvSpPr>
          <p:cNvPr id="315420" name="Rectangle 2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ZA"/>
          </a:p>
        </p:txBody>
      </p:sp>
      <p:graphicFrame>
        <p:nvGraphicFramePr>
          <p:cNvPr id="315419" name="Object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91118247"/>
              </p:ext>
            </p:extLst>
          </p:nvPr>
        </p:nvGraphicFramePr>
        <p:xfrm>
          <a:off x="3276600" y="2214087"/>
          <a:ext cx="2057400" cy="790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655" name="Equation" r:id="rId3" imgW="1016000" imgH="393700" progId="Equation.3">
                  <p:embed/>
                </p:oleObj>
              </mc:Choice>
              <mc:Fallback>
                <p:oleObj name="Equation" r:id="rId3" imgW="1016000" imgH="393700" progId="Equation.3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2214087"/>
                        <a:ext cx="2057400" cy="7905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5422" name="Rectangle 30"/>
          <p:cNvSpPr>
            <a:spLocks noChangeArrowheads="1"/>
          </p:cNvSpPr>
          <p:nvPr/>
        </p:nvSpPr>
        <p:spPr bwMode="auto">
          <a:xfrm>
            <a:off x="0" y="30765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ZA"/>
          </a:p>
        </p:txBody>
      </p:sp>
      <p:graphicFrame>
        <p:nvGraphicFramePr>
          <p:cNvPr id="315421" name="Object 2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63810288"/>
              </p:ext>
            </p:extLst>
          </p:nvPr>
        </p:nvGraphicFramePr>
        <p:xfrm>
          <a:off x="3505200" y="4957287"/>
          <a:ext cx="1828800" cy="973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656" name="Equation" r:id="rId5" imgW="723586" imgH="393529" progId="Equation.3">
                  <p:embed/>
                </p:oleObj>
              </mc:Choice>
              <mc:Fallback>
                <p:oleObj name="Equation" r:id="rId5" imgW="723586" imgH="393529" progId="Equation.3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5200" y="4957287"/>
                        <a:ext cx="1828800" cy="9731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4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154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15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A09612-A603-41C9-8EF0-3107B7E37593}" type="slidenum">
              <a:rPr lang="en-US"/>
              <a:pPr/>
              <a:t>33</a:t>
            </a:fld>
            <a:endParaRPr lang="en-US"/>
          </a:p>
        </p:txBody>
      </p:sp>
      <p:sp>
        <p:nvSpPr>
          <p:cNvPr id="316418" name="Rectangle 2"/>
          <p:cNvSpPr>
            <a:spLocks noGrp="1" noChangeArrowheads="1"/>
          </p:cNvSpPr>
          <p:nvPr>
            <p:ph type="title" sz="quarter"/>
          </p:nvPr>
        </p:nvSpPr>
        <p:spPr>
          <a:xfrm>
            <a:off x="0" y="103188"/>
            <a:ext cx="9144000" cy="811212"/>
          </a:xfrm>
          <a:noFill/>
        </p:spPr>
        <p:txBody>
          <a:bodyPr lIns="0" rIns="0"/>
          <a:lstStyle/>
          <a:p>
            <a:r>
              <a:rPr lang="en-US" sz="2800" dirty="0"/>
              <a:t>9.5 Impedance and </a:t>
            </a:r>
            <a:r>
              <a:rPr lang="en-US" sz="2800" dirty="0" smtClean="0"/>
              <a:t>Admittance</a:t>
            </a:r>
            <a:endParaRPr lang="en-US" sz="2800" dirty="0"/>
          </a:p>
        </p:txBody>
      </p:sp>
      <p:sp>
        <p:nvSpPr>
          <p:cNvPr id="316419" name="Rectangle 3"/>
          <p:cNvSpPr>
            <a:spLocks noChangeArrowheads="1"/>
          </p:cNvSpPr>
          <p:nvPr/>
        </p:nvSpPr>
        <p:spPr bwMode="auto">
          <a:xfrm>
            <a:off x="0" y="32146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ZA"/>
          </a:p>
        </p:txBody>
      </p:sp>
      <p:sp>
        <p:nvSpPr>
          <p:cNvPr id="316420" name="Rectangle 4"/>
          <p:cNvSpPr>
            <a:spLocks noChangeArrowheads="1"/>
          </p:cNvSpPr>
          <p:nvPr/>
        </p:nvSpPr>
        <p:spPr bwMode="auto">
          <a:xfrm>
            <a:off x="0" y="31813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ZA"/>
          </a:p>
        </p:txBody>
      </p:sp>
      <p:sp>
        <p:nvSpPr>
          <p:cNvPr id="316421" name="Rectangle 5"/>
          <p:cNvSpPr>
            <a:spLocks noChangeArrowheads="1"/>
          </p:cNvSpPr>
          <p:nvPr/>
        </p:nvSpPr>
        <p:spPr bwMode="auto">
          <a:xfrm>
            <a:off x="0" y="32385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ZA"/>
          </a:p>
        </p:txBody>
      </p:sp>
      <p:sp>
        <p:nvSpPr>
          <p:cNvPr id="316422" name="Rectangle 6"/>
          <p:cNvSpPr>
            <a:spLocks noChangeArrowheads="1"/>
          </p:cNvSpPr>
          <p:nvPr/>
        </p:nvSpPr>
        <p:spPr bwMode="auto">
          <a:xfrm>
            <a:off x="0" y="32385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ZA"/>
          </a:p>
        </p:txBody>
      </p:sp>
      <p:sp>
        <p:nvSpPr>
          <p:cNvPr id="316423" name="Rectangle 7"/>
          <p:cNvSpPr>
            <a:spLocks noChangeArrowheads="1"/>
          </p:cNvSpPr>
          <p:nvPr/>
        </p:nvSpPr>
        <p:spPr bwMode="auto">
          <a:xfrm>
            <a:off x="-609600" y="32004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ZA"/>
          </a:p>
        </p:txBody>
      </p:sp>
      <p:sp>
        <p:nvSpPr>
          <p:cNvPr id="316424" name="Rectangle 8"/>
          <p:cNvSpPr>
            <a:spLocks noChangeArrowheads="1"/>
          </p:cNvSpPr>
          <p:nvPr/>
        </p:nvSpPr>
        <p:spPr bwMode="auto">
          <a:xfrm>
            <a:off x="0" y="32385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ZA"/>
          </a:p>
        </p:txBody>
      </p:sp>
      <p:sp>
        <p:nvSpPr>
          <p:cNvPr id="316425" name="Rectangle 9"/>
          <p:cNvSpPr>
            <a:spLocks noChangeArrowheads="1"/>
          </p:cNvSpPr>
          <p:nvPr/>
        </p:nvSpPr>
        <p:spPr bwMode="auto">
          <a:xfrm>
            <a:off x="0" y="32099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ZA"/>
          </a:p>
        </p:txBody>
      </p:sp>
      <p:sp>
        <p:nvSpPr>
          <p:cNvPr id="316426" name="Rectangle 10"/>
          <p:cNvSpPr>
            <a:spLocks noChangeArrowheads="1"/>
          </p:cNvSpPr>
          <p:nvPr/>
        </p:nvSpPr>
        <p:spPr bwMode="auto">
          <a:xfrm>
            <a:off x="0" y="31242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ZA"/>
          </a:p>
        </p:txBody>
      </p:sp>
      <p:sp>
        <p:nvSpPr>
          <p:cNvPr id="316427" name="Rectangle 11"/>
          <p:cNvSpPr>
            <a:spLocks noChangeArrowheads="1"/>
          </p:cNvSpPr>
          <p:nvPr/>
        </p:nvSpPr>
        <p:spPr bwMode="auto">
          <a:xfrm>
            <a:off x="0" y="32527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ZA"/>
          </a:p>
        </p:txBody>
      </p:sp>
      <p:sp>
        <p:nvSpPr>
          <p:cNvPr id="316428" name="Rectangle 1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ZA"/>
          </a:p>
        </p:txBody>
      </p:sp>
      <p:sp>
        <p:nvSpPr>
          <p:cNvPr id="316429" name="Rectangle 13"/>
          <p:cNvSpPr>
            <a:spLocks noChangeArrowheads="1"/>
          </p:cNvSpPr>
          <p:nvPr/>
        </p:nvSpPr>
        <p:spPr bwMode="auto">
          <a:xfrm>
            <a:off x="0" y="33051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ZA"/>
          </a:p>
        </p:txBody>
      </p:sp>
      <p:sp>
        <p:nvSpPr>
          <p:cNvPr id="316430" name="Rectangle 14"/>
          <p:cNvSpPr>
            <a:spLocks noChangeArrowheads="1"/>
          </p:cNvSpPr>
          <p:nvPr/>
        </p:nvSpPr>
        <p:spPr bwMode="auto">
          <a:xfrm>
            <a:off x="0" y="33051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ZA"/>
          </a:p>
        </p:txBody>
      </p:sp>
      <p:sp>
        <p:nvSpPr>
          <p:cNvPr id="316431" name="Rectangle 15"/>
          <p:cNvSpPr>
            <a:spLocks noChangeArrowheads="1"/>
          </p:cNvSpPr>
          <p:nvPr/>
        </p:nvSpPr>
        <p:spPr bwMode="auto">
          <a:xfrm>
            <a:off x="0" y="33051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ZA"/>
          </a:p>
        </p:txBody>
      </p:sp>
      <p:sp>
        <p:nvSpPr>
          <p:cNvPr id="316432" name="Rectangle 1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ZA"/>
          </a:p>
        </p:txBody>
      </p:sp>
      <p:sp>
        <p:nvSpPr>
          <p:cNvPr id="316433" name="Rectangle 1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ZA"/>
          </a:p>
        </p:txBody>
      </p:sp>
      <p:sp>
        <p:nvSpPr>
          <p:cNvPr id="316434" name="Rectangle 18"/>
          <p:cNvSpPr>
            <a:spLocks noChangeArrowheads="1"/>
          </p:cNvSpPr>
          <p:nvPr/>
        </p:nvSpPr>
        <p:spPr bwMode="auto">
          <a:xfrm>
            <a:off x="0" y="31242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ZA"/>
          </a:p>
        </p:txBody>
      </p:sp>
      <p:sp>
        <p:nvSpPr>
          <p:cNvPr id="316435" name="Rectangle 19"/>
          <p:cNvSpPr>
            <a:spLocks noChangeArrowheads="1"/>
          </p:cNvSpPr>
          <p:nvPr/>
        </p:nvSpPr>
        <p:spPr bwMode="auto">
          <a:xfrm>
            <a:off x="1714500" y="2286000"/>
            <a:ext cx="1905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ZA"/>
          </a:p>
        </p:txBody>
      </p:sp>
      <p:sp>
        <p:nvSpPr>
          <p:cNvPr id="316436" name="Rectangle 20"/>
          <p:cNvSpPr>
            <a:spLocks noChangeArrowheads="1"/>
          </p:cNvSpPr>
          <p:nvPr/>
        </p:nvSpPr>
        <p:spPr bwMode="auto">
          <a:xfrm>
            <a:off x="1714500" y="2286000"/>
            <a:ext cx="1905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ZA"/>
          </a:p>
        </p:txBody>
      </p:sp>
      <p:sp>
        <p:nvSpPr>
          <p:cNvPr id="316437" name="Rectangle 21"/>
          <p:cNvSpPr>
            <a:spLocks noChangeArrowheads="1"/>
          </p:cNvSpPr>
          <p:nvPr/>
        </p:nvSpPr>
        <p:spPr bwMode="auto">
          <a:xfrm>
            <a:off x="1714500" y="2286000"/>
            <a:ext cx="1905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ZA"/>
          </a:p>
        </p:txBody>
      </p:sp>
      <p:sp>
        <p:nvSpPr>
          <p:cNvPr id="316438" name="Rectangle 22"/>
          <p:cNvSpPr>
            <a:spLocks noChangeArrowheads="1"/>
          </p:cNvSpPr>
          <p:nvPr/>
        </p:nvSpPr>
        <p:spPr bwMode="auto">
          <a:xfrm>
            <a:off x="1714500" y="2286000"/>
            <a:ext cx="1905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ZA"/>
          </a:p>
        </p:txBody>
      </p:sp>
      <p:sp>
        <p:nvSpPr>
          <p:cNvPr id="316439" name="Rectangle 23"/>
          <p:cNvSpPr>
            <a:spLocks noChangeArrowheads="1"/>
          </p:cNvSpPr>
          <p:nvPr/>
        </p:nvSpPr>
        <p:spPr bwMode="auto">
          <a:xfrm>
            <a:off x="1714500" y="2286000"/>
            <a:ext cx="1905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ZA"/>
          </a:p>
        </p:txBody>
      </p:sp>
      <p:sp>
        <p:nvSpPr>
          <p:cNvPr id="316440" name="Rectangle 24"/>
          <p:cNvSpPr>
            <a:spLocks noChangeArrowheads="1"/>
          </p:cNvSpPr>
          <p:nvPr/>
        </p:nvSpPr>
        <p:spPr bwMode="auto">
          <a:xfrm>
            <a:off x="1714500" y="2286000"/>
            <a:ext cx="1905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ZA"/>
          </a:p>
        </p:txBody>
      </p:sp>
      <p:sp>
        <p:nvSpPr>
          <p:cNvPr id="316442" name="Rectangle 2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ZA"/>
          </a:p>
        </p:txBody>
      </p:sp>
      <p:sp>
        <p:nvSpPr>
          <p:cNvPr id="316444" name="Rectangle 28"/>
          <p:cNvSpPr>
            <a:spLocks noChangeArrowheads="1"/>
          </p:cNvSpPr>
          <p:nvPr/>
        </p:nvSpPr>
        <p:spPr bwMode="auto">
          <a:xfrm>
            <a:off x="0" y="30765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ZA"/>
          </a:p>
        </p:txBody>
      </p:sp>
      <p:sp>
        <p:nvSpPr>
          <p:cNvPr id="316457" name="Rectangle 41"/>
          <p:cNvSpPr>
            <a:spLocks noChangeArrowheads="1"/>
          </p:cNvSpPr>
          <p:nvPr/>
        </p:nvSpPr>
        <p:spPr bwMode="auto">
          <a:xfrm>
            <a:off x="1714500" y="2286000"/>
            <a:ext cx="1905000" cy="0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ZA"/>
          </a:p>
        </p:txBody>
      </p:sp>
      <p:sp>
        <p:nvSpPr>
          <p:cNvPr id="316459" name="Rectangle 43"/>
          <p:cNvSpPr>
            <a:spLocks noChangeArrowheads="1"/>
          </p:cNvSpPr>
          <p:nvPr/>
        </p:nvSpPr>
        <p:spPr bwMode="auto">
          <a:xfrm>
            <a:off x="1714500" y="2286000"/>
            <a:ext cx="1905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ZA"/>
          </a:p>
        </p:txBody>
      </p:sp>
      <p:graphicFrame>
        <p:nvGraphicFramePr>
          <p:cNvPr id="316450" name="Object 34"/>
          <p:cNvGraphicFramePr>
            <a:graphicFrameLocks noChangeAspect="1"/>
          </p:cNvGraphicFramePr>
          <p:nvPr/>
        </p:nvGraphicFramePr>
        <p:xfrm>
          <a:off x="6629400" y="3048000"/>
          <a:ext cx="914400" cy="831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258" name="Equation" r:id="rId3" imgW="431613" imgH="393529" progId="Equation.3">
                  <p:embed/>
                </p:oleObj>
              </mc:Choice>
              <mc:Fallback>
                <p:oleObj name="Equation" r:id="rId3" imgW="431613" imgH="393529" progId="Equation.3">
                  <p:embed/>
                  <p:pic>
                    <p:nvPicPr>
                      <p:cNvPr id="0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29400" y="3048000"/>
                        <a:ext cx="914400" cy="8318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6462" name="Rectangle 46"/>
          <p:cNvSpPr>
            <a:spLocks noChangeArrowheads="1"/>
          </p:cNvSpPr>
          <p:nvPr/>
        </p:nvSpPr>
        <p:spPr bwMode="auto">
          <a:xfrm>
            <a:off x="1714500" y="2286000"/>
            <a:ext cx="1905000" cy="0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ZA"/>
          </a:p>
        </p:txBody>
      </p:sp>
      <p:sp>
        <p:nvSpPr>
          <p:cNvPr id="316464" name="Rectangle 48"/>
          <p:cNvSpPr>
            <a:spLocks noChangeArrowheads="1"/>
          </p:cNvSpPr>
          <p:nvPr/>
        </p:nvSpPr>
        <p:spPr bwMode="auto">
          <a:xfrm>
            <a:off x="1714500" y="2286000"/>
            <a:ext cx="1905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ZA"/>
          </a:p>
        </p:txBody>
      </p:sp>
      <p:graphicFrame>
        <p:nvGraphicFramePr>
          <p:cNvPr id="316448" name="Object 32"/>
          <p:cNvGraphicFramePr>
            <a:graphicFrameLocks noChangeAspect="1"/>
          </p:cNvGraphicFramePr>
          <p:nvPr/>
        </p:nvGraphicFramePr>
        <p:xfrm>
          <a:off x="6629400" y="3960813"/>
          <a:ext cx="1143000" cy="830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259" name="Equation" r:id="rId5" imgW="583920" imgH="419040" progId="Equation.3">
                  <p:embed/>
                </p:oleObj>
              </mc:Choice>
              <mc:Fallback>
                <p:oleObj name="Equation" r:id="rId5" imgW="583920" imgH="419040" progId="Equation.3">
                  <p:embed/>
                  <p:pic>
                    <p:nvPicPr>
                      <p:cNvPr id="0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29400" y="3960813"/>
                        <a:ext cx="1143000" cy="8302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6467" name="Rectangle 51"/>
          <p:cNvSpPr>
            <a:spLocks noChangeArrowheads="1"/>
          </p:cNvSpPr>
          <p:nvPr/>
        </p:nvSpPr>
        <p:spPr bwMode="auto">
          <a:xfrm>
            <a:off x="1714500" y="2286000"/>
            <a:ext cx="1905000" cy="0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ZA"/>
          </a:p>
        </p:txBody>
      </p:sp>
      <p:sp>
        <p:nvSpPr>
          <p:cNvPr id="316469" name="Rectangle 53"/>
          <p:cNvSpPr>
            <a:spLocks noChangeArrowheads="1"/>
          </p:cNvSpPr>
          <p:nvPr/>
        </p:nvSpPr>
        <p:spPr bwMode="auto">
          <a:xfrm>
            <a:off x="1714500" y="2286000"/>
            <a:ext cx="1905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ZA"/>
          </a:p>
        </p:txBody>
      </p:sp>
      <p:graphicFrame>
        <p:nvGraphicFramePr>
          <p:cNvPr id="316446" name="Object 30"/>
          <p:cNvGraphicFramePr>
            <a:graphicFrameLocks noChangeAspect="1"/>
          </p:cNvGraphicFramePr>
          <p:nvPr/>
        </p:nvGraphicFramePr>
        <p:xfrm>
          <a:off x="6324600" y="5105400"/>
          <a:ext cx="1676400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260" name="Equation" r:id="rId7" imgW="596641" imgH="203112" progId="Equation.3">
                  <p:embed/>
                </p:oleObj>
              </mc:Choice>
              <mc:Fallback>
                <p:oleObj name="Equation" r:id="rId7" imgW="596641" imgH="203112" progId="Equation.3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24600" y="5105400"/>
                        <a:ext cx="1676400" cy="438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6567" name="Group 151"/>
          <p:cNvGraphicFramePr>
            <a:graphicFrameLocks noGrp="1"/>
          </p:cNvGraphicFramePr>
          <p:nvPr/>
        </p:nvGraphicFramePr>
        <p:xfrm>
          <a:off x="533400" y="1676400"/>
          <a:ext cx="8001000" cy="4114801"/>
        </p:xfrm>
        <a:graphic>
          <a:graphicData uri="http://schemas.openxmlformats.org/drawingml/2006/table">
            <a:tbl>
              <a:tblPr/>
              <a:tblGrid>
                <a:gridCol w="2667000"/>
                <a:gridCol w="2667000"/>
                <a:gridCol w="2667000"/>
              </a:tblGrid>
              <a:tr h="660400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PMingLiU" pitchFamily="18" charset="-120"/>
                          <a:cs typeface="Times New Roman" pitchFamily="18" charset="0"/>
                        </a:rPr>
                        <a:t>Impedances and admittances of passive elements</a:t>
                      </a:r>
                      <a:endParaRPr kumimoji="0" 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PMingLiU" pitchFamily="18" charset="-120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FF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</a:tr>
              <a:tr h="660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PMingLiU" pitchFamily="18" charset="-120"/>
                          <a:cs typeface="Times New Roman" pitchFamily="18" charset="0"/>
                        </a:rPr>
                        <a:t>Element</a:t>
                      </a:r>
                      <a:endParaRPr kumimoji="0" 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PMingLiU" pitchFamily="18" charset="-120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FF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PMingLiU" pitchFamily="18" charset="-120"/>
                          <a:cs typeface="Times New Roman" pitchFamily="18" charset="0"/>
                        </a:rPr>
                        <a:t>Impedance</a:t>
                      </a:r>
                      <a:endParaRPr kumimoji="0" 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PMingLiU" pitchFamily="18" charset="-120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FF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PMingLiU" pitchFamily="18" charset="-120"/>
                          <a:cs typeface="Times New Roman" pitchFamily="18" charset="0"/>
                        </a:rPr>
                        <a:t>Admittance</a:t>
                      </a:r>
                      <a:endParaRPr kumimoji="0" 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PMingLiU" pitchFamily="18" charset="-120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FF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9302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PMingLiU" pitchFamily="18" charset="-120"/>
                          <a:cs typeface="Times New Roman" pitchFamily="18" charset="0"/>
                        </a:rPr>
                        <a:t>R</a:t>
                      </a:r>
                      <a:endParaRPr kumimoji="0" 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PMingLiU" pitchFamily="18" charset="-120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FF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4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FF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4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FF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9318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PMingLiU" pitchFamily="18" charset="-120"/>
                          <a:cs typeface="Times New Roman" pitchFamily="18" charset="0"/>
                        </a:rPr>
                        <a:t>L</a:t>
                      </a:r>
                      <a:endParaRPr kumimoji="0" 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PMingLiU" pitchFamily="18" charset="-120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FF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4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FF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4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FF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9318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PMingLiU" pitchFamily="18" charset="-120"/>
                          <a:cs typeface="Times New Roman" pitchFamily="18" charset="0"/>
                        </a:rPr>
                        <a:t>C</a:t>
                      </a:r>
                      <a:endParaRPr kumimoji="0" 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PMingLiU" pitchFamily="18" charset="-120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FF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4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FF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4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FF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33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316451" name="Object 35"/>
          <p:cNvGraphicFramePr>
            <a:graphicFrameLocks noChangeAspect="1"/>
          </p:cNvGraphicFramePr>
          <p:nvPr/>
        </p:nvGraphicFramePr>
        <p:xfrm>
          <a:off x="3886200" y="3276600"/>
          <a:ext cx="1119188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261" name="Equation" r:id="rId9" imgW="418918" imgH="165028" progId="Equation.3">
                  <p:embed/>
                </p:oleObj>
              </mc:Choice>
              <mc:Fallback>
                <p:oleObj name="Equation" r:id="rId9" imgW="418918" imgH="165028" progId="Equation.3">
                  <p:embed/>
                  <p:pic>
                    <p:nvPicPr>
                      <p:cNvPr id="0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6200" y="3276600"/>
                        <a:ext cx="1119188" cy="431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6449" name="Object 33"/>
          <p:cNvGraphicFramePr>
            <a:graphicFrameLocks noChangeAspect="1"/>
          </p:cNvGraphicFramePr>
          <p:nvPr/>
        </p:nvGraphicFramePr>
        <p:xfrm>
          <a:off x="3810000" y="4146550"/>
          <a:ext cx="1447800" cy="50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262" name="Equation" r:id="rId11" imgW="583947" imgH="203112" progId="Equation.3">
                  <p:embed/>
                </p:oleObj>
              </mc:Choice>
              <mc:Fallback>
                <p:oleObj name="Equation" r:id="rId11" imgW="583947" imgH="203112" progId="Equation.3">
                  <p:embed/>
                  <p:pic>
                    <p:nvPicPr>
                      <p:cNvPr id="0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0" y="4146550"/>
                        <a:ext cx="1447800" cy="5016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6447" name="Object 31"/>
          <p:cNvGraphicFramePr>
            <a:graphicFrameLocks noChangeAspect="1"/>
          </p:cNvGraphicFramePr>
          <p:nvPr/>
        </p:nvGraphicFramePr>
        <p:xfrm>
          <a:off x="3733800" y="4911725"/>
          <a:ext cx="1600200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263" name="Equation" r:id="rId13" imgW="622030" imgH="418918" progId="Equation.3">
                  <p:embed/>
                </p:oleObj>
              </mc:Choice>
              <mc:Fallback>
                <p:oleObj name="Equation" r:id="rId13" imgW="622030" imgH="418918" progId="Equation.3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3800" y="4911725"/>
                        <a:ext cx="1600200" cy="863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Picture 3" descr="ale29559_09015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222"/>
          <a:stretch/>
        </p:blipFill>
        <p:spPr bwMode="auto">
          <a:xfrm>
            <a:off x="1828961" y="1091595"/>
            <a:ext cx="4876649" cy="5257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8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71F5A-AE59-40A0-855A-B6B62B8F7EC2}" type="slidenum">
              <a:rPr lang="en-US"/>
              <a:pPr/>
              <a:t>34</a:t>
            </a:fld>
            <a:endParaRPr lang="en-US"/>
          </a:p>
        </p:txBody>
      </p:sp>
      <p:graphicFrame>
        <p:nvGraphicFramePr>
          <p:cNvPr id="317505" name="Object 65"/>
          <p:cNvGraphicFramePr>
            <a:graphicFrameLocks noGrp="1" noChangeAspect="1"/>
          </p:cNvGraphicFramePr>
          <p:nvPr>
            <p:ph sz="quarter" idx="2"/>
            <p:extLst>
              <p:ext uri="{D42A27DB-BD31-4B8C-83A1-F6EECF244321}">
                <p14:modId xmlns:p14="http://schemas.microsoft.com/office/powerpoint/2010/main" val="2585732141"/>
              </p:ext>
            </p:extLst>
          </p:nvPr>
        </p:nvGraphicFramePr>
        <p:xfrm>
          <a:off x="1892278" y="2070100"/>
          <a:ext cx="1241425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978" name="Equation" r:id="rId4" imgW="583947" imgH="203112" progId="Equation.3">
                  <p:embed/>
                </p:oleObj>
              </mc:Choice>
              <mc:Fallback>
                <p:oleObj name="Equation" r:id="rId4" imgW="583947" imgH="203112" progId="Equation.3">
                  <p:embed/>
                  <p:pic>
                    <p:nvPicPr>
                      <p:cNvPr id="0" name="Object 6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92278" y="2070100"/>
                        <a:ext cx="1241425" cy="431800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507" name="Object 67"/>
          <p:cNvGraphicFramePr>
            <a:graphicFrameLocks noGrp="1" noChangeAspect="1"/>
          </p:cNvGraphicFramePr>
          <p:nvPr>
            <p:ph sz="quarter" idx="3"/>
            <p:extLst>
              <p:ext uri="{D42A27DB-BD31-4B8C-83A1-F6EECF244321}">
                <p14:modId xmlns:p14="http://schemas.microsoft.com/office/powerpoint/2010/main" val="2426515339"/>
              </p:ext>
            </p:extLst>
          </p:nvPr>
        </p:nvGraphicFramePr>
        <p:xfrm>
          <a:off x="1889975" y="4855985"/>
          <a:ext cx="1143000" cy="769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979" name="Equation" r:id="rId6" imgW="622030" imgH="418918" progId="Equation.3">
                  <p:embed/>
                </p:oleObj>
              </mc:Choice>
              <mc:Fallback>
                <p:oleObj name="Equation" r:id="rId6" imgW="622030" imgH="418918" progId="Equation.3">
                  <p:embed/>
                  <p:pic>
                    <p:nvPicPr>
                      <p:cNvPr id="0" name="Object 6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89975" y="4855985"/>
                        <a:ext cx="1143000" cy="7699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444" name="Rectangle 4"/>
          <p:cNvSpPr>
            <a:spLocks noChangeArrowheads="1"/>
          </p:cNvSpPr>
          <p:nvPr/>
        </p:nvSpPr>
        <p:spPr bwMode="auto">
          <a:xfrm>
            <a:off x="0" y="31813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ZA"/>
          </a:p>
        </p:txBody>
      </p:sp>
      <p:sp>
        <p:nvSpPr>
          <p:cNvPr id="317445" name="Rectangle 5"/>
          <p:cNvSpPr>
            <a:spLocks noChangeArrowheads="1"/>
          </p:cNvSpPr>
          <p:nvPr/>
        </p:nvSpPr>
        <p:spPr bwMode="auto">
          <a:xfrm>
            <a:off x="0" y="32385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ZA"/>
          </a:p>
        </p:txBody>
      </p:sp>
      <p:sp>
        <p:nvSpPr>
          <p:cNvPr id="317446" name="Rectangle 6"/>
          <p:cNvSpPr>
            <a:spLocks noChangeArrowheads="1"/>
          </p:cNvSpPr>
          <p:nvPr/>
        </p:nvSpPr>
        <p:spPr bwMode="auto">
          <a:xfrm>
            <a:off x="0" y="32385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ZA"/>
          </a:p>
        </p:txBody>
      </p:sp>
      <p:sp>
        <p:nvSpPr>
          <p:cNvPr id="317448" name="Rectangle 8"/>
          <p:cNvSpPr>
            <a:spLocks noChangeArrowheads="1"/>
          </p:cNvSpPr>
          <p:nvPr/>
        </p:nvSpPr>
        <p:spPr bwMode="auto">
          <a:xfrm>
            <a:off x="0" y="32385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ZA"/>
          </a:p>
        </p:txBody>
      </p:sp>
      <p:sp>
        <p:nvSpPr>
          <p:cNvPr id="317449" name="Rectangle 9"/>
          <p:cNvSpPr>
            <a:spLocks noChangeArrowheads="1"/>
          </p:cNvSpPr>
          <p:nvPr/>
        </p:nvSpPr>
        <p:spPr bwMode="auto">
          <a:xfrm>
            <a:off x="0" y="32099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ZA"/>
          </a:p>
        </p:txBody>
      </p:sp>
      <p:sp>
        <p:nvSpPr>
          <p:cNvPr id="317450" name="Rectangle 10"/>
          <p:cNvSpPr>
            <a:spLocks noChangeArrowheads="1"/>
          </p:cNvSpPr>
          <p:nvPr/>
        </p:nvSpPr>
        <p:spPr bwMode="auto">
          <a:xfrm>
            <a:off x="0" y="31242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ZA"/>
          </a:p>
        </p:txBody>
      </p:sp>
      <p:sp>
        <p:nvSpPr>
          <p:cNvPr id="317451" name="Rectangle 11"/>
          <p:cNvSpPr>
            <a:spLocks noChangeArrowheads="1"/>
          </p:cNvSpPr>
          <p:nvPr/>
        </p:nvSpPr>
        <p:spPr bwMode="auto">
          <a:xfrm>
            <a:off x="0" y="32527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ZA"/>
          </a:p>
        </p:txBody>
      </p:sp>
      <p:sp>
        <p:nvSpPr>
          <p:cNvPr id="317452" name="Rectangle 1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ZA"/>
          </a:p>
        </p:txBody>
      </p:sp>
      <p:sp>
        <p:nvSpPr>
          <p:cNvPr id="317454" name="Rectangle 14"/>
          <p:cNvSpPr>
            <a:spLocks noChangeArrowheads="1"/>
          </p:cNvSpPr>
          <p:nvPr/>
        </p:nvSpPr>
        <p:spPr bwMode="auto">
          <a:xfrm>
            <a:off x="0" y="33051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ZA"/>
          </a:p>
        </p:txBody>
      </p:sp>
      <p:sp>
        <p:nvSpPr>
          <p:cNvPr id="317455" name="Rectangle 15"/>
          <p:cNvSpPr>
            <a:spLocks noChangeArrowheads="1"/>
          </p:cNvSpPr>
          <p:nvPr/>
        </p:nvSpPr>
        <p:spPr bwMode="auto">
          <a:xfrm>
            <a:off x="0" y="33051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ZA"/>
          </a:p>
        </p:txBody>
      </p:sp>
      <p:sp>
        <p:nvSpPr>
          <p:cNvPr id="317456" name="Rectangle 1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ZA"/>
          </a:p>
        </p:txBody>
      </p:sp>
      <p:sp>
        <p:nvSpPr>
          <p:cNvPr id="317457" name="Rectangle 1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ZA"/>
          </a:p>
        </p:txBody>
      </p:sp>
      <p:sp>
        <p:nvSpPr>
          <p:cNvPr id="317458" name="Rectangle 18"/>
          <p:cNvSpPr>
            <a:spLocks noChangeArrowheads="1"/>
          </p:cNvSpPr>
          <p:nvPr/>
        </p:nvSpPr>
        <p:spPr bwMode="auto">
          <a:xfrm>
            <a:off x="0" y="31242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ZA"/>
          </a:p>
        </p:txBody>
      </p:sp>
      <p:sp>
        <p:nvSpPr>
          <p:cNvPr id="317459" name="Rectangle 19"/>
          <p:cNvSpPr>
            <a:spLocks noChangeArrowheads="1"/>
          </p:cNvSpPr>
          <p:nvPr/>
        </p:nvSpPr>
        <p:spPr bwMode="auto">
          <a:xfrm>
            <a:off x="1714500" y="2286000"/>
            <a:ext cx="1905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ZA"/>
          </a:p>
        </p:txBody>
      </p:sp>
      <p:sp>
        <p:nvSpPr>
          <p:cNvPr id="317460" name="Rectangle 20"/>
          <p:cNvSpPr>
            <a:spLocks noChangeArrowheads="1"/>
          </p:cNvSpPr>
          <p:nvPr/>
        </p:nvSpPr>
        <p:spPr bwMode="auto">
          <a:xfrm>
            <a:off x="1714500" y="2286000"/>
            <a:ext cx="1905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ZA"/>
          </a:p>
        </p:txBody>
      </p:sp>
      <p:sp>
        <p:nvSpPr>
          <p:cNvPr id="317461" name="Rectangle 21"/>
          <p:cNvSpPr>
            <a:spLocks noChangeArrowheads="1"/>
          </p:cNvSpPr>
          <p:nvPr/>
        </p:nvSpPr>
        <p:spPr bwMode="auto">
          <a:xfrm>
            <a:off x="1714500" y="2286000"/>
            <a:ext cx="1905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ZA"/>
          </a:p>
        </p:txBody>
      </p:sp>
      <p:sp>
        <p:nvSpPr>
          <p:cNvPr id="317462" name="Rectangle 22"/>
          <p:cNvSpPr>
            <a:spLocks noChangeArrowheads="1"/>
          </p:cNvSpPr>
          <p:nvPr/>
        </p:nvSpPr>
        <p:spPr bwMode="auto">
          <a:xfrm>
            <a:off x="1714500" y="2286000"/>
            <a:ext cx="1905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ZA"/>
          </a:p>
        </p:txBody>
      </p:sp>
      <p:sp>
        <p:nvSpPr>
          <p:cNvPr id="317463" name="Rectangle 23"/>
          <p:cNvSpPr>
            <a:spLocks noChangeArrowheads="1"/>
          </p:cNvSpPr>
          <p:nvPr/>
        </p:nvSpPr>
        <p:spPr bwMode="auto">
          <a:xfrm>
            <a:off x="1714500" y="2286000"/>
            <a:ext cx="1905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ZA"/>
          </a:p>
        </p:txBody>
      </p:sp>
      <p:sp>
        <p:nvSpPr>
          <p:cNvPr id="317464" name="Rectangle 24"/>
          <p:cNvSpPr>
            <a:spLocks noChangeArrowheads="1"/>
          </p:cNvSpPr>
          <p:nvPr/>
        </p:nvSpPr>
        <p:spPr bwMode="auto">
          <a:xfrm>
            <a:off x="1714500" y="2286000"/>
            <a:ext cx="1905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ZA"/>
          </a:p>
        </p:txBody>
      </p:sp>
      <p:sp>
        <p:nvSpPr>
          <p:cNvPr id="317465" name="Rectangle 2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ZA"/>
          </a:p>
        </p:txBody>
      </p:sp>
      <p:sp>
        <p:nvSpPr>
          <p:cNvPr id="317467" name="Rectangle 27"/>
          <p:cNvSpPr>
            <a:spLocks noChangeArrowheads="1"/>
          </p:cNvSpPr>
          <p:nvPr/>
        </p:nvSpPr>
        <p:spPr bwMode="auto">
          <a:xfrm>
            <a:off x="1714500" y="2286000"/>
            <a:ext cx="1905000" cy="0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ZA"/>
          </a:p>
        </p:txBody>
      </p:sp>
      <p:sp>
        <p:nvSpPr>
          <p:cNvPr id="317468" name="Rectangle 28"/>
          <p:cNvSpPr>
            <a:spLocks noChangeArrowheads="1"/>
          </p:cNvSpPr>
          <p:nvPr/>
        </p:nvSpPr>
        <p:spPr bwMode="auto">
          <a:xfrm>
            <a:off x="1714500" y="2286000"/>
            <a:ext cx="1905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ZA"/>
          </a:p>
        </p:txBody>
      </p:sp>
      <p:sp>
        <p:nvSpPr>
          <p:cNvPr id="317470" name="Rectangle 30"/>
          <p:cNvSpPr>
            <a:spLocks noChangeArrowheads="1"/>
          </p:cNvSpPr>
          <p:nvPr/>
        </p:nvSpPr>
        <p:spPr bwMode="auto">
          <a:xfrm>
            <a:off x="1714500" y="2286000"/>
            <a:ext cx="1905000" cy="0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ZA"/>
          </a:p>
        </p:txBody>
      </p:sp>
      <p:sp>
        <p:nvSpPr>
          <p:cNvPr id="317471" name="Rectangle 31"/>
          <p:cNvSpPr>
            <a:spLocks noChangeArrowheads="1"/>
          </p:cNvSpPr>
          <p:nvPr/>
        </p:nvSpPr>
        <p:spPr bwMode="auto">
          <a:xfrm>
            <a:off x="1714500" y="2286000"/>
            <a:ext cx="1905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ZA"/>
          </a:p>
        </p:txBody>
      </p:sp>
      <p:sp>
        <p:nvSpPr>
          <p:cNvPr id="317473" name="Rectangle 33"/>
          <p:cNvSpPr>
            <a:spLocks noChangeArrowheads="1"/>
          </p:cNvSpPr>
          <p:nvPr/>
        </p:nvSpPr>
        <p:spPr bwMode="auto">
          <a:xfrm>
            <a:off x="1714500" y="2286000"/>
            <a:ext cx="1905000" cy="0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ZA"/>
          </a:p>
        </p:txBody>
      </p:sp>
      <p:sp>
        <p:nvSpPr>
          <p:cNvPr id="317474" name="Rectangle 34"/>
          <p:cNvSpPr>
            <a:spLocks noChangeArrowheads="1"/>
          </p:cNvSpPr>
          <p:nvPr/>
        </p:nvSpPr>
        <p:spPr bwMode="auto">
          <a:xfrm>
            <a:off x="1714500" y="2286000"/>
            <a:ext cx="1905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ZA"/>
          </a:p>
        </p:txBody>
      </p:sp>
      <p:graphicFrame>
        <p:nvGraphicFramePr>
          <p:cNvPr id="317511" name="Object 71"/>
          <p:cNvGraphicFramePr>
            <a:graphicFrameLocks noGrp="1" noChangeAspect="1"/>
          </p:cNvGraphicFramePr>
          <p:nvPr>
            <p:ph sz="quarter" idx="4"/>
            <p:extLst>
              <p:ext uri="{D42A27DB-BD31-4B8C-83A1-F6EECF244321}">
                <p14:modId xmlns:p14="http://schemas.microsoft.com/office/powerpoint/2010/main" val="2514138997"/>
              </p:ext>
            </p:extLst>
          </p:nvPr>
        </p:nvGraphicFramePr>
        <p:xfrm>
          <a:off x="6711145" y="1014995"/>
          <a:ext cx="2363788" cy="1617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980" name="Equation" r:id="rId8" imgW="965160" imgH="660240" progId="Equation.3">
                  <p:embed/>
                </p:oleObj>
              </mc:Choice>
              <mc:Fallback>
                <p:oleObj name="Equation" r:id="rId8" imgW="965160" imgH="660240" progId="Equation.3">
                  <p:embed/>
                  <p:pic>
                    <p:nvPicPr>
                      <p:cNvPr id="0" name="Object 7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11145" y="1014995"/>
                        <a:ext cx="2363788" cy="1617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513" name="Object 7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40689321"/>
              </p:ext>
            </p:extLst>
          </p:nvPr>
        </p:nvGraphicFramePr>
        <p:xfrm>
          <a:off x="6819654" y="3787730"/>
          <a:ext cx="2116137" cy="1619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981" name="Equation" r:id="rId10" imgW="863280" imgH="660240" progId="Equation.3">
                  <p:embed/>
                </p:oleObj>
              </mc:Choice>
              <mc:Fallback>
                <p:oleObj name="Equation" r:id="rId10" imgW="863280" imgH="660240" progId="Equation.3">
                  <p:embed/>
                  <p:pic>
                    <p:nvPicPr>
                      <p:cNvPr id="0" name="Object 7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19654" y="3787730"/>
                        <a:ext cx="2116137" cy="1619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" name="Rectangle 2"/>
          <p:cNvSpPr>
            <a:spLocks noGrp="1" noChangeArrowheads="1"/>
          </p:cNvSpPr>
          <p:nvPr>
            <p:ph type="title" sz="quarter"/>
          </p:nvPr>
        </p:nvSpPr>
        <p:spPr>
          <a:xfrm>
            <a:off x="0" y="103188"/>
            <a:ext cx="9144000" cy="566513"/>
          </a:xfrm>
          <a:noFill/>
        </p:spPr>
        <p:txBody>
          <a:bodyPr lIns="0" rIns="0" anchor="t"/>
          <a:lstStyle/>
          <a:p>
            <a:r>
              <a:rPr lang="en-US" sz="2800" dirty="0"/>
              <a:t>9.5 Impedance and </a:t>
            </a:r>
            <a:r>
              <a:rPr lang="en-US" sz="2800" dirty="0" smtClean="0"/>
              <a:t>Admittance</a:t>
            </a:r>
            <a:endParaRPr lang="en-US" sz="2800" dirty="0"/>
          </a:p>
        </p:txBody>
      </p:sp>
      <p:sp>
        <p:nvSpPr>
          <p:cNvPr id="5" name="Rectangle 4"/>
          <p:cNvSpPr/>
          <p:nvPr/>
        </p:nvSpPr>
        <p:spPr>
          <a:xfrm>
            <a:off x="1299478" y="721062"/>
            <a:ext cx="2735044" cy="461665"/>
          </a:xfrm>
          <a:prstGeom prst="rect">
            <a:avLst/>
          </a:prstGeom>
          <a:ln>
            <a:solidFill>
              <a:srgbClr val="000000"/>
            </a:solidFill>
          </a:ln>
        </p:spPr>
        <p:txBody>
          <a:bodyPr wrap="none">
            <a:spAutoFit/>
          </a:bodyPr>
          <a:lstStyle/>
          <a:p>
            <a:r>
              <a:rPr lang="en-ZA" sz="2400" dirty="0" smtClean="0">
                <a:latin typeface="Times New Roman" pitchFamily="18" charset="0"/>
              </a:rPr>
              <a:t>Remember:  </a:t>
            </a:r>
            <a:r>
              <a:rPr lang="en-ZA" sz="2400" dirty="0" smtClean="0">
                <a:latin typeface="Times New Roman" pitchFamily="18" charset="0"/>
                <a:sym typeface="Symbol"/>
              </a:rPr>
              <a:t> = 2f</a:t>
            </a:r>
            <a:endParaRPr lang="en-ZA" sz="2400" dirty="0"/>
          </a:p>
        </p:txBody>
      </p:sp>
      <p:sp>
        <p:nvSpPr>
          <p:cNvPr id="43" name="Rectangle 42"/>
          <p:cNvSpPr/>
          <p:nvPr/>
        </p:nvSpPr>
        <p:spPr>
          <a:xfrm>
            <a:off x="180306" y="2518298"/>
            <a:ext cx="4772781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ZA" sz="2000" dirty="0" smtClean="0">
                <a:latin typeface="Times New Roman" pitchFamily="18" charset="0"/>
              </a:rPr>
              <a:t>f = 0 </a:t>
            </a:r>
            <a:r>
              <a:rPr lang="en-ZA" sz="2000" dirty="0" smtClean="0">
                <a:latin typeface="Times New Roman" pitchFamily="18" charset="0"/>
                <a:sym typeface="Symbol"/>
              </a:rPr>
              <a:t> DC  Z</a:t>
            </a:r>
            <a:r>
              <a:rPr lang="en-ZA" sz="2000" baseline="-25000" dirty="0" smtClean="0">
                <a:latin typeface="Times New Roman" pitchFamily="18" charset="0"/>
                <a:sym typeface="Symbol"/>
              </a:rPr>
              <a:t>L</a:t>
            </a:r>
            <a:r>
              <a:rPr lang="en-ZA" sz="2000" dirty="0" smtClean="0">
                <a:latin typeface="Times New Roman" pitchFamily="18" charset="0"/>
                <a:sym typeface="Symbol"/>
              </a:rPr>
              <a:t> = 0  Short Circuit</a:t>
            </a:r>
          </a:p>
          <a:p>
            <a:r>
              <a:rPr lang="en-ZA" sz="2000" dirty="0" smtClean="0">
                <a:latin typeface="Times New Roman" pitchFamily="18" charset="0"/>
              </a:rPr>
              <a:t>f </a:t>
            </a:r>
            <a:r>
              <a:rPr lang="en-ZA" sz="2000" dirty="0">
                <a:latin typeface="Times New Roman" pitchFamily="18" charset="0"/>
              </a:rPr>
              <a:t>= </a:t>
            </a:r>
            <a:r>
              <a:rPr lang="en-ZA" sz="2000" dirty="0" smtClean="0">
                <a:latin typeface="Times New Roman" pitchFamily="18" charset="0"/>
              </a:rPr>
              <a:t>∞ </a:t>
            </a:r>
            <a:r>
              <a:rPr lang="en-ZA" sz="2000" dirty="0">
                <a:latin typeface="Times New Roman" pitchFamily="18" charset="0"/>
                <a:sym typeface="Symbol"/>
              </a:rPr>
              <a:t> </a:t>
            </a:r>
            <a:r>
              <a:rPr lang="en-ZA" sz="2000" dirty="0" smtClean="0">
                <a:latin typeface="Times New Roman" pitchFamily="18" charset="0"/>
                <a:sym typeface="Symbol"/>
              </a:rPr>
              <a:t>high AC </a:t>
            </a:r>
            <a:r>
              <a:rPr lang="en-ZA" sz="2000" dirty="0">
                <a:latin typeface="Times New Roman" pitchFamily="18" charset="0"/>
                <a:sym typeface="Symbol"/>
              </a:rPr>
              <a:t> Z</a:t>
            </a:r>
            <a:r>
              <a:rPr lang="en-ZA" sz="2000" baseline="-25000" dirty="0">
                <a:latin typeface="Times New Roman" pitchFamily="18" charset="0"/>
                <a:sym typeface="Symbol"/>
              </a:rPr>
              <a:t>L</a:t>
            </a:r>
            <a:r>
              <a:rPr lang="en-ZA" sz="2000" dirty="0">
                <a:latin typeface="Times New Roman" pitchFamily="18" charset="0"/>
                <a:sym typeface="Symbol"/>
              </a:rPr>
              <a:t> = </a:t>
            </a:r>
            <a:r>
              <a:rPr lang="en-ZA" sz="2000" dirty="0">
                <a:latin typeface="Times New Roman" pitchFamily="18" charset="0"/>
              </a:rPr>
              <a:t>∞</a:t>
            </a:r>
            <a:r>
              <a:rPr lang="en-ZA" sz="2000" dirty="0" smtClean="0">
                <a:latin typeface="Times New Roman" pitchFamily="18" charset="0"/>
                <a:sym typeface="Symbol"/>
              </a:rPr>
              <a:t> </a:t>
            </a:r>
            <a:r>
              <a:rPr lang="en-ZA" sz="2000" dirty="0">
                <a:latin typeface="Times New Roman" pitchFamily="18" charset="0"/>
                <a:sym typeface="Symbol"/>
              </a:rPr>
              <a:t> </a:t>
            </a:r>
            <a:r>
              <a:rPr lang="en-ZA" sz="2000" dirty="0" smtClean="0">
                <a:latin typeface="Times New Roman" pitchFamily="18" charset="0"/>
                <a:sym typeface="Symbol"/>
              </a:rPr>
              <a:t>Open Circuit</a:t>
            </a:r>
            <a:endParaRPr lang="en-ZA" sz="2000" dirty="0"/>
          </a:p>
        </p:txBody>
      </p:sp>
      <p:sp>
        <p:nvSpPr>
          <p:cNvPr id="44" name="Rectangle 43"/>
          <p:cNvSpPr/>
          <p:nvPr/>
        </p:nvSpPr>
        <p:spPr>
          <a:xfrm>
            <a:off x="180305" y="5465414"/>
            <a:ext cx="4772781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ZA" sz="2000" dirty="0" smtClean="0">
                <a:latin typeface="Times New Roman" pitchFamily="18" charset="0"/>
              </a:rPr>
              <a:t>f = 0 </a:t>
            </a:r>
            <a:r>
              <a:rPr lang="en-ZA" sz="2000" dirty="0" smtClean="0">
                <a:latin typeface="Times New Roman" pitchFamily="18" charset="0"/>
                <a:sym typeface="Symbol"/>
              </a:rPr>
              <a:t> DC  Z</a:t>
            </a:r>
            <a:r>
              <a:rPr lang="en-ZA" sz="2000" baseline="-25000" dirty="0" smtClean="0">
                <a:latin typeface="Times New Roman" pitchFamily="18" charset="0"/>
                <a:sym typeface="Symbol"/>
              </a:rPr>
              <a:t>C</a:t>
            </a:r>
            <a:r>
              <a:rPr lang="en-ZA" sz="2000" dirty="0" smtClean="0">
                <a:latin typeface="Times New Roman" pitchFamily="18" charset="0"/>
                <a:sym typeface="Symbol"/>
              </a:rPr>
              <a:t> = </a:t>
            </a:r>
            <a:r>
              <a:rPr lang="en-ZA" sz="2000" dirty="0">
                <a:latin typeface="Times New Roman" pitchFamily="18" charset="0"/>
              </a:rPr>
              <a:t>∞</a:t>
            </a:r>
            <a:r>
              <a:rPr lang="en-ZA" sz="2000" dirty="0">
                <a:latin typeface="Times New Roman" pitchFamily="18" charset="0"/>
                <a:sym typeface="Symbol"/>
              </a:rPr>
              <a:t>  Open Circuit </a:t>
            </a:r>
            <a:endParaRPr lang="en-ZA" sz="2000" dirty="0" smtClean="0">
              <a:latin typeface="Times New Roman" pitchFamily="18" charset="0"/>
              <a:sym typeface="Symbol"/>
            </a:endParaRPr>
          </a:p>
          <a:p>
            <a:r>
              <a:rPr lang="en-ZA" sz="2000" dirty="0" smtClean="0">
                <a:latin typeface="Times New Roman" pitchFamily="18" charset="0"/>
              </a:rPr>
              <a:t>f </a:t>
            </a:r>
            <a:r>
              <a:rPr lang="en-ZA" sz="2000" dirty="0">
                <a:latin typeface="Times New Roman" pitchFamily="18" charset="0"/>
              </a:rPr>
              <a:t>= </a:t>
            </a:r>
            <a:r>
              <a:rPr lang="en-ZA" sz="2000" dirty="0" smtClean="0">
                <a:latin typeface="Times New Roman" pitchFamily="18" charset="0"/>
              </a:rPr>
              <a:t>∞ </a:t>
            </a:r>
            <a:r>
              <a:rPr lang="en-ZA" sz="2000" dirty="0">
                <a:latin typeface="Times New Roman" pitchFamily="18" charset="0"/>
                <a:sym typeface="Symbol"/>
              </a:rPr>
              <a:t> </a:t>
            </a:r>
            <a:r>
              <a:rPr lang="en-ZA" sz="2000" dirty="0" smtClean="0">
                <a:latin typeface="Times New Roman" pitchFamily="18" charset="0"/>
                <a:sym typeface="Symbol"/>
              </a:rPr>
              <a:t>high AC </a:t>
            </a:r>
            <a:r>
              <a:rPr lang="en-ZA" sz="2000" dirty="0">
                <a:latin typeface="Times New Roman" pitchFamily="18" charset="0"/>
                <a:sym typeface="Symbol"/>
              </a:rPr>
              <a:t> </a:t>
            </a:r>
            <a:r>
              <a:rPr lang="en-ZA" sz="2000" dirty="0" smtClean="0">
                <a:latin typeface="Times New Roman" pitchFamily="18" charset="0"/>
                <a:sym typeface="Symbol"/>
              </a:rPr>
              <a:t>Z</a:t>
            </a:r>
            <a:r>
              <a:rPr lang="en-ZA" sz="2000" baseline="-25000" dirty="0" smtClean="0">
                <a:latin typeface="Times New Roman" pitchFamily="18" charset="0"/>
                <a:sym typeface="Symbol"/>
              </a:rPr>
              <a:t>C</a:t>
            </a:r>
            <a:r>
              <a:rPr lang="en-ZA" sz="2000" dirty="0" smtClean="0">
                <a:latin typeface="Times New Roman" pitchFamily="18" charset="0"/>
                <a:sym typeface="Symbol"/>
              </a:rPr>
              <a:t> </a:t>
            </a:r>
            <a:r>
              <a:rPr lang="en-ZA" sz="2000" dirty="0">
                <a:latin typeface="Times New Roman" pitchFamily="18" charset="0"/>
                <a:sym typeface="Symbol"/>
              </a:rPr>
              <a:t>= 0  Short Circuit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17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175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AA80E6-D1DE-4446-B1C2-9530E968EA01}" type="slidenum">
              <a:rPr lang="en-US" smtClean="0"/>
              <a:pPr/>
              <a:t>35</a:t>
            </a:fld>
            <a:endParaRPr lang="en-US"/>
          </a:p>
        </p:txBody>
      </p:sp>
      <p:sp>
        <p:nvSpPr>
          <p:cNvPr id="8" name="Rectangle 2"/>
          <p:cNvSpPr txBox="1">
            <a:spLocks noChangeArrowheads="1"/>
          </p:cNvSpPr>
          <p:nvPr/>
        </p:nvSpPr>
        <p:spPr>
          <a:xfrm>
            <a:off x="603213" y="270612"/>
            <a:ext cx="7739063" cy="566513"/>
          </a:xfrm>
          <a:prstGeom prst="rect">
            <a:avLst/>
          </a:prstGeom>
          <a:noFill/>
        </p:spPr>
        <p:txBody>
          <a:bodyPr lIns="0" rIns="0" anchor="t"/>
          <a:lstStyle>
            <a:lvl1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2pPr>
            <a:lvl3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3pPr>
            <a:lvl4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4pPr>
            <a:lvl5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5pPr>
            <a:lvl6pPr marL="4572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6pPr>
            <a:lvl7pPr marL="9144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7pPr>
            <a:lvl8pPr marL="13716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8pPr>
            <a:lvl9pPr marL="18288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9pPr>
          </a:lstStyle>
          <a:p>
            <a:r>
              <a:rPr lang="en-US" sz="2800" dirty="0" smtClean="0"/>
              <a:t>9.5 Impedance and Admittance</a:t>
            </a:r>
            <a:endParaRPr lang="en-US" sz="2800" dirty="0"/>
          </a:p>
        </p:txBody>
      </p:sp>
      <p:pic>
        <p:nvPicPr>
          <p:cNvPr id="35430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4936" y="916658"/>
            <a:ext cx="6334125" cy="600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1739786" y="1555753"/>
                <a:ext cx="334809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ZA" sz="2400" b="1" i="1" smtClean="0">
                          <a:latin typeface="Cambria Math"/>
                        </a:rPr>
                        <m:t>𝒁</m:t>
                      </m:r>
                      <m:r>
                        <a:rPr lang="en-ZA" sz="2400" b="0" i="1" smtClean="0">
                          <a:latin typeface="Cambria Math"/>
                        </a:rPr>
                        <m:t>=</m:t>
                      </m:r>
                      <m:r>
                        <a:rPr lang="en-ZA" sz="2400" b="0" i="1" smtClean="0">
                          <a:latin typeface="Cambria Math"/>
                        </a:rPr>
                        <m:t>𝑅</m:t>
                      </m:r>
                      <m:r>
                        <a:rPr lang="en-ZA" sz="2400" b="0" i="1" smtClean="0">
                          <a:latin typeface="Cambria Math"/>
                        </a:rPr>
                        <m:t>+</m:t>
                      </m:r>
                      <m:r>
                        <a:rPr lang="en-ZA" sz="2400" b="0" i="1" smtClean="0">
                          <a:latin typeface="Cambria Math"/>
                        </a:rPr>
                        <m:t>𝑗</m:t>
                      </m:r>
                      <m:r>
                        <a:rPr lang="en-ZA" sz="2400" b="0" i="1" smtClean="0">
                          <a:latin typeface="Cambria Math"/>
                          <a:ea typeface="Cambria Math"/>
                        </a:rPr>
                        <m:t>𝜔</m:t>
                      </m:r>
                      <m:r>
                        <a:rPr lang="en-ZA" sz="2400" b="0" i="1" smtClean="0">
                          <a:latin typeface="Cambria Math"/>
                          <a:ea typeface="Cambria Math"/>
                        </a:rPr>
                        <m:t>𝐿</m:t>
                      </m:r>
                      <m:r>
                        <a:rPr lang="en-ZA" sz="2400" b="0" i="1" smtClean="0">
                          <a:latin typeface="Cambria Math"/>
                          <a:ea typeface="Cambria Math"/>
                        </a:rPr>
                        <m:t>=</m:t>
                      </m:r>
                      <m:r>
                        <a:rPr lang="en-ZA" sz="2400" b="0" i="1" smtClean="0">
                          <a:latin typeface="Cambria Math"/>
                          <a:ea typeface="Cambria Math"/>
                        </a:rPr>
                        <m:t>𝑅</m:t>
                      </m:r>
                      <m:r>
                        <a:rPr lang="en-ZA" sz="2400" b="0" i="1" smtClean="0">
                          <a:latin typeface="Cambria Math"/>
                          <a:ea typeface="Cambria Math"/>
                        </a:rPr>
                        <m:t>+</m:t>
                      </m:r>
                      <m:r>
                        <a:rPr lang="en-ZA" sz="2400" b="0" i="1" smtClean="0">
                          <a:latin typeface="Cambria Math"/>
                          <a:ea typeface="Cambria Math"/>
                        </a:rPr>
                        <m:t>𝑗</m:t>
                      </m:r>
                      <m:sSub>
                        <m:sSubPr>
                          <m:ctrlPr>
                            <a:rPr lang="en-ZA" sz="2400" b="0" i="1" smtClean="0">
                              <a:latin typeface="Cambria Math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en-ZA" sz="2400" b="0" i="1" smtClean="0">
                              <a:latin typeface="Cambria Math"/>
                              <a:ea typeface="Cambria Math"/>
                            </a:rPr>
                            <m:t>𝑋</m:t>
                          </m:r>
                        </m:e>
                        <m:sub>
                          <m:r>
                            <a:rPr lang="en-ZA" sz="2400" b="0" i="1" smtClean="0">
                              <a:latin typeface="Cambria Math"/>
                              <a:ea typeface="Cambria Math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ZA" sz="2400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9786" y="1555753"/>
                <a:ext cx="3348096" cy="461665"/>
              </a:xfrm>
              <a:prstGeom prst="rect">
                <a:avLst/>
              </a:prstGeom>
              <a:blipFill rotWithShape="1">
                <a:blip r:embed="rId3"/>
                <a:stretch>
                  <a:fillRect b="-18421"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/>
              <p:cNvSpPr/>
              <p:nvPr/>
            </p:nvSpPr>
            <p:spPr>
              <a:xfrm>
                <a:off x="5499570" y="1569670"/>
                <a:ext cx="1651671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ZA" sz="2400" i="1" smtClean="0">
                          <a:latin typeface="Cambria Math"/>
                          <a:ea typeface="Cambria Math"/>
                        </a:rPr>
                        <m:t>∴</m:t>
                      </m:r>
                      <m:sSub>
                        <m:sSubPr>
                          <m:ctrlPr>
                            <a:rPr lang="en-ZA" sz="2400" i="1">
                              <a:latin typeface="Cambria Math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en-ZA" sz="2400" i="1">
                              <a:latin typeface="Cambria Math"/>
                              <a:ea typeface="Cambria Math"/>
                            </a:rPr>
                            <m:t>𝑋</m:t>
                          </m:r>
                        </m:e>
                        <m:sub>
                          <m:r>
                            <a:rPr lang="en-ZA" sz="2400" i="1">
                              <a:latin typeface="Cambria Math"/>
                              <a:ea typeface="Cambria Math"/>
                            </a:rPr>
                            <m:t>𝐿</m:t>
                          </m:r>
                        </m:sub>
                      </m:sSub>
                      <m:r>
                        <a:rPr lang="en-ZA" sz="2400" b="0" i="0" smtClean="0">
                          <a:latin typeface="Cambria Math"/>
                          <a:ea typeface="Cambria Math"/>
                        </a:rPr>
                        <m:t>=</m:t>
                      </m:r>
                      <m:r>
                        <a:rPr lang="en-ZA" sz="2400" i="1">
                          <a:latin typeface="Cambria Math"/>
                          <a:ea typeface="Cambria Math"/>
                        </a:rPr>
                        <m:t>𝜔</m:t>
                      </m:r>
                      <m:r>
                        <a:rPr lang="en-ZA" sz="2400" i="1">
                          <a:latin typeface="Cambria Math"/>
                          <a:ea typeface="Cambria Math"/>
                        </a:rPr>
                        <m:t>𝐿</m:t>
                      </m:r>
                    </m:oMath>
                  </m:oMathPara>
                </a14:m>
                <a:endParaRPr lang="en-ZA" sz="2400" dirty="0"/>
              </a:p>
            </p:txBody>
          </p:sp>
        </mc:Choice>
        <mc:Fallback xmlns=""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9570" y="1569670"/>
                <a:ext cx="1651671" cy="461665"/>
              </a:xfrm>
              <a:prstGeom prst="rect">
                <a:avLst/>
              </a:prstGeom>
              <a:blipFill rotWithShape="1">
                <a:blip r:embed="rId4"/>
                <a:stretch>
                  <a:fillRect b="-2632"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 11"/>
          <p:cNvSpPr/>
          <p:nvPr/>
        </p:nvSpPr>
        <p:spPr>
          <a:xfrm>
            <a:off x="806054" y="2177108"/>
            <a:ext cx="11977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ZA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Impedance</a:t>
            </a:r>
            <a:endParaRPr lang="en-ZA" dirty="0">
              <a:solidFill>
                <a:srgbClr val="000000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2918217" y="2191283"/>
            <a:ext cx="117211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ZA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Resistance</a:t>
            </a:r>
            <a:endParaRPr lang="en-ZA" dirty="0">
              <a:solidFill>
                <a:srgbClr val="000000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4923085" y="2191827"/>
            <a:ext cx="11336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ZA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Reactance</a:t>
            </a:r>
            <a:endParaRPr lang="en-ZA" dirty="0">
              <a:solidFill>
                <a:srgbClr val="000000"/>
              </a:solidFill>
            </a:endParaRPr>
          </a:p>
        </p:txBody>
      </p:sp>
      <p:cxnSp>
        <p:nvCxnSpPr>
          <p:cNvPr id="14" name="Straight Arrow Connector 13"/>
          <p:cNvCxnSpPr>
            <a:endCxn id="12" idx="0"/>
          </p:cNvCxnSpPr>
          <p:nvPr/>
        </p:nvCxnSpPr>
        <p:spPr bwMode="auto">
          <a:xfrm flipH="1">
            <a:off x="1404936" y="1896056"/>
            <a:ext cx="451841" cy="281052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  <a:extLst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 bwMode="auto">
          <a:xfrm>
            <a:off x="2575776" y="2014744"/>
            <a:ext cx="437880" cy="320881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  <a:extLst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 bwMode="auto">
          <a:xfrm flipH="1">
            <a:off x="5671531" y="2022716"/>
            <a:ext cx="385198" cy="259263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  <a:extLst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/>
          <p:nvPr/>
        </p:nvCxnSpPr>
        <p:spPr bwMode="auto">
          <a:xfrm>
            <a:off x="4689436" y="2000878"/>
            <a:ext cx="566822" cy="281101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  <a:extLst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pic>
        <p:nvPicPr>
          <p:cNvPr id="354311" name="Picture 4"/>
          <p:cNvPicPr>
            <a:picLocks noChangeAspect="1" noChangeArrowheads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6641" y="2546440"/>
            <a:ext cx="5667741" cy="9741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/>
              <p:cNvSpPr txBox="1"/>
              <p:nvPr/>
            </p:nvSpPr>
            <p:spPr>
              <a:xfrm>
                <a:off x="867116" y="3314519"/>
                <a:ext cx="4951547" cy="85100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ZA" sz="2400" b="1" i="1" smtClean="0">
                          <a:latin typeface="Cambria Math"/>
                        </a:rPr>
                        <m:t>𝒁</m:t>
                      </m:r>
                      <m:r>
                        <a:rPr lang="en-ZA" sz="2400" b="0" i="1" smtClean="0">
                          <a:latin typeface="Cambria Math"/>
                        </a:rPr>
                        <m:t>=</m:t>
                      </m:r>
                      <m:r>
                        <a:rPr lang="en-ZA" sz="2400" b="0" i="1" smtClean="0">
                          <a:latin typeface="Cambria Math"/>
                        </a:rPr>
                        <m:t>𝑅</m:t>
                      </m:r>
                      <m:r>
                        <a:rPr lang="en-ZA" sz="2400" b="0" i="1" smtClean="0">
                          <a:latin typeface="Cambria Math"/>
                        </a:rPr>
                        <m:t>+</m:t>
                      </m:r>
                      <m:f>
                        <m:fPr>
                          <m:ctrlPr>
                            <a:rPr lang="en-ZA" sz="2400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ZA" sz="2400" b="0" i="1" smtClean="0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ZA" sz="2400" i="1">
                              <a:latin typeface="Cambria Math"/>
                            </a:rPr>
                            <m:t>𝑗</m:t>
                          </m:r>
                          <m:r>
                            <a:rPr lang="en-ZA" sz="2400" i="1">
                              <a:latin typeface="Cambria Math"/>
                              <a:ea typeface="Cambria Math"/>
                            </a:rPr>
                            <m:t>𝜔</m:t>
                          </m:r>
                          <m:r>
                            <a:rPr lang="en-ZA" sz="2400" b="0" i="1" smtClean="0">
                              <a:latin typeface="Cambria Math"/>
                              <a:ea typeface="Cambria Math"/>
                            </a:rPr>
                            <m:t>𝐶</m:t>
                          </m:r>
                        </m:den>
                      </m:f>
                      <m:r>
                        <a:rPr lang="en-ZA" sz="2400" b="0" i="1" smtClean="0">
                          <a:latin typeface="Cambria Math"/>
                          <a:ea typeface="Cambria Math"/>
                        </a:rPr>
                        <m:t>=</m:t>
                      </m:r>
                      <m:r>
                        <a:rPr lang="en-ZA" sz="2400" i="1">
                          <a:latin typeface="Cambria Math"/>
                        </a:rPr>
                        <m:t>𝑅</m:t>
                      </m:r>
                      <m:r>
                        <a:rPr lang="en-ZA" sz="2400" b="0" i="1" smtClean="0">
                          <a:latin typeface="Cambria Math"/>
                        </a:rPr>
                        <m:t>−</m:t>
                      </m:r>
                      <m:r>
                        <a:rPr lang="en-ZA" sz="2400" i="1">
                          <a:latin typeface="Cambria Math"/>
                        </a:rPr>
                        <m:t>𝑗</m:t>
                      </m:r>
                      <m:f>
                        <m:fPr>
                          <m:ctrlPr>
                            <a:rPr lang="en-ZA" sz="2400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ZA" sz="2400" i="1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ZA" sz="2400" i="1">
                              <a:latin typeface="Cambria Math"/>
                              <a:ea typeface="Cambria Math"/>
                            </a:rPr>
                            <m:t>𝜔</m:t>
                          </m:r>
                          <m:r>
                            <a:rPr lang="en-ZA" sz="2400" i="1">
                              <a:latin typeface="Cambria Math"/>
                              <a:ea typeface="Cambria Math"/>
                            </a:rPr>
                            <m:t>𝐶</m:t>
                          </m:r>
                        </m:den>
                      </m:f>
                      <m:r>
                        <a:rPr lang="en-ZA" sz="2400" i="1">
                          <a:latin typeface="Cambria Math"/>
                          <a:ea typeface="Cambria Math"/>
                        </a:rPr>
                        <m:t>=</m:t>
                      </m:r>
                      <m:r>
                        <a:rPr lang="en-ZA" sz="2400" b="0" i="1" smtClean="0">
                          <a:latin typeface="Cambria Math"/>
                          <a:ea typeface="Cambria Math"/>
                        </a:rPr>
                        <m:t>𝑅</m:t>
                      </m:r>
                      <m:r>
                        <a:rPr lang="en-ZA" sz="2400" b="0" i="1" smtClean="0">
                          <a:latin typeface="Cambria Math"/>
                          <a:ea typeface="Cambria Math"/>
                        </a:rPr>
                        <m:t>+</m:t>
                      </m:r>
                      <m:r>
                        <a:rPr lang="en-ZA" sz="2400" b="0" i="1" smtClean="0">
                          <a:latin typeface="Cambria Math"/>
                          <a:ea typeface="Cambria Math"/>
                        </a:rPr>
                        <m:t>𝑗</m:t>
                      </m:r>
                      <m:sSub>
                        <m:sSubPr>
                          <m:ctrlPr>
                            <a:rPr lang="en-ZA" sz="2400" b="0" i="1" smtClean="0">
                              <a:latin typeface="Cambria Math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en-ZA" sz="2400" b="0" i="1" smtClean="0">
                              <a:latin typeface="Cambria Math"/>
                              <a:ea typeface="Cambria Math"/>
                            </a:rPr>
                            <m:t>𝑋</m:t>
                          </m:r>
                        </m:e>
                        <m:sub>
                          <m:r>
                            <a:rPr lang="en-ZA" sz="2400" b="0" i="1" smtClean="0">
                              <a:latin typeface="Cambria Math"/>
                              <a:ea typeface="Cambria Math"/>
                            </a:rPr>
                            <m:t>𝐶</m:t>
                          </m:r>
                        </m:sub>
                      </m:sSub>
                    </m:oMath>
                  </m:oMathPara>
                </a14:m>
                <a:endParaRPr lang="en-ZA" sz="2400" dirty="0"/>
              </a:p>
            </p:txBody>
          </p:sp>
        </mc:Choice>
        <mc:Fallback xmlns="">
          <p:sp>
            <p:nvSpPr>
              <p:cNvPr id="41" name="TextBox 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7116" y="3314519"/>
                <a:ext cx="4951547" cy="851002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Rectangle 41"/>
              <p:cNvSpPr/>
              <p:nvPr/>
            </p:nvSpPr>
            <p:spPr>
              <a:xfrm>
                <a:off x="5971405" y="3327398"/>
                <a:ext cx="1976951" cy="78624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ZA" sz="2400" i="1" smtClean="0">
                          <a:latin typeface="Cambria Math"/>
                          <a:ea typeface="Cambria Math"/>
                        </a:rPr>
                        <m:t>∴</m:t>
                      </m:r>
                      <m:sSub>
                        <m:sSubPr>
                          <m:ctrlPr>
                            <a:rPr lang="en-ZA" sz="2400" i="1">
                              <a:latin typeface="Cambria Math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en-ZA" sz="2400" i="1">
                              <a:latin typeface="Cambria Math"/>
                              <a:ea typeface="Cambria Math"/>
                            </a:rPr>
                            <m:t>𝑋</m:t>
                          </m:r>
                        </m:e>
                        <m:sub>
                          <m:r>
                            <a:rPr lang="en-ZA" sz="2400" i="1">
                              <a:latin typeface="Cambria Math"/>
                              <a:ea typeface="Cambria Math"/>
                            </a:rPr>
                            <m:t>𝐶</m:t>
                          </m:r>
                        </m:sub>
                      </m:sSub>
                      <m:r>
                        <a:rPr lang="en-ZA" sz="2400" b="0" i="1" smtClean="0">
                          <a:latin typeface="Cambria Math"/>
                          <a:ea typeface="Cambria Math"/>
                        </a:rPr>
                        <m:t>=−</m:t>
                      </m:r>
                      <m:f>
                        <m:fPr>
                          <m:ctrlPr>
                            <a:rPr lang="en-ZA" sz="2400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ZA" sz="2400" i="1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ZA" sz="2400" i="1">
                              <a:latin typeface="Cambria Math"/>
                              <a:ea typeface="Cambria Math"/>
                            </a:rPr>
                            <m:t>𝜔</m:t>
                          </m:r>
                          <m:r>
                            <a:rPr lang="en-ZA" sz="2400" i="1">
                              <a:latin typeface="Cambria Math"/>
                              <a:ea typeface="Cambria Math"/>
                            </a:rPr>
                            <m:t>𝐶</m:t>
                          </m:r>
                        </m:den>
                      </m:f>
                    </m:oMath>
                  </m:oMathPara>
                </a14:m>
                <a:endParaRPr lang="en-ZA" sz="2400" dirty="0"/>
              </a:p>
            </p:txBody>
          </p:sp>
        </mc:Choice>
        <mc:Fallback xmlns="">
          <p:sp>
            <p:nvSpPr>
              <p:cNvPr id="42" name="Rectangle 4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71405" y="3327398"/>
                <a:ext cx="1976951" cy="786241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4312" name="TextBox 354311"/>
              <p:cNvSpPr txBox="1"/>
              <p:nvPr/>
            </p:nvSpPr>
            <p:spPr>
              <a:xfrm>
                <a:off x="665992" y="4265458"/>
                <a:ext cx="4194546" cy="184217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ZA" sz="2400" b="1" i="1" smtClean="0">
                          <a:latin typeface="Cambria Math"/>
                        </a:rPr>
                        <m:t>𝒁</m:t>
                      </m:r>
                      <m:r>
                        <a:rPr lang="en-ZA" sz="2400" b="0" i="1" smtClean="0">
                          <a:latin typeface="Cambria Math"/>
                        </a:rPr>
                        <m:t>=</m:t>
                      </m:r>
                      <m:r>
                        <a:rPr lang="en-ZA" sz="2400" b="0" i="1" smtClean="0">
                          <a:latin typeface="Cambria Math"/>
                        </a:rPr>
                        <m:t>𝑅</m:t>
                      </m:r>
                      <m:r>
                        <a:rPr lang="en-ZA" sz="2400" b="0" i="1" smtClean="0">
                          <a:latin typeface="Cambria Math"/>
                        </a:rPr>
                        <m:t>+</m:t>
                      </m:r>
                      <m:r>
                        <a:rPr lang="en-ZA" sz="2400" b="0" i="1" smtClean="0">
                          <a:latin typeface="Cambria Math"/>
                        </a:rPr>
                        <m:t>𝑗𝑋</m:t>
                      </m:r>
                      <m:r>
                        <a:rPr lang="en-ZA" sz="2400" b="0" i="1" smtClean="0">
                          <a:latin typeface="Cambria Math"/>
                        </a:rPr>
                        <m:t>= </m:t>
                      </m:r>
                      <m:d>
                        <m:dPr>
                          <m:begChr m:val="|"/>
                          <m:endChr m:val="|"/>
                          <m:ctrlPr>
                            <a:rPr lang="en-ZA" sz="2400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ZA" sz="2400" b="0" i="1" smtClean="0">
                              <a:latin typeface="Cambria Math"/>
                            </a:rPr>
                            <m:t>𝑍</m:t>
                          </m:r>
                        </m:e>
                      </m:d>
                      <m:r>
                        <a:rPr lang="en-ZA" sz="2400" b="0" i="1" smtClean="0">
                          <a:latin typeface="Cambria Math"/>
                          <a:sym typeface="Symbol"/>
                        </a:rPr>
                        <m:t></m:t>
                      </m:r>
                    </m:oMath>
                  </m:oMathPara>
                </a14:m>
                <a:endParaRPr lang="en-ZA" sz="2400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ZA" sz="2400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ZA" sz="2400" b="1" i="1">
                              <a:latin typeface="Cambria Math"/>
                            </a:rPr>
                            <m:t>𝒁</m:t>
                          </m:r>
                        </m:e>
                      </m:d>
                      <m:r>
                        <a:rPr lang="en-ZA" sz="2400" b="0" i="1" smtClean="0">
                          <a:latin typeface="Cambria Math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ZA" sz="2400" b="0" i="1" smtClean="0">
                              <a:latin typeface="Cambria Math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ZA" sz="2400" b="0" i="1" smtClean="0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ZA" sz="2400" b="0" i="1" smtClean="0">
                                  <a:latin typeface="Cambria Math"/>
                                </a:rPr>
                                <m:t>𝑅</m:t>
                              </m:r>
                            </m:e>
                            <m:sup>
                              <m:r>
                                <a:rPr lang="en-ZA" sz="2400" b="0" i="1" smtClean="0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  <m:r>
                            <a:rPr lang="en-ZA" sz="2400" b="0" i="1" smtClean="0">
                              <a:latin typeface="Cambria Math"/>
                            </a:rPr>
                            <m:t>+</m:t>
                          </m:r>
                          <m:sSup>
                            <m:sSupPr>
                              <m:ctrlPr>
                                <a:rPr lang="en-ZA" sz="2400" b="0" i="1" smtClean="0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ZA" sz="2400" b="0" i="1" smtClean="0">
                                  <a:latin typeface="Cambria Math"/>
                                </a:rPr>
                                <m:t>𝑋</m:t>
                              </m:r>
                            </m:e>
                            <m:sup>
                              <m:r>
                                <a:rPr lang="en-ZA" sz="2400" b="0" i="1" smtClean="0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  <m:r>
                        <a:rPr lang="en-ZA" sz="2400" b="0" i="1" smtClean="0">
                          <a:latin typeface="Cambria Math"/>
                        </a:rPr>
                        <m:t>    </m:t>
                      </m:r>
                      <m:r>
                        <a:rPr lang="en-ZA" sz="2400" b="0" i="1" smtClean="0">
                          <a:latin typeface="Cambria Math"/>
                          <a:ea typeface="Cambria Math"/>
                        </a:rPr>
                        <m:t>𝜃</m:t>
                      </m:r>
                      <m:r>
                        <a:rPr lang="en-ZA" sz="2400" b="0" i="1" smtClean="0">
                          <a:latin typeface="Cambria Math"/>
                          <a:ea typeface="Cambria Math"/>
                        </a:rPr>
                        <m:t>=</m:t>
                      </m:r>
                      <m:func>
                        <m:funcPr>
                          <m:ctrlPr>
                            <a:rPr lang="en-ZA" sz="2400" b="0" i="1" smtClean="0">
                              <a:latin typeface="Cambria Math"/>
                              <a:ea typeface="Cambria Math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ZA" sz="2400" b="0" i="1" smtClean="0">
                                  <a:latin typeface="Cambria Math"/>
                                  <a:ea typeface="Cambria Math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ZA" sz="2400" b="0" i="0" smtClean="0">
                                  <a:latin typeface="Cambria Math"/>
                                  <a:ea typeface="Cambria Math"/>
                                </a:rPr>
                                <m:t>tan</m:t>
                              </m:r>
                            </m:e>
                            <m:sup>
                              <m:r>
                                <a:rPr lang="en-ZA" sz="2400" b="0" i="1" smtClean="0">
                                  <a:latin typeface="Cambria Math"/>
                                  <a:ea typeface="Cambria Math"/>
                                </a:rPr>
                                <m:t>−1</m:t>
                              </m:r>
                            </m:sup>
                          </m:sSup>
                        </m:fName>
                        <m:e>
                          <m:f>
                            <m:fPr>
                              <m:ctrlPr>
                                <a:rPr lang="en-ZA" sz="2400" b="0" i="1" smtClean="0">
                                  <a:latin typeface="Cambria Math"/>
                                  <a:ea typeface="Cambria Math"/>
                                </a:rPr>
                              </m:ctrlPr>
                            </m:fPr>
                            <m:num>
                              <m:r>
                                <a:rPr lang="en-ZA" sz="2400" b="0" i="1" smtClean="0">
                                  <a:latin typeface="Cambria Math"/>
                                  <a:ea typeface="Cambria Math"/>
                                </a:rPr>
                                <m:t>𝑋</m:t>
                              </m:r>
                            </m:num>
                            <m:den>
                              <m:r>
                                <a:rPr lang="en-ZA" sz="2400" b="0" i="1" smtClean="0">
                                  <a:latin typeface="Cambria Math"/>
                                  <a:ea typeface="Cambria Math"/>
                                </a:rPr>
                                <m:t>𝑅</m:t>
                              </m:r>
                            </m:den>
                          </m:f>
                        </m:e>
                      </m:func>
                    </m:oMath>
                  </m:oMathPara>
                </a14:m>
                <a:endParaRPr lang="en-ZA" sz="2400" b="0" dirty="0" smtClean="0">
                  <a:ea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ZA" sz="2400" b="1" i="1" smtClean="0">
                          <a:latin typeface="Cambria Math"/>
                        </a:rPr>
                        <m:t>𝒀</m:t>
                      </m:r>
                      <m:r>
                        <a:rPr lang="en-ZA" sz="2400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ZA" sz="2400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ZA" sz="2400" b="0" i="1" smtClean="0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ZA" sz="2400" b="1" i="1" smtClean="0">
                              <a:latin typeface="Cambria Math"/>
                            </a:rPr>
                            <m:t>𝒁</m:t>
                          </m:r>
                        </m:den>
                      </m:f>
                      <m:r>
                        <a:rPr lang="en-ZA" sz="2400" b="0" i="1" smtClean="0">
                          <a:latin typeface="Cambria Math"/>
                        </a:rPr>
                        <m:t>=</m:t>
                      </m:r>
                      <m:r>
                        <a:rPr lang="en-ZA" sz="2400" b="0" i="1" smtClean="0">
                          <a:latin typeface="Cambria Math"/>
                        </a:rPr>
                        <m:t>𝐺</m:t>
                      </m:r>
                      <m:r>
                        <a:rPr lang="en-ZA" sz="2400" b="0" i="1" smtClean="0">
                          <a:latin typeface="Cambria Math"/>
                        </a:rPr>
                        <m:t>+</m:t>
                      </m:r>
                      <m:r>
                        <a:rPr lang="en-ZA" sz="2400" b="0" i="1" smtClean="0">
                          <a:latin typeface="Cambria Math"/>
                        </a:rPr>
                        <m:t>𝑗𝐵</m:t>
                      </m:r>
                    </m:oMath>
                  </m:oMathPara>
                </a14:m>
                <a:endParaRPr lang="en-ZA" sz="2400" dirty="0"/>
              </a:p>
            </p:txBody>
          </p:sp>
        </mc:Choice>
        <mc:Fallback xmlns="">
          <p:sp>
            <p:nvSpPr>
              <p:cNvPr id="354312" name="TextBox 3543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5992" y="4265458"/>
                <a:ext cx="4194546" cy="1842171"/>
              </a:xfrm>
              <a:prstGeom prst="rect">
                <a:avLst/>
              </a:prstGeom>
              <a:blipFill rotWithShape="1">
                <a:blip r:embed="rId8"/>
                <a:stretch>
                  <a:fillRect l="-291"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4" name="Straight Arrow Connector 63"/>
          <p:cNvCxnSpPr/>
          <p:nvPr/>
        </p:nvCxnSpPr>
        <p:spPr bwMode="auto">
          <a:xfrm>
            <a:off x="360250" y="2624660"/>
            <a:ext cx="8377350" cy="0"/>
          </a:xfrm>
          <a:prstGeom prst="straightConnector1">
            <a:avLst/>
          </a:prstGeom>
          <a:ln w="12700">
            <a:solidFill>
              <a:srgbClr val="000000"/>
            </a:solidFill>
            <a:prstDash val="sysDash"/>
            <a:headEnd type="none" w="med" len="med"/>
            <a:tailEnd type="none" w="med" len="med"/>
          </a:ln>
          <a:extLst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66" name="Straight Arrow Connector 65"/>
          <p:cNvCxnSpPr/>
          <p:nvPr/>
        </p:nvCxnSpPr>
        <p:spPr bwMode="auto">
          <a:xfrm>
            <a:off x="360250" y="4165521"/>
            <a:ext cx="8377350" cy="0"/>
          </a:xfrm>
          <a:prstGeom prst="straightConnector1">
            <a:avLst/>
          </a:prstGeom>
          <a:ln w="12700">
            <a:solidFill>
              <a:srgbClr val="000000"/>
            </a:solidFill>
            <a:prstDash val="sysDash"/>
            <a:headEnd type="none" w="med" len="med"/>
            <a:tailEnd type="none" w="med" len="med"/>
          </a:ln>
          <a:extLst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grpSp>
        <p:nvGrpSpPr>
          <p:cNvPr id="2" name="Group 1"/>
          <p:cNvGrpSpPr/>
          <p:nvPr/>
        </p:nvGrpSpPr>
        <p:grpSpPr>
          <a:xfrm>
            <a:off x="136693" y="5828720"/>
            <a:ext cx="4033629" cy="650384"/>
            <a:chOff x="136693" y="5828720"/>
            <a:chExt cx="4033629" cy="650384"/>
          </a:xfrm>
        </p:grpSpPr>
        <p:sp>
          <p:nvSpPr>
            <p:cNvPr id="67" name="Rectangle 66"/>
            <p:cNvSpPr/>
            <p:nvPr/>
          </p:nvSpPr>
          <p:spPr>
            <a:xfrm>
              <a:off x="136693" y="6109772"/>
              <a:ext cx="126188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ZA" dirty="0" smtClean="0">
                  <a:solidFill>
                    <a:srgbClr val="000000"/>
                  </a:solidFill>
                  <a:latin typeface="Times New Roman" pitchFamily="18" charset="0"/>
                  <a:sym typeface="Symbol"/>
                </a:rPr>
                <a:t>Admittance</a:t>
              </a:r>
              <a:endParaRPr lang="en-ZA" dirty="0">
                <a:solidFill>
                  <a:srgbClr val="000000"/>
                </a:solidFill>
              </a:endParaRPr>
            </a:p>
          </p:txBody>
        </p:sp>
        <p:sp>
          <p:nvSpPr>
            <p:cNvPr id="68" name="Rectangle 67"/>
            <p:cNvSpPr/>
            <p:nvPr/>
          </p:nvSpPr>
          <p:spPr>
            <a:xfrm>
              <a:off x="1404936" y="6106558"/>
              <a:ext cx="139012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ZA" dirty="0" smtClean="0">
                  <a:solidFill>
                    <a:srgbClr val="000000"/>
                  </a:solidFill>
                  <a:latin typeface="Times New Roman" pitchFamily="18" charset="0"/>
                  <a:sym typeface="Symbol"/>
                </a:rPr>
                <a:t>Conductance</a:t>
              </a:r>
              <a:endParaRPr lang="en-ZA" dirty="0">
                <a:solidFill>
                  <a:srgbClr val="000000"/>
                </a:solidFill>
              </a:endParaRPr>
            </a:p>
          </p:txBody>
        </p:sp>
        <p:sp>
          <p:nvSpPr>
            <p:cNvPr id="69" name="Rectangle 68"/>
            <p:cNvSpPr/>
            <p:nvPr/>
          </p:nvSpPr>
          <p:spPr>
            <a:xfrm>
              <a:off x="2844318" y="6105487"/>
              <a:ext cx="132600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ZA" dirty="0" err="1" smtClean="0">
                  <a:solidFill>
                    <a:srgbClr val="000000"/>
                  </a:solidFill>
                  <a:latin typeface="Times New Roman" pitchFamily="18" charset="0"/>
                  <a:sym typeface="Symbol"/>
                </a:rPr>
                <a:t>Susceptance</a:t>
              </a:r>
              <a:endParaRPr lang="en-ZA" dirty="0">
                <a:solidFill>
                  <a:srgbClr val="000000"/>
                </a:solidFill>
              </a:endParaRPr>
            </a:p>
          </p:txBody>
        </p:sp>
        <p:cxnSp>
          <p:nvCxnSpPr>
            <p:cNvPr id="70" name="Straight Arrow Connector 69"/>
            <p:cNvCxnSpPr/>
            <p:nvPr/>
          </p:nvCxnSpPr>
          <p:spPr bwMode="auto">
            <a:xfrm flipH="1">
              <a:off x="665992" y="5828720"/>
              <a:ext cx="146100" cy="312492"/>
            </a:xfrm>
            <a:prstGeom prst="straightConnector1">
              <a:avLst/>
            </a:prstGeom>
            <a:ln>
              <a:solidFill>
                <a:srgbClr val="FF0000"/>
              </a:solidFill>
              <a:tailEnd type="arrow"/>
            </a:ln>
            <a:extLst/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72" name="Straight Arrow Connector 71"/>
            <p:cNvCxnSpPr/>
            <p:nvPr/>
          </p:nvCxnSpPr>
          <p:spPr bwMode="auto">
            <a:xfrm flipH="1">
              <a:off x="2003818" y="5866864"/>
              <a:ext cx="2442" cy="274348"/>
            </a:xfrm>
            <a:prstGeom prst="straightConnector1">
              <a:avLst/>
            </a:prstGeom>
            <a:ln>
              <a:solidFill>
                <a:srgbClr val="FF0000"/>
              </a:solidFill>
              <a:tailEnd type="arrow"/>
            </a:ln>
            <a:extLst/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74" name="Straight Arrow Connector 73"/>
            <p:cNvCxnSpPr/>
            <p:nvPr/>
          </p:nvCxnSpPr>
          <p:spPr bwMode="auto">
            <a:xfrm>
              <a:off x="2762925" y="5879296"/>
              <a:ext cx="348575" cy="274348"/>
            </a:xfrm>
            <a:prstGeom prst="straightConnector1">
              <a:avLst/>
            </a:prstGeom>
            <a:ln>
              <a:solidFill>
                <a:srgbClr val="FF0000"/>
              </a:solidFill>
              <a:tailEnd type="arrow"/>
            </a:ln>
            <a:extLst/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</p:grpSp>
      <p:grpSp>
        <p:nvGrpSpPr>
          <p:cNvPr id="354328" name="Group 354327"/>
          <p:cNvGrpSpPr/>
          <p:nvPr/>
        </p:nvGrpSpPr>
        <p:grpSpPr>
          <a:xfrm>
            <a:off x="5044252" y="4564242"/>
            <a:ext cx="2461218" cy="1946302"/>
            <a:chOff x="5044252" y="4564242"/>
            <a:chExt cx="2461218" cy="1946302"/>
          </a:xfrm>
        </p:grpSpPr>
        <p:grpSp>
          <p:nvGrpSpPr>
            <p:cNvPr id="354322" name="Group 354321"/>
            <p:cNvGrpSpPr/>
            <p:nvPr/>
          </p:nvGrpSpPr>
          <p:grpSpPr>
            <a:xfrm>
              <a:off x="5044252" y="4564242"/>
              <a:ext cx="2461218" cy="1946302"/>
              <a:chOff x="5595122" y="4567036"/>
              <a:chExt cx="2461218" cy="1946302"/>
            </a:xfrm>
          </p:grpSpPr>
          <p:cxnSp>
            <p:nvCxnSpPr>
              <p:cNvPr id="44" name="Straight Arrow Connector 43"/>
              <p:cNvCxnSpPr/>
              <p:nvPr/>
            </p:nvCxnSpPr>
            <p:spPr bwMode="auto">
              <a:xfrm flipV="1">
                <a:off x="5971405" y="4887012"/>
                <a:ext cx="1" cy="1436515"/>
              </a:xfrm>
              <a:prstGeom prst="straightConnector1">
                <a:avLst/>
              </a:prstGeom>
              <a:ln>
                <a:solidFill>
                  <a:srgbClr val="000000"/>
                </a:solidFill>
                <a:headEnd type="none" w="med" len="med"/>
                <a:tailEnd type="none" w="med" len="med"/>
              </a:ln>
              <a:extLst/>
            </p:spPr>
            <p:style>
              <a:lnRef idx="2">
                <a:schemeClr val="accent4"/>
              </a:lnRef>
              <a:fillRef idx="0">
                <a:schemeClr val="accent4"/>
              </a:fillRef>
              <a:effectRef idx="1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47" name="Straight Arrow Connector 46"/>
              <p:cNvCxnSpPr/>
              <p:nvPr/>
            </p:nvCxnSpPr>
            <p:spPr bwMode="auto">
              <a:xfrm flipV="1">
                <a:off x="5818663" y="6153956"/>
                <a:ext cx="2129693" cy="1"/>
              </a:xfrm>
              <a:prstGeom prst="straightConnector1">
                <a:avLst/>
              </a:prstGeom>
              <a:ln>
                <a:solidFill>
                  <a:srgbClr val="000000"/>
                </a:solidFill>
                <a:headEnd type="none" w="med" len="med"/>
                <a:tailEnd type="none" w="med" len="med"/>
              </a:ln>
              <a:extLst/>
            </p:spPr>
            <p:style>
              <a:lnRef idx="2">
                <a:schemeClr val="accent4"/>
              </a:lnRef>
              <a:fillRef idx="0">
                <a:schemeClr val="accent4"/>
              </a:fillRef>
              <a:effectRef idx="1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50" name="Straight Arrow Connector 49"/>
              <p:cNvCxnSpPr/>
              <p:nvPr/>
            </p:nvCxnSpPr>
            <p:spPr bwMode="auto">
              <a:xfrm flipV="1">
                <a:off x="7315200" y="5257801"/>
                <a:ext cx="7491" cy="898905"/>
              </a:xfrm>
              <a:prstGeom prst="straightConnector1">
                <a:avLst/>
              </a:prstGeom>
              <a:ln w="12700">
                <a:solidFill>
                  <a:srgbClr val="000000"/>
                </a:solidFill>
                <a:prstDash val="sysDash"/>
                <a:headEnd type="none" w="med" len="med"/>
                <a:tailEnd type="none" w="med" len="med"/>
              </a:ln>
              <a:extLst/>
            </p:spPr>
            <p:style>
              <a:lnRef idx="2">
                <a:schemeClr val="accent4"/>
              </a:lnRef>
              <a:fillRef idx="0">
                <a:schemeClr val="accent4"/>
              </a:fillRef>
              <a:effectRef idx="1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52" name="Straight Arrow Connector 51"/>
              <p:cNvCxnSpPr/>
              <p:nvPr/>
            </p:nvCxnSpPr>
            <p:spPr bwMode="auto">
              <a:xfrm flipV="1">
                <a:off x="5971405" y="5257800"/>
                <a:ext cx="1353320" cy="898906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arrow"/>
              </a:ln>
              <a:extLst/>
            </p:spPr>
            <p:style>
              <a:lnRef idx="2">
                <a:schemeClr val="accent4"/>
              </a:lnRef>
              <a:fillRef idx="0">
                <a:schemeClr val="accent4"/>
              </a:fillRef>
              <a:effectRef idx="1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55" name="Straight Arrow Connector 54"/>
              <p:cNvCxnSpPr/>
              <p:nvPr/>
            </p:nvCxnSpPr>
            <p:spPr bwMode="auto">
              <a:xfrm>
                <a:off x="5971406" y="5257801"/>
                <a:ext cx="1353319" cy="0"/>
              </a:xfrm>
              <a:prstGeom prst="straightConnector1">
                <a:avLst/>
              </a:prstGeom>
              <a:ln w="12700">
                <a:solidFill>
                  <a:srgbClr val="000000"/>
                </a:solidFill>
                <a:prstDash val="sysDash"/>
                <a:headEnd type="none" w="med" len="med"/>
                <a:tailEnd type="none" w="med" len="med"/>
              </a:ln>
              <a:extLst/>
            </p:spPr>
            <p:style>
              <a:lnRef idx="2">
                <a:schemeClr val="accent4"/>
              </a:lnRef>
              <a:fillRef idx="0">
                <a:schemeClr val="accent4"/>
              </a:fillRef>
              <a:effectRef idx="1">
                <a:schemeClr val="accent4"/>
              </a:effectRef>
              <a:fontRef idx="minor">
                <a:schemeClr val="tx1"/>
              </a:fontRef>
            </p:style>
          </p:cxnSp>
          <p:sp>
            <p:nvSpPr>
              <p:cNvPr id="58" name="Rectangle 57"/>
              <p:cNvSpPr/>
              <p:nvPr/>
            </p:nvSpPr>
            <p:spPr>
              <a:xfrm>
                <a:off x="7158393" y="6144006"/>
                <a:ext cx="33855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ZA" i="1" dirty="0" smtClean="0">
                    <a:solidFill>
                      <a:srgbClr val="000000"/>
                    </a:solidFill>
                    <a:latin typeface="Times New Roman" pitchFamily="18" charset="0"/>
                    <a:sym typeface="Symbol"/>
                  </a:rPr>
                  <a:t>R</a:t>
                </a:r>
                <a:endParaRPr lang="en-ZA" i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9" name="Rectangle 58"/>
              <p:cNvSpPr/>
              <p:nvPr/>
            </p:nvSpPr>
            <p:spPr>
              <a:xfrm>
                <a:off x="5595122" y="5073134"/>
                <a:ext cx="38985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ZA" dirty="0" err="1" smtClean="0">
                    <a:solidFill>
                      <a:srgbClr val="000000"/>
                    </a:solidFill>
                    <a:latin typeface="Times New Roman" pitchFamily="18" charset="0"/>
                    <a:sym typeface="Symbol"/>
                  </a:rPr>
                  <a:t>j</a:t>
                </a:r>
                <a:r>
                  <a:rPr lang="en-ZA" i="1" dirty="0" err="1" smtClean="0">
                    <a:solidFill>
                      <a:srgbClr val="000000"/>
                    </a:solidFill>
                    <a:latin typeface="Times New Roman" pitchFamily="18" charset="0"/>
                    <a:sym typeface="Symbol"/>
                  </a:rPr>
                  <a:t>X</a:t>
                </a:r>
                <a:endParaRPr lang="en-ZA" i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60" name="Rectangle 59"/>
              <p:cNvSpPr/>
              <p:nvPr/>
            </p:nvSpPr>
            <p:spPr>
              <a:xfrm>
                <a:off x="7310793" y="5073135"/>
                <a:ext cx="33855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ZA" b="1" i="1" dirty="0" smtClean="0">
                    <a:solidFill>
                      <a:srgbClr val="000000"/>
                    </a:solidFill>
                    <a:latin typeface="Times New Roman" pitchFamily="18" charset="0"/>
                    <a:sym typeface="Symbol"/>
                  </a:rPr>
                  <a:t>Z</a:t>
                </a:r>
                <a:endParaRPr lang="en-ZA" b="1" i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61" name="Rectangle 60"/>
              <p:cNvSpPr/>
              <p:nvPr/>
            </p:nvSpPr>
            <p:spPr>
              <a:xfrm>
                <a:off x="7615194" y="6115812"/>
                <a:ext cx="44114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ZA" i="1" dirty="0" smtClean="0">
                    <a:solidFill>
                      <a:srgbClr val="000000"/>
                    </a:solidFill>
                    <a:latin typeface="Times New Roman" pitchFamily="18" charset="0"/>
                    <a:sym typeface="Symbol"/>
                  </a:rPr>
                  <a:t>Re</a:t>
                </a:r>
                <a:endParaRPr lang="en-ZA" i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62" name="Rectangle 61"/>
              <p:cNvSpPr/>
              <p:nvPr/>
            </p:nvSpPr>
            <p:spPr>
              <a:xfrm>
                <a:off x="5750832" y="4567036"/>
                <a:ext cx="44114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ZA" i="1" dirty="0" err="1" smtClean="0">
                    <a:solidFill>
                      <a:srgbClr val="000000"/>
                    </a:solidFill>
                    <a:latin typeface="Times New Roman" pitchFamily="18" charset="0"/>
                    <a:sym typeface="Symbol"/>
                  </a:rPr>
                  <a:t>Im</a:t>
                </a:r>
                <a:endParaRPr lang="en-ZA" i="1" dirty="0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77" name="Rectangle 76"/>
            <p:cNvSpPr/>
            <p:nvPr/>
          </p:nvSpPr>
          <p:spPr>
            <a:xfrm>
              <a:off x="5727554" y="5822680"/>
              <a:ext cx="304892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ZA" dirty="0" smtClean="0">
                  <a:solidFill>
                    <a:srgbClr val="000000"/>
                  </a:solidFill>
                  <a:latin typeface="Times New Roman" pitchFamily="18" charset="0"/>
                  <a:sym typeface="Symbol"/>
                </a:rPr>
                <a:t></a:t>
              </a:r>
              <a:endParaRPr lang="en-ZA" dirty="0">
                <a:solidFill>
                  <a:srgbClr val="000000"/>
                </a:solidFill>
              </a:endParaRPr>
            </a:p>
          </p:txBody>
        </p:sp>
      </p:grpSp>
      <p:grpSp>
        <p:nvGrpSpPr>
          <p:cNvPr id="354329" name="Group 354328"/>
          <p:cNvGrpSpPr/>
          <p:nvPr/>
        </p:nvGrpSpPr>
        <p:grpSpPr>
          <a:xfrm>
            <a:off x="7190238" y="4619136"/>
            <a:ext cx="1726315" cy="1388210"/>
            <a:chOff x="7413709" y="4398931"/>
            <a:chExt cx="1726315" cy="1388210"/>
          </a:xfrm>
        </p:grpSpPr>
        <p:sp>
          <p:nvSpPr>
            <p:cNvPr id="354327" name="Isosceles Triangle 354326"/>
            <p:cNvSpPr/>
            <p:nvPr/>
          </p:nvSpPr>
          <p:spPr bwMode="auto">
            <a:xfrm>
              <a:off x="7413709" y="4579205"/>
              <a:ext cx="1374877" cy="879603"/>
            </a:xfrm>
            <a:prstGeom prst="triangle">
              <a:avLst>
                <a:gd name="adj" fmla="val 100000"/>
              </a:avLst>
            </a:prstGeom>
            <a:noFill/>
            <a:ln w="19050">
              <a:solidFill>
                <a:srgbClr val="000000"/>
              </a:solidFill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45720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ZA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Times New Roman" pitchFamily="18" charset="0"/>
              </a:endParaRPr>
            </a:p>
          </p:txBody>
        </p:sp>
        <p:sp>
          <p:nvSpPr>
            <p:cNvPr id="79" name="Rectangle 78"/>
            <p:cNvSpPr/>
            <p:nvPr/>
          </p:nvSpPr>
          <p:spPr>
            <a:xfrm>
              <a:off x="7643464" y="5146890"/>
              <a:ext cx="304892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ZA" dirty="0" smtClean="0">
                  <a:solidFill>
                    <a:srgbClr val="000000"/>
                  </a:solidFill>
                  <a:latin typeface="Times New Roman" pitchFamily="18" charset="0"/>
                  <a:sym typeface="Symbol"/>
                </a:rPr>
                <a:t></a:t>
              </a:r>
              <a:endParaRPr lang="en-ZA" dirty="0">
                <a:solidFill>
                  <a:srgbClr val="000000"/>
                </a:solidFill>
              </a:endParaRPr>
            </a:p>
          </p:txBody>
        </p:sp>
        <p:sp>
          <p:nvSpPr>
            <p:cNvPr id="80" name="Rectangle 79"/>
            <p:cNvSpPr/>
            <p:nvPr/>
          </p:nvSpPr>
          <p:spPr>
            <a:xfrm>
              <a:off x="7505470" y="5417809"/>
              <a:ext cx="1223412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ZA" i="1" dirty="0" smtClean="0">
                  <a:solidFill>
                    <a:srgbClr val="000000"/>
                  </a:solidFill>
                  <a:latin typeface="Times New Roman" pitchFamily="18" charset="0"/>
                  <a:sym typeface="Symbol"/>
                </a:rPr>
                <a:t>R = </a:t>
              </a:r>
              <a:r>
                <a:rPr lang="en-ZA" b="1" i="1" dirty="0" smtClean="0">
                  <a:solidFill>
                    <a:srgbClr val="000000"/>
                  </a:solidFill>
                  <a:latin typeface="Times New Roman" pitchFamily="18" charset="0"/>
                  <a:sym typeface="Symbol"/>
                </a:rPr>
                <a:t>Z</a:t>
              </a:r>
              <a:r>
                <a:rPr lang="en-ZA" i="1" dirty="0" smtClean="0">
                  <a:solidFill>
                    <a:srgbClr val="000000"/>
                  </a:solidFill>
                  <a:latin typeface="Times New Roman" pitchFamily="18" charset="0"/>
                  <a:sym typeface="Symbol"/>
                </a:rPr>
                <a:t> </a:t>
              </a:r>
              <a:r>
                <a:rPr lang="en-ZA" dirty="0" err="1" smtClean="0">
                  <a:solidFill>
                    <a:srgbClr val="000000"/>
                  </a:solidFill>
                  <a:latin typeface="Times New Roman" pitchFamily="18" charset="0"/>
                  <a:sym typeface="Symbol"/>
                </a:rPr>
                <a:t>cos</a:t>
              </a:r>
              <a:r>
                <a:rPr lang="en-ZA" i="1" dirty="0" smtClean="0">
                  <a:solidFill>
                    <a:srgbClr val="000000"/>
                  </a:solidFill>
                  <a:latin typeface="Times New Roman" pitchFamily="18" charset="0"/>
                  <a:sym typeface="Symbol"/>
                </a:rPr>
                <a:t></a:t>
              </a:r>
              <a:endParaRPr lang="en-ZA" i="1" dirty="0">
                <a:solidFill>
                  <a:srgbClr val="000000"/>
                </a:solidFill>
              </a:endParaRPr>
            </a:p>
          </p:txBody>
        </p:sp>
        <p:sp>
          <p:nvSpPr>
            <p:cNvPr id="81" name="Rectangle 80"/>
            <p:cNvSpPr/>
            <p:nvPr/>
          </p:nvSpPr>
          <p:spPr>
            <a:xfrm>
              <a:off x="7880677" y="4685408"/>
              <a:ext cx="325730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ZA" b="1" i="1" dirty="0" smtClean="0">
                  <a:solidFill>
                    <a:srgbClr val="000000"/>
                  </a:solidFill>
                  <a:latin typeface="Times New Roman" pitchFamily="18" charset="0"/>
                  <a:sym typeface="Symbol"/>
                </a:rPr>
                <a:t>Z</a:t>
              </a:r>
              <a:endParaRPr lang="en-ZA" b="1" i="1" dirty="0">
                <a:solidFill>
                  <a:srgbClr val="000000"/>
                </a:solidFill>
              </a:endParaRPr>
            </a:p>
          </p:txBody>
        </p:sp>
        <p:sp>
          <p:nvSpPr>
            <p:cNvPr id="82" name="Rectangle 81"/>
            <p:cNvSpPr/>
            <p:nvPr/>
          </p:nvSpPr>
          <p:spPr>
            <a:xfrm rot="16200000">
              <a:off x="8362888" y="4806735"/>
              <a:ext cx="1184940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ZA" i="1" dirty="0" smtClean="0">
                  <a:solidFill>
                    <a:srgbClr val="000000"/>
                  </a:solidFill>
                  <a:latin typeface="Times New Roman" pitchFamily="18" charset="0"/>
                  <a:sym typeface="Symbol"/>
                </a:rPr>
                <a:t>X = </a:t>
              </a:r>
              <a:r>
                <a:rPr lang="en-ZA" b="1" i="1" dirty="0" smtClean="0">
                  <a:solidFill>
                    <a:srgbClr val="000000"/>
                  </a:solidFill>
                  <a:latin typeface="Times New Roman" pitchFamily="18" charset="0"/>
                  <a:sym typeface="Symbol"/>
                </a:rPr>
                <a:t>Z</a:t>
              </a:r>
              <a:r>
                <a:rPr lang="en-ZA" i="1" dirty="0" smtClean="0">
                  <a:solidFill>
                    <a:srgbClr val="000000"/>
                  </a:solidFill>
                  <a:latin typeface="Times New Roman" pitchFamily="18" charset="0"/>
                  <a:sym typeface="Symbol"/>
                </a:rPr>
                <a:t> </a:t>
              </a:r>
              <a:r>
                <a:rPr lang="en-ZA" dirty="0" smtClean="0">
                  <a:solidFill>
                    <a:srgbClr val="000000"/>
                  </a:solidFill>
                  <a:latin typeface="Times New Roman" pitchFamily="18" charset="0"/>
                  <a:sym typeface="Symbol"/>
                </a:rPr>
                <a:t>sin</a:t>
              </a:r>
              <a:r>
                <a:rPr lang="en-ZA" i="1" dirty="0" smtClean="0">
                  <a:solidFill>
                    <a:srgbClr val="000000"/>
                  </a:solidFill>
                  <a:latin typeface="Times New Roman" pitchFamily="18" charset="0"/>
                  <a:sym typeface="Symbol"/>
                </a:rPr>
                <a:t></a:t>
              </a:r>
              <a:endParaRPr lang="en-ZA" i="1" dirty="0">
                <a:solidFill>
                  <a:srgbClr val="0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416390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54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54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/>
      <p:bldP spid="42" grpId="0"/>
      <p:bldP spid="354312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180BD0-51DE-4285-A7C5-7B03B6758283}" type="slidenum">
              <a:rPr lang="en-US"/>
              <a:pPr/>
              <a:t>36</a:t>
            </a:fld>
            <a:endParaRPr lang="en-US"/>
          </a:p>
        </p:txBody>
      </p:sp>
      <p:sp>
        <p:nvSpPr>
          <p:cNvPr id="356356" name="Text Box 4"/>
          <p:cNvSpPr txBox="1">
            <a:spLocks noChangeArrowheads="1"/>
          </p:cNvSpPr>
          <p:nvPr/>
        </p:nvSpPr>
        <p:spPr bwMode="auto">
          <a:xfrm>
            <a:off x="457200" y="1828800"/>
            <a:ext cx="7772400" cy="3295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58738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520700">
              <a:defRPr>
                <a:solidFill>
                  <a:schemeClr val="tx1"/>
                </a:solidFill>
                <a:latin typeface="Arial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2800"/>
              <a:t>After we know how to convert RLC components from time to phasor domain, we can </a:t>
            </a:r>
            <a:r>
              <a:rPr lang="en-US" sz="2800" u="sng">
                <a:solidFill>
                  <a:srgbClr val="FF3300"/>
                </a:solidFill>
              </a:rPr>
              <a:t>transform</a:t>
            </a:r>
            <a:r>
              <a:rPr lang="en-US" sz="2800"/>
              <a:t> a time domain circuit into a phasor/frequency domain circuit. </a:t>
            </a:r>
          </a:p>
          <a:p>
            <a:pPr>
              <a:spcBef>
                <a:spcPct val="50000"/>
              </a:spcBef>
            </a:pPr>
            <a:r>
              <a:rPr lang="en-US" sz="2800"/>
              <a:t>Hence, we can apply the KCL laws and other theorems to </a:t>
            </a:r>
            <a:r>
              <a:rPr lang="en-US" sz="2800" u="sng">
                <a:solidFill>
                  <a:srgbClr val="FF3300"/>
                </a:solidFill>
              </a:rPr>
              <a:t>directly</a:t>
            </a:r>
            <a:r>
              <a:rPr lang="en-US" sz="2800"/>
              <a:t> set up phasor equations involving our target variable(s) for solving.</a:t>
            </a:r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>
          <a:xfrm>
            <a:off x="603213" y="270612"/>
            <a:ext cx="7739063" cy="566513"/>
          </a:xfrm>
          <a:prstGeom prst="rect">
            <a:avLst/>
          </a:prstGeom>
          <a:noFill/>
        </p:spPr>
        <p:txBody>
          <a:bodyPr lIns="0" rIns="0" anchor="t"/>
          <a:lstStyle>
            <a:lvl1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2pPr>
            <a:lvl3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3pPr>
            <a:lvl4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4pPr>
            <a:lvl5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5pPr>
            <a:lvl6pPr marL="4572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6pPr>
            <a:lvl7pPr marL="9144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7pPr>
            <a:lvl8pPr marL="13716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8pPr>
            <a:lvl9pPr marL="18288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9pPr>
          </a:lstStyle>
          <a:p>
            <a:r>
              <a:rPr lang="en-US" sz="2800" dirty="0" smtClean="0"/>
              <a:t>9.5 Impedance and Admittance</a:t>
            </a:r>
            <a:endParaRPr 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86000-E02F-4816-ACED-1F45A858122F}" type="slidenum">
              <a:rPr lang="en-US" smtClean="0"/>
              <a:pPr/>
              <a:t>37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70456" y="143801"/>
            <a:ext cx="8708444" cy="1200329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ZA" sz="2400" b="1" u="sng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PP 9.8</a:t>
            </a:r>
            <a:r>
              <a:rPr lang="en-ZA" sz="24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ZA" sz="2400" dirty="0">
                <a:latin typeface="Times New Roman" pitchFamily="18" charset="0"/>
                <a:cs typeface="Times New Roman" pitchFamily="18" charset="0"/>
              </a:rPr>
            </a:br>
            <a:r>
              <a:rPr lang="en-ZA" sz="2400" dirty="0" smtClean="0">
                <a:latin typeface="Times New Roman" pitchFamily="18" charset="0"/>
                <a:cs typeface="Times New Roman" pitchFamily="18" charset="0"/>
              </a:rPr>
              <a:t>If voltage </a:t>
            </a:r>
            <a:r>
              <a:rPr lang="en-ZA" sz="2400" i="1" dirty="0" smtClean="0"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ZA" sz="2400" dirty="0" smtClean="0">
                <a:latin typeface="Times New Roman" pitchFamily="18" charset="0"/>
                <a:cs typeface="Times New Roman" pitchFamily="18" charset="0"/>
              </a:rPr>
              <a:t> = 10 </a:t>
            </a:r>
            <a:r>
              <a:rPr lang="en-ZA" sz="2400" dirty="0" err="1" smtClean="0">
                <a:latin typeface="Times New Roman" pitchFamily="18" charset="0"/>
                <a:cs typeface="Times New Roman" pitchFamily="18" charset="0"/>
              </a:rPr>
              <a:t>cos</a:t>
            </a:r>
            <a:r>
              <a:rPr lang="en-ZA" sz="2400" dirty="0" smtClean="0">
                <a:latin typeface="Times New Roman" pitchFamily="18" charset="0"/>
                <a:cs typeface="Times New Roman" pitchFamily="18" charset="0"/>
              </a:rPr>
              <a:t>(100t + 30</a:t>
            </a:r>
            <a:r>
              <a:rPr lang="en-ZA" sz="2400" dirty="0" smtClean="0">
                <a:latin typeface="Times New Roman" pitchFamily="18" charset="0"/>
                <a:cs typeface="Times New Roman" pitchFamily="18" charset="0"/>
                <a:sym typeface="Symbol"/>
              </a:rPr>
              <a:t>) V is applied to a 50 F capacitor, calculate the current through the capacitor.</a:t>
            </a:r>
          </a:p>
        </p:txBody>
      </p:sp>
      <p:sp>
        <p:nvSpPr>
          <p:cNvPr id="9" name="Rectangle 8"/>
          <p:cNvSpPr/>
          <p:nvPr/>
        </p:nvSpPr>
        <p:spPr>
          <a:xfrm>
            <a:off x="1194120" y="1413464"/>
            <a:ext cx="6540180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ZA" sz="2400" b="1" u="sng" dirty="0">
                <a:solidFill>
                  <a:srgbClr val="000000"/>
                </a:solidFill>
                <a:latin typeface="Times New Roman" pitchFamily="18" charset="0"/>
                <a:sym typeface="Symbol"/>
              </a:rPr>
              <a:t>Step 1:  </a:t>
            </a:r>
            <a:r>
              <a:rPr lang="en-ZA" sz="2400" u="sng" dirty="0">
                <a:solidFill>
                  <a:srgbClr val="000000"/>
                </a:solidFill>
                <a:latin typeface="Times New Roman" pitchFamily="18" charset="0"/>
                <a:sym typeface="Symbol"/>
              </a:rPr>
              <a:t>Convert from time to </a:t>
            </a:r>
            <a:r>
              <a:rPr lang="en-ZA" sz="2400" u="sng" dirty="0" err="1">
                <a:solidFill>
                  <a:srgbClr val="000000"/>
                </a:solidFill>
                <a:latin typeface="Times New Roman" pitchFamily="18" charset="0"/>
                <a:sym typeface="Symbol"/>
              </a:rPr>
              <a:t>phasor</a:t>
            </a:r>
            <a:r>
              <a:rPr lang="en-ZA" sz="2400" u="sng" dirty="0">
                <a:solidFill>
                  <a:srgbClr val="000000"/>
                </a:solidFill>
                <a:latin typeface="Times New Roman" pitchFamily="18" charset="0"/>
                <a:sym typeface="Symbol"/>
              </a:rPr>
              <a:t> domain</a:t>
            </a:r>
            <a:endParaRPr lang="en-ZA" sz="2400" u="sng" dirty="0">
              <a:solidFill>
                <a:srgbClr val="000000"/>
              </a:solidFill>
            </a:endParaRPr>
          </a:p>
          <a:p>
            <a:r>
              <a:rPr lang="en-ZA" sz="2400" i="1" dirty="0" smtClean="0">
                <a:solidFill>
                  <a:srgbClr val="000000"/>
                </a:solidFill>
                <a:latin typeface="Times New Roman" pitchFamily="18" charset="0"/>
              </a:rPr>
              <a:t>v</a:t>
            </a:r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</a:rPr>
              <a:t> </a:t>
            </a:r>
            <a:r>
              <a:rPr lang="en-ZA" sz="2400" dirty="0">
                <a:solidFill>
                  <a:srgbClr val="000000"/>
                </a:solidFill>
                <a:latin typeface="Times New Roman" pitchFamily="18" charset="0"/>
              </a:rPr>
              <a:t>= 10 </a:t>
            </a:r>
            <a:r>
              <a:rPr lang="en-ZA" sz="2400" dirty="0" err="1">
                <a:solidFill>
                  <a:srgbClr val="000000"/>
                </a:solidFill>
                <a:latin typeface="Times New Roman" pitchFamily="18" charset="0"/>
              </a:rPr>
              <a:t>cos</a:t>
            </a:r>
            <a:r>
              <a:rPr lang="en-ZA" sz="2400" dirty="0">
                <a:solidFill>
                  <a:srgbClr val="000000"/>
                </a:solidFill>
                <a:latin typeface="Times New Roman" pitchFamily="18" charset="0"/>
              </a:rPr>
              <a:t>(100</a:t>
            </a:r>
            <a:r>
              <a:rPr lang="en-ZA" sz="2400" i="1" dirty="0">
                <a:solidFill>
                  <a:srgbClr val="000000"/>
                </a:solidFill>
                <a:latin typeface="Times New Roman" pitchFamily="18" charset="0"/>
              </a:rPr>
              <a:t>t</a:t>
            </a:r>
            <a:r>
              <a:rPr lang="en-ZA" sz="2400" dirty="0">
                <a:solidFill>
                  <a:srgbClr val="000000"/>
                </a:solidFill>
                <a:latin typeface="Times New Roman" pitchFamily="18" charset="0"/>
              </a:rPr>
              <a:t> + 30</a:t>
            </a:r>
            <a:r>
              <a:rPr lang="en-ZA" sz="2400" dirty="0">
                <a:solidFill>
                  <a:srgbClr val="000000"/>
                </a:solidFill>
                <a:latin typeface="Times New Roman" pitchFamily="18" charset="0"/>
                <a:sym typeface="Symbol"/>
              </a:rPr>
              <a:t></a:t>
            </a:r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)  </a:t>
            </a:r>
            <a:r>
              <a:rPr lang="en-ZA" sz="2400" b="1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V</a:t>
            </a:r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 = 1030 V</a:t>
            </a:r>
          </a:p>
          <a:p>
            <a:r>
              <a:rPr lang="en-ZA" sz="2400" b="1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Z</a:t>
            </a:r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 = </a:t>
            </a:r>
            <a:r>
              <a:rPr lang="en-ZA" sz="2400" dirty="0" err="1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jX</a:t>
            </a:r>
            <a:r>
              <a:rPr lang="en-ZA" sz="2400" baseline="-25000" dirty="0" err="1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C</a:t>
            </a:r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 = j(-1/C) = –j/(100  5010</a:t>
            </a:r>
            <a:r>
              <a:rPr lang="en-ZA" sz="2400" baseline="30000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-6</a:t>
            </a:r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) </a:t>
            </a:r>
          </a:p>
          <a:p>
            <a:r>
              <a:rPr lang="en-ZA" sz="2400" dirty="0">
                <a:solidFill>
                  <a:srgbClr val="000000"/>
                </a:solidFill>
                <a:latin typeface="Times New Roman" pitchFamily="18" charset="0"/>
                <a:sym typeface="Symbol"/>
              </a:rPr>
              <a:t> </a:t>
            </a:r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   = </a:t>
            </a:r>
            <a:r>
              <a:rPr lang="en-ZA" sz="2400" dirty="0">
                <a:solidFill>
                  <a:srgbClr val="000000"/>
                </a:solidFill>
                <a:latin typeface="Times New Roman" pitchFamily="18" charset="0"/>
                <a:sym typeface="Symbol"/>
              </a:rPr>
              <a:t>– </a:t>
            </a:r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j200 </a:t>
            </a:r>
          </a:p>
          <a:p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    = 200</a:t>
            </a:r>
            <a:r>
              <a:rPr lang="en-ZA" sz="2400" dirty="0">
                <a:solidFill>
                  <a:srgbClr val="000000"/>
                </a:solidFill>
                <a:latin typeface="Times New Roman" pitchFamily="18" charset="0"/>
                <a:sym typeface="Symbol"/>
              </a:rPr>
              <a:t> </a:t>
            </a:r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–90</a:t>
            </a:r>
            <a:r>
              <a:rPr lang="en-ZA" sz="2400" dirty="0">
                <a:solidFill>
                  <a:srgbClr val="000000"/>
                </a:solidFill>
                <a:latin typeface="Times New Roman" pitchFamily="18" charset="0"/>
                <a:sym typeface="Symbol"/>
              </a:rPr>
              <a:t> </a:t>
            </a:r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</a:t>
            </a:r>
          </a:p>
          <a:p>
            <a:endParaRPr lang="en-ZA" sz="2400" b="1" dirty="0" smtClean="0">
              <a:solidFill>
                <a:srgbClr val="000000"/>
              </a:solidFill>
              <a:latin typeface="Times New Roman" pitchFamily="18" charset="0"/>
              <a:sym typeface="Symbol"/>
            </a:endParaRPr>
          </a:p>
          <a:p>
            <a:r>
              <a:rPr lang="en-ZA" sz="2400" b="1" u="sng" dirty="0">
                <a:solidFill>
                  <a:srgbClr val="000000"/>
                </a:solidFill>
                <a:latin typeface="Times New Roman" pitchFamily="18" charset="0"/>
                <a:sym typeface="Symbol"/>
              </a:rPr>
              <a:t>Step </a:t>
            </a:r>
            <a:r>
              <a:rPr lang="en-ZA" sz="2400" b="1" u="sng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2:  </a:t>
            </a:r>
            <a:r>
              <a:rPr lang="en-ZA" sz="2400" u="sng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Apply usual Laws and Theorems</a:t>
            </a:r>
            <a:r>
              <a:rPr lang="en-ZA" sz="2400" b="1" u="sng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 </a:t>
            </a:r>
            <a:endParaRPr lang="en-ZA" sz="2400" b="1" u="sng" dirty="0">
              <a:solidFill>
                <a:srgbClr val="000000"/>
              </a:solidFill>
            </a:endParaRPr>
          </a:p>
          <a:p>
            <a:r>
              <a:rPr lang="en-ZA" sz="2400" b="1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I</a:t>
            </a:r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 = </a:t>
            </a:r>
            <a:r>
              <a:rPr lang="en-ZA" sz="2400" b="1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V</a:t>
            </a:r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 / </a:t>
            </a:r>
            <a:r>
              <a:rPr lang="en-ZA" sz="2400" b="1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Z</a:t>
            </a:r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 = </a:t>
            </a:r>
            <a:r>
              <a:rPr lang="en-ZA" sz="2400" dirty="0">
                <a:solidFill>
                  <a:srgbClr val="000000"/>
                </a:solidFill>
                <a:latin typeface="Times New Roman" pitchFamily="18" charset="0"/>
                <a:sym typeface="Symbol"/>
              </a:rPr>
              <a:t>1030</a:t>
            </a:r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 / </a:t>
            </a:r>
            <a:r>
              <a:rPr lang="en-ZA" sz="2400" dirty="0">
                <a:solidFill>
                  <a:srgbClr val="000000"/>
                </a:solidFill>
                <a:latin typeface="Times New Roman" pitchFamily="18" charset="0"/>
                <a:sym typeface="Symbol"/>
              </a:rPr>
              <a:t>200 </a:t>
            </a:r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–90</a:t>
            </a:r>
          </a:p>
          <a:p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   = 50 (30 – (–90)) mA</a:t>
            </a:r>
          </a:p>
          <a:p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   = </a:t>
            </a:r>
            <a:r>
              <a:rPr lang="en-ZA" sz="2400" dirty="0">
                <a:solidFill>
                  <a:srgbClr val="000000"/>
                </a:solidFill>
                <a:latin typeface="Times New Roman" pitchFamily="18" charset="0"/>
                <a:sym typeface="Symbol"/>
              </a:rPr>
              <a:t>50 </a:t>
            </a:r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120 </a:t>
            </a:r>
            <a:r>
              <a:rPr lang="en-ZA" sz="2400" dirty="0">
                <a:solidFill>
                  <a:srgbClr val="000000"/>
                </a:solidFill>
                <a:latin typeface="Times New Roman" pitchFamily="18" charset="0"/>
                <a:sym typeface="Symbol"/>
              </a:rPr>
              <a:t>mA</a:t>
            </a:r>
            <a:endParaRPr lang="en-ZA" sz="2400" dirty="0" smtClean="0">
              <a:solidFill>
                <a:srgbClr val="000000"/>
              </a:solidFill>
              <a:latin typeface="Times New Roman" pitchFamily="18" charset="0"/>
              <a:sym typeface="Symbol"/>
            </a:endParaRPr>
          </a:p>
          <a:p>
            <a:endParaRPr lang="en-ZA" sz="2400" dirty="0" smtClean="0">
              <a:solidFill>
                <a:srgbClr val="000000"/>
              </a:solidFill>
              <a:latin typeface="Times New Roman" pitchFamily="18" charset="0"/>
              <a:sym typeface="Symbol"/>
            </a:endParaRPr>
          </a:p>
          <a:p>
            <a:r>
              <a:rPr lang="en-ZA" sz="2400" b="1" u="sng" dirty="0">
                <a:solidFill>
                  <a:srgbClr val="000000"/>
                </a:solidFill>
                <a:latin typeface="Times New Roman" pitchFamily="18" charset="0"/>
                <a:sym typeface="Symbol"/>
              </a:rPr>
              <a:t>Step </a:t>
            </a:r>
            <a:r>
              <a:rPr lang="en-ZA" sz="2400" b="1" u="sng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3:  </a:t>
            </a:r>
            <a:r>
              <a:rPr lang="en-ZA" sz="2400" u="sng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Convert from </a:t>
            </a:r>
            <a:r>
              <a:rPr lang="en-ZA" sz="2400" u="sng" dirty="0" err="1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phasor</a:t>
            </a:r>
            <a:r>
              <a:rPr lang="en-ZA" sz="2400" u="sng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 to time domain</a:t>
            </a:r>
            <a:endParaRPr lang="en-ZA" sz="2400" b="1" u="sng" dirty="0">
              <a:solidFill>
                <a:srgbClr val="000000"/>
              </a:solidFill>
            </a:endParaRPr>
          </a:p>
          <a:p>
            <a:r>
              <a:rPr lang="en-ZA" sz="2400" i="1" dirty="0">
                <a:solidFill>
                  <a:srgbClr val="000000"/>
                </a:solidFill>
                <a:latin typeface="Times New Roman" pitchFamily="18" charset="0"/>
                <a:sym typeface="Symbol"/>
              </a:rPr>
              <a:t>i</a:t>
            </a:r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(</a:t>
            </a:r>
            <a:r>
              <a:rPr lang="en-ZA" sz="2400" i="1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t</a:t>
            </a:r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)= </a:t>
            </a:r>
            <a:r>
              <a:rPr lang="en-ZA" sz="2400" dirty="0">
                <a:solidFill>
                  <a:srgbClr val="000000"/>
                </a:solidFill>
                <a:latin typeface="Times New Roman" pitchFamily="18" charset="0"/>
                <a:sym typeface="Symbol"/>
              </a:rPr>
              <a:t>50 </a:t>
            </a:r>
            <a:r>
              <a:rPr lang="en-ZA" sz="2400" dirty="0" err="1">
                <a:solidFill>
                  <a:srgbClr val="000000"/>
                </a:solidFill>
                <a:latin typeface="Times New Roman" pitchFamily="18" charset="0"/>
              </a:rPr>
              <a:t>cos</a:t>
            </a:r>
            <a:r>
              <a:rPr lang="en-ZA" sz="2400" dirty="0">
                <a:solidFill>
                  <a:srgbClr val="000000"/>
                </a:solidFill>
                <a:latin typeface="Times New Roman" pitchFamily="18" charset="0"/>
              </a:rPr>
              <a:t>(100</a:t>
            </a:r>
            <a:r>
              <a:rPr lang="en-ZA" sz="2400" i="1" dirty="0">
                <a:solidFill>
                  <a:srgbClr val="000000"/>
                </a:solidFill>
                <a:latin typeface="Times New Roman" pitchFamily="18" charset="0"/>
              </a:rPr>
              <a:t>t</a:t>
            </a:r>
            <a:r>
              <a:rPr lang="en-ZA" sz="2400" dirty="0">
                <a:solidFill>
                  <a:srgbClr val="000000"/>
                </a:solidFill>
                <a:latin typeface="Times New Roman" pitchFamily="18" charset="0"/>
              </a:rPr>
              <a:t> </a:t>
            </a:r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+120</a:t>
            </a:r>
            <a:r>
              <a:rPr lang="en-ZA" sz="2400" dirty="0">
                <a:solidFill>
                  <a:srgbClr val="000000"/>
                </a:solidFill>
                <a:latin typeface="Times New Roman" pitchFamily="18" charset="0"/>
                <a:sym typeface="Symbol"/>
              </a:rPr>
              <a:t>) </a:t>
            </a:r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mA</a:t>
            </a:r>
          </a:p>
        </p:txBody>
      </p:sp>
      <p:cxnSp>
        <p:nvCxnSpPr>
          <p:cNvPr id="10" name="Straight Arrow Connector 9"/>
          <p:cNvCxnSpPr/>
          <p:nvPr/>
        </p:nvCxnSpPr>
        <p:spPr bwMode="auto">
          <a:xfrm>
            <a:off x="5010825" y="2170896"/>
            <a:ext cx="1377275" cy="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  <a:extLst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 bwMode="auto">
          <a:xfrm>
            <a:off x="1810425" y="3245087"/>
            <a:ext cx="2012275" cy="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  <a:extLst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 bwMode="auto">
          <a:xfrm>
            <a:off x="1810425" y="6202745"/>
            <a:ext cx="3093653" cy="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  <a:extLst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 bwMode="auto">
          <a:xfrm>
            <a:off x="1772324" y="5093227"/>
            <a:ext cx="1936075" cy="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  <a:extLst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591252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le29559_09017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115" b="-1"/>
          <a:stretch/>
        </p:blipFill>
        <p:spPr bwMode="auto">
          <a:xfrm>
            <a:off x="3998402" y="68680"/>
            <a:ext cx="5019674" cy="18122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DBEB72-C004-46D1-9992-458CC43F3DD8}" type="slidenum">
              <a:rPr lang="en-US" smtClean="0"/>
              <a:pPr/>
              <a:t>38</a:t>
            </a:fld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270456" y="143801"/>
            <a:ext cx="3133144" cy="83099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ZA" sz="2400" b="1" u="sng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PP 9.9</a:t>
            </a:r>
            <a:r>
              <a:rPr lang="en-ZA" sz="24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ZA" sz="2400" dirty="0">
                <a:latin typeface="Times New Roman" pitchFamily="18" charset="0"/>
                <a:cs typeface="Times New Roman" pitchFamily="18" charset="0"/>
              </a:rPr>
            </a:br>
            <a:r>
              <a:rPr lang="en-ZA" sz="2400" dirty="0" smtClean="0">
                <a:latin typeface="Times New Roman" pitchFamily="18" charset="0"/>
                <a:cs typeface="Times New Roman" pitchFamily="18" charset="0"/>
              </a:rPr>
              <a:t>Determine </a:t>
            </a:r>
            <a:r>
              <a:rPr lang="en-ZA" sz="2400" i="1" dirty="0" smtClean="0"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ZA" sz="24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ZA" sz="2400" i="1" dirty="0" smtClean="0"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ZA" sz="2400" dirty="0" smtClean="0">
                <a:latin typeface="Times New Roman" pitchFamily="18" charset="0"/>
                <a:cs typeface="Times New Roman" pitchFamily="18" charset="0"/>
              </a:rPr>
              <a:t>) and </a:t>
            </a:r>
            <a:r>
              <a:rPr lang="en-ZA" sz="2400" i="1" dirty="0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ZA" sz="2400" dirty="0">
                <a:latin typeface="Times New Roman" pitchFamily="18" charset="0"/>
              </a:rPr>
              <a:t>(</a:t>
            </a:r>
            <a:r>
              <a:rPr lang="en-ZA" sz="2400" i="1" dirty="0">
                <a:latin typeface="Times New Roman" pitchFamily="18" charset="0"/>
              </a:rPr>
              <a:t>t</a:t>
            </a:r>
            <a:r>
              <a:rPr lang="en-ZA" sz="2400" dirty="0" smtClean="0">
                <a:latin typeface="Times New Roman" pitchFamily="18" charset="0"/>
              </a:rPr>
              <a:t>).</a:t>
            </a:r>
            <a:endParaRPr lang="en-ZA" sz="2400" i="1" dirty="0" smtClean="0">
              <a:latin typeface="Times New Roman" pitchFamily="18" charset="0"/>
              <a:cs typeface="Times New Roman" pitchFamily="18" charset="0"/>
              <a:sym typeface="Symbol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62434" y="1401777"/>
            <a:ext cx="8723406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ZA" sz="2200" b="1" u="sng" dirty="0">
                <a:solidFill>
                  <a:srgbClr val="000000"/>
                </a:solidFill>
                <a:latin typeface="Times New Roman" pitchFamily="18" charset="0"/>
                <a:sym typeface="Symbol"/>
              </a:rPr>
              <a:t>Step 1:  </a:t>
            </a:r>
            <a:r>
              <a:rPr lang="en-ZA" sz="2200" u="sng" dirty="0">
                <a:solidFill>
                  <a:srgbClr val="000000"/>
                </a:solidFill>
                <a:latin typeface="Times New Roman" pitchFamily="18" charset="0"/>
                <a:sym typeface="Symbol"/>
              </a:rPr>
              <a:t>Convert from time to </a:t>
            </a:r>
            <a:r>
              <a:rPr lang="en-ZA" sz="2200" u="sng" dirty="0" err="1">
                <a:solidFill>
                  <a:srgbClr val="000000"/>
                </a:solidFill>
                <a:latin typeface="Times New Roman" pitchFamily="18" charset="0"/>
                <a:sym typeface="Symbol"/>
              </a:rPr>
              <a:t>phasor</a:t>
            </a:r>
            <a:r>
              <a:rPr lang="en-ZA" sz="2200" u="sng" dirty="0">
                <a:solidFill>
                  <a:srgbClr val="000000"/>
                </a:solidFill>
                <a:latin typeface="Times New Roman" pitchFamily="18" charset="0"/>
                <a:sym typeface="Symbol"/>
              </a:rPr>
              <a:t> domain</a:t>
            </a:r>
            <a:endParaRPr lang="en-ZA" sz="2200" u="sng" dirty="0">
              <a:solidFill>
                <a:srgbClr val="000000"/>
              </a:solidFill>
            </a:endParaRPr>
          </a:p>
          <a:p>
            <a:r>
              <a:rPr lang="en-ZA" sz="2200" i="1" dirty="0" err="1" smtClean="0">
                <a:solidFill>
                  <a:srgbClr val="000000"/>
                </a:solidFill>
                <a:latin typeface="Times New Roman" pitchFamily="18" charset="0"/>
              </a:rPr>
              <a:t>v</a:t>
            </a:r>
            <a:r>
              <a:rPr lang="en-ZA" sz="2200" i="1" baseline="-25000" dirty="0" err="1" smtClean="0">
                <a:solidFill>
                  <a:srgbClr val="000000"/>
                </a:solidFill>
                <a:latin typeface="Times New Roman" pitchFamily="18" charset="0"/>
              </a:rPr>
              <a:t>s</a:t>
            </a:r>
            <a:r>
              <a:rPr lang="en-ZA" sz="2200" dirty="0" smtClean="0">
                <a:solidFill>
                  <a:srgbClr val="000000"/>
                </a:solidFill>
                <a:latin typeface="Times New Roman" pitchFamily="18" charset="0"/>
              </a:rPr>
              <a:t> </a:t>
            </a:r>
            <a:r>
              <a:rPr lang="en-ZA" sz="2200" dirty="0">
                <a:solidFill>
                  <a:srgbClr val="000000"/>
                </a:solidFill>
                <a:latin typeface="Times New Roman" pitchFamily="18" charset="0"/>
              </a:rPr>
              <a:t>= </a:t>
            </a:r>
            <a:r>
              <a:rPr lang="en-ZA" sz="2200" dirty="0" smtClean="0">
                <a:solidFill>
                  <a:srgbClr val="000000"/>
                </a:solidFill>
                <a:latin typeface="Times New Roman" pitchFamily="18" charset="0"/>
              </a:rPr>
              <a:t>20 sin(10</a:t>
            </a:r>
            <a:r>
              <a:rPr lang="en-ZA" sz="2200" i="1" dirty="0" smtClean="0">
                <a:solidFill>
                  <a:srgbClr val="000000"/>
                </a:solidFill>
                <a:latin typeface="Times New Roman" pitchFamily="18" charset="0"/>
              </a:rPr>
              <a:t>t</a:t>
            </a:r>
            <a:r>
              <a:rPr lang="en-ZA" sz="2200" dirty="0" smtClean="0">
                <a:solidFill>
                  <a:srgbClr val="000000"/>
                </a:solidFill>
                <a:latin typeface="Times New Roman" pitchFamily="18" charset="0"/>
              </a:rPr>
              <a:t> </a:t>
            </a:r>
            <a:r>
              <a:rPr lang="en-ZA" sz="2200" dirty="0">
                <a:solidFill>
                  <a:srgbClr val="000000"/>
                </a:solidFill>
                <a:latin typeface="Times New Roman" pitchFamily="18" charset="0"/>
              </a:rPr>
              <a:t>+ 30</a:t>
            </a:r>
            <a:r>
              <a:rPr lang="en-ZA" sz="2200" dirty="0">
                <a:solidFill>
                  <a:srgbClr val="000000"/>
                </a:solidFill>
                <a:latin typeface="Times New Roman" pitchFamily="18" charset="0"/>
                <a:sym typeface="Symbol"/>
              </a:rPr>
              <a:t></a:t>
            </a:r>
            <a:r>
              <a:rPr lang="en-ZA" sz="2200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) = 20 </a:t>
            </a:r>
            <a:r>
              <a:rPr lang="en-ZA" sz="2200" dirty="0" err="1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cos</a:t>
            </a:r>
            <a:r>
              <a:rPr lang="en-ZA" sz="2200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(10</a:t>
            </a:r>
            <a:r>
              <a:rPr lang="en-ZA" sz="2200" i="1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t</a:t>
            </a:r>
            <a:r>
              <a:rPr lang="en-ZA" sz="2200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 – 60) </a:t>
            </a:r>
          </a:p>
          <a:p>
            <a:r>
              <a:rPr lang="en-ZA" sz="2200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 </a:t>
            </a:r>
            <a:r>
              <a:rPr lang="en-ZA" sz="2200" b="1" dirty="0" err="1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V</a:t>
            </a:r>
            <a:r>
              <a:rPr lang="en-ZA" sz="2200" b="1" baseline="-25000" dirty="0" err="1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s</a:t>
            </a:r>
            <a:r>
              <a:rPr lang="en-ZA" sz="2200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 = 20–60</a:t>
            </a:r>
            <a:r>
              <a:rPr lang="en-ZA" sz="2200" dirty="0">
                <a:solidFill>
                  <a:srgbClr val="000000"/>
                </a:solidFill>
                <a:latin typeface="Times New Roman" pitchFamily="18" charset="0"/>
                <a:sym typeface="Symbol"/>
              </a:rPr>
              <a:t> </a:t>
            </a:r>
            <a:r>
              <a:rPr lang="en-ZA" sz="2200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V</a:t>
            </a:r>
          </a:p>
          <a:p>
            <a:r>
              <a:rPr lang="en-ZA" sz="2200" b="1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Z</a:t>
            </a:r>
            <a:r>
              <a:rPr lang="en-ZA" sz="2200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 = R + </a:t>
            </a:r>
            <a:r>
              <a:rPr lang="en-ZA" sz="2200" dirty="0" err="1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jX</a:t>
            </a:r>
            <a:r>
              <a:rPr lang="en-ZA" sz="2200" baseline="-25000" dirty="0" err="1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L</a:t>
            </a:r>
            <a:r>
              <a:rPr lang="en-ZA" sz="2200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 = R + </a:t>
            </a:r>
            <a:r>
              <a:rPr lang="en-ZA" sz="2200" dirty="0" err="1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jL</a:t>
            </a:r>
            <a:r>
              <a:rPr lang="en-ZA" sz="2200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 = 4 + j(10  0.2) </a:t>
            </a:r>
          </a:p>
          <a:p>
            <a:r>
              <a:rPr lang="en-ZA" sz="2200" dirty="0">
                <a:solidFill>
                  <a:srgbClr val="000000"/>
                </a:solidFill>
                <a:latin typeface="Times New Roman" pitchFamily="18" charset="0"/>
                <a:sym typeface="Symbol"/>
              </a:rPr>
              <a:t> </a:t>
            </a:r>
            <a:r>
              <a:rPr lang="en-ZA" sz="2200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   = 4 + j2 </a:t>
            </a:r>
          </a:p>
          <a:p>
            <a:r>
              <a:rPr lang="en-ZA" sz="2200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    = 4.47 26.57 </a:t>
            </a:r>
          </a:p>
          <a:p>
            <a:endParaRPr lang="en-ZA" sz="2200" b="1" dirty="0" smtClean="0">
              <a:solidFill>
                <a:srgbClr val="000000"/>
              </a:solidFill>
              <a:latin typeface="Times New Roman" pitchFamily="18" charset="0"/>
              <a:sym typeface="Symbol"/>
            </a:endParaRPr>
          </a:p>
          <a:p>
            <a:pPr lvl="2"/>
            <a:r>
              <a:rPr lang="en-ZA" sz="2200" b="1" u="sng" dirty="0">
                <a:solidFill>
                  <a:srgbClr val="000000"/>
                </a:solidFill>
                <a:latin typeface="Times New Roman" pitchFamily="18" charset="0"/>
                <a:sym typeface="Symbol"/>
              </a:rPr>
              <a:t>Step </a:t>
            </a:r>
            <a:r>
              <a:rPr lang="en-ZA" sz="2200" b="1" u="sng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2:  </a:t>
            </a:r>
            <a:r>
              <a:rPr lang="en-ZA" sz="2200" u="sng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Apply usual Laws and Theorems</a:t>
            </a:r>
            <a:r>
              <a:rPr lang="en-ZA" sz="2200" b="1" u="sng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 </a:t>
            </a:r>
            <a:endParaRPr lang="en-ZA" sz="2200" b="1" u="sng" dirty="0">
              <a:solidFill>
                <a:srgbClr val="000000"/>
              </a:solidFill>
            </a:endParaRPr>
          </a:p>
          <a:p>
            <a:pPr lvl="2"/>
            <a:r>
              <a:rPr lang="en-ZA" sz="2200" b="1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I</a:t>
            </a:r>
            <a:r>
              <a:rPr lang="en-ZA" sz="2200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 = </a:t>
            </a:r>
            <a:r>
              <a:rPr lang="en-ZA" sz="2200" b="1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V</a:t>
            </a:r>
            <a:r>
              <a:rPr lang="en-ZA" sz="2200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 / </a:t>
            </a:r>
            <a:r>
              <a:rPr lang="en-ZA" sz="2200" b="1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Z</a:t>
            </a:r>
            <a:r>
              <a:rPr lang="en-ZA" sz="2200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 = 20</a:t>
            </a:r>
            <a:r>
              <a:rPr lang="en-ZA" sz="2200" dirty="0">
                <a:solidFill>
                  <a:srgbClr val="000000"/>
                </a:solidFill>
                <a:latin typeface="Times New Roman" pitchFamily="18" charset="0"/>
                <a:sym typeface="Symbol"/>
              </a:rPr>
              <a:t>–60 </a:t>
            </a:r>
            <a:r>
              <a:rPr lang="en-ZA" sz="2200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/ 4.47</a:t>
            </a:r>
            <a:r>
              <a:rPr lang="en-ZA" sz="2200" dirty="0">
                <a:solidFill>
                  <a:srgbClr val="000000"/>
                </a:solidFill>
                <a:latin typeface="Times New Roman" pitchFamily="18" charset="0"/>
                <a:sym typeface="Symbol"/>
              </a:rPr>
              <a:t>26.57</a:t>
            </a:r>
            <a:r>
              <a:rPr lang="en-ZA" sz="2200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 </a:t>
            </a:r>
          </a:p>
          <a:p>
            <a:pPr lvl="2"/>
            <a:r>
              <a:rPr lang="en-ZA" sz="2200" dirty="0">
                <a:solidFill>
                  <a:srgbClr val="000000"/>
                </a:solidFill>
                <a:latin typeface="Times New Roman" pitchFamily="18" charset="0"/>
                <a:sym typeface="Symbol"/>
              </a:rPr>
              <a:t> </a:t>
            </a:r>
            <a:r>
              <a:rPr lang="en-ZA" sz="2200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              = 4.47 –86.57  A</a:t>
            </a:r>
          </a:p>
          <a:p>
            <a:pPr lvl="2"/>
            <a:r>
              <a:rPr lang="en-ZA" sz="2200" b="1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V</a:t>
            </a:r>
            <a:r>
              <a:rPr lang="en-ZA" sz="2200" b="1" baseline="-25000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L</a:t>
            </a:r>
            <a:r>
              <a:rPr lang="en-ZA" sz="2200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 = </a:t>
            </a:r>
            <a:r>
              <a:rPr lang="en-ZA" sz="2200" b="1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IZ</a:t>
            </a:r>
            <a:r>
              <a:rPr lang="en-ZA" sz="2200" b="1" baseline="-25000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L</a:t>
            </a:r>
            <a:r>
              <a:rPr lang="en-ZA" sz="2200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 = 4.47</a:t>
            </a:r>
            <a:r>
              <a:rPr lang="en-ZA" sz="2200" dirty="0">
                <a:solidFill>
                  <a:srgbClr val="000000"/>
                </a:solidFill>
                <a:latin typeface="Times New Roman" pitchFamily="18" charset="0"/>
                <a:sym typeface="Symbol"/>
              </a:rPr>
              <a:t>–86.57  </a:t>
            </a:r>
            <a:r>
              <a:rPr lang="en-ZA" sz="2200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 290 </a:t>
            </a:r>
          </a:p>
          <a:p>
            <a:pPr lvl="2"/>
            <a:r>
              <a:rPr lang="en-ZA" sz="2200" dirty="0">
                <a:solidFill>
                  <a:srgbClr val="000000"/>
                </a:solidFill>
                <a:latin typeface="Times New Roman" pitchFamily="18" charset="0"/>
                <a:sym typeface="Symbol"/>
              </a:rPr>
              <a:t> </a:t>
            </a:r>
            <a:r>
              <a:rPr lang="en-ZA" sz="2200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               = 8.9443.43 V </a:t>
            </a:r>
            <a:endParaRPr lang="en-ZA" sz="2200" b="1" dirty="0" smtClean="0">
              <a:solidFill>
                <a:srgbClr val="000000"/>
              </a:solidFill>
              <a:latin typeface="Times New Roman" pitchFamily="18" charset="0"/>
              <a:sym typeface="Symbol"/>
            </a:endParaRPr>
          </a:p>
          <a:p>
            <a:endParaRPr lang="en-ZA" sz="2200" b="1" u="sng" dirty="0" smtClean="0">
              <a:solidFill>
                <a:srgbClr val="000000"/>
              </a:solidFill>
              <a:latin typeface="Times New Roman" pitchFamily="18" charset="0"/>
              <a:sym typeface="Symbol"/>
            </a:endParaRPr>
          </a:p>
          <a:p>
            <a:pPr lvl="6"/>
            <a:r>
              <a:rPr lang="en-ZA" sz="2200" b="1" u="sng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Step 3:  </a:t>
            </a:r>
            <a:r>
              <a:rPr lang="en-ZA" sz="2200" u="sng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Convert from </a:t>
            </a:r>
            <a:r>
              <a:rPr lang="en-ZA" sz="2200" u="sng" dirty="0" err="1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phasor</a:t>
            </a:r>
            <a:r>
              <a:rPr lang="en-ZA" sz="2200" u="sng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 to time domain</a:t>
            </a:r>
            <a:endParaRPr lang="en-ZA" sz="2200" b="1" u="sng" dirty="0">
              <a:solidFill>
                <a:srgbClr val="000000"/>
              </a:solidFill>
            </a:endParaRPr>
          </a:p>
          <a:p>
            <a:pPr lvl="6"/>
            <a:r>
              <a:rPr lang="en-ZA" sz="2200" i="1" dirty="0">
                <a:solidFill>
                  <a:srgbClr val="000000"/>
                </a:solidFill>
                <a:latin typeface="Times New Roman" pitchFamily="18" charset="0"/>
                <a:sym typeface="Symbol"/>
              </a:rPr>
              <a:t>i</a:t>
            </a:r>
            <a:r>
              <a:rPr lang="en-ZA" sz="2200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(</a:t>
            </a:r>
            <a:r>
              <a:rPr lang="en-ZA" sz="2200" i="1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t</a:t>
            </a:r>
            <a:r>
              <a:rPr lang="en-ZA" sz="2200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)= 4.47 </a:t>
            </a:r>
            <a:r>
              <a:rPr lang="en-ZA" sz="2200" dirty="0" err="1" smtClean="0">
                <a:solidFill>
                  <a:srgbClr val="000000"/>
                </a:solidFill>
                <a:latin typeface="Times New Roman" pitchFamily="18" charset="0"/>
              </a:rPr>
              <a:t>cos</a:t>
            </a:r>
            <a:r>
              <a:rPr lang="en-ZA" sz="2200" dirty="0" smtClean="0">
                <a:solidFill>
                  <a:srgbClr val="000000"/>
                </a:solidFill>
                <a:latin typeface="Times New Roman" pitchFamily="18" charset="0"/>
              </a:rPr>
              <a:t>(10</a:t>
            </a:r>
            <a:r>
              <a:rPr lang="en-ZA" sz="2200" i="1" dirty="0" smtClean="0">
                <a:solidFill>
                  <a:srgbClr val="000000"/>
                </a:solidFill>
                <a:latin typeface="Times New Roman" pitchFamily="18" charset="0"/>
              </a:rPr>
              <a:t>t</a:t>
            </a:r>
            <a:r>
              <a:rPr lang="en-ZA" sz="2200" dirty="0" smtClean="0">
                <a:solidFill>
                  <a:srgbClr val="000000"/>
                </a:solidFill>
                <a:latin typeface="Times New Roman" pitchFamily="18" charset="0"/>
              </a:rPr>
              <a:t> </a:t>
            </a:r>
            <a:r>
              <a:rPr lang="en-ZA" sz="2200" dirty="0">
                <a:solidFill>
                  <a:srgbClr val="000000"/>
                </a:solidFill>
                <a:latin typeface="Times New Roman" pitchFamily="18" charset="0"/>
                <a:sym typeface="Symbol"/>
              </a:rPr>
              <a:t>– </a:t>
            </a:r>
            <a:r>
              <a:rPr lang="en-ZA" sz="2200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86.57 </a:t>
            </a:r>
            <a:r>
              <a:rPr lang="en-ZA" sz="2200" dirty="0">
                <a:solidFill>
                  <a:srgbClr val="000000"/>
                </a:solidFill>
                <a:latin typeface="Times New Roman" pitchFamily="18" charset="0"/>
                <a:sym typeface="Symbol"/>
              </a:rPr>
              <a:t>) </a:t>
            </a:r>
            <a:r>
              <a:rPr lang="en-ZA" sz="2200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A</a:t>
            </a:r>
          </a:p>
          <a:p>
            <a:pPr lvl="6"/>
            <a:r>
              <a:rPr lang="en-ZA" sz="2200" i="1" dirty="0" err="1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v</a:t>
            </a:r>
            <a:r>
              <a:rPr lang="en-ZA" sz="2200" i="1" baseline="-25000" dirty="0" err="1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L</a:t>
            </a:r>
            <a:r>
              <a:rPr lang="en-ZA" sz="2200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(</a:t>
            </a:r>
            <a:r>
              <a:rPr lang="en-ZA" sz="2200" i="1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t</a:t>
            </a:r>
            <a:r>
              <a:rPr lang="en-ZA" sz="2200" dirty="0">
                <a:solidFill>
                  <a:srgbClr val="000000"/>
                </a:solidFill>
                <a:latin typeface="Times New Roman" pitchFamily="18" charset="0"/>
                <a:sym typeface="Symbol"/>
              </a:rPr>
              <a:t>)= </a:t>
            </a:r>
            <a:r>
              <a:rPr lang="en-ZA" sz="2200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8.944 </a:t>
            </a:r>
            <a:r>
              <a:rPr lang="en-ZA" sz="2200" dirty="0" err="1" smtClean="0">
                <a:solidFill>
                  <a:srgbClr val="000000"/>
                </a:solidFill>
                <a:latin typeface="Times New Roman" pitchFamily="18" charset="0"/>
              </a:rPr>
              <a:t>cos</a:t>
            </a:r>
            <a:r>
              <a:rPr lang="en-ZA" sz="2200" dirty="0" smtClean="0">
                <a:solidFill>
                  <a:srgbClr val="000000"/>
                </a:solidFill>
                <a:latin typeface="Times New Roman" pitchFamily="18" charset="0"/>
              </a:rPr>
              <a:t>(10</a:t>
            </a:r>
            <a:r>
              <a:rPr lang="en-ZA" sz="2200" i="1" dirty="0" smtClean="0">
                <a:solidFill>
                  <a:srgbClr val="000000"/>
                </a:solidFill>
                <a:latin typeface="Times New Roman" pitchFamily="18" charset="0"/>
              </a:rPr>
              <a:t>t</a:t>
            </a:r>
            <a:r>
              <a:rPr lang="en-ZA" sz="2200" dirty="0" smtClean="0">
                <a:solidFill>
                  <a:srgbClr val="000000"/>
                </a:solidFill>
                <a:latin typeface="Times New Roman" pitchFamily="18" charset="0"/>
              </a:rPr>
              <a:t> </a:t>
            </a:r>
            <a:r>
              <a:rPr lang="en-ZA" sz="2200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+ 3.43 </a:t>
            </a:r>
            <a:r>
              <a:rPr lang="en-ZA" sz="2200" dirty="0">
                <a:solidFill>
                  <a:srgbClr val="000000"/>
                </a:solidFill>
                <a:latin typeface="Times New Roman" pitchFamily="18" charset="0"/>
                <a:sym typeface="Symbol"/>
              </a:rPr>
              <a:t>) </a:t>
            </a:r>
            <a:r>
              <a:rPr lang="en-ZA" sz="2200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V</a:t>
            </a:r>
          </a:p>
        </p:txBody>
      </p:sp>
      <p:cxnSp>
        <p:nvCxnSpPr>
          <p:cNvPr id="7" name="Straight Arrow Connector 6"/>
          <p:cNvCxnSpPr/>
          <p:nvPr/>
        </p:nvCxnSpPr>
        <p:spPr bwMode="auto">
          <a:xfrm>
            <a:off x="1226225" y="2441236"/>
            <a:ext cx="1428075" cy="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  <a:extLst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 bwMode="auto">
          <a:xfrm>
            <a:off x="943987" y="3431836"/>
            <a:ext cx="1875413" cy="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  <a:extLst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 bwMode="auto">
          <a:xfrm>
            <a:off x="2540847" y="4752636"/>
            <a:ext cx="2154813" cy="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  <a:extLst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 bwMode="auto">
          <a:xfrm>
            <a:off x="2604346" y="5476536"/>
            <a:ext cx="2027813" cy="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  <a:extLst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96951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00"/>
                            </p:stCondLst>
                            <p:childTnLst>
                              <p:par>
                                <p:cTn id="7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36536" y="6400800"/>
            <a:ext cx="2133600" cy="457200"/>
          </a:xfrm>
        </p:spPr>
        <p:txBody>
          <a:bodyPr/>
          <a:lstStyle/>
          <a:p>
            <a:fld id="{55BDB3DA-2476-449A-BE9D-50299F31CF4D}" type="slidenum">
              <a:rPr lang="en-US"/>
              <a:pPr/>
              <a:t>39</a:t>
            </a:fld>
            <a:endParaRPr lang="en-US" dirty="0"/>
          </a:p>
        </p:txBody>
      </p:sp>
      <p:sp>
        <p:nvSpPr>
          <p:cNvPr id="325634" name="Rectangle 2"/>
          <p:cNvSpPr>
            <a:spLocks noGrp="1" noChangeArrowheads="1"/>
          </p:cNvSpPr>
          <p:nvPr>
            <p:ph type="title"/>
          </p:nvPr>
        </p:nvSpPr>
        <p:spPr>
          <a:xfrm>
            <a:off x="442913" y="103188"/>
            <a:ext cx="8243887" cy="1274851"/>
          </a:xfrm>
        </p:spPr>
        <p:txBody>
          <a:bodyPr anchor="t"/>
          <a:lstStyle/>
          <a:p>
            <a:r>
              <a:rPr lang="en-US" sz="4000" dirty="0" smtClean="0"/>
              <a:t>AC Circuit analysis</a:t>
            </a:r>
            <a:br>
              <a:rPr lang="en-US" sz="4000" dirty="0" smtClean="0"/>
            </a:br>
            <a:r>
              <a:rPr lang="en-US" sz="3200" dirty="0" smtClean="0">
                <a:solidFill>
                  <a:srgbClr val="FF0000"/>
                </a:solidFill>
              </a:rPr>
              <a:t>Laws and Theorems</a:t>
            </a:r>
            <a:endParaRPr lang="en-US" sz="3200" dirty="0">
              <a:solidFill>
                <a:srgbClr val="FF0000"/>
              </a:solidFill>
            </a:endParaRPr>
          </a:p>
        </p:txBody>
      </p:sp>
      <p:sp>
        <p:nvSpPr>
          <p:cNvPr id="325635" name="Rectangle 3"/>
          <p:cNvSpPr>
            <a:spLocks noChangeArrowheads="1"/>
          </p:cNvSpPr>
          <p:nvPr/>
        </p:nvSpPr>
        <p:spPr bwMode="auto">
          <a:xfrm>
            <a:off x="0" y="32146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ZA"/>
          </a:p>
        </p:txBody>
      </p:sp>
      <p:sp>
        <p:nvSpPr>
          <p:cNvPr id="325636" name="Rectangle 4"/>
          <p:cNvSpPr>
            <a:spLocks noChangeArrowheads="1"/>
          </p:cNvSpPr>
          <p:nvPr/>
        </p:nvSpPr>
        <p:spPr bwMode="auto">
          <a:xfrm>
            <a:off x="0" y="31813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ZA"/>
          </a:p>
        </p:txBody>
      </p:sp>
      <p:sp>
        <p:nvSpPr>
          <p:cNvPr id="325637" name="Rectangle 5"/>
          <p:cNvSpPr>
            <a:spLocks noChangeArrowheads="1"/>
          </p:cNvSpPr>
          <p:nvPr/>
        </p:nvSpPr>
        <p:spPr bwMode="auto">
          <a:xfrm>
            <a:off x="0" y="32385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ZA"/>
          </a:p>
        </p:txBody>
      </p:sp>
      <p:sp>
        <p:nvSpPr>
          <p:cNvPr id="325638" name="Rectangle 6"/>
          <p:cNvSpPr>
            <a:spLocks noChangeArrowheads="1"/>
          </p:cNvSpPr>
          <p:nvPr/>
        </p:nvSpPr>
        <p:spPr bwMode="auto">
          <a:xfrm>
            <a:off x="0" y="32385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ZA"/>
          </a:p>
        </p:txBody>
      </p:sp>
      <p:sp>
        <p:nvSpPr>
          <p:cNvPr id="325639" name="Rectangle 7"/>
          <p:cNvSpPr>
            <a:spLocks noChangeArrowheads="1"/>
          </p:cNvSpPr>
          <p:nvPr/>
        </p:nvSpPr>
        <p:spPr bwMode="auto">
          <a:xfrm>
            <a:off x="0" y="32385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ZA"/>
          </a:p>
        </p:txBody>
      </p:sp>
      <p:sp>
        <p:nvSpPr>
          <p:cNvPr id="325640" name="Rectangle 8"/>
          <p:cNvSpPr>
            <a:spLocks noChangeArrowheads="1"/>
          </p:cNvSpPr>
          <p:nvPr/>
        </p:nvSpPr>
        <p:spPr bwMode="auto">
          <a:xfrm>
            <a:off x="0" y="32099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ZA"/>
          </a:p>
        </p:txBody>
      </p:sp>
      <p:sp>
        <p:nvSpPr>
          <p:cNvPr id="325641" name="Rectangle 9"/>
          <p:cNvSpPr>
            <a:spLocks noChangeArrowheads="1"/>
          </p:cNvSpPr>
          <p:nvPr/>
        </p:nvSpPr>
        <p:spPr bwMode="auto">
          <a:xfrm>
            <a:off x="0" y="31242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ZA"/>
          </a:p>
        </p:txBody>
      </p:sp>
      <p:sp>
        <p:nvSpPr>
          <p:cNvPr id="325642" name="Rectangle 10"/>
          <p:cNvSpPr>
            <a:spLocks noChangeArrowheads="1"/>
          </p:cNvSpPr>
          <p:nvPr/>
        </p:nvSpPr>
        <p:spPr bwMode="auto">
          <a:xfrm>
            <a:off x="0" y="32527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ZA"/>
          </a:p>
        </p:txBody>
      </p:sp>
      <p:sp>
        <p:nvSpPr>
          <p:cNvPr id="325643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ZA"/>
          </a:p>
        </p:txBody>
      </p:sp>
      <p:sp>
        <p:nvSpPr>
          <p:cNvPr id="325644" name="Rectangle 12"/>
          <p:cNvSpPr>
            <a:spLocks noChangeArrowheads="1"/>
          </p:cNvSpPr>
          <p:nvPr/>
        </p:nvSpPr>
        <p:spPr bwMode="auto">
          <a:xfrm>
            <a:off x="0" y="33051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ZA"/>
          </a:p>
        </p:txBody>
      </p:sp>
      <p:sp>
        <p:nvSpPr>
          <p:cNvPr id="325645" name="Rectangle 13"/>
          <p:cNvSpPr>
            <a:spLocks noChangeArrowheads="1"/>
          </p:cNvSpPr>
          <p:nvPr/>
        </p:nvSpPr>
        <p:spPr bwMode="auto">
          <a:xfrm>
            <a:off x="0" y="33051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ZA"/>
          </a:p>
        </p:txBody>
      </p:sp>
      <p:sp>
        <p:nvSpPr>
          <p:cNvPr id="325646" name="Rectangle 14"/>
          <p:cNvSpPr>
            <a:spLocks noChangeArrowheads="1"/>
          </p:cNvSpPr>
          <p:nvPr/>
        </p:nvSpPr>
        <p:spPr bwMode="auto">
          <a:xfrm>
            <a:off x="0" y="33051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ZA"/>
          </a:p>
        </p:txBody>
      </p:sp>
      <p:sp>
        <p:nvSpPr>
          <p:cNvPr id="325647" name="Rectangle 1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ZA"/>
          </a:p>
        </p:txBody>
      </p:sp>
      <p:sp>
        <p:nvSpPr>
          <p:cNvPr id="325648" name="Rectangle 1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ZA"/>
          </a:p>
        </p:txBody>
      </p:sp>
      <p:sp>
        <p:nvSpPr>
          <p:cNvPr id="325649" name="Rectangle 17"/>
          <p:cNvSpPr>
            <a:spLocks noChangeArrowheads="1"/>
          </p:cNvSpPr>
          <p:nvPr/>
        </p:nvSpPr>
        <p:spPr bwMode="auto">
          <a:xfrm>
            <a:off x="1714500" y="2286000"/>
            <a:ext cx="1905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ZA"/>
          </a:p>
        </p:txBody>
      </p:sp>
      <p:sp>
        <p:nvSpPr>
          <p:cNvPr id="325650" name="Rectangle 18"/>
          <p:cNvSpPr>
            <a:spLocks noChangeArrowheads="1"/>
          </p:cNvSpPr>
          <p:nvPr/>
        </p:nvSpPr>
        <p:spPr bwMode="auto">
          <a:xfrm>
            <a:off x="1714500" y="2286000"/>
            <a:ext cx="1905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ZA"/>
          </a:p>
        </p:txBody>
      </p:sp>
      <p:sp>
        <p:nvSpPr>
          <p:cNvPr id="325651" name="Rectangle 19"/>
          <p:cNvSpPr>
            <a:spLocks noChangeArrowheads="1"/>
          </p:cNvSpPr>
          <p:nvPr/>
        </p:nvSpPr>
        <p:spPr bwMode="auto">
          <a:xfrm>
            <a:off x="1714500" y="2286000"/>
            <a:ext cx="1905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ZA"/>
          </a:p>
        </p:txBody>
      </p:sp>
      <p:sp>
        <p:nvSpPr>
          <p:cNvPr id="325652" name="Rectangle 20"/>
          <p:cNvSpPr>
            <a:spLocks noChangeArrowheads="1"/>
          </p:cNvSpPr>
          <p:nvPr/>
        </p:nvSpPr>
        <p:spPr bwMode="auto">
          <a:xfrm>
            <a:off x="1714500" y="2286000"/>
            <a:ext cx="1905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ZA"/>
          </a:p>
        </p:txBody>
      </p:sp>
      <p:sp>
        <p:nvSpPr>
          <p:cNvPr id="325653" name="Rectangle 21"/>
          <p:cNvSpPr>
            <a:spLocks noChangeArrowheads="1"/>
          </p:cNvSpPr>
          <p:nvPr/>
        </p:nvSpPr>
        <p:spPr bwMode="auto">
          <a:xfrm>
            <a:off x="1714500" y="2286000"/>
            <a:ext cx="1905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ZA"/>
          </a:p>
        </p:txBody>
      </p:sp>
      <p:sp>
        <p:nvSpPr>
          <p:cNvPr id="325654" name="Rectangle 22"/>
          <p:cNvSpPr>
            <a:spLocks noChangeArrowheads="1"/>
          </p:cNvSpPr>
          <p:nvPr/>
        </p:nvSpPr>
        <p:spPr bwMode="auto">
          <a:xfrm>
            <a:off x="1714500" y="2286000"/>
            <a:ext cx="1905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ZA"/>
          </a:p>
        </p:txBody>
      </p:sp>
      <p:sp>
        <p:nvSpPr>
          <p:cNvPr id="325655" name="Rectangle 2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ZA"/>
          </a:p>
        </p:txBody>
      </p:sp>
      <p:sp>
        <p:nvSpPr>
          <p:cNvPr id="325656" name="Rectangle 24"/>
          <p:cNvSpPr>
            <a:spLocks noChangeArrowheads="1"/>
          </p:cNvSpPr>
          <p:nvPr/>
        </p:nvSpPr>
        <p:spPr bwMode="auto">
          <a:xfrm>
            <a:off x="1714500" y="2286000"/>
            <a:ext cx="1905000" cy="0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ZA"/>
          </a:p>
        </p:txBody>
      </p:sp>
      <p:sp>
        <p:nvSpPr>
          <p:cNvPr id="325657" name="Rectangle 25"/>
          <p:cNvSpPr>
            <a:spLocks noChangeArrowheads="1"/>
          </p:cNvSpPr>
          <p:nvPr/>
        </p:nvSpPr>
        <p:spPr bwMode="auto">
          <a:xfrm>
            <a:off x="1714500" y="2286000"/>
            <a:ext cx="1905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ZA"/>
          </a:p>
        </p:txBody>
      </p:sp>
      <p:sp>
        <p:nvSpPr>
          <p:cNvPr id="325658" name="Rectangle 26"/>
          <p:cNvSpPr>
            <a:spLocks noChangeArrowheads="1"/>
          </p:cNvSpPr>
          <p:nvPr/>
        </p:nvSpPr>
        <p:spPr bwMode="auto">
          <a:xfrm>
            <a:off x="1714500" y="2286000"/>
            <a:ext cx="1905000" cy="0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ZA"/>
          </a:p>
        </p:txBody>
      </p:sp>
      <p:sp>
        <p:nvSpPr>
          <p:cNvPr id="325659" name="Rectangle 27"/>
          <p:cNvSpPr>
            <a:spLocks noChangeArrowheads="1"/>
          </p:cNvSpPr>
          <p:nvPr/>
        </p:nvSpPr>
        <p:spPr bwMode="auto">
          <a:xfrm>
            <a:off x="1714500" y="2286000"/>
            <a:ext cx="1905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ZA"/>
          </a:p>
        </p:txBody>
      </p:sp>
      <p:sp>
        <p:nvSpPr>
          <p:cNvPr id="325660" name="Rectangle 28"/>
          <p:cNvSpPr>
            <a:spLocks noChangeArrowheads="1"/>
          </p:cNvSpPr>
          <p:nvPr/>
        </p:nvSpPr>
        <p:spPr bwMode="auto">
          <a:xfrm>
            <a:off x="1714500" y="2286000"/>
            <a:ext cx="1905000" cy="0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ZA"/>
          </a:p>
        </p:txBody>
      </p:sp>
      <p:sp>
        <p:nvSpPr>
          <p:cNvPr id="325661" name="Rectangle 29"/>
          <p:cNvSpPr>
            <a:spLocks noChangeArrowheads="1"/>
          </p:cNvSpPr>
          <p:nvPr/>
        </p:nvSpPr>
        <p:spPr bwMode="auto">
          <a:xfrm>
            <a:off x="1714500" y="2286000"/>
            <a:ext cx="1905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ZA"/>
          </a:p>
        </p:txBody>
      </p:sp>
      <p:pic>
        <p:nvPicPr>
          <p:cNvPr id="32" name="Picture 3" descr="ale29559_09019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918" t="9912" r="10212"/>
          <a:stretch/>
        </p:blipFill>
        <p:spPr bwMode="auto">
          <a:xfrm>
            <a:off x="128786" y="1236373"/>
            <a:ext cx="4227803" cy="26631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4" name="Picture 3" descr="ale29559_09021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13" t="10833" r="5148"/>
          <a:stretch/>
        </p:blipFill>
        <p:spPr bwMode="auto">
          <a:xfrm>
            <a:off x="4687910" y="1814832"/>
            <a:ext cx="4095480" cy="2084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/>
              <p:cNvSpPr/>
              <p:nvPr/>
            </p:nvSpPr>
            <p:spPr>
              <a:xfrm>
                <a:off x="207397" y="4042825"/>
                <a:ext cx="4647937" cy="250728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ZA" sz="2400" u="sng" dirty="0" smtClean="0">
                    <a:solidFill>
                      <a:srgbClr val="000000"/>
                    </a:solidFill>
                    <a:latin typeface="Times New Roman" pitchFamily="18" charset="0"/>
                  </a:rPr>
                  <a:t>KVL:</a:t>
                </a:r>
                <a:r>
                  <a:rPr lang="en-ZA" sz="2400" dirty="0" smtClean="0">
                    <a:solidFill>
                      <a:srgbClr val="000000"/>
                    </a:solidFill>
                    <a:latin typeface="Times New Roman" pitchFamily="18" charset="0"/>
                  </a:rPr>
                  <a:t>  –V + V</a:t>
                </a:r>
                <a:r>
                  <a:rPr lang="en-ZA" sz="2400" baseline="-25000" dirty="0" smtClean="0">
                    <a:solidFill>
                      <a:srgbClr val="000000"/>
                    </a:solidFill>
                    <a:latin typeface="Times New Roman" pitchFamily="18" charset="0"/>
                  </a:rPr>
                  <a:t>1</a:t>
                </a:r>
                <a:r>
                  <a:rPr lang="en-ZA" sz="2400" dirty="0" smtClean="0">
                    <a:solidFill>
                      <a:srgbClr val="000000"/>
                    </a:solidFill>
                    <a:latin typeface="Times New Roman" pitchFamily="18" charset="0"/>
                  </a:rPr>
                  <a:t> + V</a:t>
                </a:r>
                <a:r>
                  <a:rPr lang="en-ZA" sz="2400" baseline="-25000" dirty="0" smtClean="0">
                    <a:solidFill>
                      <a:srgbClr val="000000"/>
                    </a:solidFill>
                    <a:latin typeface="Times New Roman" pitchFamily="18" charset="0"/>
                  </a:rPr>
                  <a:t>2</a:t>
                </a:r>
                <a:r>
                  <a:rPr lang="en-ZA" sz="2400" dirty="0" smtClean="0">
                    <a:solidFill>
                      <a:srgbClr val="000000"/>
                    </a:solidFill>
                    <a:latin typeface="Times New Roman" pitchFamily="18" charset="0"/>
                  </a:rPr>
                  <a:t> = 0</a:t>
                </a:r>
              </a:p>
              <a:p>
                <a:r>
                  <a:rPr lang="en-ZA" sz="2400" dirty="0" smtClean="0">
                    <a:solidFill>
                      <a:srgbClr val="000000"/>
                    </a:solidFill>
                    <a:latin typeface="Times New Roman" pitchFamily="18" charset="0"/>
                  </a:rPr>
                  <a:t>	  V = IZ</a:t>
                </a:r>
                <a:r>
                  <a:rPr lang="en-ZA" sz="2400" baseline="-25000" dirty="0" smtClean="0">
                    <a:solidFill>
                      <a:srgbClr val="000000"/>
                    </a:solidFill>
                    <a:latin typeface="Times New Roman" pitchFamily="18" charset="0"/>
                  </a:rPr>
                  <a:t>1</a:t>
                </a:r>
                <a:r>
                  <a:rPr lang="en-ZA" sz="2400" dirty="0" smtClean="0">
                    <a:solidFill>
                      <a:srgbClr val="000000"/>
                    </a:solidFill>
                    <a:latin typeface="Times New Roman" pitchFamily="18" charset="0"/>
                  </a:rPr>
                  <a:t> </a:t>
                </a:r>
                <a:r>
                  <a:rPr lang="en-ZA" sz="2400" dirty="0">
                    <a:solidFill>
                      <a:srgbClr val="000000"/>
                    </a:solidFill>
                    <a:latin typeface="Times New Roman" pitchFamily="18" charset="0"/>
                  </a:rPr>
                  <a:t>+ </a:t>
                </a:r>
                <a:r>
                  <a:rPr lang="en-ZA" sz="2400" dirty="0" smtClean="0">
                    <a:solidFill>
                      <a:srgbClr val="000000"/>
                    </a:solidFill>
                    <a:latin typeface="Times New Roman" pitchFamily="18" charset="0"/>
                  </a:rPr>
                  <a:t>IZ</a:t>
                </a:r>
                <a:r>
                  <a:rPr lang="en-ZA" sz="2400" baseline="-25000" dirty="0" smtClean="0">
                    <a:solidFill>
                      <a:srgbClr val="000000"/>
                    </a:solidFill>
                    <a:latin typeface="Times New Roman" pitchFamily="18" charset="0"/>
                  </a:rPr>
                  <a:t>2</a:t>
                </a:r>
                <a:endParaRPr lang="en-ZA" sz="2400" dirty="0" smtClean="0">
                  <a:solidFill>
                    <a:srgbClr val="000000"/>
                  </a:solidFill>
                  <a:latin typeface="Times New Roman" pitchFamily="18" charset="0"/>
                </a:endParaRPr>
              </a:p>
              <a:p>
                <a:endParaRPr lang="en-ZA" sz="2400" u="sng" dirty="0" smtClean="0">
                  <a:solidFill>
                    <a:srgbClr val="000000"/>
                  </a:solidFill>
                  <a:latin typeface="Times New Roman" pitchFamily="18" charset="0"/>
                </a:endParaRPr>
              </a:p>
              <a:p>
                <a:r>
                  <a:rPr lang="en-ZA" sz="2400" u="sng" dirty="0" smtClean="0">
                    <a:solidFill>
                      <a:srgbClr val="000000"/>
                    </a:solidFill>
                    <a:latin typeface="Times New Roman" pitchFamily="18" charset="0"/>
                  </a:rPr>
                  <a:t>Z in series:</a:t>
                </a:r>
                <a:r>
                  <a:rPr lang="en-ZA" sz="2400" dirty="0" smtClean="0">
                    <a:solidFill>
                      <a:srgbClr val="000000"/>
                    </a:solidFill>
                    <a:latin typeface="Times New Roman" pitchFamily="18" charset="0"/>
                  </a:rPr>
                  <a:t>  Z</a:t>
                </a:r>
                <a:r>
                  <a:rPr lang="en-ZA" sz="2400" baseline="-25000" dirty="0" smtClean="0">
                    <a:solidFill>
                      <a:srgbClr val="000000"/>
                    </a:solidFill>
                    <a:latin typeface="Times New Roman" pitchFamily="18" charset="0"/>
                  </a:rPr>
                  <a:t>T</a:t>
                </a:r>
                <a:r>
                  <a:rPr lang="en-ZA" sz="2400" dirty="0" smtClean="0">
                    <a:solidFill>
                      <a:srgbClr val="000000"/>
                    </a:solidFill>
                    <a:latin typeface="Times New Roman" pitchFamily="18" charset="0"/>
                  </a:rPr>
                  <a:t> = Z</a:t>
                </a:r>
                <a:r>
                  <a:rPr lang="en-ZA" sz="2400" baseline="-25000" dirty="0" smtClean="0">
                    <a:solidFill>
                      <a:srgbClr val="000000"/>
                    </a:solidFill>
                    <a:latin typeface="Times New Roman" pitchFamily="18" charset="0"/>
                  </a:rPr>
                  <a:t>1</a:t>
                </a:r>
                <a:r>
                  <a:rPr lang="en-ZA" sz="2400" dirty="0" smtClean="0">
                    <a:solidFill>
                      <a:srgbClr val="000000"/>
                    </a:solidFill>
                    <a:latin typeface="Times New Roman" pitchFamily="18" charset="0"/>
                  </a:rPr>
                  <a:t> + Z</a:t>
                </a:r>
                <a:r>
                  <a:rPr lang="en-ZA" sz="2400" baseline="-25000" dirty="0" smtClean="0">
                    <a:solidFill>
                      <a:srgbClr val="000000"/>
                    </a:solidFill>
                    <a:latin typeface="Times New Roman" pitchFamily="18" charset="0"/>
                  </a:rPr>
                  <a:t>2</a:t>
                </a:r>
              </a:p>
              <a:p>
                <a:endParaRPr lang="en-ZA" sz="2400" dirty="0" smtClean="0">
                  <a:solidFill>
                    <a:srgbClr val="000000"/>
                  </a:solidFill>
                  <a:latin typeface="Times New Roman" pitchFamily="18" charset="0"/>
                </a:endParaRPr>
              </a:p>
              <a:p>
                <a:r>
                  <a:rPr lang="en-ZA" sz="2400" u="sng" dirty="0" smtClean="0">
                    <a:solidFill>
                      <a:srgbClr val="000000"/>
                    </a:solidFill>
                    <a:latin typeface="Times New Roman" pitchFamily="18" charset="0"/>
                  </a:rPr>
                  <a:t>Voltage division:</a:t>
                </a:r>
                <a:r>
                  <a:rPr lang="en-ZA" sz="2400" dirty="0" smtClean="0">
                    <a:solidFill>
                      <a:srgbClr val="000000"/>
                    </a:solidFill>
                    <a:latin typeface="Times New Roman" pitchFamily="18" charset="0"/>
                  </a:rPr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ZA" sz="2400" i="1" smtClean="0">
                            <a:solidFill>
                              <a:srgbClr val="00000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ZA" sz="2400" b="0" i="1" smtClean="0">
                            <a:solidFill>
                              <a:srgbClr val="000000"/>
                            </a:solidFill>
                            <a:latin typeface="Cambria Math"/>
                          </a:rPr>
                          <m:t>𝑉</m:t>
                        </m:r>
                      </m:e>
                      <m:sub>
                        <m:r>
                          <a:rPr lang="en-ZA" sz="2400" b="0" i="1" smtClean="0">
                            <a:solidFill>
                              <a:srgbClr val="000000"/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ZA" sz="2400" b="0" i="1" smtClean="0">
                        <a:solidFill>
                          <a:srgbClr val="000000"/>
                        </a:solidFill>
                        <a:latin typeface="Cambria Math"/>
                      </a:rPr>
                      <m:t>=</m:t>
                    </m:r>
                    <m:r>
                      <a:rPr lang="en-ZA" sz="2400" b="0" i="1" smtClean="0">
                        <a:solidFill>
                          <a:srgbClr val="000000"/>
                        </a:solidFill>
                        <a:latin typeface="Cambria Math"/>
                      </a:rPr>
                      <m:t>𝑉</m:t>
                    </m:r>
                    <m:f>
                      <m:fPr>
                        <m:ctrlPr>
                          <a:rPr lang="en-ZA" sz="2400" b="0" i="1" smtClean="0">
                            <a:solidFill>
                              <a:srgbClr val="000000"/>
                            </a:solidFill>
                            <a:latin typeface="Cambria Math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ZA" sz="2400" b="0" i="1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ZA" sz="2400" b="0" i="1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𝑍</m:t>
                            </m:r>
                          </m:e>
                          <m:sub>
                            <m:r>
                              <a:rPr lang="en-ZA" sz="2400" b="0" i="1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ZA" sz="2400" i="1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ZA" sz="2400" i="1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𝑍</m:t>
                            </m:r>
                          </m:e>
                          <m:sub>
                            <m:r>
                              <a:rPr lang="en-ZA" sz="2400" i="1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1</m:t>
                            </m:r>
                          </m:sub>
                        </m:sSub>
                        <m:r>
                          <a:rPr lang="en-ZA" sz="2400" b="0" i="1" smtClean="0">
                            <a:solidFill>
                              <a:srgbClr val="000000"/>
                            </a:solidFill>
                            <a:latin typeface="Cambria Math"/>
                          </a:rPr>
                          <m:t>+</m:t>
                        </m:r>
                        <m:sSub>
                          <m:sSubPr>
                            <m:ctrlPr>
                              <a:rPr lang="en-ZA" sz="2400" i="1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ZA" sz="2400" i="1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𝑍</m:t>
                            </m:r>
                          </m:e>
                          <m:sub>
                            <m:r>
                              <a:rPr lang="en-ZA" sz="2400" b="0" i="1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endParaRPr lang="en-ZA" sz="2400" dirty="0"/>
              </a:p>
            </p:txBody>
          </p:sp>
        </mc:Choice>
        <mc:Fallback xmlns=""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7397" y="4042825"/>
                <a:ext cx="4647937" cy="2507289"/>
              </a:xfrm>
              <a:prstGeom prst="rect">
                <a:avLst/>
              </a:prstGeom>
              <a:blipFill rotWithShape="1">
                <a:blip r:embed="rId5"/>
                <a:stretch>
                  <a:fillRect l="-1969" t="-1946"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Rectangle 34"/>
              <p:cNvSpPr/>
              <p:nvPr/>
            </p:nvSpPr>
            <p:spPr>
              <a:xfrm>
                <a:off x="4855334" y="4132978"/>
                <a:ext cx="4647937" cy="233692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ZA" sz="2400" u="sng" dirty="0" smtClean="0">
                    <a:solidFill>
                      <a:srgbClr val="000000"/>
                    </a:solidFill>
                    <a:latin typeface="Times New Roman" pitchFamily="18" charset="0"/>
                  </a:rPr>
                  <a:t>KCL:</a:t>
                </a:r>
                <a:r>
                  <a:rPr lang="en-ZA" sz="2400" dirty="0" smtClean="0">
                    <a:solidFill>
                      <a:srgbClr val="000000"/>
                    </a:solidFill>
                    <a:latin typeface="Times New Roman" pitchFamily="18" charset="0"/>
                  </a:rPr>
                  <a:t>  I = </a:t>
                </a:r>
                <a:r>
                  <a:rPr lang="en-ZA" sz="2400" dirty="0">
                    <a:solidFill>
                      <a:srgbClr val="000000"/>
                    </a:solidFill>
                    <a:latin typeface="Times New Roman" pitchFamily="18" charset="0"/>
                  </a:rPr>
                  <a:t>I</a:t>
                </a:r>
                <a:r>
                  <a:rPr lang="en-ZA" sz="2400" baseline="-25000" dirty="0" smtClean="0">
                    <a:solidFill>
                      <a:srgbClr val="000000"/>
                    </a:solidFill>
                    <a:latin typeface="Times New Roman" pitchFamily="18" charset="0"/>
                  </a:rPr>
                  <a:t>1</a:t>
                </a:r>
                <a:r>
                  <a:rPr lang="en-ZA" sz="2400" dirty="0" smtClean="0">
                    <a:solidFill>
                      <a:srgbClr val="000000"/>
                    </a:solidFill>
                    <a:latin typeface="Times New Roman" pitchFamily="18" charset="0"/>
                  </a:rPr>
                  <a:t> + I</a:t>
                </a:r>
                <a:r>
                  <a:rPr lang="en-ZA" sz="2400" baseline="-25000" dirty="0" smtClean="0">
                    <a:solidFill>
                      <a:srgbClr val="000000"/>
                    </a:solidFill>
                    <a:latin typeface="Times New Roman" pitchFamily="18" charset="0"/>
                  </a:rPr>
                  <a:t>2</a:t>
                </a:r>
                <a:endParaRPr lang="en-ZA" sz="2400" dirty="0" smtClean="0">
                  <a:solidFill>
                    <a:srgbClr val="000000"/>
                  </a:solidFill>
                  <a:latin typeface="Times New Roman" pitchFamily="18" charset="0"/>
                </a:endParaRPr>
              </a:p>
              <a:p>
                <a:endParaRPr lang="en-ZA" sz="3600" u="sng" dirty="0" smtClean="0">
                  <a:solidFill>
                    <a:srgbClr val="000000"/>
                  </a:solidFill>
                  <a:latin typeface="Times New Roman" pitchFamily="18" charset="0"/>
                </a:endParaRPr>
              </a:p>
              <a:p>
                <a:r>
                  <a:rPr lang="en-ZA" sz="2400" u="sng" dirty="0" smtClean="0">
                    <a:solidFill>
                      <a:srgbClr val="000000"/>
                    </a:solidFill>
                    <a:latin typeface="Times New Roman" pitchFamily="18" charset="0"/>
                  </a:rPr>
                  <a:t>Z in //:</a:t>
                </a:r>
                <a:r>
                  <a:rPr lang="en-ZA" sz="2400" dirty="0" smtClean="0">
                    <a:solidFill>
                      <a:srgbClr val="000000"/>
                    </a:solidFill>
                    <a:latin typeface="Times New Roman" pitchFamily="18" charset="0"/>
                  </a:rPr>
                  <a:t>  Z</a:t>
                </a:r>
                <a:r>
                  <a:rPr lang="en-ZA" sz="2400" baseline="-25000" dirty="0" smtClean="0">
                    <a:solidFill>
                      <a:srgbClr val="000000"/>
                    </a:solidFill>
                    <a:latin typeface="Times New Roman" pitchFamily="18" charset="0"/>
                  </a:rPr>
                  <a:t>//</a:t>
                </a:r>
                <a:r>
                  <a:rPr lang="en-ZA" sz="2400" dirty="0" smtClean="0">
                    <a:solidFill>
                      <a:srgbClr val="000000"/>
                    </a:solidFill>
                    <a:latin typeface="Times New Roman" pitchFamily="18" charset="0"/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ZA" sz="2400" i="1">
                            <a:solidFill>
                              <a:srgbClr val="000000"/>
                            </a:solidFill>
                            <a:latin typeface="Cambria Math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ZA" sz="2400" i="1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ZA" sz="2400" i="1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𝑍</m:t>
                            </m:r>
                          </m:e>
                          <m:sub>
                            <m:r>
                              <a:rPr lang="en-ZA" sz="2400" i="1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ZA" sz="2400" i="1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ZA" sz="2400" i="1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𝑍</m:t>
                            </m:r>
                          </m:e>
                          <m:sub>
                            <m:r>
                              <a:rPr lang="en-ZA" sz="2400" b="0" i="1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ZA" sz="2400" i="1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ZA" sz="2400" i="1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𝑍</m:t>
                            </m:r>
                          </m:e>
                          <m:sub>
                            <m:r>
                              <a:rPr lang="en-ZA" sz="2400" i="1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1</m:t>
                            </m:r>
                          </m:sub>
                        </m:sSub>
                        <m:r>
                          <a:rPr lang="en-ZA" sz="2400" i="1">
                            <a:solidFill>
                              <a:srgbClr val="000000"/>
                            </a:solidFill>
                            <a:latin typeface="Cambria Math"/>
                          </a:rPr>
                          <m:t>+</m:t>
                        </m:r>
                        <m:sSub>
                          <m:sSubPr>
                            <m:ctrlPr>
                              <a:rPr lang="en-ZA" sz="2400" i="1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ZA" sz="2400" i="1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𝑍</m:t>
                            </m:r>
                          </m:e>
                          <m:sub>
                            <m:r>
                              <a:rPr lang="en-ZA" sz="2400" i="1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endParaRPr lang="en-ZA" sz="2400" dirty="0" smtClean="0">
                  <a:solidFill>
                    <a:srgbClr val="000000"/>
                  </a:solidFill>
                  <a:latin typeface="Times New Roman" pitchFamily="18" charset="0"/>
                </a:endParaRPr>
              </a:p>
              <a:p>
                <a:endParaRPr lang="en-ZA" sz="1200" dirty="0" smtClean="0">
                  <a:solidFill>
                    <a:srgbClr val="000000"/>
                  </a:solidFill>
                  <a:latin typeface="Times New Roman" pitchFamily="18" charset="0"/>
                </a:endParaRPr>
              </a:p>
              <a:p>
                <a:r>
                  <a:rPr lang="en-ZA" sz="2400" u="sng" dirty="0" smtClean="0">
                    <a:solidFill>
                      <a:srgbClr val="000000"/>
                    </a:solidFill>
                    <a:latin typeface="Times New Roman" pitchFamily="18" charset="0"/>
                  </a:rPr>
                  <a:t>Current division:</a:t>
                </a:r>
                <a:r>
                  <a:rPr lang="en-ZA" sz="2400" dirty="0" smtClean="0">
                    <a:solidFill>
                      <a:srgbClr val="000000"/>
                    </a:solidFill>
                    <a:latin typeface="Times New Roman" pitchFamily="18" charset="0"/>
                  </a:rPr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ZA" sz="2400" i="1" smtClean="0">
                            <a:solidFill>
                              <a:srgbClr val="00000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ZA" sz="2400" b="0" i="1" smtClean="0">
                            <a:solidFill>
                              <a:srgbClr val="000000"/>
                            </a:solidFill>
                            <a:latin typeface="Cambria Math"/>
                          </a:rPr>
                          <m:t>𝐼</m:t>
                        </m:r>
                      </m:e>
                      <m:sub>
                        <m:r>
                          <a:rPr lang="en-ZA" sz="2400" b="0" i="1" smtClean="0">
                            <a:solidFill>
                              <a:srgbClr val="000000"/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ZA" sz="2400" b="0" i="1" smtClean="0">
                        <a:solidFill>
                          <a:srgbClr val="000000"/>
                        </a:solidFill>
                        <a:latin typeface="Cambria Math"/>
                      </a:rPr>
                      <m:t>=</m:t>
                    </m:r>
                    <m:r>
                      <a:rPr lang="en-ZA" sz="2400" b="0" i="1" smtClean="0">
                        <a:solidFill>
                          <a:srgbClr val="000000"/>
                        </a:solidFill>
                        <a:latin typeface="Cambria Math"/>
                      </a:rPr>
                      <m:t>𝐼</m:t>
                    </m:r>
                    <m:f>
                      <m:fPr>
                        <m:ctrlPr>
                          <a:rPr lang="en-ZA" sz="2400" b="0" i="1" smtClean="0">
                            <a:solidFill>
                              <a:srgbClr val="000000"/>
                            </a:solidFill>
                            <a:latin typeface="Cambria Math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ZA" sz="2400" b="0" i="1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ZA" sz="2400" b="0" i="1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𝑍</m:t>
                            </m:r>
                          </m:e>
                          <m:sub>
                            <m:r>
                              <a:rPr lang="en-ZA" sz="2400" b="0" i="1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ZA" sz="2400" i="1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ZA" sz="2400" i="1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𝑍</m:t>
                            </m:r>
                          </m:e>
                          <m:sub>
                            <m:r>
                              <a:rPr lang="en-ZA" sz="2400" i="1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1</m:t>
                            </m:r>
                          </m:sub>
                        </m:sSub>
                        <m:r>
                          <a:rPr lang="en-ZA" sz="2400" b="0" i="1" smtClean="0">
                            <a:solidFill>
                              <a:srgbClr val="000000"/>
                            </a:solidFill>
                            <a:latin typeface="Cambria Math"/>
                          </a:rPr>
                          <m:t>+</m:t>
                        </m:r>
                        <m:sSub>
                          <m:sSubPr>
                            <m:ctrlPr>
                              <a:rPr lang="en-ZA" sz="2400" i="1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ZA" sz="2400" i="1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𝑍</m:t>
                            </m:r>
                          </m:e>
                          <m:sub>
                            <m:r>
                              <a:rPr lang="en-ZA" sz="2400" b="0" i="1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endParaRPr lang="en-ZA" sz="2400" dirty="0"/>
              </a:p>
            </p:txBody>
          </p:sp>
        </mc:Choice>
        <mc:Fallback xmlns="">
          <p:sp>
            <p:nvSpPr>
              <p:cNvPr id="35" name="Rectangle 3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55334" y="4132978"/>
                <a:ext cx="4647937" cy="2336922"/>
              </a:xfrm>
              <a:prstGeom prst="rect">
                <a:avLst/>
              </a:prstGeom>
              <a:blipFill rotWithShape="1">
                <a:blip r:embed="rId6"/>
                <a:stretch>
                  <a:fillRect l="-1966" t="-2089"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C97FB-FCD0-4F4A-A6B0-21C6B845E1FE}" type="slidenum">
              <a:rPr lang="en-US" smtClean="0"/>
              <a:pPr/>
              <a:t>40</a:t>
            </a:fld>
            <a:endParaRPr lang="en-US"/>
          </a:p>
        </p:txBody>
      </p:sp>
      <p:pic>
        <p:nvPicPr>
          <p:cNvPr id="5" name="Picture 3" descr="ale29559_0902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149"/>
          <a:stretch/>
        </p:blipFill>
        <p:spPr bwMode="auto">
          <a:xfrm>
            <a:off x="149179" y="1570204"/>
            <a:ext cx="5662223" cy="38466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Rectangle 2"/>
          <p:cNvSpPr txBox="1">
            <a:spLocks noChangeArrowheads="1"/>
          </p:cNvSpPr>
          <p:nvPr/>
        </p:nvSpPr>
        <p:spPr>
          <a:xfrm>
            <a:off x="442913" y="103188"/>
            <a:ext cx="8243887" cy="1274851"/>
          </a:xfrm>
          <a:prstGeom prst="rect">
            <a:avLst/>
          </a:prstGeom>
        </p:spPr>
        <p:txBody>
          <a:bodyPr anchor="t"/>
          <a:lstStyle>
            <a:lvl1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2pPr>
            <a:lvl3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3pPr>
            <a:lvl4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4pPr>
            <a:lvl5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5pPr>
            <a:lvl6pPr marL="4572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6pPr>
            <a:lvl7pPr marL="9144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7pPr>
            <a:lvl8pPr marL="13716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8pPr>
            <a:lvl9pPr marL="18288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9pPr>
          </a:lstStyle>
          <a:p>
            <a:r>
              <a:rPr lang="en-US" sz="4000" dirty="0" smtClean="0"/>
              <a:t>AC Circuit analysis</a:t>
            </a:r>
          </a:p>
          <a:p>
            <a:r>
              <a:rPr lang="en-US" sz="4000" dirty="0" smtClean="0">
                <a:sym typeface="Symbol"/>
              </a:rPr>
              <a:t> - Y</a:t>
            </a:r>
            <a:endParaRPr lang="en-US" sz="4000" dirty="0"/>
          </a:p>
        </p:txBody>
      </p:sp>
      <p:sp>
        <p:nvSpPr>
          <p:cNvPr id="8" name="Rectangle 7"/>
          <p:cNvSpPr/>
          <p:nvPr/>
        </p:nvSpPr>
        <p:spPr>
          <a:xfrm>
            <a:off x="4895307" y="3173347"/>
            <a:ext cx="3295657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ZA" sz="2400" u="sng" dirty="0" smtClean="0">
                <a:solidFill>
                  <a:srgbClr val="000000"/>
                </a:solidFill>
                <a:latin typeface="Times New Roman" pitchFamily="18" charset="0"/>
              </a:rPr>
              <a:t>For a BALANCED load:</a:t>
            </a:r>
            <a:endParaRPr lang="en-ZA" sz="2400" dirty="0" smtClean="0">
              <a:solidFill>
                <a:srgbClr val="000000"/>
              </a:solidFill>
              <a:latin typeface="Times New Roman" pitchFamily="18" charset="0"/>
            </a:endParaRPr>
          </a:p>
          <a:p>
            <a:pPr>
              <a:lnSpc>
                <a:spcPct val="150000"/>
              </a:lnSpc>
            </a:pPr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</a:rPr>
              <a:t>Z</a:t>
            </a:r>
            <a:r>
              <a:rPr lang="en-ZA" sz="2400" baseline="-25000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</a:t>
            </a:r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 = 3Z</a:t>
            </a:r>
            <a:r>
              <a:rPr lang="en-ZA" sz="2400" baseline="-25000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Y</a:t>
            </a:r>
            <a:endParaRPr lang="en-ZA" sz="2400" dirty="0"/>
          </a:p>
        </p:txBody>
      </p:sp>
    </p:spTree>
    <p:extLst>
      <p:ext uri="{BB962C8B-B14F-4D97-AF65-F5344CB8AC3E}">
        <p14:creationId xmlns:p14="http://schemas.microsoft.com/office/powerpoint/2010/main" val="7946008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DBEB72-C004-46D1-9992-458CC43F3DD8}" type="slidenum">
              <a:rPr lang="en-US" smtClean="0"/>
              <a:pPr/>
              <a:t>41</a:t>
            </a:fld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270455" y="143801"/>
            <a:ext cx="8628846" cy="83099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ZA" sz="2400" b="1" u="sng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PP 9.10</a:t>
            </a:r>
            <a:r>
              <a:rPr lang="en-ZA" sz="24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ZA" sz="2400" dirty="0">
                <a:latin typeface="Times New Roman" pitchFamily="18" charset="0"/>
                <a:cs typeface="Times New Roman" pitchFamily="18" charset="0"/>
              </a:rPr>
            </a:br>
            <a:r>
              <a:rPr lang="en-ZA" sz="2400" dirty="0" smtClean="0">
                <a:latin typeface="Times New Roman" pitchFamily="18" charset="0"/>
              </a:rPr>
              <a:t>Determine the input impedance of the circuit at </a:t>
            </a:r>
            <a:r>
              <a:rPr lang="en-ZA" sz="2400" dirty="0" smtClean="0">
                <a:latin typeface="Times New Roman" pitchFamily="18" charset="0"/>
                <a:sym typeface="Symbol"/>
              </a:rPr>
              <a:t> = 10 rad/s</a:t>
            </a:r>
          </a:p>
        </p:txBody>
      </p:sp>
      <p:pic>
        <p:nvPicPr>
          <p:cNvPr id="4" name="Picture 3" descr="ale29559_09024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737"/>
          <a:stretch/>
        </p:blipFill>
        <p:spPr bwMode="auto">
          <a:xfrm>
            <a:off x="3455716" y="974798"/>
            <a:ext cx="5554464" cy="20536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5533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55716" y="3347091"/>
            <a:ext cx="5688284" cy="2178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Rectangle 4"/>
          <p:cNvSpPr/>
          <p:nvPr/>
        </p:nvSpPr>
        <p:spPr>
          <a:xfrm>
            <a:off x="270455" y="1078282"/>
            <a:ext cx="4572000" cy="156966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ZA" sz="2400" b="1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Z</a:t>
            </a:r>
            <a:r>
              <a:rPr lang="en-ZA" sz="2400" b="1" baseline="-25000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C1</a:t>
            </a:r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 </a:t>
            </a:r>
            <a:r>
              <a:rPr lang="en-ZA" sz="2400" dirty="0">
                <a:solidFill>
                  <a:srgbClr val="000000"/>
                </a:solidFill>
                <a:latin typeface="Times New Roman" pitchFamily="18" charset="0"/>
                <a:sym typeface="Symbol"/>
              </a:rPr>
              <a:t>= </a:t>
            </a:r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jX</a:t>
            </a:r>
            <a:r>
              <a:rPr lang="en-ZA" sz="2400" baseline="-25000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C1</a:t>
            </a:r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 </a:t>
            </a:r>
            <a:r>
              <a:rPr lang="en-ZA" sz="2400" dirty="0">
                <a:solidFill>
                  <a:srgbClr val="000000"/>
                </a:solidFill>
                <a:latin typeface="Times New Roman" pitchFamily="18" charset="0"/>
                <a:sym typeface="Symbol"/>
              </a:rPr>
              <a:t>= j(-1/</a:t>
            </a:r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C1) </a:t>
            </a:r>
          </a:p>
          <a:p>
            <a:r>
              <a:rPr lang="en-ZA" sz="2400" dirty="0">
                <a:solidFill>
                  <a:srgbClr val="000000"/>
                </a:solidFill>
                <a:latin typeface="Times New Roman" pitchFamily="18" charset="0"/>
                <a:sym typeface="Symbol"/>
              </a:rPr>
              <a:t> </a:t>
            </a:r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   = </a:t>
            </a:r>
            <a:r>
              <a:rPr lang="en-ZA" sz="2400" dirty="0">
                <a:solidFill>
                  <a:srgbClr val="000000"/>
                </a:solidFill>
                <a:latin typeface="Times New Roman" pitchFamily="18" charset="0"/>
                <a:sym typeface="Symbol"/>
              </a:rPr>
              <a:t>–j/(</a:t>
            </a:r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10 </a:t>
            </a:r>
            <a:r>
              <a:rPr lang="en-ZA" sz="2400" dirty="0">
                <a:solidFill>
                  <a:srgbClr val="000000"/>
                </a:solidFill>
                <a:latin typeface="Times New Roman" pitchFamily="18" charset="0"/>
                <a:sym typeface="Symbol"/>
              </a:rPr>
              <a:t> </a:t>
            </a:r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0.510</a:t>
            </a:r>
            <a:r>
              <a:rPr lang="en-ZA" sz="2400" baseline="30000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-3</a:t>
            </a:r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) </a:t>
            </a:r>
            <a:endParaRPr lang="en-ZA" sz="2400" dirty="0">
              <a:solidFill>
                <a:srgbClr val="000000"/>
              </a:solidFill>
              <a:latin typeface="Times New Roman" pitchFamily="18" charset="0"/>
              <a:sym typeface="Symbol"/>
            </a:endParaRPr>
          </a:p>
          <a:p>
            <a:r>
              <a:rPr lang="en-ZA" sz="2400" dirty="0">
                <a:solidFill>
                  <a:srgbClr val="000000"/>
                </a:solidFill>
                <a:latin typeface="Times New Roman" pitchFamily="18" charset="0"/>
                <a:sym typeface="Symbol"/>
              </a:rPr>
              <a:t>    = – j200 </a:t>
            </a:r>
          </a:p>
          <a:p>
            <a:r>
              <a:rPr lang="en-ZA" sz="2400" dirty="0">
                <a:solidFill>
                  <a:srgbClr val="000000"/>
                </a:solidFill>
                <a:latin typeface="Times New Roman" pitchFamily="18" charset="0"/>
                <a:sym typeface="Symbol"/>
              </a:rPr>
              <a:t>    = 200 –90 </a:t>
            </a:r>
          </a:p>
        </p:txBody>
      </p:sp>
      <p:sp>
        <p:nvSpPr>
          <p:cNvPr id="6" name="Rectangle 5"/>
          <p:cNvSpPr/>
          <p:nvPr/>
        </p:nvSpPr>
        <p:spPr>
          <a:xfrm>
            <a:off x="270455" y="2967335"/>
            <a:ext cx="330987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ZA" sz="2400" b="1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Z</a:t>
            </a:r>
            <a:r>
              <a:rPr lang="en-ZA" sz="2400" b="1" baseline="-25000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L</a:t>
            </a:r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 </a:t>
            </a:r>
            <a:r>
              <a:rPr lang="en-ZA" sz="2400" dirty="0">
                <a:solidFill>
                  <a:srgbClr val="000000"/>
                </a:solidFill>
                <a:latin typeface="Times New Roman" pitchFamily="18" charset="0"/>
                <a:sym typeface="Symbol"/>
              </a:rPr>
              <a:t>= </a:t>
            </a:r>
            <a:r>
              <a:rPr lang="en-ZA" sz="2400" dirty="0" err="1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jX</a:t>
            </a:r>
            <a:r>
              <a:rPr lang="en-ZA" sz="2400" baseline="-25000" dirty="0" err="1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L</a:t>
            </a:r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 </a:t>
            </a:r>
            <a:r>
              <a:rPr lang="en-ZA" sz="2400" dirty="0" err="1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j</a:t>
            </a:r>
            <a:r>
              <a:rPr lang="en-ZA" sz="2400" dirty="0" err="1">
                <a:solidFill>
                  <a:srgbClr val="000000"/>
                </a:solidFill>
                <a:latin typeface="Times New Roman" pitchFamily="18" charset="0"/>
                <a:sym typeface="Symbol"/>
              </a:rPr>
              <a:t>L</a:t>
            </a:r>
            <a:r>
              <a:rPr lang="en-ZA" sz="2400" dirty="0">
                <a:solidFill>
                  <a:srgbClr val="000000"/>
                </a:solidFill>
                <a:latin typeface="Times New Roman" pitchFamily="18" charset="0"/>
                <a:sym typeface="Symbol"/>
              </a:rPr>
              <a:t> </a:t>
            </a:r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= j(10 </a:t>
            </a:r>
            <a:r>
              <a:rPr lang="en-ZA" sz="2400" dirty="0">
                <a:solidFill>
                  <a:srgbClr val="000000"/>
                </a:solidFill>
                <a:latin typeface="Times New Roman" pitchFamily="18" charset="0"/>
                <a:sym typeface="Symbol"/>
              </a:rPr>
              <a:t> </a:t>
            </a:r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8) </a:t>
            </a:r>
            <a:endParaRPr lang="en-ZA" sz="2400" dirty="0">
              <a:solidFill>
                <a:srgbClr val="000000"/>
              </a:solidFill>
              <a:latin typeface="Times New Roman" pitchFamily="18" charset="0"/>
              <a:sym typeface="Symbol"/>
            </a:endParaRPr>
          </a:p>
          <a:p>
            <a:r>
              <a:rPr lang="en-ZA" sz="2400" dirty="0">
                <a:solidFill>
                  <a:srgbClr val="000000"/>
                </a:solidFill>
                <a:latin typeface="Times New Roman" pitchFamily="18" charset="0"/>
                <a:sym typeface="Symbol"/>
              </a:rPr>
              <a:t>    = </a:t>
            </a:r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j80 </a:t>
            </a:r>
            <a:r>
              <a:rPr lang="en-ZA" sz="2400" dirty="0">
                <a:solidFill>
                  <a:srgbClr val="000000"/>
                </a:solidFill>
                <a:latin typeface="Times New Roman" pitchFamily="18" charset="0"/>
                <a:sym typeface="Symbol"/>
              </a:rPr>
              <a:t></a:t>
            </a:r>
          </a:p>
          <a:p>
            <a:r>
              <a:rPr lang="en-ZA" sz="2400" dirty="0">
                <a:solidFill>
                  <a:srgbClr val="000000"/>
                </a:solidFill>
                <a:latin typeface="Times New Roman" pitchFamily="18" charset="0"/>
                <a:sym typeface="Symbol"/>
              </a:rPr>
              <a:t>    = </a:t>
            </a:r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8090 </a:t>
            </a:r>
            <a:r>
              <a:rPr lang="en-ZA" sz="2400" dirty="0">
                <a:solidFill>
                  <a:srgbClr val="000000"/>
                </a:solidFill>
                <a:latin typeface="Times New Roman" pitchFamily="18" charset="0"/>
                <a:sym typeface="Symbol"/>
              </a:rPr>
              <a:t></a:t>
            </a:r>
          </a:p>
        </p:txBody>
      </p:sp>
      <p:sp>
        <p:nvSpPr>
          <p:cNvPr id="7" name="Rectangle 6"/>
          <p:cNvSpPr/>
          <p:nvPr/>
        </p:nvSpPr>
        <p:spPr>
          <a:xfrm>
            <a:off x="4031592" y="3151038"/>
            <a:ext cx="144142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ZA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– </a:t>
            </a:r>
            <a:r>
              <a:rPr lang="en-ZA" dirty="0">
                <a:solidFill>
                  <a:srgbClr val="000000"/>
                </a:solidFill>
                <a:latin typeface="Times New Roman" pitchFamily="18" charset="0"/>
                <a:sym typeface="Symbol"/>
              </a:rPr>
              <a:t>j200 </a:t>
            </a:r>
            <a:r>
              <a:rPr lang="en-ZA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</a:t>
            </a:r>
          </a:p>
          <a:p>
            <a:pPr algn="ctr"/>
            <a:r>
              <a:rPr lang="en-ZA" dirty="0">
                <a:solidFill>
                  <a:srgbClr val="000000"/>
                </a:solidFill>
                <a:latin typeface="Times New Roman" pitchFamily="18" charset="0"/>
                <a:sym typeface="Symbol"/>
              </a:rPr>
              <a:t>200 –90 </a:t>
            </a:r>
            <a:r>
              <a:rPr lang="en-ZA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</a:t>
            </a:r>
          </a:p>
        </p:txBody>
      </p:sp>
      <p:sp>
        <p:nvSpPr>
          <p:cNvPr id="8" name="Rectangle 7"/>
          <p:cNvSpPr/>
          <p:nvPr/>
        </p:nvSpPr>
        <p:spPr>
          <a:xfrm>
            <a:off x="6536027" y="3231180"/>
            <a:ext cx="161629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ZA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j80 </a:t>
            </a:r>
            <a:r>
              <a:rPr lang="en-ZA" dirty="0">
                <a:solidFill>
                  <a:srgbClr val="000000"/>
                </a:solidFill>
                <a:latin typeface="Times New Roman" pitchFamily="18" charset="0"/>
                <a:sym typeface="Symbol"/>
              </a:rPr>
              <a:t></a:t>
            </a:r>
          </a:p>
          <a:p>
            <a:pPr algn="ctr"/>
            <a:r>
              <a:rPr lang="en-ZA" dirty="0">
                <a:solidFill>
                  <a:srgbClr val="000000"/>
                </a:solidFill>
                <a:latin typeface="Times New Roman" pitchFamily="18" charset="0"/>
                <a:sym typeface="Symbol"/>
              </a:rPr>
              <a:t>    </a:t>
            </a:r>
            <a:r>
              <a:rPr lang="en-ZA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80</a:t>
            </a:r>
            <a:r>
              <a:rPr lang="en-ZA" dirty="0">
                <a:solidFill>
                  <a:srgbClr val="000000"/>
                </a:solidFill>
                <a:latin typeface="Times New Roman" pitchFamily="18" charset="0"/>
                <a:sym typeface="Symbol"/>
              </a:rPr>
              <a:t>90 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6213" y="4335091"/>
            <a:ext cx="3159503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ZA" sz="2400" b="1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Z</a:t>
            </a:r>
            <a:r>
              <a:rPr lang="en-ZA" sz="2400" b="1" baseline="-25000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C2</a:t>
            </a:r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 </a:t>
            </a:r>
            <a:r>
              <a:rPr lang="en-ZA" sz="2400" dirty="0">
                <a:solidFill>
                  <a:srgbClr val="000000"/>
                </a:solidFill>
                <a:latin typeface="Times New Roman" pitchFamily="18" charset="0"/>
                <a:sym typeface="Symbol"/>
              </a:rPr>
              <a:t>= </a:t>
            </a:r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jX</a:t>
            </a:r>
            <a:r>
              <a:rPr lang="en-ZA" sz="2400" baseline="-25000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C2</a:t>
            </a:r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 </a:t>
            </a:r>
            <a:r>
              <a:rPr lang="en-ZA" sz="2400" dirty="0">
                <a:solidFill>
                  <a:srgbClr val="000000"/>
                </a:solidFill>
                <a:latin typeface="Times New Roman" pitchFamily="18" charset="0"/>
                <a:sym typeface="Symbol"/>
              </a:rPr>
              <a:t>= j(-1/</a:t>
            </a:r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C2) </a:t>
            </a:r>
          </a:p>
          <a:p>
            <a:r>
              <a:rPr lang="en-ZA" sz="2400" dirty="0">
                <a:solidFill>
                  <a:srgbClr val="000000"/>
                </a:solidFill>
                <a:latin typeface="Times New Roman" pitchFamily="18" charset="0"/>
                <a:sym typeface="Symbol"/>
              </a:rPr>
              <a:t> </a:t>
            </a:r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   = </a:t>
            </a:r>
            <a:r>
              <a:rPr lang="en-ZA" sz="2400" dirty="0">
                <a:solidFill>
                  <a:srgbClr val="000000"/>
                </a:solidFill>
                <a:latin typeface="Times New Roman" pitchFamily="18" charset="0"/>
                <a:sym typeface="Symbol"/>
              </a:rPr>
              <a:t>–j/(</a:t>
            </a:r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10 </a:t>
            </a:r>
            <a:r>
              <a:rPr lang="en-ZA" sz="2400" dirty="0">
                <a:solidFill>
                  <a:srgbClr val="000000"/>
                </a:solidFill>
                <a:latin typeface="Times New Roman" pitchFamily="18" charset="0"/>
                <a:sym typeface="Symbol"/>
              </a:rPr>
              <a:t> </a:t>
            </a:r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110</a:t>
            </a:r>
            <a:r>
              <a:rPr lang="en-ZA" sz="2400" baseline="30000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-3</a:t>
            </a:r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) </a:t>
            </a:r>
            <a:endParaRPr lang="en-ZA" sz="2400" dirty="0">
              <a:solidFill>
                <a:srgbClr val="000000"/>
              </a:solidFill>
              <a:latin typeface="Times New Roman" pitchFamily="18" charset="0"/>
              <a:sym typeface="Symbol"/>
            </a:endParaRPr>
          </a:p>
          <a:p>
            <a:r>
              <a:rPr lang="en-ZA" sz="2400" dirty="0">
                <a:solidFill>
                  <a:srgbClr val="000000"/>
                </a:solidFill>
                <a:latin typeface="Times New Roman" pitchFamily="18" charset="0"/>
                <a:sym typeface="Symbol"/>
              </a:rPr>
              <a:t>    = – </a:t>
            </a:r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j100 </a:t>
            </a:r>
            <a:r>
              <a:rPr lang="en-ZA" sz="2400" dirty="0">
                <a:solidFill>
                  <a:srgbClr val="000000"/>
                </a:solidFill>
                <a:latin typeface="Times New Roman" pitchFamily="18" charset="0"/>
                <a:sym typeface="Symbol"/>
              </a:rPr>
              <a:t></a:t>
            </a:r>
          </a:p>
          <a:p>
            <a:r>
              <a:rPr lang="en-ZA" sz="2400" dirty="0">
                <a:solidFill>
                  <a:srgbClr val="000000"/>
                </a:solidFill>
                <a:latin typeface="Times New Roman" pitchFamily="18" charset="0"/>
                <a:sym typeface="Symbol"/>
              </a:rPr>
              <a:t>    = </a:t>
            </a:r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100 </a:t>
            </a:r>
            <a:r>
              <a:rPr lang="en-ZA" sz="2400" dirty="0">
                <a:solidFill>
                  <a:srgbClr val="000000"/>
                </a:solidFill>
                <a:latin typeface="Times New Roman" pitchFamily="18" charset="0"/>
                <a:sym typeface="Symbol"/>
              </a:rPr>
              <a:t>–90 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996494" y="4387762"/>
            <a:ext cx="1441421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ZA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– j100 </a:t>
            </a:r>
          </a:p>
          <a:p>
            <a:pPr algn="ctr"/>
            <a:r>
              <a:rPr lang="en-ZA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100 </a:t>
            </a:r>
            <a:r>
              <a:rPr lang="en-ZA" dirty="0">
                <a:solidFill>
                  <a:srgbClr val="000000"/>
                </a:solidFill>
                <a:latin typeface="Times New Roman" pitchFamily="18" charset="0"/>
                <a:sym typeface="Symbol"/>
              </a:rPr>
              <a:t>–90 </a:t>
            </a:r>
          </a:p>
          <a:p>
            <a:pPr algn="ctr"/>
            <a:endParaRPr lang="en-ZA" dirty="0">
              <a:solidFill>
                <a:srgbClr val="000000"/>
              </a:solidFill>
              <a:latin typeface="Times New Roman" pitchFamily="18" charset="0"/>
              <a:sym typeface="Symbol"/>
            </a:endParaRPr>
          </a:p>
        </p:txBody>
      </p:sp>
    </p:spTree>
    <p:extLst>
      <p:ext uri="{BB962C8B-B14F-4D97-AF65-F5344CB8AC3E}">
        <p14:creationId xmlns:p14="http://schemas.microsoft.com/office/powerpoint/2010/main" val="5188652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DBEB72-C004-46D1-9992-458CC43F3DD8}" type="slidenum">
              <a:rPr lang="en-US" smtClean="0"/>
              <a:pPr/>
              <a:t>42</a:t>
            </a:fld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270455" y="143801"/>
            <a:ext cx="8628846" cy="83099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ZA" sz="2400" b="1" u="sng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PP 9.10 - continued</a:t>
            </a:r>
            <a:r>
              <a:rPr lang="en-ZA" sz="24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ZA" sz="2400" dirty="0">
                <a:latin typeface="Times New Roman" pitchFamily="18" charset="0"/>
                <a:cs typeface="Times New Roman" pitchFamily="18" charset="0"/>
              </a:rPr>
            </a:br>
            <a:r>
              <a:rPr lang="en-ZA" sz="2400" dirty="0" smtClean="0">
                <a:latin typeface="Times New Roman" pitchFamily="18" charset="0"/>
              </a:rPr>
              <a:t>Determine the input impedance</a:t>
            </a:r>
            <a:endParaRPr lang="en-ZA" sz="2400" dirty="0" smtClean="0">
              <a:latin typeface="Times New Roman" pitchFamily="18" charset="0"/>
              <a:sym typeface="Symbol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3442837" y="682972"/>
            <a:ext cx="5688284" cy="2443392"/>
            <a:chOff x="3455716" y="940552"/>
            <a:chExt cx="5688284" cy="2443392"/>
          </a:xfrm>
        </p:grpSpPr>
        <p:pic>
          <p:nvPicPr>
            <p:cNvPr id="355330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55716" y="1205731"/>
              <a:ext cx="5688284" cy="21782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7" name="Rectangle 6"/>
            <p:cNvSpPr/>
            <p:nvPr/>
          </p:nvSpPr>
          <p:spPr>
            <a:xfrm>
              <a:off x="4031592" y="940552"/>
              <a:ext cx="1441420" cy="64633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ZA" dirty="0" smtClean="0">
                  <a:solidFill>
                    <a:srgbClr val="000000"/>
                  </a:solidFill>
                  <a:latin typeface="Times New Roman" pitchFamily="18" charset="0"/>
                  <a:sym typeface="Symbol"/>
                </a:rPr>
                <a:t>– </a:t>
              </a:r>
              <a:r>
                <a:rPr lang="en-ZA" dirty="0">
                  <a:solidFill>
                    <a:srgbClr val="000000"/>
                  </a:solidFill>
                  <a:latin typeface="Times New Roman" pitchFamily="18" charset="0"/>
                  <a:sym typeface="Symbol"/>
                </a:rPr>
                <a:t>j200 </a:t>
              </a:r>
              <a:r>
                <a:rPr lang="en-ZA" dirty="0" smtClean="0">
                  <a:solidFill>
                    <a:srgbClr val="000000"/>
                  </a:solidFill>
                  <a:latin typeface="Times New Roman" pitchFamily="18" charset="0"/>
                  <a:sym typeface="Symbol"/>
                </a:rPr>
                <a:t></a:t>
              </a:r>
            </a:p>
            <a:p>
              <a:pPr algn="ctr"/>
              <a:r>
                <a:rPr lang="en-ZA" dirty="0">
                  <a:solidFill>
                    <a:srgbClr val="000000"/>
                  </a:solidFill>
                  <a:latin typeface="Times New Roman" pitchFamily="18" charset="0"/>
                  <a:sym typeface="Symbol"/>
                </a:rPr>
                <a:t>200 –90 </a:t>
              </a:r>
              <a:r>
                <a:rPr lang="en-ZA" dirty="0" smtClean="0">
                  <a:solidFill>
                    <a:srgbClr val="000000"/>
                  </a:solidFill>
                  <a:latin typeface="Times New Roman" pitchFamily="18" charset="0"/>
                  <a:sym typeface="Symbol"/>
                </a:rPr>
                <a:t>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6536027" y="1020694"/>
              <a:ext cx="1616299" cy="6463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ZA" dirty="0" smtClean="0">
                  <a:solidFill>
                    <a:srgbClr val="000000"/>
                  </a:solidFill>
                  <a:latin typeface="Times New Roman" pitchFamily="18" charset="0"/>
                  <a:sym typeface="Symbol"/>
                </a:rPr>
                <a:t>j80 </a:t>
              </a:r>
              <a:r>
                <a:rPr lang="en-ZA" dirty="0">
                  <a:solidFill>
                    <a:srgbClr val="000000"/>
                  </a:solidFill>
                  <a:latin typeface="Times New Roman" pitchFamily="18" charset="0"/>
                  <a:sym typeface="Symbol"/>
                </a:rPr>
                <a:t></a:t>
              </a:r>
            </a:p>
            <a:p>
              <a:pPr algn="ctr"/>
              <a:r>
                <a:rPr lang="en-ZA" dirty="0">
                  <a:solidFill>
                    <a:srgbClr val="000000"/>
                  </a:solidFill>
                  <a:latin typeface="Times New Roman" pitchFamily="18" charset="0"/>
                  <a:sym typeface="Symbol"/>
                </a:rPr>
                <a:t>    </a:t>
              </a:r>
              <a:r>
                <a:rPr lang="en-ZA" dirty="0" smtClean="0">
                  <a:solidFill>
                    <a:srgbClr val="000000"/>
                  </a:solidFill>
                  <a:latin typeface="Times New Roman" pitchFamily="18" charset="0"/>
                  <a:sym typeface="Symbol"/>
                </a:rPr>
                <a:t>80</a:t>
              </a:r>
              <a:r>
                <a:rPr lang="en-ZA" dirty="0">
                  <a:solidFill>
                    <a:srgbClr val="000000"/>
                  </a:solidFill>
                  <a:latin typeface="Times New Roman" pitchFamily="18" charset="0"/>
                  <a:sym typeface="Symbol"/>
                </a:rPr>
                <a:t>90 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996494" y="2177276"/>
              <a:ext cx="1441421" cy="92333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ZA" dirty="0" smtClean="0">
                  <a:solidFill>
                    <a:srgbClr val="000000"/>
                  </a:solidFill>
                  <a:latin typeface="Times New Roman" pitchFamily="18" charset="0"/>
                  <a:sym typeface="Symbol"/>
                </a:rPr>
                <a:t>– j100 </a:t>
              </a:r>
            </a:p>
            <a:p>
              <a:pPr algn="ctr"/>
              <a:r>
                <a:rPr lang="en-ZA" dirty="0" smtClean="0">
                  <a:solidFill>
                    <a:srgbClr val="000000"/>
                  </a:solidFill>
                  <a:latin typeface="Times New Roman" pitchFamily="18" charset="0"/>
                  <a:sym typeface="Symbol"/>
                </a:rPr>
                <a:t>100 </a:t>
              </a:r>
              <a:r>
                <a:rPr lang="en-ZA" dirty="0">
                  <a:solidFill>
                    <a:srgbClr val="000000"/>
                  </a:solidFill>
                  <a:latin typeface="Times New Roman" pitchFamily="18" charset="0"/>
                  <a:sym typeface="Symbol"/>
                </a:rPr>
                <a:t>–90 </a:t>
              </a:r>
            </a:p>
            <a:p>
              <a:pPr algn="ctr"/>
              <a:endParaRPr lang="en-ZA" dirty="0">
                <a:solidFill>
                  <a:srgbClr val="000000"/>
                </a:solidFill>
                <a:latin typeface="Times New Roman" pitchFamily="18" charset="0"/>
                <a:sym typeface="Symbol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/>
              <p:cNvSpPr/>
              <p:nvPr/>
            </p:nvSpPr>
            <p:spPr>
              <a:xfrm>
                <a:off x="167423" y="1969233"/>
                <a:ext cx="4932611" cy="457029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ZA" sz="2400" dirty="0" smtClean="0">
                    <a:solidFill>
                      <a:srgbClr val="000000"/>
                    </a:solidFill>
                    <a:latin typeface="Times New Roman" pitchFamily="18" charset="0"/>
                    <a:sym typeface="Symbol"/>
                  </a:rPr>
                  <a:t>Z</a:t>
                </a:r>
                <a:r>
                  <a:rPr lang="en-ZA" sz="2400" baseline="-25000" dirty="0" smtClean="0">
                    <a:solidFill>
                      <a:srgbClr val="000000"/>
                    </a:solidFill>
                    <a:latin typeface="Times New Roman" pitchFamily="18" charset="0"/>
                    <a:sym typeface="Symbol"/>
                  </a:rPr>
                  <a:t>//</a:t>
                </a:r>
                <a:r>
                  <a:rPr lang="en-ZA" sz="2400" dirty="0" smtClean="0">
                    <a:solidFill>
                      <a:srgbClr val="000000"/>
                    </a:solidFill>
                    <a:latin typeface="Times New Roman" pitchFamily="18" charset="0"/>
                    <a:sym typeface="Symbol"/>
                  </a:rPr>
                  <a:t> = Z</a:t>
                </a:r>
                <a:r>
                  <a:rPr lang="en-ZA" sz="2400" baseline="-25000" dirty="0" smtClean="0">
                    <a:solidFill>
                      <a:srgbClr val="000000"/>
                    </a:solidFill>
                    <a:latin typeface="Times New Roman" pitchFamily="18" charset="0"/>
                    <a:sym typeface="Symbol"/>
                  </a:rPr>
                  <a:t>C2</a:t>
                </a:r>
                <a:r>
                  <a:rPr lang="en-ZA" sz="2400" dirty="0" smtClean="0">
                    <a:solidFill>
                      <a:srgbClr val="000000"/>
                    </a:solidFill>
                    <a:latin typeface="Times New Roman" pitchFamily="18" charset="0"/>
                    <a:sym typeface="Symbol"/>
                  </a:rPr>
                  <a:t> // (Z</a:t>
                </a:r>
                <a:r>
                  <a:rPr lang="en-ZA" sz="2400" baseline="-25000" dirty="0" smtClean="0">
                    <a:solidFill>
                      <a:srgbClr val="000000"/>
                    </a:solidFill>
                    <a:latin typeface="Times New Roman" pitchFamily="18" charset="0"/>
                    <a:sym typeface="Symbol"/>
                  </a:rPr>
                  <a:t>L</a:t>
                </a:r>
                <a:r>
                  <a:rPr lang="en-ZA" sz="2400" dirty="0" smtClean="0">
                    <a:solidFill>
                      <a:srgbClr val="000000"/>
                    </a:solidFill>
                    <a:latin typeface="Times New Roman" pitchFamily="18" charset="0"/>
                    <a:sym typeface="Symbol"/>
                  </a:rPr>
                  <a:t> + 200) </a:t>
                </a:r>
              </a:p>
              <a:p>
                <a:pPr>
                  <a:lnSpc>
                    <a:spcPct val="150000"/>
                  </a:lnSpc>
                </a:pPr>
                <a:r>
                  <a:rPr lang="en-ZA" sz="2400" dirty="0" smtClean="0">
                    <a:solidFill>
                      <a:srgbClr val="000000"/>
                    </a:solidFill>
                    <a:latin typeface="Times New Roman" pitchFamily="18" charset="0"/>
                    <a:sym typeface="Symbol"/>
                  </a:rPr>
                  <a:t>     </a:t>
                </a:r>
                <a:r>
                  <a:rPr lang="en-ZA" sz="2400" dirty="0">
                    <a:solidFill>
                      <a:srgbClr val="000000"/>
                    </a:solidFill>
                    <a:latin typeface="Times New Roman" pitchFamily="18" charset="0"/>
                    <a:sym typeface="Symbol"/>
                  </a:rPr>
                  <a:t>= 100 –90 // ( 200 + j80)</a:t>
                </a:r>
                <a:endParaRPr lang="en-ZA" sz="2400" dirty="0" smtClean="0">
                  <a:solidFill>
                    <a:srgbClr val="000000"/>
                  </a:solidFill>
                  <a:latin typeface="Times New Roman" pitchFamily="18" charset="0"/>
                  <a:sym typeface="Symbol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ZA" sz="2400" b="0" i="1" smtClean="0">
                          <a:solidFill>
                            <a:srgbClr val="000000"/>
                          </a:solidFill>
                          <a:latin typeface="Cambria Math"/>
                          <a:sym typeface="Symbol"/>
                        </a:rPr>
                        <m:t>      </m:t>
                      </m:r>
                      <m:r>
                        <a:rPr lang="en-ZA" sz="2400" i="1">
                          <a:solidFill>
                            <a:srgbClr val="000000"/>
                          </a:solidFill>
                          <a:latin typeface="Cambria Math"/>
                          <a:sym typeface="Symbol"/>
                        </a:rPr>
                        <m:t>=</m:t>
                      </m:r>
                      <m:f>
                        <m:fPr>
                          <m:ctrlPr>
                            <a:rPr lang="en-ZA" sz="2400" i="1" smtClean="0">
                              <a:solidFill>
                                <a:srgbClr val="000000"/>
                              </a:solidFill>
                              <a:latin typeface="Cambria Math"/>
                              <a:sym typeface="Symbol"/>
                            </a:rPr>
                          </m:ctrlPr>
                        </m:fPr>
                        <m:num>
                          <m:r>
                            <a:rPr lang="en-ZA" sz="2400" b="0" i="1" smtClean="0">
                              <a:solidFill>
                                <a:srgbClr val="000000"/>
                              </a:solidFill>
                              <a:latin typeface="Cambria Math"/>
                              <a:sym typeface="Symbol"/>
                            </a:rPr>
                            <m:t>100−90</m:t>
                          </m:r>
                          <m:r>
                            <a:rPr lang="en-ZA" sz="2400" b="0" i="1" smtClean="0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  <a:sym typeface="Symbol"/>
                            </a:rPr>
                            <m:t>×</m:t>
                          </m:r>
                          <m:r>
                            <a:rPr lang="en-ZA" sz="2400" b="0" i="1" smtClean="0">
                              <a:solidFill>
                                <a:srgbClr val="000000"/>
                              </a:solidFill>
                              <a:latin typeface="Cambria Math"/>
                              <a:sym typeface="Symbol"/>
                            </a:rPr>
                            <m:t>215.41</m:t>
                          </m:r>
                          <m:r>
                            <a:rPr lang="en-ZA" sz="2400" i="1">
                              <a:solidFill>
                                <a:srgbClr val="000000"/>
                              </a:solidFill>
                              <a:latin typeface="Cambria Math"/>
                              <a:sym typeface="Symbol"/>
                            </a:rPr>
                            <m:t></m:t>
                          </m:r>
                          <m:r>
                            <a:rPr lang="en-ZA" sz="2400" b="0" i="1" smtClean="0">
                              <a:solidFill>
                                <a:srgbClr val="000000"/>
                              </a:solidFill>
                              <a:latin typeface="Cambria Math"/>
                              <a:sym typeface="Symbol"/>
                            </a:rPr>
                            <m:t>21.8</m:t>
                          </m:r>
                          <m:r>
                            <a:rPr lang="en-ZA" sz="2400" i="1">
                              <a:solidFill>
                                <a:srgbClr val="000000"/>
                              </a:solidFill>
                              <a:latin typeface="Cambria Math"/>
                              <a:sym typeface="Symbol"/>
                            </a:rPr>
                            <m:t></m:t>
                          </m:r>
                        </m:num>
                        <m:den>
                          <m:r>
                            <a:rPr lang="en-ZA" sz="2400" b="0" i="1" smtClean="0">
                              <a:solidFill>
                                <a:srgbClr val="000000"/>
                              </a:solidFill>
                              <a:latin typeface="Cambria Math"/>
                              <a:sym typeface="Symbol"/>
                            </a:rPr>
                            <m:t>−</m:t>
                          </m:r>
                          <m:r>
                            <a:rPr lang="en-ZA" sz="2400" b="0" i="1" smtClean="0">
                              <a:solidFill>
                                <a:srgbClr val="000000"/>
                              </a:solidFill>
                              <a:latin typeface="Cambria Math"/>
                              <a:sym typeface="Symbol"/>
                            </a:rPr>
                            <m:t>𝑗</m:t>
                          </m:r>
                          <m:r>
                            <a:rPr lang="en-ZA" sz="2400" b="0" i="1" smtClean="0">
                              <a:solidFill>
                                <a:srgbClr val="000000"/>
                              </a:solidFill>
                              <a:latin typeface="Cambria Math"/>
                              <a:sym typeface="Symbol"/>
                            </a:rPr>
                            <m:t>100+(200+</m:t>
                          </m:r>
                          <m:r>
                            <a:rPr lang="en-ZA" sz="2400" b="0" i="1" smtClean="0">
                              <a:solidFill>
                                <a:srgbClr val="000000"/>
                              </a:solidFill>
                              <a:latin typeface="Cambria Math"/>
                              <a:sym typeface="Symbol"/>
                            </a:rPr>
                            <m:t>𝑗</m:t>
                          </m:r>
                          <m:r>
                            <a:rPr lang="en-ZA" sz="2400" b="0" i="1" smtClean="0">
                              <a:solidFill>
                                <a:srgbClr val="000000"/>
                              </a:solidFill>
                              <a:latin typeface="Cambria Math"/>
                              <a:sym typeface="Symbol"/>
                            </a:rPr>
                            <m:t>80)</m:t>
                          </m:r>
                        </m:den>
                      </m:f>
                    </m:oMath>
                  </m:oMathPara>
                </a14:m>
                <a:endParaRPr lang="en-ZA" sz="2400" dirty="0" smtClean="0">
                  <a:solidFill>
                    <a:srgbClr val="000000"/>
                  </a:solidFill>
                  <a:latin typeface="Times New Roman" pitchFamily="18" charset="0"/>
                  <a:sym typeface="Symbol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ZA" sz="2400" i="1">
                          <a:solidFill>
                            <a:srgbClr val="000000"/>
                          </a:solidFill>
                          <a:latin typeface="Cambria Math"/>
                          <a:sym typeface="Symbol"/>
                        </a:rPr>
                        <m:t> </m:t>
                      </m:r>
                      <m:r>
                        <a:rPr lang="en-ZA" sz="2400" b="0" i="1" smtClean="0">
                          <a:solidFill>
                            <a:srgbClr val="000000"/>
                          </a:solidFill>
                          <a:latin typeface="Cambria Math"/>
                          <a:sym typeface="Symbol"/>
                        </a:rPr>
                        <m:t>      </m:t>
                      </m:r>
                      <m:r>
                        <a:rPr lang="en-ZA" sz="2400" i="1">
                          <a:solidFill>
                            <a:srgbClr val="000000"/>
                          </a:solidFill>
                          <a:latin typeface="Cambria Math"/>
                          <a:sym typeface="Symbol"/>
                        </a:rPr>
                        <m:t>=</m:t>
                      </m:r>
                      <m:f>
                        <m:fPr>
                          <m:ctrlPr>
                            <a:rPr lang="en-ZA" sz="2400" i="1">
                              <a:solidFill>
                                <a:srgbClr val="000000"/>
                              </a:solidFill>
                              <a:latin typeface="Cambria Math"/>
                              <a:sym typeface="Symbol"/>
                            </a:rPr>
                          </m:ctrlPr>
                        </m:fPr>
                        <m:num>
                          <m:r>
                            <a:rPr lang="en-ZA" sz="2400" b="0" i="1" smtClean="0">
                              <a:solidFill>
                                <a:srgbClr val="000000"/>
                              </a:solidFill>
                              <a:latin typeface="Cambria Math"/>
                              <a:sym typeface="Symbol"/>
                            </a:rPr>
                            <m:t>21.54</m:t>
                          </m:r>
                          <m:sSup>
                            <m:sSupPr>
                              <m:ctrlPr>
                                <a:rPr lang="en-ZA" sz="2400" b="0" i="1" smtClean="0">
                                  <a:solidFill>
                                    <a:srgbClr val="000000"/>
                                  </a:solidFill>
                                  <a:latin typeface="Cambria Math"/>
                                  <a:sym typeface="Symbol"/>
                                </a:rPr>
                              </m:ctrlPr>
                            </m:sSupPr>
                            <m:e>
                              <m:r>
                                <a:rPr lang="en-ZA" sz="2400" b="0" i="1" smtClean="0">
                                  <a:solidFill>
                                    <a:srgbClr val="000000"/>
                                  </a:solidFill>
                                  <a:latin typeface="Cambria Math"/>
                                  <a:sym typeface="Symbol"/>
                                </a:rPr>
                                <m:t>10</m:t>
                              </m:r>
                            </m:e>
                            <m:sup>
                              <m:r>
                                <a:rPr lang="en-ZA" sz="2400" b="0" i="1" smtClean="0">
                                  <a:solidFill>
                                    <a:srgbClr val="000000"/>
                                  </a:solidFill>
                                  <a:latin typeface="Cambria Math"/>
                                  <a:sym typeface="Symbol"/>
                                </a:rPr>
                                <m:t>3</m:t>
                              </m:r>
                            </m:sup>
                          </m:sSup>
                          <m:r>
                            <a:rPr lang="en-ZA" sz="2400" i="1">
                              <a:solidFill>
                                <a:srgbClr val="000000"/>
                              </a:solidFill>
                              <a:latin typeface="Cambria Math"/>
                              <a:sym typeface="Symbol"/>
                            </a:rPr>
                            <m:t>−</m:t>
                          </m:r>
                          <m:r>
                            <a:rPr lang="en-ZA" sz="2400" b="0" i="1" smtClean="0">
                              <a:solidFill>
                                <a:srgbClr val="000000"/>
                              </a:solidFill>
                              <a:latin typeface="Cambria Math"/>
                              <a:sym typeface="Symbol"/>
                            </a:rPr>
                            <m:t>68.2</m:t>
                          </m:r>
                          <m:r>
                            <a:rPr lang="en-ZA" sz="2400" i="1">
                              <a:solidFill>
                                <a:srgbClr val="000000"/>
                              </a:solidFill>
                              <a:latin typeface="Cambria Math"/>
                              <a:sym typeface="Symbol"/>
                            </a:rPr>
                            <m:t></m:t>
                          </m:r>
                        </m:num>
                        <m:den>
                          <m:r>
                            <a:rPr lang="en-ZA" sz="2400" b="0" i="1" smtClean="0">
                              <a:solidFill>
                                <a:srgbClr val="000000"/>
                              </a:solidFill>
                              <a:latin typeface="Cambria Math"/>
                              <a:sym typeface="Symbol"/>
                            </a:rPr>
                            <m:t>201</m:t>
                          </m:r>
                          <m:r>
                            <a:rPr lang="en-ZA" sz="2400" i="1">
                              <a:solidFill>
                                <a:srgbClr val="000000"/>
                              </a:solidFill>
                              <a:latin typeface="Cambria Math"/>
                              <a:sym typeface="Symbol"/>
                            </a:rPr>
                            <m:t>−</m:t>
                          </m:r>
                          <m:r>
                            <a:rPr lang="en-ZA" sz="2400" b="0" i="1" smtClean="0">
                              <a:solidFill>
                                <a:srgbClr val="000000"/>
                              </a:solidFill>
                              <a:latin typeface="Cambria Math"/>
                              <a:sym typeface="Symbol"/>
                            </a:rPr>
                            <m:t>5.71</m:t>
                          </m:r>
                          <m:r>
                            <a:rPr lang="en-ZA" sz="2400" i="1">
                              <a:solidFill>
                                <a:srgbClr val="000000"/>
                              </a:solidFill>
                              <a:latin typeface="Cambria Math"/>
                              <a:sym typeface="Symbol"/>
                            </a:rPr>
                            <m:t></m:t>
                          </m:r>
                        </m:den>
                      </m:f>
                    </m:oMath>
                  </m:oMathPara>
                </a14:m>
                <a:endParaRPr lang="en-ZA" sz="2400" dirty="0" smtClean="0">
                  <a:solidFill>
                    <a:srgbClr val="000000"/>
                  </a:solidFill>
                  <a:latin typeface="Times New Roman" pitchFamily="18" charset="0"/>
                  <a:sym typeface="Symbol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ZA" sz="2400" dirty="0" smtClean="0">
                    <a:solidFill>
                      <a:srgbClr val="000000"/>
                    </a:solidFill>
                    <a:latin typeface="Times New Roman" pitchFamily="18" charset="0"/>
                    <a:sym typeface="Symbol"/>
                  </a:rPr>
                  <a:t>      = 107.17–62.49</a:t>
                </a:r>
              </a:p>
              <a:p>
                <a:pPr>
                  <a:lnSpc>
                    <a:spcPct val="150000"/>
                  </a:lnSpc>
                </a:pPr>
                <a:r>
                  <a:rPr lang="en-ZA" sz="2400" dirty="0">
                    <a:solidFill>
                      <a:srgbClr val="000000"/>
                    </a:solidFill>
                    <a:latin typeface="Times New Roman" pitchFamily="18" charset="0"/>
                    <a:sym typeface="Symbol"/>
                  </a:rPr>
                  <a:t> </a:t>
                </a:r>
                <a:r>
                  <a:rPr lang="en-ZA" sz="2400" dirty="0" smtClean="0">
                    <a:solidFill>
                      <a:srgbClr val="000000"/>
                    </a:solidFill>
                    <a:latin typeface="Times New Roman" pitchFamily="18" charset="0"/>
                    <a:sym typeface="Symbol"/>
                  </a:rPr>
                  <a:t>    = 49.505 – j95.05 </a:t>
                </a:r>
                <a:endParaRPr lang="en-ZA" sz="2400" dirty="0">
                  <a:solidFill>
                    <a:srgbClr val="000000"/>
                  </a:solidFill>
                  <a:latin typeface="Times New Roman" pitchFamily="18" charset="0"/>
                  <a:sym typeface="Symbol"/>
                </a:endParaRPr>
              </a:p>
            </p:txBody>
          </p:sp>
        </mc:Choice>
        <mc:Fallback xmlns=""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423" y="1969233"/>
                <a:ext cx="4932611" cy="4570290"/>
              </a:xfrm>
              <a:prstGeom prst="rect">
                <a:avLst/>
              </a:prstGeom>
              <a:blipFill rotWithShape="1">
                <a:blip r:embed="rId3"/>
                <a:stretch>
                  <a:fillRect l="-1852" b="-667"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Rectangle 14"/>
          <p:cNvSpPr/>
          <p:nvPr/>
        </p:nvSpPr>
        <p:spPr>
          <a:xfrm>
            <a:off x="5100034" y="3886217"/>
            <a:ext cx="3915686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ZA" sz="2400" dirty="0" err="1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Z</a:t>
            </a:r>
            <a:r>
              <a:rPr lang="en-ZA" sz="2400" baseline="-25000" dirty="0" err="1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in</a:t>
            </a:r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 =  Z</a:t>
            </a:r>
            <a:r>
              <a:rPr lang="en-ZA" sz="2400" baseline="-25000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//</a:t>
            </a:r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 + Z</a:t>
            </a:r>
            <a:r>
              <a:rPr lang="en-ZA" sz="2400" baseline="-25000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C1</a:t>
            </a:r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 + 80</a:t>
            </a:r>
          </a:p>
          <a:p>
            <a:pPr>
              <a:lnSpc>
                <a:spcPct val="150000"/>
              </a:lnSpc>
            </a:pPr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= </a:t>
            </a:r>
            <a:r>
              <a:rPr lang="en-ZA" sz="2400" dirty="0">
                <a:solidFill>
                  <a:srgbClr val="000000"/>
                </a:solidFill>
                <a:latin typeface="Times New Roman" pitchFamily="18" charset="0"/>
                <a:sym typeface="Symbol"/>
              </a:rPr>
              <a:t>49.505 – j95.05 </a:t>
            </a:r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–j200 + 80</a:t>
            </a:r>
          </a:p>
          <a:p>
            <a:pPr>
              <a:lnSpc>
                <a:spcPct val="150000"/>
              </a:lnSpc>
            </a:pPr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= 129.51 – j295.05</a:t>
            </a:r>
          </a:p>
          <a:p>
            <a:pPr>
              <a:lnSpc>
                <a:spcPct val="150000"/>
              </a:lnSpc>
            </a:pPr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= 322.22</a:t>
            </a:r>
            <a:r>
              <a:rPr lang="en-ZA" sz="2400" dirty="0">
                <a:solidFill>
                  <a:srgbClr val="000000"/>
                </a:solidFill>
                <a:latin typeface="Times New Roman" pitchFamily="18" charset="0"/>
                <a:sym typeface="Symbol"/>
              </a:rPr>
              <a:t>–</a:t>
            </a:r>
            <a:r>
              <a:rPr lang="en-ZA" sz="2400" dirty="0" smtClean="0">
                <a:solidFill>
                  <a:srgbClr val="000000"/>
                </a:solidFill>
                <a:latin typeface="Times New Roman" pitchFamily="18" charset="0"/>
                <a:sym typeface="Symbol"/>
              </a:rPr>
              <a:t>66.30 </a:t>
            </a:r>
            <a:endParaRPr lang="en-ZA" sz="2400" dirty="0">
              <a:solidFill>
                <a:srgbClr val="000000"/>
              </a:solidFill>
              <a:latin typeface="Times New Roman" pitchFamily="18" charset="0"/>
              <a:sym typeface="Symbol"/>
            </a:endParaRPr>
          </a:p>
        </p:txBody>
      </p:sp>
      <p:cxnSp>
        <p:nvCxnSpPr>
          <p:cNvPr id="16" name="Straight Arrow Connector 15"/>
          <p:cNvCxnSpPr/>
          <p:nvPr/>
        </p:nvCxnSpPr>
        <p:spPr bwMode="auto">
          <a:xfrm>
            <a:off x="5460133" y="6051255"/>
            <a:ext cx="2404640" cy="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  <a:extLst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852397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Balloons">
  <a:themeElements>
    <a:clrScheme name="Balloons 8">
      <a:dk1>
        <a:srgbClr val="006699"/>
      </a:dk1>
      <a:lt1>
        <a:srgbClr val="FFFFFF"/>
      </a:lt1>
      <a:dk2>
        <a:srgbClr val="006666"/>
      </a:dk2>
      <a:lt2>
        <a:srgbClr val="FFFFCC"/>
      </a:lt2>
      <a:accent1>
        <a:srgbClr val="EDFAD2"/>
      </a:accent1>
      <a:accent2>
        <a:srgbClr val="EBF7FF"/>
      </a:accent2>
      <a:accent3>
        <a:srgbClr val="FFFFFF"/>
      </a:accent3>
      <a:accent4>
        <a:srgbClr val="005682"/>
      </a:accent4>
      <a:accent5>
        <a:srgbClr val="F4FCE5"/>
      </a:accent5>
      <a:accent6>
        <a:srgbClr val="D5E0E7"/>
      </a:accent6>
      <a:hlink>
        <a:srgbClr val="CC99FF"/>
      </a:hlink>
      <a:folHlink>
        <a:srgbClr val="F2DFFD"/>
      </a:folHlink>
    </a:clrScheme>
    <a:fontScheme name="Balloons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>
          <a:noFill/>
        </a:ln>
        <a:effectLst/>
        <a:extLs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45720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cs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>
          <a:noFill/>
        </a:ln>
        <a:effectLst/>
        <a:extLs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45720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cs typeface="Times New Roman" pitchFamily="18" charset="0"/>
          </a:defRPr>
        </a:defPPr>
      </a:lstStyle>
    </a:lnDef>
  </a:objectDefaults>
  <a:extraClrSchemeLst>
    <a:extraClrScheme>
      <a:clrScheme name="Balloons 1">
        <a:dk1>
          <a:srgbClr val="9900CC"/>
        </a:dk1>
        <a:lt1>
          <a:srgbClr val="FFFFCC"/>
        </a:lt1>
        <a:dk2>
          <a:srgbClr val="000000"/>
        </a:dk2>
        <a:lt2>
          <a:srgbClr val="FFFFFF"/>
        </a:lt2>
        <a:accent1>
          <a:srgbClr val="666699"/>
        </a:accent1>
        <a:accent2>
          <a:srgbClr val="660066"/>
        </a:accent2>
        <a:accent3>
          <a:srgbClr val="AAAAAA"/>
        </a:accent3>
        <a:accent4>
          <a:srgbClr val="DADAAE"/>
        </a:accent4>
        <a:accent5>
          <a:srgbClr val="B8B8CA"/>
        </a:accent5>
        <a:accent6>
          <a:srgbClr val="5C005C"/>
        </a:accent6>
        <a:hlink>
          <a:srgbClr val="CC0000"/>
        </a:hlink>
        <a:folHlink>
          <a:srgbClr val="A5002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alloons 2">
        <a:dk1>
          <a:srgbClr val="990033"/>
        </a:dk1>
        <a:lt1>
          <a:srgbClr val="FFFFFF"/>
        </a:lt1>
        <a:dk2>
          <a:srgbClr val="000000"/>
        </a:dk2>
        <a:lt2>
          <a:srgbClr val="FFFFFF"/>
        </a:lt2>
        <a:accent1>
          <a:srgbClr val="FF3300"/>
        </a:accent1>
        <a:accent2>
          <a:srgbClr val="FF9900"/>
        </a:accent2>
        <a:accent3>
          <a:srgbClr val="AAAAAA"/>
        </a:accent3>
        <a:accent4>
          <a:srgbClr val="DADADA"/>
        </a:accent4>
        <a:accent5>
          <a:srgbClr val="FFADAA"/>
        </a:accent5>
        <a:accent6>
          <a:srgbClr val="E78A00"/>
        </a:accent6>
        <a:hlink>
          <a:srgbClr val="FFFF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alloons 3">
        <a:dk1>
          <a:srgbClr val="CCCCFF"/>
        </a:dk1>
        <a:lt1>
          <a:srgbClr val="FFFFCC"/>
        </a:lt1>
        <a:dk2>
          <a:srgbClr val="000000"/>
        </a:dk2>
        <a:lt2>
          <a:srgbClr val="FFFFFF"/>
        </a:lt2>
        <a:accent1>
          <a:srgbClr val="9999FF"/>
        </a:accent1>
        <a:accent2>
          <a:srgbClr val="33CCCC"/>
        </a:accent2>
        <a:accent3>
          <a:srgbClr val="AAAAAA"/>
        </a:accent3>
        <a:accent4>
          <a:srgbClr val="DADAAE"/>
        </a:accent4>
        <a:accent5>
          <a:srgbClr val="CACAFF"/>
        </a:accent5>
        <a:accent6>
          <a:srgbClr val="2DB9B9"/>
        </a:accent6>
        <a:hlink>
          <a:srgbClr val="66FFFF"/>
        </a:hlink>
        <a:folHlink>
          <a:srgbClr val="6600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alloons 4">
        <a:dk1>
          <a:srgbClr val="000000"/>
        </a:dk1>
        <a:lt1>
          <a:srgbClr val="F8F8F8"/>
        </a:lt1>
        <a:dk2>
          <a:srgbClr val="800000"/>
        </a:dk2>
        <a:lt2>
          <a:srgbClr val="FFFFFF"/>
        </a:lt2>
        <a:accent1>
          <a:srgbClr val="FF3300"/>
        </a:accent1>
        <a:accent2>
          <a:srgbClr val="FF5050"/>
        </a:accent2>
        <a:accent3>
          <a:srgbClr val="C0AAAA"/>
        </a:accent3>
        <a:accent4>
          <a:srgbClr val="D4D4D4"/>
        </a:accent4>
        <a:accent5>
          <a:srgbClr val="FFADAA"/>
        </a:accent5>
        <a:accent6>
          <a:srgbClr val="E74848"/>
        </a:accent6>
        <a:hlink>
          <a:srgbClr val="FF9999"/>
        </a:hlink>
        <a:folHlink>
          <a:srgbClr val="FF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alloons 5">
        <a:dk1>
          <a:srgbClr val="666699"/>
        </a:dk1>
        <a:lt1>
          <a:srgbClr val="FFFFFF"/>
        </a:lt1>
        <a:dk2>
          <a:srgbClr val="000066"/>
        </a:dk2>
        <a:lt2>
          <a:srgbClr val="CCECFF"/>
        </a:lt2>
        <a:accent1>
          <a:srgbClr val="009999"/>
        </a:accent1>
        <a:accent2>
          <a:srgbClr val="0099CC"/>
        </a:accent2>
        <a:accent3>
          <a:srgbClr val="AAAAB8"/>
        </a:accent3>
        <a:accent4>
          <a:srgbClr val="DADADA"/>
        </a:accent4>
        <a:accent5>
          <a:srgbClr val="AACACA"/>
        </a:accent5>
        <a:accent6>
          <a:srgbClr val="008AB9"/>
        </a:accent6>
        <a:hlink>
          <a:srgbClr val="CC99FF"/>
        </a:hlink>
        <a:folHlink>
          <a:srgbClr val="3366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alloons 6">
        <a:dk1>
          <a:srgbClr val="99CC00"/>
        </a:dk1>
        <a:lt1>
          <a:srgbClr val="FFFFFF"/>
        </a:lt1>
        <a:dk2>
          <a:srgbClr val="009900"/>
        </a:dk2>
        <a:lt2>
          <a:srgbClr val="FFFF99"/>
        </a:lt2>
        <a:accent1>
          <a:srgbClr val="336600"/>
        </a:accent1>
        <a:accent2>
          <a:srgbClr val="008000"/>
        </a:accent2>
        <a:accent3>
          <a:srgbClr val="AACAAA"/>
        </a:accent3>
        <a:accent4>
          <a:srgbClr val="DADADA"/>
        </a:accent4>
        <a:accent5>
          <a:srgbClr val="ADB8AA"/>
        </a:accent5>
        <a:accent6>
          <a:srgbClr val="007300"/>
        </a:accent6>
        <a:hlink>
          <a:srgbClr val="CCCC00"/>
        </a:hlink>
        <a:folHlink>
          <a:srgbClr val="33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alloons 7">
        <a:dk1>
          <a:srgbClr val="000066"/>
        </a:dk1>
        <a:lt1>
          <a:srgbClr val="E1F4FF"/>
        </a:lt1>
        <a:dk2>
          <a:srgbClr val="000066"/>
        </a:dk2>
        <a:lt2>
          <a:srgbClr val="CCCCFF"/>
        </a:lt2>
        <a:accent1>
          <a:srgbClr val="9999FF"/>
        </a:accent1>
        <a:accent2>
          <a:srgbClr val="33CCCC"/>
        </a:accent2>
        <a:accent3>
          <a:srgbClr val="EEF8FF"/>
        </a:accent3>
        <a:accent4>
          <a:srgbClr val="000056"/>
        </a:accent4>
        <a:accent5>
          <a:srgbClr val="CACAFF"/>
        </a:accent5>
        <a:accent6>
          <a:srgbClr val="2DB9B9"/>
        </a:accent6>
        <a:hlink>
          <a:srgbClr val="66FFFF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alloons 8">
        <a:dk1>
          <a:srgbClr val="006699"/>
        </a:dk1>
        <a:lt1>
          <a:srgbClr val="FFFFFF"/>
        </a:lt1>
        <a:dk2>
          <a:srgbClr val="006666"/>
        </a:dk2>
        <a:lt2>
          <a:srgbClr val="FFFFCC"/>
        </a:lt2>
        <a:accent1>
          <a:srgbClr val="EDFAD2"/>
        </a:accent1>
        <a:accent2>
          <a:srgbClr val="EBF7FF"/>
        </a:accent2>
        <a:accent3>
          <a:srgbClr val="FFFFFF"/>
        </a:accent3>
        <a:accent4>
          <a:srgbClr val="005682"/>
        </a:accent4>
        <a:accent5>
          <a:srgbClr val="F4FCE5"/>
        </a:accent5>
        <a:accent6>
          <a:srgbClr val="D5E0E7"/>
        </a:accent6>
        <a:hlink>
          <a:srgbClr val="CC99FF"/>
        </a:hlink>
        <a:folHlink>
          <a:srgbClr val="F2DF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alloons 9">
        <a:dk1>
          <a:srgbClr val="000000"/>
        </a:dk1>
        <a:lt1>
          <a:srgbClr val="FFFFFF"/>
        </a:lt1>
        <a:dk2>
          <a:srgbClr val="000000"/>
        </a:dk2>
        <a:lt2>
          <a:srgbClr val="FFCC99"/>
        </a:lt2>
        <a:accent1>
          <a:srgbClr val="FF9900"/>
        </a:accent1>
        <a:accent2>
          <a:srgbClr val="FF99CC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8AB9"/>
        </a:accent6>
        <a:hlink>
          <a:srgbClr val="FF9999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4931</TotalTime>
  <Words>3275</Words>
  <Application>Microsoft Office PowerPoint</Application>
  <PresentationFormat>On-screen Show (4:3)</PresentationFormat>
  <Paragraphs>554</Paragraphs>
  <Slides>42</Slides>
  <Notes>5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4" baseType="lpstr">
      <vt:lpstr>Balloons</vt:lpstr>
      <vt:lpstr>Equation</vt:lpstr>
      <vt:lpstr>PowerPoint Presentation</vt:lpstr>
      <vt:lpstr>Sinusoids and Phasor Chapter 9</vt:lpstr>
      <vt:lpstr>PowerPoint Presentation</vt:lpstr>
      <vt:lpstr>PowerPoint Presentation</vt:lpstr>
      <vt:lpstr>PowerPoint Presentation</vt:lpstr>
      <vt:lpstr>9.2 Sinusoids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Ch. 9 L#2 9.3 Phasors</vt:lpstr>
      <vt:lpstr>PowerPoint Presentation</vt:lpstr>
      <vt:lpstr>PowerPoint Presentation</vt:lpstr>
      <vt:lpstr>9.3 Phasors Arithmetic (1)</vt:lpstr>
      <vt:lpstr>9.3 Phasors Arithmetic (2)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Ch. 9 L#3 9.4 Phasors and Circuit Elements</vt:lpstr>
      <vt:lpstr>9.4 Phasors and Circuit Elements Voltage-Current Relationship</vt:lpstr>
      <vt:lpstr>9.5 Impedance and Admittance</vt:lpstr>
      <vt:lpstr>9.5 Impedance and Admittance</vt:lpstr>
      <vt:lpstr>9.5 Impedance and Admittance</vt:lpstr>
      <vt:lpstr>PowerPoint Presentation</vt:lpstr>
      <vt:lpstr>PowerPoint Presentation</vt:lpstr>
      <vt:lpstr>PowerPoint Presentation</vt:lpstr>
      <vt:lpstr>PowerPoint Presentation</vt:lpstr>
      <vt:lpstr>AC Circuit analysis Laws and Theorems</vt:lpstr>
      <vt:lpstr>PowerPoint Presentation</vt:lpstr>
      <vt:lpstr>PowerPoint Presentation</vt:lpstr>
      <vt:lpstr>PowerPoint Presentation</vt:lpstr>
    </vt:vector>
  </TitlesOfParts>
  <Company>City University of Hong Kong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EE2003  Circuit Theory</dc:title>
  <dc:creator>EE</dc:creator>
  <cp:lastModifiedBy>User</cp:lastModifiedBy>
  <cp:revision>283</cp:revision>
  <cp:lastPrinted>2011-10-25T08:57:06Z</cp:lastPrinted>
  <dcterms:created xsi:type="dcterms:W3CDTF">2006-09-12T03:52:31Z</dcterms:created>
  <dcterms:modified xsi:type="dcterms:W3CDTF">2012-05-15T08:21:14Z</dcterms:modified>
</cp:coreProperties>
</file>